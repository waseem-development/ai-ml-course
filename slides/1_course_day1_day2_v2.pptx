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8.xml" ContentType="application/vnd.openxmlformats-officedocument.presentationml.slide+xml"/>
  <Override PartName="/ppt/slides/slide62.xml" ContentType="application/vnd.openxmlformats-officedocument.presentationml.slide+xml"/>
  <Override PartName="/ppt/slides/slide31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65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61.xml" ContentType="application/vnd.openxmlformats-officedocument.presentationml.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6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CB14E10-BBEF-4503-B8B4-6A3347EFB0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slide. Keep it warm and simple.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9F9690-7467-470E-9821-455A068684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Quick preview only — each item gets its own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9958EF-23C3-43E0-93B1-28B7209624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the sandwich exercise live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105F9F-81AC-47F6-8452-67E3FC1641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the state idea simple — do not call it a literal finite state machine.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164435-1D78-470D-A12F-AFEDF0B6FC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3E234E-EB82-4774-A3A5-0118407F5E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067EC2-E793-40B4-9C52-654F021324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this close to word-for-word.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FD5C23-C890-4907-B43F-1D197EC1AB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with: every phase exists because the next one needs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B3193E-C4EA-47A4-B619-52712725AA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AC59E5-E59C-4264-88F2-514D50A343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94337-5CD0-4F5A-8763-1786926B67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82B216-0197-4576-A401-F03694D060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E4300-76A4-47C6-B4A7-8FE4A5CF23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C7DDB1-2616-492D-B277-20D0A0AA7B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270283-8791-468F-B1FD-AFD8F4645A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39D699-9294-4307-807F-767FFABE53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29AC0F-6A33-4137-98CB-4B4C0A88A4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36AE68-7D5D-4898-8C49-112CB2EA25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7C2BD8-ECBE-4103-A77E-913D861522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243BC-6358-45A0-A42B-80D5DD67DF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4008A2-486E-4F74-B689-E188D72B12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581D1-D224-4189-B137-CC0C097ACC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586625-CCE9-40EE-B438-4551364C4E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E29C2E-A074-43BA-ABF4-59A52ECDD7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3869A4-2141-4D7B-965A-1C09486716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9857C5-68CE-449A-AC7E-F960EEBCAD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BC4C29-40C6-4CC2-9A0B-9214C9FD2E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CFC5BC-10DE-4A17-95EC-F2FFBC88D3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3796FE-9387-4CA9-8753-F4C62D80D3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0512D4-F7CC-453C-8032-CC4273BE75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2124D9-1EBE-46E0-8C59-5D60914553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54C7AD-3380-48E6-8002-E3249EACC8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6C1CD5-98FB-49A4-88E8-BBED55EAC2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AB873D-B686-44F6-AF17-9E43AE54DF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8AFD16-6874-43AB-BB81-BC70685B12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491289-F4FF-4533-9B1E-7869598D98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274566-F543-4029-9330-D9834C2D5F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08CC7D-84C1-4541-8FE0-9DC18F461F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CE345D-2167-4B94-8B97-74105C5A18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2F4EF9-9AAD-4F88-A81D-18B479E330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57FF7E-8AC2-472C-8EC1-49E954C9C1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D77403-D586-4A99-B497-3DA2551229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FDDBDD-5C85-4E02-B2D0-0E9BD829E9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DB361F-E589-425F-B1B2-ADAEA37DAF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D35AFC-D8CB-495D-B3F4-C6ED587B47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6AC1D5-E43B-4236-9AB2-DEC2BB9D9D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A66FE7-4992-4516-8AE4-7A6F2107D4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0F98F8-05EE-426E-82CA-0615624AD6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EC7B95-E673-4BD2-BCAC-CC9B584DE2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5236DB-1081-4E3B-89A0-CA96D5BD7B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902F8-CAAA-41D9-B8B2-6F3D6D71EF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40466F-53D1-4602-B39D-5735ED4AB6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08888B-A436-4A46-816F-039BD3BBC4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F7F4A0-B052-46B1-A35D-A44E708753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F802-4E93-4998-BA9B-027F223111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4B06FB-4C38-4C00-B2B4-9E822E4ECC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72515B-4733-4831-9DDD-9FD75323EE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E62742-9FD9-4D28-ABD9-3637579D85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Fast recap before moving to career paths.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EBF784-7A30-4719-B599-067093045A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2E7945-2101-4A19-AC56-6CD1FD3B5E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BCB79E-849C-4202-AE1E-723BC0D4E4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755370-7F3D-4171-84D0-BC747BCF77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65122F-C09D-45FF-84C2-9BCF891A96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403B2D-6891-4C8B-9A01-F780E04C0E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0DC7E5-49E7-45C2-AC13-B473C7FAD3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F35659-C57D-484F-83EA-BDAE352909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E59199-84B3-4B2A-94EB-3FFB23A2B5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69F647-2749-4079-A17D-B8CBF38193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warm. Confirm the Day 1 task deadline before dismissing.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B9165B-8071-400B-BEAE-9D9979CE7E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0.png"/><Relationship Id="rId4" Type="http://schemas.openxmlformats.org/officeDocument/2006/relationships/image" Target="../media/image20.png"/><Relationship Id="rId5" Type="http://schemas.openxmlformats.org/officeDocument/2006/relationships/image" Target="../media/image20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40.png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25.png"/><Relationship Id="rId4" Type="http://schemas.openxmlformats.org/officeDocument/2006/relationships/image" Target="../media/image41.png"/><Relationship Id="rId5" Type="http://schemas.openxmlformats.org/officeDocument/2006/relationships/image" Target="../media/image13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2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3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44.png"/><Relationship Id="rId7" Type="http://schemas.openxmlformats.org/officeDocument/2006/relationships/image" Target="../media/image4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45.png"/><Relationship Id="rId7" Type="http://schemas.openxmlformats.org/officeDocument/2006/relationships/image" Target="../media/image2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8360" cy="11883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laptop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160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Code, Data &amp; Decisions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From First Principles to Real-World AI &amp; Data Science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Day 1 &amp; 2  ·  Orientation and The Big Picture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914400" y="612648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9C93"/>
                </a:solidFill>
                <a:effectLst/>
                <a:uFillTx/>
                <a:latin typeface="Calibri"/>
                <a:ea typeface="Calibri"/>
              </a:rPr>
              <a:t>BS(CS), 6th Semester — University of Bahrain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10515600" y="-13716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icons/calenda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Day 1 — Where We Begin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457200" y="160020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621720" y="168120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1" descr="icons/code.png"/>
          <p:cNvPicPr/>
          <p:nvPr/>
        </p:nvPicPr>
        <p:blipFill>
          <a:blip r:embed="rId2"/>
          <a:stretch/>
        </p:blipFill>
        <p:spPr>
          <a:xfrm>
            <a:off x="684000" y="174348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1325880" y="160020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programming?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457200" y="229644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21720" y="237744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2" descr="icons/microchip.png"/>
          <p:cNvPicPr/>
          <p:nvPr/>
        </p:nvPicPr>
        <p:blipFill>
          <a:blip r:embed="rId3"/>
          <a:stretch/>
        </p:blipFill>
        <p:spPr>
          <a:xfrm>
            <a:off x="684000" y="243972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8"/>
          <p:cNvSpPr/>
          <p:nvPr/>
        </p:nvSpPr>
        <p:spPr>
          <a:xfrm>
            <a:off x="1325880" y="229644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How does a computer "think"?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457200" y="299268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621720" y="307368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3" descr="icons/exchange.png"/>
          <p:cNvPicPr/>
          <p:nvPr/>
        </p:nvPicPr>
        <p:blipFill>
          <a:blip r:embed="rId4"/>
          <a:stretch/>
        </p:blipFill>
        <p:spPr>
          <a:xfrm>
            <a:off x="684000" y="313596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1"/>
          <p:cNvSpPr/>
          <p:nvPr/>
        </p:nvSpPr>
        <p:spPr>
          <a:xfrm>
            <a:off x="1325880" y="299268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Compiled vs. interpreted languages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457200" y="368892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621720" y="376992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4" descr="icons/python.png"/>
          <p:cNvPicPr/>
          <p:nvPr/>
        </p:nvPicPr>
        <p:blipFill>
          <a:blip r:embed="rId5"/>
          <a:stretch/>
        </p:blipFill>
        <p:spPr>
          <a:xfrm>
            <a:off x="684000" y="383220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4"/>
          <p:cNvSpPr/>
          <p:nvPr/>
        </p:nvSpPr>
        <p:spPr>
          <a:xfrm>
            <a:off x="1325880" y="368892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Why we use Python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457200" y="438516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621720" y="446616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5" descr="icons/lightbulb.png"/>
          <p:cNvPicPr/>
          <p:nvPr/>
        </p:nvPicPr>
        <p:blipFill>
          <a:blip r:embed="rId6"/>
          <a:stretch/>
        </p:blipFill>
        <p:spPr>
          <a:xfrm>
            <a:off x="684000" y="452844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17"/>
          <p:cNvSpPr/>
          <p:nvPr/>
        </p:nvSpPr>
        <p:spPr>
          <a:xfrm>
            <a:off x="1325880" y="4385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Why this course exists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457200" y="508140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621720" y="516240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6" descr="icons/route.png"/>
          <p:cNvPicPr/>
          <p:nvPr/>
        </p:nvPicPr>
        <p:blipFill>
          <a:blip r:embed="rId7"/>
          <a:stretch/>
        </p:blipFill>
        <p:spPr>
          <a:xfrm>
            <a:off x="684000" y="522468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20"/>
          <p:cNvSpPr/>
          <p:nvPr/>
        </p:nvSpPr>
        <p:spPr>
          <a:xfrm>
            <a:off x="1325880" y="508140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Our 16-week roadmap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457200" y="577764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621720" y="585864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7" descr="icons/toolbox.png"/>
          <p:cNvPicPr/>
          <p:nvPr/>
        </p:nvPicPr>
        <p:blipFill>
          <a:blip r:embed="rId8"/>
          <a:stretch/>
        </p:blipFill>
        <p:spPr>
          <a:xfrm>
            <a:off x="684000" y="592092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23"/>
          <p:cNvSpPr/>
          <p:nvPr/>
        </p:nvSpPr>
        <p:spPr>
          <a:xfrm>
            <a:off x="1325880" y="577764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Tools to install before next class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icons/cod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Programming = Giving Clear Instructions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1" descr="icons/cod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"Say exactly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you mean"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People understand hints and context. Computers do not.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program is just a list of simple steps. This list is called an algorithm.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this: tell someone how to make a sandwich, step by step. You will find gaps you never noticed.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Programming means noticing your own gaps before the computer does.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icons/microchi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Inside a Computer: Just Switches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1" descr="icons/microchi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2 states only: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 / off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computer is made of billions of tiny switches called transistors.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switch is either on or off. We call this 1 and 0.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program is like a path — each step moves you to the next point on that path.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Nothing "understands" your code. That is why we must be exact.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Two Ways to Run Code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822960" y="1828800"/>
            <a:ext cx="5120280" cy="4205880"/>
          </a:xfrm>
          <a:prstGeom prst="roundRect">
            <a:avLst>
              <a:gd name="adj" fmla="val 173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1097280" y="2057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Compiled (C++, Java)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1280160" y="27432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1280160" y="27432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Code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1280160" y="32918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1280160" y="36576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1280160" y="36576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Compiler Translates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1280160" y="42062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1280160" y="45720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1280160" y="45720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Runs It Fast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6400800" y="1828800"/>
            <a:ext cx="5120280" cy="4205880"/>
          </a:xfrm>
          <a:prstGeom prst="roundRect">
            <a:avLst>
              <a:gd name="adj" fmla="val 173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4"/>
          <p:cNvSpPr/>
          <p:nvPr/>
        </p:nvSpPr>
        <p:spPr>
          <a:xfrm>
            <a:off x="6675120" y="2057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Interpreted (Python)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6858000" y="27432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6858000" y="27432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Code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6858000" y="32918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8"/>
          <p:cNvSpPr/>
          <p:nvPr/>
        </p:nvSpPr>
        <p:spPr>
          <a:xfrm>
            <a:off x="6858000" y="36576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6858000" y="36576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Interpreter Reads Each 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6858000" y="42062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1"/>
          <p:cNvSpPr/>
          <p:nvPr/>
        </p:nvSpPr>
        <p:spPr>
          <a:xfrm>
            <a:off x="6858000" y="45720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6858000" y="45720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Right Away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822960" y="6172200"/>
            <a:ext cx="1054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Simple rule: Compiled = runs fast. Interpreted (Python) = lets you test ideas fast.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4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10515600" y="-137160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icons/python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Why Python? (And Its Limits)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731520" y="18288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Why Python Is Great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31520" y="2331720"/>
            <a:ext cx="48002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Reads almost like English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All the best data tools live here (NumPy, Pandas, scikit-learn)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200-line C++ program can be 20 lines in Python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Fewer strict rules — easier to turn an idea into working code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6446520" y="18288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Where It Falls Short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6446520" y="2331720"/>
            <a:ext cx="48002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slower than compiled languages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 built for parallel processing (a detail called the GIL)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 a great fit for mobile apps or embedded devices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Its speed in data work often comes from C code running underneath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icons/lightbulb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WHY THIS COURSE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"You are not here to become computer scientists or software engineers.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You are here so your research never waits on someone else."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And if you enjoy it — this is a real path into data science.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icons/rout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16-Week Journey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197676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1" descr="icons/code.png"/>
          <p:cNvPicPr/>
          <p:nvPr/>
        </p:nvPicPr>
        <p:blipFill>
          <a:blip r:embed="rId2"/>
          <a:stretch/>
        </p:blipFill>
        <p:spPr>
          <a:xfrm>
            <a:off x="206172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4"/>
          <p:cNvSpPr/>
          <p:nvPr/>
        </p:nvSpPr>
        <p:spPr>
          <a:xfrm>
            <a:off x="56700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 · Orientation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62172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 1 — what a computer is, why Python, first code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581112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2" descr="icons/sitemap.png"/>
          <p:cNvPicPr/>
          <p:nvPr/>
        </p:nvPicPr>
        <p:blipFill>
          <a:blip r:embed="rId3"/>
          <a:stretch/>
        </p:blipFill>
        <p:spPr>
          <a:xfrm>
            <a:off x="589608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8"/>
          <p:cNvSpPr/>
          <p:nvPr/>
        </p:nvSpPr>
        <p:spPr>
          <a:xfrm>
            <a:off x="440136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2 · Python Core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445608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2–4 — functions, lists, dicts, files, errors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96454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3" descr="icons/chart.png"/>
          <p:cNvPicPr/>
          <p:nvPr/>
        </p:nvPicPr>
        <p:blipFill>
          <a:blip r:embed="rId4"/>
          <a:stretch/>
        </p:blipFill>
        <p:spPr>
          <a:xfrm>
            <a:off x="973044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12"/>
          <p:cNvSpPr/>
          <p:nvPr/>
        </p:nvSpPr>
        <p:spPr>
          <a:xfrm>
            <a:off x="823572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3 · Stats &amp; Math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829044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5–7 — just the math the next phase needs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>
            <a:off x="197676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4" descr="icons/network.png"/>
          <p:cNvPicPr/>
          <p:nvPr/>
        </p:nvPicPr>
        <p:blipFill>
          <a:blip r:embed="rId5"/>
          <a:stretch/>
        </p:blipFill>
        <p:spPr>
          <a:xfrm>
            <a:off x="206172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16"/>
          <p:cNvSpPr/>
          <p:nvPr/>
        </p:nvSpPr>
        <p:spPr>
          <a:xfrm>
            <a:off x="56700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4 · NumPy, Pandas, Viz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62172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8–10 — the real tools of data 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581112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5" descr="icons/eye.png"/>
          <p:cNvPicPr/>
          <p:nvPr/>
        </p:nvPicPr>
        <p:blipFill>
          <a:blip r:embed="rId6"/>
          <a:stretch/>
        </p:blipFill>
        <p:spPr>
          <a:xfrm>
            <a:off x="589608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20"/>
          <p:cNvSpPr/>
          <p:nvPr/>
        </p:nvSpPr>
        <p:spPr>
          <a:xfrm>
            <a:off x="440136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5 · EDA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445608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11–12 — reading a real dataset before modeling 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3"/>
          <p:cNvSpPr/>
          <p:nvPr/>
        </p:nvSpPr>
        <p:spPr>
          <a:xfrm>
            <a:off x="96454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6" descr="icons/brain.png"/>
          <p:cNvPicPr/>
          <p:nvPr/>
        </p:nvPicPr>
        <p:blipFill>
          <a:blip r:embed="rId7"/>
          <a:stretch/>
        </p:blipFill>
        <p:spPr>
          <a:xfrm>
            <a:off x="973044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24"/>
          <p:cNvSpPr/>
          <p:nvPr/>
        </p:nvSpPr>
        <p:spPr>
          <a:xfrm>
            <a:off x="823572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6 · ML + Capstone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829044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13–16 — first models, and a project of your 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0" descr="icons/toolbox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BEFORE NEXT CLASS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Tools You Will Need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Five simple tools — install them before our next session.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icons/anaconda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Miniconda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1" descr="icons/anaconda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Manages Python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and its tools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Miniconda installs Python on your computer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also creates separate, clean workspaces called "environments" for each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stops different projects from breaking each other's tools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Think of it as a toolbox manager for all your Python projects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icons/lapto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Visual Studio Code (VS Code)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1" descr="icons/lapto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you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write your code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VS Code is a free, popular code editor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highlights your code in color, so mistakes are easy to spot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has helpful extensions — small add-ons for Python, Jupyter notebooks, and more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app you will open every single class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0" descr="icons/gital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Git — Version Control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1" descr="icons/gital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"Save points"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for your code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Git saves snapshots of your code as you work — like checkpoints in a game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you break something, you can go back to an earlier snapshot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also lets many people work on the same project without overwriting each other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Git runs on your own computer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0" descr="icons/github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GitHub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1" descr="icons/github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Your code's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online home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GitHub stores your Git snapshots online, safely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lets you share your code, back it up, and show it to others (like future employers)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connect Git (on your computer) to GitHub (online) so the two stay in sync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Almost every professional programmer and researcher uses GitHub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0" descr="icons/ubuntu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Linux / Ubuntu (Optional)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1" descr="icons/ubuntu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Optional —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not required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Linux is another operating system, like Windows or macOS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Ubuntu is a beginner-friendly version of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Many data science and AI tools were originally built for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do NOT need it for this course — Windows or macOS work perfectly fine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icons/task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Day 1 Task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822960" y="187452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Set Up Your Coding Environment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822960" y="251460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1" descr="icons/check.png"/>
          <p:cNvPicPr/>
          <p:nvPr/>
        </p:nvPicPr>
        <p:blipFill>
          <a:blip r:embed="rId2"/>
          <a:stretch/>
        </p:blipFill>
        <p:spPr>
          <a:xfrm>
            <a:off x="884520" y="257616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6"/>
          <p:cNvSpPr/>
          <p:nvPr/>
        </p:nvSpPr>
        <p:spPr>
          <a:xfrm>
            <a:off x="1417320" y="251460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 Miniconda on your computer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822960" y="313632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2" descr="icons/check.png"/>
          <p:cNvPicPr/>
          <p:nvPr/>
        </p:nvPicPr>
        <p:blipFill>
          <a:blip r:embed="rId3"/>
          <a:stretch/>
        </p:blipFill>
        <p:spPr>
          <a:xfrm>
            <a:off x="884520" y="319824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 8"/>
          <p:cNvSpPr/>
          <p:nvPr/>
        </p:nvSpPr>
        <p:spPr>
          <a:xfrm>
            <a:off x="1417320" y="31363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 VS Code on your computer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822960" y="375804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3" descr="icons/check.png"/>
          <p:cNvPicPr/>
          <p:nvPr/>
        </p:nvPicPr>
        <p:blipFill>
          <a:blip r:embed="rId4"/>
          <a:stretch/>
        </p:blipFill>
        <p:spPr>
          <a:xfrm>
            <a:off x="884520" y="381996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10"/>
          <p:cNvSpPr/>
          <p:nvPr/>
        </p:nvSpPr>
        <p:spPr>
          <a:xfrm>
            <a:off x="1417320" y="3758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 Git on your computer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822960" y="438012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4" descr="icons/check.png"/>
          <p:cNvPicPr/>
          <p:nvPr/>
        </p:nvPicPr>
        <p:blipFill>
          <a:blip r:embed="rId5"/>
          <a:stretch/>
        </p:blipFill>
        <p:spPr>
          <a:xfrm>
            <a:off x="884520" y="444168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 12"/>
          <p:cNvSpPr/>
          <p:nvPr/>
        </p:nvSpPr>
        <p:spPr>
          <a:xfrm>
            <a:off x="1417320" y="43801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your own GitHub account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3"/>
          <p:cNvSpPr/>
          <p:nvPr/>
        </p:nvSpPr>
        <p:spPr>
          <a:xfrm>
            <a:off x="822960" y="500184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5" descr="icons/check.png"/>
          <p:cNvPicPr/>
          <p:nvPr/>
        </p:nvPicPr>
        <p:blipFill>
          <a:blip r:embed="rId6"/>
          <a:stretch/>
        </p:blipFill>
        <p:spPr>
          <a:xfrm>
            <a:off x="884520" y="506340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14"/>
          <p:cNvSpPr/>
          <p:nvPr/>
        </p:nvSpPr>
        <p:spPr>
          <a:xfrm>
            <a:off x="1417320" y="50018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Connect Git (your computer) to your GitHub account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5"/>
          <p:cNvSpPr/>
          <p:nvPr/>
        </p:nvSpPr>
        <p:spPr>
          <a:xfrm>
            <a:off x="822960" y="562356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Due before our next class · Ask in the group chat if you get stuck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icons/laptop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3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Day 1 gave you the foundations.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Day 2 shows you where they lead.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10515600" y="-13716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0" descr="icons/calenda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Day 2 — Where This Takes You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457200" y="160020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621720" y="168120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 1" descr="icons/language.png"/>
          <p:cNvPicPr/>
          <p:nvPr/>
        </p:nvPicPr>
        <p:blipFill>
          <a:blip r:embed="rId2"/>
          <a:stretch/>
        </p:blipFill>
        <p:spPr>
          <a:xfrm>
            <a:off x="684000" y="174348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5"/>
          <p:cNvSpPr/>
          <p:nvPr/>
        </p:nvSpPr>
        <p:spPr>
          <a:xfrm>
            <a:off x="1325880" y="160020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does "Intelligence" mean?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457200" y="229644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7"/>
          <p:cNvSpPr/>
          <p:nvPr/>
        </p:nvSpPr>
        <p:spPr>
          <a:xfrm>
            <a:off x="621720" y="237744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2" descr="icons/toolbox.png"/>
          <p:cNvPicPr/>
          <p:nvPr/>
        </p:nvPicPr>
        <p:blipFill>
          <a:blip r:embed="rId3"/>
          <a:stretch/>
        </p:blipFill>
        <p:spPr>
          <a:xfrm>
            <a:off x="684000" y="243972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8"/>
          <p:cNvSpPr/>
          <p:nvPr/>
        </p:nvSpPr>
        <p:spPr>
          <a:xfrm>
            <a:off x="1325880" y="229644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does "Artificial" mean?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457200" y="299268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621720" y="307368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4" name="Image 3" descr="icons/brain.png"/>
          <p:cNvPicPr/>
          <p:nvPr/>
        </p:nvPicPr>
        <p:blipFill>
          <a:blip r:embed="rId4"/>
          <a:stretch/>
        </p:blipFill>
        <p:spPr>
          <a:xfrm>
            <a:off x="684000" y="313596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 11"/>
          <p:cNvSpPr/>
          <p:nvPr/>
        </p:nvSpPr>
        <p:spPr>
          <a:xfrm>
            <a:off x="1325880" y="299268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Artificial Intelligence?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457200" y="368892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3"/>
          <p:cNvSpPr/>
          <p:nvPr/>
        </p:nvSpPr>
        <p:spPr>
          <a:xfrm>
            <a:off x="621720" y="376992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4" descr="icons/landmark.png"/>
          <p:cNvPicPr/>
          <p:nvPr/>
        </p:nvPicPr>
        <p:blipFill>
          <a:blip r:embed="rId5"/>
          <a:stretch/>
        </p:blipFill>
        <p:spPr>
          <a:xfrm>
            <a:off x="684000" y="383220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14"/>
          <p:cNvSpPr/>
          <p:nvPr/>
        </p:nvSpPr>
        <p:spPr>
          <a:xfrm>
            <a:off x="1325880" y="368892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short history of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5"/>
          <p:cNvSpPr/>
          <p:nvPr/>
        </p:nvSpPr>
        <p:spPr>
          <a:xfrm>
            <a:off x="457200" y="438516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621720" y="446616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5" descr="icons/sitemap.png"/>
          <p:cNvPicPr/>
          <p:nvPr/>
        </p:nvPicPr>
        <p:blipFill>
          <a:blip r:embed="rId6"/>
          <a:stretch/>
        </p:blipFill>
        <p:spPr>
          <a:xfrm>
            <a:off x="684000" y="452844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17"/>
          <p:cNvSpPr/>
          <p:nvPr/>
        </p:nvSpPr>
        <p:spPr>
          <a:xfrm>
            <a:off x="1325880" y="4385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main areas of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8"/>
          <p:cNvSpPr/>
          <p:nvPr/>
        </p:nvSpPr>
        <p:spPr>
          <a:xfrm>
            <a:off x="457200" y="508140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621720" y="516240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6" descr="icons/flask.png"/>
          <p:cNvPicPr/>
          <p:nvPr/>
        </p:nvPicPr>
        <p:blipFill>
          <a:blip r:embed="rId7"/>
          <a:stretch/>
        </p:blipFill>
        <p:spPr>
          <a:xfrm>
            <a:off x="684000" y="522468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20"/>
          <p:cNvSpPr/>
          <p:nvPr/>
        </p:nvSpPr>
        <p:spPr>
          <a:xfrm>
            <a:off x="1325880" y="508140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Real research examples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1"/>
          <p:cNvSpPr/>
          <p:nvPr/>
        </p:nvSpPr>
        <p:spPr>
          <a:xfrm>
            <a:off x="457200" y="577764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2"/>
          <p:cNvSpPr/>
          <p:nvPr/>
        </p:nvSpPr>
        <p:spPr>
          <a:xfrm>
            <a:off x="621720" y="585864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7" descr="icons/chart.png"/>
          <p:cNvPicPr/>
          <p:nvPr/>
        </p:nvPicPr>
        <p:blipFill>
          <a:blip r:embed="rId8"/>
          <a:stretch/>
        </p:blipFill>
        <p:spPr>
          <a:xfrm>
            <a:off x="684000" y="592092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23"/>
          <p:cNvSpPr/>
          <p:nvPr/>
        </p:nvSpPr>
        <p:spPr>
          <a:xfrm>
            <a:off x="1325880" y="577764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Data Science?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4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Image 0" descr="icons/language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UNDERSTANDING INTELLIGENCE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Does "Intelligence" Actually Mean?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WORD ORIGIN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0" descr="icons/languag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Does the Word Come From?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There is no single agreed definition of "intelligence" — even experts disagree.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It is a noun, and it comes from the Latin word "Intelliger", which means "to understand."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THE TWO PARTS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0" descr="icons/gradcap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 Understand, Then To Learn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has two connected ideas: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1) To understand something.  2) To learn from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 always understand first — and only then can we truly learn.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1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0" name="Image 0" descr="icons/layergroup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Capacity to Acquire Capacity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is not just what you know — it is how ready you are to gain new abilities.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2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0" descr="icons/brain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Reason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is the skill of thinking things through logically, step by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3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icons/balanc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Judge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means being able to weigh choices and decide what is right or best.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4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0" descr="icons/puzzl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Relate Concepts and Situations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means connecting what you already know to a brand-new situation.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5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5088600" y="1051560"/>
            <a:ext cx="2011320" cy="319680"/>
          </a:xfrm>
          <a:prstGeom prst="roundRect">
            <a:avLst>
              <a:gd name="adj" fmla="val 48571"/>
            </a:avLst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5088600" y="10515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★ ONE OF THE BEST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5362920" y="150876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 0" descr="icons/water.png"/>
          <p:cNvPicPr/>
          <p:nvPr/>
        </p:nvPicPr>
        <p:blipFill>
          <a:blip r:embed="rId1"/>
          <a:stretch/>
        </p:blipFill>
        <p:spPr>
          <a:xfrm>
            <a:off x="5582520" y="172836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5"/>
          <p:cNvSpPr/>
          <p:nvPr/>
        </p:nvSpPr>
        <p:spPr>
          <a:xfrm>
            <a:off x="914400" y="310896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Handle Situations Flexibly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1828800" y="384048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This is often called one of the best definitions of intelligence: the ability to adapt — to bend, not break — when a situation changes. This is also called resilience.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6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2" name="Image 0" descr="icons/bullsey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Goal-Oriented Behavior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is behavior aimed at a clear goal — adapting your actions until you reach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914400" y="6172200"/>
            <a:ext cx="1035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— Robert Sternberg &amp; Salter, Definition of Intelligence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7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1" name="Image 0" descr="icons/history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Take Profit from Experience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Intelligent behavior means learning from your past — using old experience to do better next time.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8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0" descr="icons/coins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Proper Use of Limited Resources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means using what little time, energy, or resources you have in the smartest possible way to reach your goal.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5"/>
          <p:cNvSpPr/>
          <p:nvPr/>
        </p:nvSpPr>
        <p:spPr>
          <a:xfrm>
            <a:off x="914400" y="6172200"/>
            <a:ext cx="1035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— Ray Kurzweil, Definition of Intelligence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9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8" name="Image 0" descr="icons/chartlin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Getting Better Over Time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One simple, powerful idea: if something keeps improving with practice and experience, that is intelligence.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914400" y="6172200"/>
            <a:ext cx="1035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— Roger Schank, Definition of Intelligence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ARTIFICIAL · WORD ORIGIN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0" descr="icons/languag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Does "Artificial" Mean?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"Artificial" is an adjective. It comes from the Latin word "Artificium."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Some researchers trace it further back to "Artefact" — meaning something man-made, not natural.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ARTIFICIAL · IN SIMPLE WORDS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5" name="Image 0" descr="icons/toolbox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Artificial = Man-Made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natural lake is made by nature. An artificial lake is built by people.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 the same way, "Artificial Intelligence" means intelligence that is built by people — not born naturally.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icons/brain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3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Artificial  +  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"Man-made" ability to understand, reason, and learn.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Now let's look at how experts formally define this field.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0" name="Image 0" descr="icons/brain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FORMAL DEFINITIONS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How Do Experts Define Artificial Intelligence?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1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0" descr="icons/brain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General Definition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the ability of a system to understand, learn, gain knowledge, and use that knowledge in the right way.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2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5" name="Image 0" descr="icons/users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Buchanan's Definition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the part of computer science that solves problems which humans, right now, can still do better than computers.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3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3" name="Image 0" descr="icons/hashtag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Buchanan's Symbolic AI Definition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can solve problems by turning information into symbols, then using simple rules of thumb (called heuristics) on those symbols.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4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1" name="Image 0" descr="icons/lightbulb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Making Computers Smart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 simple words, AI is the area of computer science used to make computers "smart."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5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9" name="Image 0" descr="icons/cogs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Automation of Intelligent Behavior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the branch of computer science that automates behavior we would normally call "intelligent."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6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7" name="Image 0" descr="icons/satellit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Intelligent Agents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designs "agents" — programs that can sense their surroundings and take action to reach a goal.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7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5" name="Image 0" descr="icons/chartlin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Learning From Experience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solves hard problems by learning from experience, and getting better at it over time.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8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3" name="Image 0" descr="icons/mask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Mimicking Human Behavior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a branch of computer science where machines are taught to copy human intelligence and behavior.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1" name="Image 0" descr="icons/landmark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2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A SHORT STORY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Short History of Artificial 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7" name="Image 0" descr="icons/cog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Al-Jazari (12th Century)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1" name="Image 1" descr="icons/cog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1200s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Early Machines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One of the earliest inventors of programmable, mechanical machines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Built automatic devices, water clocks, and human-shaped robots (automata)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Wrote a famous book: "The Book of Knowledge of Ingenious Mechanical Devices"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His work laid the groundwork for robotics and automation, centuries early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8" name="Image 0" descr="icons/usersecre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Alan Turing (1930s–1950s)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2" name="Image 1" descr="icons/usersecre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1936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Turing Machine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British mathematician who first asked: "Can machines think?"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Introduced the Turing Machine — the theory behind all modern computers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1950, wrote the paper "Computing Machinery and Intelligence"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Created the famous Turing Test to check if a machine can act intelligently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9" name="Image 0" descr="icons/landmar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Dartmouth Conference (1956)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3" name="Image 1" descr="icons/landmar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1956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Is Born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summer research meeting that officially created AI as its own field of study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Organized by John McCarthy, Marvin Minsky, Claude Shannon, and Nathaniel Rochester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John McCarthy coined the actual term "Artificial Intelligence" here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event marks the true "birthday" of AI as a science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0" name="Image 0" descr="icons/snowflak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First AI Winter (1970s)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4" name="Image 1" descr="icons/snowflak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1970s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Progress Slows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Interest and funding in AI research dropped sharply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Computers were still too weak — not enough power or memory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Many earlier promises about AI turned out to be too optimistic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Researchers focused more on theory than on working, practical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1" name="Image 0" descr="icons/chartlin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Revival (1980s–1990s)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5" name="Image 1" descr="icons/chartlin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6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1980s–90s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Returns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Expert Systems became popular and genuinely useful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Computers became faster and more powerful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lot more digital data became available to learn from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Machine Learning made real, practical progress during this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3" name="Image 0" descr="icons/sitemap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THE BUILDING BLOCKS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Main Areas of Artificial 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9" name="Image 0" descr="icons/sitema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Expert Systems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3" name="Image 1" descr="icons/sitema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Rules from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human experts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Expert Systems are programs built to copy the decision-making of a real human expert, using stored knowledge and rules.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medical diagnosis, financial advice, technical troubleshooting, decision support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2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6" name="Image 1" descr="icons/layergrou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Learning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from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Machine Learning lets a computer find patterns in data by itself — instead of a human writing every single rule by hand.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predictions, recommendation systems, fraud detection, speech recognition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4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 — 4 Types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2"/>
          <p:cNvSpPr/>
          <p:nvPr/>
        </p:nvSpPr>
        <p:spPr>
          <a:xfrm>
            <a:off x="457200" y="150876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3"/>
          <p:cNvSpPr/>
          <p:nvPr/>
        </p:nvSpPr>
        <p:spPr>
          <a:xfrm>
            <a:off x="29350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8" name="Image 1" descr="icons/book.png"/>
          <p:cNvPicPr/>
          <p:nvPr/>
        </p:nvPicPr>
        <p:blipFill>
          <a:blip r:embed="rId2"/>
          <a:stretch/>
        </p:blipFill>
        <p:spPr>
          <a:xfrm>
            <a:off x="302040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Text 4"/>
          <p:cNvSpPr/>
          <p:nvPr/>
        </p:nvSpPr>
        <p:spPr>
          <a:xfrm>
            <a:off x="567000" y="242856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Supervised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5"/>
          <p:cNvSpPr/>
          <p:nvPr/>
        </p:nvSpPr>
        <p:spPr>
          <a:xfrm>
            <a:off x="621720" y="2812680"/>
            <a:ext cx="5193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Learns from labeled examples — each has a known correct answer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6"/>
          <p:cNvSpPr/>
          <p:nvPr/>
        </p:nvSpPr>
        <p:spPr>
          <a:xfrm>
            <a:off x="6208920" y="150876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7"/>
          <p:cNvSpPr/>
          <p:nvPr/>
        </p:nvSpPr>
        <p:spPr>
          <a:xfrm>
            <a:off x="868680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3" name="Image 2" descr="icons/puzzle.png"/>
          <p:cNvPicPr/>
          <p:nvPr/>
        </p:nvPicPr>
        <p:blipFill>
          <a:blip r:embed="rId3"/>
          <a:stretch/>
        </p:blipFill>
        <p:spPr>
          <a:xfrm>
            <a:off x="877176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Text 8"/>
          <p:cNvSpPr/>
          <p:nvPr/>
        </p:nvSpPr>
        <p:spPr>
          <a:xfrm>
            <a:off x="6318360" y="242856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Unsupervised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9"/>
          <p:cNvSpPr/>
          <p:nvPr/>
        </p:nvSpPr>
        <p:spPr>
          <a:xfrm>
            <a:off x="6373440" y="2812680"/>
            <a:ext cx="5193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Finds hidden patterns in data with no labels at all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10"/>
          <p:cNvSpPr/>
          <p:nvPr/>
        </p:nvSpPr>
        <p:spPr>
          <a:xfrm>
            <a:off x="457200" y="406908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1"/>
          <p:cNvSpPr/>
          <p:nvPr/>
        </p:nvSpPr>
        <p:spPr>
          <a:xfrm>
            <a:off x="29350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8" name="Image 3" descr="icons/layergroup.png"/>
          <p:cNvPicPr/>
          <p:nvPr/>
        </p:nvPicPr>
        <p:blipFill>
          <a:blip r:embed="rId4"/>
          <a:stretch/>
        </p:blipFill>
        <p:spPr>
          <a:xfrm>
            <a:off x="302040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 12"/>
          <p:cNvSpPr/>
          <p:nvPr/>
        </p:nvSpPr>
        <p:spPr>
          <a:xfrm>
            <a:off x="567000" y="49888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Semi-Supervised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3"/>
          <p:cNvSpPr/>
          <p:nvPr/>
        </p:nvSpPr>
        <p:spPr>
          <a:xfrm>
            <a:off x="621720" y="5373000"/>
            <a:ext cx="5193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Learns from a mix of labeled and unlabeled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4"/>
          <p:cNvSpPr/>
          <p:nvPr/>
        </p:nvSpPr>
        <p:spPr>
          <a:xfrm>
            <a:off x="6208920" y="406908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5"/>
          <p:cNvSpPr/>
          <p:nvPr/>
        </p:nvSpPr>
        <p:spPr>
          <a:xfrm>
            <a:off x="868680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3" name="Image 4" descr="icons/bullseye.png"/>
          <p:cNvPicPr/>
          <p:nvPr/>
        </p:nvPicPr>
        <p:blipFill>
          <a:blip r:embed="rId5"/>
          <a:stretch/>
        </p:blipFill>
        <p:spPr>
          <a:xfrm>
            <a:off x="877176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Text 16"/>
          <p:cNvSpPr/>
          <p:nvPr/>
        </p:nvSpPr>
        <p:spPr>
          <a:xfrm>
            <a:off x="6318360" y="49888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Reinforcement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7"/>
          <p:cNvSpPr/>
          <p:nvPr/>
        </p:nvSpPr>
        <p:spPr>
          <a:xfrm>
            <a:off x="6373440" y="5373000"/>
            <a:ext cx="5193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Learns by trial and error, earning rewards for good choices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8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0" name="Image 0" descr="icons/dna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Evolutionary Algorithms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4" name="Image 1" descr="icons/dna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Inspired by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evolution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These methods borrow ideas from natural evolution — testing many possible solutions, and keeping the best ones over many rounds.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optimization problems, scheduling, engineering design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3" name="Image 0" descr="icons/ey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Computer Vision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7" name="Image 1" descr="icons/ey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8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that "see"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Vision lets a computer understand and interpret images and videos, much like a human eye and brain would.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facial recognition, medical imaging, self-driving cars, security cameras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6" name="Image 0" descr="icons/robo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Robotics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0" name="Image 1" descr="icons/robo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with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physical body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Robotics combines AI with physical machines, so robots can sense their surroundings, plan, and act on their own.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manufacturing, healthcare, military, space exploration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9" name="Image 0" descr="icons/comment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Natural Language Processing (NLP)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3" name="Image 1" descr="icons/comment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that "talk"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NLP lets a computer understand, process, and even generate human language — written or spoken.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chatbots, translation, speech recognition, sentiment analysis, virtual assistants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2" name="Image 0" descr="icons/swarm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Swarm Intelligence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6" name="Image 1" descr="icons/swarm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Inspired by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ants &amp; bees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Swarm Intelligence copies how groups of simple animals — ants, bees, birds, fish — solve problems together, with no single leader.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optimization, delivery routing, scheduling, distributed problem-solving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5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Ethics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9" name="Image 1" descr="icons/balanc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0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Building AI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responsibly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AI Ethics makes sure AI systems are built fairly and safely for everyone — this area is growing quickly as AI spreads.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fairness, bias, privacy, transparency, accountability, safety, security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7" name="Image 0" descr="icons/sitema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8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Fields at a Glance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2"/>
          <p:cNvSpPr/>
          <p:nvPr/>
        </p:nvSpPr>
        <p:spPr>
          <a:xfrm>
            <a:off x="457200" y="150876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3"/>
          <p:cNvSpPr/>
          <p:nvPr/>
        </p:nvSpPr>
        <p:spPr>
          <a:xfrm>
            <a:off x="149724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1" name="Image 1" descr="icons/sitemap.png"/>
          <p:cNvPicPr/>
          <p:nvPr/>
        </p:nvPicPr>
        <p:blipFill>
          <a:blip r:embed="rId2"/>
          <a:stretch/>
        </p:blipFill>
        <p:spPr>
          <a:xfrm>
            <a:off x="158220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2" name="Text 4"/>
          <p:cNvSpPr/>
          <p:nvPr/>
        </p:nvSpPr>
        <p:spPr>
          <a:xfrm>
            <a:off x="567000" y="242856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Expert Systems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5"/>
          <p:cNvSpPr/>
          <p:nvPr/>
        </p:nvSpPr>
        <p:spPr>
          <a:xfrm>
            <a:off x="3332880" y="150876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6"/>
          <p:cNvSpPr/>
          <p:nvPr/>
        </p:nvSpPr>
        <p:spPr>
          <a:xfrm>
            <a:off x="43732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5" name="Image 2" descr="icons/layergroup.png"/>
          <p:cNvPicPr/>
          <p:nvPr/>
        </p:nvPicPr>
        <p:blipFill>
          <a:blip r:embed="rId3"/>
          <a:stretch/>
        </p:blipFill>
        <p:spPr>
          <a:xfrm>
            <a:off x="445824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Text 7"/>
          <p:cNvSpPr/>
          <p:nvPr/>
        </p:nvSpPr>
        <p:spPr>
          <a:xfrm>
            <a:off x="3442680" y="242856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8"/>
          <p:cNvSpPr/>
          <p:nvPr/>
        </p:nvSpPr>
        <p:spPr>
          <a:xfrm>
            <a:off x="6208920" y="150876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9"/>
          <p:cNvSpPr/>
          <p:nvPr/>
        </p:nvSpPr>
        <p:spPr>
          <a:xfrm>
            <a:off x="724896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9" name="Image 3" descr="icons/dna.png"/>
          <p:cNvPicPr/>
          <p:nvPr/>
        </p:nvPicPr>
        <p:blipFill>
          <a:blip r:embed="rId4"/>
          <a:stretch/>
        </p:blipFill>
        <p:spPr>
          <a:xfrm>
            <a:off x="733392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0" name="Text 10"/>
          <p:cNvSpPr/>
          <p:nvPr/>
        </p:nvSpPr>
        <p:spPr>
          <a:xfrm>
            <a:off x="6318360" y="242856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Evolutionary Algorithms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1"/>
          <p:cNvSpPr/>
          <p:nvPr/>
        </p:nvSpPr>
        <p:spPr>
          <a:xfrm>
            <a:off x="9084600" y="150876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2"/>
          <p:cNvSpPr/>
          <p:nvPr/>
        </p:nvSpPr>
        <p:spPr>
          <a:xfrm>
            <a:off x="1012464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3" name="Image 4" descr="icons/eye.png"/>
          <p:cNvPicPr/>
          <p:nvPr/>
        </p:nvPicPr>
        <p:blipFill>
          <a:blip r:embed="rId5"/>
          <a:stretch/>
        </p:blipFill>
        <p:spPr>
          <a:xfrm>
            <a:off x="1020960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Text 13"/>
          <p:cNvSpPr/>
          <p:nvPr/>
        </p:nvSpPr>
        <p:spPr>
          <a:xfrm>
            <a:off x="9194400" y="242856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Computer Vision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14"/>
          <p:cNvSpPr/>
          <p:nvPr/>
        </p:nvSpPr>
        <p:spPr>
          <a:xfrm>
            <a:off x="457200" y="406908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5"/>
          <p:cNvSpPr/>
          <p:nvPr/>
        </p:nvSpPr>
        <p:spPr>
          <a:xfrm>
            <a:off x="149724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7" name="Image 5" descr="icons/robot.png"/>
          <p:cNvPicPr/>
          <p:nvPr/>
        </p:nvPicPr>
        <p:blipFill>
          <a:blip r:embed="rId6"/>
          <a:stretch/>
        </p:blipFill>
        <p:spPr>
          <a:xfrm>
            <a:off x="158220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8" name="Text 16"/>
          <p:cNvSpPr/>
          <p:nvPr/>
        </p:nvSpPr>
        <p:spPr>
          <a:xfrm>
            <a:off x="567000" y="498888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Robotics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17"/>
          <p:cNvSpPr/>
          <p:nvPr/>
        </p:nvSpPr>
        <p:spPr>
          <a:xfrm>
            <a:off x="3332880" y="406908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18"/>
          <p:cNvSpPr/>
          <p:nvPr/>
        </p:nvSpPr>
        <p:spPr>
          <a:xfrm>
            <a:off x="43732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1" name="Image 6" descr="icons/comments.png"/>
          <p:cNvPicPr/>
          <p:nvPr/>
        </p:nvPicPr>
        <p:blipFill>
          <a:blip r:embed="rId7"/>
          <a:stretch/>
        </p:blipFill>
        <p:spPr>
          <a:xfrm>
            <a:off x="445824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Text 19"/>
          <p:cNvSpPr/>
          <p:nvPr/>
        </p:nvSpPr>
        <p:spPr>
          <a:xfrm>
            <a:off x="3442680" y="498888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NLP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20"/>
          <p:cNvSpPr/>
          <p:nvPr/>
        </p:nvSpPr>
        <p:spPr>
          <a:xfrm>
            <a:off x="6208920" y="406908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21"/>
          <p:cNvSpPr/>
          <p:nvPr/>
        </p:nvSpPr>
        <p:spPr>
          <a:xfrm>
            <a:off x="724896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5" name="Image 7" descr="icons/swarm.png"/>
          <p:cNvPicPr/>
          <p:nvPr/>
        </p:nvPicPr>
        <p:blipFill>
          <a:blip r:embed="rId8"/>
          <a:stretch/>
        </p:blipFill>
        <p:spPr>
          <a:xfrm>
            <a:off x="733392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6" name="Text 22"/>
          <p:cNvSpPr/>
          <p:nvPr/>
        </p:nvSpPr>
        <p:spPr>
          <a:xfrm>
            <a:off x="6318360" y="498888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Swarm Intelligence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23"/>
          <p:cNvSpPr/>
          <p:nvPr/>
        </p:nvSpPr>
        <p:spPr>
          <a:xfrm>
            <a:off x="9084600" y="406908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24"/>
          <p:cNvSpPr/>
          <p:nvPr/>
        </p:nvSpPr>
        <p:spPr>
          <a:xfrm>
            <a:off x="1012464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9" name="Image 8" descr="icons/balance.png"/>
          <p:cNvPicPr/>
          <p:nvPr/>
        </p:nvPicPr>
        <p:blipFill>
          <a:blip r:embed="rId9"/>
          <a:stretch/>
        </p:blipFill>
        <p:spPr>
          <a:xfrm>
            <a:off x="1020960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0" name="Text 25"/>
          <p:cNvSpPr/>
          <p:nvPr/>
        </p:nvSpPr>
        <p:spPr>
          <a:xfrm>
            <a:off x="9194400" y="498888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Ethics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2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4" name="Image 0" descr="icons/briefcas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Career Paths in AI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3"/>
          <p:cNvSpPr/>
          <p:nvPr/>
        </p:nvSpPr>
        <p:spPr>
          <a:xfrm>
            <a:off x="197676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8" name="Image 1" descr="icons/comments.png"/>
          <p:cNvPicPr/>
          <p:nvPr/>
        </p:nvPicPr>
        <p:blipFill>
          <a:blip r:embed="rId2"/>
          <a:stretch/>
        </p:blipFill>
        <p:spPr>
          <a:xfrm>
            <a:off x="206172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9" name="Text 4"/>
          <p:cNvSpPr/>
          <p:nvPr/>
        </p:nvSpPr>
        <p:spPr>
          <a:xfrm>
            <a:off x="56700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NLP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5"/>
          <p:cNvSpPr/>
          <p:nvPr/>
        </p:nvSpPr>
        <p:spPr>
          <a:xfrm>
            <a:off x="62172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chatbots, translators, and language tools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7"/>
          <p:cNvSpPr/>
          <p:nvPr/>
        </p:nvSpPr>
        <p:spPr>
          <a:xfrm>
            <a:off x="581112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3" name="Image 2" descr="icons/eye.png"/>
          <p:cNvPicPr/>
          <p:nvPr/>
        </p:nvPicPr>
        <p:blipFill>
          <a:blip r:embed="rId3"/>
          <a:stretch/>
        </p:blipFill>
        <p:spPr>
          <a:xfrm>
            <a:off x="589608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4" name="Text 8"/>
          <p:cNvSpPr/>
          <p:nvPr/>
        </p:nvSpPr>
        <p:spPr>
          <a:xfrm>
            <a:off x="440136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Computer Vision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9"/>
          <p:cNvSpPr/>
          <p:nvPr/>
        </p:nvSpPr>
        <p:spPr>
          <a:xfrm>
            <a:off x="445608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systems that understand images &amp; video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1"/>
          <p:cNvSpPr/>
          <p:nvPr/>
        </p:nvSpPr>
        <p:spPr>
          <a:xfrm>
            <a:off x="96454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8" name="Image 3" descr="icons/sitemap.png"/>
          <p:cNvPicPr/>
          <p:nvPr/>
        </p:nvPicPr>
        <p:blipFill>
          <a:blip r:embed="rId4"/>
          <a:stretch/>
        </p:blipFill>
        <p:spPr>
          <a:xfrm>
            <a:off x="973044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Text 12"/>
          <p:cNvSpPr/>
          <p:nvPr/>
        </p:nvSpPr>
        <p:spPr>
          <a:xfrm>
            <a:off x="823572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Expert System Developer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13"/>
          <p:cNvSpPr/>
          <p:nvPr/>
        </p:nvSpPr>
        <p:spPr>
          <a:xfrm>
            <a:off x="829044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rule-based decision tools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15"/>
          <p:cNvSpPr/>
          <p:nvPr/>
        </p:nvSpPr>
        <p:spPr>
          <a:xfrm>
            <a:off x="197676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3" name="Image 4" descr="icons/layergroup.png"/>
          <p:cNvPicPr/>
          <p:nvPr/>
        </p:nvPicPr>
        <p:blipFill>
          <a:blip r:embed="rId5"/>
          <a:stretch/>
        </p:blipFill>
        <p:spPr>
          <a:xfrm>
            <a:off x="206172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Text 16"/>
          <p:cNvSpPr/>
          <p:nvPr/>
        </p:nvSpPr>
        <p:spPr>
          <a:xfrm>
            <a:off x="56700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7"/>
          <p:cNvSpPr/>
          <p:nvPr/>
        </p:nvSpPr>
        <p:spPr>
          <a:xfrm>
            <a:off x="62172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and trains learning models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19"/>
          <p:cNvSpPr/>
          <p:nvPr/>
        </p:nvSpPr>
        <p:spPr>
          <a:xfrm>
            <a:off x="581112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8" name="Image 5" descr="icons/swarm.png"/>
          <p:cNvPicPr/>
          <p:nvPr/>
        </p:nvPicPr>
        <p:blipFill>
          <a:blip r:embed="rId6"/>
          <a:stretch/>
        </p:blipFill>
        <p:spPr>
          <a:xfrm>
            <a:off x="589608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Text 20"/>
          <p:cNvSpPr/>
          <p:nvPr/>
        </p:nvSpPr>
        <p:spPr>
          <a:xfrm>
            <a:off x="440136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Optimization Researcher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21"/>
          <p:cNvSpPr/>
          <p:nvPr/>
        </p:nvSpPr>
        <p:spPr>
          <a:xfrm>
            <a:off x="445608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Works on swarm &amp; evolutionary methods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23"/>
          <p:cNvSpPr/>
          <p:nvPr/>
        </p:nvSpPr>
        <p:spPr>
          <a:xfrm>
            <a:off x="96454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3" name="Image 6" descr="icons/robot.png"/>
          <p:cNvPicPr/>
          <p:nvPr/>
        </p:nvPicPr>
        <p:blipFill>
          <a:blip r:embed="rId7"/>
          <a:stretch/>
        </p:blipFill>
        <p:spPr>
          <a:xfrm>
            <a:off x="973044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Text 24"/>
          <p:cNvSpPr/>
          <p:nvPr/>
        </p:nvSpPr>
        <p:spPr>
          <a:xfrm>
            <a:off x="823572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Robotics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25"/>
          <p:cNvSpPr/>
          <p:nvPr/>
        </p:nvSpPr>
        <p:spPr>
          <a:xfrm>
            <a:off x="829044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physical, autonomous machines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2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1" name="Image 0" descr="icons/flask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2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REAL RESEARCH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Where This Shows Up in the Real World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60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7" name="Image 0" descr="icons/flas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How This Course Helps Your Research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1" name="Image 1" descr="icons/flas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Same tools,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every field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field now creates more data than people can check by hand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tools in this course — Python, statistics, EDA, ML — are used in almost every research field today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do not need to become an AI expert. You just need enough skill to ask your data a question, and get a real answer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8" name="Image 0" descr="icons/seedl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Agriculture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2" name="Image 1" descr="icons/seedling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3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farming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Predicting crop yield using soil, weather, and satellite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Vision spotting plant disease from leaf photos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Sensors (soil moisture, temperature) automating watering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9" name="Image 0" descr="icons/robo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Robotics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3" name="Image 1" descr="icons/robo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Perception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+ action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Combining camera, LiDAR, and motion data into one picture of the world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Path-planning — deciding the best route using probability and math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Reinforcement Learning — robots improving through trial and error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0" name="Image 0" descr="icons/ca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Self-Driving Cars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4" name="Image 1" descr="icons/car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Millions of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miles of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Vision spotting lanes, signs, and people in real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Huge labeled datasets — the same EDA &amp; cleaning skills from this course apply directly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Decision-making models trained on real driving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1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Any Research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5" name="Image 1" descr="icons/char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6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Faster,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stronger work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Automating data cleaning that used to take days by hand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Statistical tests to check — or challenge — a hypothesis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Charts and visuals that make a thesis or paper much stronger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2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Data Science?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6" name="Image 1" descr="icons/char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7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→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insight →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Data Science means pulling useful insight and decisions out of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combines statistics, programming, and knowledge of a specific field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AI asks "can a machine act smart?" — Data Science asks "what does this data actually tell us?"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two fields overlap constantly — most AI is built and tested using data science methods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2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Career Paths in Data Science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3"/>
          <p:cNvSpPr/>
          <p:nvPr/>
        </p:nvSpPr>
        <p:spPr>
          <a:xfrm>
            <a:off x="197676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6" name="Image 1" descr="icons/chart.png"/>
          <p:cNvPicPr/>
          <p:nvPr/>
        </p:nvPicPr>
        <p:blipFill>
          <a:blip r:embed="rId2"/>
          <a:stretch/>
        </p:blipFill>
        <p:spPr>
          <a:xfrm>
            <a:off x="206172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7" name="Text 4"/>
          <p:cNvSpPr/>
          <p:nvPr/>
        </p:nvSpPr>
        <p:spPr>
          <a:xfrm>
            <a:off x="56700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Analyst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5"/>
          <p:cNvSpPr/>
          <p:nvPr/>
        </p:nvSpPr>
        <p:spPr>
          <a:xfrm>
            <a:off x="62172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Turns raw data into reports and dashboards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7"/>
          <p:cNvSpPr/>
          <p:nvPr/>
        </p:nvSpPr>
        <p:spPr>
          <a:xfrm>
            <a:off x="581112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1" name="Image 2" descr="icons/network.png"/>
          <p:cNvPicPr/>
          <p:nvPr/>
        </p:nvPicPr>
        <p:blipFill>
          <a:blip r:embed="rId3"/>
          <a:stretch/>
        </p:blipFill>
        <p:spPr>
          <a:xfrm>
            <a:off x="589608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2" name="Text 8"/>
          <p:cNvSpPr/>
          <p:nvPr/>
        </p:nvSpPr>
        <p:spPr>
          <a:xfrm>
            <a:off x="440136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9"/>
          <p:cNvSpPr/>
          <p:nvPr/>
        </p:nvSpPr>
        <p:spPr>
          <a:xfrm>
            <a:off x="445608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the pipelines that move and store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Shape 11"/>
          <p:cNvSpPr/>
          <p:nvPr/>
        </p:nvSpPr>
        <p:spPr>
          <a:xfrm>
            <a:off x="96454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6" name="Image 3" descr="icons/brain.png"/>
          <p:cNvPicPr/>
          <p:nvPr/>
        </p:nvPicPr>
        <p:blipFill>
          <a:blip r:embed="rId4"/>
          <a:stretch/>
        </p:blipFill>
        <p:spPr>
          <a:xfrm>
            <a:off x="973044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7" name="Text 12"/>
          <p:cNvSpPr/>
          <p:nvPr/>
        </p:nvSpPr>
        <p:spPr>
          <a:xfrm>
            <a:off x="823572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Scientist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13"/>
          <p:cNvSpPr/>
          <p:nvPr/>
        </p:nvSpPr>
        <p:spPr>
          <a:xfrm>
            <a:off x="829044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models, makes predictions, runs experiments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15"/>
          <p:cNvSpPr/>
          <p:nvPr/>
        </p:nvSpPr>
        <p:spPr>
          <a:xfrm>
            <a:off x="197676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1" name="Image 4" descr="icons/code.png"/>
          <p:cNvPicPr/>
          <p:nvPr/>
        </p:nvPicPr>
        <p:blipFill>
          <a:blip r:embed="rId5"/>
          <a:stretch/>
        </p:blipFill>
        <p:spPr>
          <a:xfrm>
            <a:off x="206172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2" name="Text 16"/>
          <p:cNvSpPr/>
          <p:nvPr/>
        </p:nvSpPr>
        <p:spPr>
          <a:xfrm>
            <a:off x="56700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ML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17"/>
          <p:cNvSpPr/>
          <p:nvPr/>
        </p:nvSpPr>
        <p:spPr>
          <a:xfrm>
            <a:off x="62172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Puts models into real, working products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19"/>
          <p:cNvSpPr/>
          <p:nvPr/>
        </p:nvSpPr>
        <p:spPr>
          <a:xfrm>
            <a:off x="581112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6" name="Image 5" descr="icons/briefcase.png"/>
          <p:cNvPicPr/>
          <p:nvPr/>
        </p:nvPicPr>
        <p:blipFill>
          <a:blip r:embed="rId6"/>
          <a:stretch/>
        </p:blipFill>
        <p:spPr>
          <a:xfrm>
            <a:off x="589608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7" name="Text 20"/>
          <p:cNvSpPr/>
          <p:nvPr/>
        </p:nvSpPr>
        <p:spPr>
          <a:xfrm>
            <a:off x="440136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BI Analyst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21"/>
          <p:cNvSpPr/>
          <p:nvPr/>
        </p:nvSpPr>
        <p:spPr>
          <a:xfrm>
            <a:off x="445608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Tracks business metrics to support decisions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23"/>
          <p:cNvSpPr/>
          <p:nvPr/>
        </p:nvSpPr>
        <p:spPr>
          <a:xfrm>
            <a:off x="96454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1" name="Image 6" descr="icons/gradcap.png"/>
          <p:cNvPicPr/>
          <p:nvPr/>
        </p:nvPicPr>
        <p:blipFill>
          <a:blip r:embed="rId7"/>
          <a:stretch/>
        </p:blipFill>
        <p:spPr>
          <a:xfrm>
            <a:off x="973044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2" name="Text 24"/>
          <p:cNvSpPr/>
          <p:nvPr/>
        </p:nvSpPr>
        <p:spPr>
          <a:xfrm>
            <a:off x="823572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Research Scientist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25"/>
          <p:cNvSpPr/>
          <p:nvPr/>
        </p:nvSpPr>
        <p:spPr>
          <a:xfrm>
            <a:off x="829044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Pushes the field forward in labs or academia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2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9" name="Image 0" descr="icons/gradcap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0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WHERE YOU FIT 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Whatever field pulls you — agriculture, robotics,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healthcare, or policy — the path starts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with the same first step: today.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See you next session.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68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2026-07-16T22:34:35Z</dcterms:created>
  <dc:creator>Course Instructor</dc:creator>
  <dc:description/>
  <dc:language>en-US</dc:language>
  <cp:lastModifiedBy/>
  <dcterms:modified xsi:type="dcterms:W3CDTF">2026-07-17T20:43:09Z</dcterms:modified>
  <cp:revision>11</cp:revision>
  <dc:subject>PptxGenJS Presentation</dc:subject>
  <dc:title>Code, Data &amp; Decisions — Day 1 &amp;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68</vt:i4>
  </property>
  <property fmtid="{D5CDD505-2E9C-101B-9397-08002B2CF9AE}" pid="3" name="PresentationFormat">
    <vt:lpwstr>On-screen Show (16:9)</vt:lpwstr>
  </property>
  <property fmtid="{D5CDD505-2E9C-101B-9397-08002B2CF9AE}" pid="4" name="Slides">
    <vt:i4>68</vt:i4>
  </property>
</Properties>
</file>