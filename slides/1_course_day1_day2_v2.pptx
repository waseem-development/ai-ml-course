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17.xml" ContentType="application/vnd.openxmlformats-officedocument.presentationml.slide+xml"/>
  <Override PartName="/ppt/slides/slide40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65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61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29.xml" ContentType="application/vnd.openxmlformats-officedocument.presentationml.slide+xml"/>
  <Override PartName="/ppt/slides/slide10.xml" ContentType="application/vnd.openxmlformats-officedocument.presentationml.slide+xml"/>
  <Override PartName="/ppt/slides/slide71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6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6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FF90754-7A89-4757-9C1E-F3AF8435ECF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slide. Keep it warm and simple.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CDCC29-4EBE-4B2B-9217-2DC1CDBF4A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Quick preview only — each item gets its own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04F8E5-F241-47FE-8046-BE0F7C4070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the sandwich exercise live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8E169A-325B-4FF0-85DC-B346D4C28C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the state idea simple — do not call it a literal finite state machine.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4C73C3-CB0C-449C-8F91-C8CE1F36C6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5DE18B-8714-413E-BF1F-2D1A3DFAB8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C0D13C-0197-4E2D-B2EB-E6C8F24D86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 this close to word-for-word.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41F455-25A9-4337-9438-F7DF730B8C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with: every phase exists because the next one needs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71DD67-5BC5-4B48-81FD-5F686A3352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64D0CD-5552-44EB-BDD8-F3C18C44AB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7D75A5-30CB-4AD9-981F-2F2BFF1935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A945BE-21CA-4773-A87D-831D72AB4B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E9D230-499C-402A-974D-D22EF6242C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929A4E-2030-46C1-B223-4EE54DF70C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C9723B-80B8-4396-9680-03824E5F8F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259477-6067-4C51-9DEE-619580E028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9E6B33-E45B-4DB3-9D10-B0DAFED86E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D1017C-7DC8-4004-ACDD-087EA3CBD2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292827-171E-4FB0-AB03-20DF492C80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8C6BA3-5EC4-4FDB-8CC4-70144BF9A5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7D488C-04B4-47F2-A60B-E5499290F3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EBAEC8-150F-4C21-8544-F7F5E31865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DCC5A4-9102-4DA7-BAFA-E0C38D13EC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7F0839-1017-4D27-9EF1-B968512E7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BCF828-4898-4D08-BFA3-359232C90C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CDED63-21D6-4D8D-8FB3-1F49355A1E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E65558-4926-42C8-96C1-3BA3E98899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D607D6-40FC-4045-B6BD-8085BF0E20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F84BE5-684B-4699-ADDE-B82EB81C69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33510B-A4F1-40D8-BF91-883E407267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4E25CD-7102-495D-9B04-0832F652FA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4CA772-90E3-49D9-A9B5-B3EC5BE78D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43BCA0-FEAF-43A1-BDA4-2D26B38A8B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8AF9D4-109A-4A7A-A144-71C1490142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7E1279-7364-4B55-B4F1-657B1531B0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26BA11-1EEE-4D1F-AB80-4A74C965AE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2870F1-1BBC-47D6-8C6B-C74E39FEA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52FFD2-ADA6-483F-ABA9-8BDC879DC9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3EA5F7-9D4F-44C9-A4E7-41E0020C5C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B79BC1-D6BF-45E1-9EF2-BE674B4D0B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280F7-4847-4EDE-9D07-CB3919EF9F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9675A2-523D-42DF-8F27-0F091EED47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64C2CE-03C8-49AD-A31C-D9772B4991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265BF1-149C-4D7A-9CBF-A7357DB89B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C60769-96AB-4947-9E36-E2DB510F8D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123C68-06F3-42C4-95C7-D6400126AA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285269-DF07-46EE-BFB7-B1827C27EF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882A4D-C4B1-48F7-A147-DF18FC0B8E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7C75CB-C4D0-430B-B626-7043206D7A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5ABDAC-E87A-4F30-B171-65DF42EB81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AEA56B-43BD-4DAF-8942-9F2E126EB5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726F16-1B2E-4AB4-8ECE-4CA0D5F5CC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9E202B-C297-4DB6-9AFF-A025D5398E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95EDE9-6212-48F8-887F-7C9B5E9B96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D3D201-FCA0-4832-8070-201B55A130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C19C44-8D75-48B7-8378-08825D509C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3954C8-12D6-4B87-8E9A-60F08C857C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7F76AC-6D94-4D0C-BB0B-F82D50477A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34D21-D73D-483A-8E75-22002B6892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2ABA31-61C8-4A77-B70E-EDED0C5884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 recap before moving to career paths.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922634-DABB-4936-862F-56FC47EA4C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2920B4-69B0-4B35-9F8E-3F76982E18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7AD530-975E-49EF-A013-22652CFA14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DBBA93-5F4A-4F48-B002-BF18D91011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63138D-0072-4E7A-A067-4B4857A44F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5FEF04-F3A0-4D98-9E75-04EA9D3BB2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BD9624-106C-4D59-AC51-2745DCD405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86594-B58B-4906-B30D-8FA9D85D95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76D91E-E26C-431B-BC3E-7E648D8B4D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A73857-E9D4-44D9-B231-B5EE97E3ED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1D1A11-F4FC-451E-AD31-602EEB1A27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warm. Confirm the Day 1 task deadline before dismissing.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A0D62A-62B7-4907-A360-668D0BCB9E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0.png"/><Relationship Id="rId6" Type="http://schemas.openxmlformats.org/officeDocument/2006/relationships/image" Target="../media/image20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2.png"/><Relationship Id="rId6" Type="http://schemas.openxmlformats.org/officeDocument/2006/relationships/image" Target="../media/image10.png"/><Relationship Id="rId7" Type="http://schemas.openxmlformats.org/officeDocument/2006/relationships/image" Target="../media/image23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40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29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image" Target="../media/image25.png"/><Relationship Id="rId4" Type="http://schemas.openxmlformats.org/officeDocument/2006/relationships/image" Target="../media/image42.png"/><Relationship Id="rId5" Type="http://schemas.openxmlformats.org/officeDocument/2006/relationships/image" Target="../media/image13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26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4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45.png"/><Relationship Id="rId7" Type="http://schemas.openxmlformats.org/officeDocument/2006/relationships/image" Target="../media/image4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3.png"/><Relationship Id="rId6" Type="http://schemas.openxmlformats.org/officeDocument/2006/relationships/image" Target="../media/image46.png"/><Relationship Id="rId7" Type="http://schemas.openxmlformats.org/officeDocument/2006/relationships/image" Target="../media/image2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720" cy="63997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7640" cy="11876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laptop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0880" cy="83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0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Code, Data &amp; Decisions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From First Principles to Real-World AI &amp; Data Science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Day 1 &amp; 2  ·  Orientation and The Big Picture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914400" y="612648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E9C93"/>
                </a:solidFill>
                <a:effectLst/>
                <a:uFillTx/>
                <a:latin typeface="Calibri"/>
                <a:ea typeface="Calibri"/>
              </a:rPr>
              <a:t>BS(CS), 6th Semester — University of Bahrain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10515600" y="-13716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0" descr="icons/calenda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Day 1 — Where We Begin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457200" y="160020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21720" y="168120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1" descr="icons/code.png"/>
          <p:cNvPicPr/>
          <p:nvPr/>
        </p:nvPicPr>
        <p:blipFill>
          <a:blip r:embed="rId2"/>
          <a:stretch/>
        </p:blipFill>
        <p:spPr>
          <a:xfrm>
            <a:off x="684000" y="174348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325880" y="160020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programming?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457200" y="229644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7"/>
          <p:cNvSpPr/>
          <p:nvPr/>
        </p:nvSpPr>
        <p:spPr>
          <a:xfrm>
            <a:off x="621720" y="237744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" name="Image 2" descr="icons/microchip.png"/>
          <p:cNvPicPr/>
          <p:nvPr/>
        </p:nvPicPr>
        <p:blipFill>
          <a:blip r:embed="rId3"/>
          <a:stretch/>
        </p:blipFill>
        <p:spPr>
          <a:xfrm>
            <a:off x="684000" y="243972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8"/>
          <p:cNvSpPr/>
          <p:nvPr/>
        </p:nvSpPr>
        <p:spPr>
          <a:xfrm>
            <a:off x="1325880" y="229644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How does a computer "think"?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9"/>
          <p:cNvSpPr/>
          <p:nvPr/>
        </p:nvSpPr>
        <p:spPr>
          <a:xfrm>
            <a:off x="457200" y="299268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0"/>
          <p:cNvSpPr/>
          <p:nvPr/>
        </p:nvSpPr>
        <p:spPr>
          <a:xfrm>
            <a:off x="621720" y="307368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Image 3" descr="icons/exchange.png"/>
          <p:cNvPicPr/>
          <p:nvPr/>
        </p:nvPicPr>
        <p:blipFill>
          <a:blip r:embed="rId4"/>
          <a:stretch/>
        </p:blipFill>
        <p:spPr>
          <a:xfrm>
            <a:off x="684000" y="313596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11"/>
          <p:cNvSpPr/>
          <p:nvPr/>
        </p:nvSpPr>
        <p:spPr>
          <a:xfrm>
            <a:off x="1325880" y="299268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Compiled vs. interpreted languages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457200" y="368892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3"/>
          <p:cNvSpPr/>
          <p:nvPr/>
        </p:nvSpPr>
        <p:spPr>
          <a:xfrm>
            <a:off x="621720" y="376992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4" descr="icons/python.png"/>
          <p:cNvPicPr/>
          <p:nvPr/>
        </p:nvPicPr>
        <p:blipFill>
          <a:blip r:embed="rId5"/>
          <a:stretch/>
        </p:blipFill>
        <p:spPr>
          <a:xfrm>
            <a:off x="684000" y="383220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4"/>
          <p:cNvSpPr/>
          <p:nvPr/>
        </p:nvSpPr>
        <p:spPr>
          <a:xfrm>
            <a:off x="1325880" y="368892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we use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5"/>
          <p:cNvSpPr/>
          <p:nvPr/>
        </p:nvSpPr>
        <p:spPr>
          <a:xfrm>
            <a:off x="457200" y="438516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621720" y="446616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" name="Image 5" descr="icons/lightbulb.png"/>
          <p:cNvPicPr/>
          <p:nvPr/>
        </p:nvPicPr>
        <p:blipFill>
          <a:blip r:embed="rId6"/>
          <a:stretch/>
        </p:blipFill>
        <p:spPr>
          <a:xfrm>
            <a:off x="684000" y="452844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 17"/>
          <p:cNvSpPr/>
          <p:nvPr/>
        </p:nvSpPr>
        <p:spPr>
          <a:xfrm>
            <a:off x="1325880" y="438516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this course exists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"/>
          <p:cNvSpPr/>
          <p:nvPr/>
        </p:nvSpPr>
        <p:spPr>
          <a:xfrm>
            <a:off x="457200" y="508140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9"/>
          <p:cNvSpPr/>
          <p:nvPr/>
        </p:nvSpPr>
        <p:spPr>
          <a:xfrm>
            <a:off x="621720" y="516240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6" descr="icons/route.png"/>
          <p:cNvPicPr/>
          <p:nvPr/>
        </p:nvPicPr>
        <p:blipFill>
          <a:blip r:embed="rId7"/>
          <a:stretch/>
        </p:blipFill>
        <p:spPr>
          <a:xfrm>
            <a:off x="684000" y="522468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Text 20"/>
          <p:cNvSpPr/>
          <p:nvPr/>
        </p:nvSpPr>
        <p:spPr>
          <a:xfrm>
            <a:off x="1325880" y="508140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Our 16-week roadmap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457200" y="577764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2"/>
          <p:cNvSpPr/>
          <p:nvPr/>
        </p:nvSpPr>
        <p:spPr>
          <a:xfrm>
            <a:off x="621720" y="585864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7" descr="icons/toolbox.png"/>
          <p:cNvPicPr/>
          <p:nvPr/>
        </p:nvPicPr>
        <p:blipFill>
          <a:blip r:embed="rId8"/>
          <a:stretch/>
        </p:blipFill>
        <p:spPr>
          <a:xfrm>
            <a:off x="684000" y="592092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 23"/>
          <p:cNvSpPr/>
          <p:nvPr/>
        </p:nvSpPr>
        <p:spPr>
          <a:xfrm>
            <a:off x="1325880" y="577764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Tools to install before next class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0" descr="icons/cod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Programming = Giving Clear Instructions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" name="Image 1" descr="icons/code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"Say exactly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you mean"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People understand hints and context. Computers do not.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program is just a list of simple steps. This list is called an algorithm.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this: tell someone how to make a sandwich, step by step. You will find gaps you never noticed.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Programming means noticing your own gaps before the computer does.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icons/microchi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Inside a Computer: Just Switches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icons/microchi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2 states only: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 / off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computer is made of billions of tiny switches called transistors.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switch is either on or off. We call this 1 and 0.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program is like a path — each step moves you to the next point on that path.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Nothing "understands" your code. That is why we must be exact.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Two Ways to Run Code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3"/>
          <p:cNvSpPr/>
          <p:nvPr/>
        </p:nvSpPr>
        <p:spPr>
          <a:xfrm>
            <a:off x="822960" y="1828800"/>
            <a:ext cx="5119560" cy="4205160"/>
          </a:xfrm>
          <a:prstGeom prst="roundRect">
            <a:avLst>
              <a:gd name="adj" fmla="val 173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1097280" y="2057400"/>
            <a:ext cx="4570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Compiled (C++, Java)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1280160" y="2743200"/>
            <a:ext cx="4205160" cy="547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1280160" y="274320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Code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7"/>
          <p:cNvSpPr/>
          <p:nvPr/>
        </p:nvSpPr>
        <p:spPr>
          <a:xfrm>
            <a:off x="1280160" y="3291840"/>
            <a:ext cx="4205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8"/>
          <p:cNvSpPr/>
          <p:nvPr/>
        </p:nvSpPr>
        <p:spPr>
          <a:xfrm>
            <a:off x="1280160" y="3657600"/>
            <a:ext cx="4205160" cy="547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9"/>
          <p:cNvSpPr/>
          <p:nvPr/>
        </p:nvSpPr>
        <p:spPr>
          <a:xfrm>
            <a:off x="1280160" y="365760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Compiler Translates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0"/>
          <p:cNvSpPr/>
          <p:nvPr/>
        </p:nvSpPr>
        <p:spPr>
          <a:xfrm>
            <a:off x="1280160" y="4206240"/>
            <a:ext cx="4205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1"/>
          <p:cNvSpPr/>
          <p:nvPr/>
        </p:nvSpPr>
        <p:spPr>
          <a:xfrm>
            <a:off x="1280160" y="4572000"/>
            <a:ext cx="4205160" cy="547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2"/>
          <p:cNvSpPr/>
          <p:nvPr/>
        </p:nvSpPr>
        <p:spPr>
          <a:xfrm>
            <a:off x="1280160" y="457200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Computer Runs It Fast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3"/>
          <p:cNvSpPr/>
          <p:nvPr/>
        </p:nvSpPr>
        <p:spPr>
          <a:xfrm>
            <a:off x="6400800" y="1828800"/>
            <a:ext cx="5119560" cy="4205160"/>
          </a:xfrm>
          <a:prstGeom prst="roundRect">
            <a:avLst>
              <a:gd name="adj" fmla="val 1739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4"/>
          <p:cNvSpPr/>
          <p:nvPr/>
        </p:nvSpPr>
        <p:spPr>
          <a:xfrm>
            <a:off x="6675120" y="2057400"/>
            <a:ext cx="4570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Interpreted (Python)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5"/>
          <p:cNvSpPr/>
          <p:nvPr/>
        </p:nvSpPr>
        <p:spPr>
          <a:xfrm>
            <a:off x="6858000" y="2743200"/>
            <a:ext cx="4205160" cy="547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6"/>
          <p:cNvSpPr/>
          <p:nvPr/>
        </p:nvSpPr>
        <p:spPr>
          <a:xfrm>
            <a:off x="6858000" y="274320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Code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7"/>
          <p:cNvSpPr/>
          <p:nvPr/>
        </p:nvSpPr>
        <p:spPr>
          <a:xfrm>
            <a:off x="6858000" y="3291840"/>
            <a:ext cx="4205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8"/>
          <p:cNvSpPr/>
          <p:nvPr/>
        </p:nvSpPr>
        <p:spPr>
          <a:xfrm>
            <a:off x="6858000" y="3657600"/>
            <a:ext cx="4205160" cy="547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9"/>
          <p:cNvSpPr/>
          <p:nvPr/>
        </p:nvSpPr>
        <p:spPr>
          <a:xfrm>
            <a:off x="6858000" y="365760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Interpreter Reads Each 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0"/>
          <p:cNvSpPr/>
          <p:nvPr/>
        </p:nvSpPr>
        <p:spPr>
          <a:xfrm>
            <a:off x="6858000" y="4206240"/>
            <a:ext cx="4205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1"/>
          <p:cNvSpPr/>
          <p:nvPr/>
        </p:nvSpPr>
        <p:spPr>
          <a:xfrm>
            <a:off x="6858000" y="4572000"/>
            <a:ext cx="4205160" cy="547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2"/>
          <p:cNvSpPr/>
          <p:nvPr/>
        </p:nvSpPr>
        <p:spPr>
          <a:xfrm>
            <a:off x="6858000" y="4572000"/>
            <a:ext cx="4205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Runs Right Away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3"/>
          <p:cNvSpPr/>
          <p:nvPr/>
        </p:nvSpPr>
        <p:spPr>
          <a:xfrm>
            <a:off x="822960" y="6172200"/>
            <a:ext cx="10541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Simple rule: Compiled = runs fast. Interpreted (Python) = lets you test ideas fast.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4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10515600" y="-137160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0" descr="icons/pytho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Python? (And Its Limits)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457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731520" y="1828800"/>
            <a:ext cx="4799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Why Python Is Great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731520" y="2331720"/>
            <a:ext cx="479952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Reads almost like English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All the best data tools live here (NumPy, Pandas, scikit-learn)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200-line C++ program can be 20 lines in Python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Fewer strict rules — easier to turn an idea into working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6"/>
          <p:cNvSpPr/>
          <p:nvPr/>
        </p:nvSpPr>
        <p:spPr>
          <a:xfrm>
            <a:off x="6172200" y="1645920"/>
            <a:ext cx="5348160" cy="447948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7"/>
          <p:cNvSpPr/>
          <p:nvPr/>
        </p:nvSpPr>
        <p:spPr>
          <a:xfrm>
            <a:off x="6446520" y="1828800"/>
            <a:ext cx="4799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Where It Falls Short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6446520" y="2331720"/>
            <a:ext cx="479952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Runs slower than compiled languages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 built for parallel processing (a detail called the GIL)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 a great fit for mobile apps or embedded devices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Its speed in data work often comes from C code running underneath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 0" descr="icons/lightbulb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WHY THIS COURSE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"You are not here to become computer scientists or software engineers.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You are here so your research never waits on someone else."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And if you enjoy it — this is a real path into data science.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0" descr="icons/rout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16-Week Journey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45720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197676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1" descr="icons/code.png"/>
          <p:cNvPicPr/>
          <p:nvPr/>
        </p:nvPicPr>
        <p:blipFill>
          <a:blip r:embed="rId2"/>
          <a:stretch/>
        </p:blipFill>
        <p:spPr>
          <a:xfrm>
            <a:off x="206172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4"/>
          <p:cNvSpPr/>
          <p:nvPr/>
        </p:nvSpPr>
        <p:spPr>
          <a:xfrm>
            <a:off x="56700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 · Orientation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62172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Week 1 — what a computer is, why Python, first code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429156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581112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2" descr="icons/sitemap.png"/>
          <p:cNvPicPr/>
          <p:nvPr/>
        </p:nvPicPr>
        <p:blipFill>
          <a:blip r:embed="rId3"/>
          <a:stretch/>
        </p:blipFill>
        <p:spPr>
          <a:xfrm>
            <a:off x="589608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 8"/>
          <p:cNvSpPr/>
          <p:nvPr/>
        </p:nvSpPr>
        <p:spPr>
          <a:xfrm>
            <a:off x="440136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2 · Python Core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9"/>
          <p:cNvSpPr/>
          <p:nvPr/>
        </p:nvSpPr>
        <p:spPr>
          <a:xfrm>
            <a:off x="445608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Weeks 2–4 — functions, lists, dicts, files, errors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0"/>
          <p:cNvSpPr/>
          <p:nvPr/>
        </p:nvSpPr>
        <p:spPr>
          <a:xfrm>
            <a:off x="812592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1"/>
          <p:cNvSpPr/>
          <p:nvPr/>
        </p:nvSpPr>
        <p:spPr>
          <a:xfrm>
            <a:off x="964548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7" name="Image 3" descr="icons/chart.png"/>
          <p:cNvPicPr/>
          <p:nvPr/>
        </p:nvPicPr>
        <p:blipFill>
          <a:blip r:embed="rId4"/>
          <a:stretch/>
        </p:blipFill>
        <p:spPr>
          <a:xfrm>
            <a:off x="973044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 12"/>
          <p:cNvSpPr/>
          <p:nvPr/>
        </p:nvSpPr>
        <p:spPr>
          <a:xfrm>
            <a:off x="823572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3 · Stats &amp; Math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829044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Weeks 5–7 — just the math the next phase needs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4"/>
          <p:cNvSpPr/>
          <p:nvPr/>
        </p:nvSpPr>
        <p:spPr>
          <a:xfrm>
            <a:off x="45720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5"/>
          <p:cNvSpPr/>
          <p:nvPr/>
        </p:nvSpPr>
        <p:spPr>
          <a:xfrm>
            <a:off x="197676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" name="Image 4" descr="icons/network.png"/>
          <p:cNvPicPr/>
          <p:nvPr/>
        </p:nvPicPr>
        <p:blipFill>
          <a:blip r:embed="rId5"/>
          <a:stretch/>
        </p:blipFill>
        <p:spPr>
          <a:xfrm>
            <a:off x="206172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 16"/>
          <p:cNvSpPr/>
          <p:nvPr/>
        </p:nvSpPr>
        <p:spPr>
          <a:xfrm>
            <a:off x="56700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4 · NumPy, Pandas, Viz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7"/>
          <p:cNvSpPr/>
          <p:nvPr/>
        </p:nvSpPr>
        <p:spPr>
          <a:xfrm>
            <a:off x="62172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Weeks 8–10 — the real tools of data work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8"/>
          <p:cNvSpPr/>
          <p:nvPr/>
        </p:nvSpPr>
        <p:spPr>
          <a:xfrm>
            <a:off x="429156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9"/>
          <p:cNvSpPr/>
          <p:nvPr/>
        </p:nvSpPr>
        <p:spPr>
          <a:xfrm>
            <a:off x="581112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Image 5" descr="icons/eye.png"/>
          <p:cNvPicPr/>
          <p:nvPr/>
        </p:nvPicPr>
        <p:blipFill>
          <a:blip r:embed="rId6"/>
          <a:stretch/>
        </p:blipFill>
        <p:spPr>
          <a:xfrm>
            <a:off x="589608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 20"/>
          <p:cNvSpPr/>
          <p:nvPr/>
        </p:nvSpPr>
        <p:spPr>
          <a:xfrm>
            <a:off x="440136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5 · EDA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1"/>
          <p:cNvSpPr/>
          <p:nvPr/>
        </p:nvSpPr>
        <p:spPr>
          <a:xfrm>
            <a:off x="445608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Weeks 11–12 — reading a real dataset before modeling it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2"/>
          <p:cNvSpPr/>
          <p:nvPr/>
        </p:nvSpPr>
        <p:spPr>
          <a:xfrm>
            <a:off x="812592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3"/>
          <p:cNvSpPr/>
          <p:nvPr/>
        </p:nvSpPr>
        <p:spPr>
          <a:xfrm>
            <a:off x="964548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6" descr="icons/brain.png"/>
          <p:cNvPicPr/>
          <p:nvPr/>
        </p:nvPicPr>
        <p:blipFill>
          <a:blip r:embed="rId7"/>
          <a:stretch/>
        </p:blipFill>
        <p:spPr>
          <a:xfrm>
            <a:off x="973044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24"/>
          <p:cNvSpPr/>
          <p:nvPr/>
        </p:nvSpPr>
        <p:spPr>
          <a:xfrm>
            <a:off x="823572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6 · ML + Capstone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5"/>
          <p:cNvSpPr/>
          <p:nvPr/>
        </p:nvSpPr>
        <p:spPr>
          <a:xfrm>
            <a:off x="829044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Weeks 13–16 — first models, and a project of your own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 0" descr="icons/toolbox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BEFORE NEXT CLASS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Tools You Will Need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Five simple tools — install them before our next session.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icons/anaconda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Miniconda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1" descr="icons/anaconda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Manages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and its tools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Miniconda installs Python on your computer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also creates separate, clean workspaces called "environments" for each project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stops different projects from breaking each other's tools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it as a toolbox manager for all your Python projects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8" name="Image 0" descr="icons/lapto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Visual Studio Code (VS Code)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1" descr="icons/lapto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your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VS Code is a free, popular code editor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highlights your code in color, so mistakes are easy to spot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has helpful extensions — small add-ons for Python, Jupyter notebooks, and more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app you will open every single class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0" descr="icons/gita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Git — Version Control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1" descr="icons/gital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"Save points"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your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Git saves snapshots of your code as you work — like checkpoints in a game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break something, you can go back to an earlier snapshot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also lets many people work on the same project without overwriting each other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Git runs on your own computer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0" descr="icons/github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GitHub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4" name="Image 1" descr="icons/github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Your code's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online home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GitHub stores your Git snapshots online, safely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lets you share your code, back it up, and show it to others (like future employers)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connect Git (on your computer) to GitHub (online) so the two stay in sync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Almost every professional programmer and researcher uses GitHub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1" name="Image 0" descr="icons/ubuntu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Linux / Ubuntu (Optional)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" name="Image 1" descr="icons/ubuntu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Optional 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not required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Linux is another operating system, like Windows or macOS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Ubuntu is a beginner-friendly version of Linux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Many data science and AI tools were originally built for Linux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 NOT need it for this course — Windows or macOS work perfectly fine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0"/>
          <p:cNvSpPr/>
          <p:nvPr/>
        </p:nvSpPr>
        <p:spPr>
          <a:xfrm>
            <a:off x="-1828800" y="5029200"/>
            <a:ext cx="3656520" cy="36565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Day 1 Task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457200" y="1600200"/>
            <a:ext cx="11273400" cy="447948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4"/>
          <p:cNvSpPr/>
          <p:nvPr/>
        </p:nvSpPr>
        <p:spPr>
          <a:xfrm>
            <a:off x="822960" y="1874520"/>
            <a:ext cx="10514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Up Your Coding Environment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5"/>
          <p:cNvSpPr/>
          <p:nvPr/>
        </p:nvSpPr>
        <p:spPr>
          <a:xfrm>
            <a:off x="822960" y="2514600"/>
            <a:ext cx="410400" cy="41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1" descr="icons/check.png"/>
          <p:cNvPicPr/>
          <p:nvPr/>
        </p:nvPicPr>
        <p:blipFill>
          <a:blip r:embed="rId2"/>
          <a:stretch/>
        </p:blipFill>
        <p:spPr>
          <a:xfrm>
            <a:off x="884520" y="2576160"/>
            <a:ext cx="28692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6"/>
          <p:cNvSpPr/>
          <p:nvPr/>
        </p:nvSpPr>
        <p:spPr>
          <a:xfrm>
            <a:off x="1417320" y="2514600"/>
            <a:ext cx="9874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Install Miniconda on your computer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7"/>
          <p:cNvSpPr/>
          <p:nvPr/>
        </p:nvSpPr>
        <p:spPr>
          <a:xfrm>
            <a:off x="822960" y="3136320"/>
            <a:ext cx="410400" cy="41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0" name="Image 2" descr="icons/check.png"/>
          <p:cNvPicPr/>
          <p:nvPr/>
        </p:nvPicPr>
        <p:blipFill>
          <a:blip r:embed="rId3"/>
          <a:stretch/>
        </p:blipFill>
        <p:spPr>
          <a:xfrm>
            <a:off x="884520" y="3198240"/>
            <a:ext cx="28692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8"/>
          <p:cNvSpPr/>
          <p:nvPr/>
        </p:nvSpPr>
        <p:spPr>
          <a:xfrm>
            <a:off x="1417320" y="3136320"/>
            <a:ext cx="9874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Install VS Code on your computer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9"/>
          <p:cNvSpPr/>
          <p:nvPr/>
        </p:nvSpPr>
        <p:spPr>
          <a:xfrm>
            <a:off x="822960" y="3758040"/>
            <a:ext cx="410400" cy="41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3" name="Image 3" descr="icons/check.png"/>
          <p:cNvPicPr/>
          <p:nvPr/>
        </p:nvPicPr>
        <p:blipFill>
          <a:blip r:embed="rId4"/>
          <a:stretch/>
        </p:blipFill>
        <p:spPr>
          <a:xfrm>
            <a:off x="884520" y="3819960"/>
            <a:ext cx="28692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 10"/>
          <p:cNvSpPr/>
          <p:nvPr/>
        </p:nvSpPr>
        <p:spPr>
          <a:xfrm>
            <a:off x="1417320" y="3758040"/>
            <a:ext cx="9874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Install Git on your computer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822960" y="4380120"/>
            <a:ext cx="410400" cy="41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" name="Image 4" descr="icons/check.png"/>
          <p:cNvPicPr/>
          <p:nvPr/>
        </p:nvPicPr>
        <p:blipFill>
          <a:blip r:embed="rId5"/>
          <a:stretch/>
        </p:blipFill>
        <p:spPr>
          <a:xfrm>
            <a:off x="884520" y="4441680"/>
            <a:ext cx="28692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7" name="Text 12"/>
          <p:cNvSpPr/>
          <p:nvPr/>
        </p:nvSpPr>
        <p:spPr>
          <a:xfrm>
            <a:off x="1417320" y="4380120"/>
            <a:ext cx="9874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your own GitHub account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3"/>
          <p:cNvSpPr/>
          <p:nvPr/>
        </p:nvSpPr>
        <p:spPr>
          <a:xfrm>
            <a:off x="822960" y="5001840"/>
            <a:ext cx="410400" cy="410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" name="Image 5" descr="icons/check.png"/>
          <p:cNvPicPr/>
          <p:nvPr/>
        </p:nvPicPr>
        <p:blipFill>
          <a:blip r:embed="rId6"/>
          <a:stretch/>
        </p:blipFill>
        <p:spPr>
          <a:xfrm>
            <a:off x="884520" y="5063400"/>
            <a:ext cx="286920" cy="28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14"/>
          <p:cNvSpPr/>
          <p:nvPr/>
        </p:nvSpPr>
        <p:spPr>
          <a:xfrm>
            <a:off x="1417320" y="5001840"/>
            <a:ext cx="9874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Connect Git (your computer) to your GitHub account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5"/>
          <p:cNvSpPr/>
          <p:nvPr/>
        </p:nvSpPr>
        <p:spPr>
          <a:xfrm>
            <a:off x="822960" y="5623560"/>
            <a:ext cx="10514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Due before our next class · Ask in the group chat if you get stuck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" name="Image 0" descr="icons/laptop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Text 3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Day 1 gave you the foundations.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Day 2 shows you where they lead.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0"/>
          <p:cNvSpPr/>
          <p:nvPr/>
        </p:nvSpPr>
        <p:spPr>
          <a:xfrm>
            <a:off x="10515600" y="-1371600"/>
            <a:ext cx="3656520" cy="36565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0" descr="icons/calenda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Day 2 — Where This Takes You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457200" y="160020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621720" y="168120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1" descr="icons/language.png"/>
          <p:cNvPicPr/>
          <p:nvPr/>
        </p:nvPicPr>
        <p:blipFill>
          <a:blip r:embed="rId2"/>
          <a:stretch/>
        </p:blipFill>
        <p:spPr>
          <a:xfrm>
            <a:off x="684000" y="174348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5"/>
          <p:cNvSpPr/>
          <p:nvPr/>
        </p:nvSpPr>
        <p:spPr>
          <a:xfrm>
            <a:off x="1325880" y="160020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does "Intelligence" mean?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6"/>
          <p:cNvSpPr/>
          <p:nvPr/>
        </p:nvSpPr>
        <p:spPr>
          <a:xfrm>
            <a:off x="457200" y="229644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7"/>
          <p:cNvSpPr/>
          <p:nvPr/>
        </p:nvSpPr>
        <p:spPr>
          <a:xfrm>
            <a:off x="621720" y="237744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" name="Image 2" descr="icons/toolbox.png"/>
          <p:cNvPicPr/>
          <p:nvPr/>
        </p:nvPicPr>
        <p:blipFill>
          <a:blip r:embed="rId3"/>
          <a:stretch/>
        </p:blipFill>
        <p:spPr>
          <a:xfrm>
            <a:off x="684000" y="243972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 8"/>
          <p:cNvSpPr/>
          <p:nvPr/>
        </p:nvSpPr>
        <p:spPr>
          <a:xfrm>
            <a:off x="1325880" y="229644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does "Artificial" mean?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9"/>
          <p:cNvSpPr/>
          <p:nvPr/>
        </p:nvSpPr>
        <p:spPr>
          <a:xfrm>
            <a:off x="457200" y="299268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0"/>
          <p:cNvSpPr/>
          <p:nvPr/>
        </p:nvSpPr>
        <p:spPr>
          <a:xfrm>
            <a:off x="621720" y="307368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3" descr="icons/brain.png"/>
          <p:cNvPicPr/>
          <p:nvPr/>
        </p:nvPicPr>
        <p:blipFill>
          <a:blip r:embed="rId4"/>
          <a:stretch/>
        </p:blipFill>
        <p:spPr>
          <a:xfrm>
            <a:off x="684000" y="313596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1"/>
          <p:cNvSpPr/>
          <p:nvPr/>
        </p:nvSpPr>
        <p:spPr>
          <a:xfrm>
            <a:off x="1325880" y="299268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Artificial Intelligence?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2"/>
          <p:cNvSpPr/>
          <p:nvPr/>
        </p:nvSpPr>
        <p:spPr>
          <a:xfrm>
            <a:off x="457200" y="368892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3"/>
          <p:cNvSpPr/>
          <p:nvPr/>
        </p:nvSpPr>
        <p:spPr>
          <a:xfrm>
            <a:off x="621720" y="376992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4" descr="icons/landmark.png"/>
          <p:cNvPicPr/>
          <p:nvPr/>
        </p:nvPicPr>
        <p:blipFill>
          <a:blip r:embed="rId5"/>
          <a:stretch/>
        </p:blipFill>
        <p:spPr>
          <a:xfrm>
            <a:off x="684000" y="383220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14"/>
          <p:cNvSpPr/>
          <p:nvPr/>
        </p:nvSpPr>
        <p:spPr>
          <a:xfrm>
            <a:off x="1325880" y="368892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short history of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457200" y="438516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6"/>
          <p:cNvSpPr/>
          <p:nvPr/>
        </p:nvSpPr>
        <p:spPr>
          <a:xfrm>
            <a:off x="621720" y="446616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2" name="Image 5" descr="icons/sitemap.png"/>
          <p:cNvPicPr/>
          <p:nvPr/>
        </p:nvPicPr>
        <p:blipFill>
          <a:blip r:embed="rId6"/>
          <a:stretch/>
        </p:blipFill>
        <p:spPr>
          <a:xfrm>
            <a:off x="684000" y="452844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Text 17"/>
          <p:cNvSpPr/>
          <p:nvPr/>
        </p:nvSpPr>
        <p:spPr>
          <a:xfrm>
            <a:off x="1325880" y="438516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main areas of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8"/>
          <p:cNvSpPr/>
          <p:nvPr/>
        </p:nvSpPr>
        <p:spPr>
          <a:xfrm>
            <a:off x="457200" y="508140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621720" y="516240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6" descr="icons/flask.png"/>
          <p:cNvPicPr/>
          <p:nvPr/>
        </p:nvPicPr>
        <p:blipFill>
          <a:blip r:embed="rId7"/>
          <a:stretch/>
        </p:blipFill>
        <p:spPr>
          <a:xfrm>
            <a:off x="684000" y="522468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20"/>
          <p:cNvSpPr/>
          <p:nvPr/>
        </p:nvSpPr>
        <p:spPr>
          <a:xfrm>
            <a:off x="1325880" y="508140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research examples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1"/>
          <p:cNvSpPr/>
          <p:nvPr/>
        </p:nvSpPr>
        <p:spPr>
          <a:xfrm>
            <a:off x="457200" y="5777640"/>
            <a:ext cx="11273400" cy="576360"/>
          </a:xfrm>
          <a:prstGeom prst="roundRect">
            <a:avLst>
              <a:gd name="adj" fmla="val 1108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2"/>
          <p:cNvSpPr/>
          <p:nvPr/>
        </p:nvSpPr>
        <p:spPr>
          <a:xfrm>
            <a:off x="621720" y="5858640"/>
            <a:ext cx="414720" cy="41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7" descr="icons/chart.png"/>
          <p:cNvPicPr/>
          <p:nvPr/>
        </p:nvPicPr>
        <p:blipFill>
          <a:blip r:embed="rId8"/>
          <a:stretch/>
        </p:blipFill>
        <p:spPr>
          <a:xfrm>
            <a:off x="684000" y="5920920"/>
            <a:ext cx="289800" cy="28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23"/>
          <p:cNvSpPr/>
          <p:nvPr/>
        </p:nvSpPr>
        <p:spPr>
          <a:xfrm>
            <a:off x="1325880" y="5777640"/>
            <a:ext cx="10057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Data Science?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4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7" name="Image 0" descr="icons/language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UNDERSTANDING INTELLIGENCE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What Does "Intelligence" Actually Mean?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WORD ORIGIN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4" name="Image 0" descr="icons/languag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Does the Word Come From?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There is no single agreed definition of "intelligence" — even experts disagree.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It is a noun, and it comes from the Latin word "Intelliger", which means "to understand."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THE TWO PARTS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2" name="Image 0" descr="icons/gradcap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 Understand, Then To Learn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has two connected ideas: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1) To understand something.  2) To learn from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We always understand first — and only then can we truly learn.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1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0" name="Image 0" descr="icons/layergroup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Capacity to Acquire Capacity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is not just what you know — it is how ready you are to gain new abilities.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2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0" descr="icons/brain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Ability to Reason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is the skill of thinking things through logically, step by step.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3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6" name="Image 0" descr="icons/balanc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Ability to Judge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means being able to weigh choices and decide what is right or best.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4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icons/puzzl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Ability to Relate Concepts and Situations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means connecting what you already know to a brand-new situation.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5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2"/>
          <p:cNvSpPr/>
          <p:nvPr/>
        </p:nvSpPr>
        <p:spPr>
          <a:xfrm>
            <a:off x="5088600" y="1051560"/>
            <a:ext cx="2010600" cy="318960"/>
          </a:xfrm>
          <a:prstGeom prst="roundRect">
            <a:avLst>
              <a:gd name="adj" fmla="val 48571"/>
            </a:avLst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"/>
          <p:cNvSpPr/>
          <p:nvPr/>
        </p:nvSpPr>
        <p:spPr>
          <a:xfrm>
            <a:off x="5088600" y="105156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★ ONE OF THE BEST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4"/>
          <p:cNvSpPr/>
          <p:nvPr/>
        </p:nvSpPr>
        <p:spPr>
          <a:xfrm>
            <a:off x="5362920" y="150876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4" name="Image 0" descr="icons/water.png"/>
          <p:cNvPicPr/>
          <p:nvPr/>
        </p:nvPicPr>
        <p:blipFill>
          <a:blip r:embed="rId1"/>
          <a:stretch/>
        </p:blipFill>
        <p:spPr>
          <a:xfrm>
            <a:off x="5582520" y="172836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Text 5"/>
          <p:cNvSpPr/>
          <p:nvPr/>
        </p:nvSpPr>
        <p:spPr>
          <a:xfrm>
            <a:off x="914400" y="310896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Ability to Handle Situations Flexibly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828800" y="384048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This is often called one of the best definitions of intelligence: the ability to adapt — to bend, not break — when a situation changes. This is also called resilience.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6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2" name="Image 0" descr="icons/bullsey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Goal-Oriented Behavior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is behavior aimed at a clear goal — adapting your actions until you reach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5"/>
          <p:cNvSpPr/>
          <p:nvPr/>
        </p:nvSpPr>
        <p:spPr>
          <a:xfrm>
            <a:off x="914400" y="6172200"/>
            <a:ext cx="10359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— Robert Sternberg &amp; Salter, Definition of Intelligence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7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1" name="Image 0" descr="icons/history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Ability to Take Profit from Experience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Intelligent behavior means learning from your past — using old experience to do better next time.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8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Image 0" descr="icons/coins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Proper Use of Limited Resources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Intelligence means using what little time, energy, or resources you have in the smartest possible way to reach your goal.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5"/>
          <p:cNvSpPr/>
          <p:nvPr/>
        </p:nvSpPr>
        <p:spPr>
          <a:xfrm>
            <a:off x="914400" y="6172200"/>
            <a:ext cx="10359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— Ray Kurzweil (American computer scientist and author), Definition of Intelligence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INTELLIGENCE · DEFINITION 9 OF 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8" name="Image 0" descr="icons/chartlin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Getting Better Over Time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One simple, powerful idea: if something keeps improving with practice and experience, that is intelligence.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5"/>
          <p:cNvSpPr/>
          <p:nvPr/>
        </p:nvSpPr>
        <p:spPr>
          <a:xfrm>
            <a:off x="914400" y="6172200"/>
            <a:ext cx="10359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— Roger Schank (American computer scientist), Definition of Intelligence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ARTIFICIAL · WORD ORIGIN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7" name="Image 0" descr="icons/languag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Does "Artificial" Mean?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"Artificial" is an adjective. It comes from the Latin word "Artificium."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Some researchers trace it further back to "Artefact" — meaning something man-made, not natural.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ARTIFICIAL · IN SIMPLE WORDS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5" name="Image 0" descr="icons/toolbox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6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Artificial = Man-Made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 natural lake is made by nature. An artificial lake is built by people.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 the same way, "Artificial Intelligence" means intelligence that is built by people — not born naturally.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icons/brain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Artificial  +  Intelligence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"Man-made" ability to understand, reason, and learn.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4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Now let's look at how experts formally define this field.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0" descr="icons/brain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FORMAL DEFINITIONS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Do Experts Define Artificial Intelligence?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1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7" name="Image 0" descr="icons/brain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General Definition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is the ability of a system to understand, learn, gain knowledge, and use that knowledge in the right way.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2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5" name="Image 0" descr="icons/users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Buchanan's Definition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is the part of computer science that solves problems which humans, right now, can still do better than computers.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3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3" name="Image 0" descr="icons/hashtag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Buchanan's Symbolic AI Definition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can solve problems by turning information into symbols, then using simple rules of thumb (called heuristics) on those symbols.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2260800" y="5401800"/>
            <a:ext cx="7706160" cy="54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Heuristics:  are mental shortcuts or "rules of thumb" that allow the brain to solve problems and make quick judgments with minimal effort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4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2" name="Image 0" descr="icons/lightbulb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Making Computers Smart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In simple words, AI is the area of computer science used to make computers "smart."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5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0" descr="icons/cogs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Automation of Intelligent Behavior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is the branch of computer science that automates behavior we would normally call "intelligent."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6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icons/satellit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Intelligent Agents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designs "agents" — programs that can sense their surroundings and take action to reach a goal.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7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icons/chartline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Learning From Experience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solves hard problems by learning from experience, and getting better at it over time.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0"/>
          <p:cNvSpPr/>
          <p:nvPr/>
        </p:nvSpPr>
        <p:spPr>
          <a:xfrm>
            <a:off x="8961120" y="-2011680"/>
            <a:ext cx="5485320" cy="5485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"/>
          <p:cNvSpPr/>
          <p:nvPr/>
        </p:nvSpPr>
        <p:spPr>
          <a:xfrm>
            <a:off x="548640" y="4114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AI DEFINITIONS · 8 OF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"/>
          <p:cNvSpPr/>
          <p:nvPr/>
        </p:nvSpPr>
        <p:spPr>
          <a:xfrm>
            <a:off x="5362920" y="1234440"/>
            <a:ext cx="1461960" cy="14619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icons/mask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120" cy="102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3"/>
          <p:cNvSpPr/>
          <p:nvPr/>
        </p:nvSpPr>
        <p:spPr>
          <a:xfrm>
            <a:off x="914400" y="2834640"/>
            <a:ext cx="103590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Mimicking Human Behavior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4"/>
          <p:cNvSpPr/>
          <p:nvPr/>
        </p:nvSpPr>
        <p:spPr>
          <a:xfrm>
            <a:off x="1828800" y="3566160"/>
            <a:ext cx="8530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AI is a branch of computer science where machines are taught to mimic human intelligence and behavior.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5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2" name="Image 0" descr="icons/landmar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A SHORT STORY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Short History of Artificial Intelligence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8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Al-Jazari (12th Century)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1" descr="icons/co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1200s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Early Machines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6"/>
          <p:cNvSpPr/>
          <p:nvPr/>
        </p:nvSpPr>
        <p:spPr>
          <a:xfrm>
            <a:off x="4320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One of the earliest inventors of programmable, mechanical machines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Built automatic devices, water clocks, and human-shaped robots (automata)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Wrote a famous book: "The Book of Knowledge of Ingenious Mechanical Devices"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His work laid the groundwork for robotics and automation, centuries early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9" name="Image 0" descr="icons/usersecre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Alan Turing (1930s–1950s)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3" name="Image 1" descr="icons/usersecre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1936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Turing Machine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"/>
          <p:cNvSpPr/>
          <p:nvPr/>
        </p:nvSpPr>
        <p:spPr>
          <a:xfrm>
            <a:off x="4392000" y="1341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British mathematician who first asked: "Can machines think?"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Introduced the Turing Machine — the theory behind all modern computers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1950, wrote the paper "Computing Machinery and Intelligence"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Created the famous Turing Test to check if a machine can act intelligently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Turing machine is a simple mathematical model of a computer. Invented by Alan Turing, it explains how any computer problem is solved.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0" name="Image 0" descr="icons/landmar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Dartmouth Conference (1956)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4" name="Image 1" descr="icons/landmar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1956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Is Born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summer research meeting that officially created AI as its own field of study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Organized by John McCarthy, Marvin Minsky, Claude Shannon, and Nathaniel Rochester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John McCarthy coined the actual term "Artificial Intelligence" here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event marks the true "birthday" of AI as a science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1" name="Image 0" descr="icons/snowflak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First AI Winter (1970s)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1" descr="icons/snowflake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1970s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Progress Slows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Interest and funding in AI research dropped sharply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Computers were still too weak — not enough power or memory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Many earlier promises about AI turned out to be too optimistic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Researchers focused more on theory than on working, practical systems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2" name="Image 0" descr="icons/chartlin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Revival (1980s–1990s)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3E1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6" name="Image 1" descr="icons/chartline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1980s–90s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Returns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6"/>
          <p:cNvSpPr/>
          <p:nvPr/>
        </p:nvSpPr>
        <p:spPr>
          <a:xfrm>
            <a:off x="4343400" y="205740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Expert Systems became popular and genuinely useful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Computers became faster and more powerful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lot more digital data became available to learn from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Machine Learning made real, practical progress during this time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0" descr="icons/sitemap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THE BUILDING BLOCKS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Main Areas of Artificial Intelligence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icons/sitema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Expert Systems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4" name="Image 1" descr="icons/sitema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Rules from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human experts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Expert Systems are programs built to copy the decision-making of a real human expert, using stored knowledge and rules.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medical diagnosis, financial advice, technical troubleshooting, decision support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3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 Learning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7" name="Image 1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Learning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from data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Machine Learning lets a computer find patterns in data by itself — instead of a human writing every single rule by hand.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predictions, recommendation systems, fraud detection, speech recognition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25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6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6" name="Image 9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Text 28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 Learning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27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28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0" descr="icons/layergroup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9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Learning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from data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30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Machine Learning lets a computer find patterns in data by itself — instead of a human writing every single rule by hand.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9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31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predictions, recommendation systems, fraud detection, speech recognition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32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33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 Learning — 4 Types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2"/>
          <p:cNvSpPr/>
          <p:nvPr/>
        </p:nvSpPr>
        <p:spPr>
          <a:xfrm>
            <a:off x="457200" y="1508760"/>
            <a:ext cx="552204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3"/>
          <p:cNvSpPr/>
          <p:nvPr/>
        </p:nvSpPr>
        <p:spPr>
          <a:xfrm>
            <a:off x="293508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2" name="Image 1" descr="icons/book.png"/>
          <p:cNvPicPr/>
          <p:nvPr/>
        </p:nvPicPr>
        <p:blipFill>
          <a:blip r:embed="rId2"/>
          <a:stretch/>
        </p:blipFill>
        <p:spPr>
          <a:xfrm>
            <a:off x="302040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 4"/>
          <p:cNvSpPr/>
          <p:nvPr/>
        </p:nvSpPr>
        <p:spPr>
          <a:xfrm>
            <a:off x="567000" y="2428560"/>
            <a:ext cx="5302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Supervised 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5"/>
          <p:cNvSpPr/>
          <p:nvPr/>
        </p:nvSpPr>
        <p:spPr>
          <a:xfrm>
            <a:off x="621720" y="2812680"/>
            <a:ext cx="5192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Learns from labeled examples — each has a known correct answer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6"/>
          <p:cNvSpPr/>
          <p:nvPr/>
        </p:nvSpPr>
        <p:spPr>
          <a:xfrm>
            <a:off x="6208920" y="1508760"/>
            <a:ext cx="552204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7"/>
          <p:cNvSpPr/>
          <p:nvPr/>
        </p:nvSpPr>
        <p:spPr>
          <a:xfrm>
            <a:off x="868680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7" name="Image 2" descr="icons/puzzle.png"/>
          <p:cNvPicPr/>
          <p:nvPr/>
        </p:nvPicPr>
        <p:blipFill>
          <a:blip r:embed="rId3"/>
          <a:stretch/>
        </p:blipFill>
        <p:spPr>
          <a:xfrm>
            <a:off x="877176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8"/>
          <p:cNvSpPr/>
          <p:nvPr/>
        </p:nvSpPr>
        <p:spPr>
          <a:xfrm>
            <a:off x="6318360" y="2428560"/>
            <a:ext cx="5302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Unsupervised 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9"/>
          <p:cNvSpPr/>
          <p:nvPr/>
        </p:nvSpPr>
        <p:spPr>
          <a:xfrm>
            <a:off x="6373440" y="2812680"/>
            <a:ext cx="5192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Finds hidden patterns in data with no labels at all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0"/>
          <p:cNvSpPr/>
          <p:nvPr/>
        </p:nvSpPr>
        <p:spPr>
          <a:xfrm>
            <a:off x="457200" y="4069080"/>
            <a:ext cx="552204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11"/>
          <p:cNvSpPr/>
          <p:nvPr/>
        </p:nvSpPr>
        <p:spPr>
          <a:xfrm>
            <a:off x="293508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3" descr="icons/layergroup.png"/>
          <p:cNvPicPr/>
          <p:nvPr/>
        </p:nvPicPr>
        <p:blipFill>
          <a:blip r:embed="rId4"/>
          <a:stretch/>
        </p:blipFill>
        <p:spPr>
          <a:xfrm>
            <a:off x="302040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12"/>
          <p:cNvSpPr/>
          <p:nvPr/>
        </p:nvSpPr>
        <p:spPr>
          <a:xfrm>
            <a:off x="567000" y="4988880"/>
            <a:ext cx="5302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Semi-Supervised 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3"/>
          <p:cNvSpPr/>
          <p:nvPr/>
        </p:nvSpPr>
        <p:spPr>
          <a:xfrm>
            <a:off x="621720" y="5373000"/>
            <a:ext cx="5192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Learns from a mix of labeled and unlabeled data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4"/>
          <p:cNvSpPr/>
          <p:nvPr/>
        </p:nvSpPr>
        <p:spPr>
          <a:xfrm>
            <a:off x="6208920" y="4069080"/>
            <a:ext cx="552204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15"/>
          <p:cNvSpPr/>
          <p:nvPr/>
        </p:nvSpPr>
        <p:spPr>
          <a:xfrm>
            <a:off x="868680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7" name="Image 4" descr="icons/bullseye.png"/>
          <p:cNvPicPr/>
          <p:nvPr/>
        </p:nvPicPr>
        <p:blipFill>
          <a:blip r:embed="rId5"/>
          <a:stretch/>
        </p:blipFill>
        <p:spPr>
          <a:xfrm>
            <a:off x="877176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Text 16"/>
          <p:cNvSpPr/>
          <p:nvPr/>
        </p:nvSpPr>
        <p:spPr>
          <a:xfrm>
            <a:off x="6318360" y="4988880"/>
            <a:ext cx="5302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Reinforcement 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7"/>
          <p:cNvSpPr/>
          <p:nvPr/>
        </p:nvSpPr>
        <p:spPr>
          <a:xfrm>
            <a:off x="6373440" y="5373000"/>
            <a:ext cx="5192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Learns by trial and error, earning rewards for good choices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8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19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Shape 35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3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35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A1A1A"/>
                </a:solidFill>
                <a:effectLst/>
                <a:uFillTx/>
                <a:latin typeface="Georgia"/>
                <a:ea typeface="Georgia"/>
              </a:rPr>
              <a:t>Artificial Neural Networks (ANN)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32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33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36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Georgia"/>
                <a:ea typeface="Georgia"/>
              </a:rPr>
              <a:t>Inspired by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A1A1A"/>
                </a:solidFill>
                <a:effectLst/>
                <a:uFillTx/>
                <a:latin typeface="Georgia"/>
                <a:ea typeface="Georgia"/>
              </a:rPr>
              <a:t>the brain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37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 Artificial Neural Network is a computing system made of connected "neurons" (nodes), loosely inspired by the human brain.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Each connection has a weight. During training, the network adjusts these weights so its outputs get closer and closer to the correct answer.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34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3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F6E5F"/>
                </a:solidFill>
                <a:effectLst/>
                <a:uFillTx/>
                <a:latin typeface="Arial"/>
                <a:ea typeface="Arial"/>
              </a:rPr>
              <a:t>Used for:  </a:t>
            </a: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image recognition, speech translation, self-driving cars, chatbots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3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4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12" descr="icon.png"/>
          <p:cNvPicPr/>
          <p:nvPr/>
        </p:nvPicPr>
        <p:blipFill>
          <a:blip r:embed="rId1"/>
          <a:stretch/>
        </p:blipFill>
        <p:spPr>
          <a:xfrm>
            <a:off x="1792800" y="2514600"/>
            <a:ext cx="977760" cy="977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4" name="Image 13" descr="icon.png"/>
          <p:cNvPicPr/>
          <p:nvPr/>
        </p:nvPicPr>
        <p:blipFill>
          <a:blip r:embed="rId2"/>
          <a:stretch/>
        </p:blipFill>
        <p:spPr>
          <a:xfrm>
            <a:off x="525600" y="553680"/>
            <a:ext cx="474840" cy="47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7" name="Image 0" descr="icons/dna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Evolutionary Algorithms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1" name="Image 1" descr="icons/dna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2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Inspired by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evolution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These methods borrow ideas from natural evolution — testing many possible solutions, and keeping the best ones over many rounds.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optimization problems, scheduling, engineering design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0" name="Image 0" descr="icons/ey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1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Computer Vision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4" name="Image 1" descr="icons/eye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that "see"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Computer Vision lets a computer understand and interpret images and videos, much like a human eye and brain would.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facial recognition, medical imaging, self-driving cars, security cameras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3" name="Image 0" descr="icons/robo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4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Robotics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icons/robo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with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physical body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Robotics combines AI with physical machines, so robots can sense their surroundings, plan, and act on their own.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manufacturing, healthcare, military, space exploration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6" name="Image 0" descr="icons/comment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Natural Language Processing (NLP)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0" name="Image 1" descr="icons/comment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1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that "talk"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NLP lets a computer understand, process, and even generate human language — written or spoken.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chatbots, translation, speech recognition, sentiment analysis, virtual assistants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9" name="Image 0" descr="icons/swarm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Swarm Intelligence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3" name="Image 1" descr="icons/swarm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Inspired by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ants &amp; bees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Swarm Intelligence copies how groups of simple animals — ants, bees, birds, fish — solve problems together, with no single leader.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optimization, delivery routing, scheduling, distributed problem-solving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92" name="Image 0" descr="icons/balanc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3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Ethics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96" name="Image 1" descr="icons/balance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Building AI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responsibly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6"/>
          <p:cNvSpPr/>
          <p:nvPr/>
        </p:nvSpPr>
        <p:spPr>
          <a:xfrm>
            <a:off x="4572000" y="1737360"/>
            <a:ext cx="71312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AI Ethics makes sure AI systems are built fairly and safely for everyone — this area is growing quickly as AI spreads.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7"/>
          <p:cNvSpPr/>
          <p:nvPr/>
        </p:nvSpPr>
        <p:spPr>
          <a:xfrm>
            <a:off x="4572000" y="4023360"/>
            <a:ext cx="7131240" cy="1736280"/>
          </a:xfrm>
          <a:prstGeom prst="roundRect">
            <a:avLst>
              <a:gd name="adj" fmla="val 421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8"/>
          <p:cNvSpPr/>
          <p:nvPr/>
        </p:nvSpPr>
        <p:spPr>
          <a:xfrm>
            <a:off x="4800600" y="4206240"/>
            <a:ext cx="66740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Used for:  </a:t>
            </a:r>
            <a:r>
              <a:rPr lang="en-US" sz="14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fairness, bias, privacy, transparency, accountability, safety, security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9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10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4" name="Image 0" descr="icons/sitema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5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Fields at a Glance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2"/>
          <p:cNvSpPr/>
          <p:nvPr/>
        </p:nvSpPr>
        <p:spPr>
          <a:xfrm>
            <a:off x="457200" y="150876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3"/>
          <p:cNvSpPr/>
          <p:nvPr/>
        </p:nvSpPr>
        <p:spPr>
          <a:xfrm>
            <a:off x="149724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1" descr="icons/sitemap.png"/>
          <p:cNvPicPr/>
          <p:nvPr/>
        </p:nvPicPr>
        <p:blipFill>
          <a:blip r:embed="rId2"/>
          <a:stretch/>
        </p:blipFill>
        <p:spPr>
          <a:xfrm>
            <a:off x="158220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"/>
          <p:cNvSpPr/>
          <p:nvPr/>
        </p:nvSpPr>
        <p:spPr>
          <a:xfrm>
            <a:off x="567000" y="242856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Expert Systems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5"/>
          <p:cNvSpPr/>
          <p:nvPr/>
        </p:nvSpPr>
        <p:spPr>
          <a:xfrm>
            <a:off x="3332880" y="150876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6"/>
          <p:cNvSpPr/>
          <p:nvPr/>
        </p:nvSpPr>
        <p:spPr>
          <a:xfrm>
            <a:off x="437328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2" name="Image 2" descr="icons/layergroup.png"/>
          <p:cNvPicPr/>
          <p:nvPr/>
        </p:nvPicPr>
        <p:blipFill>
          <a:blip r:embed="rId3"/>
          <a:stretch/>
        </p:blipFill>
        <p:spPr>
          <a:xfrm>
            <a:off x="445824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Text 7"/>
          <p:cNvSpPr/>
          <p:nvPr/>
        </p:nvSpPr>
        <p:spPr>
          <a:xfrm>
            <a:off x="3442680" y="242856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 Learning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8"/>
          <p:cNvSpPr/>
          <p:nvPr/>
        </p:nvSpPr>
        <p:spPr>
          <a:xfrm>
            <a:off x="6208920" y="150876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9"/>
          <p:cNvSpPr/>
          <p:nvPr/>
        </p:nvSpPr>
        <p:spPr>
          <a:xfrm>
            <a:off x="724896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6" name="Image 3" descr="icons/dna.png"/>
          <p:cNvPicPr/>
          <p:nvPr/>
        </p:nvPicPr>
        <p:blipFill>
          <a:blip r:embed="rId4"/>
          <a:stretch/>
        </p:blipFill>
        <p:spPr>
          <a:xfrm>
            <a:off x="733392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7" name="Text 10"/>
          <p:cNvSpPr/>
          <p:nvPr/>
        </p:nvSpPr>
        <p:spPr>
          <a:xfrm>
            <a:off x="6318360" y="242856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Evolutionary Algorithms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11"/>
          <p:cNvSpPr/>
          <p:nvPr/>
        </p:nvSpPr>
        <p:spPr>
          <a:xfrm>
            <a:off x="9084600" y="150876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12"/>
          <p:cNvSpPr/>
          <p:nvPr/>
        </p:nvSpPr>
        <p:spPr>
          <a:xfrm>
            <a:off x="1012464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0" name="Image 4" descr="icons/eye.png"/>
          <p:cNvPicPr/>
          <p:nvPr/>
        </p:nvPicPr>
        <p:blipFill>
          <a:blip r:embed="rId5"/>
          <a:stretch/>
        </p:blipFill>
        <p:spPr>
          <a:xfrm>
            <a:off x="1020960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1" name="Text 13"/>
          <p:cNvSpPr/>
          <p:nvPr/>
        </p:nvSpPr>
        <p:spPr>
          <a:xfrm>
            <a:off x="9194400" y="242856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Computer Vision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14"/>
          <p:cNvSpPr/>
          <p:nvPr/>
        </p:nvSpPr>
        <p:spPr>
          <a:xfrm>
            <a:off x="457200" y="406908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15"/>
          <p:cNvSpPr/>
          <p:nvPr/>
        </p:nvSpPr>
        <p:spPr>
          <a:xfrm>
            <a:off x="149724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4" name="Image 5" descr="icons/robot.png"/>
          <p:cNvPicPr/>
          <p:nvPr/>
        </p:nvPicPr>
        <p:blipFill>
          <a:blip r:embed="rId6"/>
          <a:stretch/>
        </p:blipFill>
        <p:spPr>
          <a:xfrm>
            <a:off x="158220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5" name="Text 16"/>
          <p:cNvSpPr/>
          <p:nvPr/>
        </p:nvSpPr>
        <p:spPr>
          <a:xfrm>
            <a:off x="567000" y="498888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Robotics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7"/>
          <p:cNvSpPr/>
          <p:nvPr/>
        </p:nvSpPr>
        <p:spPr>
          <a:xfrm>
            <a:off x="3332880" y="406908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8"/>
          <p:cNvSpPr/>
          <p:nvPr/>
        </p:nvSpPr>
        <p:spPr>
          <a:xfrm>
            <a:off x="437328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8" name="Image 6" descr="icons/comments.png"/>
          <p:cNvPicPr/>
          <p:nvPr/>
        </p:nvPicPr>
        <p:blipFill>
          <a:blip r:embed="rId7"/>
          <a:stretch/>
        </p:blipFill>
        <p:spPr>
          <a:xfrm>
            <a:off x="445824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9" name="Text 19"/>
          <p:cNvSpPr/>
          <p:nvPr/>
        </p:nvSpPr>
        <p:spPr>
          <a:xfrm>
            <a:off x="3442680" y="498888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NLP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20"/>
          <p:cNvSpPr/>
          <p:nvPr/>
        </p:nvSpPr>
        <p:spPr>
          <a:xfrm>
            <a:off x="6208920" y="406908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1"/>
          <p:cNvSpPr/>
          <p:nvPr/>
        </p:nvSpPr>
        <p:spPr>
          <a:xfrm>
            <a:off x="724896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2" name="Image 7" descr="icons/swarm.png"/>
          <p:cNvPicPr/>
          <p:nvPr/>
        </p:nvPicPr>
        <p:blipFill>
          <a:blip r:embed="rId8"/>
          <a:stretch/>
        </p:blipFill>
        <p:spPr>
          <a:xfrm>
            <a:off x="733392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3" name="Text 22"/>
          <p:cNvSpPr/>
          <p:nvPr/>
        </p:nvSpPr>
        <p:spPr>
          <a:xfrm>
            <a:off x="6318360" y="498888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Swarm Intelligence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9084600" y="4069080"/>
            <a:ext cx="264600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24"/>
          <p:cNvSpPr/>
          <p:nvPr/>
        </p:nvSpPr>
        <p:spPr>
          <a:xfrm>
            <a:off x="1012464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6" name="Image 8" descr="icons/balance.png"/>
          <p:cNvPicPr/>
          <p:nvPr/>
        </p:nvPicPr>
        <p:blipFill>
          <a:blip r:embed="rId9"/>
          <a:stretch/>
        </p:blipFill>
        <p:spPr>
          <a:xfrm>
            <a:off x="1020960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7" name="Text 25"/>
          <p:cNvSpPr/>
          <p:nvPr/>
        </p:nvSpPr>
        <p:spPr>
          <a:xfrm>
            <a:off x="9194400" y="4988880"/>
            <a:ext cx="2426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AI Ethics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1" name="Image 0" descr="icons/briefc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2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Career Paths in AI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Shape 2"/>
          <p:cNvSpPr/>
          <p:nvPr/>
        </p:nvSpPr>
        <p:spPr>
          <a:xfrm>
            <a:off x="45720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"/>
          <p:cNvSpPr/>
          <p:nvPr/>
        </p:nvSpPr>
        <p:spPr>
          <a:xfrm>
            <a:off x="197676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5" name="Image 1" descr="icons/comments.png"/>
          <p:cNvPicPr/>
          <p:nvPr/>
        </p:nvPicPr>
        <p:blipFill>
          <a:blip r:embed="rId2"/>
          <a:stretch/>
        </p:blipFill>
        <p:spPr>
          <a:xfrm>
            <a:off x="206172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6" name="Text 4"/>
          <p:cNvSpPr/>
          <p:nvPr/>
        </p:nvSpPr>
        <p:spPr>
          <a:xfrm>
            <a:off x="56700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NLP Engineer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5"/>
          <p:cNvSpPr/>
          <p:nvPr/>
        </p:nvSpPr>
        <p:spPr>
          <a:xfrm>
            <a:off x="62172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chatbots, translators, and language tools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6"/>
          <p:cNvSpPr/>
          <p:nvPr/>
        </p:nvSpPr>
        <p:spPr>
          <a:xfrm>
            <a:off x="429156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7"/>
          <p:cNvSpPr/>
          <p:nvPr/>
        </p:nvSpPr>
        <p:spPr>
          <a:xfrm>
            <a:off x="581112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0" name="Image 2" descr="icons/eye.png"/>
          <p:cNvPicPr/>
          <p:nvPr/>
        </p:nvPicPr>
        <p:blipFill>
          <a:blip r:embed="rId3"/>
          <a:stretch/>
        </p:blipFill>
        <p:spPr>
          <a:xfrm>
            <a:off x="589608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1" name="Text 8"/>
          <p:cNvSpPr/>
          <p:nvPr/>
        </p:nvSpPr>
        <p:spPr>
          <a:xfrm>
            <a:off x="440136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Computer Vision Engineer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9"/>
          <p:cNvSpPr/>
          <p:nvPr/>
        </p:nvSpPr>
        <p:spPr>
          <a:xfrm>
            <a:off x="445608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systems that understand images &amp; video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10"/>
          <p:cNvSpPr/>
          <p:nvPr/>
        </p:nvSpPr>
        <p:spPr>
          <a:xfrm>
            <a:off x="812592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Shape 11"/>
          <p:cNvSpPr/>
          <p:nvPr/>
        </p:nvSpPr>
        <p:spPr>
          <a:xfrm>
            <a:off x="964548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5" name="Image 3" descr="icons/sitemap.png"/>
          <p:cNvPicPr/>
          <p:nvPr/>
        </p:nvPicPr>
        <p:blipFill>
          <a:blip r:embed="rId4"/>
          <a:stretch/>
        </p:blipFill>
        <p:spPr>
          <a:xfrm>
            <a:off x="973044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6" name="Text 12"/>
          <p:cNvSpPr/>
          <p:nvPr/>
        </p:nvSpPr>
        <p:spPr>
          <a:xfrm>
            <a:off x="823572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Expert System Developer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13"/>
          <p:cNvSpPr/>
          <p:nvPr/>
        </p:nvSpPr>
        <p:spPr>
          <a:xfrm>
            <a:off x="829044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rule-based decision tools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14"/>
          <p:cNvSpPr/>
          <p:nvPr/>
        </p:nvSpPr>
        <p:spPr>
          <a:xfrm>
            <a:off x="45720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15"/>
          <p:cNvSpPr/>
          <p:nvPr/>
        </p:nvSpPr>
        <p:spPr>
          <a:xfrm>
            <a:off x="197676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0" name="Image 4" descr="icons/layergroup.png"/>
          <p:cNvPicPr/>
          <p:nvPr/>
        </p:nvPicPr>
        <p:blipFill>
          <a:blip r:embed="rId5"/>
          <a:stretch/>
        </p:blipFill>
        <p:spPr>
          <a:xfrm>
            <a:off x="206172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1" name="Text 16"/>
          <p:cNvSpPr/>
          <p:nvPr/>
        </p:nvSpPr>
        <p:spPr>
          <a:xfrm>
            <a:off x="56700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Machine Learning Engineer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7"/>
          <p:cNvSpPr/>
          <p:nvPr/>
        </p:nvSpPr>
        <p:spPr>
          <a:xfrm>
            <a:off x="62172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and trains learning models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18"/>
          <p:cNvSpPr/>
          <p:nvPr/>
        </p:nvSpPr>
        <p:spPr>
          <a:xfrm>
            <a:off x="429156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Shape 19"/>
          <p:cNvSpPr/>
          <p:nvPr/>
        </p:nvSpPr>
        <p:spPr>
          <a:xfrm>
            <a:off x="581112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5" name="Image 5" descr="icons/swarm.png"/>
          <p:cNvPicPr/>
          <p:nvPr/>
        </p:nvPicPr>
        <p:blipFill>
          <a:blip r:embed="rId6"/>
          <a:stretch/>
        </p:blipFill>
        <p:spPr>
          <a:xfrm>
            <a:off x="589608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6" name="Text 20"/>
          <p:cNvSpPr/>
          <p:nvPr/>
        </p:nvSpPr>
        <p:spPr>
          <a:xfrm>
            <a:off x="440136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Optimization Researcher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21"/>
          <p:cNvSpPr/>
          <p:nvPr/>
        </p:nvSpPr>
        <p:spPr>
          <a:xfrm>
            <a:off x="445608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Works on swarm &amp; evolutionary methods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22"/>
          <p:cNvSpPr/>
          <p:nvPr/>
        </p:nvSpPr>
        <p:spPr>
          <a:xfrm>
            <a:off x="812592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Shape 23"/>
          <p:cNvSpPr/>
          <p:nvPr/>
        </p:nvSpPr>
        <p:spPr>
          <a:xfrm>
            <a:off x="964548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0" name="Image 6" descr="icons/robot.png"/>
          <p:cNvPicPr/>
          <p:nvPr/>
        </p:nvPicPr>
        <p:blipFill>
          <a:blip r:embed="rId7"/>
          <a:stretch/>
        </p:blipFill>
        <p:spPr>
          <a:xfrm>
            <a:off x="973044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1" name="Text 24"/>
          <p:cNvSpPr/>
          <p:nvPr/>
        </p:nvSpPr>
        <p:spPr>
          <a:xfrm>
            <a:off x="823572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Robotics Engineer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5"/>
          <p:cNvSpPr/>
          <p:nvPr/>
        </p:nvSpPr>
        <p:spPr>
          <a:xfrm>
            <a:off x="829044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physical, autonomous machines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 2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2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8" name="Image 0" descr="icons/flas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9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 RESEARCH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Where This Shows Up in the Real World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5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4" name="Image 0" descr="icons/flas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5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How This Course Helps Your Research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8" name="Image 1" descr="icons/flas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9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Same tools,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every field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field now creates more data than people can check by hand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tools in this course — Python, statistics, EDA, ML — are used in almost every research field today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 not need to become an AI expert. You just need enough skill to ask your data a question, and get a real answer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5" name="Image 0" descr="icons/seedl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6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Agriculture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9" name="Image 1" descr="icons/seedling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0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Precision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farming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Predicting crop yield using soil, weather, and satellite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Computer Vision spotting plant disease from leaf photos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Sensors (soil moisture, temperature) automating watering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6" name="Image 0" descr="icons/robo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7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Robotics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0" name="Image 1" descr="icons/robo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1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Perception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+ action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Combining camera, LiDAR, and motion data into one picture of the world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Path-planning — deciding the best route using probability and math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Reinforcement Learning — robots improving through trial and error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7" name="Image 0" descr="icons/ca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8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Self-Driving Cars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1" name="Image 1" descr="icons/car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2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Millions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miles of data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Computer Vision spotting lanes, signs, and people in real 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Huge labeled datasets — the same EDA &amp; cleaning skills from this course apply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Decision-making models trained on real driving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8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9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Any Research Project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2" name="Image 1" descr="icons/char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3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Faster,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stronger work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Automating data cleaning that used to take days by hand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Statistical tests to check — or challenge — a hypothesis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Charts and visuals that make a thesis or paper much stronger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Shape 0"/>
          <p:cNvSpPr/>
          <p:nvPr/>
        </p:nvSpPr>
        <p:spPr>
          <a:xfrm>
            <a:off x="10515600" y="5669280"/>
            <a:ext cx="3199320" cy="319932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Shape 1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9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0" name="Text 2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Data Science?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Shape 3"/>
          <p:cNvSpPr/>
          <p:nvPr/>
        </p:nvSpPr>
        <p:spPr>
          <a:xfrm>
            <a:off x="457200" y="1554480"/>
            <a:ext cx="3656520" cy="466236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Shape 4"/>
          <p:cNvSpPr/>
          <p:nvPr/>
        </p:nvSpPr>
        <p:spPr>
          <a:xfrm>
            <a:off x="1508760" y="2194560"/>
            <a:ext cx="1553400" cy="15534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3" name="Image 1" descr="icons/char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200" cy="10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4" name="Text 5"/>
          <p:cNvSpPr/>
          <p:nvPr/>
        </p:nvSpPr>
        <p:spPr>
          <a:xfrm>
            <a:off x="640080" y="3977640"/>
            <a:ext cx="329076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insight →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decision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6"/>
          <p:cNvSpPr/>
          <p:nvPr/>
        </p:nvSpPr>
        <p:spPr>
          <a:xfrm>
            <a:off x="4572000" y="1737360"/>
            <a:ext cx="713124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Data Science means pulling useful insight and decisions out of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combines statistics, programming, and knowledge of a specific field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AI asks "can a machine act smart?" — Data Science asks "what does this data actually tell us?"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two fields overlap constantly — most AI is built and tested using data science methods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Shape 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9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0" name="Text 1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Career Paths in Data Science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2"/>
          <p:cNvSpPr/>
          <p:nvPr/>
        </p:nvSpPr>
        <p:spPr>
          <a:xfrm>
            <a:off x="45720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3"/>
          <p:cNvSpPr/>
          <p:nvPr/>
        </p:nvSpPr>
        <p:spPr>
          <a:xfrm>
            <a:off x="197676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3" name="Image 1" descr="icons/chart.png"/>
          <p:cNvPicPr/>
          <p:nvPr/>
        </p:nvPicPr>
        <p:blipFill>
          <a:blip r:embed="rId2"/>
          <a:stretch/>
        </p:blipFill>
        <p:spPr>
          <a:xfrm>
            <a:off x="206172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4" name="Text 4"/>
          <p:cNvSpPr/>
          <p:nvPr/>
        </p:nvSpPr>
        <p:spPr>
          <a:xfrm>
            <a:off x="56700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Analyst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5"/>
          <p:cNvSpPr/>
          <p:nvPr/>
        </p:nvSpPr>
        <p:spPr>
          <a:xfrm>
            <a:off x="62172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Turns raw data into reports and dashboards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6"/>
          <p:cNvSpPr/>
          <p:nvPr/>
        </p:nvSpPr>
        <p:spPr>
          <a:xfrm>
            <a:off x="429156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7"/>
          <p:cNvSpPr/>
          <p:nvPr/>
        </p:nvSpPr>
        <p:spPr>
          <a:xfrm>
            <a:off x="581112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8" name="Image 2" descr="icons/network.png"/>
          <p:cNvPicPr/>
          <p:nvPr/>
        </p:nvPicPr>
        <p:blipFill>
          <a:blip r:embed="rId3"/>
          <a:stretch/>
        </p:blipFill>
        <p:spPr>
          <a:xfrm>
            <a:off x="589608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9" name="Text 8"/>
          <p:cNvSpPr/>
          <p:nvPr/>
        </p:nvSpPr>
        <p:spPr>
          <a:xfrm>
            <a:off x="440136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Engineer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9"/>
          <p:cNvSpPr/>
          <p:nvPr/>
        </p:nvSpPr>
        <p:spPr>
          <a:xfrm>
            <a:off x="445608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the pipelines that move and store data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Shape 10"/>
          <p:cNvSpPr/>
          <p:nvPr/>
        </p:nvSpPr>
        <p:spPr>
          <a:xfrm>
            <a:off x="8125920" y="150876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11"/>
          <p:cNvSpPr/>
          <p:nvPr/>
        </p:nvSpPr>
        <p:spPr>
          <a:xfrm>
            <a:off x="9645480" y="178848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3" name="Image 3" descr="icons/brain.png"/>
          <p:cNvPicPr/>
          <p:nvPr/>
        </p:nvPicPr>
        <p:blipFill>
          <a:blip r:embed="rId4"/>
          <a:stretch/>
        </p:blipFill>
        <p:spPr>
          <a:xfrm>
            <a:off x="9730440" y="187344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4" name="Text 12"/>
          <p:cNvSpPr/>
          <p:nvPr/>
        </p:nvSpPr>
        <p:spPr>
          <a:xfrm>
            <a:off x="8235720" y="242856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 Scientist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3"/>
          <p:cNvSpPr/>
          <p:nvPr/>
        </p:nvSpPr>
        <p:spPr>
          <a:xfrm>
            <a:off x="8290440" y="281268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Builds models, makes predictions, runs experiments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14"/>
          <p:cNvSpPr/>
          <p:nvPr/>
        </p:nvSpPr>
        <p:spPr>
          <a:xfrm>
            <a:off x="45720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Shape 15"/>
          <p:cNvSpPr/>
          <p:nvPr/>
        </p:nvSpPr>
        <p:spPr>
          <a:xfrm>
            <a:off x="197676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8" name="Image 4" descr="icons/code.png"/>
          <p:cNvPicPr/>
          <p:nvPr/>
        </p:nvPicPr>
        <p:blipFill>
          <a:blip r:embed="rId5"/>
          <a:stretch/>
        </p:blipFill>
        <p:spPr>
          <a:xfrm>
            <a:off x="206172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9" name="Text 16"/>
          <p:cNvSpPr/>
          <p:nvPr/>
        </p:nvSpPr>
        <p:spPr>
          <a:xfrm>
            <a:off x="56700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ML Engineer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17"/>
          <p:cNvSpPr/>
          <p:nvPr/>
        </p:nvSpPr>
        <p:spPr>
          <a:xfrm>
            <a:off x="62172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Puts models into real, working products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18"/>
          <p:cNvSpPr/>
          <p:nvPr/>
        </p:nvSpPr>
        <p:spPr>
          <a:xfrm>
            <a:off x="429156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Shape 19"/>
          <p:cNvSpPr/>
          <p:nvPr/>
        </p:nvSpPr>
        <p:spPr>
          <a:xfrm>
            <a:off x="581112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3" name="Image 5" descr="icons/briefcase.png"/>
          <p:cNvPicPr/>
          <p:nvPr/>
        </p:nvPicPr>
        <p:blipFill>
          <a:blip r:embed="rId6"/>
          <a:stretch/>
        </p:blipFill>
        <p:spPr>
          <a:xfrm>
            <a:off x="589608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4" name="Text 20"/>
          <p:cNvSpPr/>
          <p:nvPr/>
        </p:nvSpPr>
        <p:spPr>
          <a:xfrm>
            <a:off x="440136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BI Analyst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 21"/>
          <p:cNvSpPr/>
          <p:nvPr/>
        </p:nvSpPr>
        <p:spPr>
          <a:xfrm>
            <a:off x="445608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Tracks business metrics to support decisions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Shape 22"/>
          <p:cNvSpPr/>
          <p:nvPr/>
        </p:nvSpPr>
        <p:spPr>
          <a:xfrm>
            <a:off x="8125920" y="4069080"/>
            <a:ext cx="3604680" cy="233064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23"/>
          <p:cNvSpPr/>
          <p:nvPr/>
        </p:nvSpPr>
        <p:spPr>
          <a:xfrm>
            <a:off x="9645480" y="4348800"/>
            <a:ext cx="565920" cy="565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8" name="Image 6" descr="icons/gradcap.png"/>
          <p:cNvPicPr/>
          <p:nvPr/>
        </p:nvPicPr>
        <p:blipFill>
          <a:blip r:embed="rId7"/>
          <a:stretch/>
        </p:blipFill>
        <p:spPr>
          <a:xfrm>
            <a:off x="9730440" y="4433760"/>
            <a:ext cx="39564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9" name="Text 24"/>
          <p:cNvSpPr/>
          <p:nvPr/>
        </p:nvSpPr>
        <p:spPr>
          <a:xfrm>
            <a:off x="8235720" y="4988880"/>
            <a:ext cx="3385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Research Scientist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25"/>
          <p:cNvSpPr/>
          <p:nvPr/>
        </p:nvSpPr>
        <p:spPr>
          <a:xfrm>
            <a:off x="8290440" y="5373000"/>
            <a:ext cx="3275640" cy="98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Pushes the field forward in labs or academia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26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7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Shape 30"/>
          <p:cNvSpPr/>
          <p:nvPr/>
        </p:nvSpPr>
        <p:spPr>
          <a:xfrm>
            <a:off x="457200" y="457200"/>
            <a:ext cx="639000" cy="6390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4" name="Image 11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120" cy="44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5" name="Text 34"/>
          <p:cNvSpPr/>
          <p:nvPr/>
        </p:nvSpPr>
        <p:spPr>
          <a:xfrm>
            <a:off x="1280160" y="457200"/>
            <a:ext cx="10423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Two interesting Books to understand AI and Algorithms Deeply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47"/>
          <p:cNvSpPr/>
          <p:nvPr/>
        </p:nvSpPr>
        <p:spPr>
          <a:xfrm>
            <a:off x="457200" y="64465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Code, Data &amp; Decisions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48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8" name=""/>
          <p:cNvPicPr/>
          <p:nvPr/>
        </p:nvPicPr>
        <p:blipFill>
          <a:blip r:embed="rId2"/>
          <a:stretch/>
        </p:blipFill>
        <p:spPr>
          <a:xfrm>
            <a:off x="726480" y="1504800"/>
            <a:ext cx="3370320" cy="505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9" name=""/>
          <p:cNvPicPr/>
          <p:nvPr/>
        </p:nvPicPr>
        <p:blipFill>
          <a:blip r:embed="rId3"/>
          <a:stretch/>
        </p:blipFill>
        <p:spPr>
          <a:xfrm>
            <a:off x="4572000" y="1600200"/>
            <a:ext cx="252324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"/>
          <p:cNvSpPr/>
          <p:nvPr/>
        </p:nvSpPr>
        <p:spPr>
          <a:xfrm>
            <a:off x="7315200" y="2044800"/>
            <a:ext cx="34286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lecture by the Author on the Alignment Problem: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7303320" y="2598120"/>
            <a:ext cx="38977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2A6099"/>
                </a:solidFill>
                <a:effectLst/>
                <a:uFillTx/>
                <a:latin typeface="Arial"/>
              </a:rPr>
              <a:t>https://youtu.be/z6atNBhItBs?si=eFS5ZURNpYF094rC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Shape 0"/>
          <p:cNvSpPr/>
          <p:nvPr/>
        </p:nvSpPr>
        <p:spPr>
          <a:xfrm>
            <a:off x="-1828800" y="41148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1"/>
          <p:cNvSpPr/>
          <p:nvPr/>
        </p:nvSpPr>
        <p:spPr>
          <a:xfrm>
            <a:off x="9601200" y="-2286000"/>
            <a:ext cx="5485320" cy="548532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5591520" y="731520"/>
            <a:ext cx="1004760" cy="1004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5" name="Image 0" descr="icons/gradcap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080" cy="7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6" name="Text 3"/>
          <p:cNvSpPr/>
          <p:nvPr/>
        </p:nvSpPr>
        <p:spPr>
          <a:xfrm>
            <a:off x="914400" y="1965960"/>
            <a:ext cx="1035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WHERE YOU FIT 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4"/>
          <p:cNvSpPr/>
          <p:nvPr/>
        </p:nvSpPr>
        <p:spPr>
          <a:xfrm>
            <a:off x="914400" y="2377440"/>
            <a:ext cx="103590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Whatever field pulls you — agriculture, robotics,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healthcare, or policy — the path starts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with the same first step: today.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Text 5"/>
          <p:cNvSpPr/>
          <p:nvPr/>
        </p:nvSpPr>
        <p:spPr>
          <a:xfrm>
            <a:off x="1463040" y="4572000"/>
            <a:ext cx="92617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See you next session.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11521440" y="644652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2026-07-16T22:34:35Z</dcterms:created>
  <dc:creator>Course Instructor</dc:creator>
  <dc:description/>
  <dc:language>en-US</dc:language>
  <cp:lastModifiedBy/>
  <dcterms:modified xsi:type="dcterms:W3CDTF">2026-07-18T21:28:13Z</dcterms:modified>
  <cp:revision>28</cp:revision>
  <dc:subject>PptxGenJS Presentation</dc:subject>
  <dc:title>Code, Data &amp; Decisions — Day 1 &amp;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68</vt:i4>
  </property>
  <property fmtid="{D5CDD505-2E9C-101B-9397-08002B2CF9AE}" pid="3" name="PresentationFormat">
    <vt:lpwstr>On-screen Show (16:9)</vt:lpwstr>
  </property>
  <property fmtid="{D5CDD505-2E9C-101B-9397-08002B2CF9AE}" pid="4" name="Slides">
    <vt:i4>68</vt:i4>
  </property>
</Properties>
</file>