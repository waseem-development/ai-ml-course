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20.xml" ContentType="application/vnd.openxmlformats-officedocument.presentationml.slide+xml"/>
  <Override PartName="/ppt/slides/slide27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32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BFE2A85-E7CD-42ED-B40E-289B7E7D727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slide. No loops yet this session — that is next time. Today is pure lists/tuples mechanics.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450B84-D766-4EA2-91A3-C7E05AFABA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2A2D5D-50DC-48F3-B6A2-2D6BFA8C20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6000F5-B57E-4F56-B0AA-735A9BF827E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4BAA2D-52AC-41A0-8181-56AE4C7436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D2C417-788A-4C7F-95BF-97AA31DC83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BE0CCF-E69F-4B4D-92E7-D730048B470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discussion point: Python is the only one here with no separate character type.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AB148A-50AA-4E04-89EF-CA4F740ECF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Worth pointing out: Python and Java give you rich built-ins here; C makes you build most of this yourself.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78A504-6D68-4F7D-B4CA-E798A5D0EF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DA9574-721C-4ED8-837A-52F1671D7B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0E15A1-ED8A-410E-825F-796B984B4F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Nice map to show where today fits in the bigger picture.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C14A9A-13D9-4144-AE66-9016485A09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EA824B-4AE6-4852-8176-EB2778E9DC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337715-0E05-4E20-AD6D-62CC3B30B9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DC845B-3CE1-4FCF-A818-0C380EAF30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385D47-D33A-4ACB-9E48-91F989F84B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4C5B95-B45E-4856-A6F2-ACB3F82378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FEC6BA-3ED5-4862-B395-19F0E7BD38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Consistent with the "errors are normal" philosophy from Session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9D6759-F930-4DBB-A3B8-5F519DCDA9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596F25-C62A-4562-BAC9-EB3ECC5AD5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3584F5-F366-49CE-A775-125FE2CEAC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D66BBB-6D1F-412D-8DF5-28FB3D2D04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5A479C-8A19-4154-80AD-42B1998D20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4B4859-E5D0-4CE6-B74C-16E35EF6C2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1831A5-CB8C-4DB3-BCF2-55E45AF5C0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AE9470-3889-45F0-B6C9-B5828486A9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A1B18-DEEA-40E7-BCFF-F93C68C620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921C56-ED7D-46B2-A1A9-B1283150AC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889B69-4BE8-480E-842B-813AB4A52D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97A4F1-888E-428F-86BD-BA2A91D6DF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one of the most common real bugs beginners hit — worth extra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220410-B392-4536-ABA7-BA21F4CD3B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Fast recap before the practice set.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367CE1-C841-4DFB-80E0-A977FC105C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9F3ADB-C6B0-49B7-B1A4-FEE1F9A9530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5EE5B3-A3C0-4588-82E7-95ED3C631A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D056A8-B757-4101-901B-82B0515C53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419A7D-0D53-4530-80EA-F131057549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A7382F-1739-4A64-8139-B033351200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Ties directly into today's practice: "check that a tuple cannot be changed."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1E5D4D-DDD9-46F3-9791-DE3BA70E06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7E4C10-548D-4CD7-A5CF-3671FF602A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Tuples only have these two methods — far fewer than lists, since nothing about them can change.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087799-9C65-4CAE-86F9-477A2BF204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C40A08-AD1A-4751-B555-88C4716D5F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BDE0A6-9D5A-4E53-8793-50A1DDA15B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3EFC04-620B-403A-AD89-8B0087F415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8F2ED0-93F5-42AA-B729-A3967C9E3F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CD2F00-5025-4C66-BFD1-B1829A532E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 by asking students to explain, in their own words, when they would choose a tuple over a list.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AD1A63-6C1F-4ED0-B124-B472303A1D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9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6.png"/><Relationship Id="rId3" Type="http://schemas.openxmlformats.org/officeDocument/2006/relationships/image" Target="../media/image16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6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-2286000" y="36576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229600" y="-2743200"/>
            <a:ext cx="6400440" cy="64004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500080" y="914400"/>
            <a:ext cx="1188360" cy="118836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" name="Image 0" descr="icons/thlist.png"/>
          <p:cNvPicPr/>
          <p:nvPr/>
        </p:nvPicPr>
        <p:blipFill>
          <a:blip r:embed="rId1"/>
          <a:stretch/>
        </p:blipFill>
        <p:spPr>
          <a:xfrm>
            <a:off x="5678280" y="1092600"/>
            <a:ext cx="831600" cy="83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3"/>
          <p:cNvSpPr/>
          <p:nvPr/>
        </p:nvSpPr>
        <p:spPr>
          <a:xfrm>
            <a:off x="914400" y="2377440"/>
            <a:ext cx="103597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Lists &amp; Tuples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914400" y="3383280"/>
            <a:ext cx="10359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Storing and Organizing Multiple Values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914400" y="3977640"/>
            <a:ext cx="10359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Session 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10515600" y="-13716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Image 0" descr="icons/thlis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We're Covering Today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160020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621720" y="167004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1" descr="icons/tag.png"/>
          <p:cNvPicPr/>
          <p:nvPr/>
        </p:nvPicPr>
        <p:blipFill>
          <a:blip r:embed="rId2"/>
          <a:stretch/>
        </p:blipFill>
        <p:spPr>
          <a:xfrm>
            <a:off x="675720" y="172368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5"/>
          <p:cNvSpPr/>
          <p:nvPr/>
        </p:nvSpPr>
        <p:spPr>
          <a:xfrm>
            <a:off x="1325880" y="160020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Data types &amp; data structures — primitive vs. non-primitive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220824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621720" y="227808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2" descr="icons/boxes.png"/>
          <p:cNvPicPr/>
          <p:nvPr/>
        </p:nvPicPr>
        <p:blipFill>
          <a:blip r:embed="rId3"/>
          <a:stretch/>
        </p:blipFill>
        <p:spPr>
          <a:xfrm>
            <a:off x="675720" y="233172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8"/>
          <p:cNvSpPr/>
          <p:nvPr/>
        </p:nvSpPr>
        <p:spPr>
          <a:xfrm>
            <a:off x="1325880" y="220824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What is a list? Indexing, negative indexing &amp; slicing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57200" y="281628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621720" y="288612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3" descr="icons/pluscircle.png"/>
          <p:cNvPicPr/>
          <p:nvPr/>
        </p:nvPicPr>
        <p:blipFill>
          <a:blip r:embed="rId4"/>
          <a:stretch/>
        </p:blipFill>
        <p:spPr>
          <a:xfrm>
            <a:off x="675720" y="294012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1325880" y="281628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Adding items: append() &amp; insert()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457200" y="342432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621720" y="349416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4" descr="icons/minuscircle.png"/>
          <p:cNvPicPr/>
          <p:nvPr/>
        </p:nvPicPr>
        <p:blipFill>
          <a:blip r:embed="rId5"/>
          <a:stretch/>
        </p:blipFill>
        <p:spPr>
          <a:xfrm>
            <a:off x="675720" y="354816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 14"/>
          <p:cNvSpPr/>
          <p:nvPr/>
        </p:nvSpPr>
        <p:spPr>
          <a:xfrm>
            <a:off x="1325880" y="342432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Removing items: pop() &amp; remove()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457200" y="403236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21720" y="410220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5" descr="icons/sort.png"/>
          <p:cNvPicPr/>
          <p:nvPr/>
        </p:nvPicPr>
        <p:blipFill>
          <a:blip r:embed="rId6"/>
          <a:stretch/>
        </p:blipFill>
        <p:spPr>
          <a:xfrm>
            <a:off x="675720" y="415620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1325880" y="403236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Reordering: sort() &amp; reverse()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464076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621720" y="471024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6" descr="icons/copy.png"/>
          <p:cNvPicPr/>
          <p:nvPr/>
        </p:nvPicPr>
        <p:blipFill>
          <a:blip r:embed="rId7"/>
          <a:stretch/>
        </p:blipFill>
        <p:spPr>
          <a:xfrm>
            <a:off x="675720" y="476424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325880" y="464076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copying gotcha, del, clear(), + and *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1"/>
          <p:cNvSpPr/>
          <p:nvPr/>
        </p:nvSpPr>
        <p:spPr>
          <a:xfrm>
            <a:off x="457200" y="524880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1720" y="531828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 7" descr="icons/lock.png"/>
          <p:cNvPicPr/>
          <p:nvPr/>
        </p:nvPicPr>
        <p:blipFill>
          <a:blip r:embed="rId8"/>
          <a:stretch/>
        </p:blipFill>
        <p:spPr>
          <a:xfrm>
            <a:off x="675720" y="537228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 23"/>
          <p:cNvSpPr/>
          <p:nvPr/>
        </p:nvSpPr>
        <p:spPr>
          <a:xfrm>
            <a:off x="1325880" y="524880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Tuples — the list that cannot change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457200" y="5856840"/>
            <a:ext cx="11274120" cy="497880"/>
          </a:xfrm>
          <a:prstGeom prst="roundRect">
            <a:avLst>
              <a:gd name="adj" fmla="val 12844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621720" y="5926680"/>
            <a:ext cx="358560" cy="35856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" name="Image 8" descr="icons/boxopen.png"/>
          <p:cNvPicPr/>
          <p:nvPr/>
        </p:nvPicPr>
        <p:blipFill>
          <a:blip r:embed="rId9"/>
          <a:stretch/>
        </p:blipFill>
        <p:spPr>
          <a:xfrm>
            <a:off x="675720" y="5980320"/>
            <a:ext cx="250920" cy="25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6"/>
          <p:cNvSpPr/>
          <p:nvPr/>
        </p:nvSpPr>
        <p:spPr>
          <a:xfrm>
            <a:off x="1325880" y="5856840"/>
            <a:ext cx="10058040" cy="49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 packing &amp; unpacking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0" descr="icons/tag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Data Types &amp; Data Structures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A little vocabulary before we touch a single list.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icons/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Data Type?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1" descr="icons/tag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label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for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single value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data type tells Python what kind of value something is — a number, some text, true/false, and so 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 also decides what you're allowed to do with that value — you can add two numbers, but not two booleans the same way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already met four of these in an earlier session: int, float, str, and bool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icons/layergroup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Data Structure?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1" descr="icons/layergroup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way 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hold 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many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values 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at once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data structure organizes and stores multiple values together, so you can manage them as one group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Instead of creating 100 separate variables for 100 student names, a data structure holds all 100 in one place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Every data structure is built out of data types — a list of scores is a structure full of int values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Lists and tuples, today's whole topic, are both data structures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icons/squar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miti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vs.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Non-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miti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—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Big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Split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1" descr="icons/square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4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Primitive Types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Hold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ly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singl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Simpl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e,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fixed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size,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store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direc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tly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ples: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int,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float, </a:t>
            </a: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bool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7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2" descr="icons/boxopen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8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Non-Primitive Types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9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Can hold many values, or a whole collection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Built out of primitive types (or even other non-primitives)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Examples: list, tuple, dictionary, array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miti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ve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Typ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es —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Acro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ss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Lang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uage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"/>
          <p:cNvSpPr/>
          <p:nvPr/>
        </p:nvSpPr>
        <p:spPr>
          <a:xfrm>
            <a:off x="45720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3"/>
          <p:cNvSpPr/>
          <p:nvPr/>
        </p:nvSpPr>
        <p:spPr>
          <a:xfrm>
            <a:off x="45720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Concept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4"/>
          <p:cNvSpPr/>
          <p:nvPr/>
        </p:nvSpPr>
        <p:spPr>
          <a:xfrm>
            <a:off x="327600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327600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6"/>
          <p:cNvSpPr/>
          <p:nvPr/>
        </p:nvSpPr>
        <p:spPr>
          <a:xfrm>
            <a:off x="609444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7"/>
          <p:cNvSpPr/>
          <p:nvPr/>
        </p:nvSpPr>
        <p:spPr>
          <a:xfrm>
            <a:off x="609444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8"/>
          <p:cNvSpPr/>
          <p:nvPr/>
        </p:nvSpPr>
        <p:spPr>
          <a:xfrm>
            <a:off x="891324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891324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Java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"/>
          <p:cNvSpPr/>
          <p:nvPr/>
        </p:nvSpPr>
        <p:spPr>
          <a:xfrm>
            <a:off x="457200" y="2194560"/>
            <a:ext cx="2818440" cy="56664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1"/>
          <p:cNvSpPr/>
          <p:nvPr/>
        </p:nvSpPr>
        <p:spPr>
          <a:xfrm>
            <a:off x="54864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Whole number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2"/>
          <p:cNvSpPr/>
          <p:nvPr/>
        </p:nvSpPr>
        <p:spPr>
          <a:xfrm>
            <a:off x="3276000" y="2194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336744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4"/>
          <p:cNvSpPr/>
          <p:nvPr/>
        </p:nvSpPr>
        <p:spPr>
          <a:xfrm>
            <a:off x="6094440" y="2194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5"/>
          <p:cNvSpPr/>
          <p:nvPr/>
        </p:nvSpPr>
        <p:spPr>
          <a:xfrm>
            <a:off x="618588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6"/>
          <p:cNvSpPr/>
          <p:nvPr/>
        </p:nvSpPr>
        <p:spPr>
          <a:xfrm>
            <a:off x="8913240" y="2194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7"/>
          <p:cNvSpPr/>
          <p:nvPr/>
        </p:nvSpPr>
        <p:spPr>
          <a:xfrm>
            <a:off x="900468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457200" y="2761560"/>
            <a:ext cx="2818440" cy="56664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9"/>
          <p:cNvSpPr/>
          <p:nvPr/>
        </p:nvSpPr>
        <p:spPr>
          <a:xfrm>
            <a:off x="54864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Decimal number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0"/>
          <p:cNvSpPr/>
          <p:nvPr/>
        </p:nvSpPr>
        <p:spPr>
          <a:xfrm>
            <a:off x="3276000" y="2761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1"/>
          <p:cNvSpPr/>
          <p:nvPr/>
        </p:nvSpPr>
        <p:spPr>
          <a:xfrm>
            <a:off x="336744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float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2"/>
          <p:cNvSpPr/>
          <p:nvPr/>
        </p:nvSpPr>
        <p:spPr>
          <a:xfrm>
            <a:off x="6094440" y="2761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3"/>
          <p:cNvSpPr/>
          <p:nvPr/>
        </p:nvSpPr>
        <p:spPr>
          <a:xfrm>
            <a:off x="618588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float / double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4"/>
          <p:cNvSpPr/>
          <p:nvPr/>
        </p:nvSpPr>
        <p:spPr>
          <a:xfrm>
            <a:off x="8913240" y="2761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5"/>
          <p:cNvSpPr/>
          <p:nvPr/>
        </p:nvSpPr>
        <p:spPr>
          <a:xfrm>
            <a:off x="900468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float / double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457200" y="3328560"/>
            <a:ext cx="2818440" cy="56664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7"/>
          <p:cNvSpPr/>
          <p:nvPr/>
        </p:nvSpPr>
        <p:spPr>
          <a:xfrm>
            <a:off x="54864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True or False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8"/>
          <p:cNvSpPr/>
          <p:nvPr/>
        </p:nvSpPr>
        <p:spPr>
          <a:xfrm>
            <a:off x="3276000" y="3328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9"/>
          <p:cNvSpPr/>
          <p:nvPr/>
        </p:nvSpPr>
        <p:spPr>
          <a:xfrm>
            <a:off x="336744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bool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0"/>
          <p:cNvSpPr/>
          <p:nvPr/>
        </p:nvSpPr>
        <p:spPr>
          <a:xfrm>
            <a:off x="6094440" y="3328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1"/>
          <p:cNvSpPr/>
          <p:nvPr/>
        </p:nvSpPr>
        <p:spPr>
          <a:xfrm>
            <a:off x="618588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no true bool (0/1)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2"/>
          <p:cNvSpPr/>
          <p:nvPr/>
        </p:nvSpPr>
        <p:spPr>
          <a:xfrm>
            <a:off x="8913240" y="3328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3"/>
          <p:cNvSpPr/>
          <p:nvPr/>
        </p:nvSpPr>
        <p:spPr>
          <a:xfrm>
            <a:off x="900468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boolean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4"/>
          <p:cNvSpPr/>
          <p:nvPr/>
        </p:nvSpPr>
        <p:spPr>
          <a:xfrm>
            <a:off x="457200" y="3895200"/>
            <a:ext cx="2818440" cy="566640"/>
          </a:xfrm>
          <a:prstGeom prst="rect">
            <a:avLst/>
          </a:prstGeom>
          <a:solidFill>
            <a:srgbClr val="F1F3EC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35"/>
          <p:cNvSpPr/>
          <p:nvPr/>
        </p:nvSpPr>
        <p:spPr>
          <a:xfrm>
            <a:off x="54864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Single character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6"/>
          <p:cNvSpPr/>
          <p:nvPr/>
        </p:nvSpPr>
        <p:spPr>
          <a:xfrm>
            <a:off x="3276000" y="389520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37"/>
          <p:cNvSpPr/>
          <p:nvPr/>
        </p:nvSpPr>
        <p:spPr>
          <a:xfrm>
            <a:off x="336744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no separate type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8"/>
          <p:cNvSpPr/>
          <p:nvPr/>
        </p:nvSpPr>
        <p:spPr>
          <a:xfrm>
            <a:off x="6094440" y="389520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39"/>
          <p:cNvSpPr/>
          <p:nvPr/>
        </p:nvSpPr>
        <p:spPr>
          <a:xfrm>
            <a:off x="618588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char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0"/>
          <p:cNvSpPr/>
          <p:nvPr/>
        </p:nvSpPr>
        <p:spPr>
          <a:xfrm>
            <a:off x="8913240" y="389520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41"/>
          <p:cNvSpPr/>
          <p:nvPr/>
        </p:nvSpPr>
        <p:spPr>
          <a:xfrm>
            <a:off x="900468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char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2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0" descr="icons/exchang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Non-Primitive Types — Across Languages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45720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"/>
          <p:cNvSpPr/>
          <p:nvPr/>
        </p:nvSpPr>
        <p:spPr>
          <a:xfrm>
            <a:off x="45720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Concept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4"/>
          <p:cNvSpPr/>
          <p:nvPr/>
        </p:nvSpPr>
        <p:spPr>
          <a:xfrm>
            <a:off x="327600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327600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Python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609444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609444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8"/>
          <p:cNvSpPr/>
          <p:nvPr/>
        </p:nvSpPr>
        <p:spPr>
          <a:xfrm>
            <a:off x="8913240" y="1691640"/>
            <a:ext cx="2818440" cy="502560"/>
          </a:xfrm>
          <a:prstGeom prst="rect">
            <a:avLst/>
          </a:prstGeom>
          <a:solidFill>
            <a:srgbClr val="13312F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8913240" y="1691640"/>
            <a:ext cx="281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Java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457200" y="2194560"/>
            <a:ext cx="2818440" cy="56664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54864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Ordered collection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2"/>
          <p:cNvSpPr/>
          <p:nvPr/>
        </p:nvSpPr>
        <p:spPr>
          <a:xfrm>
            <a:off x="3275640" y="2194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336744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list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6094440" y="2194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618588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63" name="Shape 16"/>
          <p:cNvSpPr/>
          <p:nvPr/>
        </p:nvSpPr>
        <p:spPr>
          <a:xfrm>
            <a:off x="8913240" y="2194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9004680" y="2194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ArrayList / 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457200" y="2761560"/>
            <a:ext cx="2818440" cy="56664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54864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Fixed collection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0"/>
          <p:cNvSpPr/>
          <p:nvPr/>
        </p:nvSpPr>
        <p:spPr>
          <a:xfrm>
            <a:off x="3276000" y="2761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336744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tuple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69" name="Shape 22"/>
          <p:cNvSpPr/>
          <p:nvPr/>
        </p:nvSpPr>
        <p:spPr>
          <a:xfrm>
            <a:off x="6094440" y="2761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3"/>
          <p:cNvSpPr/>
          <p:nvPr/>
        </p:nvSpPr>
        <p:spPr>
          <a:xfrm>
            <a:off x="618588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const 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71" name="Shape 24"/>
          <p:cNvSpPr/>
          <p:nvPr/>
        </p:nvSpPr>
        <p:spPr>
          <a:xfrm>
            <a:off x="8913240" y="2761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9004680" y="2761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final </a:t>
            </a: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73" name="Shape 26"/>
          <p:cNvSpPr/>
          <p:nvPr/>
        </p:nvSpPr>
        <p:spPr>
          <a:xfrm>
            <a:off x="457200" y="3328560"/>
            <a:ext cx="2818440" cy="56664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7"/>
          <p:cNvSpPr/>
          <p:nvPr/>
        </p:nvSpPr>
        <p:spPr>
          <a:xfrm>
            <a:off x="54864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Key-value pairs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8"/>
          <p:cNvSpPr/>
          <p:nvPr/>
        </p:nvSpPr>
        <p:spPr>
          <a:xfrm>
            <a:off x="3276000" y="3328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9"/>
          <p:cNvSpPr/>
          <p:nvPr/>
        </p:nvSpPr>
        <p:spPr>
          <a:xfrm>
            <a:off x="336744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dict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77" name="Shape 30"/>
          <p:cNvSpPr/>
          <p:nvPr/>
        </p:nvSpPr>
        <p:spPr>
          <a:xfrm>
            <a:off x="6094440" y="3328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1"/>
          <p:cNvSpPr/>
          <p:nvPr/>
        </p:nvSpPr>
        <p:spPr>
          <a:xfrm>
            <a:off x="618588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no built-in (struct)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79" name="Shape 32"/>
          <p:cNvSpPr/>
          <p:nvPr/>
        </p:nvSpPr>
        <p:spPr>
          <a:xfrm>
            <a:off x="8913240" y="332856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3"/>
          <p:cNvSpPr/>
          <p:nvPr/>
        </p:nvSpPr>
        <p:spPr>
          <a:xfrm>
            <a:off x="9004680" y="332856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HashMap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1" name="Shape 34"/>
          <p:cNvSpPr/>
          <p:nvPr/>
        </p:nvSpPr>
        <p:spPr>
          <a:xfrm>
            <a:off x="457200" y="3895200"/>
            <a:ext cx="2818440" cy="566640"/>
          </a:xfrm>
          <a:prstGeom prst="rect">
            <a:avLst/>
          </a:prstGeom>
          <a:solidFill>
            <a:srgbClr val="EFDFB8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5"/>
          <p:cNvSpPr/>
          <p:nvPr/>
        </p:nvSpPr>
        <p:spPr>
          <a:xfrm>
            <a:off x="54864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Text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6"/>
          <p:cNvSpPr/>
          <p:nvPr/>
        </p:nvSpPr>
        <p:spPr>
          <a:xfrm>
            <a:off x="3276000" y="389520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7"/>
          <p:cNvSpPr/>
          <p:nvPr/>
        </p:nvSpPr>
        <p:spPr>
          <a:xfrm>
            <a:off x="336744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str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5" name="Shape 38"/>
          <p:cNvSpPr/>
          <p:nvPr/>
        </p:nvSpPr>
        <p:spPr>
          <a:xfrm>
            <a:off x="6094440" y="389520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9"/>
          <p:cNvSpPr/>
          <p:nvPr/>
        </p:nvSpPr>
        <p:spPr>
          <a:xfrm>
            <a:off x="618588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char array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7" name="Shape 40"/>
          <p:cNvSpPr/>
          <p:nvPr/>
        </p:nvSpPr>
        <p:spPr>
          <a:xfrm>
            <a:off x="8913240" y="3895200"/>
            <a:ext cx="281844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41"/>
          <p:cNvSpPr/>
          <p:nvPr/>
        </p:nvSpPr>
        <p:spPr>
          <a:xfrm>
            <a:off x="9004680" y="3895200"/>
            <a:ext cx="26355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String (an object!)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9" name="Text 42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4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0" descr="icons/boxopen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Pyth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on's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Twis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t: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Ever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ythi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ng Is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an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Obje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1" descr="icons/boxopen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Even 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single number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is an object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C and Java, primitive types are raw values sitting directly in memory — fast and simple, but rigid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Python, even a simple integer is secretly an object with extra information attached to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part of why Python feels more flexible and consistent, but runs a little slower than 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Proof you've already seen: type() works on every single value, even numbers — because everything truly is an object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0" descr="icons/fon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Where Do Strings Fit?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8" name="Image 1" descr="icons/font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little bit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of both worlds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Strings hold text, but they are technically an ordered sequence of characters, not one indivisible value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makes a string feel simple like a primitive, but structured enough to be indexed and sliced — just like a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We will go deeper on strings in an upcoming session — for today, just know they blur the line a little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" name="Image 0" descr="icons/thlis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Python's Data Structures — What's Coming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" name="Image 1" descr="icons/boxes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Today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2" descr="icons/lock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Today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3" descr="icons/font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String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Already introduced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Image 4" descr="icons/hashtag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Dictionary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Coming soon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Image 5" descr="icons/search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Coming soon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2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Image 0" descr="icons/checkdoub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Quick Recap: Primitive vs. Non-Primitive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8" name="Image 1" descr="icons/squar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3" name="Image 2" descr="icons/square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float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3" descr="icons/squar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bool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3" name="Image 4" descr="icons/boxopen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Non-Primitive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8" name="Image 5" descr="icons/boxopen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Non-Primitive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3"/>
          <p:cNvSpPr/>
          <p:nvPr/>
        </p:nvSpPr>
        <p:spPr>
          <a:xfrm>
            <a:off x="965448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Image 6" descr="icons/boxopen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Text 24"/>
          <p:cNvSpPr/>
          <p:nvPr/>
        </p:nvSpPr>
        <p:spPr>
          <a:xfrm>
            <a:off x="821736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dict / 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5"/>
          <p:cNvSpPr/>
          <p:nvPr/>
        </p:nvSpPr>
        <p:spPr>
          <a:xfrm>
            <a:off x="827244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Non-Primitive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1" name="Image 0" descr="icons/boxe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2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What Is a List?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7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 List Is a Row of Numbered Boxes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1" name="Image 1" descr="icons/boxes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Ordered.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Changeable.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Mixed types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allowed.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stores several values together, in one single variable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Each box has a position, called an index, starting at 0 — not 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can hold any data type, even mixed together in the same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Unlike a tuple (later today), a list can be changed after it's created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8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Creating a List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Square brackets [ ] create a list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Items are separated by commas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exact list — mixing int, int, and str — is completely valid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print(type(l1))   # &lt;class 'list'&gt;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Indexing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10" name="Shape 4"/>
          <p:cNvSpPr/>
          <p:nvPr/>
        </p:nvSpPr>
        <p:spPr>
          <a:xfrm>
            <a:off x="2926080" y="237744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2926080" y="237744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2926080" y="302652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7"/>
          <p:cNvSpPr/>
          <p:nvPr/>
        </p:nvSpPr>
        <p:spPr>
          <a:xfrm>
            <a:off x="4443840" y="237744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4443840" y="237744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9"/>
          <p:cNvSpPr/>
          <p:nvPr/>
        </p:nvSpPr>
        <p:spPr>
          <a:xfrm>
            <a:off x="4443840" y="302652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0"/>
          <p:cNvSpPr/>
          <p:nvPr/>
        </p:nvSpPr>
        <p:spPr>
          <a:xfrm>
            <a:off x="5961960" y="237744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1"/>
          <p:cNvSpPr/>
          <p:nvPr/>
        </p:nvSpPr>
        <p:spPr>
          <a:xfrm>
            <a:off x="5961960" y="237744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"</a:t>
            </a: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harry</a:t>
            </a: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2"/>
          <p:cNvSpPr/>
          <p:nvPr/>
        </p:nvSpPr>
        <p:spPr>
          <a:xfrm>
            <a:off x="5961960" y="302652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3"/>
          <p:cNvSpPr/>
          <p:nvPr/>
        </p:nvSpPr>
        <p:spPr>
          <a:xfrm>
            <a:off x="548640" y="3840480"/>
            <a:ext cx="11091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l1[0]  →  7      (the box at index 0)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l1[1]  →  9      (the box at index 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Indexes always start counting from 0, not 1 — this trips up almost everyone at first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3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Negative Indexing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3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27" name="Shape 4"/>
          <p:cNvSpPr/>
          <p:nvPr/>
        </p:nvSpPr>
        <p:spPr>
          <a:xfrm>
            <a:off x="2926080" y="265176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5"/>
          <p:cNvSpPr/>
          <p:nvPr/>
        </p:nvSpPr>
        <p:spPr>
          <a:xfrm>
            <a:off x="2926080" y="265176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6"/>
          <p:cNvSpPr/>
          <p:nvPr/>
        </p:nvSpPr>
        <p:spPr>
          <a:xfrm>
            <a:off x="2926080" y="330084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7"/>
          <p:cNvSpPr/>
          <p:nvPr/>
        </p:nvSpPr>
        <p:spPr>
          <a:xfrm>
            <a:off x="2926080" y="239580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98A2B"/>
                </a:solidFill>
                <a:effectLst/>
                <a:uFillTx/>
                <a:latin typeface="Consolas"/>
                <a:ea typeface="Consolas"/>
              </a:rPr>
              <a:t>-3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8"/>
          <p:cNvSpPr/>
          <p:nvPr/>
        </p:nvSpPr>
        <p:spPr>
          <a:xfrm>
            <a:off x="4443840" y="265176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9"/>
          <p:cNvSpPr/>
          <p:nvPr/>
        </p:nvSpPr>
        <p:spPr>
          <a:xfrm>
            <a:off x="4443840" y="265176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10"/>
          <p:cNvSpPr/>
          <p:nvPr/>
        </p:nvSpPr>
        <p:spPr>
          <a:xfrm>
            <a:off x="4443840" y="330084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1"/>
          <p:cNvSpPr/>
          <p:nvPr/>
        </p:nvSpPr>
        <p:spPr>
          <a:xfrm>
            <a:off x="4443840" y="239580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98A2B"/>
                </a:solidFill>
                <a:effectLst/>
                <a:uFillTx/>
                <a:latin typeface="Consolas"/>
                <a:ea typeface="Consolas"/>
              </a:rPr>
              <a:t>-2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12"/>
          <p:cNvSpPr/>
          <p:nvPr/>
        </p:nvSpPr>
        <p:spPr>
          <a:xfrm>
            <a:off x="5961960" y="265176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3"/>
          <p:cNvSpPr/>
          <p:nvPr/>
        </p:nvSpPr>
        <p:spPr>
          <a:xfrm>
            <a:off x="5961960" y="265176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"harry"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37" name="Text 14"/>
          <p:cNvSpPr/>
          <p:nvPr/>
        </p:nvSpPr>
        <p:spPr>
          <a:xfrm>
            <a:off x="5961960" y="330084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5"/>
          <p:cNvSpPr/>
          <p:nvPr/>
        </p:nvSpPr>
        <p:spPr>
          <a:xfrm>
            <a:off x="5961960" y="239580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98A2B"/>
                </a:solidFill>
                <a:effectLst/>
                <a:uFillTx/>
                <a:latin typeface="Consolas"/>
                <a:ea typeface="Consolas"/>
              </a:rPr>
              <a:t>-1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6"/>
          <p:cNvSpPr/>
          <p:nvPr/>
        </p:nvSpPr>
        <p:spPr>
          <a:xfrm>
            <a:off x="548640" y="4023360"/>
            <a:ext cx="11091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Negative indexes count backward from the end — -1 is always the last item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l1[-1]  →  "harry"       l1[-2]  →  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Useful when you want "the last item" without needing to know the list's length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Out-of-Range: A Very Normal Error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of 3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only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has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valid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xes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0, 1,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Aski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ng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does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exist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raise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an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xErro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plete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ly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nor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mal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read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error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fix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x,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mov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print(l1[70])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IndexError: list index out of range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49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icons/cu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Slic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2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[7, 9, "harry"]  -&gt;  l1[0:2]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56" name="Shape 4"/>
          <p:cNvSpPr/>
          <p:nvPr/>
        </p:nvSpPr>
        <p:spPr>
          <a:xfrm>
            <a:off x="2926080" y="237744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2926080" y="237744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"/>
          <p:cNvSpPr/>
          <p:nvPr/>
        </p:nvSpPr>
        <p:spPr>
          <a:xfrm>
            <a:off x="2926080" y="302652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7"/>
          <p:cNvSpPr/>
          <p:nvPr/>
        </p:nvSpPr>
        <p:spPr>
          <a:xfrm>
            <a:off x="4443840" y="237744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8"/>
          <p:cNvSpPr/>
          <p:nvPr/>
        </p:nvSpPr>
        <p:spPr>
          <a:xfrm>
            <a:off x="4443840" y="237744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9"/>
          <p:cNvSpPr/>
          <p:nvPr/>
        </p:nvSpPr>
        <p:spPr>
          <a:xfrm>
            <a:off x="4443840" y="302652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0"/>
          <p:cNvSpPr/>
          <p:nvPr/>
        </p:nvSpPr>
        <p:spPr>
          <a:xfrm>
            <a:off x="5961960" y="2377440"/>
            <a:ext cx="146268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11"/>
          <p:cNvSpPr/>
          <p:nvPr/>
        </p:nvSpPr>
        <p:spPr>
          <a:xfrm>
            <a:off x="5961960" y="2377440"/>
            <a:ext cx="1462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antarell"/>
                <a:ea typeface="Consolas"/>
              </a:rPr>
              <a:t>"harry"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64" name="Text 12"/>
          <p:cNvSpPr/>
          <p:nvPr/>
        </p:nvSpPr>
        <p:spPr>
          <a:xfrm>
            <a:off x="5961960" y="3026520"/>
            <a:ext cx="1462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13"/>
          <p:cNvSpPr/>
          <p:nvPr/>
        </p:nvSpPr>
        <p:spPr>
          <a:xfrm>
            <a:off x="548640" y="3840480"/>
            <a:ext cx="11091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slice l1[start:stop] grabs a whole range of items at once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l1[0:2]  →  [7, 9]      — starts at index 0, stops right before index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highlighted boxes are what gets included — the "stop" index itself is never included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0" descr="icons/ruler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len() — How Many Items?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len()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tells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ly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how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man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are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 a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Very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usef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ul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king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list's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size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befo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work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ing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print(len(l1))   # 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75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icons/sort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LIST METHODS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Before &amp; After — Watch the List Change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Every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method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below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uses the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same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starting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list: l1 =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[1, 8, 7,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2, 21, </a:t>
            </a: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15]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Shape 0"/>
          <p:cNvSpPr/>
          <p:nvPr/>
        </p:nvSpPr>
        <p:spPr>
          <a:xfrm>
            <a:off x="-1828800" y="521208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.append(8) — Add to the End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4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l1.append(8)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5486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6"/>
          <p:cNvSpPr/>
          <p:nvPr/>
        </p:nvSpPr>
        <p:spPr>
          <a:xfrm>
            <a:off x="5486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7"/>
          <p:cNvSpPr/>
          <p:nvPr/>
        </p:nvSpPr>
        <p:spPr>
          <a:xfrm>
            <a:off x="5486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8"/>
          <p:cNvSpPr/>
          <p:nvPr/>
        </p:nvSpPr>
        <p:spPr>
          <a:xfrm>
            <a:off x="5486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9"/>
          <p:cNvSpPr/>
          <p:nvPr/>
        </p:nvSpPr>
        <p:spPr>
          <a:xfrm>
            <a:off x="1353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0"/>
          <p:cNvSpPr/>
          <p:nvPr/>
        </p:nvSpPr>
        <p:spPr>
          <a:xfrm>
            <a:off x="1353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1"/>
          <p:cNvSpPr/>
          <p:nvPr/>
        </p:nvSpPr>
        <p:spPr>
          <a:xfrm>
            <a:off x="1353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2"/>
          <p:cNvSpPr/>
          <p:nvPr/>
        </p:nvSpPr>
        <p:spPr>
          <a:xfrm>
            <a:off x="2157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3"/>
          <p:cNvSpPr/>
          <p:nvPr/>
        </p:nvSpPr>
        <p:spPr>
          <a:xfrm>
            <a:off x="2157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4"/>
          <p:cNvSpPr/>
          <p:nvPr/>
        </p:nvSpPr>
        <p:spPr>
          <a:xfrm>
            <a:off x="2157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5"/>
          <p:cNvSpPr/>
          <p:nvPr/>
        </p:nvSpPr>
        <p:spPr>
          <a:xfrm>
            <a:off x="29628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6"/>
          <p:cNvSpPr/>
          <p:nvPr/>
        </p:nvSpPr>
        <p:spPr>
          <a:xfrm>
            <a:off x="29628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7"/>
          <p:cNvSpPr/>
          <p:nvPr/>
        </p:nvSpPr>
        <p:spPr>
          <a:xfrm>
            <a:off x="29628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8"/>
          <p:cNvSpPr/>
          <p:nvPr/>
        </p:nvSpPr>
        <p:spPr>
          <a:xfrm>
            <a:off x="3767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9"/>
          <p:cNvSpPr/>
          <p:nvPr/>
        </p:nvSpPr>
        <p:spPr>
          <a:xfrm>
            <a:off x="3767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0"/>
          <p:cNvSpPr/>
          <p:nvPr/>
        </p:nvSpPr>
        <p:spPr>
          <a:xfrm>
            <a:off x="3767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1"/>
          <p:cNvSpPr/>
          <p:nvPr/>
        </p:nvSpPr>
        <p:spPr>
          <a:xfrm>
            <a:off x="4572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2"/>
          <p:cNvSpPr/>
          <p:nvPr/>
        </p:nvSpPr>
        <p:spPr>
          <a:xfrm>
            <a:off x="4572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3"/>
          <p:cNvSpPr/>
          <p:nvPr/>
        </p:nvSpPr>
        <p:spPr>
          <a:xfrm>
            <a:off x="4572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4"/>
          <p:cNvSpPr/>
          <p:nvPr/>
        </p:nvSpPr>
        <p:spPr>
          <a:xfrm>
            <a:off x="5806440" y="24688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5"/>
          <p:cNvSpPr/>
          <p:nvPr/>
        </p:nvSpPr>
        <p:spPr>
          <a:xfrm>
            <a:off x="64922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26"/>
          <p:cNvSpPr/>
          <p:nvPr/>
        </p:nvSpPr>
        <p:spPr>
          <a:xfrm>
            <a:off x="6492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7"/>
          <p:cNvSpPr/>
          <p:nvPr/>
        </p:nvSpPr>
        <p:spPr>
          <a:xfrm>
            <a:off x="6492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8"/>
          <p:cNvSpPr/>
          <p:nvPr/>
        </p:nvSpPr>
        <p:spPr>
          <a:xfrm>
            <a:off x="6492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29"/>
          <p:cNvSpPr/>
          <p:nvPr/>
        </p:nvSpPr>
        <p:spPr>
          <a:xfrm>
            <a:off x="7296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0"/>
          <p:cNvSpPr/>
          <p:nvPr/>
        </p:nvSpPr>
        <p:spPr>
          <a:xfrm>
            <a:off x="7296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31"/>
          <p:cNvSpPr/>
          <p:nvPr/>
        </p:nvSpPr>
        <p:spPr>
          <a:xfrm>
            <a:off x="7296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2"/>
          <p:cNvSpPr/>
          <p:nvPr/>
        </p:nvSpPr>
        <p:spPr>
          <a:xfrm>
            <a:off x="81014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3"/>
          <p:cNvSpPr/>
          <p:nvPr/>
        </p:nvSpPr>
        <p:spPr>
          <a:xfrm>
            <a:off x="81014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4"/>
          <p:cNvSpPr/>
          <p:nvPr/>
        </p:nvSpPr>
        <p:spPr>
          <a:xfrm>
            <a:off x="81014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35"/>
          <p:cNvSpPr/>
          <p:nvPr/>
        </p:nvSpPr>
        <p:spPr>
          <a:xfrm>
            <a:off x="8906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36"/>
          <p:cNvSpPr/>
          <p:nvPr/>
        </p:nvSpPr>
        <p:spPr>
          <a:xfrm>
            <a:off x="8906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37"/>
          <p:cNvSpPr/>
          <p:nvPr/>
        </p:nvSpPr>
        <p:spPr>
          <a:xfrm>
            <a:off x="8906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38"/>
          <p:cNvSpPr/>
          <p:nvPr/>
        </p:nvSpPr>
        <p:spPr>
          <a:xfrm>
            <a:off x="9711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39"/>
          <p:cNvSpPr/>
          <p:nvPr/>
        </p:nvSpPr>
        <p:spPr>
          <a:xfrm>
            <a:off x="9711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40"/>
          <p:cNvSpPr/>
          <p:nvPr/>
        </p:nvSpPr>
        <p:spPr>
          <a:xfrm>
            <a:off x="9711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41"/>
          <p:cNvSpPr/>
          <p:nvPr/>
        </p:nvSpPr>
        <p:spPr>
          <a:xfrm>
            <a:off x="105156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42"/>
          <p:cNvSpPr/>
          <p:nvPr/>
        </p:nvSpPr>
        <p:spPr>
          <a:xfrm>
            <a:off x="105156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43"/>
          <p:cNvSpPr/>
          <p:nvPr/>
        </p:nvSpPr>
        <p:spPr>
          <a:xfrm>
            <a:off x="105156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44"/>
          <p:cNvSpPr/>
          <p:nvPr/>
        </p:nvSpPr>
        <p:spPr>
          <a:xfrm>
            <a:off x="113202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45"/>
          <p:cNvSpPr/>
          <p:nvPr/>
        </p:nvSpPr>
        <p:spPr>
          <a:xfrm>
            <a:off x="113202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46"/>
          <p:cNvSpPr/>
          <p:nvPr/>
        </p:nvSpPr>
        <p:spPr>
          <a:xfrm>
            <a:off x="113202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47"/>
          <p:cNvSpPr/>
          <p:nvPr/>
        </p:nvSpPr>
        <p:spPr>
          <a:xfrm>
            <a:off x="548640" y="3977640"/>
            <a:ext cx="11091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append() always adds the new item at the very end of the list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list grows by exactly one item, and nothing else moves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48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Tuples  ·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Session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4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Shape 0"/>
          <p:cNvSpPr/>
          <p:nvPr/>
        </p:nvSpPr>
        <p:spPr>
          <a:xfrm>
            <a:off x="-1828800" y="521208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8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.insert(3, 8) — Add at a Specific Spot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4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l1.insert(3, 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42" name="Text 5"/>
          <p:cNvSpPr/>
          <p:nvPr/>
        </p:nvSpPr>
        <p:spPr>
          <a:xfrm>
            <a:off x="5486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6"/>
          <p:cNvSpPr/>
          <p:nvPr/>
        </p:nvSpPr>
        <p:spPr>
          <a:xfrm>
            <a:off x="5486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7"/>
          <p:cNvSpPr/>
          <p:nvPr/>
        </p:nvSpPr>
        <p:spPr>
          <a:xfrm>
            <a:off x="5486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8"/>
          <p:cNvSpPr/>
          <p:nvPr/>
        </p:nvSpPr>
        <p:spPr>
          <a:xfrm>
            <a:off x="5486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9"/>
          <p:cNvSpPr/>
          <p:nvPr/>
        </p:nvSpPr>
        <p:spPr>
          <a:xfrm>
            <a:off x="1353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0"/>
          <p:cNvSpPr/>
          <p:nvPr/>
        </p:nvSpPr>
        <p:spPr>
          <a:xfrm>
            <a:off x="1353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1"/>
          <p:cNvSpPr/>
          <p:nvPr/>
        </p:nvSpPr>
        <p:spPr>
          <a:xfrm>
            <a:off x="1353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2"/>
          <p:cNvSpPr/>
          <p:nvPr/>
        </p:nvSpPr>
        <p:spPr>
          <a:xfrm>
            <a:off x="2157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3"/>
          <p:cNvSpPr/>
          <p:nvPr/>
        </p:nvSpPr>
        <p:spPr>
          <a:xfrm>
            <a:off x="2157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4"/>
          <p:cNvSpPr/>
          <p:nvPr/>
        </p:nvSpPr>
        <p:spPr>
          <a:xfrm>
            <a:off x="2157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5"/>
          <p:cNvSpPr/>
          <p:nvPr/>
        </p:nvSpPr>
        <p:spPr>
          <a:xfrm>
            <a:off x="29628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6"/>
          <p:cNvSpPr/>
          <p:nvPr/>
        </p:nvSpPr>
        <p:spPr>
          <a:xfrm>
            <a:off x="29628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7"/>
          <p:cNvSpPr/>
          <p:nvPr/>
        </p:nvSpPr>
        <p:spPr>
          <a:xfrm>
            <a:off x="29628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8"/>
          <p:cNvSpPr/>
          <p:nvPr/>
        </p:nvSpPr>
        <p:spPr>
          <a:xfrm>
            <a:off x="3767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9"/>
          <p:cNvSpPr/>
          <p:nvPr/>
        </p:nvSpPr>
        <p:spPr>
          <a:xfrm>
            <a:off x="3767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0"/>
          <p:cNvSpPr/>
          <p:nvPr/>
        </p:nvSpPr>
        <p:spPr>
          <a:xfrm>
            <a:off x="3767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1"/>
          <p:cNvSpPr/>
          <p:nvPr/>
        </p:nvSpPr>
        <p:spPr>
          <a:xfrm>
            <a:off x="4572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22"/>
          <p:cNvSpPr/>
          <p:nvPr/>
        </p:nvSpPr>
        <p:spPr>
          <a:xfrm>
            <a:off x="4572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3"/>
          <p:cNvSpPr/>
          <p:nvPr/>
        </p:nvSpPr>
        <p:spPr>
          <a:xfrm>
            <a:off x="4572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24"/>
          <p:cNvSpPr/>
          <p:nvPr/>
        </p:nvSpPr>
        <p:spPr>
          <a:xfrm>
            <a:off x="5806440" y="24688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25"/>
          <p:cNvSpPr/>
          <p:nvPr/>
        </p:nvSpPr>
        <p:spPr>
          <a:xfrm>
            <a:off x="64922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6"/>
          <p:cNvSpPr/>
          <p:nvPr/>
        </p:nvSpPr>
        <p:spPr>
          <a:xfrm>
            <a:off x="6492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7"/>
          <p:cNvSpPr/>
          <p:nvPr/>
        </p:nvSpPr>
        <p:spPr>
          <a:xfrm>
            <a:off x="6492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28"/>
          <p:cNvSpPr/>
          <p:nvPr/>
        </p:nvSpPr>
        <p:spPr>
          <a:xfrm>
            <a:off x="6492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29"/>
          <p:cNvSpPr/>
          <p:nvPr/>
        </p:nvSpPr>
        <p:spPr>
          <a:xfrm>
            <a:off x="7296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30"/>
          <p:cNvSpPr/>
          <p:nvPr/>
        </p:nvSpPr>
        <p:spPr>
          <a:xfrm>
            <a:off x="7296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31"/>
          <p:cNvSpPr/>
          <p:nvPr/>
        </p:nvSpPr>
        <p:spPr>
          <a:xfrm>
            <a:off x="7296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32"/>
          <p:cNvSpPr/>
          <p:nvPr/>
        </p:nvSpPr>
        <p:spPr>
          <a:xfrm>
            <a:off x="81014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3"/>
          <p:cNvSpPr/>
          <p:nvPr/>
        </p:nvSpPr>
        <p:spPr>
          <a:xfrm>
            <a:off x="81014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34"/>
          <p:cNvSpPr/>
          <p:nvPr/>
        </p:nvSpPr>
        <p:spPr>
          <a:xfrm>
            <a:off x="81014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35"/>
          <p:cNvSpPr/>
          <p:nvPr/>
        </p:nvSpPr>
        <p:spPr>
          <a:xfrm>
            <a:off x="8906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36"/>
          <p:cNvSpPr/>
          <p:nvPr/>
        </p:nvSpPr>
        <p:spPr>
          <a:xfrm>
            <a:off x="8906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37"/>
          <p:cNvSpPr/>
          <p:nvPr/>
        </p:nvSpPr>
        <p:spPr>
          <a:xfrm>
            <a:off x="8906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38"/>
          <p:cNvSpPr/>
          <p:nvPr/>
        </p:nvSpPr>
        <p:spPr>
          <a:xfrm>
            <a:off x="9711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39"/>
          <p:cNvSpPr/>
          <p:nvPr/>
        </p:nvSpPr>
        <p:spPr>
          <a:xfrm>
            <a:off x="9711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40"/>
          <p:cNvSpPr/>
          <p:nvPr/>
        </p:nvSpPr>
        <p:spPr>
          <a:xfrm>
            <a:off x="9711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41"/>
          <p:cNvSpPr/>
          <p:nvPr/>
        </p:nvSpPr>
        <p:spPr>
          <a:xfrm>
            <a:off x="105156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42"/>
          <p:cNvSpPr/>
          <p:nvPr/>
        </p:nvSpPr>
        <p:spPr>
          <a:xfrm>
            <a:off x="105156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43"/>
          <p:cNvSpPr/>
          <p:nvPr/>
        </p:nvSpPr>
        <p:spPr>
          <a:xfrm>
            <a:off x="105156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44"/>
          <p:cNvSpPr/>
          <p:nvPr/>
        </p:nvSpPr>
        <p:spPr>
          <a:xfrm>
            <a:off x="113202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45"/>
          <p:cNvSpPr/>
          <p:nvPr/>
        </p:nvSpPr>
        <p:spPr>
          <a:xfrm>
            <a:off x="113202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6"/>
          <p:cNvSpPr/>
          <p:nvPr/>
        </p:nvSpPr>
        <p:spPr>
          <a:xfrm>
            <a:off x="113202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47"/>
          <p:cNvSpPr/>
          <p:nvPr/>
        </p:nvSpPr>
        <p:spPr>
          <a:xfrm>
            <a:off x="548640" y="3977640"/>
            <a:ext cx="11091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inser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t(ind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ex,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e)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push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new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into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posit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Ever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ythin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was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alrea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dy 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or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after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shift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spot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right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48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49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0"/>
          <p:cNvSpPr/>
          <p:nvPr/>
        </p:nvSpPr>
        <p:spPr>
          <a:xfrm>
            <a:off x="-1828800" y="521208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9" name="Image 0" descr="icons/min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.pop(2) — Remove by Position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3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4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l1.pop(2)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493" name="Text 5"/>
          <p:cNvSpPr/>
          <p:nvPr/>
        </p:nvSpPr>
        <p:spPr>
          <a:xfrm>
            <a:off x="5486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6"/>
          <p:cNvSpPr/>
          <p:nvPr/>
        </p:nvSpPr>
        <p:spPr>
          <a:xfrm>
            <a:off x="5486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7"/>
          <p:cNvSpPr/>
          <p:nvPr/>
        </p:nvSpPr>
        <p:spPr>
          <a:xfrm>
            <a:off x="5486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8"/>
          <p:cNvSpPr/>
          <p:nvPr/>
        </p:nvSpPr>
        <p:spPr>
          <a:xfrm>
            <a:off x="5486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9"/>
          <p:cNvSpPr/>
          <p:nvPr/>
        </p:nvSpPr>
        <p:spPr>
          <a:xfrm>
            <a:off x="1353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0"/>
          <p:cNvSpPr/>
          <p:nvPr/>
        </p:nvSpPr>
        <p:spPr>
          <a:xfrm>
            <a:off x="1353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1"/>
          <p:cNvSpPr/>
          <p:nvPr/>
        </p:nvSpPr>
        <p:spPr>
          <a:xfrm>
            <a:off x="1353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2"/>
          <p:cNvSpPr/>
          <p:nvPr/>
        </p:nvSpPr>
        <p:spPr>
          <a:xfrm>
            <a:off x="2157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E9C3BE"/>
          </a:solidFill>
          <a:ln w="19050">
            <a:solidFill>
              <a:srgbClr val="A54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3"/>
          <p:cNvSpPr/>
          <p:nvPr/>
        </p:nvSpPr>
        <p:spPr>
          <a:xfrm>
            <a:off x="2157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5473F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4"/>
          <p:cNvSpPr/>
          <p:nvPr/>
        </p:nvSpPr>
        <p:spPr>
          <a:xfrm>
            <a:off x="2157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5"/>
          <p:cNvSpPr/>
          <p:nvPr/>
        </p:nvSpPr>
        <p:spPr>
          <a:xfrm>
            <a:off x="29628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6"/>
          <p:cNvSpPr/>
          <p:nvPr/>
        </p:nvSpPr>
        <p:spPr>
          <a:xfrm>
            <a:off x="29628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7"/>
          <p:cNvSpPr/>
          <p:nvPr/>
        </p:nvSpPr>
        <p:spPr>
          <a:xfrm>
            <a:off x="29628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8"/>
          <p:cNvSpPr/>
          <p:nvPr/>
        </p:nvSpPr>
        <p:spPr>
          <a:xfrm>
            <a:off x="3767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9"/>
          <p:cNvSpPr/>
          <p:nvPr/>
        </p:nvSpPr>
        <p:spPr>
          <a:xfrm>
            <a:off x="3767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0"/>
          <p:cNvSpPr/>
          <p:nvPr/>
        </p:nvSpPr>
        <p:spPr>
          <a:xfrm>
            <a:off x="3767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21"/>
          <p:cNvSpPr/>
          <p:nvPr/>
        </p:nvSpPr>
        <p:spPr>
          <a:xfrm>
            <a:off x="4572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2"/>
          <p:cNvSpPr/>
          <p:nvPr/>
        </p:nvSpPr>
        <p:spPr>
          <a:xfrm>
            <a:off x="4572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3"/>
          <p:cNvSpPr/>
          <p:nvPr/>
        </p:nvSpPr>
        <p:spPr>
          <a:xfrm>
            <a:off x="4572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24"/>
          <p:cNvSpPr/>
          <p:nvPr/>
        </p:nvSpPr>
        <p:spPr>
          <a:xfrm>
            <a:off x="5806440" y="24688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5"/>
          <p:cNvSpPr/>
          <p:nvPr/>
        </p:nvSpPr>
        <p:spPr>
          <a:xfrm>
            <a:off x="64922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6"/>
          <p:cNvSpPr/>
          <p:nvPr/>
        </p:nvSpPr>
        <p:spPr>
          <a:xfrm>
            <a:off x="6492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7"/>
          <p:cNvSpPr/>
          <p:nvPr/>
        </p:nvSpPr>
        <p:spPr>
          <a:xfrm>
            <a:off x="6492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28"/>
          <p:cNvSpPr/>
          <p:nvPr/>
        </p:nvSpPr>
        <p:spPr>
          <a:xfrm>
            <a:off x="6492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29"/>
          <p:cNvSpPr/>
          <p:nvPr/>
        </p:nvSpPr>
        <p:spPr>
          <a:xfrm>
            <a:off x="7296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30"/>
          <p:cNvSpPr/>
          <p:nvPr/>
        </p:nvSpPr>
        <p:spPr>
          <a:xfrm>
            <a:off x="7296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31"/>
          <p:cNvSpPr/>
          <p:nvPr/>
        </p:nvSpPr>
        <p:spPr>
          <a:xfrm>
            <a:off x="7296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32"/>
          <p:cNvSpPr/>
          <p:nvPr/>
        </p:nvSpPr>
        <p:spPr>
          <a:xfrm>
            <a:off x="81014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3"/>
          <p:cNvSpPr/>
          <p:nvPr/>
        </p:nvSpPr>
        <p:spPr>
          <a:xfrm>
            <a:off x="81014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34"/>
          <p:cNvSpPr/>
          <p:nvPr/>
        </p:nvSpPr>
        <p:spPr>
          <a:xfrm>
            <a:off x="81014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35"/>
          <p:cNvSpPr/>
          <p:nvPr/>
        </p:nvSpPr>
        <p:spPr>
          <a:xfrm>
            <a:off x="8906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36"/>
          <p:cNvSpPr/>
          <p:nvPr/>
        </p:nvSpPr>
        <p:spPr>
          <a:xfrm>
            <a:off x="8906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37"/>
          <p:cNvSpPr/>
          <p:nvPr/>
        </p:nvSpPr>
        <p:spPr>
          <a:xfrm>
            <a:off x="8906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38"/>
          <p:cNvSpPr/>
          <p:nvPr/>
        </p:nvSpPr>
        <p:spPr>
          <a:xfrm>
            <a:off x="9711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9"/>
          <p:cNvSpPr/>
          <p:nvPr/>
        </p:nvSpPr>
        <p:spPr>
          <a:xfrm>
            <a:off x="9711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40"/>
          <p:cNvSpPr/>
          <p:nvPr/>
        </p:nvSpPr>
        <p:spPr>
          <a:xfrm>
            <a:off x="9711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41"/>
          <p:cNvSpPr/>
          <p:nvPr/>
        </p:nvSpPr>
        <p:spPr>
          <a:xfrm>
            <a:off x="548640" y="352044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l1.pop(2) removes the item at index 2, shifts everything after it left, and RETURNS the removed value → 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42"/>
          <p:cNvSpPr/>
          <p:nvPr/>
        </p:nvSpPr>
        <p:spPr>
          <a:xfrm>
            <a:off x="548640" y="3977640"/>
            <a:ext cx="11091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pop() is the only removal method that gives the value back to you — you can store it in a variable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Without an index, pop() removes the last item by default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43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44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Shape 0"/>
          <p:cNvSpPr/>
          <p:nvPr/>
        </p:nvSpPr>
        <p:spPr>
          <a:xfrm>
            <a:off x="-1828800" y="521208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5" name="Image 0" descr="icons/min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.remove(21) — Remove by Value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3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4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l1.remove(21)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39" name="Text 5"/>
          <p:cNvSpPr/>
          <p:nvPr/>
        </p:nvSpPr>
        <p:spPr>
          <a:xfrm>
            <a:off x="5486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6"/>
          <p:cNvSpPr/>
          <p:nvPr/>
        </p:nvSpPr>
        <p:spPr>
          <a:xfrm>
            <a:off x="5486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7"/>
          <p:cNvSpPr/>
          <p:nvPr/>
        </p:nvSpPr>
        <p:spPr>
          <a:xfrm>
            <a:off x="5486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8"/>
          <p:cNvSpPr/>
          <p:nvPr/>
        </p:nvSpPr>
        <p:spPr>
          <a:xfrm>
            <a:off x="5486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9"/>
          <p:cNvSpPr/>
          <p:nvPr/>
        </p:nvSpPr>
        <p:spPr>
          <a:xfrm>
            <a:off x="1353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0"/>
          <p:cNvSpPr/>
          <p:nvPr/>
        </p:nvSpPr>
        <p:spPr>
          <a:xfrm>
            <a:off x="1353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11"/>
          <p:cNvSpPr/>
          <p:nvPr/>
        </p:nvSpPr>
        <p:spPr>
          <a:xfrm>
            <a:off x="1353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12"/>
          <p:cNvSpPr/>
          <p:nvPr/>
        </p:nvSpPr>
        <p:spPr>
          <a:xfrm>
            <a:off x="2157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3"/>
          <p:cNvSpPr/>
          <p:nvPr/>
        </p:nvSpPr>
        <p:spPr>
          <a:xfrm>
            <a:off x="2157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4"/>
          <p:cNvSpPr/>
          <p:nvPr/>
        </p:nvSpPr>
        <p:spPr>
          <a:xfrm>
            <a:off x="2157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5"/>
          <p:cNvSpPr/>
          <p:nvPr/>
        </p:nvSpPr>
        <p:spPr>
          <a:xfrm>
            <a:off x="29628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6"/>
          <p:cNvSpPr/>
          <p:nvPr/>
        </p:nvSpPr>
        <p:spPr>
          <a:xfrm>
            <a:off x="29628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7"/>
          <p:cNvSpPr/>
          <p:nvPr/>
        </p:nvSpPr>
        <p:spPr>
          <a:xfrm>
            <a:off x="29628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18"/>
          <p:cNvSpPr/>
          <p:nvPr/>
        </p:nvSpPr>
        <p:spPr>
          <a:xfrm>
            <a:off x="3767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E9C3BE"/>
          </a:solidFill>
          <a:ln w="19050">
            <a:solidFill>
              <a:srgbClr val="A547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9"/>
          <p:cNvSpPr/>
          <p:nvPr/>
        </p:nvSpPr>
        <p:spPr>
          <a:xfrm>
            <a:off x="3767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A5473F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0"/>
          <p:cNvSpPr/>
          <p:nvPr/>
        </p:nvSpPr>
        <p:spPr>
          <a:xfrm>
            <a:off x="3767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1"/>
          <p:cNvSpPr/>
          <p:nvPr/>
        </p:nvSpPr>
        <p:spPr>
          <a:xfrm>
            <a:off x="4572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2"/>
          <p:cNvSpPr/>
          <p:nvPr/>
        </p:nvSpPr>
        <p:spPr>
          <a:xfrm>
            <a:off x="4572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23"/>
          <p:cNvSpPr/>
          <p:nvPr/>
        </p:nvSpPr>
        <p:spPr>
          <a:xfrm>
            <a:off x="4572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4"/>
          <p:cNvSpPr/>
          <p:nvPr/>
        </p:nvSpPr>
        <p:spPr>
          <a:xfrm>
            <a:off x="5806440" y="24688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25"/>
          <p:cNvSpPr/>
          <p:nvPr/>
        </p:nvSpPr>
        <p:spPr>
          <a:xfrm>
            <a:off x="64922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26"/>
          <p:cNvSpPr/>
          <p:nvPr/>
        </p:nvSpPr>
        <p:spPr>
          <a:xfrm>
            <a:off x="6492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27"/>
          <p:cNvSpPr/>
          <p:nvPr/>
        </p:nvSpPr>
        <p:spPr>
          <a:xfrm>
            <a:off x="6492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8"/>
          <p:cNvSpPr/>
          <p:nvPr/>
        </p:nvSpPr>
        <p:spPr>
          <a:xfrm>
            <a:off x="6492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9"/>
          <p:cNvSpPr/>
          <p:nvPr/>
        </p:nvSpPr>
        <p:spPr>
          <a:xfrm>
            <a:off x="7296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0"/>
          <p:cNvSpPr/>
          <p:nvPr/>
        </p:nvSpPr>
        <p:spPr>
          <a:xfrm>
            <a:off x="7296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31"/>
          <p:cNvSpPr/>
          <p:nvPr/>
        </p:nvSpPr>
        <p:spPr>
          <a:xfrm>
            <a:off x="7296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2"/>
          <p:cNvSpPr/>
          <p:nvPr/>
        </p:nvSpPr>
        <p:spPr>
          <a:xfrm>
            <a:off x="81014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3"/>
          <p:cNvSpPr/>
          <p:nvPr/>
        </p:nvSpPr>
        <p:spPr>
          <a:xfrm>
            <a:off x="81014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34"/>
          <p:cNvSpPr/>
          <p:nvPr/>
        </p:nvSpPr>
        <p:spPr>
          <a:xfrm>
            <a:off x="81014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35"/>
          <p:cNvSpPr/>
          <p:nvPr/>
        </p:nvSpPr>
        <p:spPr>
          <a:xfrm>
            <a:off x="8906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36"/>
          <p:cNvSpPr/>
          <p:nvPr/>
        </p:nvSpPr>
        <p:spPr>
          <a:xfrm>
            <a:off x="8906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37"/>
          <p:cNvSpPr/>
          <p:nvPr/>
        </p:nvSpPr>
        <p:spPr>
          <a:xfrm>
            <a:off x="8906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38"/>
          <p:cNvSpPr/>
          <p:nvPr/>
        </p:nvSpPr>
        <p:spPr>
          <a:xfrm>
            <a:off x="9711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39"/>
          <p:cNvSpPr/>
          <p:nvPr/>
        </p:nvSpPr>
        <p:spPr>
          <a:xfrm>
            <a:off x="9711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40"/>
          <p:cNvSpPr/>
          <p:nvPr/>
        </p:nvSpPr>
        <p:spPr>
          <a:xfrm>
            <a:off x="9711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41"/>
          <p:cNvSpPr/>
          <p:nvPr/>
        </p:nvSpPr>
        <p:spPr>
          <a:xfrm>
            <a:off x="548640" y="3977640"/>
            <a:ext cx="11091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ve()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searc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hes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for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first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matc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hes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gave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it,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and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delet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appe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ars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more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than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once,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only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first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matc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 is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remo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If the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value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is not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foun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 at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all,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Pyth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raise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a 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Value</a:t>
            </a: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Error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42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43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0"/>
          <p:cNvSpPr/>
          <p:nvPr/>
        </p:nvSpPr>
        <p:spPr>
          <a:xfrm>
            <a:off x="-1828800" y="521208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0" name="Image 0" descr="icons/so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.sort() — Reorder Smallest to Largest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3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4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l1.sort()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584" name="Text 5"/>
          <p:cNvSpPr/>
          <p:nvPr/>
        </p:nvSpPr>
        <p:spPr>
          <a:xfrm>
            <a:off x="5486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6"/>
          <p:cNvSpPr/>
          <p:nvPr/>
        </p:nvSpPr>
        <p:spPr>
          <a:xfrm>
            <a:off x="5486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7"/>
          <p:cNvSpPr/>
          <p:nvPr/>
        </p:nvSpPr>
        <p:spPr>
          <a:xfrm>
            <a:off x="5486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8"/>
          <p:cNvSpPr/>
          <p:nvPr/>
        </p:nvSpPr>
        <p:spPr>
          <a:xfrm>
            <a:off x="5486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9"/>
          <p:cNvSpPr/>
          <p:nvPr/>
        </p:nvSpPr>
        <p:spPr>
          <a:xfrm>
            <a:off x="1353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0"/>
          <p:cNvSpPr/>
          <p:nvPr/>
        </p:nvSpPr>
        <p:spPr>
          <a:xfrm>
            <a:off x="1353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11"/>
          <p:cNvSpPr/>
          <p:nvPr/>
        </p:nvSpPr>
        <p:spPr>
          <a:xfrm>
            <a:off x="1353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2"/>
          <p:cNvSpPr/>
          <p:nvPr/>
        </p:nvSpPr>
        <p:spPr>
          <a:xfrm>
            <a:off x="2157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3"/>
          <p:cNvSpPr/>
          <p:nvPr/>
        </p:nvSpPr>
        <p:spPr>
          <a:xfrm>
            <a:off x="2157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4"/>
          <p:cNvSpPr/>
          <p:nvPr/>
        </p:nvSpPr>
        <p:spPr>
          <a:xfrm>
            <a:off x="2157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5"/>
          <p:cNvSpPr/>
          <p:nvPr/>
        </p:nvSpPr>
        <p:spPr>
          <a:xfrm>
            <a:off x="29628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6"/>
          <p:cNvSpPr/>
          <p:nvPr/>
        </p:nvSpPr>
        <p:spPr>
          <a:xfrm>
            <a:off x="29628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17"/>
          <p:cNvSpPr/>
          <p:nvPr/>
        </p:nvSpPr>
        <p:spPr>
          <a:xfrm>
            <a:off x="29628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Shape 18"/>
          <p:cNvSpPr/>
          <p:nvPr/>
        </p:nvSpPr>
        <p:spPr>
          <a:xfrm>
            <a:off x="3767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9"/>
          <p:cNvSpPr/>
          <p:nvPr/>
        </p:nvSpPr>
        <p:spPr>
          <a:xfrm>
            <a:off x="3767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0"/>
          <p:cNvSpPr/>
          <p:nvPr/>
        </p:nvSpPr>
        <p:spPr>
          <a:xfrm>
            <a:off x="3767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21"/>
          <p:cNvSpPr/>
          <p:nvPr/>
        </p:nvSpPr>
        <p:spPr>
          <a:xfrm>
            <a:off x="4572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2"/>
          <p:cNvSpPr/>
          <p:nvPr/>
        </p:nvSpPr>
        <p:spPr>
          <a:xfrm>
            <a:off x="4572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23"/>
          <p:cNvSpPr/>
          <p:nvPr/>
        </p:nvSpPr>
        <p:spPr>
          <a:xfrm>
            <a:off x="4572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24"/>
          <p:cNvSpPr/>
          <p:nvPr/>
        </p:nvSpPr>
        <p:spPr>
          <a:xfrm>
            <a:off x="5806440" y="24688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25"/>
          <p:cNvSpPr/>
          <p:nvPr/>
        </p:nvSpPr>
        <p:spPr>
          <a:xfrm>
            <a:off x="64922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26"/>
          <p:cNvSpPr/>
          <p:nvPr/>
        </p:nvSpPr>
        <p:spPr>
          <a:xfrm>
            <a:off x="6492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27"/>
          <p:cNvSpPr/>
          <p:nvPr/>
        </p:nvSpPr>
        <p:spPr>
          <a:xfrm>
            <a:off x="6492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28"/>
          <p:cNvSpPr/>
          <p:nvPr/>
        </p:nvSpPr>
        <p:spPr>
          <a:xfrm>
            <a:off x="6492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29"/>
          <p:cNvSpPr/>
          <p:nvPr/>
        </p:nvSpPr>
        <p:spPr>
          <a:xfrm>
            <a:off x="7296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30"/>
          <p:cNvSpPr/>
          <p:nvPr/>
        </p:nvSpPr>
        <p:spPr>
          <a:xfrm>
            <a:off x="7296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31"/>
          <p:cNvSpPr/>
          <p:nvPr/>
        </p:nvSpPr>
        <p:spPr>
          <a:xfrm>
            <a:off x="7296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32"/>
          <p:cNvSpPr/>
          <p:nvPr/>
        </p:nvSpPr>
        <p:spPr>
          <a:xfrm>
            <a:off x="81014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33"/>
          <p:cNvSpPr/>
          <p:nvPr/>
        </p:nvSpPr>
        <p:spPr>
          <a:xfrm>
            <a:off x="81014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34"/>
          <p:cNvSpPr/>
          <p:nvPr/>
        </p:nvSpPr>
        <p:spPr>
          <a:xfrm>
            <a:off x="81014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35"/>
          <p:cNvSpPr/>
          <p:nvPr/>
        </p:nvSpPr>
        <p:spPr>
          <a:xfrm>
            <a:off x="8906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36"/>
          <p:cNvSpPr/>
          <p:nvPr/>
        </p:nvSpPr>
        <p:spPr>
          <a:xfrm>
            <a:off x="8906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37"/>
          <p:cNvSpPr/>
          <p:nvPr/>
        </p:nvSpPr>
        <p:spPr>
          <a:xfrm>
            <a:off x="8906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38"/>
          <p:cNvSpPr/>
          <p:nvPr/>
        </p:nvSpPr>
        <p:spPr>
          <a:xfrm>
            <a:off x="9711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39"/>
          <p:cNvSpPr/>
          <p:nvPr/>
        </p:nvSpPr>
        <p:spPr>
          <a:xfrm>
            <a:off x="9711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40"/>
          <p:cNvSpPr/>
          <p:nvPr/>
        </p:nvSpPr>
        <p:spPr>
          <a:xfrm>
            <a:off x="9711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41"/>
          <p:cNvSpPr/>
          <p:nvPr/>
        </p:nvSpPr>
        <p:spPr>
          <a:xfrm>
            <a:off x="105156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42"/>
          <p:cNvSpPr/>
          <p:nvPr/>
        </p:nvSpPr>
        <p:spPr>
          <a:xfrm>
            <a:off x="105156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43"/>
          <p:cNvSpPr/>
          <p:nvPr/>
        </p:nvSpPr>
        <p:spPr>
          <a:xfrm>
            <a:off x="105156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44"/>
          <p:cNvSpPr/>
          <p:nvPr/>
        </p:nvSpPr>
        <p:spPr>
          <a:xfrm>
            <a:off x="548640" y="3977640"/>
            <a:ext cx="11091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sort() rearranges the list in place — the original order is gone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By default it sorts smallest to largest — pass reverse=True for largest to smallest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45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4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0"/>
          <p:cNvSpPr/>
          <p:nvPr/>
        </p:nvSpPr>
        <p:spPr>
          <a:xfrm>
            <a:off x="-1828800" y="521208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8" name="Image 0" descr="icons/sor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9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.reverse() — Flip the Order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3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4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  -&gt;  l1.reverse()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632" name="Text 5"/>
          <p:cNvSpPr/>
          <p:nvPr/>
        </p:nvSpPr>
        <p:spPr>
          <a:xfrm>
            <a:off x="5486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BEFORE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6"/>
          <p:cNvSpPr/>
          <p:nvPr/>
        </p:nvSpPr>
        <p:spPr>
          <a:xfrm>
            <a:off x="5486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7"/>
          <p:cNvSpPr/>
          <p:nvPr/>
        </p:nvSpPr>
        <p:spPr>
          <a:xfrm>
            <a:off x="5486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8"/>
          <p:cNvSpPr/>
          <p:nvPr/>
        </p:nvSpPr>
        <p:spPr>
          <a:xfrm>
            <a:off x="5486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Shape 9"/>
          <p:cNvSpPr/>
          <p:nvPr/>
        </p:nvSpPr>
        <p:spPr>
          <a:xfrm>
            <a:off x="1353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10"/>
          <p:cNvSpPr/>
          <p:nvPr/>
        </p:nvSpPr>
        <p:spPr>
          <a:xfrm>
            <a:off x="1353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1"/>
          <p:cNvSpPr/>
          <p:nvPr/>
        </p:nvSpPr>
        <p:spPr>
          <a:xfrm>
            <a:off x="1353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2"/>
          <p:cNvSpPr/>
          <p:nvPr/>
        </p:nvSpPr>
        <p:spPr>
          <a:xfrm>
            <a:off x="2157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3"/>
          <p:cNvSpPr/>
          <p:nvPr/>
        </p:nvSpPr>
        <p:spPr>
          <a:xfrm>
            <a:off x="2157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4"/>
          <p:cNvSpPr/>
          <p:nvPr/>
        </p:nvSpPr>
        <p:spPr>
          <a:xfrm>
            <a:off x="2157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5"/>
          <p:cNvSpPr/>
          <p:nvPr/>
        </p:nvSpPr>
        <p:spPr>
          <a:xfrm>
            <a:off x="29628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6"/>
          <p:cNvSpPr/>
          <p:nvPr/>
        </p:nvSpPr>
        <p:spPr>
          <a:xfrm>
            <a:off x="29628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7"/>
          <p:cNvSpPr/>
          <p:nvPr/>
        </p:nvSpPr>
        <p:spPr>
          <a:xfrm>
            <a:off x="29628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18"/>
          <p:cNvSpPr/>
          <p:nvPr/>
        </p:nvSpPr>
        <p:spPr>
          <a:xfrm>
            <a:off x="3767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9"/>
          <p:cNvSpPr/>
          <p:nvPr/>
        </p:nvSpPr>
        <p:spPr>
          <a:xfrm>
            <a:off x="3767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20"/>
          <p:cNvSpPr/>
          <p:nvPr/>
        </p:nvSpPr>
        <p:spPr>
          <a:xfrm>
            <a:off x="3767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21"/>
          <p:cNvSpPr/>
          <p:nvPr/>
        </p:nvSpPr>
        <p:spPr>
          <a:xfrm>
            <a:off x="4572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22"/>
          <p:cNvSpPr/>
          <p:nvPr/>
        </p:nvSpPr>
        <p:spPr>
          <a:xfrm>
            <a:off x="4572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23"/>
          <p:cNvSpPr/>
          <p:nvPr/>
        </p:nvSpPr>
        <p:spPr>
          <a:xfrm>
            <a:off x="4572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24"/>
          <p:cNvSpPr/>
          <p:nvPr/>
        </p:nvSpPr>
        <p:spPr>
          <a:xfrm>
            <a:off x="5806440" y="2468880"/>
            <a:ext cx="548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C98A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5"/>
          <p:cNvSpPr/>
          <p:nvPr/>
        </p:nvSpPr>
        <p:spPr>
          <a:xfrm>
            <a:off x="6492240" y="2148840"/>
            <a:ext cx="5120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150" strike="noStrike">
                <a:solidFill>
                  <a:srgbClr val="1F5147"/>
                </a:solidFill>
                <a:effectLst/>
                <a:uFillTx/>
                <a:latin typeface="Calibri"/>
                <a:ea typeface="Calibri"/>
              </a:rPr>
              <a:t>AFTER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26"/>
          <p:cNvSpPr/>
          <p:nvPr/>
        </p:nvSpPr>
        <p:spPr>
          <a:xfrm>
            <a:off x="64922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7"/>
          <p:cNvSpPr/>
          <p:nvPr/>
        </p:nvSpPr>
        <p:spPr>
          <a:xfrm>
            <a:off x="64922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28"/>
          <p:cNvSpPr/>
          <p:nvPr/>
        </p:nvSpPr>
        <p:spPr>
          <a:xfrm>
            <a:off x="64922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29"/>
          <p:cNvSpPr/>
          <p:nvPr/>
        </p:nvSpPr>
        <p:spPr>
          <a:xfrm>
            <a:off x="72968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30"/>
          <p:cNvSpPr/>
          <p:nvPr/>
        </p:nvSpPr>
        <p:spPr>
          <a:xfrm>
            <a:off x="72968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31"/>
          <p:cNvSpPr/>
          <p:nvPr/>
        </p:nvSpPr>
        <p:spPr>
          <a:xfrm>
            <a:off x="72968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32"/>
          <p:cNvSpPr/>
          <p:nvPr/>
        </p:nvSpPr>
        <p:spPr>
          <a:xfrm>
            <a:off x="810144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33"/>
          <p:cNvSpPr/>
          <p:nvPr/>
        </p:nvSpPr>
        <p:spPr>
          <a:xfrm>
            <a:off x="810144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34"/>
          <p:cNvSpPr/>
          <p:nvPr/>
        </p:nvSpPr>
        <p:spPr>
          <a:xfrm>
            <a:off x="810144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35"/>
          <p:cNvSpPr/>
          <p:nvPr/>
        </p:nvSpPr>
        <p:spPr>
          <a:xfrm>
            <a:off x="89064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36"/>
          <p:cNvSpPr/>
          <p:nvPr/>
        </p:nvSpPr>
        <p:spPr>
          <a:xfrm>
            <a:off x="89064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37"/>
          <p:cNvSpPr/>
          <p:nvPr/>
        </p:nvSpPr>
        <p:spPr>
          <a:xfrm>
            <a:off x="89064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38"/>
          <p:cNvSpPr/>
          <p:nvPr/>
        </p:nvSpPr>
        <p:spPr>
          <a:xfrm>
            <a:off x="97110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39"/>
          <p:cNvSpPr/>
          <p:nvPr/>
        </p:nvSpPr>
        <p:spPr>
          <a:xfrm>
            <a:off x="97110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40"/>
          <p:cNvSpPr/>
          <p:nvPr/>
        </p:nvSpPr>
        <p:spPr>
          <a:xfrm>
            <a:off x="97110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41"/>
          <p:cNvSpPr/>
          <p:nvPr/>
        </p:nvSpPr>
        <p:spPr>
          <a:xfrm>
            <a:off x="10515600" y="2514600"/>
            <a:ext cx="74952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42"/>
          <p:cNvSpPr/>
          <p:nvPr/>
        </p:nvSpPr>
        <p:spPr>
          <a:xfrm>
            <a:off x="10515600" y="2514600"/>
            <a:ext cx="749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43"/>
          <p:cNvSpPr/>
          <p:nvPr/>
        </p:nvSpPr>
        <p:spPr>
          <a:xfrm>
            <a:off x="10515600" y="3163680"/>
            <a:ext cx="749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64F"/>
                </a:solidFill>
                <a:effectLst/>
                <a:uFillTx/>
                <a:latin typeface="Consolas"/>
                <a:ea typeface="Consola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44"/>
          <p:cNvSpPr/>
          <p:nvPr/>
        </p:nvSpPr>
        <p:spPr>
          <a:xfrm>
            <a:off x="548640" y="3977640"/>
            <a:ext cx="11091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reverse() simply flips the current order — it does NOT sort the values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list that is already sorted, once reversed, becomes largest to smallest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45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4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6" name="Image 0" descr="icons/min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7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del and .clear() — Two More Ways to Remove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x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—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),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t,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k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 = [1, 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del l1[0]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   # [8, 7, 2, 21, 15]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l1.clear()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print(l1)   # []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681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5" name="Image 0" descr="icons/pluscircle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Combining Lists: + and *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+ joins two lists together into a brand new list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* repeats a list a given number of times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[1, 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b = [3,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+ b)   # [1, 2, 3, 4]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 * 3)   # [1, 2, 1, 2, 1, 2]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690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4" name="Image 0" descr="icons/copy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5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Copying Gotcha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3"/>
          <p:cNvSpPr/>
          <p:nvPr/>
        </p:nvSpPr>
        <p:spPr>
          <a:xfrm>
            <a:off x="548640" y="1417320"/>
            <a:ext cx="11091240" cy="502560"/>
          </a:xfrm>
          <a:prstGeom prst="roundRect">
            <a:avLst>
              <a:gd name="adj" fmla="val 12727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4"/>
          <p:cNvSpPr/>
          <p:nvPr/>
        </p:nvSpPr>
        <p:spPr>
          <a:xfrm>
            <a:off x="731520" y="1417320"/>
            <a:ext cx="10725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l2 = l1   (this does NOT make a copy!)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698" name="Text 5"/>
          <p:cNvSpPr/>
          <p:nvPr/>
        </p:nvSpPr>
        <p:spPr>
          <a:xfrm>
            <a:off x="1188720" y="22860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onsolas"/>
                <a:ea typeface="Consolas"/>
              </a:rPr>
              <a:t>l1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6"/>
          <p:cNvSpPr/>
          <p:nvPr/>
        </p:nvSpPr>
        <p:spPr>
          <a:xfrm>
            <a:off x="1188720" y="274320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onsolas"/>
                <a:ea typeface="Consolas"/>
              </a:rPr>
              <a:t>l2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Shape 7"/>
          <p:cNvSpPr/>
          <p:nvPr/>
        </p:nvSpPr>
        <p:spPr>
          <a:xfrm>
            <a:off x="2194560" y="242316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8"/>
          <p:cNvSpPr/>
          <p:nvPr/>
        </p:nvSpPr>
        <p:spPr>
          <a:xfrm>
            <a:off x="2194560" y="242316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9"/>
          <p:cNvSpPr/>
          <p:nvPr/>
        </p:nvSpPr>
        <p:spPr>
          <a:xfrm>
            <a:off x="2935080" y="242316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0"/>
          <p:cNvSpPr/>
          <p:nvPr/>
        </p:nvSpPr>
        <p:spPr>
          <a:xfrm>
            <a:off x="2935080" y="242316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11"/>
          <p:cNvSpPr/>
          <p:nvPr/>
        </p:nvSpPr>
        <p:spPr>
          <a:xfrm>
            <a:off x="3675960" y="242316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2"/>
          <p:cNvSpPr/>
          <p:nvPr/>
        </p:nvSpPr>
        <p:spPr>
          <a:xfrm>
            <a:off x="3675960" y="242316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3"/>
          <p:cNvSpPr/>
          <p:nvPr/>
        </p:nvSpPr>
        <p:spPr>
          <a:xfrm>
            <a:off x="4846320" y="233172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Both names point to the exact same boxes.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Change l2, and l1 changes too.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4"/>
          <p:cNvSpPr/>
          <p:nvPr/>
        </p:nvSpPr>
        <p:spPr>
          <a:xfrm>
            <a:off x="1188720" y="420624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onsolas"/>
                <a:ea typeface="Consolas"/>
              </a:rPr>
              <a:t>l1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15"/>
          <p:cNvSpPr/>
          <p:nvPr/>
        </p:nvSpPr>
        <p:spPr>
          <a:xfrm>
            <a:off x="2194560" y="434340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6"/>
          <p:cNvSpPr/>
          <p:nvPr/>
        </p:nvSpPr>
        <p:spPr>
          <a:xfrm>
            <a:off x="2194560" y="434340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17"/>
          <p:cNvSpPr/>
          <p:nvPr/>
        </p:nvSpPr>
        <p:spPr>
          <a:xfrm>
            <a:off x="2935080" y="434340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18"/>
          <p:cNvSpPr/>
          <p:nvPr/>
        </p:nvSpPr>
        <p:spPr>
          <a:xfrm>
            <a:off x="2935080" y="434340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19"/>
          <p:cNvSpPr/>
          <p:nvPr/>
        </p:nvSpPr>
        <p:spPr>
          <a:xfrm>
            <a:off x="3675960" y="434340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F1F3EC"/>
          </a:solidFill>
          <a:ln w="1905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20"/>
          <p:cNvSpPr/>
          <p:nvPr/>
        </p:nvSpPr>
        <p:spPr>
          <a:xfrm>
            <a:off x="3675960" y="434340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1"/>
          <p:cNvSpPr/>
          <p:nvPr/>
        </p:nvSpPr>
        <p:spPr>
          <a:xfrm>
            <a:off x="7589520" y="4206240"/>
            <a:ext cx="731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98A2B"/>
                </a:solidFill>
                <a:effectLst/>
                <a:uFillTx/>
                <a:latin typeface="Consolas"/>
                <a:ea typeface="Consolas"/>
              </a:rPr>
              <a:t>l3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22"/>
          <p:cNvSpPr/>
          <p:nvPr/>
        </p:nvSpPr>
        <p:spPr>
          <a:xfrm>
            <a:off x="8595360" y="434340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23"/>
          <p:cNvSpPr/>
          <p:nvPr/>
        </p:nvSpPr>
        <p:spPr>
          <a:xfrm>
            <a:off x="8595360" y="434340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24"/>
          <p:cNvSpPr/>
          <p:nvPr/>
        </p:nvSpPr>
        <p:spPr>
          <a:xfrm>
            <a:off x="9335880" y="434340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25"/>
          <p:cNvSpPr/>
          <p:nvPr/>
        </p:nvSpPr>
        <p:spPr>
          <a:xfrm>
            <a:off x="9335880" y="434340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26"/>
          <p:cNvSpPr/>
          <p:nvPr/>
        </p:nvSpPr>
        <p:spPr>
          <a:xfrm>
            <a:off x="10076760" y="4343400"/>
            <a:ext cx="685440" cy="621360"/>
          </a:xfrm>
          <a:prstGeom prst="roundRect">
            <a:avLst>
              <a:gd name="adj" fmla="val 7353"/>
            </a:avLst>
          </a:prstGeom>
          <a:solidFill>
            <a:srgbClr val="EFDFB8"/>
          </a:solidFill>
          <a:ln w="19050">
            <a:solidFill>
              <a:srgbClr val="C98A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27"/>
          <p:cNvSpPr/>
          <p:nvPr/>
        </p:nvSpPr>
        <p:spPr>
          <a:xfrm>
            <a:off x="10076760" y="4343400"/>
            <a:ext cx="68544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20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28"/>
          <p:cNvSpPr/>
          <p:nvPr/>
        </p:nvSpPr>
        <p:spPr>
          <a:xfrm>
            <a:off x="2194560" y="50749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l3 = </a:t>
            </a: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l1.copy()  </a:t>
            </a: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-&gt;  two </a:t>
            </a: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completely </a:t>
            </a: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separate </a:t>
            </a:r>
            <a:r>
              <a:rPr lang="en-US" sz="13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lists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29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30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5" name="Image 0" descr="icons/thlist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 Methods Cheat Sheet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2"/>
          <p:cNvSpPr/>
          <p:nvPr/>
        </p:nvSpPr>
        <p:spPr>
          <a:xfrm>
            <a:off x="45720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3"/>
          <p:cNvSpPr/>
          <p:nvPr/>
        </p:nvSpPr>
        <p:spPr>
          <a:xfrm>
            <a:off x="198576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9" name="Image 1" descr="icons/pluscircle.png"/>
          <p:cNvPicPr/>
          <p:nvPr/>
        </p:nvPicPr>
        <p:blipFill>
          <a:blip r:embed="rId2"/>
          <a:stretch/>
        </p:blipFill>
        <p:spPr>
          <a:xfrm>
            <a:off x="206820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Text 4"/>
          <p:cNvSpPr/>
          <p:nvPr/>
        </p:nvSpPr>
        <p:spPr>
          <a:xfrm>
            <a:off x="54864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append(x)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5"/>
          <p:cNvSpPr/>
          <p:nvPr/>
        </p:nvSpPr>
        <p:spPr>
          <a:xfrm>
            <a:off x="60336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Adds x to the end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6"/>
          <p:cNvSpPr/>
          <p:nvPr/>
        </p:nvSpPr>
        <p:spPr>
          <a:xfrm>
            <a:off x="429156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Shape 7"/>
          <p:cNvSpPr/>
          <p:nvPr/>
        </p:nvSpPr>
        <p:spPr>
          <a:xfrm>
            <a:off x="582012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4" name="Image 2" descr="icons/pluscircle.png"/>
          <p:cNvPicPr/>
          <p:nvPr/>
        </p:nvPicPr>
        <p:blipFill>
          <a:blip r:embed="rId3"/>
          <a:stretch/>
        </p:blipFill>
        <p:spPr>
          <a:xfrm>
            <a:off x="590256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5" name="Text 8"/>
          <p:cNvSpPr/>
          <p:nvPr/>
        </p:nvSpPr>
        <p:spPr>
          <a:xfrm>
            <a:off x="438300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insert(i, 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9"/>
          <p:cNvSpPr/>
          <p:nvPr/>
        </p:nvSpPr>
        <p:spPr>
          <a:xfrm>
            <a:off x="443772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Adds x at index 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10"/>
          <p:cNvSpPr/>
          <p:nvPr/>
        </p:nvSpPr>
        <p:spPr>
          <a:xfrm>
            <a:off x="8125920" y="150876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11"/>
          <p:cNvSpPr/>
          <p:nvPr/>
        </p:nvSpPr>
        <p:spPr>
          <a:xfrm>
            <a:off x="9654480" y="178848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9" name="Image 3" descr="icons/minuscircle.png"/>
          <p:cNvPicPr/>
          <p:nvPr/>
        </p:nvPicPr>
        <p:blipFill>
          <a:blip r:embed="rId4"/>
          <a:stretch/>
        </p:blipFill>
        <p:spPr>
          <a:xfrm>
            <a:off x="9736920" y="187092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0" name="Text 12"/>
          <p:cNvSpPr/>
          <p:nvPr/>
        </p:nvSpPr>
        <p:spPr>
          <a:xfrm>
            <a:off x="8217360" y="241020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pop(i)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13"/>
          <p:cNvSpPr/>
          <p:nvPr/>
        </p:nvSpPr>
        <p:spPr>
          <a:xfrm>
            <a:off x="8272440" y="279432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Removes index i, returns 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14"/>
          <p:cNvSpPr/>
          <p:nvPr/>
        </p:nvSpPr>
        <p:spPr>
          <a:xfrm>
            <a:off x="45720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15"/>
          <p:cNvSpPr/>
          <p:nvPr/>
        </p:nvSpPr>
        <p:spPr>
          <a:xfrm>
            <a:off x="198576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4" name="Image 4" descr="icons/minuscircle.png"/>
          <p:cNvPicPr/>
          <p:nvPr/>
        </p:nvPicPr>
        <p:blipFill>
          <a:blip r:embed="rId5"/>
          <a:stretch/>
        </p:blipFill>
        <p:spPr>
          <a:xfrm>
            <a:off x="206820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5" name="Text 16"/>
          <p:cNvSpPr/>
          <p:nvPr/>
        </p:nvSpPr>
        <p:spPr>
          <a:xfrm>
            <a:off x="54864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remove(x)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7"/>
          <p:cNvSpPr/>
          <p:nvPr/>
        </p:nvSpPr>
        <p:spPr>
          <a:xfrm>
            <a:off x="60336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Removes first match of 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8"/>
          <p:cNvSpPr/>
          <p:nvPr/>
        </p:nvSpPr>
        <p:spPr>
          <a:xfrm>
            <a:off x="429156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9"/>
          <p:cNvSpPr/>
          <p:nvPr/>
        </p:nvSpPr>
        <p:spPr>
          <a:xfrm>
            <a:off x="582012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9" name="Image 5" descr="icons/sort.png"/>
          <p:cNvPicPr/>
          <p:nvPr/>
        </p:nvPicPr>
        <p:blipFill>
          <a:blip r:embed="rId6"/>
          <a:stretch/>
        </p:blipFill>
        <p:spPr>
          <a:xfrm>
            <a:off x="590256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0" name="Text 20"/>
          <p:cNvSpPr/>
          <p:nvPr/>
        </p:nvSpPr>
        <p:spPr>
          <a:xfrm>
            <a:off x="438300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sort()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21"/>
          <p:cNvSpPr/>
          <p:nvPr/>
        </p:nvSpPr>
        <p:spPr>
          <a:xfrm>
            <a:off x="443772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Reorders smallest to largest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22"/>
          <p:cNvSpPr/>
          <p:nvPr/>
        </p:nvSpPr>
        <p:spPr>
          <a:xfrm>
            <a:off x="8125920" y="4069080"/>
            <a:ext cx="3605400" cy="2331360"/>
          </a:xfrm>
          <a:prstGeom prst="roundRect">
            <a:avLst>
              <a:gd name="adj" fmla="val 3137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23"/>
          <p:cNvSpPr/>
          <p:nvPr/>
        </p:nvSpPr>
        <p:spPr>
          <a:xfrm>
            <a:off x="9654480" y="434880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4" name="Image 6" descr="icons/sort.png"/>
          <p:cNvPicPr/>
          <p:nvPr/>
        </p:nvPicPr>
        <p:blipFill>
          <a:blip r:embed="rId7"/>
          <a:stretch/>
        </p:blipFill>
        <p:spPr>
          <a:xfrm>
            <a:off x="9736920" y="443124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5" name="Text 24"/>
          <p:cNvSpPr/>
          <p:nvPr/>
        </p:nvSpPr>
        <p:spPr>
          <a:xfrm>
            <a:off x="8217360" y="4970520"/>
            <a:ext cx="3422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reverse()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5"/>
          <p:cNvSpPr/>
          <p:nvPr/>
        </p:nvSpPr>
        <p:spPr>
          <a:xfrm>
            <a:off x="8272440" y="5354640"/>
            <a:ext cx="3312720" cy="10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Flips the current order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2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1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Lists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a list with your 3 favorite foods, and print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8"/>
          <p:cNvSpPr/>
          <p:nvPr/>
        </p:nvSpPr>
        <p:spPr>
          <a:xfrm>
            <a:off x="822960" y="312732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9"/>
          <p:cNvSpPr/>
          <p:nvPr/>
        </p:nvSpPr>
        <p:spPr>
          <a:xfrm>
            <a:off x="822960" y="3127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10"/>
          <p:cNvSpPr/>
          <p:nvPr/>
        </p:nvSpPr>
        <p:spPr>
          <a:xfrm>
            <a:off x="1435680" y="312732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item at index 1 in your list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11"/>
          <p:cNvSpPr/>
          <p:nvPr/>
        </p:nvSpPr>
        <p:spPr>
          <a:xfrm>
            <a:off x="822960" y="38314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 12"/>
          <p:cNvSpPr/>
          <p:nvPr/>
        </p:nvSpPr>
        <p:spPr>
          <a:xfrm>
            <a:off x="822960" y="3831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13"/>
          <p:cNvSpPr/>
          <p:nvPr/>
        </p:nvSpPr>
        <p:spPr>
          <a:xfrm>
            <a:off x="1435680" y="38314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slicing to print just the first two items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Shape 14"/>
          <p:cNvSpPr/>
          <p:nvPr/>
        </p:nvSpPr>
        <p:spPr>
          <a:xfrm>
            <a:off x="822960" y="453528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5"/>
          <p:cNvSpPr/>
          <p:nvPr/>
        </p:nvSpPr>
        <p:spPr>
          <a:xfrm>
            <a:off x="822960" y="45352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6"/>
          <p:cNvSpPr/>
          <p:nvPr/>
        </p:nvSpPr>
        <p:spPr>
          <a:xfrm>
            <a:off x="1435680" y="453528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Change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second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item in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your list to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something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else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7"/>
          <p:cNvSpPr/>
          <p:nvPr/>
        </p:nvSpPr>
        <p:spPr>
          <a:xfrm>
            <a:off x="822960" y="523944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8"/>
          <p:cNvSpPr/>
          <p:nvPr/>
        </p:nvSpPr>
        <p:spPr>
          <a:xfrm>
            <a:off x="822960" y="5239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19"/>
          <p:cNvSpPr/>
          <p:nvPr/>
        </p:nvSpPr>
        <p:spPr>
          <a:xfrm>
            <a:off x="1435680" y="523944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Print the length of your list using len()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2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2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5" name="Image 0" descr="icons/lock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6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PART 2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Tuples — The List That Cannot Change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1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What Is a Tuple?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5" name="Image 1" descr="icons/lock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Ord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ere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Loc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ked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Nev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er 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cha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nge</a:t>
            </a: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tuple stores multiple values together, exactly like a list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key difference: a tuple is immutable — once created, it can never be changed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a tuple for values that should stay fixed, like coordinates or days of the week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Written with round brackets ( ) instead of square brackets [ ]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2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Creating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Round brackets create a tuple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An empty tuple is just 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tuple with more than one item works exactly like a list, just with ( 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()              # empty tuple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(1, 7, 2)        # tuple with 3 items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print(type(a))       # &lt;class 'tuple'&gt;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807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Shape 0"/>
          <p:cNvSpPr/>
          <p:nvPr/>
        </p:nvSpPr>
        <p:spPr>
          <a:xfrm>
            <a:off x="10515600" y="5669280"/>
            <a:ext cx="3200040" cy="32000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1" name="Image 0" descr="icons/warnin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The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Sing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le-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Ele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men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Shape 3"/>
          <p:cNvSpPr/>
          <p:nvPr/>
        </p:nvSpPr>
        <p:spPr>
          <a:xfrm>
            <a:off x="457200" y="1554480"/>
            <a:ext cx="3657240" cy="4663080"/>
          </a:xfrm>
          <a:prstGeom prst="roundRect">
            <a:avLst>
              <a:gd name="adj" fmla="val 2500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4"/>
          <p:cNvSpPr/>
          <p:nvPr/>
        </p:nvSpPr>
        <p:spPr>
          <a:xfrm>
            <a:off x="1508760" y="2194560"/>
            <a:ext cx="1554120" cy="1554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5" name="Image 1" descr="icons/warning.png"/>
          <p:cNvPicPr/>
          <p:nvPr/>
        </p:nvPicPr>
        <p:blipFill>
          <a:blip r:embed="rId2"/>
          <a:stretch/>
        </p:blipFill>
        <p:spPr>
          <a:xfrm>
            <a:off x="1742040" y="2427840"/>
            <a:ext cx="1087920" cy="10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6" name="Text 5"/>
          <p:cNvSpPr/>
          <p:nvPr/>
        </p:nvSpPr>
        <p:spPr>
          <a:xfrm>
            <a:off x="640080" y="3977640"/>
            <a:ext cx="3291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One sneaky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comma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6"/>
          <p:cNvSpPr/>
          <p:nvPr/>
        </p:nvSpPr>
        <p:spPr>
          <a:xfrm>
            <a:off x="4572000" y="1737360"/>
            <a:ext cx="713196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= (1) does NOT make a tuple — Python just sees a number in brackets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single-item tuple needs a trailing comma: a = (1,)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That one comma is the only thing that tells Python "this is a tuple, not just a number"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one of the most common tuple mistakes — check for the comma if something looks wrong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 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2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es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Are 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Imm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utab</a:t>
            </a: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Trying to change an item inside a tuple raises a TypeError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This is the whole point of a tuple — it is a promise that the data will not change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(1, 7,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a[0] = 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TypeError: 'tuple' object does not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antarell"/>
                <a:ea typeface="Consolas"/>
              </a:rPr>
              <a:t># support item assignment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827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1" name="Image 0" descr="icons/search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2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 Indexing &amp; Slicing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Indexing and slicing work exactly the same as they do for lists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only thing that is different about a tuple is that you cannot modify it afterward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a = (1, 7, 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print(a[0])     # 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antarell"/>
                <a:ea typeface="Consolas"/>
              </a:rPr>
              <a:t>print(a[0:2])   # (1, 7)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836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9" name="Image 0" descr="icons/hashtag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 Methods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Shape 2"/>
          <p:cNvSpPr/>
          <p:nvPr/>
        </p:nvSpPr>
        <p:spPr>
          <a:xfrm>
            <a:off x="457200" y="1508760"/>
            <a:ext cx="5522760" cy="489168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Shape 3"/>
          <p:cNvSpPr/>
          <p:nvPr/>
        </p:nvSpPr>
        <p:spPr>
          <a:xfrm>
            <a:off x="294444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3" name="Image 1" descr="icons/hashtag.png"/>
          <p:cNvPicPr/>
          <p:nvPr/>
        </p:nvPicPr>
        <p:blipFill>
          <a:blip r:embed="rId2"/>
          <a:stretch/>
        </p:blipFill>
        <p:spPr>
          <a:xfrm>
            <a:off x="302652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4" name="Text 4"/>
          <p:cNvSpPr/>
          <p:nvPr/>
        </p:nvSpPr>
        <p:spPr>
          <a:xfrm>
            <a:off x="548640" y="271764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count(x)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 5"/>
          <p:cNvSpPr/>
          <p:nvPr/>
        </p:nvSpPr>
        <p:spPr>
          <a:xfrm>
            <a:off x="603360" y="3101760"/>
            <a:ext cx="523008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a.count(1) — how many times 1 appears in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6"/>
          <p:cNvSpPr/>
          <p:nvPr/>
        </p:nvSpPr>
        <p:spPr>
          <a:xfrm>
            <a:off x="6208920" y="1508760"/>
            <a:ext cx="5522760" cy="4891680"/>
          </a:xfrm>
          <a:prstGeom prst="roundRect">
            <a:avLst>
              <a:gd name="adj" fmla="val 1495"/>
            </a:avLst>
          </a:prstGeom>
          <a:solidFill>
            <a:srgbClr val="F1F3EC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888888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7"/>
          <p:cNvSpPr/>
          <p:nvPr/>
        </p:nvSpPr>
        <p:spPr>
          <a:xfrm>
            <a:off x="8695800" y="2095920"/>
            <a:ext cx="548280" cy="54828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8" name="Image 2" descr="icons/search.png"/>
          <p:cNvPicPr/>
          <p:nvPr/>
        </p:nvPicPr>
        <p:blipFill>
          <a:blip r:embed="rId3"/>
          <a:stretch/>
        </p:blipFill>
        <p:spPr>
          <a:xfrm>
            <a:off x="8778240" y="217800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9" name="Text 8"/>
          <p:cNvSpPr/>
          <p:nvPr/>
        </p:nvSpPr>
        <p:spPr>
          <a:xfrm>
            <a:off x="6300360" y="2717640"/>
            <a:ext cx="533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index(x)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Text 9"/>
          <p:cNvSpPr/>
          <p:nvPr/>
        </p:nvSpPr>
        <p:spPr>
          <a:xfrm>
            <a:off x="6355080" y="3101760"/>
            <a:ext cx="5230080" cy="32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a.index(1) — the position of the first 1 in 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</a:t>
            </a: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Shape 0"/>
          <p:cNvSpPr/>
          <p:nvPr/>
        </p:nvSpPr>
        <p:spPr>
          <a:xfrm>
            <a:off x="-1828800" y="512064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5" name="Image 0" descr="icons/boxopen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6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Tuple Packing &amp; Unpacking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Text 3"/>
          <p:cNvSpPr/>
          <p:nvPr/>
        </p:nvSpPr>
        <p:spPr>
          <a:xfrm>
            <a:off x="548640" y="1828800"/>
            <a:ext cx="4754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Packi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ng: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ng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seve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ral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toge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ther,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com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ma-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sepa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rate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d,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quiet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ly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es a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Unp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ackin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g: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assig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ning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strai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ght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into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seve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ral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varia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bles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once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, in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one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num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ber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of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varia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bles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must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matc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h the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num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ber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of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valu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es 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exact</a:t>
            </a:r>
            <a:r>
              <a:rPr lang="en-US" sz="15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4"/>
          <p:cNvSpPr/>
          <p:nvPr/>
        </p:nvSpPr>
        <p:spPr>
          <a:xfrm>
            <a:off x="5486400" y="1691640"/>
            <a:ext cx="6217560" cy="4343040"/>
          </a:xfrm>
          <a:prstGeom prst="roundRect">
            <a:avLst>
              <a:gd name="adj" fmla="val 1684"/>
            </a:avLst>
          </a:prstGeom>
          <a:solidFill>
            <a:srgbClr val="1331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Text 5"/>
          <p:cNvSpPr/>
          <p:nvPr/>
        </p:nvSpPr>
        <p:spPr>
          <a:xfrm>
            <a:off x="5806440" y="1965960"/>
            <a:ext cx="557748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onsolas"/>
                <a:ea typeface="Consolas"/>
              </a:rPr>
              <a:t># packing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point = 4,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print(type(point))   # &lt;class 'tuple'&gt;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C6C63"/>
                </a:solidFill>
                <a:effectLst/>
                <a:uFillTx/>
                <a:latin typeface="Consolas"/>
                <a:ea typeface="Consolas"/>
              </a:rPr>
              <a:t># unpacking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x, y = point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print(x)   #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3CC"/>
                </a:solidFill>
                <a:effectLst/>
                <a:uFillTx/>
                <a:latin typeface="Consolas"/>
                <a:ea typeface="Consolas"/>
              </a:rPr>
              <a:t>print(y)   # 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 6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7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0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3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4" name="Text 1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Lists vs. Tuples — When to Use Which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Shape 2"/>
          <p:cNvSpPr/>
          <p:nvPr/>
        </p:nvSpPr>
        <p:spPr>
          <a:xfrm>
            <a:off x="457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Shape 3"/>
          <p:cNvSpPr/>
          <p:nvPr/>
        </p:nvSpPr>
        <p:spPr>
          <a:xfrm>
            <a:off x="731520" y="1874520"/>
            <a:ext cx="456840" cy="45684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7" name="Image 1" descr="icons/boxes.png"/>
          <p:cNvPicPr/>
          <p:nvPr/>
        </p:nvPicPr>
        <p:blipFill>
          <a:blip r:embed="rId2"/>
          <a:stretch/>
        </p:blipFill>
        <p:spPr>
          <a:xfrm>
            <a:off x="800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8" name="Text 4"/>
          <p:cNvSpPr/>
          <p:nvPr/>
        </p:nvSpPr>
        <p:spPr>
          <a:xfrm>
            <a:off x="1325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Use a List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Text 5"/>
          <p:cNvSpPr/>
          <p:nvPr/>
        </p:nvSpPr>
        <p:spPr>
          <a:xfrm>
            <a:off x="731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data will change — items added, removed, or reordered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need methods like append(), sort(), remove()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a shopping list, or student scores you keep updating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Shape 6"/>
          <p:cNvSpPr/>
          <p:nvPr/>
        </p:nvSpPr>
        <p:spPr>
          <a:xfrm>
            <a:off x="6172200" y="1645920"/>
            <a:ext cx="5348880" cy="4480200"/>
          </a:xfrm>
          <a:prstGeom prst="roundRect">
            <a:avLst>
              <a:gd name="adj" fmla="val 1633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Shape 7"/>
          <p:cNvSpPr/>
          <p:nvPr/>
        </p:nvSpPr>
        <p:spPr>
          <a:xfrm>
            <a:off x="6446520" y="1874520"/>
            <a:ext cx="456840" cy="456840"/>
          </a:xfrm>
          <a:prstGeom prst="ellipse">
            <a:avLst/>
          </a:prstGeom>
          <a:solidFill>
            <a:srgbClr val="A547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2" name="Image 2" descr="icons/lock.png"/>
          <p:cNvPicPr/>
          <p:nvPr/>
        </p:nvPicPr>
        <p:blipFill>
          <a:blip r:embed="rId3"/>
          <a:stretch/>
        </p:blipFill>
        <p:spPr>
          <a:xfrm>
            <a:off x="6515280" y="194328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3" name="Text 8"/>
          <p:cNvSpPr/>
          <p:nvPr/>
        </p:nvSpPr>
        <p:spPr>
          <a:xfrm>
            <a:off x="7040880" y="187452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5473F"/>
                </a:solidFill>
                <a:effectLst/>
                <a:uFillTx/>
                <a:latin typeface="Cambria"/>
                <a:ea typeface="Cambria"/>
              </a:rPr>
              <a:t>Use a Tuple When...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9"/>
          <p:cNvSpPr/>
          <p:nvPr/>
        </p:nvSpPr>
        <p:spPr>
          <a:xfrm>
            <a:off x="6446520" y="2514600"/>
            <a:ext cx="48002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The data should never change once it is set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You want to protect it from accidental edits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1B242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Example: a date of birth, GPS coordinates, days of the week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10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11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9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Practice Set —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Try these yourself first — no code shown, that's the point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5"/>
          <p:cNvSpPr/>
          <p:nvPr/>
        </p:nvSpPr>
        <p:spPr>
          <a:xfrm>
            <a:off x="822960" y="24231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6"/>
          <p:cNvSpPr/>
          <p:nvPr/>
        </p:nvSpPr>
        <p:spPr>
          <a:xfrm>
            <a:off x="822960" y="242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 7"/>
          <p:cNvSpPr/>
          <p:nvPr/>
        </p:nvSpPr>
        <p:spPr>
          <a:xfrm>
            <a:off x="1435680" y="24231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Create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a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tuple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with 3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numb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8"/>
          <p:cNvSpPr/>
          <p:nvPr/>
        </p:nvSpPr>
        <p:spPr>
          <a:xfrm>
            <a:off x="822960" y="33033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9"/>
          <p:cNvSpPr/>
          <p:nvPr/>
        </p:nvSpPr>
        <p:spPr>
          <a:xfrm>
            <a:off x="822960" y="3303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10"/>
          <p:cNvSpPr/>
          <p:nvPr/>
        </p:nvSpPr>
        <p:spPr>
          <a:xfrm>
            <a:off x="1435680" y="33033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Try changing one value in your tuple, and read the error Python gives you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1"/>
          <p:cNvSpPr/>
          <p:nvPr/>
        </p:nvSpPr>
        <p:spPr>
          <a:xfrm>
            <a:off x="822960" y="418356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Text 12"/>
          <p:cNvSpPr/>
          <p:nvPr/>
        </p:nvSpPr>
        <p:spPr>
          <a:xfrm>
            <a:off x="822960" y="41835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13"/>
          <p:cNvSpPr/>
          <p:nvPr/>
        </p:nvSpPr>
        <p:spPr>
          <a:xfrm>
            <a:off x="1435680" y="418356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Use count() to count how many times a number appears in a tuple you make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Shape 14"/>
          <p:cNvSpPr/>
          <p:nvPr/>
        </p:nvSpPr>
        <p:spPr>
          <a:xfrm>
            <a:off x="822960" y="5063400"/>
            <a:ext cx="383760" cy="383760"/>
          </a:xfrm>
          <a:prstGeom prst="ellipse">
            <a:avLst/>
          </a:prstGeom>
          <a:solidFill>
            <a:srgbClr val="1F51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15"/>
          <p:cNvSpPr/>
          <p:nvPr/>
        </p:nvSpPr>
        <p:spPr>
          <a:xfrm>
            <a:off x="822960" y="5063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6"/>
          <p:cNvSpPr/>
          <p:nvPr/>
        </p:nvSpPr>
        <p:spPr>
          <a:xfrm>
            <a:off x="1435680" y="5063400"/>
            <a:ext cx="9582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Pack three values into one line, then unpack them into three variables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9" name="Image 0" descr="icons/boxes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0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A: Lists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EFDF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4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5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to store seven fruits in a list entered by the user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9"/>
          <p:cNvSpPr/>
          <p:nvPr/>
        </p:nvSpPr>
        <p:spPr>
          <a:xfrm>
            <a:off x="822960" y="35967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9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36597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0" name="Shape 10"/>
          <p:cNvSpPr/>
          <p:nvPr/>
        </p:nvSpPr>
        <p:spPr>
          <a:xfrm>
            <a:off x="1417320" y="36147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11"/>
          <p:cNvSpPr/>
          <p:nvPr/>
        </p:nvSpPr>
        <p:spPr>
          <a:xfrm>
            <a:off x="1417320" y="36147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12"/>
          <p:cNvSpPr/>
          <p:nvPr/>
        </p:nvSpPr>
        <p:spPr>
          <a:xfrm>
            <a:off x="2011680" y="35967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to accept marks of 6 students and display them in a sorted manner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13"/>
          <p:cNvSpPr/>
          <p:nvPr/>
        </p:nvSpPr>
        <p:spPr>
          <a:xfrm>
            <a:off x="822960" y="477000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4" name="Image 3" descr="icons/checkdouble.png"/>
          <p:cNvPicPr/>
          <p:nvPr/>
        </p:nvPicPr>
        <p:blipFill>
          <a:blip r:embed="rId4"/>
          <a:stretch/>
        </p:blipFill>
        <p:spPr>
          <a:xfrm>
            <a:off x="885960" y="48333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5" name="Shape 14"/>
          <p:cNvSpPr/>
          <p:nvPr/>
        </p:nvSpPr>
        <p:spPr>
          <a:xfrm>
            <a:off x="1417320" y="478836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15"/>
          <p:cNvSpPr/>
          <p:nvPr/>
        </p:nvSpPr>
        <p:spPr>
          <a:xfrm>
            <a:off x="1417320" y="47883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16"/>
          <p:cNvSpPr/>
          <p:nvPr/>
        </p:nvSpPr>
        <p:spPr>
          <a:xfrm>
            <a:off x="2011680" y="477000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program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to sum a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list with 4 </a:t>
            </a: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numbers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17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18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Shape 0"/>
          <p:cNvSpPr/>
          <p:nvPr/>
        </p:nvSpPr>
        <p:spPr>
          <a:xfrm>
            <a:off x="-1828800" y="5029200"/>
            <a:ext cx="3657240" cy="3657240"/>
          </a:xfrm>
          <a:prstGeom prst="ellipse">
            <a:avLst/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1"/>
          <p:cNvSpPr/>
          <p:nvPr/>
        </p:nvSpPr>
        <p:spPr>
          <a:xfrm>
            <a:off x="457200" y="457200"/>
            <a:ext cx="639720" cy="6397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2" name="Image 0" descr="icons/lock.png"/>
          <p:cNvPicPr/>
          <p:nvPr/>
        </p:nvPicPr>
        <p:blipFill>
          <a:blip r:embed="rId1"/>
          <a:stretch/>
        </p:blipFill>
        <p:spPr>
          <a:xfrm>
            <a:off x="553320" y="553320"/>
            <a:ext cx="447840" cy="4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Text 2"/>
          <p:cNvSpPr/>
          <p:nvPr/>
        </p:nvSpPr>
        <p:spPr>
          <a:xfrm>
            <a:off x="1280160" y="457200"/>
            <a:ext cx="10423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Today's Tasks — Part B: Tuples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3"/>
          <p:cNvSpPr/>
          <p:nvPr/>
        </p:nvSpPr>
        <p:spPr>
          <a:xfrm>
            <a:off x="457200" y="1600200"/>
            <a:ext cx="11274120" cy="4480200"/>
          </a:xfrm>
          <a:prstGeom prst="roundRect">
            <a:avLst>
              <a:gd name="adj" fmla="val 2041"/>
            </a:avLst>
          </a:prstGeom>
          <a:solidFill>
            <a:srgbClr val="F1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4"/>
          <p:cNvSpPr/>
          <p:nvPr/>
        </p:nvSpPr>
        <p:spPr>
          <a:xfrm>
            <a:off x="822960" y="18288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2420"/>
                </a:solidFill>
                <a:effectLst/>
                <a:uFillTx/>
                <a:latin typeface="Cambria"/>
                <a:ea typeface="Cambria"/>
              </a:rPr>
              <a:t>Small tasks — do them in order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Shape 5"/>
          <p:cNvSpPr/>
          <p:nvPr/>
        </p:nvSpPr>
        <p:spPr>
          <a:xfrm>
            <a:off x="822960" y="24231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7" name="Image 1" descr="icons/checkdouble.png"/>
          <p:cNvPicPr/>
          <p:nvPr/>
        </p:nvPicPr>
        <p:blipFill>
          <a:blip r:embed="rId2"/>
          <a:stretch/>
        </p:blipFill>
        <p:spPr>
          <a:xfrm>
            <a:off x="885960" y="24861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8" name="Shape 6"/>
          <p:cNvSpPr/>
          <p:nvPr/>
        </p:nvSpPr>
        <p:spPr>
          <a:xfrm>
            <a:off x="1417320" y="24415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7"/>
          <p:cNvSpPr/>
          <p:nvPr/>
        </p:nvSpPr>
        <p:spPr>
          <a:xfrm>
            <a:off x="1417320" y="24415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8"/>
          <p:cNvSpPr/>
          <p:nvPr/>
        </p:nvSpPr>
        <p:spPr>
          <a:xfrm>
            <a:off x="2011680" y="24231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Check that a tuple type cannot be changed in Python — try editing one and observe the error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Shape 9"/>
          <p:cNvSpPr/>
          <p:nvPr/>
        </p:nvSpPr>
        <p:spPr>
          <a:xfrm>
            <a:off x="822960" y="4023360"/>
            <a:ext cx="420120" cy="420120"/>
          </a:xfrm>
          <a:prstGeom prst="ellipse">
            <a:avLst/>
          </a:prstGeom>
          <a:solidFill>
            <a:srgbClr val="2C6E6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2" name="Image 2" descr="icons/checkdouble.png"/>
          <p:cNvPicPr/>
          <p:nvPr/>
        </p:nvPicPr>
        <p:blipFill>
          <a:blip r:embed="rId3"/>
          <a:stretch/>
        </p:blipFill>
        <p:spPr>
          <a:xfrm>
            <a:off x="885960" y="4086360"/>
            <a:ext cx="294120" cy="29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3" name="Shape 10"/>
          <p:cNvSpPr/>
          <p:nvPr/>
        </p:nvSpPr>
        <p:spPr>
          <a:xfrm>
            <a:off x="1417320" y="4041720"/>
            <a:ext cx="420120" cy="38376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2C6E6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 11"/>
          <p:cNvSpPr/>
          <p:nvPr/>
        </p:nvSpPr>
        <p:spPr>
          <a:xfrm>
            <a:off x="1417320" y="40417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5147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 12"/>
          <p:cNvSpPr/>
          <p:nvPr/>
        </p:nvSpPr>
        <p:spPr>
          <a:xfrm>
            <a:off x="2011680" y="4023360"/>
            <a:ext cx="941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B2420"/>
                </a:solidFill>
                <a:effectLst/>
                <a:uFillTx/>
                <a:latin typeface="Calibri"/>
                <a:ea typeface="Calibri"/>
              </a:rPr>
              <a:t>Write a program to count the number of zeros in a tuple you create with at least 3 zeros in 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13"/>
          <p:cNvSpPr/>
          <p:nvPr/>
        </p:nvSpPr>
        <p:spPr>
          <a:xfrm>
            <a:off x="822960" y="57607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B564F"/>
                </a:solidFill>
                <a:effectLst/>
                <a:uFillTx/>
                <a:latin typeface="Calibri"/>
                <a:ea typeface="Calibri"/>
              </a:rPr>
              <a:t>5 core tasks in total — due before our next class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14"/>
          <p:cNvSpPr/>
          <p:nvPr/>
        </p:nvSpPr>
        <p:spPr>
          <a:xfrm>
            <a:off x="457200" y="64465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Lists &amp; Tuples  ·  Session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15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9B0A7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3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Shape 0"/>
          <p:cNvSpPr/>
          <p:nvPr/>
        </p:nvSpPr>
        <p:spPr>
          <a:xfrm>
            <a:off x="-1828800" y="41148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Shape 1"/>
          <p:cNvSpPr/>
          <p:nvPr/>
        </p:nvSpPr>
        <p:spPr>
          <a:xfrm>
            <a:off x="9601200" y="-2286000"/>
            <a:ext cx="5486040" cy="5486040"/>
          </a:xfrm>
          <a:prstGeom prst="ellipse">
            <a:avLst/>
          </a:prstGeom>
          <a:solidFill>
            <a:srgbClr val="1840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2"/>
          <p:cNvSpPr/>
          <p:nvPr/>
        </p:nvSpPr>
        <p:spPr>
          <a:xfrm>
            <a:off x="5591520" y="731520"/>
            <a:ext cx="1005480" cy="1005480"/>
          </a:xfrm>
          <a:prstGeom prst="ellipse">
            <a:avLst/>
          </a:prstGeom>
          <a:solidFill>
            <a:srgbClr val="C98A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2" name="Image 0" descr="icons/boxes.png"/>
          <p:cNvPicPr/>
          <p:nvPr/>
        </p:nvPicPr>
        <p:blipFill>
          <a:blip r:embed="rId1"/>
          <a:stretch/>
        </p:blipFill>
        <p:spPr>
          <a:xfrm>
            <a:off x="5742360" y="88236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3" name="Text 3"/>
          <p:cNvSpPr/>
          <p:nvPr/>
        </p:nvSpPr>
        <p:spPr>
          <a:xfrm>
            <a:off x="914400" y="196596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pc="201" strike="noStrike">
                <a:solidFill>
                  <a:srgbClr val="E7C588"/>
                </a:solidFill>
                <a:effectLst/>
                <a:uFillTx/>
                <a:latin typeface="Calibri"/>
                <a:ea typeface="Calibri"/>
              </a:rPr>
              <a:t>RECAP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Text 4"/>
          <p:cNvSpPr/>
          <p:nvPr/>
        </p:nvSpPr>
        <p:spPr>
          <a:xfrm>
            <a:off x="914400" y="2377440"/>
            <a:ext cx="103597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list can grow, shrink, and change.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tuple, once made, stays exactly as it is.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5"/>
          <p:cNvSpPr/>
          <p:nvPr/>
        </p:nvSpPr>
        <p:spPr>
          <a:xfrm>
            <a:off x="1463040" y="4572000"/>
            <a:ext cx="926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3CC"/>
                </a:solidFill>
                <a:effectLst/>
                <a:uFillTx/>
                <a:latin typeface="Calibri"/>
                <a:ea typeface="Calibri"/>
              </a:rPr>
              <a:t>Next session: loops — now that lists exist, this is where they finally pay off.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6"/>
          <p:cNvSpPr/>
          <p:nvPr/>
        </p:nvSpPr>
        <p:spPr>
          <a:xfrm>
            <a:off x="1152144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C8A80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2026-07-28T11:53:32Z</dcterms:created>
  <dc:creator>Course Instructor</dc:creator>
  <dc:description/>
  <dc:language>en-US</dc:language>
  <cp:lastModifiedBy/>
  <dcterms:modified xsi:type="dcterms:W3CDTF">2026-07-29T06:09:52Z</dcterms:modified>
  <cp:revision>11</cp:revision>
  <dc:subject>PptxGenJS Presentation</dc:subject>
  <dc:title>Lists &amp; Tuples — Session 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45</vt:i4>
  </property>
  <property fmtid="{D5CDD505-2E9C-101B-9397-08002B2CF9AE}" pid="3" name="PresentationFormat">
    <vt:lpwstr>On-screen Show (16:9)</vt:lpwstr>
  </property>
  <property fmtid="{D5CDD505-2E9C-101B-9397-08002B2CF9AE}" pid="4" name="Slides">
    <vt:i4>45</vt:i4>
  </property>
</Properties>
</file>