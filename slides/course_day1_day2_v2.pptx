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62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6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59476B-072A-48BA-9A3A-1A76DFF052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slide. Keep it warm and simple.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22274-AE8B-4A7C-A235-DE6AAA4415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preview only — each item gets its own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19D43-012A-4ACA-8144-8421716713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the sandwich exercise live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8C7FF3-6016-4A21-842A-C8B9AF2F97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the state idea simple — do not call it a literal finite state machine.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1B0D5-F250-446A-8306-ECB05E74B2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677E35-6978-4DCE-B038-4988BC1754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2229EF-A5FC-453E-AB1A-17FD489810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this close to word-for-word.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C4369-9698-4CE7-99DD-0F2BD066EF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with: every phase exists because the next one needs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10A44-93EC-4619-AE70-5954073E70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E09555-1B21-4E97-A520-B879152452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00B2E1-5E7D-47BA-8635-4EA1CCC949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7D350-619D-4DAE-8A05-36307256CF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A3B7CC-E8F5-43A5-A189-DBE534B2A9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85A604-9BC4-45BD-8D8C-678A5C332D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004615-C8D6-468B-A478-E1126509A7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243FC-FF10-4F81-A5F9-08F52C865B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F8802D-5594-42EC-9EFE-54497B2C61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065FE7-0B7E-482B-B133-A58FC80751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CC77B0-F09E-49AE-ADE0-C599CBFC66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E6F3F-88E6-42B0-BCE4-BF7E75CD51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F3AC7D-B086-4DCD-8D88-A441E7D849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F09C9-B936-47EA-B1DB-56497A04E4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AF29C5-D771-4522-B971-0C7BA3430D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04D263-7072-41C3-BA63-A878D536C2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80B1C9-265B-42A2-9C2C-CE3936FEA8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919DB-73B0-42B4-9856-26A6BE62B1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BB5DEA-415F-4055-AD3B-0EC6E7A2AA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3586D-A329-456D-8CD7-891AD8F54C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BDAA69-0C26-4C54-9633-A2E93B4EA8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451507-C28B-48E3-942B-CBC600E397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0FDA72-D33F-4BA8-8FDE-10C8CB87E3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3C4A4A-ABC7-4FC4-A959-A489656A6B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C45159-966E-4963-AC9B-D3B386A11E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9D1467-A5B6-4A24-AFBE-5CB05FC994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9CAC85-CEC5-4FFD-A4E4-C905B48801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1297FE-56E8-4217-A157-B1FF98322E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8D3C0B-3C75-40EE-90C5-8B87E97D4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96862C-7B47-43CF-834C-58D3FF4D65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0A91E-AFF7-4935-BBE6-4B8223A483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704AD7-F99C-4951-A355-C26D1EB033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22F895-CAF7-48D6-8851-B7C9AAC672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C4AE1B-9083-4B8B-A45E-667869A18D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DA97B-0B31-4D17-9D90-533CEFEEF1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B7EE9A-E392-4E2E-A281-BEA278BE8F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55BFCA-63C8-45EC-B96B-D10FCFD440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3EDAD2-09F1-4B34-933A-B3E081210D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A17380-F662-4570-AA38-367C38E33A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E7888-A7FA-4FFC-BA73-FD30EAC68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1B0756-7A84-4268-9B03-4C927AF624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754DB2-10FD-440F-BC53-68357356A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195416-675C-499A-B16D-5683D0C2DE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7F259-DE13-41A8-A0AC-F960822729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1E15D8-AFCE-442F-8758-6E137F0786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2A14D-2F24-4C77-AF4D-6B088BE0B0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807270-E446-4FE8-A78E-645EB441C5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825480-A441-4D05-94AA-FCD7A1EB6B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8789F4-B128-4AB6-9C48-9B8C037149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A7CB52-8565-4870-AAA5-CCCB88E9FC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recap before moving to career paths.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B9D91-CB9B-49FF-AA28-CB5A029AFB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DCBE9D-0590-4496-960A-28165A42D8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E06E37-7523-47DF-BADE-F862AD7465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309BB1-431A-4A22-9926-3AAFA541EB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B23F69-7AB1-4544-9B22-376C014FD0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A64807-3321-44A5-B721-078D6CFC43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7EC1DC-0ED7-42EB-BDFE-BFA73A738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187E56-8454-41E8-B992-9D84C5C378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D8B040-DF7F-4861-A7D9-2471516534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0FD3DC-7BE5-4524-A983-2BF6BB4D57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warm. Confirm the Day 1 task deadline before dismissing.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8E1C2C-A83F-4BE1-A20B-E6EF3B77A2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40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25.png"/><Relationship Id="rId4" Type="http://schemas.openxmlformats.org/officeDocument/2006/relationships/image" Target="../media/image41.png"/><Relationship Id="rId5" Type="http://schemas.openxmlformats.org/officeDocument/2006/relationships/image" Target="../media/image13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3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Relationship Id="rId7" Type="http://schemas.openxmlformats.org/officeDocument/2006/relationships/image" Target="../media/image4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45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laptop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Code, Data &amp; Decisions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From First Principles to Real-World AI &amp; Data Science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Day 1 &amp; 2  ·  Orientation and The Big Picture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914400" y="612648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9C93"/>
                </a:solidFill>
                <a:effectLst/>
                <a:uFillTx/>
                <a:latin typeface="Calibri"/>
                <a:ea typeface="Calibri"/>
              </a:rPr>
              <a:t>BS(CS), 6th Semester — University of Balochistan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cons/calend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1 — Where We Begin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16002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621720" y="16812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icons/code.png"/>
          <p:cNvPicPr/>
          <p:nvPr/>
        </p:nvPicPr>
        <p:blipFill>
          <a:blip r:embed="rId2"/>
          <a:stretch/>
        </p:blipFill>
        <p:spPr>
          <a:xfrm>
            <a:off x="684000" y="17434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1325880" y="16002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programming?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457200" y="22964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21720" y="23774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icons/microchip.png"/>
          <p:cNvPicPr/>
          <p:nvPr/>
        </p:nvPicPr>
        <p:blipFill>
          <a:blip r:embed="rId3"/>
          <a:stretch/>
        </p:blipFill>
        <p:spPr>
          <a:xfrm>
            <a:off x="684000" y="24397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8"/>
          <p:cNvSpPr/>
          <p:nvPr/>
        </p:nvSpPr>
        <p:spPr>
          <a:xfrm>
            <a:off x="1325880" y="22964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How does a computer "think"?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457200" y="299268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621720" y="307368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3" descr="icons/exchange.png"/>
          <p:cNvPicPr/>
          <p:nvPr/>
        </p:nvPicPr>
        <p:blipFill>
          <a:blip r:embed="rId4"/>
          <a:stretch/>
        </p:blipFill>
        <p:spPr>
          <a:xfrm>
            <a:off x="684000" y="313596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1"/>
          <p:cNvSpPr/>
          <p:nvPr/>
        </p:nvSpPr>
        <p:spPr>
          <a:xfrm>
            <a:off x="1325880" y="299268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Compiled vs. interpreted languages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57200" y="368892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621720" y="376992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4" descr="icons/python.png"/>
          <p:cNvPicPr/>
          <p:nvPr/>
        </p:nvPicPr>
        <p:blipFill>
          <a:blip r:embed="rId5"/>
          <a:stretch/>
        </p:blipFill>
        <p:spPr>
          <a:xfrm>
            <a:off x="684000" y="383220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1325880" y="368892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we use 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457200" y="438516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621720" y="446616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5" descr="icons/lightbulb.png"/>
          <p:cNvPicPr/>
          <p:nvPr/>
        </p:nvPicPr>
        <p:blipFill>
          <a:blip r:embed="rId6"/>
          <a:stretch/>
        </p:blipFill>
        <p:spPr>
          <a:xfrm>
            <a:off x="684000" y="452844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7"/>
          <p:cNvSpPr/>
          <p:nvPr/>
        </p:nvSpPr>
        <p:spPr>
          <a:xfrm>
            <a:off x="1325880" y="4385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this course exists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457200" y="50814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621720" y="51624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6" descr="icons/route.png"/>
          <p:cNvPicPr/>
          <p:nvPr/>
        </p:nvPicPr>
        <p:blipFill>
          <a:blip r:embed="rId7"/>
          <a:stretch/>
        </p:blipFill>
        <p:spPr>
          <a:xfrm>
            <a:off x="684000" y="52246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0"/>
          <p:cNvSpPr/>
          <p:nvPr/>
        </p:nvSpPr>
        <p:spPr>
          <a:xfrm>
            <a:off x="1325880" y="50814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Our 16-week roadmap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457200" y="57776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621720" y="58586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7" descr="icons/toolbox.png"/>
          <p:cNvPicPr/>
          <p:nvPr/>
        </p:nvPicPr>
        <p:blipFill>
          <a:blip r:embed="rId8"/>
          <a:stretch/>
        </p:blipFill>
        <p:spPr>
          <a:xfrm>
            <a:off x="684000" y="59209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23"/>
          <p:cNvSpPr/>
          <p:nvPr/>
        </p:nvSpPr>
        <p:spPr>
          <a:xfrm>
            <a:off x="1325880" y="57776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Tools to install before next class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icons/cod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Programming = Giving Clear Instructions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icons/cod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"Say exactly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you mean"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People understand hints and context. Computers do not.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program is just a list of simple steps. This list is called an algorithm.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this: tell someone how to make a sandwich, step by step. You will find gaps you never noticed.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Programming means noticing your own gaps before the computer does.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icons/microchi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Inside a Computer: Just Switches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" descr="icons/microchi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 states only: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 / off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computer is made of billions of tiny switches called transistors.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switch is either on or off. We call this 1 and 0.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program is like a path — each step moves you to the next point on that path.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Nothing "understands" your code. That is why we must be exact.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Two Ways to Run 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822960" y="1828800"/>
            <a:ext cx="5120280" cy="4205880"/>
          </a:xfrm>
          <a:prstGeom prst="roundRect">
            <a:avLst>
              <a:gd name="adj" fmla="val 173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09728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Compiled (C++, Java)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1280160" y="27432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1280160" y="27432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280160" y="3291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1280160" y="36576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280160" y="36576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Compiler Translates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1280160" y="42062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1280160" y="45720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1280160" y="45720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Runs It Fast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400800" y="1828800"/>
            <a:ext cx="5120280" cy="4205880"/>
          </a:xfrm>
          <a:prstGeom prst="roundRect">
            <a:avLst>
              <a:gd name="adj" fmla="val 173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667512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Interpreted (Python)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858000" y="27432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858000" y="27432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6858000" y="32918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6858000" y="36576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6858000" y="36576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Interpreter Reads Each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6858000" y="42062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6858000" y="4572000"/>
            <a:ext cx="4205880" cy="548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6858000" y="45720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Right Away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822960" y="6172200"/>
            <a:ext cx="1054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Simple rule: Compiled = runs fast. Interpreted (Python) = lets you test ideas fast.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10515600" y="-137160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icons/pytho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Python? (And Its Limits)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31520" y="18288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Why Python Is Great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31520" y="2331720"/>
            <a:ext cx="48002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Reads almost like English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All the best data tools live here (NumPy, Pandas, scikit-learn)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200-line C++ program can be 20 lines in Python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Fewer strict rules — easier to turn an idea into working code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446520" y="18288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Where It Falls Short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446520" y="2331720"/>
            <a:ext cx="48002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slower than compiled languages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built for parallel processing (a detail called the GIL (Global Interpreter Lock))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a great fit for mobile apps or embedded devices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Its speed in data work often comes from C code running underneath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icons/lightbulb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WHY THIS COURSE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"You are not here to become computer scientists or software engineers.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You are here so your research never waits on someone else."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And if you enjoy it — this is a real path into data science.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icons/rou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16-Week Journey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19767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icons/code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4"/>
          <p:cNvSpPr/>
          <p:nvPr/>
        </p:nvSpPr>
        <p:spPr>
          <a:xfrm>
            <a:off x="56700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 · Orientation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2172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 1 — what a computer is, why Python, first code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1112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icons/sitemap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8"/>
          <p:cNvSpPr/>
          <p:nvPr/>
        </p:nvSpPr>
        <p:spPr>
          <a:xfrm>
            <a:off x="440136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 · Python Core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45608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2–4 — functions, lists, dicts, files, errors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96454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icons/chart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2"/>
          <p:cNvSpPr/>
          <p:nvPr/>
        </p:nvSpPr>
        <p:spPr>
          <a:xfrm>
            <a:off x="823572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3 · Stats &amp; Math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829044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5–7 — just the math the next phase needs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19767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4" descr="icons/network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6"/>
          <p:cNvSpPr/>
          <p:nvPr/>
        </p:nvSpPr>
        <p:spPr>
          <a:xfrm>
            <a:off x="56700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4 · NumPy, Pandas, Viz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62172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8–10 — the real tools of data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581112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5" descr="icons/eye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0"/>
          <p:cNvSpPr/>
          <p:nvPr/>
        </p:nvSpPr>
        <p:spPr>
          <a:xfrm>
            <a:off x="440136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5 · EDA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445608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11–12 — reading a real dataset before modeling 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96454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6" descr="icons/brain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24"/>
          <p:cNvSpPr/>
          <p:nvPr/>
        </p:nvSpPr>
        <p:spPr>
          <a:xfrm>
            <a:off x="823572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6 · ML + Capstone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829044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13–16 — first models, and a project of your 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icons/toolbox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BEFORE NEXT CLASS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Tools You Will Need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Five simple tools — install them before our next session.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icons/anaconda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Miniconda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icons/anacond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Manages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and its tools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Miniconda installs Python on your computer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creates separate, clean workspaces called "environments" for each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stops different projects from breaking each other's tools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Think of it as a toolbox manager for all your Python projects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icons/lapto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Visual Studio Code (VS Code)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icons/lapto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you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write your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VS Code is a free, popular code editor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highlights your code in color, so mistakes are easy to spot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has helpful extensions — small add-ons for Python, Jupyter notebooks, and more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app you will open every single class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icons/gital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Git — Version Control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1" descr="icons/gital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"Save points"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your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 saves snapshots of your code as you work — like checkpoints in a game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 break something, you can go back to an earlier snapshot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lets many people work on the same project without overwriting each other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 runs on your own computer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icons/github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GitHub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1" descr="icons/github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Your code's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online home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GitHub stores your Git snapshots online, safely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lets you share your code, back it up, and show it to others (like future employers)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connect Git (on your computer) to GitHub (online) so the two stay in sync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Almost every professional programmer and researcher uses GitHub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0" descr="icons/ubuntu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Linux / Ubuntu (Optional)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1" descr="icons/ubuntu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Optional 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 required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Linux is another operating system, like Windows or macOS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Ubuntu is a beginner-friendly version of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Many data science and AI tools were originally built for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 NOT need it for this course — Windows or macOS work perfectly fine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icons/task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1 Task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822960" y="187452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 Up Your Coding Environment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822960" y="251460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1" descr="icons/check.png"/>
          <p:cNvPicPr/>
          <p:nvPr/>
        </p:nvPicPr>
        <p:blipFill>
          <a:blip r:embed="rId2"/>
          <a:stretch/>
        </p:blipFill>
        <p:spPr>
          <a:xfrm>
            <a:off x="884520" y="257616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6"/>
          <p:cNvSpPr/>
          <p:nvPr/>
        </p:nvSpPr>
        <p:spPr>
          <a:xfrm>
            <a:off x="1417320" y="251460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Miniconda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822960" y="313632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2" descr="icons/check.png"/>
          <p:cNvPicPr/>
          <p:nvPr/>
        </p:nvPicPr>
        <p:blipFill>
          <a:blip r:embed="rId3"/>
          <a:stretch/>
        </p:blipFill>
        <p:spPr>
          <a:xfrm>
            <a:off x="884520" y="319824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8"/>
          <p:cNvSpPr/>
          <p:nvPr/>
        </p:nvSpPr>
        <p:spPr>
          <a:xfrm>
            <a:off x="1417320" y="31363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VS Code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822960" y="375804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3" descr="icons/check.png"/>
          <p:cNvPicPr/>
          <p:nvPr/>
        </p:nvPicPr>
        <p:blipFill>
          <a:blip r:embed="rId4"/>
          <a:stretch/>
        </p:blipFill>
        <p:spPr>
          <a:xfrm>
            <a:off x="884520" y="381996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10"/>
          <p:cNvSpPr/>
          <p:nvPr/>
        </p:nvSpPr>
        <p:spPr>
          <a:xfrm>
            <a:off x="1417320" y="3758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Git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822960" y="438012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4" descr="icons/check.png"/>
          <p:cNvPicPr/>
          <p:nvPr/>
        </p:nvPicPr>
        <p:blipFill>
          <a:blip r:embed="rId5"/>
          <a:stretch/>
        </p:blipFill>
        <p:spPr>
          <a:xfrm>
            <a:off x="884520" y="444168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12"/>
          <p:cNvSpPr/>
          <p:nvPr/>
        </p:nvSpPr>
        <p:spPr>
          <a:xfrm>
            <a:off x="1417320" y="43801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your own GitHub account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3"/>
          <p:cNvSpPr/>
          <p:nvPr/>
        </p:nvSpPr>
        <p:spPr>
          <a:xfrm>
            <a:off x="822960" y="5001840"/>
            <a:ext cx="411120" cy="411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5" descr="icons/check.png"/>
          <p:cNvPicPr/>
          <p:nvPr/>
        </p:nvPicPr>
        <p:blipFill>
          <a:blip r:embed="rId6"/>
          <a:stretch/>
        </p:blipFill>
        <p:spPr>
          <a:xfrm>
            <a:off x="884520" y="5063400"/>
            <a:ext cx="28764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14"/>
          <p:cNvSpPr/>
          <p:nvPr/>
        </p:nvSpPr>
        <p:spPr>
          <a:xfrm>
            <a:off x="1417320" y="50018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Connect Git (your computer) to your GitHub account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822960" y="56235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Due before our next class · Ask in the group chat if you get stuck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icons/lapto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3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Day 1 gave you the foundations.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Day 2 shows you where they lead.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0" descr="icons/calend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2 — Where This Takes You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457200" y="16002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621720" y="16812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1" descr="icons/language.png"/>
          <p:cNvPicPr/>
          <p:nvPr/>
        </p:nvPicPr>
        <p:blipFill>
          <a:blip r:embed="rId2"/>
          <a:stretch/>
        </p:blipFill>
        <p:spPr>
          <a:xfrm>
            <a:off x="684000" y="17434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5"/>
          <p:cNvSpPr/>
          <p:nvPr/>
        </p:nvSpPr>
        <p:spPr>
          <a:xfrm>
            <a:off x="1325880" y="16002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does "Intelligence"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457200" y="22964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621720" y="23774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2" descr="icons/toolbox.png"/>
          <p:cNvPicPr/>
          <p:nvPr/>
        </p:nvPicPr>
        <p:blipFill>
          <a:blip r:embed="rId3"/>
          <a:stretch/>
        </p:blipFill>
        <p:spPr>
          <a:xfrm>
            <a:off x="684000" y="24397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8"/>
          <p:cNvSpPr/>
          <p:nvPr/>
        </p:nvSpPr>
        <p:spPr>
          <a:xfrm>
            <a:off x="1325880" y="22964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does "Artificial"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457200" y="299268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621720" y="307368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3" descr="icons/brain.png"/>
          <p:cNvPicPr/>
          <p:nvPr/>
        </p:nvPicPr>
        <p:blipFill>
          <a:blip r:embed="rId4"/>
          <a:stretch/>
        </p:blipFill>
        <p:spPr>
          <a:xfrm>
            <a:off x="684000" y="313596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11"/>
          <p:cNvSpPr/>
          <p:nvPr/>
        </p:nvSpPr>
        <p:spPr>
          <a:xfrm>
            <a:off x="1325880" y="299268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Artificial Intelligence?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457200" y="368892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621720" y="376992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4" descr="icons/landmark.png"/>
          <p:cNvPicPr/>
          <p:nvPr/>
        </p:nvPicPr>
        <p:blipFill>
          <a:blip r:embed="rId5"/>
          <a:stretch/>
        </p:blipFill>
        <p:spPr>
          <a:xfrm>
            <a:off x="684000" y="383220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14"/>
          <p:cNvSpPr/>
          <p:nvPr/>
        </p:nvSpPr>
        <p:spPr>
          <a:xfrm>
            <a:off x="1325880" y="368892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short history of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457200" y="438516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621720" y="446616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5" descr="icons/sitemap.png"/>
          <p:cNvPicPr/>
          <p:nvPr/>
        </p:nvPicPr>
        <p:blipFill>
          <a:blip r:embed="rId6"/>
          <a:stretch/>
        </p:blipFill>
        <p:spPr>
          <a:xfrm>
            <a:off x="684000" y="452844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17"/>
          <p:cNvSpPr/>
          <p:nvPr/>
        </p:nvSpPr>
        <p:spPr>
          <a:xfrm>
            <a:off x="1325880" y="438516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main areas of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457200" y="508140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621720" y="516240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6" descr="icons/flask.png"/>
          <p:cNvPicPr/>
          <p:nvPr/>
        </p:nvPicPr>
        <p:blipFill>
          <a:blip r:embed="rId7"/>
          <a:stretch/>
        </p:blipFill>
        <p:spPr>
          <a:xfrm>
            <a:off x="684000" y="522468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20"/>
          <p:cNvSpPr/>
          <p:nvPr/>
        </p:nvSpPr>
        <p:spPr>
          <a:xfrm>
            <a:off x="1325880" y="508140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 research examples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1"/>
          <p:cNvSpPr/>
          <p:nvPr/>
        </p:nvSpPr>
        <p:spPr>
          <a:xfrm>
            <a:off x="457200" y="5777640"/>
            <a:ext cx="11274120" cy="57708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621720" y="5858640"/>
            <a:ext cx="415440" cy="4154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7" descr="icons/chart.png"/>
          <p:cNvPicPr/>
          <p:nvPr/>
        </p:nvPicPr>
        <p:blipFill>
          <a:blip r:embed="rId8"/>
          <a:stretch/>
        </p:blipFill>
        <p:spPr>
          <a:xfrm>
            <a:off x="684000" y="5920920"/>
            <a:ext cx="290520" cy="2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23"/>
          <p:cNvSpPr/>
          <p:nvPr/>
        </p:nvSpPr>
        <p:spPr>
          <a:xfrm>
            <a:off x="1325880" y="5777640"/>
            <a:ext cx="10058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Data Science?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5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8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ARTIFICIAL · WORD ORIGIN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6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9" descr="icons/languag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29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Does "Artificial" Mean?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"Artificial" is an adjective. It comes from the Latin word "Artificium."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Some researchers trace it further back to "Artefact" — meaning something man-made, not natural.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1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2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7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3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ARTIFICIAL · IN SIMPLE WORDS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8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10" descr="icons/toolbox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34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Artificial = Man-Made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5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natural lake is made by nature. An artificial lake is built by people.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the same way, "Artificial Intelligence" means intelligence that is built by people — not born naturally.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3" name="Image 0" descr="icons/languag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UNDERSTANDING INTELLIGENCE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Does "Intelligence" Actually Mean?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WORD ORIGIN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icons/languag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Does the Word Come From?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There is no single agreed definition of "intelligence" — even experts disagree.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It is a noun, and it comes from the Latin word "Intelliger", which means "to understand."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THE TWO PARTS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icons/gradcap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 Understand, Then To Learn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has two connected ideas: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1) To understand something.  2) To learn from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 always understand first — and only then can we truly learn.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1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icons/layergroup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Capacity to Acquire Capacity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not just what you know — it is how ready you are to gain new abilities.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2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icons/brai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Reason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the skill of thinking things through logically, step by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3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0" descr="icons/balanc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Judge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being able to weigh choices and decide what is right or best.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4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icons/puzzl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Relate Concepts and Situations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connecting what you already know to a brand-new situation.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5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5088600" y="1051560"/>
            <a:ext cx="2011320" cy="319680"/>
          </a:xfrm>
          <a:prstGeom prst="roundRect">
            <a:avLst>
              <a:gd name="adj" fmla="val 48571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"/>
          <p:cNvSpPr/>
          <p:nvPr/>
        </p:nvSpPr>
        <p:spPr>
          <a:xfrm>
            <a:off x="5088600" y="10515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★ ONE OF THE BEST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4"/>
          <p:cNvSpPr/>
          <p:nvPr/>
        </p:nvSpPr>
        <p:spPr>
          <a:xfrm>
            <a:off x="5362920" y="150876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 0" descr="icons/water.png"/>
          <p:cNvPicPr/>
          <p:nvPr/>
        </p:nvPicPr>
        <p:blipFill>
          <a:blip r:embed="rId1"/>
          <a:stretch/>
        </p:blipFill>
        <p:spPr>
          <a:xfrm>
            <a:off x="5582520" y="172836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5"/>
          <p:cNvSpPr/>
          <p:nvPr/>
        </p:nvSpPr>
        <p:spPr>
          <a:xfrm>
            <a:off x="914400" y="310896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Handle Situations Flexibly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1828800" y="384048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This is often called one of the best definitions of intelligence: the ability to adapt — to bend, not break — when a situation changes. This is also called resilience.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6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8" name="Image 0" descr="icons/bullsey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Goal-Oriented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behavior aimed at a clear goal — adapting your actions until you reach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914400" y="617220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Robert Sternberg &amp; Salter,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7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0" descr="icons/history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Take Profit from Experience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Intelligent behavior means learning from your past — using old experience to do better next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8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5" name="Image 0" descr="icons/coin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Proper Use of Limited Resources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using what little time, energy, or resources you have in the smartest possible way to reach your goal.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5"/>
          <p:cNvSpPr/>
          <p:nvPr/>
        </p:nvSpPr>
        <p:spPr>
          <a:xfrm>
            <a:off x="914400" y="617220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Ray Kurzweil,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9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icons/chartlin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Getting Better Over Time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One simple, powerful idea: if something keeps improving with practice and experience, that is intelligence.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5"/>
          <p:cNvSpPr/>
          <p:nvPr/>
        </p:nvSpPr>
        <p:spPr>
          <a:xfrm>
            <a:off x="914400" y="617220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Roger Schank,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icons/brain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Artificial  + 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"Man-made" ability to understand, reason, and learn.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Now let's look at how experts formally define this field.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0" descr="icons/brain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FORMAL DEFINITIONS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How Do Experts Define Artificial Intelligence?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1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0" descr="icons/brai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General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ability of a system to understand, learn, gain knowledge, and use that knowledge in the right way.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2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5" name="Image 0" descr="icons/user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Buchanan's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part of computer science that solves problems which humans, right now, can still do better than computers.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3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0" descr="icons/hashtag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Buchanan's Symbolic AI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can solve problems by turning information into symbols, then using simple rules of thumb (called heuristics) on those symbols.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4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1" name="Image 0" descr="icons/lightbulb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Making Computers Smart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simple words, AI is the area of computer science used to make computers "smart."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5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9" name="Image 0" descr="icons/cog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Automation of Intelligent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branch of computer science that automates behavior we would normally call "intelligent."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6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icons/satellit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Intelligent Agents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designs "agents" — programs that can sense their surroundings and take action to reach a goal.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7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0" descr="icons/chartlin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 From Experience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solves hard problems by learning from experience, and getting better at it over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"/>
          <p:cNvSpPr/>
          <p:nvPr/>
        </p:nvSpPr>
        <p:spPr>
          <a:xfrm>
            <a:off x="548640" y="411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8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"/>
          <p:cNvSpPr/>
          <p:nvPr/>
        </p:nvSpPr>
        <p:spPr>
          <a:xfrm>
            <a:off x="5362920" y="1234440"/>
            <a:ext cx="1462680" cy="1462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3" name="Image 0" descr="icons/mask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84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Text 3"/>
          <p:cNvSpPr/>
          <p:nvPr/>
        </p:nvSpPr>
        <p:spPr>
          <a:xfrm>
            <a:off x="914400" y="2834640"/>
            <a:ext cx="10359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Mimicking Human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4"/>
          <p:cNvSpPr/>
          <p:nvPr/>
        </p:nvSpPr>
        <p:spPr>
          <a:xfrm>
            <a:off x="1828800" y="3566160"/>
            <a:ext cx="8530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a branch of computer science where machines are taught to copy human intelligence and behavior.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0" descr="icons/landmar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A SHORT 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Short History of Artificial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 0" descr="icons/cog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Al-Jazari (12th Century)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1" name="Image 1" descr="icons/cog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1200s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Early 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of the earliest inventors of programmable, mechanical machines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 automatic devices, water clocks, and human-shaped robots (automata)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Wrote a famous book: "The Book of Knowledge of Ingenious Mechanical Devices"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His work laid the groundwork for robotics and automation, centuries early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8" name="Image 0" descr="icons/usersecre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Alan Turing (1930s–1950s)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2" name="Image 1" descr="icons/usersecre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1936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Turing Machine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British mathematician who first asked: "Can machines think?"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Introduced the Turing Machine — the theory behind all modern computers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1950, wrote the paper "Computing Machinery and Intelligence"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Created the famous Turing Test to check if a machine can act intelligently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0" descr="icons/landmar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Dartmouth Conference (1956)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3" name="Image 1" descr="icons/landmar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1956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Is Born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summer research meeting that officially created AI as its own field of study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Organized by John McCarthy, Marvin Minsky, Claude Shannon, and Nathaniel Rochester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John McCarthy coined the actual term "Artificial Intelligence" 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event marks the true "birthday" of AI as a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0" name="Image 0" descr="icons/snowflak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First AI Winter (1970s)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4" name="Image 1" descr="icons/snowflak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1970s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Progress Slows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Interest and funding in AI research dropped sharply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Computers were still too weak — not enough power or memory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Many earlier promises about AI turned out to be too optimistic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Researchers focused more on theory than on working, practical systems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1" name="Image 0" descr="icons/chartlin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Revival (1980s–1990s)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5" name="Image 1" descr="icons/chartlin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1980s–90s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Returns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Expert Systems became popular and genuinely useful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Computers became faster and more powerful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lot more digital data became available to learn from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made real, practical progress during this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3" name="Image 0" descr="icons/sitema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THE BUILDING BLOCKS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Main Areas of Artificial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9" name="Image 0" descr="icons/sitema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3" name="Image 1" descr="icons/sitema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Rules from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human experts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Expert Systems are programs built to copy the decision-making of a real human expert, using stored knowledge and rules.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medical diagnosis, financial advice, technical troubleshooting, decision support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Image 1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lets a computer find patterns in data by itself — instead of a human writing every single rule by hand.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predictions, recommendation systems, fraud detection, speech recognition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4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 — 4 Types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2"/>
          <p:cNvSpPr/>
          <p:nvPr/>
        </p:nvSpPr>
        <p:spPr>
          <a:xfrm>
            <a:off x="45720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3"/>
          <p:cNvSpPr/>
          <p:nvPr/>
        </p:nvSpPr>
        <p:spPr>
          <a:xfrm>
            <a:off x="29350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1" descr="icons/book.png"/>
          <p:cNvPicPr/>
          <p:nvPr/>
        </p:nvPicPr>
        <p:blipFill>
          <a:blip r:embed="rId2"/>
          <a:stretch/>
        </p:blipFill>
        <p:spPr>
          <a:xfrm>
            <a:off x="302040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4"/>
          <p:cNvSpPr/>
          <p:nvPr/>
        </p:nvSpPr>
        <p:spPr>
          <a:xfrm>
            <a:off x="567000" y="24285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5"/>
          <p:cNvSpPr/>
          <p:nvPr/>
        </p:nvSpPr>
        <p:spPr>
          <a:xfrm>
            <a:off x="621720" y="281268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from labeled examples — each has a known correct answer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6"/>
          <p:cNvSpPr/>
          <p:nvPr/>
        </p:nvSpPr>
        <p:spPr>
          <a:xfrm>
            <a:off x="6208920" y="150876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7"/>
          <p:cNvSpPr/>
          <p:nvPr/>
        </p:nvSpPr>
        <p:spPr>
          <a:xfrm>
            <a:off x="868680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2" descr="icons/puzzle.png"/>
          <p:cNvPicPr/>
          <p:nvPr/>
        </p:nvPicPr>
        <p:blipFill>
          <a:blip r:embed="rId3"/>
          <a:stretch/>
        </p:blipFill>
        <p:spPr>
          <a:xfrm>
            <a:off x="877176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8"/>
          <p:cNvSpPr/>
          <p:nvPr/>
        </p:nvSpPr>
        <p:spPr>
          <a:xfrm>
            <a:off x="6318360" y="24285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Unsupervised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6373440" y="281268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Finds hidden patterns in data with no labels at 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0"/>
          <p:cNvSpPr/>
          <p:nvPr/>
        </p:nvSpPr>
        <p:spPr>
          <a:xfrm>
            <a:off x="45720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1"/>
          <p:cNvSpPr/>
          <p:nvPr/>
        </p:nvSpPr>
        <p:spPr>
          <a:xfrm>
            <a:off x="29350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3" descr="icons/layergroup.png"/>
          <p:cNvPicPr/>
          <p:nvPr/>
        </p:nvPicPr>
        <p:blipFill>
          <a:blip r:embed="rId4"/>
          <a:stretch/>
        </p:blipFill>
        <p:spPr>
          <a:xfrm>
            <a:off x="302040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12"/>
          <p:cNvSpPr/>
          <p:nvPr/>
        </p:nvSpPr>
        <p:spPr>
          <a:xfrm>
            <a:off x="567000" y="49888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Semi-Supervised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3"/>
          <p:cNvSpPr/>
          <p:nvPr/>
        </p:nvSpPr>
        <p:spPr>
          <a:xfrm>
            <a:off x="621720" y="537300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from a mix of labeled and unlabeled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4"/>
          <p:cNvSpPr/>
          <p:nvPr/>
        </p:nvSpPr>
        <p:spPr>
          <a:xfrm>
            <a:off x="6208920" y="4069080"/>
            <a:ext cx="552276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5"/>
          <p:cNvSpPr/>
          <p:nvPr/>
        </p:nvSpPr>
        <p:spPr>
          <a:xfrm>
            <a:off x="868680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4" descr="icons/bullseye.png"/>
          <p:cNvPicPr/>
          <p:nvPr/>
        </p:nvPicPr>
        <p:blipFill>
          <a:blip r:embed="rId5"/>
          <a:stretch/>
        </p:blipFill>
        <p:spPr>
          <a:xfrm>
            <a:off x="877176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 16"/>
          <p:cNvSpPr/>
          <p:nvPr/>
        </p:nvSpPr>
        <p:spPr>
          <a:xfrm>
            <a:off x="6318360" y="49888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Reinforcement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7"/>
          <p:cNvSpPr/>
          <p:nvPr/>
        </p:nvSpPr>
        <p:spPr>
          <a:xfrm>
            <a:off x="6373440" y="5373000"/>
            <a:ext cx="5193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by trial and error, earning rewards for good choices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0" name="Image 0" descr="icons/dna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Evolutionary Algorithms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4" name="Image 1" descr="icons/dn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Inspired by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methods borrow ideas from natural evolution — testing many possible solutions, and keeping the best ones over many rounds.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optimization problems, scheduling, engineering design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3" name="Image 0" descr="icons/ey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7" name="Image 1" descr="icons/ey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that "see"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lets a computer understand and interpret images and videos, much like a human eye and brain would.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facial recognition, medical imaging, self-driving cars, security cameras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6" name="Image 0" descr="icons/robo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0" name="Image 1" descr="icons/robo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with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physical body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Robotics combines AI with physical machines, so robots can sense their surroundings, plan, and act on their own.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manufacturing, healthcare, military, space exploration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9" name="Image 0" descr="icons/comment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Natural Language Processing (NLP)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3" name="Image 1" descr="icons/comment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that "talk"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NLP lets a computer understand, process, and even generate human language — written or spoken.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chatbots, translation, speech recognition, sentiment analysis, virtual assistants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2" name="Image 0" descr="icons/swarm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Swarm Intelligence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6" name="Image 1" descr="icons/swarm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Inspired by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ants &amp; bees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Swarm Intelligence copies how groups of simple animals — ants, bees, birds, fish — solve problems together, with no single leader.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optimization, delivery routing, scheduling, distributed problem-solving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5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Ethics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9" name="Image 1" descr="icons/balanc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Building AI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responsibly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6"/>
          <p:cNvSpPr/>
          <p:nvPr/>
        </p:nvSpPr>
        <p:spPr>
          <a:xfrm>
            <a:off x="4572000" y="1737360"/>
            <a:ext cx="7131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AI Ethics makes sure AI systems are built fairly and safely for everyone — this area is growing quickly as AI spreads.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7"/>
          <p:cNvSpPr/>
          <p:nvPr/>
        </p:nvSpPr>
        <p:spPr>
          <a:xfrm>
            <a:off x="4572000" y="4023360"/>
            <a:ext cx="7131960" cy="173700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8"/>
          <p:cNvSpPr/>
          <p:nvPr/>
        </p:nvSpPr>
        <p:spPr>
          <a:xfrm>
            <a:off x="4800600" y="420624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fairness, bias, privacy, transparency, accountability, safety, security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7" name="Image 0" descr="icons/sitema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Fields at a Glance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2"/>
          <p:cNvSpPr/>
          <p:nvPr/>
        </p:nvSpPr>
        <p:spPr>
          <a:xfrm>
            <a:off x="45720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149724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1" name="Image 1" descr="icons/sitemap.png"/>
          <p:cNvPicPr/>
          <p:nvPr/>
        </p:nvPicPr>
        <p:blipFill>
          <a:blip r:embed="rId2"/>
          <a:stretch/>
        </p:blipFill>
        <p:spPr>
          <a:xfrm>
            <a:off x="158220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Text 4"/>
          <p:cNvSpPr/>
          <p:nvPr/>
        </p:nvSpPr>
        <p:spPr>
          <a:xfrm>
            <a:off x="56700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5"/>
          <p:cNvSpPr/>
          <p:nvPr/>
        </p:nvSpPr>
        <p:spPr>
          <a:xfrm>
            <a:off x="333288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6"/>
          <p:cNvSpPr/>
          <p:nvPr/>
        </p:nvSpPr>
        <p:spPr>
          <a:xfrm>
            <a:off x="43732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5" name="Image 2" descr="icons/layergroup.png"/>
          <p:cNvPicPr/>
          <p:nvPr/>
        </p:nvPicPr>
        <p:blipFill>
          <a:blip r:embed="rId3"/>
          <a:stretch/>
        </p:blipFill>
        <p:spPr>
          <a:xfrm>
            <a:off x="44582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 7"/>
          <p:cNvSpPr/>
          <p:nvPr/>
        </p:nvSpPr>
        <p:spPr>
          <a:xfrm>
            <a:off x="344268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8"/>
          <p:cNvSpPr/>
          <p:nvPr/>
        </p:nvSpPr>
        <p:spPr>
          <a:xfrm>
            <a:off x="620892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9"/>
          <p:cNvSpPr/>
          <p:nvPr/>
        </p:nvSpPr>
        <p:spPr>
          <a:xfrm>
            <a:off x="72489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9" name="Image 3" descr="icons/dna.png"/>
          <p:cNvPicPr/>
          <p:nvPr/>
        </p:nvPicPr>
        <p:blipFill>
          <a:blip r:embed="rId4"/>
          <a:stretch/>
        </p:blipFill>
        <p:spPr>
          <a:xfrm>
            <a:off x="73339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Text 10"/>
          <p:cNvSpPr/>
          <p:nvPr/>
        </p:nvSpPr>
        <p:spPr>
          <a:xfrm>
            <a:off x="631836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Evolutionary Algorithms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1"/>
          <p:cNvSpPr/>
          <p:nvPr/>
        </p:nvSpPr>
        <p:spPr>
          <a:xfrm>
            <a:off x="9084600" y="150876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2"/>
          <p:cNvSpPr/>
          <p:nvPr/>
        </p:nvSpPr>
        <p:spPr>
          <a:xfrm>
            <a:off x="1012464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3" name="Image 4" descr="icons/eye.png"/>
          <p:cNvPicPr/>
          <p:nvPr/>
        </p:nvPicPr>
        <p:blipFill>
          <a:blip r:embed="rId5"/>
          <a:stretch/>
        </p:blipFill>
        <p:spPr>
          <a:xfrm>
            <a:off x="1020960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Text 13"/>
          <p:cNvSpPr/>
          <p:nvPr/>
        </p:nvSpPr>
        <p:spPr>
          <a:xfrm>
            <a:off x="9194400" y="242856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4"/>
          <p:cNvSpPr/>
          <p:nvPr/>
        </p:nvSpPr>
        <p:spPr>
          <a:xfrm>
            <a:off x="45720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5"/>
          <p:cNvSpPr/>
          <p:nvPr/>
        </p:nvSpPr>
        <p:spPr>
          <a:xfrm>
            <a:off x="149724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7" name="Image 5" descr="icons/robot.png"/>
          <p:cNvPicPr/>
          <p:nvPr/>
        </p:nvPicPr>
        <p:blipFill>
          <a:blip r:embed="rId6"/>
          <a:stretch/>
        </p:blipFill>
        <p:spPr>
          <a:xfrm>
            <a:off x="158220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8" name="Text 16"/>
          <p:cNvSpPr/>
          <p:nvPr/>
        </p:nvSpPr>
        <p:spPr>
          <a:xfrm>
            <a:off x="56700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7"/>
          <p:cNvSpPr/>
          <p:nvPr/>
        </p:nvSpPr>
        <p:spPr>
          <a:xfrm>
            <a:off x="333288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8"/>
          <p:cNvSpPr/>
          <p:nvPr/>
        </p:nvSpPr>
        <p:spPr>
          <a:xfrm>
            <a:off x="43732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1" name="Image 6" descr="icons/comments.png"/>
          <p:cNvPicPr/>
          <p:nvPr/>
        </p:nvPicPr>
        <p:blipFill>
          <a:blip r:embed="rId7"/>
          <a:stretch/>
        </p:blipFill>
        <p:spPr>
          <a:xfrm>
            <a:off x="44582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Text 19"/>
          <p:cNvSpPr/>
          <p:nvPr/>
        </p:nvSpPr>
        <p:spPr>
          <a:xfrm>
            <a:off x="344268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NLP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20"/>
          <p:cNvSpPr/>
          <p:nvPr/>
        </p:nvSpPr>
        <p:spPr>
          <a:xfrm>
            <a:off x="620892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21"/>
          <p:cNvSpPr/>
          <p:nvPr/>
        </p:nvSpPr>
        <p:spPr>
          <a:xfrm>
            <a:off x="72489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5" name="Image 7" descr="icons/swarm.png"/>
          <p:cNvPicPr/>
          <p:nvPr/>
        </p:nvPicPr>
        <p:blipFill>
          <a:blip r:embed="rId8"/>
          <a:stretch/>
        </p:blipFill>
        <p:spPr>
          <a:xfrm>
            <a:off x="73339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6" name="Text 22"/>
          <p:cNvSpPr/>
          <p:nvPr/>
        </p:nvSpPr>
        <p:spPr>
          <a:xfrm>
            <a:off x="631836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Swarm Intelligence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23"/>
          <p:cNvSpPr/>
          <p:nvPr/>
        </p:nvSpPr>
        <p:spPr>
          <a:xfrm>
            <a:off x="9084600" y="4069080"/>
            <a:ext cx="264672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24"/>
          <p:cNvSpPr/>
          <p:nvPr/>
        </p:nvSpPr>
        <p:spPr>
          <a:xfrm>
            <a:off x="1012464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9" name="Image 8" descr="icons/balance.png"/>
          <p:cNvPicPr/>
          <p:nvPr/>
        </p:nvPicPr>
        <p:blipFill>
          <a:blip r:embed="rId9"/>
          <a:stretch/>
        </p:blipFill>
        <p:spPr>
          <a:xfrm>
            <a:off x="1020960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Text 25"/>
          <p:cNvSpPr/>
          <p:nvPr/>
        </p:nvSpPr>
        <p:spPr>
          <a:xfrm>
            <a:off x="9194400" y="4988880"/>
            <a:ext cx="242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Ethics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4" name="Image 0" descr="icons/briefcas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Career Paths in 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3"/>
          <p:cNvSpPr/>
          <p:nvPr/>
        </p:nvSpPr>
        <p:spPr>
          <a:xfrm>
            <a:off x="19767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8" name="Image 1" descr="icons/comments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9" name="Text 4"/>
          <p:cNvSpPr/>
          <p:nvPr/>
        </p:nvSpPr>
        <p:spPr>
          <a:xfrm>
            <a:off x="56700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NLP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5"/>
          <p:cNvSpPr/>
          <p:nvPr/>
        </p:nvSpPr>
        <p:spPr>
          <a:xfrm>
            <a:off x="62172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chatbots, translators, and language tools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7"/>
          <p:cNvSpPr/>
          <p:nvPr/>
        </p:nvSpPr>
        <p:spPr>
          <a:xfrm>
            <a:off x="581112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3" name="Image 2" descr="icons/eye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4" name="Text 8"/>
          <p:cNvSpPr/>
          <p:nvPr/>
        </p:nvSpPr>
        <p:spPr>
          <a:xfrm>
            <a:off x="440136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9"/>
          <p:cNvSpPr/>
          <p:nvPr/>
        </p:nvSpPr>
        <p:spPr>
          <a:xfrm>
            <a:off x="445608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systems that understand images &amp; video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1"/>
          <p:cNvSpPr/>
          <p:nvPr/>
        </p:nvSpPr>
        <p:spPr>
          <a:xfrm>
            <a:off x="96454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8" name="Image 3" descr="icons/sitemap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Text 12"/>
          <p:cNvSpPr/>
          <p:nvPr/>
        </p:nvSpPr>
        <p:spPr>
          <a:xfrm>
            <a:off x="823572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 Developer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3"/>
          <p:cNvSpPr/>
          <p:nvPr/>
        </p:nvSpPr>
        <p:spPr>
          <a:xfrm>
            <a:off x="829044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rule-based decision tools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5"/>
          <p:cNvSpPr/>
          <p:nvPr/>
        </p:nvSpPr>
        <p:spPr>
          <a:xfrm>
            <a:off x="19767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3" name="Image 4" descr="icons/layergroup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Text 16"/>
          <p:cNvSpPr/>
          <p:nvPr/>
        </p:nvSpPr>
        <p:spPr>
          <a:xfrm>
            <a:off x="56700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7"/>
          <p:cNvSpPr/>
          <p:nvPr/>
        </p:nvSpPr>
        <p:spPr>
          <a:xfrm>
            <a:off x="62172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and trains learning models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9"/>
          <p:cNvSpPr/>
          <p:nvPr/>
        </p:nvSpPr>
        <p:spPr>
          <a:xfrm>
            <a:off x="581112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8" name="Image 5" descr="icons/swarm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Text 20"/>
          <p:cNvSpPr/>
          <p:nvPr/>
        </p:nvSpPr>
        <p:spPr>
          <a:xfrm>
            <a:off x="440136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Optimization Researcher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1"/>
          <p:cNvSpPr/>
          <p:nvPr/>
        </p:nvSpPr>
        <p:spPr>
          <a:xfrm>
            <a:off x="445608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Works on swarm &amp; evolutionary methods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23"/>
          <p:cNvSpPr/>
          <p:nvPr/>
        </p:nvSpPr>
        <p:spPr>
          <a:xfrm>
            <a:off x="96454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3" name="Image 6" descr="icons/robot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Text 24"/>
          <p:cNvSpPr/>
          <p:nvPr/>
        </p:nvSpPr>
        <p:spPr>
          <a:xfrm>
            <a:off x="823572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25"/>
          <p:cNvSpPr/>
          <p:nvPr/>
        </p:nvSpPr>
        <p:spPr>
          <a:xfrm>
            <a:off x="829044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physical, autonomous machines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1" name="Image 0" descr="icons/flas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REAL RESEARCH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Where This Shows Up in the Real World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7" name="Image 0" descr="icons/flas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How This Course Helps Your Research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1" name="Image 1" descr="icons/flas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Same tools,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every field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field now creates more data than people can check by hand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tools in this course — Python, statistics, EDA, ML — are used in almost every research field today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 not need to become an AI expert. You just need enough skill to ask your data a question, and get a real answer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8" name="Image 0" descr="icons/seedl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Agriculture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2" name="Image 1" descr="icons/seedlin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3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farming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Predicting crop yield using soil, weather, and satellite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spotting plant disease from leaf photos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Sensors (soil moisture, temperature) automating watering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9" name="Image 0" descr="icons/robo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Robotics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3" name="Image 1" descr="icons/robo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4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Perception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 action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Combining camera, LiDAR, and motion data into one picture of the world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Path-planning — deciding the best route using probability and math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Reinforcement Learning — robots improving through trial and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0" name="Image 0" descr="icons/c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Self-Driving Cars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1" descr="icons/ca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Millions 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miles of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spotting lanes, signs, and people in real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Huge labeled datasets — the same EDA &amp; cleaning skills from this course apply directly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Decision-making models trained on real driving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1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Any Research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5" name="Image 1" descr="icons/char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Faster,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stronger work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Automating data cleaning that used to take days by hand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Statistical tests to check — or challenge — a hypothesis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Charts and visuals that make a thesis or paper much stronger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2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Data Science?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6" name="Image 1" descr="icons/char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insight 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Data Science means pulling useful insight and decisions out of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combines statistics, programming, and knowledge of a specific field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AI asks "can a machine act smart?" — Data Science asks "what does this data actually tell us?"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two fields overlap constantly — most AI is built and tested using data science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Career Paths in Data Science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3"/>
          <p:cNvSpPr/>
          <p:nvPr/>
        </p:nvSpPr>
        <p:spPr>
          <a:xfrm>
            <a:off x="197676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6" name="Image 1" descr="icons/chart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Text 4"/>
          <p:cNvSpPr/>
          <p:nvPr/>
        </p:nvSpPr>
        <p:spPr>
          <a:xfrm>
            <a:off x="56700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Analyst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5"/>
          <p:cNvSpPr/>
          <p:nvPr/>
        </p:nvSpPr>
        <p:spPr>
          <a:xfrm>
            <a:off x="62172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Turns raw data into reports and dashboards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7"/>
          <p:cNvSpPr/>
          <p:nvPr/>
        </p:nvSpPr>
        <p:spPr>
          <a:xfrm>
            <a:off x="581112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1" name="Image 2" descr="icons/network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Text 8"/>
          <p:cNvSpPr/>
          <p:nvPr/>
        </p:nvSpPr>
        <p:spPr>
          <a:xfrm>
            <a:off x="440136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9"/>
          <p:cNvSpPr/>
          <p:nvPr/>
        </p:nvSpPr>
        <p:spPr>
          <a:xfrm>
            <a:off x="445608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the pipelines that move and store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11"/>
          <p:cNvSpPr/>
          <p:nvPr/>
        </p:nvSpPr>
        <p:spPr>
          <a:xfrm>
            <a:off x="9645480" y="178848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6" name="Image 3" descr="icons/brain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7" name="Text 12"/>
          <p:cNvSpPr/>
          <p:nvPr/>
        </p:nvSpPr>
        <p:spPr>
          <a:xfrm>
            <a:off x="8235720" y="242856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Scientist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3"/>
          <p:cNvSpPr/>
          <p:nvPr/>
        </p:nvSpPr>
        <p:spPr>
          <a:xfrm>
            <a:off x="8290440" y="281268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models, makes predictions, runs experiments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15"/>
          <p:cNvSpPr/>
          <p:nvPr/>
        </p:nvSpPr>
        <p:spPr>
          <a:xfrm>
            <a:off x="197676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1" name="Image 4" descr="icons/code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2" name="Text 16"/>
          <p:cNvSpPr/>
          <p:nvPr/>
        </p:nvSpPr>
        <p:spPr>
          <a:xfrm>
            <a:off x="56700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ML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17"/>
          <p:cNvSpPr/>
          <p:nvPr/>
        </p:nvSpPr>
        <p:spPr>
          <a:xfrm>
            <a:off x="62172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Puts models into real, working products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9"/>
          <p:cNvSpPr/>
          <p:nvPr/>
        </p:nvSpPr>
        <p:spPr>
          <a:xfrm>
            <a:off x="581112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6" name="Image 5" descr="icons/briefcase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7" name="Text 20"/>
          <p:cNvSpPr/>
          <p:nvPr/>
        </p:nvSpPr>
        <p:spPr>
          <a:xfrm>
            <a:off x="440136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BI Analyst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21"/>
          <p:cNvSpPr/>
          <p:nvPr/>
        </p:nvSpPr>
        <p:spPr>
          <a:xfrm>
            <a:off x="445608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Tracks business metrics to support decisions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23"/>
          <p:cNvSpPr/>
          <p:nvPr/>
        </p:nvSpPr>
        <p:spPr>
          <a:xfrm>
            <a:off x="9645480" y="4348800"/>
            <a:ext cx="566640" cy="566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1" name="Image 6" descr="icons/gradcap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636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Text 24"/>
          <p:cNvSpPr/>
          <p:nvPr/>
        </p:nvSpPr>
        <p:spPr>
          <a:xfrm>
            <a:off x="8235720" y="4988880"/>
            <a:ext cx="338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Research Scientist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25"/>
          <p:cNvSpPr/>
          <p:nvPr/>
        </p:nvSpPr>
        <p:spPr>
          <a:xfrm>
            <a:off x="8290440" y="5373000"/>
            <a:ext cx="3276360" cy="98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Pushes the field forward in labs or academia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9" name="Image 0" descr="icons/gradca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0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WHERE YOU FIT 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Whatever field pulls you — agriculture, robotics,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healthcare, or policy — the path starts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with the same first step: today.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See you next session.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2026-07-16T22:34:35Z</dcterms:created>
  <dc:creator>Course Instructor</dc:creator>
  <dc:description/>
  <dc:language>en-US</dc:language>
  <cp:lastModifiedBy/>
  <dcterms:modified xsi:type="dcterms:W3CDTF">2026-07-17T20:59:13Z</dcterms:modified>
  <cp:revision>14</cp:revision>
  <dc:subject>PptxGenJS Presentation</dc:subject>
  <dc:title>Code, Data &amp; Decisions — Day 1 &amp;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68</vt:i4>
  </property>
  <property fmtid="{D5CDD505-2E9C-101B-9397-08002B2CF9AE}" pid="3" name="PresentationFormat">
    <vt:lpwstr>On-screen Show (16:9)</vt:lpwstr>
  </property>
  <property fmtid="{D5CDD505-2E9C-101B-9397-08002B2CF9AE}" pid="4" name="Slides">
    <vt:i4>68</vt:i4>
  </property>
</Properties>
</file>