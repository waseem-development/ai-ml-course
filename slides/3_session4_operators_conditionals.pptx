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Quick recap of Session 3 before diving in: variables, data types, casting.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genuinely all they need — resist the urge to teach the full formal symbol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this on the board with the class before revealing it here — much stronger than showing the finished picture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moment — same idea, three forms: picture, plain English, real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two ideas worth slowing down for today — most beginners have never seen these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operator never changes — only where the numbers come from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3 is a great callback to the // and % slide just before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comparison always produces exactly one thing: True or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4 is a fun surprise for anyone who has coded in another language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3 previews the login example we'll build with if/else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Even/Odd reuses % from the arithmetic section — a nice callback.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Nice full-circle moment — reuses input() and casting from last session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the * and / branches unfinished on purpose — filling them in is Task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shortcut pattern also works for //=, %=, and **= — no need to dwell on those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Letting them see the actual SyntaxError live is more memorable than just being told it doesn't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work on the binary (1s and 0s) form of a number — rare in everyday Python, common in low-level programming.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having 2-3 students describe their Task 1 pseudocode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7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1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image" Target="../media/image-11-1.png"/><Relationship Id="rId6" Type="http://schemas.openxmlformats.org/officeDocument/2006/relationships/image" Target="../media/image-11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1.png"/><Relationship Id="rId3" Type="http://schemas.openxmlformats.org/officeDocument/2006/relationships/image" Target="../media/image-16-1.png"/><Relationship Id="rId4" Type="http://schemas.openxmlformats.org/officeDocument/2006/relationships/image" Target="../media/image-16-1.png"/><Relationship Id="rId5" Type="http://schemas.openxmlformats.org/officeDocument/2006/relationships/image" Target="../media/image-16-1.png"/><Relationship Id="rId6" Type="http://schemas.openxmlformats.org/officeDocument/2006/relationships/image" Target="../media/image-16-1.png"/><Relationship Id="rId7" Type="http://schemas.openxmlformats.org/officeDocument/2006/relationships/image" Target="../media/image-16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1.png"/><Relationship Id="rId3" Type="http://schemas.openxmlformats.org/officeDocument/2006/relationships/image" Target="../media/image-20-1.png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1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1.png"/><Relationship Id="rId3" Type="http://schemas.openxmlformats.org/officeDocument/2006/relationships/image" Target="../media/image-39-1.png"/><Relationship Id="rId4" Type="http://schemas.openxmlformats.org/officeDocument/2006/relationships/image" Target="../media/image-39-1.png"/><Relationship Id="rId5" Type="http://schemas.openxmlformats.org/officeDocument/2006/relationships/image" Target="../media/image-39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1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1.png"/><Relationship Id="rId3" Type="http://schemas.openxmlformats.org/officeDocument/2006/relationships/image" Target="../media/image-42-1.png"/><Relationship Id="rId4" Type="http://schemas.openxmlformats.org/officeDocument/2006/relationships/image" Target="../media/image-42-1.png"/><Relationship Id="rId5" Type="http://schemas.openxmlformats.org/officeDocument/2006/relationships/image" Target="../media/image-42-1.png"/><Relationship Id="rId6" Type="http://schemas.openxmlformats.org/officeDocument/2006/relationships/image" Target="../media/image-42-1.png"/><Relationship Id="rId7" Type="http://schemas.openxmlformats.org/officeDocument/2006/relationships/image" Target="../media/image-42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2.png"/><Relationship Id="rId4" Type="http://schemas.openxmlformats.org/officeDocument/2006/relationships/image" Target="../media/image-45-2.png"/><Relationship Id="rId5" Type="http://schemas.openxmlformats.org/officeDocument/2006/relationships/image" Target="../media/image-4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2.png"/><Relationship Id="rId4" Type="http://schemas.openxmlformats.org/officeDocument/2006/relationships/image" Target="../media/image-46-2.png"/><Relationship Id="rId5" Type="http://schemas.openxmlformats.org/officeDocument/2006/relationships/image" Target="../media/image-46-2.png"/><Relationship Id="rId6" Type="http://schemas.openxmlformats.org/officeDocument/2006/relationships/image" Target="../media/image-46-2.png"/><Relationship Id="rId7" Type="http://schemas.openxmlformats.org/officeDocument/2006/relationships/image" Target="../media/image-46-2.png"/><Relationship Id="rId8" Type="http://schemas.openxmlformats.org/officeDocument/2006/relationships/image" Target="../media/image-46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2.png"/><Relationship Id="rId4" Type="http://schemas.openxmlformats.org/officeDocument/2006/relationships/image" Target="../media/image-4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6400800" cy="64008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-2743200"/>
            <a:ext cx="6400800" cy="64008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00116" y="914400"/>
            <a:ext cx="1188720" cy="118872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8424" y="1092708"/>
            <a:ext cx="832104" cy="8321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37744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 &amp; Conditionals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914400" y="3383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Your Program to Make Decisions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13716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list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Covering Today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82346"/>
          </a:xfrm>
          <a:prstGeom prst="roundRect">
            <a:avLst>
              <a:gd name="adj" fmla="val 1327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621792" y="1667728"/>
            <a:ext cx="347289" cy="347289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icons/flagchecke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85" y="1719822"/>
            <a:ext cx="243102" cy="2431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600200"/>
            <a:ext cx="10058400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before coding — pseudocode &amp; flowcharts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457200" y="2210562"/>
            <a:ext cx="11274552" cy="482346"/>
          </a:xfrm>
          <a:prstGeom prst="roundRect">
            <a:avLst>
              <a:gd name="adj" fmla="val 13270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621792" y="2278090"/>
            <a:ext cx="347289" cy="347289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icons/calcula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85" y="2330184"/>
            <a:ext cx="243102" cy="24310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2210562"/>
            <a:ext cx="10058400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457200" y="2820924"/>
            <a:ext cx="11274552" cy="482346"/>
          </a:xfrm>
          <a:prstGeom prst="roundRect">
            <a:avLst>
              <a:gd name="adj" fmla="val 13270"/>
            </a:avLst>
          </a:prstGeom>
          <a:solidFill>
            <a:srgbClr val="F1F3EC"/>
          </a:solidFill>
          <a:ln/>
        </p:spPr>
      </p:sp>
      <p:sp>
        <p:nvSpPr>
          <p:cNvPr id="15" name="Shape 10"/>
          <p:cNvSpPr/>
          <p:nvPr/>
        </p:nvSpPr>
        <p:spPr>
          <a:xfrm>
            <a:off x="621792" y="2888452"/>
            <a:ext cx="347289" cy="347289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6" name="Image 3" descr="icons/divi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885" y="2940546"/>
            <a:ext cx="243102" cy="24310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2820924"/>
            <a:ext cx="10058400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division (//) and modulo (%)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457200" y="3431286"/>
            <a:ext cx="11274552" cy="482346"/>
          </a:xfrm>
          <a:prstGeom prst="roundRect">
            <a:avLst>
              <a:gd name="adj" fmla="val 13270"/>
            </a:avLst>
          </a:prstGeom>
          <a:solidFill>
            <a:srgbClr val="F1F3EC"/>
          </a:solidFill>
          <a:ln/>
        </p:spPr>
      </p:sp>
      <p:sp>
        <p:nvSpPr>
          <p:cNvPr id="19" name="Shape 13"/>
          <p:cNvSpPr/>
          <p:nvPr/>
        </p:nvSpPr>
        <p:spPr>
          <a:xfrm>
            <a:off x="621792" y="3498814"/>
            <a:ext cx="347289" cy="347289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0" name="Image 4" descr="icons/bala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885" y="3550908"/>
            <a:ext cx="243102" cy="24310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3431286"/>
            <a:ext cx="10058400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</a:t>
            </a:r>
            <a:endParaRPr lang="en-US" sz="1550" dirty="0"/>
          </a:p>
        </p:txBody>
      </p:sp>
      <p:sp>
        <p:nvSpPr>
          <p:cNvPr id="22" name="Shape 15"/>
          <p:cNvSpPr/>
          <p:nvPr/>
        </p:nvSpPr>
        <p:spPr>
          <a:xfrm>
            <a:off x="457200" y="4041648"/>
            <a:ext cx="11274552" cy="482346"/>
          </a:xfrm>
          <a:prstGeom prst="roundRect">
            <a:avLst>
              <a:gd name="adj" fmla="val 13270"/>
            </a:avLst>
          </a:prstGeom>
          <a:solidFill>
            <a:srgbClr val="F1F3EC"/>
          </a:solidFill>
          <a:ln/>
        </p:spPr>
      </p:sp>
      <p:sp>
        <p:nvSpPr>
          <p:cNvPr id="23" name="Shape 16"/>
          <p:cNvSpPr/>
          <p:nvPr/>
        </p:nvSpPr>
        <p:spPr>
          <a:xfrm>
            <a:off x="621792" y="4109176"/>
            <a:ext cx="347289" cy="347289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4" name="Image 5" descr="icons/puzz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885" y="4161270"/>
            <a:ext cx="243102" cy="24310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4041648"/>
            <a:ext cx="10058400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 — and, or, not</a:t>
            </a:r>
            <a:endParaRPr lang="en-US" sz="1550" dirty="0"/>
          </a:p>
        </p:txBody>
      </p:sp>
      <p:sp>
        <p:nvSpPr>
          <p:cNvPr id="26" name="Shape 18"/>
          <p:cNvSpPr/>
          <p:nvPr/>
        </p:nvSpPr>
        <p:spPr>
          <a:xfrm>
            <a:off x="457200" y="4652010"/>
            <a:ext cx="11274552" cy="482346"/>
          </a:xfrm>
          <a:prstGeom prst="roundRect">
            <a:avLst>
              <a:gd name="adj" fmla="val 13270"/>
            </a:avLst>
          </a:prstGeom>
          <a:solidFill>
            <a:srgbClr val="F1F3EC"/>
          </a:solidFill>
          <a:ln/>
        </p:spPr>
      </p:sp>
      <p:sp>
        <p:nvSpPr>
          <p:cNvPr id="27" name="Shape 19"/>
          <p:cNvSpPr/>
          <p:nvPr/>
        </p:nvSpPr>
        <p:spPr>
          <a:xfrm>
            <a:off x="621792" y="4719538"/>
            <a:ext cx="347289" cy="347289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8" name="Image 6" descr="icons/codebran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885" y="4771632"/>
            <a:ext cx="243102" cy="24310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71600" y="4652010"/>
            <a:ext cx="10058400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elif / else — making real decisions</a:t>
            </a:r>
            <a:endParaRPr lang="en-US" sz="1550" dirty="0"/>
          </a:p>
        </p:txBody>
      </p:sp>
      <p:sp>
        <p:nvSpPr>
          <p:cNvPr id="30" name="Shape 21"/>
          <p:cNvSpPr/>
          <p:nvPr/>
        </p:nvSpPr>
        <p:spPr>
          <a:xfrm>
            <a:off x="457200" y="5262372"/>
            <a:ext cx="11274552" cy="482346"/>
          </a:xfrm>
          <a:prstGeom prst="roundRect">
            <a:avLst>
              <a:gd name="adj" fmla="val 13270"/>
            </a:avLst>
          </a:prstGeom>
          <a:solidFill>
            <a:srgbClr val="F1F3EC"/>
          </a:solidFill>
          <a:ln/>
        </p:spPr>
      </p:sp>
      <p:sp>
        <p:nvSpPr>
          <p:cNvPr id="31" name="Shape 22"/>
          <p:cNvSpPr/>
          <p:nvPr/>
        </p:nvSpPr>
        <p:spPr>
          <a:xfrm>
            <a:off x="621792" y="5329900"/>
            <a:ext cx="347289" cy="347289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2" name="Image 7" descr="icons/codebran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885" y="5381994"/>
            <a:ext cx="243102" cy="243102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1371600" y="5262372"/>
            <a:ext cx="10058400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if — a decision inside a decision</a:t>
            </a:r>
            <a:endParaRPr lang="en-US" sz="1550" dirty="0"/>
          </a:p>
        </p:txBody>
      </p:sp>
      <p:sp>
        <p:nvSpPr>
          <p:cNvPr id="34" name="Shape 24"/>
          <p:cNvSpPr/>
          <p:nvPr/>
        </p:nvSpPr>
        <p:spPr>
          <a:xfrm>
            <a:off x="457200" y="5872734"/>
            <a:ext cx="11274552" cy="482346"/>
          </a:xfrm>
          <a:prstGeom prst="roundRect">
            <a:avLst>
              <a:gd name="adj" fmla="val 13270"/>
            </a:avLst>
          </a:prstGeom>
          <a:solidFill>
            <a:srgbClr val="F1F3EC"/>
          </a:solidFill>
          <a:ln/>
        </p:spPr>
      </p:sp>
      <p:sp>
        <p:nvSpPr>
          <p:cNvPr id="35" name="Shape 25"/>
          <p:cNvSpPr/>
          <p:nvPr/>
        </p:nvSpPr>
        <p:spPr>
          <a:xfrm>
            <a:off x="621792" y="5940262"/>
            <a:ext cx="347289" cy="347289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6" name="Image 8" descr="icons/squar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885" y="5992356"/>
            <a:ext cx="243102" cy="243102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1371600" y="5872734"/>
            <a:ext cx="10058400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assignment, bitwise, identity &amp; membership operators</a:t>
            </a:r>
            <a:endParaRPr lang="en-US" sz="1550" dirty="0"/>
          </a:p>
        </p:txBody>
      </p:sp>
      <p:sp>
        <p:nvSpPr>
          <p:cNvPr id="38" name="Text 27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39" name="Text 2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1556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icons/flagcheck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82396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Before You Code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programmers write the least code first — on paper.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list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Pseudocode?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icons/list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32" y="2427732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 English,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by step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Pseudocode is just your plan, written in plain English — not real code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no strict rules, no syntax to get right, and nothing can "error out"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it so you can think clearly, before worrying about Python's exact grammar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"IF it is raining, THEN take an umbrella, ELSE don't"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Flowchart?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icons/codebra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32" y="2427732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your plan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flowchart is the same plan as pseudocode, but drawn as a picture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shape means something specific — you'll only ever need three of them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the arrows shows you exactly what your program will do, and in what order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decisions especially — you can literally see every path your code could take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 Shapes You Need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605784" cy="489204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985772" y="2095805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flagchecke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068" y="2178101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17597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Oval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03504" y="3101645"/>
            <a:ext cx="3313176" cy="3253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or End of the whole process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91584" y="1508760"/>
            <a:ext cx="3605784" cy="489204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820156" y="2095805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icons/squa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2178101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83024" y="2717597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Rectangle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437888" y="3101645"/>
            <a:ext cx="3313176" cy="3253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or action to perform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125968" y="1508760"/>
            <a:ext cx="3605784" cy="489204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654540" y="2095805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icons/codebran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6836" y="2178101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17408" y="2717597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Diamond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272272" y="3101645"/>
            <a:ext cx="3313176" cy="3253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— always has a Yes and a No path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Idea to Flowchart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997196" y="1600200"/>
            <a:ext cx="2194560" cy="502920"/>
          </a:xfrm>
          <a:prstGeom prst="ellipse">
            <a:avLst/>
          </a:prstGeom>
          <a:solidFill>
            <a:srgbClr val="2C6E63"/>
          </a:solidFill>
          <a:ln/>
        </p:spPr>
      </p:sp>
      <p:sp>
        <p:nvSpPr>
          <p:cNvPr id="6" name="Text 3"/>
          <p:cNvSpPr/>
          <p:nvPr/>
        </p:nvSpPr>
        <p:spPr>
          <a:xfrm>
            <a:off x="4997196" y="1600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3727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448556" y="2377440"/>
            <a:ext cx="3291840" cy="868680"/>
          </a:xfrm>
          <a:prstGeom prst="diamond">
            <a:avLst/>
          </a:prstGeom>
          <a:solidFill>
            <a:srgbClr val="EFDFB8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48556" y="23774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raining?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637276" y="3273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37160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74152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4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371600" y="388620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3EC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38862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umbrella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074152" y="388620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3EC"/>
          </a:solidFill>
          <a:ln w="12700">
            <a:solidFill>
              <a:srgbClr val="A5473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74152" y="38862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take one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37276" y="4617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97196" y="4919472"/>
            <a:ext cx="2194560" cy="502920"/>
          </a:xfrm>
          <a:prstGeom prst="ellipse">
            <a:avLst/>
          </a:prstGeom>
          <a:solidFill>
            <a:srgbClr val="13312F"/>
          </a:solidFill>
          <a:ln/>
        </p:spPr>
      </p:sp>
      <p:sp>
        <p:nvSpPr>
          <p:cNvPr id="19" name="Text 16"/>
          <p:cNvSpPr/>
          <p:nvPr/>
        </p:nvSpPr>
        <p:spPr>
          <a:xfrm>
            <a:off x="4997196" y="491947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list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Pseudocode → Python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is it raining?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yes → take an umbrella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→ don't take one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C6C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exact same plan, now in real Python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is_raining = True   # try changing this to False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is_raining: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print("Take an umbrella")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print("Don't take one")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list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Planning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pseudocode for checking if a year is a leap year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359664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596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59664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a flowchart for deciding if a number is positive, negative, or zero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22960" y="477012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77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77012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own morning routine into 5 simple pseudocode steps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1556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82396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Arithmetic Operators — The Basics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985772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calcula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068" y="187086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 Addition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03504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+ 2  →  7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91584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820156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icons/calcula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187086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83024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 Subtraction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437888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5 - 2  →  3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125968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654540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icons/calculat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6836" y="187086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17408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 Multiplication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272272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* 2  →  10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7200" y="406908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985772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2" name="Image 4" descr="icons/calculat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068" y="4431182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" y="497067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  Division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03504" y="535472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  →  2.5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4291584" y="406908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820156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7" name="Image 5" descr="icons/calculato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2452" y="4431182"/>
            <a:ext cx="384048" cy="38404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383024" y="497067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**  Exponent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437888" y="535472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** 2  →  25</a:t>
            </a:r>
            <a:endParaRPr lang="en-US" sz="1150" dirty="0"/>
          </a:p>
        </p:txBody>
      </p:sp>
      <p:sp>
        <p:nvSpPr>
          <p:cNvPr id="30" name="Text 22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div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Floor Division (//) and Modulo (%)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gives you the whole-number part of a division, and throws away the rest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gives you only the remainder — nothing else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they split a number into "how many whole groups" and "what's left over"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common use: checking even or odd — any number % 2 is 0 only when it's even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print(17 // 5)   # 3   -&gt; 5 fits into 17 three whole times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print(17 % 5)    # 2   -&gt; with 2 left over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print(10 % 2)    # 0   -&gt; even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print(7 % 2)     # 1   -&gt; odd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Arithmetic: Numbers vs. Variables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Directly on Numbers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+ 3)   # 8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print(5 - 3)   # 2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* 3)   # 15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/ 3)   # 1.666...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// 3)  # 1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print(5 % 3)   # 2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** 3)  # 125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Math, on Variables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3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+ b)   # 13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- b)   # 7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* b)   # 30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/ b)   # 3.333...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// b)  # 3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% b)   # 1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** b)  # 1000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Arithmetic Mini Programs (1 &amp; 2)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Simple Adder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num1 = float(input("Enter first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num2 = float(input("Enter second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print("Sum:", num1 + num2)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Area of a Rectangle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 = float(input("Enter length: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 = float(input("Enter width: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 = length * width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print("Area:", area)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Arithmetic Mini Programs (3 &amp; 4)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Minutes → Hours &amp; Minutes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total_minutes = int(input("Enter total minutes: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 = total_minutes // 60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minutes = total_minutes % 60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print(hours, "hours and", minutes, "minutes")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Average of Three Numbers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float(input("Enter first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float(input("Enter second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float(input("Enter third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 = (a + b + c) / 3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print("Average:", average)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Operators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985772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068" y="187086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==  Equal to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03504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== 5  →  True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91584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820156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icons/bal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187086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83024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!=  Not equal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437888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!= 3  →  True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125968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654540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icons/bala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6836" y="187086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17408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 Less than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272272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&lt; 5  →  True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7200" y="406908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985772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2" name="Image 4" descr="icons/bala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068" y="4431182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" y="497067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 Greater than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03504" y="535472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&gt; 3  →  True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4291584" y="406908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820156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7" name="Image 5" descr="icons/balan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2452" y="4431182"/>
            <a:ext cx="384048" cy="38404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383024" y="497067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&lt;=  Less or equal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437888" y="535472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&lt;= 5  →  True</a:t>
            </a:r>
            <a:endParaRPr lang="en-US" sz="1150" dirty="0"/>
          </a:p>
        </p:txBody>
      </p:sp>
      <p:sp>
        <p:nvSpPr>
          <p:cNvPr id="30" name="Shape 22"/>
          <p:cNvSpPr/>
          <p:nvPr/>
        </p:nvSpPr>
        <p:spPr>
          <a:xfrm>
            <a:off x="8125968" y="406908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9654540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2" name="Image 6" descr="icons/balanc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6836" y="4431182"/>
            <a:ext cx="384048" cy="384048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8217408" y="497067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&gt;=  Greater or equal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8272272" y="535472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&gt;= 6  →  False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Comparison: Numbers vs. Variables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Directly on Numbers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== 5)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!= 3)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print(3 &lt; 5) 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&gt; 3) 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&lt;= 5)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 &gt;= 6)   # False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Checks, on Variables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20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voting_age = 18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 == voting_age)  # False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 != voting_age)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 &lt; voting_age)   # False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 &gt; voting_age)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 &lt;= voting_age)  # False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 &gt;= voting_age)  # True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Mini Programs (1 &amp; 2)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Are Two Numbers Equal?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num1 = int(input("Enter first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num2 = int(input("Enter second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print(num1 == num2)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Voting Eligibility Check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int(input("Enter your age: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 &gt;= 18)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Mini Programs (3 &amp; 4)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Compare Two Scores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score1 = int(input("Enter score 1: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score2 = int(input("Enter score 2: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print(score1 &gt; score2)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print(score1 &lt; score2)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Chained Range Check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 = int(input("Enter a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C6C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 only if number is between 1 and 10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print(1 &lt;= number &lt;= 10)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 Operators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605784" cy="489204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985772" y="2095805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puzz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068" y="2178101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17597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03504" y="3101645"/>
            <a:ext cx="3313176" cy="3253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only if BOTH sides are true — age &gt;= 18 and has_id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91584" y="1508760"/>
            <a:ext cx="3605784" cy="489204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820156" y="2095805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icons/puzz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2178101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83024" y="2717597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437888" y="3101645"/>
            <a:ext cx="3313176" cy="3253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if AT LEAST ONE side is true — is_weekend or is_holiday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125968" y="1508760"/>
            <a:ext cx="3605784" cy="489204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654540" y="2095805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icons/puzz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6836" y="2178101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17408" y="2717597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272272" y="3101645"/>
            <a:ext cx="3313176" cy="3253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Flips True to False, and False to True — not is_raining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Logical: Direct Values vs. Variables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Directly on True / False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print(True and False)   # False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print(True or False) 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print(not True)         # False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Variables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is_sunny =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is_weekend =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print(is_sunny and is_weekend)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print(is_sunny or is_weekend) 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print(not is_sunny)              # False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 Mini Programs (1 &amp; 2)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Can You Watch the Movie?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int(input("Enter your age: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has_ticket =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 &gt;= 13 and has_ticket)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Good Day for a Picnic?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is_sunny =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is_windy = False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print(is_sunny and not is_windy)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 Mini Programs (3 &amp; 4)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Simple Login Check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= input("Username: 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 = input("Password: 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correct_username = "admin"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correct_password = "1234"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print(username == correct_username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and password == correct_password)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Discount Eligibility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is_member = False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total_spent = 120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print(is_member or total_spent &gt; 100)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Operators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result of 17 // 5 and 17 % 5, without looking back at the earlier slide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29565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956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29565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two numbers in variables and print their sum, difference, and product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22960" y="34899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489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34899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comparison expression checking if 25 is greater than 30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822960" y="40233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40233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and to check if a number is between 10 and 20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822960" y="45567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556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435608" y="45567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not to flip a True value to False, and print the result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822960" y="5090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" y="509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435608" y="5090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output of 2 ** 3 // 2 on paper before you run it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822960" y="57607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students actually try these before revealing any answers.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1556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82396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Decisions With if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if Statement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checks a condition, and only runs the code below it when that condition is True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indented lines are what actually run — Python uses indentation instead of curly braces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condition is False, Python simply skips that whole block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20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age &gt;= 18: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print("You can vote")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covers every other case — anything that didn't match the if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of the two blocks will always run. Never both, never neither.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15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age &gt;= 18: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print("You can vote")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print("Not old enough yet")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elif / else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elif lets you check more conditions, one after another, in order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checks each one top to bottom, and stops at the very first True it finds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still catches anything that matched none of the conditions above it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82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score &gt;= 90: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print("Grade: A")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score &gt;= 80: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print("Grade: B")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score &gt;= 70: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print("Grade: C")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print("Grade: F")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if — An if Inside an if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icons/codebra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32" y="2427732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decision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if is simply an if statement placed inside another if statement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if only even runs if the outer condition was already True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when a second decision only makes sense after the first has already been decided</a:t>
            </a:r>
            <a:endParaRPr lang="en-US" sz="16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first check if the door is unlocked — only then check if your key actually fits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if — In Code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extra indentation — the inner if sits one full level deeper than the outer one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uses that indentation to know exactly which if belongs to which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if/else only gets checked at all when age &gt;= 18 is True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20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has_id =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age &gt;= 18: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has_id: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print("Entry allowed")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print("Bring your ID next time")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print("Too young to enter")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if vs. elif — Which One?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64592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list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431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elif when...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" y="25146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checking different values of the SAME thing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ever one branch should run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turning a score into a single letter grade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72200" y="164592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6446520" y="1874520"/>
            <a:ext cx="457200" cy="457200"/>
          </a:xfrm>
          <a:prstGeom prst="ellipse">
            <a:avLst/>
          </a:prstGeom>
          <a:solidFill>
            <a:srgbClr val="A5473F"/>
          </a:solidFill>
          <a:ln/>
        </p:spPr>
      </p:sp>
      <p:pic>
        <p:nvPicPr>
          <p:cNvPr id="12" name="Image 2" descr="icons/codebra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19431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4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Nested if when...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46520" y="25146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check only matters if the first was already True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combining two separate, related conditions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old enough AND has a valid ID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Mini Programs (1 &amp; 2)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Even or Odd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 = int(input("Enter a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number % 2 == 0: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print("Even")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print("Odd")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Simple Login System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312F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= input("Username: 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 = input("Password: 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username == "admin" and password == "1234":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print("Login successful")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print("Login failed")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Program: Ticket Price by Age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age groups, four prices — a perfect fit for if / elif / else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elif only needs to check one boundary, since anything caught above it never reaches this line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tracing a few different ages through this by hand before running it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int(input("Enter your age: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age &lt; 5: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age &lt; 18: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10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age &lt; 60: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20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12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print("Ticket price: $" + str(price))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Mistakes With if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64592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431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" y="25146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= instead of ==  (if age = 18 is an error)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colon  :  at the end of the line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tabs and spaces for indentation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"else if" instead of Python's elif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72200" y="164592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6446520" y="1874520"/>
            <a:ext cx="457200" cy="457200"/>
          </a:xfrm>
          <a:prstGeom prst="ellipse">
            <a:avLst/>
          </a:prstGeom>
          <a:solidFill>
            <a:srgbClr val="A5473F"/>
          </a:solidFill>
          <a:ln/>
        </p:spPr>
      </p:sp>
      <p:pic>
        <p:nvPicPr>
          <p:cNvPr id="12" name="Image 2" descr="icons/checkdou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19431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4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46520" y="25146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== when comparing two values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if, elif, and else line ends with a colon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spaces only — most editors handle this automatically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it's one word — elif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list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Flowchart to Code — One Full Example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diamond in a flowchart becomes an if, elif, or else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rectangle becomes the code that runs inside that block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first — even briefly — is faster than debugging confused code later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int(input("Enter your score: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score &gt;= 90: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grade = "A"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score &gt;= 80: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grade = "B"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score &gt;= 70: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grade = "C"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grade = "F"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print("Your grade is:", grade)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Bonus Challenge: Build a Calculator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program uses almost everything from today — variables, operators, and conditionals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two numbers and an operator, then use if/elif/else to decide what to compute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branches below are left for you to finish — that's tonight's Task 10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num1 = float(input("Enter first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num2 = float(input("Enter second number: "))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operator = input("Choose an operator (+, -, *, /): ")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operator == "+":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print(num1 + num2)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operator == "-":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print(num1 - num2)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operator == "*":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C6C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your turn: multiply num1 and num2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operator == "/":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C6C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your turn: divide num1 by num2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print("Not a valid operator")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Conditionals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if/else that checks if a number is positive or negative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312724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12724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if/elif/else that labels a temperature as Cold, Warm, or Hot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22960" y="3831336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831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3831336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and inside an if to check discount eligibility (is_member and total_spent &gt; 50)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822960" y="453542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453542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if/else that checks if a piece of text is empty ("" means empty)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822960" y="523951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435608" y="523951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nested if: check age &gt;= 18 first, then check has_ticket inside it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1556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icons/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82396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More Operators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for today — good to know these exist.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 Shortcut Operators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5522976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944368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squ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187086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410358"/>
            <a:ext cx="5340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+=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03504" y="2794406"/>
            <a:ext cx="5230368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+= 3  is short for  x = x + 3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208776" y="1508760"/>
            <a:ext cx="5522976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695944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icons/squa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87086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00216" y="2410358"/>
            <a:ext cx="5340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-=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6355080" y="2794406"/>
            <a:ext cx="5230368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-= 3  is short for  x = x - 3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57200" y="4069080"/>
            <a:ext cx="5522976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2944368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icons/squ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6664" y="443118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8640" y="4970678"/>
            <a:ext cx="5340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*=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3504" y="5354726"/>
            <a:ext cx="5230368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*= 3  is short for  x = x * 3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08776" y="4069080"/>
            <a:ext cx="5522976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695944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2" name="Image 4" descr="icons/squar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431182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300216" y="4970678"/>
            <a:ext cx="5340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/=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355080" y="5354726"/>
            <a:ext cx="5230368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/= 3  is short for  x = x / 3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Increment &amp; Decrement — Python's Twist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64592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431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Other Languages Do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" y="25146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C, Java, and JavaScript have i++ and i--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i++ means "increase i by 1"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i-- means "decrease i by 1"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this in Python causes a SyntaxError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72200" y="164592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6446520" y="1874520"/>
            <a:ext cx="457200" cy="457200"/>
          </a:xfrm>
          <a:prstGeom prst="ellipse">
            <a:avLst/>
          </a:prstGeom>
          <a:solidFill>
            <a:srgbClr val="A5473F"/>
          </a:solidFill>
          <a:ln/>
        </p:spPr>
      </p:sp>
      <p:pic>
        <p:nvPicPr>
          <p:cNvPr id="12" name="Image 2" descr="icons/checkdou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19431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4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Python Actually Does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46520" y="25146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has no ++ or -- operators at all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 += 1 instead of i++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 -= 1 instead of i--</a:t>
            </a:r>
            <a:endParaRPr lang="en-US" sz="14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one extra character to type — that's the whole trade-off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Increment &amp; Decrement, in Real Python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the += and -= you just saw, used the way most people actually reach for them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typing x++ yourself and read the error Python gives you — it's a good one to recognize early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5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+= 1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print(x)   # 6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-= 1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print(x)   # back to 5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C6C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x++       &lt;- would raise a SyntaxError in Python, try it!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icons/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Bitwise Operators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985772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icons/squ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068" y="187086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 AND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03504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&amp; 3  →  1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91584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820156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icons/squa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187086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83024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  OR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437888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| 3  →  7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125968" y="150876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654540" y="178856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icons/squ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6836" y="187086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17408" y="241035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^  XOR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272272" y="279440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^ 3  →  6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7200" y="406908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985772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2" name="Image 4" descr="icons/squar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068" y="4431182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" y="497067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  NOT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03504" y="535472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 →  -6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4291584" y="406908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820156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7" name="Image 5" descr="icons/squar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2452" y="4431182"/>
            <a:ext cx="384048" cy="38404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383024" y="497067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&lt;&lt;  Left Shift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437888" y="535472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&lt;&lt; 1  →  10</a:t>
            </a:r>
            <a:endParaRPr lang="en-US" sz="1150" dirty="0"/>
          </a:p>
        </p:txBody>
      </p:sp>
      <p:sp>
        <p:nvSpPr>
          <p:cNvPr id="30" name="Shape 22"/>
          <p:cNvSpPr/>
          <p:nvPr/>
        </p:nvSpPr>
        <p:spPr>
          <a:xfrm>
            <a:off x="8125968" y="4069080"/>
            <a:ext cx="3605784" cy="233172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/>
          <a:effectLst>
            <a:outerShdw sx="100000" sy="100000" kx="0" ky="0" algn="bl" rotWithShape="0" blurRad="76200" dist="25400" dir="5400000">
              <a:srgbClr val="888888">
                <a:alpha val="15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9654540" y="434888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2" name="Image 6" descr="icons/squar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6836" y="4431182"/>
            <a:ext cx="384048" cy="384048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8217408" y="4970678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&gt;&gt;  Right Shift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8272272" y="5354726"/>
            <a:ext cx="3313176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&gt;&gt; 1  →  2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12064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Membership Operators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checks whether two variables point to the exact same object — different from ==, which only checks if the values are equal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checks whether something exists inside a list, string, or similar collection</a:t>
            </a:r>
            <a:endParaRPr lang="en-US" sz="15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read almost like plain English once you see them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/>
        </p:spPr>
      </p:sp>
      <p:sp>
        <p:nvSpPr>
          <p:cNvPr id="8" name="Text 5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fruits = ["apple", "banana", "mango"]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print("banana" in fruits)   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print("grape" not in fruits)   # True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None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is None)               # True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Bonus Operators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+= to add 5 to a variable, then print it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359664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596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59664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"cat" is in a list of animals using in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22960" y="477012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77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77012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6 &amp; 3 and 6 | 3 — predict the answers before running them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flagcheck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A: Plan First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20624" cy="420624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icons/checkdou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4" y="2486254"/>
            <a:ext cx="294437" cy="294437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417320" y="2441448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417320" y="244144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2011680" y="2423160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pseudocode (plain English) for checking if a number is even or odd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22960" y="3303270"/>
            <a:ext cx="420624" cy="420624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icons/checkdou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54" y="3366364"/>
            <a:ext cx="294437" cy="294437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417320" y="3321558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417320" y="332155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2011680" y="3303270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a simple flowchart for that same idea, using today's 3 shapes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22960" y="4183380"/>
            <a:ext cx="420624" cy="420624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icons/checkdoub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4" y="4246474"/>
            <a:ext cx="294437" cy="294437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417320" y="4201668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1417320" y="420166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2011680" y="4183380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every arithmetic operator once in a script, and print each result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822960" y="5063490"/>
            <a:ext cx="420624" cy="420624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4" name="Image 4" descr="icons/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4" y="5126584"/>
            <a:ext cx="294437" cy="294437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1417320" y="5081778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1417320" y="508177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2011680" y="5063490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% to actually check if a number is even or odd, in real Python code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B: Operators &amp; Conditionals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icons/checkdou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" y="2483510"/>
            <a:ext cx="281635" cy="28163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417320" y="2432304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417320" y="2432304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2011680" y="2423160"/>
            <a:ext cx="9418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comparison operator expression and print the True/False result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22960" y="28803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icons/checkdou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" y="2940710"/>
            <a:ext cx="281635" cy="28163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417320" y="2889504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417320" y="2889504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2011680" y="2880360"/>
            <a:ext cx="9418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two conditions using and, then again using or — print both results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22960" y="33375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icons/checkdoub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10" y="3397910"/>
            <a:ext cx="281635" cy="281635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417320" y="3346704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1417320" y="3346704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2011680" y="3337560"/>
            <a:ext cx="9418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if/else that checks if someone is old enough to vote (age &gt;= 18)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4" name="Image 4" descr="icons/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" y="3855110"/>
            <a:ext cx="281635" cy="281635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1417320" y="3803904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1417320" y="3803904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2011680" y="3794760"/>
            <a:ext cx="9418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if/elif/else that assigns a letter grade from a score</a:t>
            </a:r>
            <a:endParaRPr lang="en-US" sz="1350" dirty="0"/>
          </a:p>
        </p:txBody>
      </p:sp>
      <p:sp>
        <p:nvSpPr>
          <p:cNvPr id="28" name="Shape 21"/>
          <p:cNvSpPr/>
          <p:nvPr/>
        </p:nvSpPr>
        <p:spPr>
          <a:xfrm>
            <a:off x="822960" y="42519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9" name="Image 5" descr="icons/checkdoub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310" y="4312310"/>
            <a:ext cx="281635" cy="281635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1417320" y="4261104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31" name="Text 23"/>
          <p:cNvSpPr/>
          <p:nvPr/>
        </p:nvSpPr>
        <p:spPr>
          <a:xfrm>
            <a:off x="1417320" y="4261104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32" name="Text 24"/>
          <p:cNvSpPr/>
          <p:nvPr/>
        </p:nvSpPr>
        <p:spPr>
          <a:xfrm>
            <a:off x="2011680" y="4251960"/>
            <a:ext cx="9418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nested if: check age &gt;= 18 first, then check has_ticket inside it</a:t>
            </a:r>
            <a:endParaRPr lang="en-US" sz="1350" dirty="0"/>
          </a:p>
        </p:txBody>
      </p:sp>
      <p:sp>
        <p:nvSpPr>
          <p:cNvPr id="33" name="Shape 25"/>
          <p:cNvSpPr/>
          <p:nvPr/>
        </p:nvSpPr>
        <p:spPr>
          <a:xfrm>
            <a:off x="822960" y="47091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4" name="Image 6" descr="icons/checkdoub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310" y="4769510"/>
            <a:ext cx="281635" cy="281635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417320" y="4718304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1417320" y="4718304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2011680" y="4709160"/>
            <a:ext cx="9418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Task 1 pseudocode and Task 2 flowchart into real, working Python code</a:t>
            </a:r>
            <a:endParaRPr lang="en-US" sz="1350" dirty="0"/>
          </a:p>
        </p:txBody>
      </p:sp>
      <p:sp>
        <p:nvSpPr>
          <p:cNvPr id="38" name="Shape 29"/>
          <p:cNvSpPr/>
          <p:nvPr/>
        </p:nvSpPr>
        <p:spPr>
          <a:xfrm>
            <a:off x="822960" y="51663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9" name="Image 7" descr="icons/checkdoub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310" y="5226710"/>
            <a:ext cx="281635" cy="281635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1417320" y="5175504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1417320" y="5175504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400" dirty="0"/>
          </a:p>
        </p:txBody>
      </p:sp>
      <p:sp>
        <p:nvSpPr>
          <p:cNvPr id="42" name="Text 32"/>
          <p:cNvSpPr/>
          <p:nvPr/>
        </p:nvSpPr>
        <p:spPr>
          <a:xfrm>
            <a:off x="2011680" y="5166360"/>
            <a:ext cx="9418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simple calculator: ask for two numbers and an operator (+ - * /), then use if/elif/else to print the correct result</a:t>
            </a:r>
            <a:endParaRPr lang="en-US" sz="1350" dirty="0"/>
          </a:p>
        </p:txBody>
      </p:sp>
      <p:sp>
        <p:nvSpPr>
          <p:cNvPr id="43" name="Text 33"/>
          <p:cNvSpPr/>
          <p:nvPr/>
        </p:nvSpPr>
        <p:spPr>
          <a:xfrm>
            <a:off x="822960" y="57607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core tasks in total — due before our next class</a:t>
            </a:r>
            <a:endParaRPr lang="en-US" sz="1200" dirty="0"/>
          </a:p>
        </p:txBody>
      </p:sp>
      <p:sp>
        <p:nvSpPr>
          <p:cNvPr id="44" name="Text 3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45" name="Text 3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DCEAE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icons/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553212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C: Bonus (Optional)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DCEAE6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20624" cy="420624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icons/checkdou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4" y="2486254"/>
            <a:ext cx="294437" cy="294437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417320" y="2441448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417320" y="244144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2011680" y="2423160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+= to add 5 to a variable, then print the result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22960" y="3489960"/>
            <a:ext cx="420624" cy="420624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icons/checkdou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54" y="3553054"/>
            <a:ext cx="294437" cy="294437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417320" y="3508248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417320" y="350824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2011680" y="3489960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6 &amp; 3 and 6 | 3 in Python — predict the answers before running them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22960" y="4556760"/>
            <a:ext cx="420624" cy="420624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icons/checkdoub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4" y="4619854"/>
            <a:ext cx="294437" cy="294437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417320" y="4575048"/>
            <a:ext cx="42062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1417320" y="457504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1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2011680" y="4556760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"cat" is in a list of animals using in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22960" y="57607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try these only if Parts A &amp; B are already done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Conditionals  ·  Session 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1556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icons/code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82396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 make your program think.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if is a fork in the road your code can take.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session: loops — doing something again and again, without repeating yourself.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Operators &amp; Conditionals — Session 4</dc:title>
  <dc:subject>PptxGenJS Presentation</dc:subject>
  <dc:creator>Course Instructor</dc:creator>
  <cp:lastModifiedBy>Course Instructor</cp:lastModifiedBy>
  <cp:revision>1</cp:revision>
  <dcterms:created xsi:type="dcterms:W3CDTF">2026-07-22T02:38:18Z</dcterms:created>
  <dcterms:modified xsi:type="dcterms:W3CDTF">2026-07-22T02:38:18Z</dcterms:modified>
</cp:coreProperties>
</file>