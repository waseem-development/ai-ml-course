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38.xml" ContentType="application/vnd.openxmlformats-officedocument.presentationml.slide+xml"/>
  <Override PartName="/ppt/slides/slide35.xml" ContentType="application/vnd.openxmlformats-officedocument.presentationml.slide+xml"/>
  <Override PartName="/ppt/slides/slide50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52.xml" ContentType="application/vnd.openxmlformats-officedocument.presentationml.slide+xml"/>
  <Override PartName="/ppt/slides/slide14.xml" ContentType="application/vnd.openxmlformats-officedocument.presentationml.slide+xml"/>
  <Override PartName="/ppt/slides/slide5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42.xml" ContentType="application/vnd.openxmlformats-officedocument.presentationml.slide+xml"/>
  <Override PartName="/ppt/slides/slide53.xml" ContentType="application/vnd.openxmlformats-officedocument.presentationml.slide+xml"/>
  <Override PartName="/ppt/slides/slide24.xml" ContentType="application/vnd.openxmlformats-officedocument.presentationml.slide+xml"/>
  <Override PartName="/ppt/slides/slide55.xml" ContentType="application/vnd.openxmlformats-officedocument.presentationml.slide+xml"/>
  <Override PartName="/ppt/slides/slide19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54.xml" ContentType="application/vnd.openxmlformats-officedocument.presentationml.slid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FA2C018-8B80-46BD-9DB3-89E59427D79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slide. Quick recap of Session 3 before diving in: variables, data types, casting.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165C19-DEA8-415D-A53D-AADFC64195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E0B73F-8050-4E4B-B15B-8760868570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026E5C-051D-4F4C-8E67-C05926D66E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CE4115-83B8-42E9-BD02-7BDC055447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payoff moment — same idea,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three forms: picture, plain English, real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5F075F-D41C-4ED0-9C3B-530811481E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0BBC0F-CD4C-44BB-8F7E-9C94C588D9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F3CAB8-DA46-493B-8FAA-73BC80F8EB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4FD53D-9B5D-4C01-97E6-A6F4781908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one of the two ideas worth slowing down for today — most beginners have never seen these before.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3DD347-7725-44D3-A0B7-D458458D66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operator never changes — only where the numbers come from does.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ECE25D-3775-4405-80E2-E43A5F3D9B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8AB4AE-3AFA-4D73-980D-1BA2F8FFE8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 3 is a great callback to the // and % slide just before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3AD065-C089-4B71-8B4B-C0F4D1C20A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comparison always produces exactly one thing: True or False.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1DE019-156A-4FA5-B70B-27B70A09D6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9D3CB7-FE2E-4C7A-BE84-4DD8F482CF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BEA4CD-B8CF-432F-8BB7-9737CE3E37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 4 is a fun surprise for anyone who has coded in another language before.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D2510C-196A-41AA-A46D-FB7DC80F68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AE7DA0-7D4C-4515-867F-CB4EA44119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992F00-83A3-4DFD-912D-AF3EB1E1A2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45239A-6002-4A36-BDD2-6FB535085E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 3 previews the login example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we'll build with if/else next.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4E299B-989C-492A-A450-37ABDA1054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3D880B-EFCE-4E93-AE28-E6BC1D5175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Same BODMAS from school — Python just applies it automatically, every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AA006D-A571-4715-979B-13B652421E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06384F-FE44-4AFD-8177-6E9B31C130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Nice capstone moment — ties arithmetic, comparison, and logical operators together in one picture.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B97AF7-A502-41B1-AFBE-E4659EB7B5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BFE683-F1A4-4A63-BA9E-95D5407CDF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7E3AAE-ACFA-40F3-9EB9-F65D9AF254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A9BFAD-F2C3-43A8-8E88-DDBB675E6B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That's genuinely all they need — resist the urge to teach the full formal symbol set.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CE9790-90B0-4FE0-B598-89283EDE14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 this on the board with the class before revealing it here — much stronger than showing the finished picture cold.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9B4009-329C-4ED7-A588-209B03D504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713E26-1FF8-4EBB-9241-DCAC0A8DA6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83DCCB-0E53-4271-BBB0-106AB4F105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CA6517-A45D-4919-9188-DB69561390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CF4CF4-3CBA-439B-9EA2-9F04E8BA29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E07B45-9A95-4014-9241-E2333E6334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B440CA-90FA-44BC-8D85-CF05DCB999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Even/Odd reuses % from the arithmetic section — a nice callback.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B4ACED-B3EF-4FEA-ABD5-114ABF1937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7A2806-192C-4B7C-8D84-AEC5BA004C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438380-8B8A-4897-93D7-EC54B31FD0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Nice full-circle moment — reuses input() and casting from last session too.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197E57-1435-4E84-A6A3-E462DB8207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Leave the * and / branches unfinished on purpose — filling them in is Task 10.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911B9B-BD60-4266-9A84-EC2977B8AC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3640BB-323F-4DF8-BADF-79D4B3C2AD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942991-E9CC-4F0C-866D-EEFA6D931E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same shortcut pattern also works for //=, %=, and **= — no need to dwell on those today.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B3F5F7-EEE1-47C9-997C-010CCA702B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236A2E-5C94-4BED-B489-0830B7EC40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Letting them see the actual SyntaxError live is more memorable than just being told it doesn't exist.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E93916-F77D-4D95-85A1-F3678F5A8E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work on the binary (1s and 0s) form of a number — rare in everyday Python, common in low-level programming.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FEBBE6-CBE7-49C8-B444-32E35C65B5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C7D586-ACCD-413C-93F3-666D8184A7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D1B150-9DB8-4E09-BC1F-98ECFA946A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9AA0A-71E2-40FF-A911-A54C9751D2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Have students predict the printed output before running each line.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20F468-5E11-4052-8C72-A8CD726B99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6C145F-A969-49E0-8F1F-E2F2C41EE5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E2F162-6190-48BD-B1C5-179626C7A5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64638E-130B-4D4D-B5C8-F69FEF452A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479472-C52E-47FF-91AD-DF91573468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by having 2-3 students describe their Task 1 pseudocode out loud.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BD1ACB-EC91-42CE-9F3F-740C3ED73E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.png"/><Relationship Id="rId9" Type="http://schemas.openxmlformats.org/officeDocument/2006/relationships/image" Target="../media/image1.png"/><Relationship Id="rId10" Type="http://schemas.openxmlformats.org/officeDocument/2006/relationships/image" Target="../media/image8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image" Target="../media/image8.png"/><Relationship Id="rId6" Type="http://schemas.openxmlformats.org/officeDocument/2006/relationships/image" Target="../media/image8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image" Target="../media/image12.png"/><Relationship Id="rId4" Type="http://schemas.openxmlformats.org/officeDocument/2006/relationships/image" Target="../media/image12.png"/><Relationship Id="rId5" Type="http://schemas.openxmlformats.org/officeDocument/2006/relationships/image" Target="../media/image12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image" Target="../media/image10.png"/><Relationship Id="rId6" Type="http://schemas.openxmlformats.org/officeDocument/2006/relationships/image" Target="../media/image10.png"/><Relationship Id="rId7" Type="http://schemas.openxmlformats.org/officeDocument/2006/relationships/image" Target="../media/image10.png"/><Relationship Id="rId8" Type="http://schemas.openxmlformats.org/officeDocument/2006/relationships/image" Target="../media/image10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400440" cy="64004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400440" cy="64004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500080" y="914400"/>
            <a:ext cx="1188360" cy="11883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icons/codebranch.png"/>
          <p:cNvPicPr/>
          <p:nvPr/>
        </p:nvPicPr>
        <p:blipFill>
          <a:blip r:embed="rId1"/>
          <a:stretch/>
        </p:blipFill>
        <p:spPr>
          <a:xfrm>
            <a:off x="5678280" y="1092600"/>
            <a:ext cx="831600" cy="83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377440"/>
            <a:ext cx="10359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Operators &amp; 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Conditionals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3383280"/>
            <a:ext cx="1035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Teaching Your Program to Make </a:t>
            </a: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Decisions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Session 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10515600" y="-13716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0" descr="icons/listo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We're Covering Today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457200" y="1600200"/>
            <a:ext cx="11274120" cy="41400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621720" y="1658160"/>
            <a:ext cx="298080" cy="2980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1" descr="icons/flagcheckered.png"/>
          <p:cNvPicPr/>
          <p:nvPr/>
        </p:nvPicPr>
        <p:blipFill>
          <a:blip r:embed="rId2"/>
          <a:stretch/>
        </p:blipFill>
        <p:spPr>
          <a:xfrm>
            <a:off x="666720" y="1703160"/>
            <a:ext cx="20844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5"/>
          <p:cNvSpPr/>
          <p:nvPr/>
        </p:nvSpPr>
        <p:spPr>
          <a:xfrm>
            <a:off x="1371600" y="1600200"/>
            <a:ext cx="1005804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Planning before coding — pseudocode &amp; flowcharts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457200" y="2142720"/>
            <a:ext cx="11274120" cy="41400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621720" y="2200680"/>
            <a:ext cx="298080" cy="2980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2" descr="icons/calculator.png"/>
          <p:cNvPicPr/>
          <p:nvPr/>
        </p:nvPicPr>
        <p:blipFill>
          <a:blip r:embed="rId3"/>
          <a:stretch/>
        </p:blipFill>
        <p:spPr>
          <a:xfrm>
            <a:off x="666720" y="2245680"/>
            <a:ext cx="20844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8"/>
          <p:cNvSpPr/>
          <p:nvPr/>
        </p:nvSpPr>
        <p:spPr>
          <a:xfrm>
            <a:off x="1371600" y="2142720"/>
            <a:ext cx="1005804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Arithmetic operators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457200" y="2685240"/>
            <a:ext cx="11274120" cy="41400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621720" y="2743200"/>
            <a:ext cx="298080" cy="2980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3" descr="icons/divide.png"/>
          <p:cNvPicPr/>
          <p:nvPr/>
        </p:nvPicPr>
        <p:blipFill>
          <a:blip r:embed="rId4"/>
          <a:stretch/>
        </p:blipFill>
        <p:spPr>
          <a:xfrm>
            <a:off x="666720" y="2788200"/>
            <a:ext cx="20844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1"/>
          <p:cNvSpPr/>
          <p:nvPr/>
        </p:nvSpPr>
        <p:spPr>
          <a:xfrm>
            <a:off x="1371600" y="2685240"/>
            <a:ext cx="1005804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Floor division (//) and modulo (%)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457200" y="3227760"/>
            <a:ext cx="11274120" cy="41400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3"/>
          <p:cNvSpPr/>
          <p:nvPr/>
        </p:nvSpPr>
        <p:spPr>
          <a:xfrm>
            <a:off x="621720" y="3285720"/>
            <a:ext cx="298080" cy="2980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4" descr="icons/balance.png"/>
          <p:cNvPicPr/>
          <p:nvPr/>
        </p:nvPicPr>
        <p:blipFill>
          <a:blip r:embed="rId5"/>
          <a:stretch/>
        </p:blipFill>
        <p:spPr>
          <a:xfrm>
            <a:off x="666720" y="3330720"/>
            <a:ext cx="20844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14"/>
          <p:cNvSpPr/>
          <p:nvPr/>
        </p:nvSpPr>
        <p:spPr>
          <a:xfrm>
            <a:off x="1371600" y="3227760"/>
            <a:ext cx="1005804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Comparison operators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457200" y="3770280"/>
            <a:ext cx="11274120" cy="41400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621720" y="3828240"/>
            <a:ext cx="298080" cy="2980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5" descr="icons/puzzle.png"/>
          <p:cNvPicPr/>
          <p:nvPr/>
        </p:nvPicPr>
        <p:blipFill>
          <a:blip r:embed="rId6"/>
          <a:stretch/>
        </p:blipFill>
        <p:spPr>
          <a:xfrm>
            <a:off x="666720" y="3873240"/>
            <a:ext cx="20844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7"/>
          <p:cNvSpPr/>
          <p:nvPr/>
        </p:nvSpPr>
        <p:spPr>
          <a:xfrm>
            <a:off x="1371600" y="3770280"/>
            <a:ext cx="1005804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Logical operators — and, or, not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457200" y="4312800"/>
            <a:ext cx="11274120" cy="41400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621720" y="4371120"/>
            <a:ext cx="298080" cy="2980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6" descr="icons/calculator.png"/>
          <p:cNvPicPr/>
          <p:nvPr/>
        </p:nvPicPr>
        <p:blipFill>
          <a:blip r:embed="rId7"/>
          <a:stretch/>
        </p:blipFill>
        <p:spPr>
          <a:xfrm>
            <a:off x="666720" y="4415760"/>
            <a:ext cx="20844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20"/>
          <p:cNvSpPr/>
          <p:nvPr/>
        </p:nvSpPr>
        <p:spPr>
          <a:xfrm>
            <a:off x="1371600" y="4312800"/>
            <a:ext cx="1005804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Operator precedence &amp; the BODMAS </a:t>
            </a: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rule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457200" y="4855320"/>
            <a:ext cx="11274120" cy="41400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621720" y="4913640"/>
            <a:ext cx="298080" cy="2980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7" descr="icons/codebranch.png"/>
          <p:cNvPicPr/>
          <p:nvPr/>
        </p:nvPicPr>
        <p:blipFill>
          <a:blip r:embed="rId8"/>
          <a:stretch/>
        </p:blipFill>
        <p:spPr>
          <a:xfrm>
            <a:off x="666720" y="4958280"/>
            <a:ext cx="20844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23"/>
          <p:cNvSpPr/>
          <p:nvPr/>
        </p:nvSpPr>
        <p:spPr>
          <a:xfrm>
            <a:off x="1371600" y="4855320"/>
            <a:ext cx="1005804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/ elif / else — making real decisions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4"/>
          <p:cNvSpPr/>
          <p:nvPr/>
        </p:nvSpPr>
        <p:spPr>
          <a:xfrm>
            <a:off x="457200" y="5397840"/>
            <a:ext cx="11274120" cy="41400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5"/>
          <p:cNvSpPr/>
          <p:nvPr/>
        </p:nvSpPr>
        <p:spPr>
          <a:xfrm>
            <a:off x="621720" y="5456160"/>
            <a:ext cx="298080" cy="2980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8" descr="icons/codebranch.png"/>
          <p:cNvPicPr/>
          <p:nvPr/>
        </p:nvPicPr>
        <p:blipFill>
          <a:blip r:embed="rId9"/>
          <a:stretch/>
        </p:blipFill>
        <p:spPr>
          <a:xfrm>
            <a:off x="666720" y="5500800"/>
            <a:ext cx="20844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26"/>
          <p:cNvSpPr/>
          <p:nvPr/>
        </p:nvSpPr>
        <p:spPr>
          <a:xfrm>
            <a:off x="1371600" y="5397840"/>
            <a:ext cx="1005804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Nest</a:t>
            </a: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ed if </a:t>
            </a: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— a </a:t>
            </a: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deci</a:t>
            </a: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sion </a:t>
            </a: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insid</a:t>
            </a: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 a </a:t>
            </a: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deci</a:t>
            </a: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sion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7"/>
          <p:cNvSpPr/>
          <p:nvPr/>
        </p:nvSpPr>
        <p:spPr>
          <a:xfrm>
            <a:off x="457200" y="5940720"/>
            <a:ext cx="11274120" cy="414000"/>
          </a:xfrm>
          <a:prstGeom prst="roundRect">
            <a:avLst>
              <a:gd name="adj" fmla="val 154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8"/>
          <p:cNvSpPr/>
          <p:nvPr/>
        </p:nvSpPr>
        <p:spPr>
          <a:xfrm>
            <a:off x="621720" y="5998680"/>
            <a:ext cx="298080" cy="2980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9" descr="icons/square.png"/>
          <p:cNvPicPr/>
          <p:nvPr/>
        </p:nvPicPr>
        <p:blipFill>
          <a:blip r:embed="rId10"/>
          <a:stretch/>
        </p:blipFill>
        <p:spPr>
          <a:xfrm>
            <a:off x="666720" y="6043320"/>
            <a:ext cx="20844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29"/>
          <p:cNvSpPr/>
          <p:nvPr/>
        </p:nvSpPr>
        <p:spPr>
          <a:xfrm>
            <a:off x="1371600" y="5940720"/>
            <a:ext cx="1005804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Bonus: assignment, bitwise, identity, membership &amp; escape sequences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Image 0" descr="icons/flagcheckered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Plan Before You Code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The best programmers write the least code first — on paper.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icons/listo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Pseudocode?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1" descr="icons/listol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Plain English,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step by step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Pseudocode is just your plan, written in plain English — not real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has no strict rules, no syntax to get right, and nothing can "error out"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write it so you can think clearly, before worrying about Python's exact grammar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"IF it is raining, THEN take an umbrella, ELSE don't"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0" descr="icons/listo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Pseudocode → Python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START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Ask: is it raining?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yes → take an umbrella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ELSE → don't take 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the exact same plan, now in real Python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is_raining = True   # try changing this to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is_raining: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print("Take an umbrella")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print("Don't take one")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0" descr="icons/listo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Planning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384480" y="1564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pseudocode for checking if a year is a leap year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1435680" y="35967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1"/>
          <p:cNvSpPr/>
          <p:nvPr/>
        </p:nvSpPr>
        <p:spPr>
          <a:xfrm>
            <a:off x="822960" y="315000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822960" y="3150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1435680" y="307800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Turn your own morning routine into 5 simple pseudocode steps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0" descr="icons/calculator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Operators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Arithmetic Operators — The Basics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45720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198576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1" descr="icons/calculator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4"/>
          <p:cNvSpPr/>
          <p:nvPr/>
        </p:nvSpPr>
        <p:spPr>
          <a:xfrm>
            <a:off x="54864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+  Addition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60336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+ 2  →  7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6"/>
          <p:cNvSpPr/>
          <p:nvPr/>
        </p:nvSpPr>
        <p:spPr>
          <a:xfrm>
            <a:off x="429156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582012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2" descr="icons/calculator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8"/>
          <p:cNvSpPr/>
          <p:nvPr/>
        </p:nvSpPr>
        <p:spPr>
          <a:xfrm>
            <a:off x="438300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−  Subtraction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443772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5 - 2  → 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0"/>
          <p:cNvSpPr/>
          <p:nvPr/>
        </p:nvSpPr>
        <p:spPr>
          <a:xfrm>
            <a:off x="812592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1"/>
          <p:cNvSpPr/>
          <p:nvPr/>
        </p:nvSpPr>
        <p:spPr>
          <a:xfrm>
            <a:off x="965448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3" descr="icons/calculator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12"/>
          <p:cNvSpPr/>
          <p:nvPr/>
        </p:nvSpPr>
        <p:spPr>
          <a:xfrm>
            <a:off x="821736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*  Multiplication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3"/>
          <p:cNvSpPr/>
          <p:nvPr/>
        </p:nvSpPr>
        <p:spPr>
          <a:xfrm>
            <a:off x="827244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* 2  →  10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4"/>
          <p:cNvSpPr/>
          <p:nvPr/>
        </p:nvSpPr>
        <p:spPr>
          <a:xfrm>
            <a:off x="45720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5"/>
          <p:cNvSpPr/>
          <p:nvPr/>
        </p:nvSpPr>
        <p:spPr>
          <a:xfrm>
            <a:off x="198576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4" descr="icons/calculator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16"/>
          <p:cNvSpPr/>
          <p:nvPr/>
        </p:nvSpPr>
        <p:spPr>
          <a:xfrm>
            <a:off x="54864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/  Division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7"/>
          <p:cNvSpPr/>
          <p:nvPr/>
        </p:nvSpPr>
        <p:spPr>
          <a:xfrm>
            <a:off x="60336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/ 2  →  2.5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8"/>
          <p:cNvSpPr/>
          <p:nvPr/>
        </p:nvSpPr>
        <p:spPr>
          <a:xfrm>
            <a:off x="429156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9"/>
          <p:cNvSpPr/>
          <p:nvPr/>
        </p:nvSpPr>
        <p:spPr>
          <a:xfrm>
            <a:off x="582012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5" descr="icons/calculator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20"/>
          <p:cNvSpPr/>
          <p:nvPr/>
        </p:nvSpPr>
        <p:spPr>
          <a:xfrm>
            <a:off x="438300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**  Exponent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1"/>
          <p:cNvSpPr/>
          <p:nvPr/>
        </p:nvSpPr>
        <p:spPr>
          <a:xfrm>
            <a:off x="443772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** 2  →  25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2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3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0" descr="icons/divid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Floor Division (//) and Modulo (%)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// gives you the whole-number part of a division, and throws away the rest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% gives you only the remainder — nothing else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Together, they split a number into "how many whole groups" and "what's left over"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very common use: checking even or odd — any number % 2 is 0 only when it's even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print(17 // 5)   # 3   -&gt; 5 fits into 17 three whole times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print(17 % 5)    # 2   -&gt; with 2 left over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print(10 % 2)    # 0   -&gt; even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print(7 % 2)     # 1   -&gt; odd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Arithmetic: Numbers vs. Variables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502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Directly on Numbers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502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822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5 + 3) 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# 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5 - 3)  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#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5 * 3)  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# 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5 / 3)  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#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1.666.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..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5 // 3) 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#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5 %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3)   #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5 ** 3)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# 125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6217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The Same Math, on Variables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6217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6537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 =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+ b)   # 13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- b)   # 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* b)   # 30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/ b)   # 3.333...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// b)  #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% b)   #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** b)  # 1000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3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Arithmetic Mini Programs (1 &amp; 2)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"/>
          <p:cNvSpPr/>
          <p:nvPr/>
        </p:nvSpPr>
        <p:spPr>
          <a:xfrm>
            <a:off x="502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1. Simple Adder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4"/>
          <p:cNvSpPr/>
          <p:nvPr/>
        </p:nvSpPr>
        <p:spPr>
          <a:xfrm>
            <a:off x="502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822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num1 = float(input("Enter first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num2 = float(input("Enter second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print("Sum:", num1 + num2)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68" name="Text 6"/>
          <p:cNvSpPr/>
          <p:nvPr/>
        </p:nvSpPr>
        <p:spPr>
          <a:xfrm>
            <a:off x="6217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2. Area of a Rectangle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7"/>
          <p:cNvSpPr/>
          <p:nvPr/>
        </p:nvSpPr>
        <p:spPr>
          <a:xfrm>
            <a:off x="6217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8"/>
          <p:cNvSpPr/>
          <p:nvPr/>
        </p:nvSpPr>
        <p:spPr>
          <a:xfrm>
            <a:off x="6537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length = float(input("Enter length: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width = float(input("Enter width: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area = length * width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print("Area:", area)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71" name="Text 9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5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Arithmetic Mini Programs (3 &amp; 4)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502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3. Minutes → Hours &amp; Minutes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502920" y="201204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822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total_minutes = int(input("Enter total minutes: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hours = total_minutes // 60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minutes = total_minutes % 60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print(hours, "hours and", minutes, "minutes")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6217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4. Average of Three Numbers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7"/>
          <p:cNvSpPr/>
          <p:nvPr/>
        </p:nvSpPr>
        <p:spPr>
          <a:xfrm>
            <a:off x="6217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6537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float(input("Enter first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 = float(input("Enter second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 = float(input("Enter third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average = (a + b + c) /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print("Average:", average)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0" descr="icons/balanc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Comparison Operators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45720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198576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 1" descr="icons/balance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4"/>
          <p:cNvSpPr/>
          <p:nvPr/>
        </p:nvSpPr>
        <p:spPr>
          <a:xfrm>
            <a:off x="54864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==  Equal 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60336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== 5  →  True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429156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582012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2" descr="icons/balance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8"/>
          <p:cNvSpPr/>
          <p:nvPr/>
        </p:nvSpPr>
        <p:spPr>
          <a:xfrm>
            <a:off x="438300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!=  Not equal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443772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!= 3  →  True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0"/>
          <p:cNvSpPr/>
          <p:nvPr/>
        </p:nvSpPr>
        <p:spPr>
          <a:xfrm>
            <a:off x="812592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1"/>
          <p:cNvSpPr/>
          <p:nvPr/>
        </p:nvSpPr>
        <p:spPr>
          <a:xfrm>
            <a:off x="965448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3" descr="icons/balance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12"/>
          <p:cNvSpPr/>
          <p:nvPr/>
        </p:nvSpPr>
        <p:spPr>
          <a:xfrm>
            <a:off x="821736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&lt;  Less than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3"/>
          <p:cNvSpPr/>
          <p:nvPr/>
        </p:nvSpPr>
        <p:spPr>
          <a:xfrm>
            <a:off x="827244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3 &lt; 5  →  True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4"/>
          <p:cNvSpPr/>
          <p:nvPr/>
        </p:nvSpPr>
        <p:spPr>
          <a:xfrm>
            <a:off x="45720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5"/>
          <p:cNvSpPr/>
          <p:nvPr/>
        </p:nvSpPr>
        <p:spPr>
          <a:xfrm>
            <a:off x="198576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5" name="Image 4" descr="icons/balance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16"/>
          <p:cNvSpPr/>
          <p:nvPr/>
        </p:nvSpPr>
        <p:spPr>
          <a:xfrm>
            <a:off x="54864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&gt;  Greater than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60336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&gt; 3  →  True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8"/>
          <p:cNvSpPr/>
          <p:nvPr/>
        </p:nvSpPr>
        <p:spPr>
          <a:xfrm>
            <a:off x="429156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9"/>
          <p:cNvSpPr/>
          <p:nvPr/>
        </p:nvSpPr>
        <p:spPr>
          <a:xfrm>
            <a:off x="582012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0" name="Image 5" descr="icons/balance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Text 20"/>
          <p:cNvSpPr/>
          <p:nvPr/>
        </p:nvSpPr>
        <p:spPr>
          <a:xfrm>
            <a:off x="438300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&lt;=  Less or equal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1"/>
          <p:cNvSpPr/>
          <p:nvPr/>
        </p:nvSpPr>
        <p:spPr>
          <a:xfrm>
            <a:off x="443772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&lt;= 5  →  True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2"/>
          <p:cNvSpPr/>
          <p:nvPr/>
        </p:nvSpPr>
        <p:spPr>
          <a:xfrm>
            <a:off x="812592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3"/>
          <p:cNvSpPr/>
          <p:nvPr/>
        </p:nvSpPr>
        <p:spPr>
          <a:xfrm>
            <a:off x="965448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 6" descr="icons/balance.png"/>
          <p:cNvPicPr/>
          <p:nvPr/>
        </p:nvPicPr>
        <p:blipFill>
          <a:blip r:embed="rId7"/>
          <a:stretch/>
        </p:blipFill>
        <p:spPr>
          <a:xfrm>
            <a:off x="973692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 24"/>
          <p:cNvSpPr/>
          <p:nvPr/>
        </p:nvSpPr>
        <p:spPr>
          <a:xfrm>
            <a:off x="821736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&gt;=  Greater or equal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5"/>
          <p:cNvSpPr/>
          <p:nvPr/>
        </p:nvSpPr>
        <p:spPr>
          <a:xfrm>
            <a:off x="827244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&gt;= 6  →  False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0" descr="icons/balanc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Comparison: Numbers vs. Variables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502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Directly on Numbers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4"/>
          <p:cNvSpPr/>
          <p:nvPr/>
        </p:nvSpPr>
        <p:spPr>
          <a:xfrm>
            <a:off x="502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822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== 5)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!= 3)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print(3 &lt; 5)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&gt; 3)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&lt;= 5)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 &gt;= 6) 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6217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The Same Checks, on Variables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6217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6537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voting_age = 18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== voting_age)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!= voting_age)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&lt; voting_age) 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&gt; voting_age)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&lt;= voting_age)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&gt;= voting_age)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0" descr="icons/balanc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Comparison Mini Programs (1 &amp; 2)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502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1. Are Two Numbers Equal?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4"/>
          <p:cNvSpPr/>
          <p:nvPr/>
        </p:nvSpPr>
        <p:spPr>
          <a:xfrm>
            <a:off x="502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822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num1 = int(input("Enter first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num2 = int(input("Enter second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print(num1 == num2)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6217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2. Voting Eligibility Check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7"/>
          <p:cNvSpPr/>
          <p:nvPr/>
        </p:nvSpPr>
        <p:spPr>
          <a:xfrm>
            <a:off x="6217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8"/>
          <p:cNvSpPr/>
          <p:nvPr/>
        </p:nvSpPr>
        <p:spPr>
          <a:xfrm>
            <a:off x="6537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int(input("Enter your age: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&gt;= 18)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42" name="Text 9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6" name="Image 0" descr="icons/balanc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Comparison Mini Programs (3 &amp; 4)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502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3. Compare Two Scores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4"/>
          <p:cNvSpPr/>
          <p:nvPr/>
        </p:nvSpPr>
        <p:spPr>
          <a:xfrm>
            <a:off x="502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822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score1 = int(input("Enter score 1: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score2 = int(input("Enter score 2: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print(score1 &gt; score2)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print(score1 &lt; score2)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6217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4. Chained Range Check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7"/>
          <p:cNvSpPr/>
          <p:nvPr/>
        </p:nvSpPr>
        <p:spPr>
          <a:xfrm>
            <a:off x="6217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6537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number = int(input("Enter a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True only if number is between 1 and 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print(1 &lt;= number &lt;= 10)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0" descr="icons/puzz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Logical Operators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"/>
          <p:cNvSpPr/>
          <p:nvPr/>
        </p:nvSpPr>
        <p:spPr>
          <a:xfrm>
            <a:off x="457200" y="1508760"/>
            <a:ext cx="3605400" cy="489168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3"/>
          <p:cNvSpPr/>
          <p:nvPr/>
        </p:nvSpPr>
        <p:spPr>
          <a:xfrm>
            <a:off x="1985760" y="20959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1" name="Image 1" descr="icons/puzzle.png"/>
          <p:cNvPicPr/>
          <p:nvPr/>
        </p:nvPicPr>
        <p:blipFill>
          <a:blip r:embed="rId2"/>
          <a:stretch/>
        </p:blipFill>
        <p:spPr>
          <a:xfrm>
            <a:off x="2068200" y="21780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4"/>
          <p:cNvSpPr/>
          <p:nvPr/>
        </p:nvSpPr>
        <p:spPr>
          <a:xfrm>
            <a:off x="548640" y="271764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5"/>
          <p:cNvSpPr/>
          <p:nvPr/>
        </p:nvSpPr>
        <p:spPr>
          <a:xfrm>
            <a:off x="603360" y="3101760"/>
            <a:ext cx="331272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True only if BOTH sides are true — age &gt;= 18 and has_id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6"/>
          <p:cNvSpPr/>
          <p:nvPr/>
        </p:nvSpPr>
        <p:spPr>
          <a:xfrm>
            <a:off x="4291560" y="1508760"/>
            <a:ext cx="3605400" cy="489168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7"/>
          <p:cNvSpPr/>
          <p:nvPr/>
        </p:nvSpPr>
        <p:spPr>
          <a:xfrm>
            <a:off x="5820120" y="20959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6" name="Image 2" descr="icons/puzzle.png"/>
          <p:cNvPicPr/>
          <p:nvPr/>
        </p:nvPicPr>
        <p:blipFill>
          <a:blip r:embed="rId3"/>
          <a:stretch/>
        </p:blipFill>
        <p:spPr>
          <a:xfrm>
            <a:off x="5902560" y="21780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Text 8"/>
          <p:cNvSpPr/>
          <p:nvPr/>
        </p:nvSpPr>
        <p:spPr>
          <a:xfrm>
            <a:off x="4383000" y="271764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9"/>
          <p:cNvSpPr/>
          <p:nvPr/>
        </p:nvSpPr>
        <p:spPr>
          <a:xfrm>
            <a:off x="4437720" y="3101760"/>
            <a:ext cx="331272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True if AT LEAST ONE side is true — is_weekend or is_holiday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0"/>
          <p:cNvSpPr/>
          <p:nvPr/>
        </p:nvSpPr>
        <p:spPr>
          <a:xfrm>
            <a:off x="8125920" y="1508760"/>
            <a:ext cx="3605400" cy="489168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1"/>
          <p:cNvSpPr/>
          <p:nvPr/>
        </p:nvSpPr>
        <p:spPr>
          <a:xfrm>
            <a:off x="9654480" y="20959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Image 3" descr="icons/puzzle.png"/>
          <p:cNvPicPr/>
          <p:nvPr/>
        </p:nvPicPr>
        <p:blipFill>
          <a:blip r:embed="rId4"/>
          <a:stretch/>
        </p:blipFill>
        <p:spPr>
          <a:xfrm>
            <a:off x="9736920" y="21780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Text 12"/>
          <p:cNvSpPr/>
          <p:nvPr/>
        </p:nvSpPr>
        <p:spPr>
          <a:xfrm>
            <a:off x="8217360" y="271764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3"/>
          <p:cNvSpPr/>
          <p:nvPr/>
        </p:nvSpPr>
        <p:spPr>
          <a:xfrm>
            <a:off x="8272440" y="3101760"/>
            <a:ext cx="331272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Flips True to False, and False to True — not is_raining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4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8" name="Image 0" descr="icons/puzz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Logical: Direct Values vs. Variables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502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Directly on True / False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502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822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print(True and False) 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print(True or False)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print(not True)       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6217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On Variables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7"/>
          <p:cNvSpPr/>
          <p:nvPr/>
        </p:nvSpPr>
        <p:spPr>
          <a:xfrm>
            <a:off x="6217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6537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is_sunny =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is_weekend =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print(is_sunny and is_weekend)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print(is_sunny or is_weekend)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print(not is_sunny)              #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86" name="Text 9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0" name="Image 0" descr="icons/puzz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Logical Mini Programs (1 &amp; 2)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"/>
          <p:cNvSpPr/>
          <p:nvPr/>
        </p:nvSpPr>
        <p:spPr>
          <a:xfrm>
            <a:off x="502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1. Can You Watch the Movie?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4"/>
          <p:cNvSpPr/>
          <p:nvPr/>
        </p:nvSpPr>
        <p:spPr>
          <a:xfrm>
            <a:off x="502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822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int(input("Enter your age: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has_ticket =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 &gt;= 13 and has_ticket)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95" name="Text 6"/>
          <p:cNvSpPr/>
          <p:nvPr/>
        </p:nvSpPr>
        <p:spPr>
          <a:xfrm>
            <a:off x="6217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2. Good Day for a Picnic?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7"/>
          <p:cNvSpPr/>
          <p:nvPr/>
        </p:nvSpPr>
        <p:spPr>
          <a:xfrm>
            <a:off x="6217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6537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is_sunny =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is_windy =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print(is_sunny and not is_windy)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98" name="Text 9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2" name="Image 0" descr="icons/puzz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Logical Mini Programs (3 &amp; 4)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"/>
          <p:cNvSpPr/>
          <p:nvPr/>
        </p:nvSpPr>
        <p:spPr>
          <a:xfrm>
            <a:off x="502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3. Simple Login Check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4"/>
          <p:cNvSpPr/>
          <p:nvPr/>
        </p:nvSpPr>
        <p:spPr>
          <a:xfrm>
            <a:off x="502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5"/>
          <p:cNvSpPr/>
          <p:nvPr/>
        </p:nvSpPr>
        <p:spPr>
          <a:xfrm>
            <a:off x="822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username = input("Username: 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password = input("Password: 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correct_username = "admin"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correct_password = "1234"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print(username == correct_username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and password == correct_password)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07" name="Text 6"/>
          <p:cNvSpPr/>
          <p:nvPr/>
        </p:nvSpPr>
        <p:spPr>
          <a:xfrm>
            <a:off x="6217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4. Discount Eligibility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7"/>
          <p:cNvSpPr/>
          <p:nvPr/>
        </p:nvSpPr>
        <p:spPr>
          <a:xfrm>
            <a:off x="6217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8"/>
          <p:cNvSpPr/>
          <p:nvPr/>
        </p:nvSpPr>
        <p:spPr>
          <a:xfrm>
            <a:off x="6537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is_member =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total_spent = 120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print(is_member or total_spent &gt; 100)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10" name="Text 9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4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Operator Precedence — What Runs First?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 1" descr="icons/calculator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You already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know this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rule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When an expression has more than one operator, Python must decide which one to calculate first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order is called operator precedence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already learned this rule in school — it's called BODMAS (or PEMDAS)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Brackets → Orders (powers) → Division &amp; Multiplication → Addition &amp; Subtraction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4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BODMAS, Step by Step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"/>
          <p:cNvSpPr/>
          <p:nvPr/>
        </p:nvSpPr>
        <p:spPr>
          <a:xfrm>
            <a:off x="457200" y="150876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3"/>
          <p:cNvSpPr/>
          <p:nvPr/>
        </p:nvSpPr>
        <p:spPr>
          <a:xfrm>
            <a:off x="294444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8" name="Image 1" descr="icons/square.png"/>
          <p:cNvPicPr/>
          <p:nvPr/>
        </p:nvPicPr>
        <p:blipFill>
          <a:blip r:embed="rId2"/>
          <a:stretch/>
        </p:blipFill>
        <p:spPr>
          <a:xfrm>
            <a:off x="302652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Text 4"/>
          <p:cNvSpPr/>
          <p:nvPr/>
        </p:nvSpPr>
        <p:spPr>
          <a:xfrm>
            <a:off x="548640" y="2410200"/>
            <a:ext cx="53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 — Brackets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5"/>
          <p:cNvSpPr/>
          <p:nvPr/>
        </p:nvSpPr>
        <p:spPr>
          <a:xfrm>
            <a:off x="603360" y="2794320"/>
            <a:ext cx="523008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Always calculated first  ( 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6"/>
          <p:cNvSpPr/>
          <p:nvPr/>
        </p:nvSpPr>
        <p:spPr>
          <a:xfrm>
            <a:off x="6208920" y="150876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7"/>
          <p:cNvSpPr/>
          <p:nvPr/>
        </p:nvSpPr>
        <p:spPr>
          <a:xfrm>
            <a:off x="869580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3" name="Image 2" descr="icons/calculator.png"/>
          <p:cNvPicPr/>
          <p:nvPr/>
        </p:nvPicPr>
        <p:blipFill>
          <a:blip r:embed="rId3"/>
          <a:stretch/>
        </p:blipFill>
        <p:spPr>
          <a:xfrm>
            <a:off x="877824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Text 8"/>
          <p:cNvSpPr/>
          <p:nvPr/>
        </p:nvSpPr>
        <p:spPr>
          <a:xfrm>
            <a:off x="6300360" y="2410200"/>
            <a:ext cx="53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 — Orders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9"/>
          <p:cNvSpPr/>
          <p:nvPr/>
        </p:nvSpPr>
        <p:spPr>
          <a:xfrm>
            <a:off x="6355080" y="2794320"/>
            <a:ext cx="523008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Powers / exponents  **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0"/>
          <p:cNvSpPr/>
          <p:nvPr/>
        </p:nvSpPr>
        <p:spPr>
          <a:xfrm>
            <a:off x="457200" y="406908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1"/>
          <p:cNvSpPr/>
          <p:nvPr/>
        </p:nvSpPr>
        <p:spPr>
          <a:xfrm>
            <a:off x="294444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8" name="Image 3" descr="icons/divide.png"/>
          <p:cNvPicPr/>
          <p:nvPr/>
        </p:nvPicPr>
        <p:blipFill>
          <a:blip r:embed="rId4"/>
          <a:stretch/>
        </p:blipFill>
        <p:spPr>
          <a:xfrm>
            <a:off x="302652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Text 12"/>
          <p:cNvSpPr/>
          <p:nvPr/>
        </p:nvSpPr>
        <p:spPr>
          <a:xfrm>
            <a:off x="548640" y="4970520"/>
            <a:ext cx="53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DM — Division &amp; Multiplication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3"/>
          <p:cNvSpPr/>
          <p:nvPr/>
        </p:nvSpPr>
        <p:spPr>
          <a:xfrm>
            <a:off x="603360" y="5354640"/>
            <a:ext cx="523008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Left to right  /  //  *  %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4"/>
          <p:cNvSpPr/>
          <p:nvPr/>
        </p:nvSpPr>
        <p:spPr>
          <a:xfrm>
            <a:off x="6208920" y="406908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5"/>
          <p:cNvSpPr/>
          <p:nvPr/>
        </p:nvSpPr>
        <p:spPr>
          <a:xfrm>
            <a:off x="869580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 4" descr="icons/square.png"/>
          <p:cNvPicPr/>
          <p:nvPr/>
        </p:nvPicPr>
        <p:blipFill>
          <a:blip r:embed="rId5"/>
          <a:stretch/>
        </p:blipFill>
        <p:spPr>
          <a:xfrm>
            <a:off x="877824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 16"/>
          <p:cNvSpPr/>
          <p:nvPr/>
        </p:nvSpPr>
        <p:spPr>
          <a:xfrm>
            <a:off x="6300360" y="4970520"/>
            <a:ext cx="53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AS — Addition &amp; Subtraction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7"/>
          <p:cNvSpPr/>
          <p:nvPr/>
        </p:nvSpPr>
        <p:spPr>
          <a:xfrm>
            <a:off x="6355080" y="5354640"/>
            <a:ext cx="523008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Left to </a:t>
            </a: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right  </a:t>
            </a: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+  -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8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9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0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BODMAS in Python — Worked Examples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 follows this exact order automatically — you never need to tell it to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When an expression feels unclear, add your own brackets to make the order obvious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predicting each answer before reading the comment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print(2 + 3 * 4)         # 14, not 20 — multiplication first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print((2 + 3) * 4)       # 20 — brackets override the order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print(2 ** 3 + 1)        # 9 — exponent before addition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print(10 - 2 * 3 // 2)   # 7  -&gt;  2*3=6, 6//2=3, 10-3=7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55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8" name="Image 0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Full Order (Arithmetic, Comparison &amp; Logic)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"/>
          <p:cNvSpPr/>
          <p:nvPr/>
        </p:nvSpPr>
        <p:spPr>
          <a:xfrm>
            <a:off x="45720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3"/>
          <p:cNvSpPr/>
          <p:nvPr/>
        </p:nvSpPr>
        <p:spPr>
          <a:xfrm>
            <a:off x="198576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2" name="Image 1" descr="icons/square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Text 4"/>
          <p:cNvSpPr/>
          <p:nvPr/>
        </p:nvSpPr>
        <p:spPr>
          <a:xfrm>
            <a:off x="54864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1. Brackets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5"/>
          <p:cNvSpPr/>
          <p:nvPr/>
        </p:nvSpPr>
        <p:spPr>
          <a:xfrm>
            <a:off x="60336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( 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6"/>
          <p:cNvSpPr/>
          <p:nvPr/>
        </p:nvSpPr>
        <p:spPr>
          <a:xfrm>
            <a:off x="429156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7"/>
          <p:cNvSpPr/>
          <p:nvPr/>
        </p:nvSpPr>
        <p:spPr>
          <a:xfrm>
            <a:off x="582012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7" name="Image 2" descr="icons/calculator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Text 8"/>
          <p:cNvSpPr/>
          <p:nvPr/>
        </p:nvSpPr>
        <p:spPr>
          <a:xfrm>
            <a:off x="438300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2. Exponent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9"/>
          <p:cNvSpPr/>
          <p:nvPr/>
        </p:nvSpPr>
        <p:spPr>
          <a:xfrm>
            <a:off x="443772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**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0"/>
          <p:cNvSpPr/>
          <p:nvPr/>
        </p:nvSpPr>
        <p:spPr>
          <a:xfrm>
            <a:off x="812592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1"/>
          <p:cNvSpPr/>
          <p:nvPr/>
        </p:nvSpPr>
        <p:spPr>
          <a:xfrm>
            <a:off x="965448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2" name="Image 3" descr="icons/divide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Text 12"/>
          <p:cNvSpPr/>
          <p:nvPr/>
        </p:nvSpPr>
        <p:spPr>
          <a:xfrm>
            <a:off x="821736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3. × ÷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3"/>
          <p:cNvSpPr/>
          <p:nvPr/>
        </p:nvSpPr>
        <p:spPr>
          <a:xfrm>
            <a:off x="827244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*  /  //  %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4"/>
          <p:cNvSpPr/>
          <p:nvPr/>
        </p:nvSpPr>
        <p:spPr>
          <a:xfrm>
            <a:off x="45720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5"/>
          <p:cNvSpPr/>
          <p:nvPr/>
        </p:nvSpPr>
        <p:spPr>
          <a:xfrm>
            <a:off x="198576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7" name="Image 4" descr="icons/square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Text 16"/>
          <p:cNvSpPr/>
          <p:nvPr/>
        </p:nvSpPr>
        <p:spPr>
          <a:xfrm>
            <a:off x="54864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4. + −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7"/>
          <p:cNvSpPr/>
          <p:nvPr/>
        </p:nvSpPr>
        <p:spPr>
          <a:xfrm>
            <a:off x="60336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+  -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8"/>
          <p:cNvSpPr/>
          <p:nvPr/>
        </p:nvSpPr>
        <p:spPr>
          <a:xfrm>
            <a:off x="429156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9"/>
          <p:cNvSpPr/>
          <p:nvPr/>
        </p:nvSpPr>
        <p:spPr>
          <a:xfrm>
            <a:off x="582012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2" name="Image 5" descr="icons/balance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Text 20"/>
          <p:cNvSpPr/>
          <p:nvPr/>
        </p:nvSpPr>
        <p:spPr>
          <a:xfrm>
            <a:off x="438300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5. Comparisons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1"/>
          <p:cNvSpPr/>
          <p:nvPr/>
        </p:nvSpPr>
        <p:spPr>
          <a:xfrm>
            <a:off x="443772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==  !=  &lt;  &gt;  &lt;=  &gt;=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2"/>
          <p:cNvSpPr/>
          <p:nvPr/>
        </p:nvSpPr>
        <p:spPr>
          <a:xfrm>
            <a:off x="812592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3"/>
          <p:cNvSpPr/>
          <p:nvPr/>
        </p:nvSpPr>
        <p:spPr>
          <a:xfrm>
            <a:off x="965448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7" name="Image 6" descr="icons/puzzle.png"/>
          <p:cNvPicPr/>
          <p:nvPr/>
        </p:nvPicPr>
        <p:blipFill>
          <a:blip r:embed="rId7"/>
          <a:stretch/>
        </p:blipFill>
        <p:spPr>
          <a:xfrm>
            <a:off x="973692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24"/>
          <p:cNvSpPr/>
          <p:nvPr/>
        </p:nvSpPr>
        <p:spPr>
          <a:xfrm>
            <a:off x="821736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6. not, and, 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5"/>
          <p:cNvSpPr/>
          <p:nvPr/>
        </p:nvSpPr>
        <p:spPr>
          <a:xfrm>
            <a:off x="827244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 that order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4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Operators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the result of 17 // 5 and 17 % 5, without looking back at the earlier slide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8"/>
          <p:cNvSpPr/>
          <p:nvPr/>
        </p:nvSpPr>
        <p:spPr>
          <a:xfrm>
            <a:off x="822960" y="295668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9"/>
          <p:cNvSpPr/>
          <p:nvPr/>
        </p:nvSpPr>
        <p:spPr>
          <a:xfrm>
            <a:off x="822960" y="2956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0"/>
          <p:cNvSpPr/>
          <p:nvPr/>
        </p:nvSpPr>
        <p:spPr>
          <a:xfrm>
            <a:off x="1435680" y="29566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Store two numbers in variables and print their sum, difference, and product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1"/>
          <p:cNvSpPr/>
          <p:nvPr/>
        </p:nvSpPr>
        <p:spPr>
          <a:xfrm>
            <a:off x="822960" y="348984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2"/>
          <p:cNvSpPr/>
          <p:nvPr/>
        </p:nvSpPr>
        <p:spPr>
          <a:xfrm>
            <a:off x="822960" y="34898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3"/>
          <p:cNvSpPr/>
          <p:nvPr/>
        </p:nvSpPr>
        <p:spPr>
          <a:xfrm>
            <a:off x="1435680" y="348984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comparison expression checking if 25 is greater than 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4"/>
          <p:cNvSpPr/>
          <p:nvPr/>
        </p:nvSpPr>
        <p:spPr>
          <a:xfrm>
            <a:off x="822960" y="40233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5"/>
          <p:cNvSpPr/>
          <p:nvPr/>
        </p:nvSpPr>
        <p:spPr>
          <a:xfrm>
            <a:off x="822960" y="4023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6"/>
          <p:cNvSpPr/>
          <p:nvPr/>
        </p:nvSpPr>
        <p:spPr>
          <a:xfrm>
            <a:off x="1435680" y="40233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and to check if a number is between 10 and 20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7"/>
          <p:cNvSpPr/>
          <p:nvPr/>
        </p:nvSpPr>
        <p:spPr>
          <a:xfrm>
            <a:off x="822960" y="455688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8"/>
          <p:cNvSpPr/>
          <p:nvPr/>
        </p:nvSpPr>
        <p:spPr>
          <a:xfrm>
            <a:off x="822960" y="4556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9"/>
          <p:cNvSpPr/>
          <p:nvPr/>
        </p:nvSpPr>
        <p:spPr>
          <a:xfrm>
            <a:off x="1435680" y="45568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not to flip a True value to False, and print the result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20"/>
          <p:cNvSpPr/>
          <p:nvPr/>
        </p:nvSpPr>
        <p:spPr>
          <a:xfrm>
            <a:off x="822960" y="509004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21"/>
          <p:cNvSpPr/>
          <p:nvPr/>
        </p:nvSpPr>
        <p:spPr>
          <a:xfrm>
            <a:off x="822960" y="5090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2"/>
          <p:cNvSpPr/>
          <p:nvPr/>
        </p:nvSpPr>
        <p:spPr>
          <a:xfrm>
            <a:off x="1435680" y="509004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Predict the output of 2 ** 3 // 2 on paper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before you run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23"/>
          <p:cNvSpPr/>
          <p:nvPr/>
        </p:nvSpPr>
        <p:spPr>
          <a:xfrm>
            <a:off x="822960" y="576072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Let students actually try these before revealing any answers.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24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2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2" name="Image 0" descr="icons/codebranch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Making Decisions With if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31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32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8" name="Image 1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Text 36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Flowchart?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3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3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2" name="Image 11" descr="icons/codebranch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Text 37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pict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ure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of 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you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 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plan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8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flowchart is the same plan as pseudocode, but drawn as a picture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shape means something specific — you'll only ever need three of them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Following the arrows shows you exactly what your program will do, and in what order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Great for decisions especially — you can literally see every path your code could take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39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4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35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8" name="Image 12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Text 4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3 Shapes You Need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36"/>
          <p:cNvSpPr/>
          <p:nvPr/>
        </p:nvSpPr>
        <p:spPr>
          <a:xfrm>
            <a:off x="457200" y="1508760"/>
            <a:ext cx="3605400" cy="489168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42"/>
          <p:cNvSpPr/>
          <p:nvPr/>
        </p:nvSpPr>
        <p:spPr>
          <a:xfrm>
            <a:off x="548640" y="271764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Oval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43"/>
          <p:cNvSpPr/>
          <p:nvPr/>
        </p:nvSpPr>
        <p:spPr>
          <a:xfrm>
            <a:off x="603360" y="3101760"/>
            <a:ext cx="331272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Start or End of the whole process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37"/>
          <p:cNvSpPr/>
          <p:nvPr/>
        </p:nvSpPr>
        <p:spPr>
          <a:xfrm>
            <a:off x="4291560" y="1508760"/>
            <a:ext cx="3605400" cy="489168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38"/>
          <p:cNvSpPr/>
          <p:nvPr/>
        </p:nvSpPr>
        <p:spPr>
          <a:xfrm>
            <a:off x="5820120" y="20959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5" name="Image 13" descr="icons/square.png"/>
          <p:cNvPicPr/>
          <p:nvPr/>
        </p:nvPicPr>
        <p:blipFill>
          <a:blip r:embed="rId2"/>
          <a:stretch/>
        </p:blipFill>
        <p:spPr>
          <a:xfrm>
            <a:off x="5902560" y="21780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Text 44"/>
          <p:cNvSpPr/>
          <p:nvPr/>
        </p:nvSpPr>
        <p:spPr>
          <a:xfrm>
            <a:off x="4383000" y="271764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Rectangle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45"/>
          <p:cNvSpPr/>
          <p:nvPr/>
        </p:nvSpPr>
        <p:spPr>
          <a:xfrm>
            <a:off x="4437720" y="3101760"/>
            <a:ext cx="331272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One step or action to perform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39"/>
          <p:cNvSpPr/>
          <p:nvPr/>
        </p:nvSpPr>
        <p:spPr>
          <a:xfrm>
            <a:off x="8125920" y="1508760"/>
            <a:ext cx="3605400" cy="489168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40"/>
          <p:cNvSpPr/>
          <p:nvPr/>
        </p:nvSpPr>
        <p:spPr>
          <a:xfrm>
            <a:off x="9654480" y="20959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46"/>
          <p:cNvSpPr/>
          <p:nvPr/>
        </p:nvSpPr>
        <p:spPr>
          <a:xfrm>
            <a:off x="8217360" y="271764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Diamond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47"/>
          <p:cNvSpPr/>
          <p:nvPr/>
        </p:nvSpPr>
        <p:spPr>
          <a:xfrm>
            <a:off x="8272440" y="3101760"/>
            <a:ext cx="331272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 decision — always has a Yes and a No path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48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49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41"/>
          <p:cNvSpPr/>
          <p:nvPr/>
        </p:nvSpPr>
        <p:spPr>
          <a:xfrm>
            <a:off x="1968480" y="20962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2040480" y="2238840"/>
            <a:ext cx="425160" cy="27576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 rot="1535400">
            <a:off x="9793440" y="2250000"/>
            <a:ext cx="228600" cy="228600"/>
          </a:xfrm>
          <a:prstGeom prst="diamond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42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8" name="Image 14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Text 50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From Idea to Flowchart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43"/>
          <p:cNvSpPr/>
          <p:nvPr/>
        </p:nvSpPr>
        <p:spPr>
          <a:xfrm>
            <a:off x="4997160" y="1600200"/>
            <a:ext cx="2194200" cy="502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51"/>
          <p:cNvSpPr/>
          <p:nvPr/>
        </p:nvSpPr>
        <p:spPr>
          <a:xfrm>
            <a:off x="4997160" y="160020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44"/>
          <p:cNvSpPr/>
          <p:nvPr/>
        </p:nvSpPr>
        <p:spPr>
          <a:xfrm>
            <a:off x="4448520" y="2377440"/>
            <a:ext cx="3291480" cy="868320"/>
          </a:xfrm>
          <a:prstGeom prst="diamond">
            <a:avLst/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52"/>
          <p:cNvSpPr/>
          <p:nvPr/>
        </p:nvSpPr>
        <p:spPr>
          <a:xfrm>
            <a:off x="4448520" y="2377440"/>
            <a:ext cx="3291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Is it raining?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53"/>
          <p:cNvSpPr/>
          <p:nvPr/>
        </p:nvSpPr>
        <p:spPr>
          <a:xfrm>
            <a:off x="5637240" y="32734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54"/>
          <p:cNvSpPr/>
          <p:nvPr/>
        </p:nvSpPr>
        <p:spPr>
          <a:xfrm>
            <a:off x="1371600" y="35661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YES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55"/>
          <p:cNvSpPr/>
          <p:nvPr/>
        </p:nvSpPr>
        <p:spPr>
          <a:xfrm>
            <a:off x="8074080" y="35661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5473F"/>
                </a:solidFill>
                <a:effectLst/>
                <a:uFillTx/>
                <a:latin typeface="Calibri"/>
                <a:ea typeface="Calibri"/>
              </a:rPr>
              <a:t>NO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45"/>
          <p:cNvSpPr/>
          <p:nvPr/>
        </p:nvSpPr>
        <p:spPr>
          <a:xfrm>
            <a:off x="1371600" y="3886200"/>
            <a:ext cx="2742840" cy="685440"/>
          </a:xfrm>
          <a:prstGeom prst="roundRect">
            <a:avLst>
              <a:gd name="adj" fmla="val 8000"/>
            </a:avLst>
          </a:prstGeom>
          <a:solidFill>
            <a:srgbClr val="F1F3EC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56"/>
          <p:cNvSpPr/>
          <p:nvPr/>
        </p:nvSpPr>
        <p:spPr>
          <a:xfrm>
            <a:off x="1371600" y="3886200"/>
            <a:ext cx="2742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Take an umbrella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46"/>
          <p:cNvSpPr/>
          <p:nvPr/>
        </p:nvSpPr>
        <p:spPr>
          <a:xfrm>
            <a:off x="8074080" y="3886200"/>
            <a:ext cx="2742840" cy="685440"/>
          </a:xfrm>
          <a:prstGeom prst="roundRect">
            <a:avLst>
              <a:gd name="adj" fmla="val 8000"/>
            </a:avLst>
          </a:prstGeom>
          <a:solidFill>
            <a:srgbClr val="F1F3EC"/>
          </a:solidFill>
          <a:ln w="12700">
            <a:solidFill>
              <a:srgbClr val="A54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57"/>
          <p:cNvSpPr/>
          <p:nvPr/>
        </p:nvSpPr>
        <p:spPr>
          <a:xfrm>
            <a:off x="8074080" y="3886200"/>
            <a:ext cx="2742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Don't take 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58"/>
          <p:cNvSpPr/>
          <p:nvPr/>
        </p:nvSpPr>
        <p:spPr>
          <a:xfrm>
            <a:off x="5637240" y="46177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47"/>
          <p:cNvSpPr/>
          <p:nvPr/>
        </p:nvSpPr>
        <p:spPr>
          <a:xfrm>
            <a:off x="4997160" y="4919400"/>
            <a:ext cx="2194200" cy="502560"/>
          </a:xfrm>
          <a:prstGeom prst="ellipse">
            <a:avLst/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59"/>
          <p:cNvSpPr/>
          <p:nvPr/>
        </p:nvSpPr>
        <p:spPr>
          <a:xfrm>
            <a:off x="4997160" y="491940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6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6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5943600" y="2057400"/>
            <a:ext cx="0" cy="3200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9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if Statement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checks a condition, and only runs the code below it when that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condition is True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indented lines are what actually run — Python uses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indentation instead of curly braces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the condition is False, Python simply skips that whole block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age &gt;= 18: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print("You can vote")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84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8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if / else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else covers every other case — anything that didn't match the if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Exactly one of the two blocks will always run. Never both, never neither.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age &gt;= 18: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print("You can vote")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print("Not old enough yet")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93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7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if / elif / else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elif lets you check more conditions, one after another, in order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 checks each one top to bottom, and stops at the very first True it finds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else still catches anything that matched none of the conditions above 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score = 82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score &gt;= 90: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print("Grade: A")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score &gt;= 80: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print("Grade: B")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score &gt;= 70: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print("Grade: C")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print("Grade: F")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02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6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Nested if — An if Inside an if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0" name="Image 1" descr="icons/codebranch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1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decision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inside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decision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nested if is simply an if statement placed inside another if statement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inner if only even runs if the outer condition was already 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Useful when a second decision only makes sense after the first has already been decided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Analogy: first check if the door is unlocked — only then check if your key actually fits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7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Nested if — In Code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Notice the extra indentation — the inner if sits one full level deeper than the outer 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 uses that indentation to know exactly which if belongs to which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inner if/else only gets checked at all when age &gt;= 18 is True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has_id =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age &gt;= 18: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has_id: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print("Entry allowed")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print("Bring your ID next time")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print("Too young to enter")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22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5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Nested if vs. elif — Which One?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2"/>
          <p:cNvSpPr/>
          <p:nvPr/>
        </p:nvSpPr>
        <p:spPr>
          <a:xfrm>
            <a:off x="457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3"/>
          <p:cNvSpPr/>
          <p:nvPr/>
        </p:nvSpPr>
        <p:spPr>
          <a:xfrm>
            <a:off x="731520" y="1874520"/>
            <a:ext cx="456840" cy="456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9" name="Image 1" descr="icons/listol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Text 4"/>
          <p:cNvSpPr/>
          <p:nvPr/>
        </p:nvSpPr>
        <p:spPr>
          <a:xfrm>
            <a:off x="1325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Use elif when...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5"/>
          <p:cNvSpPr/>
          <p:nvPr/>
        </p:nvSpPr>
        <p:spPr>
          <a:xfrm>
            <a:off x="731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You're checking different values of the SAME thing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Only ever one branch should run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turning a score into a single letter grade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6"/>
          <p:cNvSpPr/>
          <p:nvPr/>
        </p:nvSpPr>
        <p:spPr>
          <a:xfrm>
            <a:off x="6172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7"/>
          <p:cNvSpPr/>
          <p:nvPr/>
        </p:nvSpPr>
        <p:spPr>
          <a:xfrm>
            <a:off x="6446520" y="1874520"/>
            <a:ext cx="456840" cy="45684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4" name="Image 2" descr="icons/codebranch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Text 8"/>
          <p:cNvSpPr/>
          <p:nvPr/>
        </p:nvSpPr>
        <p:spPr>
          <a:xfrm>
            <a:off x="7040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Use Nested if when...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9"/>
          <p:cNvSpPr/>
          <p:nvPr/>
        </p:nvSpPr>
        <p:spPr>
          <a:xfrm>
            <a:off x="6446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second check only matters if the first was already True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You're combining two separate, related conditions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old enough AND has a valid 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1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Conditional Mini Programs (1 &amp; 2)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3"/>
          <p:cNvSpPr/>
          <p:nvPr/>
        </p:nvSpPr>
        <p:spPr>
          <a:xfrm>
            <a:off x="502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1. Even or Odd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4"/>
          <p:cNvSpPr/>
          <p:nvPr/>
        </p:nvSpPr>
        <p:spPr>
          <a:xfrm>
            <a:off x="502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5"/>
          <p:cNvSpPr/>
          <p:nvPr/>
        </p:nvSpPr>
        <p:spPr>
          <a:xfrm>
            <a:off x="822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number = int(input("Enter a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number % 2 == 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print("Even")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print("Odd")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46" name="Text 6"/>
          <p:cNvSpPr/>
          <p:nvPr/>
        </p:nvSpPr>
        <p:spPr>
          <a:xfrm>
            <a:off x="6217920" y="16916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2. </a:t>
            </a: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Simp</a:t>
            </a: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le </a:t>
            </a: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Logi</a:t>
            </a: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n </a:t>
            </a: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Syste</a:t>
            </a: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7"/>
          <p:cNvSpPr/>
          <p:nvPr/>
        </p:nvSpPr>
        <p:spPr>
          <a:xfrm>
            <a:off x="6217920" y="210312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8"/>
          <p:cNvSpPr/>
          <p:nvPr/>
        </p:nvSpPr>
        <p:spPr>
          <a:xfrm>
            <a:off x="6537960" y="237744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username = input("Username: 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password = input("Password: 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username == "admin" and password == "1234":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print("Login successful")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print("Login failed")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49" name="Text 9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3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4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Program: Ticket Price by Age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Four age groups, four prices — a perfect fit for if / elif / else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elif only needs to check one boundary, since anything caught above it never reaches this line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tracing a few different ages through this by hand before running 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int(input("Enter your age: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age &lt; 5: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price =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age &lt; 18: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price = 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age &lt; 60: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price = 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price =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print("Ticket price: $" + str(price))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58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1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2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Common Mistakes With if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2"/>
          <p:cNvSpPr/>
          <p:nvPr/>
        </p:nvSpPr>
        <p:spPr>
          <a:xfrm>
            <a:off x="457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3"/>
          <p:cNvSpPr/>
          <p:nvPr/>
        </p:nvSpPr>
        <p:spPr>
          <a:xfrm>
            <a:off x="731520" y="1874520"/>
            <a:ext cx="456840" cy="456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5" name="Image 1" descr="icons/warning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6" name="Text 4"/>
          <p:cNvSpPr/>
          <p:nvPr/>
        </p:nvSpPr>
        <p:spPr>
          <a:xfrm>
            <a:off x="1325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Common Mistakes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5"/>
          <p:cNvSpPr/>
          <p:nvPr/>
        </p:nvSpPr>
        <p:spPr>
          <a:xfrm>
            <a:off x="731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Using = instead of ==  (if age = 18 is an error)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Forgetting the colon  :  at the end of the 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Mixing tabs and spaces for indentation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Writing "else if" instead of Python's elif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6"/>
          <p:cNvSpPr/>
          <p:nvPr/>
        </p:nvSpPr>
        <p:spPr>
          <a:xfrm>
            <a:off x="6172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7"/>
          <p:cNvSpPr/>
          <p:nvPr/>
        </p:nvSpPr>
        <p:spPr>
          <a:xfrm>
            <a:off x="6446520" y="1874520"/>
            <a:ext cx="456840" cy="45684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0" name="Image 2" descr="icons/checkdouble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1" name="Text 8"/>
          <p:cNvSpPr/>
          <p:nvPr/>
        </p:nvSpPr>
        <p:spPr>
          <a:xfrm>
            <a:off x="7040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The Fix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9"/>
          <p:cNvSpPr/>
          <p:nvPr/>
        </p:nvSpPr>
        <p:spPr>
          <a:xfrm>
            <a:off x="6446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Always use == when comparing two values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if, elif, and else line ends with a colon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spaces only — most editors handle this automatically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Remember: it's one word — elif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7" name="Image 0" descr="icons/listo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From Flowchart to Code — </a:t>
            </a: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One Full Example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diamond in a flowchart becomes an if, elif, or else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rectangle becomes the code that runs inside that block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Planning first — even briefly — is faster than debugging confused code later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score = int(input("Enter your score: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score &gt;= 90: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grade = "A"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score &gt;= 80: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grade = "B"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score &gt;= 70: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grade = "C"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grade = "F"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print("Your grade is:", grade)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82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6" name="Image 0" descr="icons/calculato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Bonus Challenge: Build a Calculator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one program uses almost everything from today — variables, operators, and conditionals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Ask for two numbers and an operator, then use if/elif/else to decide what to compute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Two branches below are left for you to finish — that's tonight's Task 10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4"/>
          <p:cNvSpPr/>
          <p:nvPr/>
        </p:nvSpPr>
        <p:spPr>
          <a:xfrm>
            <a:off x="5486400" y="1691640"/>
            <a:ext cx="6217560" cy="493776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num1 = float(input("Enter first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num2 = float(input("Enter second number: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operator = input("Choose an operator (+, -, </a:t>
            </a: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*, /): 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if operator == "+":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print(num1 + num2)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operator == "-":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print(num1 - num2)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operator == "*":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    # your turn: multiply num1 and num2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pass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elif operator == "/":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    # your turn: divide num1 by num2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pass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print("Not a valid operator")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91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5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Conditionals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an if/else that checks if a number is positive or negative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8"/>
          <p:cNvSpPr/>
          <p:nvPr/>
        </p:nvSpPr>
        <p:spPr>
          <a:xfrm>
            <a:off x="822960" y="312732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9"/>
          <p:cNvSpPr/>
          <p:nvPr/>
        </p:nvSpPr>
        <p:spPr>
          <a:xfrm>
            <a:off x="822960" y="3127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10"/>
          <p:cNvSpPr/>
          <p:nvPr/>
        </p:nvSpPr>
        <p:spPr>
          <a:xfrm>
            <a:off x="1435680" y="312732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an if/elif/else that labels a temperature as Cold, Warm, or Hot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11"/>
          <p:cNvSpPr/>
          <p:nvPr/>
        </p:nvSpPr>
        <p:spPr>
          <a:xfrm>
            <a:off x="822960" y="383148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12"/>
          <p:cNvSpPr/>
          <p:nvPr/>
        </p:nvSpPr>
        <p:spPr>
          <a:xfrm>
            <a:off x="822960" y="3831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13"/>
          <p:cNvSpPr/>
          <p:nvPr/>
        </p:nvSpPr>
        <p:spPr>
          <a:xfrm>
            <a:off x="1435680" y="38314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and inside an if to check discount eligibility (is_member and total_spent &gt;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50)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14"/>
          <p:cNvSpPr/>
          <p:nvPr/>
        </p:nvSpPr>
        <p:spPr>
          <a:xfrm>
            <a:off x="822960" y="453528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5"/>
          <p:cNvSpPr/>
          <p:nvPr/>
        </p:nvSpPr>
        <p:spPr>
          <a:xfrm>
            <a:off x="822960" y="4535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16"/>
          <p:cNvSpPr/>
          <p:nvPr/>
        </p:nvSpPr>
        <p:spPr>
          <a:xfrm>
            <a:off x="1435680" y="45352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an if/else that checks if a piece of text is empty ("" means empty)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17"/>
          <p:cNvSpPr/>
          <p:nvPr/>
        </p:nvSpPr>
        <p:spPr>
          <a:xfrm>
            <a:off x="822960" y="523944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18"/>
          <p:cNvSpPr/>
          <p:nvPr/>
        </p:nvSpPr>
        <p:spPr>
          <a:xfrm>
            <a:off x="822960" y="5239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9"/>
          <p:cNvSpPr/>
          <p:nvPr/>
        </p:nvSpPr>
        <p:spPr>
          <a:xfrm>
            <a:off x="1435680" y="523944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nested if: check age &gt;= 18 first, then check has_ticket inside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2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2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9" name="Image 0" descr="icons/square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0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BONUS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Few More Operators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Optional for today — good to know these exist.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5" name="Image 0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6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Assignment Shortcut Operators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2"/>
          <p:cNvSpPr/>
          <p:nvPr/>
        </p:nvSpPr>
        <p:spPr>
          <a:xfrm>
            <a:off x="457200" y="150876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3"/>
          <p:cNvSpPr/>
          <p:nvPr/>
        </p:nvSpPr>
        <p:spPr>
          <a:xfrm>
            <a:off x="294444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9" name="Image 1" descr="icons/square.png"/>
          <p:cNvPicPr/>
          <p:nvPr/>
        </p:nvPicPr>
        <p:blipFill>
          <a:blip r:embed="rId2"/>
          <a:stretch/>
        </p:blipFill>
        <p:spPr>
          <a:xfrm>
            <a:off x="302652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0" name="Text 4"/>
          <p:cNvSpPr/>
          <p:nvPr/>
        </p:nvSpPr>
        <p:spPr>
          <a:xfrm>
            <a:off x="548640" y="2410200"/>
            <a:ext cx="53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+=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5"/>
          <p:cNvSpPr/>
          <p:nvPr/>
        </p:nvSpPr>
        <p:spPr>
          <a:xfrm>
            <a:off x="603360" y="2794320"/>
            <a:ext cx="523008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x += 3  is short for  x = x + 3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6"/>
          <p:cNvSpPr/>
          <p:nvPr/>
        </p:nvSpPr>
        <p:spPr>
          <a:xfrm>
            <a:off x="6208920" y="150876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7"/>
          <p:cNvSpPr/>
          <p:nvPr/>
        </p:nvSpPr>
        <p:spPr>
          <a:xfrm>
            <a:off x="869580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4" name="Image 2" descr="icons/square.png"/>
          <p:cNvPicPr/>
          <p:nvPr/>
        </p:nvPicPr>
        <p:blipFill>
          <a:blip r:embed="rId3"/>
          <a:stretch/>
        </p:blipFill>
        <p:spPr>
          <a:xfrm>
            <a:off x="877824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5" name="Text 8"/>
          <p:cNvSpPr/>
          <p:nvPr/>
        </p:nvSpPr>
        <p:spPr>
          <a:xfrm>
            <a:off x="6300360" y="2410200"/>
            <a:ext cx="53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-=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9"/>
          <p:cNvSpPr/>
          <p:nvPr/>
        </p:nvSpPr>
        <p:spPr>
          <a:xfrm>
            <a:off x="6355080" y="2794320"/>
            <a:ext cx="523008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x -= 3  is short for  x = x - 3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10"/>
          <p:cNvSpPr/>
          <p:nvPr/>
        </p:nvSpPr>
        <p:spPr>
          <a:xfrm>
            <a:off x="457200" y="406908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11"/>
          <p:cNvSpPr/>
          <p:nvPr/>
        </p:nvSpPr>
        <p:spPr>
          <a:xfrm>
            <a:off x="294444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9" name="Image 3" descr="icons/square.png"/>
          <p:cNvPicPr/>
          <p:nvPr/>
        </p:nvPicPr>
        <p:blipFill>
          <a:blip r:embed="rId4"/>
          <a:stretch/>
        </p:blipFill>
        <p:spPr>
          <a:xfrm>
            <a:off x="302652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Text 12"/>
          <p:cNvSpPr/>
          <p:nvPr/>
        </p:nvSpPr>
        <p:spPr>
          <a:xfrm>
            <a:off x="548640" y="4970520"/>
            <a:ext cx="53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*=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13"/>
          <p:cNvSpPr/>
          <p:nvPr/>
        </p:nvSpPr>
        <p:spPr>
          <a:xfrm>
            <a:off x="603360" y="5354640"/>
            <a:ext cx="523008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x *= 3  is short for  x = x *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14"/>
          <p:cNvSpPr/>
          <p:nvPr/>
        </p:nvSpPr>
        <p:spPr>
          <a:xfrm>
            <a:off x="6208920" y="406908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15"/>
          <p:cNvSpPr/>
          <p:nvPr/>
        </p:nvSpPr>
        <p:spPr>
          <a:xfrm>
            <a:off x="869580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4" name="Image 4" descr="icons/square.png"/>
          <p:cNvPicPr/>
          <p:nvPr/>
        </p:nvPicPr>
        <p:blipFill>
          <a:blip r:embed="rId5"/>
          <a:stretch/>
        </p:blipFill>
        <p:spPr>
          <a:xfrm>
            <a:off x="877824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5" name="Text 16"/>
          <p:cNvSpPr/>
          <p:nvPr/>
        </p:nvSpPr>
        <p:spPr>
          <a:xfrm>
            <a:off x="6300360" y="4970520"/>
            <a:ext cx="53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/=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17"/>
          <p:cNvSpPr/>
          <p:nvPr/>
        </p:nvSpPr>
        <p:spPr>
          <a:xfrm>
            <a:off x="6355080" y="5354640"/>
            <a:ext cx="523008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x /= 3  is short for  x = x /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18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19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0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1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Increment &amp; Decrement — Python's Twist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2"/>
          <p:cNvSpPr/>
          <p:nvPr/>
        </p:nvSpPr>
        <p:spPr>
          <a:xfrm>
            <a:off x="457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3"/>
          <p:cNvSpPr/>
          <p:nvPr/>
        </p:nvSpPr>
        <p:spPr>
          <a:xfrm>
            <a:off x="731520" y="1874520"/>
            <a:ext cx="456840" cy="456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4" name="Image 1" descr="icons/warning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5" name="Text 4"/>
          <p:cNvSpPr/>
          <p:nvPr/>
        </p:nvSpPr>
        <p:spPr>
          <a:xfrm>
            <a:off x="1325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What Other Languages Do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5"/>
          <p:cNvSpPr/>
          <p:nvPr/>
        </p:nvSpPr>
        <p:spPr>
          <a:xfrm>
            <a:off x="731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C, Java, and JavaScript have i++ and i--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i++ means "increase i by 1"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i-- means "decrease i by 1"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Typing this in Python causes a SyntaxError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6"/>
          <p:cNvSpPr/>
          <p:nvPr/>
        </p:nvSpPr>
        <p:spPr>
          <a:xfrm>
            <a:off x="6172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7"/>
          <p:cNvSpPr/>
          <p:nvPr/>
        </p:nvSpPr>
        <p:spPr>
          <a:xfrm>
            <a:off x="6446520" y="1874520"/>
            <a:ext cx="456840" cy="45684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9" name="Image 2" descr="icons/checkdouble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0" name="Text 8"/>
          <p:cNvSpPr/>
          <p:nvPr/>
        </p:nvSpPr>
        <p:spPr>
          <a:xfrm>
            <a:off x="7040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Wha</a:t>
            </a: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t </a:t>
            </a: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Pyth</a:t>
            </a: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on </a:t>
            </a: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Actu</a:t>
            </a: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ally </a:t>
            </a: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Does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9"/>
          <p:cNvSpPr/>
          <p:nvPr/>
        </p:nvSpPr>
        <p:spPr>
          <a:xfrm>
            <a:off x="6446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 has no ++ or -- operators at all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i += 1 instead of i++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i -= 1 instead of i--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It's one extra character to type — that's the whole trade-off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1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 &amp;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Conditio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nals  · 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Session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1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6" name="Image 0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Increment &amp; Decrement, in Real Python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exactly the += and -= you just saw, used the way most people actually reach for them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typing x++ yourself and read the error Python gives you — it's a good one to recognize early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x =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x +=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print(x)   # 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x -=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print(x)   # back to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x++       &lt;- would raise a SyntaxError in Python, try it!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671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4" name="Image 0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5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Bitwise Operators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2"/>
          <p:cNvSpPr/>
          <p:nvPr/>
        </p:nvSpPr>
        <p:spPr>
          <a:xfrm>
            <a:off x="45720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3"/>
          <p:cNvSpPr/>
          <p:nvPr/>
        </p:nvSpPr>
        <p:spPr>
          <a:xfrm>
            <a:off x="198576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8" name="Image 1" descr="icons/square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9" name="Text 4"/>
          <p:cNvSpPr/>
          <p:nvPr/>
        </p:nvSpPr>
        <p:spPr>
          <a:xfrm>
            <a:off x="54864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&amp;  AND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5"/>
          <p:cNvSpPr/>
          <p:nvPr/>
        </p:nvSpPr>
        <p:spPr>
          <a:xfrm>
            <a:off x="60336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&amp; 3  →  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6"/>
          <p:cNvSpPr/>
          <p:nvPr/>
        </p:nvSpPr>
        <p:spPr>
          <a:xfrm>
            <a:off x="429156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7"/>
          <p:cNvSpPr/>
          <p:nvPr/>
        </p:nvSpPr>
        <p:spPr>
          <a:xfrm>
            <a:off x="582012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3" name="Image 2" descr="icons/square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4" name="Text 8"/>
          <p:cNvSpPr/>
          <p:nvPr/>
        </p:nvSpPr>
        <p:spPr>
          <a:xfrm>
            <a:off x="438300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|  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9"/>
          <p:cNvSpPr/>
          <p:nvPr/>
        </p:nvSpPr>
        <p:spPr>
          <a:xfrm>
            <a:off x="443772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| 3  →  7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10"/>
          <p:cNvSpPr/>
          <p:nvPr/>
        </p:nvSpPr>
        <p:spPr>
          <a:xfrm>
            <a:off x="812592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11"/>
          <p:cNvSpPr/>
          <p:nvPr/>
        </p:nvSpPr>
        <p:spPr>
          <a:xfrm>
            <a:off x="965448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8" name="Image 3" descr="icons/square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9" name="Text 12"/>
          <p:cNvSpPr/>
          <p:nvPr/>
        </p:nvSpPr>
        <p:spPr>
          <a:xfrm>
            <a:off x="821736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^  XOR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13"/>
          <p:cNvSpPr/>
          <p:nvPr/>
        </p:nvSpPr>
        <p:spPr>
          <a:xfrm>
            <a:off x="827244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^ 3  →  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14"/>
          <p:cNvSpPr/>
          <p:nvPr/>
        </p:nvSpPr>
        <p:spPr>
          <a:xfrm>
            <a:off x="45720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15"/>
          <p:cNvSpPr/>
          <p:nvPr/>
        </p:nvSpPr>
        <p:spPr>
          <a:xfrm>
            <a:off x="198576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3" name="Image 4" descr="icons/square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4" name="Text 16"/>
          <p:cNvSpPr/>
          <p:nvPr/>
        </p:nvSpPr>
        <p:spPr>
          <a:xfrm>
            <a:off x="54864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~  NOT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17"/>
          <p:cNvSpPr/>
          <p:nvPr/>
        </p:nvSpPr>
        <p:spPr>
          <a:xfrm>
            <a:off x="60336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~5  →  -6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18"/>
          <p:cNvSpPr/>
          <p:nvPr/>
        </p:nvSpPr>
        <p:spPr>
          <a:xfrm>
            <a:off x="429156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19"/>
          <p:cNvSpPr/>
          <p:nvPr/>
        </p:nvSpPr>
        <p:spPr>
          <a:xfrm>
            <a:off x="582012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8" name="Image 5" descr="icons/square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9" name="Text 20"/>
          <p:cNvSpPr/>
          <p:nvPr/>
        </p:nvSpPr>
        <p:spPr>
          <a:xfrm>
            <a:off x="438300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&lt;&lt;  Left Shift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21"/>
          <p:cNvSpPr/>
          <p:nvPr/>
        </p:nvSpPr>
        <p:spPr>
          <a:xfrm>
            <a:off x="443772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&lt;&lt; 1  →  10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22"/>
          <p:cNvSpPr/>
          <p:nvPr/>
        </p:nvSpPr>
        <p:spPr>
          <a:xfrm>
            <a:off x="812592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23"/>
          <p:cNvSpPr/>
          <p:nvPr/>
        </p:nvSpPr>
        <p:spPr>
          <a:xfrm>
            <a:off x="965448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3" name="Image 6" descr="icons/square.png"/>
          <p:cNvPicPr/>
          <p:nvPr/>
        </p:nvPicPr>
        <p:blipFill>
          <a:blip r:embed="rId7"/>
          <a:stretch/>
        </p:blipFill>
        <p:spPr>
          <a:xfrm>
            <a:off x="973692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4" name="Text 24"/>
          <p:cNvSpPr/>
          <p:nvPr/>
        </p:nvSpPr>
        <p:spPr>
          <a:xfrm>
            <a:off x="821736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&gt;&gt;  Right Shift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25"/>
          <p:cNvSpPr/>
          <p:nvPr/>
        </p:nvSpPr>
        <p:spPr>
          <a:xfrm>
            <a:off x="827244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&gt;&gt; 1  →  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2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2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0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Identity &amp; Membership Operators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is checks whether two variables point to the exact same object — different from ==, which only checks if the values are equal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checks whether something exists inside a list, string, or similar collection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Both read almost like plain English once you see them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fruits = ["apple", "banana", "mango"]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print("banana" in fruits)  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print("grape" not in fruits)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None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is None)               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715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9" name="Image 0" descr="icons/fon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Escape Sequences — Special Characters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3" name="Image 1" descr="icons/fon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4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backslash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with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special job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Some characters are hard to type directly inside a string, like a new line or a quote mark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 escape sequence starts with a backslash \ and tells Python "treat the next character specially"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two you'll use constantly: \n for a new line, and \t for a tab space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9" name="Image 0" descr="icons/fon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0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Common Escape Sequences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2"/>
          <p:cNvSpPr/>
          <p:nvPr/>
        </p:nvSpPr>
        <p:spPr>
          <a:xfrm>
            <a:off x="45720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3"/>
          <p:cNvSpPr/>
          <p:nvPr/>
        </p:nvSpPr>
        <p:spPr>
          <a:xfrm>
            <a:off x="198576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3" name="Image 1" descr="icons/font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4" name="Text 4"/>
          <p:cNvSpPr/>
          <p:nvPr/>
        </p:nvSpPr>
        <p:spPr>
          <a:xfrm>
            <a:off x="54864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\n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5"/>
          <p:cNvSpPr/>
          <p:nvPr/>
        </p:nvSpPr>
        <p:spPr>
          <a:xfrm>
            <a:off x="60336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Starts a new line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6"/>
          <p:cNvSpPr/>
          <p:nvPr/>
        </p:nvSpPr>
        <p:spPr>
          <a:xfrm>
            <a:off x="429156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7"/>
          <p:cNvSpPr/>
          <p:nvPr/>
        </p:nvSpPr>
        <p:spPr>
          <a:xfrm>
            <a:off x="582012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8" name="Image 2" descr="icons/font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9" name="Text 8"/>
          <p:cNvSpPr/>
          <p:nvPr/>
        </p:nvSpPr>
        <p:spPr>
          <a:xfrm>
            <a:off x="438300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\t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9"/>
          <p:cNvSpPr/>
          <p:nvPr/>
        </p:nvSpPr>
        <p:spPr>
          <a:xfrm>
            <a:off x="443772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Adds a tab space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10"/>
          <p:cNvSpPr/>
          <p:nvPr/>
        </p:nvSpPr>
        <p:spPr>
          <a:xfrm>
            <a:off x="812592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11"/>
          <p:cNvSpPr/>
          <p:nvPr/>
        </p:nvSpPr>
        <p:spPr>
          <a:xfrm>
            <a:off x="965448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3" name="Image 3" descr="icons/font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4" name="Text 12"/>
          <p:cNvSpPr/>
          <p:nvPr/>
        </p:nvSpPr>
        <p:spPr>
          <a:xfrm>
            <a:off x="821736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\\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13"/>
          <p:cNvSpPr/>
          <p:nvPr/>
        </p:nvSpPr>
        <p:spPr>
          <a:xfrm>
            <a:off x="827244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 single backslash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14"/>
          <p:cNvSpPr/>
          <p:nvPr/>
        </p:nvSpPr>
        <p:spPr>
          <a:xfrm>
            <a:off x="45720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15"/>
          <p:cNvSpPr/>
          <p:nvPr/>
        </p:nvSpPr>
        <p:spPr>
          <a:xfrm>
            <a:off x="198576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8" name="Image 4" descr="icons/font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9" name="Text 16"/>
          <p:cNvSpPr/>
          <p:nvPr/>
        </p:nvSpPr>
        <p:spPr>
          <a:xfrm>
            <a:off x="54864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\'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17"/>
          <p:cNvSpPr/>
          <p:nvPr/>
        </p:nvSpPr>
        <p:spPr>
          <a:xfrm>
            <a:off x="60336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 single quote mark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18"/>
          <p:cNvSpPr/>
          <p:nvPr/>
        </p:nvSpPr>
        <p:spPr>
          <a:xfrm>
            <a:off x="429156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9"/>
          <p:cNvSpPr/>
          <p:nvPr/>
        </p:nvSpPr>
        <p:spPr>
          <a:xfrm>
            <a:off x="582012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3" name="Image 5" descr="icons/font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4" name="Text 20"/>
          <p:cNvSpPr/>
          <p:nvPr/>
        </p:nvSpPr>
        <p:spPr>
          <a:xfrm>
            <a:off x="438300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\"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21"/>
          <p:cNvSpPr/>
          <p:nvPr/>
        </p:nvSpPr>
        <p:spPr>
          <a:xfrm>
            <a:off x="443772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 double quote mark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22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23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0" name="Image 0" descr="icons/fon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Escape Sequences in Action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Notice \n starts a new line right in the middle of one print() statement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Without the backslash before a matching quote, Python would think the string ended too early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print("Line one\nLine two")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print("Name:\tAmeer")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print("She said \"hello\"")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print('It\'s a nice day')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print("Path: C:\\Users\\Ameer")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765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9" name="Image 0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Bonus Operators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+= to add 5 to a variable, then print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8"/>
          <p:cNvSpPr/>
          <p:nvPr/>
        </p:nvSpPr>
        <p:spPr>
          <a:xfrm>
            <a:off x="822960" y="33033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9"/>
          <p:cNvSpPr/>
          <p:nvPr/>
        </p:nvSpPr>
        <p:spPr>
          <a:xfrm>
            <a:off x="822960" y="3303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10"/>
          <p:cNvSpPr/>
          <p:nvPr/>
        </p:nvSpPr>
        <p:spPr>
          <a:xfrm>
            <a:off x="1435680" y="33033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 if "cat" is in a list of animals using 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11"/>
          <p:cNvSpPr/>
          <p:nvPr/>
        </p:nvSpPr>
        <p:spPr>
          <a:xfrm>
            <a:off x="822960" y="41835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12"/>
          <p:cNvSpPr/>
          <p:nvPr/>
        </p:nvSpPr>
        <p:spPr>
          <a:xfrm>
            <a:off x="822960" y="4183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13"/>
          <p:cNvSpPr/>
          <p:nvPr/>
        </p:nvSpPr>
        <p:spPr>
          <a:xfrm>
            <a:off x="1435680" y="41835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6 &amp; 3 and 6 | 3 — predict the answers before running them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14"/>
          <p:cNvSpPr/>
          <p:nvPr/>
        </p:nvSpPr>
        <p:spPr>
          <a:xfrm>
            <a:off x="822960" y="506340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15"/>
          <p:cNvSpPr/>
          <p:nvPr/>
        </p:nvSpPr>
        <p:spPr>
          <a:xfrm>
            <a:off x="822960" y="506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16"/>
          <p:cNvSpPr/>
          <p:nvPr/>
        </p:nvSpPr>
        <p:spPr>
          <a:xfrm>
            <a:off x="1435680" y="506340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your name and a hobby on two separate lines, using one print() and \n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1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9" name="Image 0" descr="icons/flagcheckered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A: Plan First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5"/>
          <p:cNvSpPr/>
          <p:nvPr/>
        </p:nvSpPr>
        <p:spPr>
          <a:xfrm>
            <a:off x="822960" y="24231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4" name="Image 1" descr="icons/checkdouble.png"/>
          <p:cNvPicPr/>
          <p:nvPr/>
        </p:nvPicPr>
        <p:blipFill>
          <a:blip r:embed="rId2"/>
          <a:stretch/>
        </p:blipFill>
        <p:spPr>
          <a:xfrm>
            <a:off x="885960" y="24861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5" name="Shape 6"/>
          <p:cNvSpPr/>
          <p:nvPr/>
        </p:nvSpPr>
        <p:spPr>
          <a:xfrm>
            <a:off x="1417320" y="244152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7"/>
          <p:cNvSpPr/>
          <p:nvPr/>
        </p:nvSpPr>
        <p:spPr>
          <a:xfrm>
            <a:off x="1417320" y="244152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8"/>
          <p:cNvSpPr/>
          <p:nvPr/>
        </p:nvSpPr>
        <p:spPr>
          <a:xfrm>
            <a:off x="2011680" y="24231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pseudocode (plain English) for checking if a number is even or odd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9"/>
          <p:cNvSpPr/>
          <p:nvPr/>
        </p:nvSpPr>
        <p:spPr>
          <a:xfrm>
            <a:off x="822960" y="33033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9" name="Image 2" descr="icons/checkdouble.png"/>
          <p:cNvPicPr/>
          <p:nvPr/>
        </p:nvPicPr>
        <p:blipFill>
          <a:blip r:embed="rId3"/>
          <a:stretch/>
        </p:blipFill>
        <p:spPr>
          <a:xfrm>
            <a:off x="885960" y="33663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0" name="Shape 10"/>
          <p:cNvSpPr/>
          <p:nvPr/>
        </p:nvSpPr>
        <p:spPr>
          <a:xfrm>
            <a:off x="1417320" y="332172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11"/>
          <p:cNvSpPr/>
          <p:nvPr/>
        </p:nvSpPr>
        <p:spPr>
          <a:xfrm>
            <a:off x="1417320" y="332172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12"/>
          <p:cNvSpPr/>
          <p:nvPr/>
        </p:nvSpPr>
        <p:spPr>
          <a:xfrm>
            <a:off x="2011680" y="33033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Sketch a simple flowchart for that same idea, using today's 3 shapes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13"/>
          <p:cNvSpPr/>
          <p:nvPr/>
        </p:nvSpPr>
        <p:spPr>
          <a:xfrm>
            <a:off x="822960" y="41835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4" name="Image 3" descr="icons/checkdouble.png"/>
          <p:cNvPicPr/>
          <p:nvPr/>
        </p:nvPicPr>
        <p:blipFill>
          <a:blip r:embed="rId4"/>
          <a:stretch/>
        </p:blipFill>
        <p:spPr>
          <a:xfrm>
            <a:off x="885960" y="42465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5" name="Shape 14"/>
          <p:cNvSpPr/>
          <p:nvPr/>
        </p:nvSpPr>
        <p:spPr>
          <a:xfrm>
            <a:off x="1417320" y="42015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15"/>
          <p:cNvSpPr/>
          <p:nvPr/>
        </p:nvSpPr>
        <p:spPr>
          <a:xfrm>
            <a:off x="1417320" y="42015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16"/>
          <p:cNvSpPr/>
          <p:nvPr/>
        </p:nvSpPr>
        <p:spPr>
          <a:xfrm>
            <a:off x="2011680" y="41835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every arithmetic operator once in a script, and print each result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17"/>
          <p:cNvSpPr/>
          <p:nvPr/>
        </p:nvSpPr>
        <p:spPr>
          <a:xfrm>
            <a:off x="822960" y="506340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9" name="Image 4" descr="icons/checkdouble.png"/>
          <p:cNvPicPr/>
          <p:nvPr/>
        </p:nvPicPr>
        <p:blipFill>
          <a:blip r:embed="rId5"/>
          <a:stretch/>
        </p:blipFill>
        <p:spPr>
          <a:xfrm>
            <a:off x="885960" y="51267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0" name="Shape 18"/>
          <p:cNvSpPr/>
          <p:nvPr/>
        </p:nvSpPr>
        <p:spPr>
          <a:xfrm>
            <a:off x="1417320" y="50817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19"/>
          <p:cNvSpPr/>
          <p:nvPr/>
        </p:nvSpPr>
        <p:spPr>
          <a:xfrm>
            <a:off x="1417320" y="50817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20"/>
          <p:cNvSpPr/>
          <p:nvPr/>
        </p:nvSpPr>
        <p:spPr>
          <a:xfrm>
            <a:off x="2011680" y="506340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% to actually check if a number is even or odd, in real Python code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21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22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7" name="Image 0" descr="icons/codebran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B: Operators &amp; Conditionals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5"/>
          <p:cNvSpPr/>
          <p:nvPr/>
        </p:nvSpPr>
        <p:spPr>
          <a:xfrm>
            <a:off x="822960" y="242316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2" name="Image 1" descr="icons/checkdouble.png"/>
          <p:cNvPicPr/>
          <p:nvPr/>
        </p:nvPicPr>
        <p:blipFill>
          <a:blip r:embed="rId2"/>
          <a:stretch/>
        </p:blipFill>
        <p:spPr>
          <a:xfrm>
            <a:off x="883440" y="248364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3" name="Shape 6"/>
          <p:cNvSpPr/>
          <p:nvPr/>
        </p:nvSpPr>
        <p:spPr>
          <a:xfrm>
            <a:off x="1417320" y="24321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7"/>
          <p:cNvSpPr/>
          <p:nvPr/>
        </p:nvSpPr>
        <p:spPr>
          <a:xfrm>
            <a:off x="1417320" y="24321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8"/>
          <p:cNvSpPr/>
          <p:nvPr/>
        </p:nvSpPr>
        <p:spPr>
          <a:xfrm>
            <a:off x="2011680" y="2423160"/>
            <a:ext cx="9417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one comparison operator expression and print the True/False result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Shape 9"/>
          <p:cNvSpPr/>
          <p:nvPr/>
        </p:nvSpPr>
        <p:spPr>
          <a:xfrm>
            <a:off x="822960" y="288036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7" name="Image 2" descr="icons/checkdouble.png"/>
          <p:cNvPicPr/>
          <p:nvPr/>
        </p:nvPicPr>
        <p:blipFill>
          <a:blip r:embed="rId3"/>
          <a:stretch/>
        </p:blipFill>
        <p:spPr>
          <a:xfrm>
            <a:off x="883440" y="294084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8" name="Shape 10"/>
          <p:cNvSpPr/>
          <p:nvPr/>
        </p:nvSpPr>
        <p:spPr>
          <a:xfrm>
            <a:off x="1417320" y="28893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11"/>
          <p:cNvSpPr/>
          <p:nvPr/>
        </p:nvSpPr>
        <p:spPr>
          <a:xfrm>
            <a:off x="1417320" y="28893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12"/>
          <p:cNvSpPr/>
          <p:nvPr/>
        </p:nvSpPr>
        <p:spPr>
          <a:xfrm>
            <a:off x="2011680" y="2880360"/>
            <a:ext cx="9417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Combine two conditions using and, then again using or — print both results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13"/>
          <p:cNvSpPr/>
          <p:nvPr/>
        </p:nvSpPr>
        <p:spPr>
          <a:xfrm>
            <a:off x="822960" y="333756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2" name="Image 3" descr="icons/checkdouble.png"/>
          <p:cNvPicPr/>
          <p:nvPr/>
        </p:nvPicPr>
        <p:blipFill>
          <a:blip r:embed="rId4"/>
          <a:stretch/>
        </p:blipFill>
        <p:spPr>
          <a:xfrm>
            <a:off x="883440" y="339804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3" name="Shape 14"/>
          <p:cNvSpPr/>
          <p:nvPr/>
        </p:nvSpPr>
        <p:spPr>
          <a:xfrm>
            <a:off x="1417320" y="33465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15"/>
          <p:cNvSpPr/>
          <p:nvPr/>
        </p:nvSpPr>
        <p:spPr>
          <a:xfrm>
            <a:off x="1417320" y="33465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16"/>
          <p:cNvSpPr/>
          <p:nvPr/>
        </p:nvSpPr>
        <p:spPr>
          <a:xfrm>
            <a:off x="2011680" y="3337560"/>
            <a:ext cx="9417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an if/else that checks if someone is old enough to vote (age &gt;= 18)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Shape 17"/>
          <p:cNvSpPr/>
          <p:nvPr/>
        </p:nvSpPr>
        <p:spPr>
          <a:xfrm>
            <a:off x="822960" y="379476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7" name="Image 4" descr="icons/checkdouble.png"/>
          <p:cNvPicPr/>
          <p:nvPr/>
        </p:nvPicPr>
        <p:blipFill>
          <a:blip r:embed="rId5"/>
          <a:stretch/>
        </p:blipFill>
        <p:spPr>
          <a:xfrm>
            <a:off x="883440" y="385524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8" name="Shape 18"/>
          <p:cNvSpPr/>
          <p:nvPr/>
        </p:nvSpPr>
        <p:spPr>
          <a:xfrm>
            <a:off x="1417320" y="38037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19"/>
          <p:cNvSpPr/>
          <p:nvPr/>
        </p:nvSpPr>
        <p:spPr>
          <a:xfrm>
            <a:off x="1417320" y="38037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20"/>
          <p:cNvSpPr/>
          <p:nvPr/>
        </p:nvSpPr>
        <p:spPr>
          <a:xfrm>
            <a:off x="2011680" y="3794760"/>
            <a:ext cx="9417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an if/elif/else that assigns a letter grade from a score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21"/>
          <p:cNvSpPr/>
          <p:nvPr/>
        </p:nvSpPr>
        <p:spPr>
          <a:xfrm>
            <a:off x="822960" y="425196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2" name="Image 5" descr="icons/checkdouble.png"/>
          <p:cNvPicPr/>
          <p:nvPr/>
        </p:nvPicPr>
        <p:blipFill>
          <a:blip r:embed="rId6"/>
          <a:stretch/>
        </p:blipFill>
        <p:spPr>
          <a:xfrm>
            <a:off x="883440" y="431244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3" name="Shape 22"/>
          <p:cNvSpPr/>
          <p:nvPr/>
        </p:nvSpPr>
        <p:spPr>
          <a:xfrm>
            <a:off x="1417320" y="42609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 23"/>
          <p:cNvSpPr/>
          <p:nvPr/>
        </p:nvSpPr>
        <p:spPr>
          <a:xfrm>
            <a:off x="1417320" y="42609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24"/>
          <p:cNvSpPr/>
          <p:nvPr/>
        </p:nvSpPr>
        <p:spPr>
          <a:xfrm>
            <a:off x="2011680" y="4251960"/>
            <a:ext cx="9417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nested if: check age &gt;= 18 first, then check has_ticket inside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25"/>
          <p:cNvSpPr/>
          <p:nvPr/>
        </p:nvSpPr>
        <p:spPr>
          <a:xfrm>
            <a:off x="822960" y="470916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7" name="Image 6" descr="icons/checkdouble.png"/>
          <p:cNvPicPr/>
          <p:nvPr/>
        </p:nvPicPr>
        <p:blipFill>
          <a:blip r:embed="rId7"/>
          <a:stretch/>
        </p:blipFill>
        <p:spPr>
          <a:xfrm>
            <a:off x="883440" y="476964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8" name="Shape 26"/>
          <p:cNvSpPr/>
          <p:nvPr/>
        </p:nvSpPr>
        <p:spPr>
          <a:xfrm>
            <a:off x="1417320" y="47181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27"/>
          <p:cNvSpPr/>
          <p:nvPr/>
        </p:nvSpPr>
        <p:spPr>
          <a:xfrm>
            <a:off x="1417320" y="47181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28"/>
          <p:cNvSpPr/>
          <p:nvPr/>
        </p:nvSpPr>
        <p:spPr>
          <a:xfrm>
            <a:off x="2011680" y="4709160"/>
            <a:ext cx="9417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Turn your Task 1 pseudocode and Task 2 flowchart into real, working Python code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29"/>
          <p:cNvSpPr/>
          <p:nvPr/>
        </p:nvSpPr>
        <p:spPr>
          <a:xfrm>
            <a:off x="822960" y="5166360"/>
            <a:ext cx="402120" cy="402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2" name="Image 7" descr="icons/checkdouble.png"/>
          <p:cNvPicPr/>
          <p:nvPr/>
        </p:nvPicPr>
        <p:blipFill>
          <a:blip r:embed="rId8"/>
          <a:stretch/>
        </p:blipFill>
        <p:spPr>
          <a:xfrm>
            <a:off x="883440" y="522684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3" name="Shape 30"/>
          <p:cNvSpPr/>
          <p:nvPr/>
        </p:nvSpPr>
        <p:spPr>
          <a:xfrm>
            <a:off x="1417320" y="51753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31"/>
          <p:cNvSpPr/>
          <p:nvPr/>
        </p:nvSpPr>
        <p:spPr>
          <a:xfrm>
            <a:off x="1417320" y="51753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32"/>
          <p:cNvSpPr/>
          <p:nvPr/>
        </p:nvSpPr>
        <p:spPr>
          <a:xfrm>
            <a:off x="2011680" y="5166360"/>
            <a:ext cx="9417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Build a simple calculator: ask for two numbers and an operator (+ - * /), then use if/elif/else to print the correct result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33"/>
          <p:cNvSpPr/>
          <p:nvPr/>
        </p:nvSpPr>
        <p:spPr>
          <a:xfrm>
            <a:off x="822960" y="576072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11 core tasks in total — due before our next class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34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3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DCEA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1" name="Image 0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</a:t>
            </a: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C: Bonus (Optional)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DCEA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Shape 5"/>
          <p:cNvSpPr/>
          <p:nvPr/>
        </p:nvSpPr>
        <p:spPr>
          <a:xfrm>
            <a:off x="822960" y="24231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6" name="Image 1" descr="icons/checkdouble.png"/>
          <p:cNvPicPr/>
          <p:nvPr/>
        </p:nvPicPr>
        <p:blipFill>
          <a:blip r:embed="rId2"/>
          <a:stretch/>
        </p:blipFill>
        <p:spPr>
          <a:xfrm>
            <a:off x="885960" y="24861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7" name="Shape 6"/>
          <p:cNvSpPr/>
          <p:nvPr/>
        </p:nvSpPr>
        <p:spPr>
          <a:xfrm>
            <a:off x="1417320" y="244152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 7"/>
          <p:cNvSpPr/>
          <p:nvPr/>
        </p:nvSpPr>
        <p:spPr>
          <a:xfrm>
            <a:off x="1417320" y="244152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8"/>
          <p:cNvSpPr/>
          <p:nvPr/>
        </p:nvSpPr>
        <p:spPr>
          <a:xfrm>
            <a:off x="2011680" y="24231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+= to add 5 to a variable, then print the result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Shape 9"/>
          <p:cNvSpPr/>
          <p:nvPr/>
        </p:nvSpPr>
        <p:spPr>
          <a:xfrm>
            <a:off x="822960" y="348984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1" name="Image 2" descr="icons/checkdouble.png"/>
          <p:cNvPicPr/>
          <p:nvPr/>
        </p:nvPicPr>
        <p:blipFill>
          <a:blip r:embed="rId3"/>
          <a:stretch/>
        </p:blipFill>
        <p:spPr>
          <a:xfrm>
            <a:off x="885960" y="355320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2" name="Shape 10"/>
          <p:cNvSpPr/>
          <p:nvPr/>
        </p:nvSpPr>
        <p:spPr>
          <a:xfrm>
            <a:off x="1417320" y="350820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 11"/>
          <p:cNvSpPr/>
          <p:nvPr/>
        </p:nvSpPr>
        <p:spPr>
          <a:xfrm>
            <a:off x="1417320" y="350820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Text 12"/>
          <p:cNvSpPr/>
          <p:nvPr/>
        </p:nvSpPr>
        <p:spPr>
          <a:xfrm>
            <a:off x="2011680" y="348984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6 &amp; 3 and 6 | 3 in Python — predict the answers before running them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Shape 13"/>
          <p:cNvSpPr/>
          <p:nvPr/>
        </p:nvSpPr>
        <p:spPr>
          <a:xfrm>
            <a:off x="822960" y="455688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6" name="Image 3" descr="icons/checkdouble.png"/>
          <p:cNvPicPr/>
          <p:nvPr/>
        </p:nvPicPr>
        <p:blipFill>
          <a:blip r:embed="rId4"/>
          <a:stretch/>
        </p:blipFill>
        <p:spPr>
          <a:xfrm>
            <a:off x="885960" y="461988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7" name="Shape 14"/>
          <p:cNvSpPr/>
          <p:nvPr/>
        </p:nvSpPr>
        <p:spPr>
          <a:xfrm>
            <a:off x="1417320" y="457488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 15"/>
          <p:cNvSpPr/>
          <p:nvPr/>
        </p:nvSpPr>
        <p:spPr>
          <a:xfrm>
            <a:off x="1417320" y="457488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16"/>
          <p:cNvSpPr/>
          <p:nvPr/>
        </p:nvSpPr>
        <p:spPr>
          <a:xfrm>
            <a:off x="2011680" y="455688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 if "cat" is in a list of animals using 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17"/>
          <p:cNvSpPr/>
          <p:nvPr/>
        </p:nvSpPr>
        <p:spPr>
          <a:xfrm>
            <a:off x="822960" y="576072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Optional — try these only if Parts A &amp; B are already done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18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Operators &amp; Conditionals  ·  Session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19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6" name="Image 0" descr="icons/codebranch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7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You can now make your program think.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Every if is a fork in the road your code can take.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Next session: loops — doing something again and again, without repeating yourself.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55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2026-07-25T14:42:41Z</dcterms:created>
  <dc:creator>Course Instructor</dc:creator>
  <dc:description/>
  <dc:language>en-US</dc:language>
  <cp:lastModifiedBy/>
  <dcterms:modified xsi:type="dcterms:W3CDTF">2026-07-25T23:08:55Z</dcterms:modified>
  <cp:revision>22</cp:revision>
  <dc:subject>PptxGenJS Presentation</dc:subject>
  <dc:title>Operators &amp; Conditionals — Session 4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55</vt:i4>
  </property>
  <property fmtid="{D5CDD505-2E9C-101B-9397-08002B2CF9AE}" pid="3" name="PresentationFormat">
    <vt:lpwstr>On-screen Show (16:9)</vt:lpwstr>
  </property>
  <property fmtid="{D5CDD505-2E9C-101B-9397-08002B2CF9AE}" pid="4" name="Slides">
    <vt:i4>55</vt:i4>
  </property>
</Properties>
</file>