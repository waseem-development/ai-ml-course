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12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notesSlides/notesSlide12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8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slide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E376A8A0-1110-40ED-9A83-D2BA50B7D346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1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1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432A692-8ACD-4ABE-A0ED-8ACBA12CA01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1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4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3257CD7-1789-4800-BAF6-38F7B4CDF0A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1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7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1E75745-DCD2-40C3-80FF-7DD69836AF0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1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0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22F618A-7E6D-446F-961A-D3A356CFC88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2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3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849A282-C606-48CA-A268-E0756BB9F86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2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6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C26A62D-579B-4E6A-9E02-3EC1FDA72A6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2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9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0B1E02D-4A79-4EF1-A1F7-1E074914D2E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3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2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B3799CE-7C5A-4267-964B-18A225DBD73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3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5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DBF6B57-A8DB-4F31-A245-28A4B41E7F9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3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8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5B74A81-983E-4AAF-BE87-BC34E6847FE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4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1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AD05DCF-CB44-403F-BF45-F5AC121F6B3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4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4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E2EB2C9-6F6F-41B4-AE0B-00E50B7BEF7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4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7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7449DD7-B4F6-4421-B5B6-C8B5ECDDD89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4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0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ECEF510-02A9-4379-A732-B11B32C0A48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5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3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EAEE31B-F873-4E61-BCE6-A29A04FE253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5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6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4FAF8E5-E167-4D44-8354-E1F47873878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5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9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3FE5DC2-2A3A-410B-A735-72FCF09E8B8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6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2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FE54130-6C23-4C10-8842-E1BDDB3D584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image" Target="../media/image16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20.png"/><Relationship Id="rId3" Type="http://schemas.openxmlformats.org/officeDocument/2006/relationships/image" Target="../media/image18.png"/><Relationship Id="rId4" Type="http://schemas.openxmlformats.org/officeDocument/2006/relationships/image" Target="../media/image21.png"/><Relationship Id="rId5" Type="http://schemas.openxmlformats.org/officeDocument/2006/relationships/image" Target="../media/image19.png"/><Relationship Id="rId6" Type="http://schemas.openxmlformats.org/officeDocument/2006/relationships/image" Target="../media/image7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image" Target="../media/image18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image" Target="../media/image2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image" Target="../media/image19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5.png"/><Relationship Id="rId3" Type="http://schemas.openxmlformats.org/officeDocument/2006/relationships/image" Target="../media/image26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27.png"/><Relationship Id="rId3" Type="http://schemas.openxmlformats.org/officeDocument/2006/relationships/image" Target="../media/image20.png"/><Relationship Id="rId4" Type="http://schemas.openxmlformats.org/officeDocument/2006/relationships/image" Target="../media/image18.png"/><Relationship Id="rId5" Type="http://schemas.openxmlformats.org/officeDocument/2006/relationships/image" Target="../media/image16.png"/><Relationship Id="rId6" Type="http://schemas.openxmlformats.org/officeDocument/2006/relationships/image" Target="../media/image19.png"/><Relationship Id="rId7" Type="http://schemas.openxmlformats.org/officeDocument/2006/relationships/image" Target="../media/image21.png"/><Relationship Id="rId8" Type="http://schemas.openxmlformats.org/officeDocument/2006/relationships/image" Target="../media/image6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28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0"/>
          <p:cNvSpPr/>
          <p:nvPr/>
        </p:nvSpPr>
        <p:spPr>
          <a:xfrm>
            <a:off x="457200" y="45720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5FD6B0"/>
                </a:solidFill>
                <a:effectLst/>
                <a:uFillTx/>
                <a:latin typeface="Calibri"/>
              </a:rPr>
              <a:t>✦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Text 1"/>
          <p:cNvSpPr/>
          <p:nvPr/>
        </p:nvSpPr>
        <p:spPr>
          <a:xfrm>
            <a:off x="11247120" y="548640"/>
            <a:ext cx="2008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0" b="0" u="none" strike="noStrike">
                <a:solidFill>
                  <a:srgbClr val="FFC94A"/>
                </a:solidFill>
                <a:effectLst/>
                <a:uFillTx/>
                <a:latin typeface="Calibri"/>
              </a:rPr>
              <a:t>✦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2"/>
          <p:cNvSpPr/>
          <p:nvPr/>
        </p:nvSpPr>
        <p:spPr>
          <a:xfrm>
            <a:off x="640080" y="6126480"/>
            <a:ext cx="228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8FB3"/>
                </a:solidFill>
                <a:effectLst/>
                <a:uFillTx/>
                <a:latin typeface="Calibri"/>
              </a:rPr>
              <a:t>✦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3"/>
          <p:cNvSpPr/>
          <p:nvPr/>
        </p:nvSpPr>
        <p:spPr>
          <a:xfrm>
            <a:off x="11338560" y="603504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8B7FE8"/>
                </a:solidFill>
                <a:effectLst/>
                <a:uFillTx/>
                <a:latin typeface="Calibri"/>
              </a:rPr>
              <a:t>✦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Shape 4"/>
          <p:cNvSpPr/>
          <p:nvPr/>
        </p:nvSpPr>
        <p:spPr>
          <a:xfrm rot="21480000">
            <a:off x="1234440" y="1691280"/>
            <a:ext cx="9719640" cy="3520080"/>
          </a:xfrm>
          <a:prstGeom prst="roundRect">
            <a:avLst>
              <a:gd name="adj" fmla="val 5195"/>
            </a:avLst>
          </a:prstGeom>
          <a:solidFill>
            <a:srgbClr val="FFC9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Shape 5"/>
          <p:cNvSpPr/>
          <p:nvPr/>
        </p:nvSpPr>
        <p:spPr>
          <a:xfrm>
            <a:off x="1051560" y="1508760"/>
            <a:ext cx="9719640" cy="3520080"/>
          </a:xfrm>
          <a:prstGeom prst="roundRect">
            <a:avLst>
              <a:gd name="adj" fmla="val 5195"/>
            </a:avLst>
          </a:prstGeom>
          <a:solidFill>
            <a:srgbClr val="8B7F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Shape 6"/>
          <p:cNvSpPr/>
          <p:nvPr/>
        </p:nvSpPr>
        <p:spPr>
          <a:xfrm>
            <a:off x="5367600" y="1874520"/>
            <a:ext cx="1096920" cy="109692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" name="Image 0" descr="preencoded.png"/>
          <p:cNvPicPr/>
          <p:nvPr/>
        </p:nvPicPr>
        <p:blipFill>
          <a:blip r:embed="rId1"/>
          <a:stretch/>
        </p:blipFill>
        <p:spPr>
          <a:xfrm>
            <a:off x="5541120" y="2048400"/>
            <a:ext cx="749520" cy="749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" name="Text 7"/>
          <p:cNvSpPr/>
          <p:nvPr/>
        </p:nvSpPr>
        <p:spPr>
          <a:xfrm>
            <a:off x="1508760" y="2880360"/>
            <a:ext cx="880524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entury Gothic"/>
                <a:ea typeface="Century Gothic"/>
              </a:rPr>
              <a:t>Why </a:t>
            </a: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entury Gothic"/>
                <a:ea typeface="Century Gothic"/>
              </a:rPr>
              <a:t>Mathemati</a:t>
            </a: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entury Gothic"/>
                <a:ea typeface="Century Gothic"/>
              </a:rPr>
              <a:t>cs?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8"/>
          <p:cNvSpPr/>
          <p:nvPr/>
        </p:nvSpPr>
        <p:spPr>
          <a:xfrm>
            <a:off x="1508760" y="3794760"/>
            <a:ext cx="8805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FFF6DC"/>
                </a:solidFill>
                <a:effectLst/>
                <a:uFillTx/>
                <a:latin typeface="Calibri"/>
                <a:ea typeface="Calibri"/>
              </a:rPr>
              <a:t>The Language Behind Every </a:t>
            </a:r>
            <a:r>
              <a:rPr lang="en-US" sz="1550" b="1" u="none" strike="noStrike">
                <a:solidFill>
                  <a:srgbClr val="FFF6DC"/>
                </a:solidFill>
                <a:effectLst/>
                <a:uFillTx/>
                <a:latin typeface="Calibri"/>
                <a:ea typeface="Calibri"/>
              </a:rPr>
              <a:t>Model, Every Dataset, Every </a:t>
            </a:r>
            <a:r>
              <a:rPr lang="en-US" sz="1550" b="1" u="none" strike="noStrike">
                <a:solidFill>
                  <a:srgbClr val="FFF6DC"/>
                </a:solidFill>
                <a:effectLst/>
                <a:uFillTx/>
                <a:latin typeface="Calibri"/>
                <a:ea typeface="Calibri"/>
              </a:rPr>
              <a:t>Decision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9"/>
          <p:cNvSpPr/>
          <p:nvPr/>
        </p:nvSpPr>
        <p:spPr>
          <a:xfrm>
            <a:off x="1508760" y="5394960"/>
            <a:ext cx="8805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2D2A4A"/>
                </a:solidFill>
                <a:effectLst/>
                <a:uFillTx/>
                <a:latin typeface="Calibri"/>
                <a:ea typeface="Calibri"/>
              </a:rPr>
              <a:t>Session 16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10"/>
          <p:cNvSpPr/>
          <p:nvPr/>
        </p:nvSpPr>
        <p:spPr>
          <a:xfrm>
            <a:off x="914400" y="5989320"/>
            <a:ext cx="103597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2D2A4A"/>
                </a:solidFill>
                <a:effectLst/>
                <a:uFillTx/>
                <a:latin typeface="Calibri"/>
                <a:ea typeface="Calibri"/>
              </a:rPr>
              <a:t>CodeByPaxto: The AI &amp; ML Playground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11"/>
          <p:cNvSpPr/>
          <p:nvPr/>
        </p:nvSpPr>
        <p:spPr>
          <a:xfrm>
            <a:off x="914400" y="6291000"/>
            <a:ext cx="103597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85F8F"/>
                </a:solidFill>
                <a:effectLst/>
                <a:uFillTx/>
                <a:latin typeface="Calibri"/>
                <a:ea typeface="Calibri"/>
              </a:rPr>
              <a:t>Hafiz Waseem Ahmed (Paxto)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12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85F8F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0"/>
          <p:cNvSpPr/>
          <p:nvPr/>
        </p:nvSpPr>
        <p:spPr>
          <a:xfrm>
            <a:off x="457200" y="457200"/>
            <a:ext cx="639720" cy="639720"/>
          </a:xfrm>
          <a:prstGeom prst="ellipse">
            <a:avLst/>
          </a:prstGeom>
          <a:solidFill>
            <a:srgbClr val="8B7F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5" name="Image 0" descr="preencoded.png"/>
          <p:cNvPicPr/>
          <p:nvPr/>
        </p:nvPicPr>
        <p:blipFill>
          <a:blip r:embed="rId1"/>
          <a:stretch/>
        </p:blipFill>
        <p:spPr>
          <a:xfrm>
            <a:off x="548640" y="54864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" name="Text 1"/>
          <p:cNvSpPr/>
          <p:nvPr/>
        </p:nvSpPr>
        <p:spPr>
          <a:xfrm>
            <a:off x="1280160" y="45720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2D2A4A"/>
                </a:solidFill>
                <a:effectLst/>
                <a:uFillTx/>
                <a:latin typeface="Century Gothic"/>
                <a:ea typeface="Century Gothic"/>
              </a:rPr>
              <a:t>What We're Covering Today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Shape 2"/>
          <p:cNvSpPr/>
          <p:nvPr/>
        </p:nvSpPr>
        <p:spPr>
          <a:xfrm>
            <a:off x="457200" y="1206720"/>
            <a:ext cx="11274480" cy="360"/>
          </a:xfrm>
          <a:prstGeom prst="line">
            <a:avLst/>
          </a:prstGeom>
          <a:ln w="19050">
            <a:solidFill>
              <a:srgbClr val="D8D2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Shape 3"/>
          <p:cNvSpPr/>
          <p:nvPr/>
        </p:nvSpPr>
        <p:spPr>
          <a:xfrm>
            <a:off x="457200" y="1600200"/>
            <a:ext cx="11274120" cy="561240"/>
          </a:xfrm>
          <a:prstGeom prst="roundRect">
            <a:avLst>
              <a:gd name="adj" fmla="val 19535"/>
            </a:avLst>
          </a:prstGeom>
          <a:solidFill>
            <a:srgbClr val="EDE9FE"/>
          </a:solidFill>
          <a:ln w="12700">
            <a:solidFill>
              <a:srgbClr val="D8D2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Shape 4"/>
          <p:cNvSpPr/>
          <p:nvPr/>
        </p:nvSpPr>
        <p:spPr>
          <a:xfrm>
            <a:off x="685800" y="1707480"/>
            <a:ext cx="347040" cy="347040"/>
          </a:xfrm>
          <a:prstGeom prst="ellipse">
            <a:avLst/>
          </a:prstGeom>
          <a:solidFill>
            <a:srgbClr val="8B7F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0" name="Image 1" descr="preencoded.png"/>
          <p:cNvPicPr/>
          <p:nvPr/>
        </p:nvPicPr>
        <p:blipFill>
          <a:blip r:embed="rId2"/>
          <a:stretch/>
        </p:blipFill>
        <p:spPr>
          <a:xfrm>
            <a:off x="758880" y="1780560"/>
            <a:ext cx="200880" cy="200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" name="Text 5"/>
          <p:cNvSpPr/>
          <p:nvPr/>
        </p:nvSpPr>
        <p:spPr>
          <a:xfrm>
            <a:off x="1234440" y="1600200"/>
            <a:ext cx="10240920" cy="56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2D2A4A"/>
                </a:solidFill>
                <a:effectLst/>
                <a:uFillTx/>
                <a:latin typeface="Calibri"/>
                <a:ea typeface="Calibri"/>
              </a:rPr>
              <a:t>What mathematics actually is — and why it isn’t what you think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Shape 6"/>
          <p:cNvSpPr/>
          <p:nvPr/>
        </p:nvSpPr>
        <p:spPr>
          <a:xfrm>
            <a:off x="457200" y="2253240"/>
            <a:ext cx="11274120" cy="561240"/>
          </a:xfrm>
          <a:prstGeom prst="roundRect">
            <a:avLst>
              <a:gd name="adj" fmla="val 19535"/>
            </a:avLst>
          </a:prstGeom>
          <a:solidFill>
            <a:srgbClr val="FFFFFF"/>
          </a:solidFill>
          <a:ln w="12700">
            <a:solidFill>
              <a:srgbClr val="D8D2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Shape 7"/>
          <p:cNvSpPr/>
          <p:nvPr/>
        </p:nvSpPr>
        <p:spPr>
          <a:xfrm>
            <a:off x="685800" y="2360520"/>
            <a:ext cx="347040" cy="347040"/>
          </a:xfrm>
          <a:prstGeom prst="ellipse">
            <a:avLst/>
          </a:prstGeom>
          <a:solidFill>
            <a:srgbClr val="5FD6B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4" name="Image 2" descr="preencoded.png"/>
          <p:cNvPicPr/>
          <p:nvPr/>
        </p:nvPicPr>
        <p:blipFill>
          <a:blip r:embed="rId3"/>
          <a:stretch/>
        </p:blipFill>
        <p:spPr>
          <a:xfrm>
            <a:off x="758880" y="2433600"/>
            <a:ext cx="200880" cy="200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" name="Text 8"/>
          <p:cNvSpPr/>
          <p:nvPr/>
        </p:nvSpPr>
        <p:spPr>
          <a:xfrm>
            <a:off x="1234440" y="2253240"/>
            <a:ext cx="10240920" cy="56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2D2A4A"/>
                </a:solidFill>
                <a:effectLst/>
                <a:uFillTx/>
                <a:latin typeface="Calibri"/>
                <a:ea typeface="Calibri"/>
              </a:rPr>
              <a:t>Why Gauss called mathematics "the Queen of all Sciences"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Shape 9"/>
          <p:cNvSpPr/>
          <p:nvPr/>
        </p:nvSpPr>
        <p:spPr>
          <a:xfrm>
            <a:off x="457200" y="2906640"/>
            <a:ext cx="11274120" cy="561240"/>
          </a:xfrm>
          <a:prstGeom prst="roundRect">
            <a:avLst>
              <a:gd name="adj" fmla="val 19535"/>
            </a:avLst>
          </a:prstGeom>
          <a:solidFill>
            <a:srgbClr val="EDE9FE"/>
          </a:solidFill>
          <a:ln w="12700">
            <a:solidFill>
              <a:srgbClr val="D8D2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Shape 10"/>
          <p:cNvSpPr/>
          <p:nvPr/>
        </p:nvSpPr>
        <p:spPr>
          <a:xfrm>
            <a:off x="685800" y="3013560"/>
            <a:ext cx="347040" cy="347040"/>
          </a:xfrm>
          <a:prstGeom prst="ellipse">
            <a:avLst/>
          </a:prstGeom>
          <a:solidFill>
            <a:srgbClr val="FFC9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8" name="Image 3" descr="preencoded.png"/>
          <p:cNvPicPr/>
          <p:nvPr/>
        </p:nvPicPr>
        <p:blipFill>
          <a:blip r:embed="rId4"/>
          <a:stretch/>
        </p:blipFill>
        <p:spPr>
          <a:xfrm>
            <a:off x="758880" y="3086640"/>
            <a:ext cx="200880" cy="200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" name="Text 11"/>
          <p:cNvSpPr/>
          <p:nvPr/>
        </p:nvSpPr>
        <p:spPr>
          <a:xfrm>
            <a:off x="1234440" y="2906640"/>
            <a:ext cx="10240920" cy="56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2D2A4A"/>
                </a:solidFill>
                <a:effectLst/>
                <a:uFillTx/>
                <a:latin typeface="Calibri"/>
                <a:ea typeface="Calibri"/>
              </a:rPr>
              <a:t>Math you already use, without ever calling it "math"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Shape 12"/>
          <p:cNvSpPr/>
          <p:nvPr/>
        </p:nvSpPr>
        <p:spPr>
          <a:xfrm>
            <a:off x="457200" y="3559680"/>
            <a:ext cx="11274120" cy="561240"/>
          </a:xfrm>
          <a:prstGeom prst="roundRect">
            <a:avLst>
              <a:gd name="adj" fmla="val 19535"/>
            </a:avLst>
          </a:prstGeom>
          <a:solidFill>
            <a:srgbClr val="FFFFFF"/>
          </a:solidFill>
          <a:ln w="12700">
            <a:solidFill>
              <a:srgbClr val="D8D2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Shape 13"/>
          <p:cNvSpPr/>
          <p:nvPr/>
        </p:nvSpPr>
        <p:spPr>
          <a:xfrm>
            <a:off x="685800" y="3666600"/>
            <a:ext cx="347040" cy="347040"/>
          </a:xfrm>
          <a:prstGeom prst="ellipse">
            <a:avLst/>
          </a:prstGeom>
          <a:solidFill>
            <a:srgbClr val="FF8FB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2" name="Image 4" descr="preencoded.png"/>
          <p:cNvPicPr/>
          <p:nvPr/>
        </p:nvPicPr>
        <p:blipFill>
          <a:blip r:embed="rId5"/>
          <a:stretch/>
        </p:blipFill>
        <p:spPr>
          <a:xfrm>
            <a:off x="758880" y="3740040"/>
            <a:ext cx="200880" cy="200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3" name="Text 14"/>
          <p:cNvSpPr/>
          <p:nvPr/>
        </p:nvSpPr>
        <p:spPr>
          <a:xfrm>
            <a:off x="1234440" y="3559680"/>
            <a:ext cx="10240920" cy="56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2D2A4A"/>
                </a:solidFill>
                <a:effectLst/>
                <a:uFillTx/>
                <a:latin typeface="Calibri"/>
                <a:ea typeface="Calibri"/>
              </a:rPr>
              <a:t>Where statistics, probability, linear algebra, and calculus each fit in AI &amp; data science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Shape 15"/>
          <p:cNvSpPr/>
          <p:nvPr/>
        </p:nvSpPr>
        <p:spPr>
          <a:xfrm>
            <a:off x="457200" y="4212720"/>
            <a:ext cx="11274120" cy="561240"/>
          </a:xfrm>
          <a:prstGeom prst="roundRect">
            <a:avLst>
              <a:gd name="adj" fmla="val 19535"/>
            </a:avLst>
          </a:prstGeom>
          <a:solidFill>
            <a:srgbClr val="EDE9FE"/>
          </a:solidFill>
          <a:ln w="12700">
            <a:solidFill>
              <a:srgbClr val="D8D2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Shape 16"/>
          <p:cNvSpPr/>
          <p:nvPr/>
        </p:nvSpPr>
        <p:spPr>
          <a:xfrm>
            <a:off x="685800" y="4320000"/>
            <a:ext cx="347040" cy="347040"/>
          </a:xfrm>
          <a:prstGeom prst="ellipse">
            <a:avLst/>
          </a:prstGeom>
          <a:solidFill>
            <a:srgbClr val="8B7F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6" name="Image 5" descr="preencoded.png"/>
          <p:cNvPicPr/>
          <p:nvPr/>
        </p:nvPicPr>
        <p:blipFill>
          <a:blip r:embed="rId6"/>
          <a:stretch/>
        </p:blipFill>
        <p:spPr>
          <a:xfrm>
            <a:off x="758880" y="4393080"/>
            <a:ext cx="200880" cy="200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7" name="Text 17"/>
          <p:cNvSpPr/>
          <p:nvPr/>
        </p:nvSpPr>
        <p:spPr>
          <a:xfrm>
            <a:off x="1234440" y="4212720"/>
            <a:ext cx="10240920" cy="56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2D2A4A"/>
                </a:solidFill>
                <a:effectLst/>
                <a:uFillTx/>
                <a:latin typeface="Calibri"/>
                <a:ea typeface="Calibri"/>
              </a:rPr>
              <a:t>Real systems you use daily, and the math quietly running underneath them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Shape 18"/>
          <p:cNvSpPr/>
          <p:nvPr/>
        </p:nvSpPr>
        <p:spPr>
          <a:xfrm>
            <a:off x="457200" y="4865760"/>
            <a:ext cx="11274120" cy="561240"/>
          </a:xfrm>
          <a:prstGeom prst="roundRect">
            <a:avLst>
              <a:gd name="adj" fmla="val 19535"/>
            </a:avLst>
          </a:prstGeom>
          <a:solidFill>
            <a:srgbClr val="FFFFFF"/>
          </a:solidFill>
          <a:ln w="12700">
            <a:solidFill>
              <a:srgbClr val="D8D2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Shape 19"/>
          <p:cNvSpPr/>
          <p:nvPr/>
        </p:nvSpPr>
        <p:spPr>
          <a:xfrm>
            <a:off x="685800" y="4973040"/>
            <a:ext cx="347040" cy="347040"/>
          </a:xfrm>
          <a:prstGeom prst="ellipse">
            <a:avLst/>
          </a:prstGeom>
          <a:solidFill>
            <a:srgbClr val="5FD6B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0" name="Image 6" descr="preencoded.png"/>
          <p:cNvPicPr/>
          <p:nvPr/>
        </p:nvPicPr>
        <p:blipFill>
          <a:blip r:embed="rId7"/>
          <a:stretch/>
        </p:blipFill>
        <p:spPr>
          <a:xfrm>
            <a:off x="758880" y="5046120"/>
            <a:ext cx="200880" cy="200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1" name="Text 20"/>
          <p:cNvSpPr/>
          <p:nvPr/>
        </p:nvSpPr>
        <p:spPr>
          <a:xfrm>
            <a:off x="1234440" y="4865760"/>
            <a:ext cx="10240920" cy="56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2D2A4A"/>
                </a:solidFill>
                <a:effectLst/>
                <a:uFillTx/>
                <a:latin typeface="Calibri"/>
                <a:ea typeface="Calibri"/>
              </a:rPr>
              <a:t>What this course will — and deliberately won’t — ask of you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Shape 21"/>
          <p:cNvSpPr/>
          <p:nvPr/>
        </p:nvSpPr>
        <p:spPr>
          <a:xfrm>
            <a:off x="457200" y="5519160"/>
            <a:ext cx="11274120" cy="561240"/>
          </a:xfrm>
          <a:prstGeom prst="roundRect">
            <a:avLst>
              <a:gd name="adj" fmla="val 19535"/>
            </a:avLst>
          </a:prstGeom>
          <a:solidFill>
            <a:srgbClr val="EDE9FE"/>
          </a:solidFill>
          <a:ln w="12700">
            <a:solidFill>
              <a:srgbClr val="D8D2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Shape 22"/>
          <p:cNvSpPr/>
          <p:nvPr/>
        </p:nvSpPr>
        <p:spPr>
          <a:xfrm>
            <a:off x="685800" y="5626080"/>
            <a:ext cx="347040" cy="347040"/>
          </a:xfrm>
          <a:prstGeom prst="ellipse">
            <a:avLst/>
          </a:prstGeom>
          <a:solidFill>
            <a:srgbClr val="FFC9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4" name="Image 7" descr="preencoded.png"/>
          <p:cNvPicPr/>
          <p:nvPr/>
        </p:nvPicPr>
        <p:blipFill>
          <a:blip r:embed="rId8"/>
          <a:stretch/>
        </p:blipFill>
        <p:spPr>
          <a:xfrm>
            <a:off x="758880" y="5699160"/>
            <a:ext cx="200880" cy="200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5" name="Text 23"/>
          <p:cNvSpPr/>
          <p:nvPr/>
        </p:nvSpPr>
        <p:spPr>
          <a:xfrm>
            <a:off x="1234440" y="5519160"/>
            <a:ext cx="10240920" cy="56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2D2A4A"/>
                </a:solidFill>
                <a:effectLst/>
                <a:uFillTx/>
                <a:latin typeface="Calibri"/>
                <a:ea typeface="Calibri"/>
              </a:rPr>
              <a:t>The road ahead — a preview of every math session still to come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24"/>
          <p:cNvSpPr/>
          <p:nvPr/>
        </p:nvSpPr>
        <p:spPr>
          <a:xfrm>
            <a:off x="457200" y="6446520"/>
            <a:ext cx="8686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685F8F"/>
                </a:solidFill>
                <a:effectLst/>
                <a:uFillTx/>
                <a:latin typeface="Calibri"/>
                <a:ea typeface="Calibri"/>
              </a:rPr>
              <a:t>CodeByP</a:t>
            </a:r>
            <a:r>
              <a:rPr lang="en-US" sz="950" b="0" u="none" strike="noStrike">
                <a:solidFill>
                  <a:srgbClr val="685F8F"/>
                </a:solidFill>
                <a:effectLst/>
                <a:uFillTx/>
                <a:latin typeface="Calibri"/>
                <a:ea typeface="Calibri"/>
              </a:rPr>
              <a:t>axto: </a:t>
            </a:r>
            <a:r>
              <a:rPr lang="en-US" sz="950" b="0" u="none" strike="noStrike">
                <a:solidFill>
                  <a:srgbClr val="685F8F"/>
                </a:solidFill>
                <a:effectLst/>
                <a:uFillTx/>
                <a:latin typeface="Calibri"/>
                <a:ea typeface="Calibri"/>
              </a:rPr>
              <a:t>The AI &amp; </a:t>
            </a:r>
            <a:r>
              <a:rPr lang="en-US" sz="950" b="0" u="none" strike="noStrike">
                <a:solidFill>
                  <a:srgbClr val="685F8F"/>
                </a:solidFill>
                <a:effectLst/>
                <a:uFillTx/>
                <a:latin typeface="Calibri"/>
                <a:ea typeface="Calibri"/>
              </a:rPr>
              <a:t>ML </a:t>
            </a:r>
            <a:r>
              <a:rPr lang="en-US" sz="950" b="0" u="none" strike="noStrike">
                <a:solidFill>
                  <a:srgbClr val="685F8F"/>
                </a:solidFill>
                <a:effectLst/>
                <a:uFillTx/>
                <a:latin typeface="Calibri"/>
                <a:ea typeface="Calibri"/>
              </a:rPr>
              <a:t>Playgrou</a:t>
            </a:r>
            <a:r>
              <a:rPr lang="en-US" sz="950" b="0" u="none" strike="noStrike">
                <a:solidFill>
                  <a:srgbClr val="685F8F"/>
                </a:solidFill>
                <a:effectLst/>
                <a:uFillTx/>
                <a:latin typeface="Calibri"/>
                <a:ea typeface="Calibri"/>
              </a:rPr>
              <a:t>nd  ·  </a:t>
            </a:r>
            <a:r>
              <a:rPr lang="en-US" sz="950" b="0" u="none" strike="noStrike">
                <a:solidFill>
                  <a:srgbClr val="685F8F"/>
                </a:solidFill>
                <a:effectLst/>
                <a:uFillTx/>
                <a:latin typeface="Calibri"/>
                <a:ea typeface="Calibri"/>
              </a:rPr>
              <a:t>Hafiz </a:t>
            </a:r>
            <a:r>
              <a:rPr lang="en-US" sz="950" b="0" u="none" strike="noStrike">
                <a:solidFill>
                  <a:srgbClr val="685F8F"/>
                </a:solidFill>
                <a:effectLst/>
                <a:uFillTx/>
                <a:latin typeface="Calibri"/>
                <a:ea typeface="Calibri"/>
              </a:rPr>
              <a:t>Waseem </a:t>
            </a:r>
            <a:r>
              <a:rPr lang="en-US" sz="950" b="0" u="none" strike="noStrike">
                <a:solidFill>
                  <a:srgbClr val="685F8F"/>
                </a:solidFill>
                <a:effectLst/>
                <a:uFillTx/>
                <a:latin typeface="Calibri"/>
                <a:ea typeface="Calibri"/>
              </a:rPr>
              <a:t>Ahmed </a:t>
            </a:r>
            <a:r>
              <a:rPr lang="en-US" sz="950" b="0" u="none" strike="noStrike">
                <a:solidFill>
                  <a:srgbClr val="685F8F"/>
                </a:solidFill>
                <a:effectLst/>
                <a:uFillTx/>
                <a:latin typeface="Calibri"/>
                <a:ea typeface="Calibri"/>
              </a:rPr>
              <a:t>(Paxto)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25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85F8F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Shape 0"/>
          <p:cNvSpPr/>
          <p:nvPr/>
        </p:nvSpPr>
        <p:spPr>
          <a:xfrm>
            <a:off x="457200" y="457200"/>
            <a:ext cx="639720" cy="639720"/>
          </a:xfrm>
          <a:prstGeom prst="ellipse">
            <a:avLst/>
          </a:prstGeom>
          <a:solidFill>
            <a:srgbClr val="8B7F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9" name="Image 0" descr="preencoded.png"/>
          <p:cNvPicPr/>
          <p:nvPr/>
        </p:nvPicPr>
        <p:blipFill>
          <a:blip r:embed="rId1"/>
          <a:stretch/>
        </p:blipFill>
        <p:spPr>
          <a:xfrm>
            <a:off x="548640" y="54864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0" name="Text 1"/>
          <p:cNvSpPr/>
          <p:nvPr/>
        </p:nvSpPr>
        <p:spPr>
          <a:xfrm>
            <a:off x="1280160" y="45720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2D2A4A"/>
                </a:solidFill>
                <a:effectLst/>
                <a:uFillTx/>
                <a:latin typeface="Century Gothic"/>
                <a:ea typeface="Century Gothic"/>
              </a:rPr>
              <a:t>What Is Mathematics, Really?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Shape 2"/>
          <p:cNvSpPr/>
          <p:nvPr/>
        </p:nvSpPr>
        <p:spPr>
          <a:xfrm>
            <a:off x="457200" y="1206720"/>
            <a:ext cx="11274480" cy="360"/>
          </a:xfrm>
          <a:prstGeom prst="line">
            <a:avLst/>
          </a:prstGeom>
          <a:ln w="19050">
            <a:solidFill>
              <a:srgbClr val="D8D2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Shape 3"/>
          <p:cNvSpPr/>
          <p:nvPr/>
        </p:nvSpPr>
        <p:spPr>
          <a:xfrm>
            <a:off x="457200" y="1554480"/>
            <a:ext cx="3657240" cy="4663080"/>
          </a:xfrm>
          <a:prstGeom prst="roundRect">
            <a:avLst>
              <a:gd name="adj" fmla="val 4500"/>
            </a:avLst>
          </a:prstGeom>
          <a:solidFill>
            <a:srgbClr val="EDE9FE"/>
          </a:solidFill>
          <a:ln w="12700">
            <a:solidFill>
              <a:srgbClr val="D8D2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Shape 4"/>
          <p:cNvSpPr/>
          <p:nvPr/>
        </p:nvSpPr>
        <p:spPr>
          <a:xfrm>
            <a:off x="1508760" y="2194560"/>
            <a:ext cx="1554120" cy="1554120"/>
          </a:xfrm>
          <a:prstGeom prst="ellipse">
            <a:avLst/>
          </a:prstGeom>
          <a:solidFill>
            <a:srgbClr val="8B7F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4" name="Image 1" descr="preencoded.png"/>
          <p:cNvPicPr/>
          <p:nvPr/>
        </p:nvPicPr>
        <p:blipFill>
          <a:blip r:embed="rId2"/>
          <a:stretch/>
        </p:blipFill>
        <p:spPr>
          <a:xfrm>
            <a:off x="1746360" y="2423160"/>
            <a:ext cx="1087920" cy="1087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5" name="Text 5"/>
          <p:cNvSpPr/>
          <p:nvPr/>
        </p:nvSpPr>
        <p:spPr>
          <a:xfrm>
            <a:off x="640080" y="3977640"/>
            <a:ext cx="329148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2D2A4A"/>
                </a:solidFill>
                <a:effectLst/>
                <a:uFillTx/>
                <a:latin typeface="Century Gothic"/>
                <a:ea typeface="Century Gothic"/>
              </a:rPr>
              <a:t>A language,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2D2A4A"/>
                </a:solidFill>
                <a:effectLst/>
                <a:uFillTx/>
                <a:latin typeface="Century Gothic"/>
                <a:ea typeface="Century Gothic"/>
              </a:rPr>
              <a:t>not a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2D2A4A"/>
                </a:solidFill>
                <a:effectLst/>
                <a:uFillTx/>
                <a:latin typeface="Century Gothic"/>
                <a:ea typeface="Century Gothic"/>
              </a:rPr>
              <a:t>subject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6"/>
          <p:cNvSpPr/>
          <p:nvPr/>
        </p:nvSpPr>
        <p:spPr>
          <a:xfrm>
            <a:off x="4572000" y="1737360"/>
            <a:ext cx="7131960" cy="411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28600" indent="-228600" defTabSz="914400">
              <a:lnSpc>
                <a:spcPct val="120000"/>
              </a:lnSpc>
              <a:spcAft>
                <a:spcPts val="1400"/>
              </a:spcAft>
              <a:buClr>
                <a:srgbClr val="2D2A4A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2D2A4A"/>
                </a:solidFill>
                <a:effectLst/>
                <a:uFillTx/>
                <a:latin typeface="Calibri"/>
                <a:ea typeface="Calibri"/>
              </a:rPr>
              <a:t>Mathematics is not fundamentally about numbers — it’s a language for describing patterns, relationships, and change, precisely enough that a computer can act on them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20000"/>
              </a:lnSpc>
              <a:spcAft>
                <a:spcPts val="1400"/>
              </a:spcAft>
              <a:buClr>
                <a:srgbClr val="2D2A4A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2D2A4A"/>
                </a:solidFill>
                <a:effectLst/>
                <a:uFillTx/>
                <a:latin typeface="Calibri"/>
                <a:ea typeface="Calibri"/>
              </a:rPr>
              <a:t>"The average customer spends more on weekends" is a pattern. Math is simply how you state that precisely enough to test it, measure it, and build something on top of it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20000"/>
              </a:lnSpc>
              <a:spcAft>
                <a:spcPts val="1400"/>
              </a:spcAft>
              <a:buClr>
                <a:srgbClr val="2D2A4A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2D2A4A"/>
                </a:solidFill>
                <a:effectLst/>
                <a:uFillTx/>
                <a:latin typeface="Calibri"/>
                <a:ea typeface="Calibri"/>
              </a:rPr>
              <a:t>Every field that deals with patterns eventually needs this language — physics, economics, biology, and yes, artificial intelligence and data science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20000"/>
              </a:lnSpc>
              <a:spcAft>
                <a:spcPts val="1400"/>
              </a:spcAft>
              <a:buClr>
                <a:srgbClr val="2D2A4A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2D2A4A"/>
                </a:solidFill>
                <a:effectLst/>
                <a:uFillTx/>
                <a:latin typeface="Calibri"/>
                <a:ea typeface="Calibri"/>
              </a:rPr>
              <a:t>You’ve been doing informal versions of this your entire life — this phase of the course is about formalizing instincts you already have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7"/>
          <p:cNvSpPr/>
          <p:nvPr/>
        </p:nvSpPr>
        <p:spPr>
          <a:xfrm>
            <a:off x="457200" y="6446520"/>
            <a:ext cx="8686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685F8F"/>
                </a:solidFill>
                <a:effectLst/>
                <a:uFillTx/>
                <a:latin typeface="Calibri"/>
                <a:ea typeface="Calibri"/>
              </a:rPr>
              <a:t>CodeByPaxto: The AI &amp; ML Playground  ·  Hafiz Waseem Ahmed (Paxto)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8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85F8F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Text 0"/>
          <p:cNvSpPr/>
          <p:nvPr/>
        </p:nvSpPr>
        <p:spPr>
          <a:xfrm>
            <a:off x="914400" y="118872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5FD6B0"/>
                </a:solidFill>
                <a:effectLst/>
                <a:uFillTx/>
                <a:latin typeface="Calibri"/>
              </a:rPr>
              <a:t>✦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1"/>
          <p:cNvSpPr/>
          <p:nvPr/>
        </p:nvSpPr>
        <p:spPr>
          <a:xfrm>
            <a:off x="10789920" y="1371600"/>
            <a:ext cx="2192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FFC94A"/>
                </a:solidFill>
                <a:effectLst/>
                <a:uFillTx/>
                <a:latin typeface="Calibri"/>
              </a:rPr>
              <a:t>✦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2"/>
          <p:cNvSpPr/>
          <p:nvPr/>
        </p:nvSpPr>
        <p:spPr>
          <a:xfrm>
            <a:off x="1097280" y="5394960"/>
            <a:ext cx="2372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40" b="0" u="none" strike="noStrike">
                <a:solidFill>
                  <a:srgbClr val="FF8FB3"/>
                </a:solidFill>
                <a:effectLst/>
                <a:uFillTx/>
                <a:latin typeface="Calibri"/>
              </a:rPr>
              <a:t>✦</a:t>
            </a:r>
            <a:endParaRPr lang="en-US" sz="10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3"/>
          <p:cNvSpPr/>
          <p:nvPr/>
        </p:nvSpPr>
        <p:spPr>
          <a:xfrm>
            <a:off x="10607040" y="521208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8B7FE8"/>
                </a:solidFill>
                <a:effectLst/>
                <a:uFillTx/>
                <a:latin typeface="Calibri"/>
              </a:rPr>
              <a:t>✦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Shape 4"/>
          <p:cNvSpPr/>
          <p:nvPr/>
        </p:nvSpPr>
        <p:spPr>
          <a:xfrm>
            <a:off x="1371600" y="1783080"/>
            <a:ext cx="9445320" cy="3794400"/>
          </a:xfrm>
          <a:prstGeom prst="roundRect">
            <a:avLst>
              <a:gd name="adj" fmla="val 4819"/>
            </a:avLst>
          </a:prstGeom>
          <a:solidFill>
            <a:srgbClr val="EDE9FE"/>
          </a:solidFill>
          <a:ln w="19050">
            <a:solidFill>
              <a:srgbClr val="D8D2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Shape 5"/>
          <p:cNvSpPr/>
          <p:nvPr/>
        </p:nvSpPr>
        <p:spPr>
          <a:xfrm>
            <a:off x="5504760" y="1463040"/>
            <a:ext cx="1188360" cy="1188360"/>
          </a:xfrm>
          <a:prstGeom prst="ellipse">
            <a:avLst/>
          </a:prstGeom>
          <a:solidFill>
            <a:srgbClr val="8B7F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5" name="Image 0" descr="preencoded.png"/>
          <p:cNvPicPr/>
          <p:nvPr/>
        </p:nvPicPr>
        <p:blipFill>
          <a:blip r:embed="rId1"/>
          <a:stretch/>
        </p:blipFill>
        <p:spPr>
          <a:xfrm>
            <a:off x="5779080" y="1737360"/>
            <a:ext cx="639720" cy="639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6" name="Text 6"/>
          <p:cNvSpPr/>
          <p:nvPr/>
        </p:nvSpPr>
        <p:spPr>
          <a:xfrm>
            <a:off x="1828800" y="2788920"/>
            <a:ext cx="853092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6B5FD1"/>
                </a:solidFill>
                <a:effectLst/>
                <a:uFillTx/>
                <a:latin typeface="Century Gothic"/>
                <a:ea typeface="Century Gothic"/>
              </a:rPr>
              <a:t>“Mathematics is the Queen of all Sciences.”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Shape 7"/>
          <p:cNvSpPr/>
          <p:nvPr/>
        </p:nvSpPr>
        <p:spPr>
          <a:xfrm>
            <a:off x="5184360" y="4892040"/>
            <a:ext cx="1828800" cy="360"/>
          </a:xfrm>
          <a:prstGeom prst="line">
            <a:avLst/>
          </a:prstGeom>
          <a:ln w="38100">
            <a:solidFill>
              <a:srgbClr val="FFC9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8"/>
          <p:cNvSpPr/>
          <p:nvPr/>
        </p:nvSpPr>
        <p:spPr>
          <a:xfrm>
            <a:off x="1828800" y="5029200"/>
            <a:ext cx="85309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685F8F"/>
                </a:solidFill>
                <a:effectLst/>
                <a:uFillTx/>
                <a:latin typeface="Calibri"/>
                <a:ea typeface="Calibri"/>
              </a:rPr>
              <a:t>— Carl Friedrich Gauss, </a:t>
            </a:r>
            <a:r>
              <a:rPr lang="en-US" sz="1400" b="1" u="none" strike="noStrike">
                <a:solidFill>
                  <a:srgbClr val="685F8F"/>
                </a:solidFill>
                <a:effectLst/>
                <a:uFillTx/>
                <a:latin typeface="Calibri"/>
                <a:ea typeface="Calibri"/>
              </a:rPr>
              <a:t>one of history’s greatest </a:t>
            </a:r>
            <a:r>
              <a:rPr lang="en-US" sz="1400" b="1" u="none" strike="noStrike">
                <a:solidFill>
                  <a:srgbClr val="685F8F"/>
                </a:solidFill>
                <a:effectLst/>
                <a:uFillTx/>
                <a:latin typeface="Calibri"/>
                <a:ea typeface="Calibri"/>
              </a:rPr>
              <a:t>mathematicians, 1856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9"/>
          <p:cNvSpPr/>
          <p:nvPr/>
        </p:nvSpPr>
        <p:spPr>
          <a:xfrm>
            <a:off x="457200" y="6446520"/>
            <a:ext cx="8686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685F8F"/>
                </a:solidFill>
                <a:effectLst/>
                <a:uFillTx/>
                <a:latin typeface="Calibri"/>
                <a:ea typeface="Calibri"/>
              </a:rPr>
              <a:t>CodeByPaxto: The AI &amp; ML Playground  ·  Hafiz Waseem Ahmed (Paxto)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10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85F8F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hape 0"/>
          <p:cNvSpPr/>
          <p:nvPr/>
        </p:nvSpPr>
        <p:spPr>
          <a:xfrm>
            <a:off x="457200" y="457200"/>
            <a:ext cx="639720" cy="639720"/>
          </a:xfrm>
          <a:prstGeom prst="ellipse">
            <a:avLst/>
          </a:prstGeom>
          <a:solidFill>
            <a:srgbClr val="8B7F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2" name="Image 0" descr="preencoded.png"/>
          <p:cNvPicPr/>
          <p:nvPr/>
        </p:nvPicPr>
        <p:blipFill>
          <a:blip r:embed="rId1"/>
          <a:stretch/>
        </p:blipFill>
        <p:spPr>
          <a:xfrm>
            <a:off x="548640" y="54864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3" name="Text 1"/>
          <p:cNvSpPr/>
          <p:nvPr/>
        </p:nvSpPr>
        <p:spPr>
          <a:xfrm>
            <a:off x="1280160" y="45720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2D2A4A"/>
                </a:solidFill>
                <a:effectLst/>
                <a:uFillTx/>
                <a:latin typeface="Century Gothic"/>
                <a:ea typeface="Century Gothic"/>
              </a:rPr>
              <a:t>Why "Queen," Not "King"?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Shape 2"/>
          <p:cNvSpPr/>
          <p:nvPr/>
        </p:nvSpPr>
        <p:spPr>
          <a:xfrm>
            <a:off x="457200" y="1206720"/>
            <a:ext cx="11274480" cy="360"/>
          </a:xfrm>
          <a:prstGeom prst="line">
            <a:avLst/>
          </a:prstGeom>
          <a:ln w="19050">
            <a:solidFill>
              <a:srgbClr val="D8D2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Shape 3"/>
          <p:cNvSpPr/>
          <p:nvPr/>
        </p:nvSpPr>
        <p:spPr>
          <a:xfrm>
            <a:off x="457200" y="1554480"/>
            <a:ext cx="3657240" cy="4663080"/>
          </a:xfrm>
          <a:prstGeom prst="roundRect">
            <a:avLst>
              <a:gd name="adj" fmla="val 4500"/>
            </a:avLst>
          </a:prstGeom>
          <a:solidFill>
            <a:srgbClr val="EDE9FE"/>
          </a:solidFill>
          <a:ln w="12700">
            <a:solidFill>
              <a:srgbClr val="D8D2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Shape 4"/>
          <p:cNvSpPr/>
          <p:nvPr/>
        </p:nvSpPr>
        <p:spPr>
          <a:xfrm>
            <a:off x="1508760" y="2194560"/>
            <a:ext cx="1554120" cy="1554120"/>
          </a:xfrm>
          <a:prstGeom prst="ellipse">
            <a:avLst/>
          </a:prstGeom>
          <a:solidFill>
            <a:srgbClr val="8B7F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7" name="Image 1" descr="preencoded.png"/>
          <p:cNvPicPr/>
          <p:nvPr/>
        </p:nvPicPr>
        <p:blipFill>
          <a:blip r:embed="rId2"/>
          <a:stretch/>
        </p:blipFill>
        <p:spPr>
          <a:xfrm>
            <a:off x="1746360" y="2423160"/>
            <a:ext cx="1087920" cy="1087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8" name="Text 5"/>
          <p:cNvSpPr/>
          <p:nvPr/>
        </p:nvSpPr>
        <p:spPr>
          <a:xfrm>
            <a:off x="640080" y="3977640"/>
            <a:ext cx="329148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2D2A4A"/>
                </a:solidFill>
                <a:effectLst/>
                <a:uFillTx/>
                <a:latin typeface="Century Gothic"/>
                <a:ea typeface="Century Gothic"/>
              </a:rPr>
              <a:t>The most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2D2A4A"/>
                </a:solidFill>
                <a:effectLst/>
                <a:uFillTx/>
                <a:latin typeface="Century Gothic"/>
                <a:ea typeface="Century Gothic"/>
              </a:rPr>
              <a:t>powerful piece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2D2A4A"/>
                </a:solidFill>
                <a:effectLst/>
                <a:uFillTx/>
                <a:latin typeface="Century Gothic"/>
                <a:ea typeface="Century Gothic"/>
              </a:rPr>
              <a:t>on the board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6"/>
          <p:cNvSpPr/>
          <p:nvPr/>
        </p:nvSpPr>
        <p:spPr>
          <a:xfrm>
            <a:off x="4572000" y="1737360"/>
            <a:ext cx="7131960" cy="411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28600" indent="-228600" defTabSz="914400">
              <a:lnSpc>
                <a:spcPct val="120000"/>
              </a:lnSpc>
              <a:spcAft>
                <a:spcPts val="1400"/>
              </a:spcAft>
              <a:buClr>
                <a:srgbClr val="2D2A4A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2D2A4A"/>
                </a:solidFill>
                <a:effectLst/>
                <a:uFillTx/>
                <a:latin typeface="Calibri"/>
                <a:ea typeface="Calibri"/>
              </a:rPr>
              <a:t>On a chessboard, the king can only ever move one square at a time — technically the most important piece, but genuinely limited in reach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20000"/>
              </a:lnSpc>
              <a:spcAft>
                <a:spcPts val="1400"/>
              </a:spcAft>
              <a:buClr>
                <a:srgbClr val="2D2A4A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2D2A4A"/>
                </a:solidFill>
                <a:effectLst/>
                <a:uFillTx/>
                <a:latin typeface="Calibri"/>
                <a:ea typeface="Calibri"/>
              </a:rPr>
              <a:t>The queen moves any number of squares, in every direction — rows, columns, and diagonals alike. She isn’t just important; she’s the single most powerful, most versatile piece on the board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20000"/>
              </a:lnSpc>
              <a:spcAft>
                <a:spcPts val="1400"/>
              </a:spcAft>
              <a:buClr>
                <a:srgbClr val="2D2A4A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2D2A4A"/>
                </a:solidFill>
                <a:effectLst/>
                <a:uFillTx/>
                <a:latin typeface="Calibri"/>
                <a:ea typeface="Calibri"/>
              </a:rPr>
              <a:t>Gauss’s choice of "queen" over "king" was deliberate — mathematics doesn’t just sit at the top of one field. It reaches into every field, in every direction, with no limit on distance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20000"/>
              </a:lnSpc>
              <a:spcAft>
                <a:spcPts val="1400"/>
              </a:spcAft>
              <a:buClr>
                <a:srgbClr val="2D2A4A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2D2A4A"/>
                </a:solidFill>
                <a:effectLst/>
                <a:uFillTx/>
                <a:latin typeface="Calibri"/>
                <a:ea typeface="Calibri"/>
              </a:rPr>
              <a:t>Physics, biology, economics, art, medicine, music, computer science — mathematics moves into all of them, often quietly, whether the people working in those fields notice it or not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7"/>
          <p:cNvSpPr/>
          <p:nvPr/>
        </p:nvSpPr>
        <p:spPr>
          <a:xfrm>
            <a:off x="457200" y="6446520"/>
            <a:ext cx="8686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685F8F"/>
                </a:solidFill>
                <a:effectLst/>
                <a:uFillTx/>
                <a:latin typeface="Calibri"/>
                <a:ea typeface="Calibri"/>
              </a:rPr>
              <a:t>CodeByPaxto: The AI &amp; ML Playground  ·  Hafiz Waseem Ahmed (Paxto)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8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85F8F"/>
                </a:solidFill>
                <a:effectLst/>
                <a:uFillTx/>
                <a:latin typeface="Calibri"/>
                <a:ea typeface="Calibri"/>
              </a:rPr>
              <a:t>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Shape 0"/>
          <p:cNvSpPr/>
          <p:nvPr/>
        </p:nvSpPr>
        <p:spPr>
          <a:xfrm>
            <a:off x="457200" y="457200"/>
            <a:ext cx="639720" cy="639720"/>
          </a:xfrm>
          <a:prstGeom prst="ellipse">
            <a:avLst/>
          </a:prstGeom>
          <a:solidFill>
            <a:srgbClr val="8B7F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93" name="Image 0" descr="preencoded.png"/>
          <p:cNvPicPr/>
          <p:nvPr/>
        </p:nvPicPr>
        <p:blipFill>
          <a:blip r:embed="rId1"/>
          <a:stretch/>
        </p:blipFill>
        <p:spPr>
          <a:xfrm>
            <a:off x="548640" y="54864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4" name="Text 1"/>
          <p:cNvSpPr/>
          <p:nvPr/>
        </p:nvSpPr>
        <p:spPr>
          <a:xfrm>
            <a:off x="1280160" y="45720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2D2A4A"/>
                </a:solidFill>
                <a:effectLst/>
                <a:uFillTx/>
                <a:latin typeface="Century Gothic"/>
                <a:ea typeface="Century Gothic"/>
              </a:rPr>
              <a:t>Why the Queen — Not the King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Shape 2"/>
          <p:cNvSpPr/>
          <p:nvPr/>
        </p:nvSpPr>
        <p:spPr>
          <a:xfrm>
            <a:off x="457200" y="1206720"/>
            <a:ext cx="11274480" cy="360"/>
          </a:xfrm>
          <a:prstGeom prst="line">
            <a:avLst/>
          </a:prstGeom>
          <a:ln w="19050">
            <a:solidFill>
              <a:srgbClr val="D8D2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3"/>
          <p:cNvSpPr/>
          <p:nvPr/>
        </p:nvSpPr>
        <p:spPr>
          <a:xfrm>
            <a:off x="1188720" y="1417320"/>
            <a:ext cx="4205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D2A4A"/>
                </a:solidFill>
                <a:effectLst/>
                <a:uFillTx/>
                <a:latin typeface="Century Gothic"/>
                <a:ea typeface="Century Gothic"/>
              </a:rPr>
              <a:t>The King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Shape 4"/>
          <p:cNvSpPr/>
          <p:nvPr/>
        </p:nvSpPr>
        <p:spPr>
          <a:xfrm>
            <a:off x="1188720" y="1874520"/>
            <a:ext cx="700560" cy="700560"/>
          </a:xfrm>
          <a:prstGeom prst="rect">
            <a:avLst/>
          </a:prstGeom>
          <a:solidFill>
            <a:srgbClr val="FFF6DC"/>
          </a:solidFill>
          <a:ln w="9525">
            <a:solidFill>
              <a:srgbClr val="D8D2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Shape 5"/>
          <p:cNvSpPr/>
          <p:nvPr/>
        </p:nvSpPr>
        <p:spPr>
          <a:xfrm>
            <a:off x="1889640" y="1874520"/>
            <a:ext cx="700560" cy="7005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Shape 6"/>
          <p:cNvSpPr/>
          <p:nvPr/>
        </p:nvSpPr>
        <p:spPr>
          <a:xfrm>
            <a:off x="2590920" y="1874520"/>
            <a:ext cx="700560" cy="700560"/>
          </a:xfrm>
          <a:prstGeom prst="rect">
            <a:avLst/>
          </a:prstGeom>
          <a:solidFill>
            <a:srgbClr val="FFF6DC"/>
          </a:solidFill>
          <a:ln w="9525">
            <a:solidFill>
              <a:srgbClr val="D8D2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Shape 7"/>
          <p:cNvSpPr/>
          <p:nvPr/>
        </p:nvSpPr>
        <p:spPr>
          <a:xfrm>
            <a:off x="3291840" y="1874520"/>
            <a:ext cx="700560" cy="7005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Shape 8"/>
          <p:cNvSpPr/>
          <p:nvPr/>
        </p:nvSpPr>
        <p:spPr>
          <a:xfrm>
            <a:off x="3992760" y="1874520"/>
            <a:ext cx="700560" cy="700560"/>
          </a:xfrm>
          <a:prstGeom prst="rect">
            <a:avLst/>
          </a:prstGeom>
          <a:solidFill>
            <a:srgbClr val="FFF6DC"/>
          </a:solidFill>
          <a:ln w="9525">
            <a:solidFill>
              <a:srgbClr val="D8D2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Shape 9"/>
          <p:cNvSpPr/>
          <p:nvPr/>
        </p:nvSpPr>
        <p:spPr>
          <a:xfrm>
            <a:off x="4694040" y="1874520"/>
            <a:ext cx="700560" cy="7005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Shape 10"/>
          <p:cNvSpPr/>
          <p:nvPr/>
        </p:nvSpPr>
        <p:spPr>
          <a:xfrm>
            <a:off x="1188720" y="2575440"/>
            <a:ext cx="700560" cy="7005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Shape 11"/>
          <p:cNvSpPr/>
          <p:nvPr/>
        </p:nvSpPr>
        <p:spPr>
          <a:xfrm>
            <a:off x="1889640" y="2575440"/>
            <a:ext cx="700560" cy="700560"/>
          </a:xfrm>
          <a:prstGeom prst="rect">
            <a:avLst/>
          </a:prstGeom>
          <a:solidFill>
            <a:srgbClr val="FFC94A"/>
          </a:solidFill>
          <a:ln w="9525">
            <a:solidFill>
              <a:srgbClr val="D8D2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Shape 12"/>
          <p:cNvSpPr/>
          <p:nvPr/>
        </p:nvSpPr>
        <p:spPr>
          <a:xfrm>
            <a:off x="2590920" y="2575440"/>
            <a:ext cx="700560" cy="700560"/>
          </a:xfrm>
          <a:prstGeom prst="rect">
            <a:avLst/>
          </a:prstGeom>
          <a:solidFill>
            <a:srgbClr val="FFC94A"/>
          </a:solidFill>
          <a:ln w="9525">
            <a:solidFill>
              <a:srgbClr val="D8D2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Shape 13"/>
          <p:cNvSpPr/>
          <p:nvPr/>
        </p:nvSpPr>
        <p:spPr>
          <a:xfrm>
            <a:off x="3291840" y="2575440"/>
            <a:ext cx="700560" cy="700560"/>
          </a:xfrm>
          <a:prstGeom prst="rect">
            <a:avLst/>
          </a:prstGeom>
          <a:solidFill>
            <a:srgbClr val="FFC94A"/>
          </a:solidFill>
          <a:ln w="9525">
            <a:solidFill>
              <a:srgbClr val="D8D2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Shape 14"/>
          <p:cNvSpPr/>
          <p:nvPr/>
        </p:nvSpPr>
        <p:spPr>
          <a:xfrm>
            <a:off x="3992760" y="2575440"/>
            <a:ext cx="700560" cy="7005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Shape 15"/>
          <p:cNvSpPr/>
          <p:nvPr/>
        </p:nvSpPr>
        <p:spPr>
          <a:xfrm>
            <a:off x="4694040" y="2575440"/>
            <a:ext cx="700560" cy="700560"/>
          </a:xfrm>
          <a:prstGeom prst="rect">
            <a:avLst/>
          </a:prstGeom>
          <a:solidFill>
            <a:srgbClr val="FFF6DC"/>
          </a:solidFill>
          <a:ln w="9525">
            <a:solidFill>
              <a:srgbClr val="D8D2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Shape 16"/>
          <p:cNvSpPr/>
          <p:nvPr/>
        </p:nvSpPr>
        <p:spPr>
          <a:xfrm>
            <a:off x="1188720" y="3276720"/>
            <a:ext cx="700560" cy="700560"/>
          </a:xfrm>
          <a:prstGeom prst="rect">
            <a:avLst/>
          </a:prstGeom>
          <a:solidFill>
            <a:srgbClr val="FFF6DC"/>
          </a:solidFill>
          <a:ln w="9525">
            <a:solidFill>
              <a:srgbClr val="D8D2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Shape 17"/>
          <p:cNvSpPr/>
          <p:nvPr/>
        </p:nvSpPr>
        <p:spPr>
          <a:xfrm>
            <a:off x="1889640" y="3276720"/>
            <a:ext cx="700560" cy="700560"/>
          </a:xfrm>
          <a:prstGeom prst="rect">
            <a:avLst/>
          </a:prstGeom>
          <a:solidFill>
            <a:srgbClr val="FFC94A"/>
          </a:solidFill>
          <a:ln w="9525">
            <a:solidFill>
              <a:srgbClr val="D8D2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Shape 18"/>
          <p:cNvSpPr/>
          <p:nvPr/>
        </p:nvSpPr>
        <p:spPr>
          <a:xfrm>
            <a:off x="2590920" y="3276720"/>
            <a:ext cx="700560" cy="700560"/>
          </a:xfrm>
          <a:prstGeom prst="rect">
            <a:avLst/>
          </a:prstGeom>
          <a:solidFill>
            <a:srgbClr val="8B7FE8"/>
          </a:solidFill>
          <a:ln w="9525">
            <a:solidFill>
              <a:srgbClr val="D8D2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" name="Shape 19"/>
          <p:cNvSpPr/>
          <p:nvPr/>
        </p:nvSpPr>
        <p:spPr>
          <a:xfrm>
            <a:off x="3291840" y="3276720"/>
            <a:ext cx="700560" cy="700560"/>
          </a:xfrm>
          <a:prstGeom prst="rect">
            <a:avLst/>
          </a:prstGeom>
          <a:solidFill>
            <a:srgbClr val="FFC94A"/>
          </a:solidFill>
          <a:ln w="9525">
            <a:solidFill>
              <a:srgbClr val="D8D2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Shape 20"/>
          <p:cNvSpPr/>
          <p:nvPr/>
        </p:nvSpPr>
        <p:spPr>
          <a:xfrm>
            <a:off x="3992760" y="3276720"/>
            <a:ext cx="700560" cy="700560"/>
          </a:xfrm>
          <a:prstGeom prst="rect">
            <a:avLst/>
          </a:prstGeom>
          <a:solidFill>
            <a:srgbClr val="FFF6DC"/>
          </a:solidFill>
          <a:ln w="9525">
            <a:solidFill>
              <a:srgbClr val="D8D2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Shape 21"/>
          <p:cNvSpPr/>
          <p:nvPr/>
        </p:nvSpPr>
        <p:spPr>
          <a:xfrm>
            <a:off x="4694040" y="3276720"/>
            <a:ext cx="700560" cy="7005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Shape 22"/>
          <p:cNvSpPr/>
          <p:nvPr/>
        </p:nvSpPr>
        <p:spPr>
          <a:xfrm>
            <a:off x="1188720" y="3977640"/>
            <a:ext cx="700560" cy="7005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Shape 23"/>
          <p:cNvSpPr/>
          <p:nvPr/>
        </p:nvSpPr>
        <p:spPr>
          <a:xfrm>
            <a:off x="1889640" y="3977640"/>
            <a:ext cx="700560" cy="700560"/>
          </a:xfrm>
          <a:prstGeom prst="rect">
            <a:avLst/>
          </a:prstGeom>
          <a:solidFill>
            <a:srgbClr val="FFC94A"/>
          </a:solidFill>
          <a:ln w="9525">
            <a:solidFill>
              <a:srgbClr val="D8D2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Shape 24"/>
          <p:cNvSpPr/>
          <p:nvPr/>
        </p:nvSpPr>
        <p:spPr>
          <a:xfrm>
            <a:off x="2590920" y="3977640"/>
            <a:ext cx="700560" cy="700560"/>
          </a:xfrm>
          <a:prstGeom prst="rect">
            <a:avLst/>
          </a:prstGeom>
          <a:solidFill>
            <a:srgbClr val="FFC94A"/>
          </a:solidFill>
          <a:ln w="9525">
            <a:solidFill>
              <a:srgbClr val="D8D2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Shape 25"/>
          <p:cNvSpPr/>
          <p:nvPr/>
        </p:nvSpPr>
        <p:spPr>
          <a:xfrm>
            <a:off x="3291840" y="3977640"/>
            <a:ext cx="700560" cy="700560"/>
          </a:xfrm>
          <a:prstGeom prst="rect">
            <a:avLst/>
          </a:prstGeom>
          <a:solidFill>
            <a:srgbClr val="FFC94A"/>
          </a:solidFill>
          <a:ln w="9525">
            <a:solidFill>
              <a:srgbClr val="D8D2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Shape 26"/>
          <p:cNvSpPr/>
          <p:nvPr/>
        </p:nvSpPr>
        <p:spPr>
          <a:xfrm>
            <a:off x="3992760" y="3977640"/>
            <a:ext cx="700560" cy="7005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Shape 27"/>
          <p:cNvSpPr/>
          <p:nvPr/>
        </p:nvSpPr>
        <p:spPr>
          <a:xfrm>
            <a:off x="4694040" y="3977640"/>
            <a:ext cx="700560" cy="700560"/>
          </a:xfrm>
          <a:prstGeom prst="rect">
            <a:avLst/>
          </a:prstGeom>
          <a:solidFill>
            <a:srgbClr val="FFF6DC"/>
          </a:solidFill>
          <a:ln w="9525">
            <a:solidFill>
              <a:srgbClr val="D8D2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Shape 28"/>
          <p:cNvSpPr/>
          <p:nvPr/>
        </p:nvSpPr>
        <p:spPr>
          <a:xfrm>
            <a:off x="1188720" y="4678560"/>
            <a:ext cx="700560" cy="700560"/>
          </a:xfrm>
          <a:prstGeom prst="rect">
            <a:avLst/>
          </a:prstGeom>
          <a:solidFill>
            <a:srgbClr val="FFF6DC"/>
          </a:solidFill>
          <a:ln w="9525">
            <a:solidFill>
              <a:srgbClr val="D8D2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Shape 29"/>
          <p:cNvSpPr/>
          <p:nvPr/>
        </p:nvSpPr>
        <p:spPr>
          <a:xfrm>
            <a:off x="1889640" y="4678560"/>
            <a:ext cx="700560" cy="7005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Shape 30"/>
          <p:cNvSpPr/>
          <p:nvPr/>
        </p:nvSpPr>
        <p:spPr>
          <a:xfrm>
            <a:off x="2590920" y="4678560"/>
            <a:ext cx="700560" cy="700560"/>
          </a:xfrm>
          <a:prstGeom prst="rect">
            <a:avLst/>
          </a:prstGeom>
          <a:solidFill>
            <a:srgbClr val="FFF6DC"/>
          </a:solidFill>
          <a:ln w="9525">
            <a:solidFill>
              <a:srgbClr val="D8D2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Shape 31"/>
          <p:cNvSpPr/>
          <p:nvPr/>
        </p:nvSpPr>
        <p:spPr>
          <a:xfrm>
            <a:off x="3291840" y="4678560"/>
            <a:ext cx="700560" cy="7005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Shape 32"/>
          <p:cNvSpPr/>
          <p:nvPr/>
        </p:nvSpPr>
        <p:spPr>
          <a:xfrm>
            <a:off x="3992760" y="4678560"/>
            <a:ext cx="700560" cy="700560"/>
          </a:xfrm>
          <a:prstGeom prst="rect">
            <a:avLst/>
          </a:prstGeom>
          <a:solidFill>
            <a:srgbClr val="FFF6DC"/>
          </a:solidFill>
          <a:ln w="9525">
            <a:solidFill>
              <a:srgbClr val="D8D2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Shape 33"/>
          <p:cNvSpPr/>
          <p:nvPr/>
        </p:nvSpPr>
        <p:spPr>
          <a:xfrm>
            <a:off x="4694040" y="4678560"/>
            <a:ext cx="700560" cy="7005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Shape 34"/>
          <p:cNvSpPr/>
          <p:nvPr/>
        </p:nvSpPr>
        <p:spPr>
          <a:xfrm>
            <a:off x="1188720" y="5379840"/>
            <a:ext cx="700560" cy="7005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Shape 35"/>
          <p:cNvSpPr/>
          <p:nvPr/>
        </p:nvSpPr>
        <p:spPr>
          <a:xfrm>
            <a:off x="1889640" y="5379840"/>
            <a:ext cx="700560" cy="700560"/>
          </a:xfrm>
          <a:prstGeom prst="rect">
            <a:avLst/>
          </a:prstGeom>
          <a:solidFill>
            <a:srgbClr val="FFF6DC"/>
          </a:solidFill>
          <a:ln w="9525">
            <a:solidFill>
              <a:srgbClr val="D8D2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Shape 36"/>
          <p:cNvSpPr/>
          <p:nvPr/>
        </p:nvSpPr>
        <p:spPr>
          <a:xfrm>
            <a:off x="2590920" y="5379840"/>
            <a:ext cx="700560" cy="7005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Shape 37"/>
          <p:cNvSpPr/>
          <p:nvPr/>
        </p:nvSpPr>
        <p:spPr>
          <a:xfrm>
            <a:off x="3291840" y="5379840"/>
            <a:ext cx="700560" cy="700560"/>
          </a:xfrm>
          <a:prstGeom prst="rect">
            <a:avLst/>
          </a:prstGeom>
          <a:solidFill>
            <a:srgbClr val="FFF6DC"/>
          </a:solidFill>
          <a:ln w="9525">
            <a:solidFill>
              <a:srgbClr val="D8D2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Shape 38"/>
          <p:cNvSpPr/>
          <p:nvPr/>
        </p:nvSpPr>
        <p:spPr>
          <a:xfrm>
            <a:off x="3992760" y="5379840"/>
            <a:ext cx="700560" cy="7005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Shape 39"/>
          <p:cNvSpPr/>
          <p:nvPr/>
        </p:nvSpPr>
        <p:spPr>
          <a:xfrm>
            <a:off x="4694040" y="5379840"/>
            <a:ext cx="700560" cy="700560"/>
          </a:xfrm>
          <a:prstGeom prst="rect">
            <a:avLst/>
          </a:prstGeom>
          <a:solidFill>
            <a:srgbClr val="FFF6DC"/>
          </a:solidFill>
          <a:ln w="9525">
            <a:solidFill>
              <a:srgbClr val="D8D2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40"/>
          <p:cNvSpPr/>
          <p:nvPr/>
        </p:nvSpPr>
        <p:spPr>
          <a:xfrm>
            <a:off x="1188720" y="6217920"/>
            <a:ext cx="42058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i="1" u="none" strike="noStrike">
                <a:solidFill>
                  <a:srgbClr val="685F8F"/>
                </a:solidFill>
                <a:effectLst/>
                <a:uFillTx/>
                <a:latin typeface="Calibri"/>
                <a:ea typeface="Calibri"/>
              </a:rPr>
              <a:t>Moves one square — its reach barely extends past itself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 41"/>
          <p:cNvSpPr/>
          <p:nvPr/>
        </p:nvSpPr>
        <p:spPr>
          <a:xfrm>
            <a:off x="6766560" y="1417320"/>
            <a:ext cx="4205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D2A4A"/>
                </a:solidFill>
                <a:effectLst/>
                <a:uFillTx/>
                <a:latin typeface="Century Gothic"/>
                <a:ea typeface="Century Gothic"/>
              </a:rPr>
              <a:t>The Queen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Shape 42"/>
          <p:cNvSpPr/>
          <p:nvPr/>
        </p:nvSpPr>
        <p:spPr>
          <a:xfrm>
            <a:off x="6766560" y="1874520"/>
            <a:ext cx="700560" cy="700560"/>
          </a:xfrm>
          <a:prstGeom prst="rect">
            <a:avLst/>
          </a:prstGeom>
          <a:solidFill>
            <a:srgbClr val="5FD6B0"/>
          </a:solidFill>
          <a:ln w="9525">
            <a:solidFill>
              <a:srgbClr val="D8D2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Shape 43"/>
          <p:cNvSpPr/>
          <p:nvPr/>
        </p:nvSpPr>
        <p:spPr>
          <a:xfrm>
            <a:off x="7467480" y="1874520"/>
            <a:ext cx="700560" cy="7005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Shape 44"/>
          <p:cNvSpPr/>
          <p:nvPr/>
        </p:nvSpPr>
        <p:spPr>
          <a:xfrm>
            <a:off x="8168760" y="1874520"/>
            <a:ext cx="700560" cy="700560"/>
          </a:xfrm>
          <a:prstGeom prst="rect">
            <a:avLst/>
          </a:prstGeom>
          <a:solidFill>
            <a:srgbClr val="5FD6B0"/>
          </a:solidFill>
          <a:ln w="9525">
            <a:solidFill>
              <a:srgbClr val="D8D2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Shape 45"/>
          <p:cNvSpPr/>
          <p:nvPr/>
        </p:nvSpPr>
        <p:spPr>
          <a:xfrm>
            <a:off x="8869680" y="1874520"/>
            <a:ext cx="700560" cy="7005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Shape 46"/>
          <p:cNvSpPr/>
          <p:nvPr/>
        </p:nvSpPr>
        <p:spPr>
          <a:xfrm>
            <a:off x="9570600" y="1874520"/>
            <a:ext cx="700560" cy="700560"/>
          </a:xfrm>
          <a:prstGeom prst="rect">
            <a:avLst/>
          </a:prstGeom>
          <a:solidFill>
            <a:srgbClr val="5FD6B0"/>
          </a:solidFill>
          <a:ln w="9525">
            <a:solidFill>
              <a:srgbClr val="D8D2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Shape 47"/>
          <p:cNvSpPr/>
          <p:nvPr/>
        </p:nvSpPr>
        <p:spPr>
          <a:xfrm>
            <a:off x="10271880" y="1874520"/>
            <a:ext cx="700560" cy="7005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Shape 48"/>
          <p:cNvSpPr/>
          <p:nvPr/>
        </p:nvSpPr>
        <p:spPr>
          <a:xfrm>
            <a:off x="6766560" y="2575440"/>
            <a:ext cx="700560" cy="7005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Shape 49"/>
          <p:cNvSpPr/>
          <p:nvPr/>
        </p:nvSpPr>
        <p:spPr>
          <a:xfrm>
            <a:off x="7467480" y="2575440"/>
            <a:ext cx="700560" cy="700560"/>
          </a:xfrm>
          <a:prstGeom prst="rect">
            <a:avLst/>
          </a:prstGeom>
          <a:solidFill>
            <a:srgbClr val="5FD6B0"/>
          </a:solidFill>
          <a:ln w="9525">
            <a:solidFill>
              <a:srgbClr val="D8D2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Shape 50"/>
          <p:cNvSpPr/>
          <p:nvPr/>
        </p:nvSpPr>
        <p:spPr>
          <a:xfrm>
            <a:off x="8168760" y="2575440"/>
            <a:ext cx="700560" cy="700560"/>
          </a:xfrm>
          <a:prstGeom prst="rect">
            <a:avLst/>
          </a:prstGeom>
          <a:solidFill>
            <a:srgbClr val="5FD6B0"/>
          </a:solidFill>
          <a:ln w="9525">
            <a:solidFill>
              <a:srgbClr val="D8D2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Shape 51"/>
          <p:cNvSpPr/>
          <p:nvPr/>
        </p:nvSpPr>
        <p:spPr>
          <a:xfrm>
            <a:off x="8869680" y="2575440"/>
            <a:ext cx="700560" cy="700560"/>
          </a:xfrm>
          <a:prstGeom prst="rect">
            <a:avLst/>
          </a:prstGeom>
          <a:solidFill>
            <a:srgbClr val="5FD6B0"/>
          </a:solidFill>
          <a:ln w="9525">
            <a:solidFill>
              <a:srgbClr val="D8D2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Shape 52"/>
          <p:cNvSpPr/>
          <p:nvPr/>
        </p:nvSpPr>
        <p:spPr>
          <a:xfrm>
            <a:off x="9570600" y="2575440"/>
            <a:ext cx="700560" cy="7005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Shape 53"/>
          <p:cNvSpPr/>
          <p:nvPr/>
        </p:nvSpPr>
        <p:spPr>
          <a:xfrm>
            <a:off x="10271880" y="2575440"/>
            <a:ext cx="700560" cy="700560"/>
          </a:xfrm>
          <a:prstGeom prst="rect">
            <a:avLst/>
          </a:prstGeom>
          <a:solidFill>
            <a:srgbClr val="E3FBF3"/>
          </a:solidFill>
          <a:ln w="9525">
            <a:solidFill>
              <a:srgbClr val="D8D2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Shape 54"/>
          <p:cNvSpPr/>
          <p:nvPr/>
        </p:nvSpPr>
        <p:spPr>
          <a:xfrm>
            <a:off x="6766560" y="3276720"/>
            <a:ext cx="700560" cy="700560"/>
          </a:xfrm>
          <a:prstGeom prst="rect">
            <a:avLst/>
          </a:prstGeom>
          <a:solidFill>
            <a:srgbClr val="5FD6B0"/>
          </a:solidFill>
          <a:ln w="9525">
            <a:solidFill>
              <a:srgbClr val="D8D2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Shape 55"/>
          <p:cNvSpPr/>
          <p:nvPr/>
        </p:nvSpPr>
        <p:spPr>
          <a:xfrm>
            <a:off x="7467480" y="3276720"/>
            <a:ext cx="700560" cy="700560"/>
          </a:xfrm>
          <a:prstGeom prst="rect">
            <a:avLst/>
          </a:prstGeom>
          <a:solidFill>
            <a:srgbClr val="5FD6B0"/>
          </a:solidFill>
          <a:ln w="9525">
            <a:solidFill>
              <a:srgbClr val="D8D2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Shape 56"/>
          <p:cNvSpPr/>
          <p:nvPr/>
        </p:nvSpPr>
        <p:spPr>
          <a:xfrm>
            <a:off x="8168760" y="3276720"/>
            <a:ext cx="700560" cy="700560"/>
          </a:xfrm>
          <a:prstGeom prst="rect">
            <a:avLst/>
          </a:prstGeom>
          <a:solidFill>
            <a:srgbClr val="8B7FE8"/>
          </a:solidFill>
          <a:ln w="9525">
            <a:solidFill>
              <a:srgbClr val="D8D2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" name="Shape 57"/>
          <p:cNvSpPr/>
          <p:nvPr/>
        </p:nvSpPr>
        <p:spPr>
          <a:xfrm>
            <a:off x="8869680" y="3276720"/>
            <a:ext cx="700560" cy="700560"/>
          </a:xfrm>
          <a:prstGeom prst="rect">
            <a:avLst/>
          </a:prstGeom>
          <a:solidFill>
            <a:srgbClr val="5FD6B0"/>
          </a:solidFill>
          <a:ln w="9525">
            <a:solidFill>
              <a:srgbClr val="D8D2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Shape 58"/>
          <p:cNvSpPr/>
          <p:nvPr/>
        </p:nvSpPr>
        <p:spPr>
          <a:xfrm>
            <a:off x="9570600" y="3276720"/>
            <a:ext cx="700560" cy="700560"/>
          </a:xfrm>
          <a:prstGeom prst="rect">
            <a:avLst/>
          </a:prstGeom>
          <a:solidFill>
            <a:srgbClr val="5FD6B0"/>
          </a:solidFill>
          <a:ln w="9525">
            <a:solidFill>
              <a:srgbClr val="D8D2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Shape 59"/>
          <p:cNvSpPr/>
          <p:nvPr/>
        </p:nvSpPr>
        <p:spPr>
          <a:xfrm>
            <a:off x="10271880" y="3276720"/>
            <a:ext cx="700560" cy="700560"/>
          </a:xfrm>
          <a:prstGeom prst="rect">
            <a:avLst/>
          </a:prstGeom>
          <a:solidFill>
            <a:srgbClr val="5FD6B0"/>
          </a:solidFill>
          <a:ln w="9525">
            <a:solidFill>
              <a:srgbClr val="D8D2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Shape 60"/>
          <p:cNvSpPr/>
          <p:nvPr/>
        </p:nvSpPr>
        <p:spPr>
          <a:xfrm>
            <a:off x="6766560" y="3977640"/>
            <a:ext cx="700560" cy="7005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Shape 61"/>
          <p:cNvSpPr/>
          <p:nvPr/>
        </p:nvSpPr>
        <p:spPr>
          <a:xfrm>
            <a:off x="7467480" y="3977640"/>
            <a:ext cx="700560" cy="700560"/>
          </a:xfrm>
          <a:prstGeom prst="rect">
            <a:avLst/>
          </a:prstGeom>
          <a:solidFill>
            <a:srgbClr val="5FD6B0"/>
          </a:solidFill>
          <a:ln w="9525">
            <a:solidFill>
              <a:srgbClr val="D8D2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Shape 62"/>
          <p:cNvSpPr/>
          <p:nvPr/>
        </p:nvSpPr>
        <p:spPr>
          <a:xfrm>
            <a:off x="8168760" y="3977640"/>
            <a:ext cx="700560" cy="700560"/>
          </a:xfrm>
          <a:prstGeom prst="rect">
            <a:avLst/>
          </a:prstGeom>
          <a:solidFill>
            <a:srgbClr val="5FD6B0"/>
          </a:solidFill>
          <a:ln w="9525">
            <a:solidFill>
              <a:srgbClr val="D8D2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Shape 63"/>
          <p:cNvSpPr/>
          <p:nvPr/>
        </p:nvSpPr>
        <p:spPr>
          <a:xfrm>
            <a:off x="8869680" y="3977640"/>
            <a:ext cx="700560" cy="700560"/>
          </a:xfrm>
          <a:prstGeom prst="rect">
            <a:avLst/>
          </a:prstGeom>
          <a:solidFill>
            <a:srgbClr val="5FD6B0"/>
          </a:solidFill>
          <a:ln w="9525">
            <a:solidFill>
              <a:srgbClr val="D8D2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Shape 64"/>
          <p:cNvSpPr/>
          <p:nvPr/>
        </p:nvSpPr>
        <p:spPr>
          <a:xfrm>
            <a:off x="9570600" y="3977640"/>
            <a:ext cx="700560" cy="7005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Shape 65"/>
          <p:cNvSpPr/>
          <p:nvPr/>
        </p:nvSpPr>
        <p:spPr>
          <a:xfrm>
            <a:off x="10271880" y="3977640"/>
            <a:ext cx="700560" cy="700560"/>
          </a:xfrm>
          <a:prstGeom prst="rect">
            <a:avLst/>
          </a:prstGeom>
          <a:solidFill>
            <a:srgbClr val="E3FBF3"/>
          </a:solidFill>
          <a:ln w="9525">
            <a:solidFill>
              <a:srgbClr val="D8D2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Shape 66"/>
          <p:cNvSpPr/>
          <p:nvPr/>
        </p:nvSpPr>
        <p:spPr>
          <a:xfrm>
            <a:off x="6766560" y="4678560"/>
            <a:ext cx="700560" cy="700560"/>
          </a:xfrm>
          <a:prstGeom prst="rect">
            <a:avLst/>
          </a:prstGeom>
          <a:solidFill>
            <a:srgbClr val="5FD6B0"/>
          </a:solidFill>
          <a:ln w="9525">
            <a:solidFill>
              <a:srgbClr val="D8D2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Shape 67"/>
          <p:cNvSpPr/>
          <p:nvPr/>
        </p:nvSpPr>
        <p:spPr>
          <a:xfrm>
            <a:off x="7467480" y="4678560"/>
            <a:ext cx="700560" cy="7005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Shape 68"/>
          <p:cNvSpPr/>
          <p:nvPr/>
        </p:nvSpPr>
        <p:spPr>
          <a:xfrm>
            <a:off x="8168760" y="4678560"/>
            <a:ext cx="700560" cy="700560"/>
          </a:xfrm>
          <a:prstGeom prst="rect">
            <a:avLst/>
          </a:prstGeom>
          <a:solidFill>
            <a:srgbClr val="5FD6B0"/>
          </a:solidFill>
          <a:ln w="9525">
            <a:solidFill>
              <a:srgbClr val="D8D2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Shape 69"/>
          <p:cNvSpPr/>
          <p:nvPr/>
        </p:nvSpPr>
        <p:spPr>
          <a:xfrm>
            <a:off x="8869680" y="4678560"/>
            <a:ext cx="700560" cy="7005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Shape 70"/>
          <p:cNvSpPr/>
          <p:nvPr/>
        </p:nvSpPr>
        <p:spPr>
          <a:xfrm>
            <a:off x="9570600" y="4678560"/>
            <a:ext cx="700560" cy="700560"/>
          </a:xfrm>
          <a:prstGeom prst="rect">
            <a:avLst/>
          </a:prstGeom>
          <a:solidFill>
            <a:srgbClr val="5FD6B0"/>
          </a:solidFill>
          <a:ln w="9525">
            <a:solidFill>
              <a:srgbClr val="D8D2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Shape 71"/>
          <p:cNvSpPr/>
          <p:nvPr/>
        </p:nvSpPr>
        <p:spPr>
          <a:xfrm>
            <a:off x="10271880" y="4678560"/>
            <a:ext cx="700560" cy="7005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Shape 72"/>
          <p:cNvSpPr/>
          <p:nvPr/>
        </p:nvSpPr>
        <p:spPr>
          <a:xfrm>
            <a:off x="6766560" y="5379840"/>
            <a:ext cx="700560" cy="7005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Shape 73"/>
          <p:cNvSpPr/>
          <p:nvPr/>
        </p:nvSpPr>
        <p:spPr>
          <a:xfrm>
            <a:off x="7467480" y="5379840"/>
            <a:ext cx="700560" cy="700560"/>
          </a:xfrm>
          <a:prstGeom prst="rect">
            <a:avLst/>
          </a:prstGeom>
          <a:solidFill>
            <a:srgbClr val="E3FBF3"/>
          </a:solidFill>
          <a:ln w="9525">
            <a:solidFill>
              <a:srgbClr val="D8D2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Shape 74"/>
          <p:cNvSpPr/>
          <p:nvPr/>
        </p:nvSpPr>
        <p:spPr>
          <a:xfrm>
            <a:off x="8168760" y="5379840"/>
            <a:ext cx="700560" cy="700560"/>
          </a:xfrm>
          <a:prstGeom prst="rect">
            <a:avLst/>
          </a:prstGeom>
          <a:solidFill>
            <a:srgbClr val="5FD6B0"/>
          </a:solidFill>
          <a:ln w="9525">
            <a:solidFill>
              <a:srgbClr val="D8D2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Shape 75"/>
          <p:cNvSpPr/>
          <p:nvPr/>
        </p:nvSpPr>
        <p:spPr>
          <a:xfrm>
            <a:off x="8869680" y="5379840"/>
            <a:ext cx="700560" cy="700560"/>
          </a:xfrm>
          <a:prstGeom prst="rect">
            <a:avLst/>
          </a:prstGeom>
          <a:solidFill>
            <a:srgbClr val="E3FBF3"/>
          </a:solidFill>
          <a:ln w="9525">
            <a:solidFill>
              <a:srgbClr val="D8D2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Shape 76"/>
          <p:cNvSpPr/>
          <p:nvPr/>
        </p:nvSpPr>
        <p:spPr>
          <a:xfrm>
            <a:off x="9570600" y="5379840"/>
            <a:ext cx="700560" cy="7005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Shape 77"/>
          <p:cNvSpPr/>
          <p:nvPr/>
        </p:nvSpPr>
        <p:spPr>
          <a:xfrm>
            <a:off x="10271880" y="5379840"/>
            <a:ext cx="700560" cy="700560"/>
          </a:xfrm>
          <a:prstGeom prst="rect">
            <a:avLst/>
          </a:prstGeom>
          <a:solidFill>
            <a:srgbClr val="5FD6B0"/>
          </a:solidFill>
          <a:ln w="9525">
            <a:solidFill>
              <a:srgbClr val="D8D2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 78"/>
          <p:cNvSpPr/>
          <p:nvPr/>
        </p:nvSpPr>
        <p:spPr>
          <a:xfrm>
            <a:off x="6766560" y="6217920"/>
            <a:ext cx="42058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i="1" u="none" strike="noStrike">
                <a:solidFill>
                  <a:srgbClr val="685F8F"/>
                </a:solidFill>
                <a:effectLst/>
                <a:uFillTx/>
                <a:latin typeface="Calibri"/>
                <a:ea typeface="Calibri"/>
              </a:rPr>
              <a:t>Moves any distance, in every direction — rows, columns, AND diagonals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 79"/>
          <p:cNvSpPr/>
          <p:nvPr/>
        </p:nvSpPr>
        <p:spPr>
          <a:xfrm>
            <a:off x="1188720" y="6858000"/>
            <a:ext cx="98110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6B5FD1"/>
                </a:solidFill>
                <a:effectLst/>
                <a:uFillTx/>
                <a:latin typeface="Calibri"/>
                <a:ea typeface="Calibri"/>
              </a:rPr>
              <a:t>Mathematics moves like the queen, not the king: </a:t>
            </a:r>
            <a:r>
              <a:rPr lang="en-US" sz="1300" b="0" u="none" strike="noStrike">
                <a:solidFill>
                  <a:srgbClr val="2D2A4A"/>
                </a:solidFill>
                <a:effectLst/>
                <a:uFillTx/>
                <a:latin typeface="Calibri"/>
                <a:ea typeface="Calibri"/>
              </a:rPr>
              <a:t>it doesn’t stay confined to one small corner of knowledge. It reaches into biology, art, medicine, economics, and computer science alike — in every direction, as far as it needs to.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80"/>
          <p:cNvSpPr/>
          <p:nvPr/>
        </p:nvSpPr>
        <p:spPr>
          <a:xfrm>
            <a:off x="457200" y="6446520"/>
            <a:ext cx="8686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685F8F"/>
                </a:solidFill>
                <a:effectLst/>
                <a:uFillTx/>
                <a:latin typeface="Calibri"/>
                <a:ea typeface="Calibri"/>
              </a:rPr>
              <a:t>CodeByPaxto: The AI &amp; ML Playground  ·  Hafiz Waseem Ahmed (Paxto)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 81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85F8F"/>
                </a:solidFill>
                <a:effectLst/>
                <a:uFillTx/>
                <a:latin typeface="Calibri"/>
                <a:ea typeface="Calibri"/>
              </a:rPr>
              <a:t>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Shape 0"/>
          <p:cNvSpPr/>
          <p:nvPr/>
        </p:nvSpPr>
        <p:spPr>
          <a:xfrm>
            <a:off x="457200" y="457200"/>
            <a:ext cx="639720" cy="639720"/>
          </a:xfrm>
          <a:prstGeom prst="ellipse">
            <a:avLst/>
          </a:prstGeom>
          <a:solidFill>
            <a:srgbClr val="8B7F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76" name="Image 0" descr="preencoded.png"/>
          <p:cNvPicPr/>
          <p:nvPr/>
        </p:nvPicPr>
        <p:blipFill>
          <a:blip r:embed="rId1"/>
          <a:stretch/>
        </p:blipFill>
        <p:spPr>
          <a:xfrm>
            <a:off x="548640" y="54864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7" name="Text 1"/>
          <p:cNvSpPr/>
          <p:nvPr/>
        </p:nvSpPr>
        <p:spPr>
          <a:xfrm>
            <a:off x="1280160" y="45720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2D2A4A"/>
                </a:solidFill>
                <a:effectLst/>
                <a:uFillTx/>
                <a:latin typeface="Century Gothic"/>
                <a:ea typeface="Century Gothic"/>
              </a:rPr>
              <a:t>Math Hiding in Plain Sight, Across Every Field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Shape 2"/>
          <p:cNvSpPr/>
          <p:nvPr/>
        </p:nvSpPr>
        <p:spPr>
          <a:xfrm>
            <a:off x="457200" y="1206720"/>
            <a:ext cx="11274480" cy="360"/>
          </a:xfrm>
          <a:prstGeom prst="line">
            <a:avLst/>
          </a:prstGeom>
          <a:ln w="19050">
            <a:solidFill>
              <a:srgbClr val="D8D2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Shape 3"/>
          <p:cNvSpPr/>
          <p:nvPr/>
        </p:nvSpPr>
        <p:spPr>
          <a:xfrm>
            <a:off x="457200" y="1508760"/>
            <a:ext cx="2653560" cy="4891680"/>
          </a:xfrm>
          <a:prstGeom prst="roundRect">
            <a:avLst>
              <a:gd name="adj" fmla="val 5512"/>
            </a:avLst>
          </a:prstGeom>
          <a:solidFill>
            <a:srgbClr val="EDE9FE"/>
          </a:solidFill>
          <a:ln w="12700">
            <a:solidFill>
              <a:srgbClr val="D8D2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Shape 4"/>
          <p:cNvSpPr/>
          <p:nvPr/>
        </p:nvSpPr>
        <p:spPr>
          <a:xfrm>
            <a:off x="1509840" y="2094120"/>
            <a:ext cx="548280" cy="548280"/>
          </a:xfrm>
          <a:prstGeom prst="ellipse">
            <a:avLst/>
          </a:prstGeom>
          <a:solidFill>
            <a:srgbClr val="8B7F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81" name="Image 1" descr="preencoded.png"/>
          <p:cNvPicPr/>
          <p:nvPr/>
        </p:nvPicPr>
        <p:blipFill>
          <a:blip r:embed="rId2"/>
          <a:stretch/>
        </p:blipFill>
        <p:spPr>
          <a:xfrm>
            <a:off x="1592280" y="2176200"/>
            <a:ext cx="383760" cy="383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2" name="Text 5"/>
          <p:cNvSpPr/>
          <p:nvPr/>
        </p:nvSpPr>
        <p:spPr>
          <a:xfrm>
            <a:off x="548640" y="2715840"/>
            <a:ext cx="24706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2D2A4A"/>
                </a:solidFill>
                <a:effectLst/>
                <a:uFillTx/>
                <a:latin typeface="Century Gothic"/>
                <a:ea typeface="Century Gothic"/>
              </a:rPr>
              <a:t>Biology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 6"/>
          <p:cNvSpPr/>
          <p:nvPr/>
        </p:nvSpPr>
        <p:spPr>
          <a:xfrm>
            <a:off x="603360" y="3099960"/>
            <a:ext cx="2361240" cy="315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2100" b="0" u="none" strike="noStrike">
                <a:solidFill>
                  <a:srgbClr val="685F8F"/>
                </a:solidFill>
                <a:effectLst/>
                <a:uFillTx/>
                <a:latin typeface="Calibri"/>
                <a:ea typeface="Calibri"/>
              </a:rPr>
              <a:t>Population growth models, genetics ratios, and the statistics behind every clinical trial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Shape 7"/>
          <p:cNvSpPr/>
          <p:nvPr/>
        </p:nvSpPr>
        <p:spPr>
          <a:xfrm>
            <a:off x="3330720" y="1508760"/>
            <a:ext cx="2653560" cy="4891680"/>
          </a:xfrm>
          <a:prstGeom prst="roundRect">
            <a:avLst>
              <a:gd name="adj" fmla="val 5512"/>
            </a:avLst>
          </a:prstGeom>
          <a:solidFill>
            <a:srgbClr val="FFF6DC"/>
          </a:solidFill>
          <a:ln w="12700">
            <a:solidFill>
              <a:srgbClr val="D8D2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Shape 8"/>
          <p:cNvSpPr/>
          <p:nvPr/>
        </p:nvSpPr>
        <p:spPr>
          <a:xfrm>
            <a:off x="4383360" y="2094120"/>
            <a:ext cx="548280" cy="548280"/>
          </a:xfrm>
          <a:prstGeom prst="ellipse">
            <a:avLst/>
          </a:prstGeom>
          <a:solidFill>
            <a:srgbClr val="FFC9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86" name="Image 2" descr="preencoded.png"/>
          <p:cNvPicPr/>
          <p:nvPr/>
        </p:nvPicPr>
        <p:blipFill>
          <a:blip r:embed="rId3"/>
          <a:stretch/>
        </p:blipFill>
        <p:spPr>
          <a:xfrm>
            <a:off x="4465800" y="2176200"/>
            <a:ext cx="383760" cy="383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7" name="Text 9"/>
          <p:cNvSpPr/>
          <p:nvPr/>
        </p:nvSpPr>
        <p:spPr>
          <a:xfrm>
            <a:off x="3422160" y="2715840"/>
            <a:ext cx="24706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2D2A4A"/>
                </a:solidFill>
                <a:effectLst/>
                <a:uFillTx/>
                <a:latin typeface="Century Gothic"/>
                <a:ea typeface="Century Gothic"/>
              </a:rPr>
              <a:t>Art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 10"/>
          <p:cNvSpPr/>
          <p:nvPr/>
        </p:nvSpPr>
        <p:spPr>
          <a:xfrm>
            <a:off x="3476880" y="3099960"/>
            <a:ext cx="2361240" cy="315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2100" b="0" u="none" strike="noStrike">
                <a:solidFill>
                  <a:srgbClr val="685F8F"/>
                </a:solidFill>
                <a:effectLst/>
                <a:uFillTx/>
                <a:latin typeface="Calibri"/>
                <a:ea typeface="Calibri"/>
              </a:rPr>
              <a:t>The golden ratio and symmetry have quietly guided composition for thousands of years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Shape 11"/>
          <p:cNvSpPr/>
          <p:nvPr/>
        </p:nvSpPr>
        <p:spPr>
          <a:xfrm>
            <a:off x="6204240" y="1508760"/>
            <a:ext cx="2653560" cy="4891680"/>
          </a:xfrm>
          <a:prstGeom prst="roundRect">
            <a:avLst>
              <a:gd name="adj" fmla="val 5512"/>
            </a:avLst>
          </a:prstGeom>
          <a:solidFill>
            <a:srgbClr val="E3FBF3"/>
          </a:solidFill>
          <a:ln w="12700">
            <a:solidFill>
              <a:srgbClr val="D8D2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Shape 12"/>
          <p:cNvSpPr/>
          <p:nvPr/>
        </p:nvSpPr>
        <p:spPr>
          <a:xfrm>
            <a:off x="7256880" y="2094120"/>
            <a:ext cx="548280" cy="548280"/>
          </a:xfrm>
          <a:prstGeom prst="ellipse">
            <a:avLst/>
          </a:prstGeom>
          <a:solidFill>
            <a:srgbClr val="5FD6B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91" name="Image 3" descr="preencoded.png"/>
          <p:cNvPicPr/>
          <p:nvPr/>
        </p:nvPicPr>
        <p:blipFill>
          <a:blip r:embed="rId4"/>
          <a:stretch/>
        </p:blipFill>
        <p:spPr>
          <a:xfrm>
            <a:off x="7339320" y="2176200"/>
            <a:ext cx="383760" cy="383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2" name="Text 13"/>
          <p:cNvSpPr/>
          <p:nvPr/>
        </p:nvSpPr>
        <p:spPr>
          <a:xfrm>
            <a:off x="6295680" y="2715840"/>
            <a:ext cx="24706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2D2A4A"/>
                </a:solidFill>
                <a:effectLst/>
                <a:uFillTx/>
                <a:latin typeface="Century Gothic"/>
                <a:ea typeface="Century Gothic"/>
              </a:rPr>
              <a:t>Music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 14"/>
          <p:cNvSpPr/>
          <p:nvPr/>
        </p:nvSpPr>
        <p:spPr>
          <a:xfrm>
            <a:off x="6350400" y="3099960"/>
            <a:ext cx="2361240" cy="315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2100" b="0" u="none" strike="noStrike">
                <a:solidFill>
                  <a:srgbClr val="685F8F"/>
                </a:solidFill>
                <a:effectLst/>
                <a:uFillTx/>
                <a:latin typeface="Calibri"/>
                <a:ea typeface="Calibri"/>
              </a:rPr>
              <a:t>Musical scales and harmony are built on precise mathematical frequency ratios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Shape 15"/>
          <p:cNvSpPr/>
          <p:nvPr/>
        </p:nvSpPr>
        <p:spPr>
          <a:xfrm>
            <a:off x="9077760" y="1508760"/>
            <a:ext cx="2653560" cy="4891680"/>
          </a:xfrm>
          <a:prstGeom prst="roundRect">
            <a:avLst>
              <a:gd name="adj" fmla="val 5512"/>
            </a:avLst>
          </a:prstGeom>
          <a:solidFill>
            <a:srgbClr val="EDE9FE"/>
          </a:solidFill>
          <a:ln w="12700">
            <a:solidFill>
              <a:srgbClr val="D8D2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Shape 16"/>
          <p:cNvSpPr/>
          <p:nvPr/>
        </p:nvSpPr>
        <p:spPr>
          <a:xfrm>
            <a:off x="10130400" y="2094120"/>
            <a:ext cx="548280" cy="548280"/>
          </a:xfrm>
          <a:prstGeom prst="ellipse">
            <a:avLst/>
          </a:prstGeom>
          <a:solidFill>
            <a:srgbClr val="FF8FB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96" name="Image 4" descr="preencoded.png"/>
          <p:cNvPicPr/>
          <p:nvPr/>
        </p:nvPicPr>
        <p:blipFill>
          <a:blip r:embed="rId5"/>
          <a:stretch/>
        </p:blipFill>
        <p:spPr>
          <a:xfrm>
            <a:off x="10212840" y="2176200"/>
            <a:ext cx="383760" cy="383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7" name="Text 17"/>
          <p:cNvSpPr/>
          <p:nvPr/>
        </p:nvSpPr>
        <p:spPr>
          <a:xfrm>
            <a:off x="9169200" y="2715840"/>
            <a:ext cx="24706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2D2A4A"/>
                </a:solidFill>
                <a:effectLst/>
                <a:uFillTx/>
                <a:latin typeface="Century Gothic"/>
                <a:ea typeface="Century Gothic"/>
              </a:rPr>
              <a:t>Economics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 18"/>
          <p:cNvSpPr/>
          <p:nvPr/>
        </p:nvSpPr>
        <p:spPr>
          <a:xfrm>
            <a:off x="9223920" y="3099960"/>
            <a:ext cx="2361240" cy="315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2100" b="0" u="none" strike="noStrike">
                <a:solidFill>
                  <a:srgbClr val="685F8F"/>
                </a:solidFill>
                <a:effectLst/>
                <a:uFillTx/>
                <a:latin typeface="Calibri"/>
                <a:ea typeface="Calibri"/>
              </a:rPr>
              <a:t>Markets, forecasting, and risk are modeled almost entirely through statistics and probability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 19"/>
          <p:cNvSpPr/>
          <p:nvPr/>
        </p:nvSpPr>
        <p:spPr>
          <a:xfrm>
            <a:off x="457200" y="6446520"/>
            <a:ext cx="8686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685F8F"/>
                </a:solidFill>
                <a:effectLst/>
                <a:uFillTx/>
                <a:latin typeface="Calibri"/>
                <a:ea typeface="Calibri"/>
              </a:rPr>
              <a:t>CodeByPaxto: The AI &amp; ML Playground  ·  Hafiz Waseem Ahmed (Paxto)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 20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85F8F"/>
                </a:solidFill>
                <a:effectLst/>
                <a:uFillTx/>
                <a:latin typeface="Calibri"/>
                <a:ea typeface="Calibri"/>
              </a:rPr>
              <a:t>7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Shape 0"/>
          <p:cNvSpPr/>
          <p:nvPr/>
        </p:nvSpPr>
        <p:spPr>
          <a:xfrm>
            <a:off x="457200" y="457200"/>
            <a:ext cx="639720" cy="639720"/>
          </a:xfrm>
          <a:prstGeom prst="ellipse">
            <a:avLst/>
          </a:prstGeom>
          <a:solidFill>
            <a:srgbClr val="8B7F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02" name="Image 0" descr="preencoded.png"/>
          <p:cNvPicPr/>
          <p:nvPr/>
        </p:nvPicPr>
        <p:blipFill>
          <a:blip r:embed="rId1"/>
          <a:stretch/>
        </p:blipFill>
        <p:spPr>
          <a:xfrm>
            <a:off x="548640" y="54864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3" name="Text 1"/>
          <p:cNvSpPr/>
          <p:nvPr/>
        </p:nvSpPr>
        <p:spPr>
          <a:xfrm>
            <a:off x="1280160" y="45720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2D2A4A"/>
                </a:solidFill>
                <a:effectLst/>
                <a:uFillTx/>
                <a:latin typeface="Century Gothic"/>
                <a:ea typeface="Century Gothic"/>
              </a:rPr>
              <a:t>You Don’t Need to Be a "Math Person"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Shape 2"/>
          <p:cNvSpPr/>
          <p:nvPr/>
        </p:nvSpPr>
        <p:spPr>
          <a:xfrm>
            <a:off x="457200" y="1206720"/>
            <a:ext cx="11274480" cy="360"/>
          </a:xfrm>
          <a:prstGeom prst="line">
            <a:avLst/>
          </a:prstGeom>
          <a:ln w="19050">
            <a:solidFill>
              <a:srgbClr val="D8D2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Shape 3"/>
          <p:cNvSpPr/>
          <p:nvPr/>
        </p:nvSpPr>
        <p:spPr>
          <a:xfrm>
            <a:off x="457200" y="1554480"/>
            <a:ext cx="3657240" cy="4663080"/>
          </a:xfrm>
          <a:prstGeom prst="roundRect">
            <a:avLst>
              <a:gd name="adj" fmla="val 4500"/>
            </a:avLst>
          </a:prstGeom>
          <a:solidFill>
            <a:srgbClr val="EDE9FE"/>
          </a:solidFill>
          <a:ln w="12700">
            <a:solidFill>
              <a:srgbClr val="D8D2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Shape 4"/>
          <p:cNvSpPr/>
          <p:nvPr/>
        </p:nvSpPr>
        <p:spPr>
          <a:xfrm>
            <a:off x="1508760" y="2194560"/>
            <a:ext cx="1554120" cy="1554120"/>
          </a:xfrm>
          <a:prstGeom prst="ellipse">
            <a:avLst/>
          </a:prstGeom>
          <a:solidFill>
            <a:srgbClr val="8B7F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07" name="Image 1" descr="preencoded.png"/>
          <p:cNvPicPr/>
          <p:nvPr/>
        </p:nvPicPr>
        <p:blipFill>
          <a:blip r:embed="rId2"/>
          <a:stretch/>
        </p:blipFill>
        <p:spPr>
          <a:xfrm>
            <a:off x="1746360" y="2423160"/>
            <a:ext cx="1087920" cy="1087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8" name="Text 5"/>
          <p:cNvSpPr/>
          <p:nvPr/>
        </p:nvSpPr>
        <p:spPr>
          <a:xfrm>
            <a:off x="640080" y="3977640"/>
            <a:ext cx="329148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2D2A4A"/>
                </a:solidFill>
                <a:effectLst/>
                <a:uFillTx/>
                <a:latin typeface="Century Gothic"/>
                <a:ea typeface="Century Gothic"/>
              </a:rPr>
              <a:t>Intuition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2D2A4A"/>
                </a:solidFill>
                <a:effectLst/>
                <a:uFillTx/>
                <a:latin typeface="Century Gothic"/>
                <a:ea typeface="Century Gothic"/>
              </a:rPr>
              <a:t>over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2D2A4A"/>
                </a:solidFill>
                <a:effectLst/>
                <a:uFillTx/>
                <a:latin typeface="Century Gothic"/>
                <a:ea typeface="Century Gothic"/>
              </a:rPr>
              <a:t>proofs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 6"/>
          <p:cNvSpPr/>
          <p:nvPr/>
        </p:nvSpPr>
        <p:spPr>
          <a:xfrm>
            <a:off x="4572000" y="1737360"/>
            <a:ext cx="7131960" cy="411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28600" indent="-228600" defTabSz="914400">
              <a:lnSpc>
                <a:spcPct val="120000"/>
              </a:lnSpc>
              <a:spcAft>
                <a:spcPts val="1400"/>
              </a:spcAft>
              <a:buClr>
                <a:srgbClr val="2D2A4A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2D2A4A"/>
                </a:solidFill>
                <a:effectLst/>
                <a:uFillTx/>
                <a:latin typeface="Calibri"/>
                <a:ea typeface="Calibri"/>
              </a:rPr>
              <a:t>"Math person" is a myth — it usually just means someone who’s had more repetition with the notation, not someone with a fundamentally different brain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20000"/>
              </a:lnSpc>
              <a:spcAft>
                <a:spcPts val="1400"/>
              </a:spcAft>
              <a:buClr>
                <a:srgbClr val="2D2A4A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2D2A4A"/>
                </a:solidFill>
                <a:effectLst/>
                <a:uFillTx/>
                <a:latin typeface="Calibri"/>
                <a:ea typeface="Calibri"/>
              </a:rPr>
              <a:t>This course will never ask you to prove a theorem, derive a formula from scratch, or memorize a page of equations — that’s not the goal here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20000"/>
              </a:lnSpc>
              <a:spcAft>
                <a:spcPts val="1400"/>
              </a:spcAft>
              <a:buClr>
                <a:srgbClr val="2D2A4A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2D2A4A"/>
                </a:solidFill>
                <a:effectLst/>
                <a:uFillTx/>
                <a:latin typeface="Calibri"/>
                <a:ea typeface="Calibri"/>
              </a:rPr>
              <a:t>The goal is intuition: knowing what a concept means, when to reach for it, and what a tool is actually doing when your code calls it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20000"/>
              </a:lnSpc>
              <a:spcAft>
                <a:spcPts val="1400"/>
              </a:spcAft>
              <a:buClr>
                <a:srgbClr val="2D2A4A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2D2A4A"/>
                </a:solidFill>
                <a:effectLst/>
                <a:uFillTx/>
                <a:latin typeface="Calibri"/>
                <a:ea typeface="Calibri"/>
              </a:rPr>
              <a:t>If you can already read a bar chart and say "that one’s bigger," you already have more mathematical instinct than you’re giving yourself credit for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 7"/>
          <p:cNvSpPr/>
          <p:nvPr/>
        </p:nvSpPr>
        <p:spPr>
          <a:xfrm>
            <a:off x="457200" y="6446520"/>
            <a:ext cx="8686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685F8F"/>
                </a:solidFill>
                <a:effectLst/>
                <a:uFillTx/>
                <a:latin typeface="Calibri"/>
                <a:ea typeface="Calibri"/>
              </a:rPr>
              <a:t>CodeByPaxto: The AI &amp; ML Playground  ·  Hafiz Waseem Ahmed (Paxto)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Text 8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85F8F"/>
                </a:solidFill>
                <a:effectLst/>
                <a:uFillTx/>
                <a:latin typeface="Calibri"/>
                <a:ea typeface="Calibri"/>
              </a:rPr>
              <a:t>8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Shape 0"/>
          <p:cNvSpPr/>
          <p:nvPr/>
        </p:nvSpPr>
        <p:spPr>
          <a:xfrm>
            <a:off x="457200" y="457200"/>
            <a:ext cx="639720" cy="639720"/>
          </a:xfrm>
          <a:prstGeom prst="ellipse">
            <a:avLst/>
          </a:prstGeom>
          <a:solidFill>
            <a:srgbClr val="8B7F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13" name="Image 0" descr="preencoded.png"/>
          <p:cNvPicPr/>
          <p:nvPr/>
        </p:nvPicPr>
        <p:blipFill>
          <a:blip r:embed="rId1"/>
          <a:stretch/>
        </p:blipFill>
        <p:spPr>
          <a:xfrm>
            <a:off x="548640" y="54864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4" name="Text 1"/>
          <p:cNvSpPr/>
          <p:nvPr/>
        </p:nvSpPr>
        <p:spPr>
          <a:xfrm>
            <a:off x="1280160" y="45720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2D2A4A"/>
                </a:solidFill>
                <a:effectLst/>
                <a:uFillTx/>
                <a:latin typeface="Century Gothic"/>
                <a:ea typeface="Century Gothic"/>
              </a:rPr>
              <a:t>Math You Already Do, Without Realizing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Shape 2"/>
          <p:cNvSpPr/>
          <p:nvPr/>
        </p:nvSpPr>
        <p:spPr>
          <a:xfrm>
            <a:off x="457200" y="1206720"/>
            <a:ext cx="11274480" cy="360"/>
          </a:xfrm>
          <a:prstGeom prst="line">
            <a:avLst/>
          </a:prstGeom>
          <a:ln w="19050">
            <a:solidFill>
              <a:srgbClr val="D8D2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Shape 3"/>
          <p:cNvSpPr/>
          <p:nvPr/>
        </p:nvSpPr>
        <p:spPr>
          <a:xfrm>
            <a:off x="457200" y="1508760"/>
            <a:ext cx="3611520" cy="4891680"/>
          </a:xfrm>
          <a:prstGeom prst="roundRect">
            <a:avLst>
              <a:gd name="adj" fmla="val 4051"/>
            </a:avLst>
          </a:prstGeom>
          <a:solidFill>
            <a:srgbClr val="EDE9FE"/>
          </a:solidFill>
          <a:ln w="12700">
            <a:solidFill>
              <a:srgbClr val="D8D2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Shape 4"/>
          <p:cNvSpPr/>
          <p:nvPr/>
        </p:nvSpPr>
        <p:spPr>
          <a:xfrm>
            <a:off x="1989000" y="2094120"/>
            <a:ext cx="548280" cy="548280"/>
          </a:xfrm>
          <a:prstGeom prst="ellipse">
            <a:avLst/>
          </a:prstGeom>
          <a:solidFill>
            <a:srgbClr val="8B7F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18" name="Image 1" descr="preencoded.png"/>
          <p:cNvPicPr/>
          <p:nvPr/>
        </p:nvPicPr>
        <p:blipFill>
          <a:blip r:embed="rId2"/>
          <a:stretch/>
        </p:blipFill>
        <p:spPr>
          <a:xfrm>
            <a:off x="2071080" y="2176200"/>
            <a:ext cx="383760" cy="383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9" name="Text 5"/>
          <p:cNvSpPr/>
          <p:nvPr/>
        </p:nvSpPr>
        <p:spPr>
          <a:xfrm>
            <a:off x="548640" y="2715840"/>
            <a:ext cx="3428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2D2A4A"/>
                </a:solidFill>
                <a:effectLst/>
                <a:uFillTx/>
                <a:latin typeface="Century Gothic"/>
                <a:ea typeface="Century Gothic"/>
              </a:rPr>
              <a:t>Budgeting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Text 6"/>
          <p:cNvSpPr/>
          <p:nvPr/>
        </p:nvSpPr>
        <p:spPr>
          <a:xfrm>
            <a:off x="603360" y="3099960"/>
            <a:ext cx="3318840" cy="315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2100" b="0" u="none" strike="noStrike">
                <a:solidFill>
                  <a:srgbClr val="685F8F"/>
                </a:solidFill>
                <a:effectLst/>
                <a:uFillTx/>
                <a:latin typeface="Calibri"/>
                <a:ea typeface="Calibri"/>
              </a:rPr>
              <a:t>Comparing prices, calculating a discount, splitting a bill — arithmetic and percentages, already automatic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Shape 7"/>
          <p:cNvSpPr/>
          <p:nvPr/>
        </p:nvSpPr>
        <p:spPr>
          <a:xfrm>
            <a:off x="4288680" y="1508760"/>
            <a:ext cx="3611520" cy="4891680"/>
          </a:xfrm>
          <a:prstGeom prst="roundRect">
            <a:avLst>
              <a:gd name="adj" fmla="val 4051"/>
            </a:avLst>
          </a:prstGeom>
          <a:solidFill>
            <a:srgbClr val="FFF6DC"/>
          </a:solidFill>
          <a:ln w="12700">
            <a:solidFill>
              <a:srgbClr val="D8D2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Shape 8"/>
          <p:cNvSpPr/>
          <p:nvPr/>
        </p:nvSpPr>
        <p:spPr>
          <a:xfrm>
            <a:off x="5820120" y="2094120"/>
            <a:ext cx="548280" cy="548280"/>
          </a:xfrm>
          <a:prstGeom prst="ellipse">
            <a:avLst/>
          </a:prstGeom>
          <a:solidFill>
            <a:srgbClr val="FFC9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23" name="Image 2" descr="preencoded.png"/>
          <p:cNvPicPr/>
          <p:nvPr/>
        </p:nvPicPr>
        <p:blipFill>
          <a:blip r:embed="rId3"/>
          <a:stretch/>
        </p:blipFill>
        <p:spPr>
          <a:xfrm>
            <a:off x="5902560" y="2176200"/>
            <a:ext cx="383760" cy="383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4" name="Text 9"/>
          <p:cNvSpPr/>
          <p:nvPr/>
        </p:nvSpPr>
        <p:spPr>
          <a:xfrm>
            <a:off x="4380120" y="2715840"/>
            <a:ext cx="3428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2D2A4A"/>
                </a:solidFill>
                <a:effectLst/>
                <a:uFillTx/>
                <a:latin typeface="Century Gothic"/>
                <a:ea typeface="Century Gothic"/>
              </a:rPr>
              <a:t>Judging Risk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Text 10"/>
          <p:cNvSpPr/>
          <p:nvPr/>
        </p:nvSpPr>
        <p:spPr>
          <a:xfrm>
            <a:off x="4434840" y="3099960"/>
            <a:ext cx="3318840" cy="315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2100" b="0" u="none" strike="noStrike">
                <a:solidFill>
                  <a:srgbClr val="685F8F"/>
                </a:solidFill>
                <a:effectLst/>
                <a:uFillTx/>
                <a:latin typeface="Calibri"/>
                <a:ea typeface="Calibri"/>
              </a:rPr>
              <a:t>"It probably won’t rain today" is an informal probability estimate, built from experience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Shape 11"/>
          <p:cNvSpPr/>
          <p:nvPr/>
        </p:nvSpPr>
        <p:spPr>
          <a:xfrm>
            <a:off x="8119800" y="1508760"/>
            <a:ext cx="3611520" cy="4891680"/>
          </a:xfrm>
          <a:prstGeom prst="roundRect">
            <a:avLst>
              <a:gd name="adj" fmla="val 4051"/>
            </a:avLst>
          </a:prstGeom>
          <a:solidFill>
            <a:srgbClr val="E3FBF3"/>
          </a:solidFill>
          <a:ln w="12700">
            <a:solidFill>
              <a:srgbClr val="D8D2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Shape 12"/>
          <p:cNvSpPr/>
          <p:nvPr/>
        </p:nvSpPr>
        <p:spPr>
          <a:xfrm>
            <a:off x="9651600" y="2094120"/>
            <a:ext cx="548280" cy="548280"/>
          </a:xfrm>
          <a:prstGeom prst="ellipse">
            <a:avLst/>
          </a:prstGeom>
          <a:solidFill>
            <a:srgbClr val="5FD6B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28" name="Image 3" descr="preencoded.png"/>
          <p:cNvPicPr/>
          <p:nvPr/>
        </p:nvPicPr>
        <p:blipFill>
          <a:blip r:embed="rId4"/>
          <a:stretch/>
        </p:blipFill>
        <p:spPr>
          <a:xfrm>
            <a:off x="9733680" y="2176200"/>
            <a:ext cx="383760" cy="383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9" name="Text 13"/>
          <p:cNvSpPr/>
          <p:nvPr/>
        </p:nvSpPr>
        <p:spPr>
          <a:xfrm>
            <a:off x="8211240" y="2715840"/>
            <a:ext cx="3428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2D2A4A"/>
                </a:solidFill>
                <a:effectLst/>
                <a:uFillTx/>
                <a:latin typeface="Century Gothic"/>
                <a:ea typeface="Century Gothic"/>
              </a:rPr>
              <a:t>Spotting Trends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Text 14"/>
          <p:cNvSpPr/>
          <p:nvPr/>
        </p:nvSpPr>
        <p:spPr>
          <a:xfrm>
            <a:off x="8266320" y="3099960"/>
            <a:ext cx="3318840" cy="315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2100" b="0" u="none" strike="noStrike">
                <a:solidFill>
                  <a:srgbClr val="685F8F"/>
                </a:solidFill>
                <a:effectLst/>
                <a:uFillTx/>
                <a:latin typeface="Calibri"/>
                <a:ea typeface="Calibri"/>
              </a:rPr>
              <a:t>Noticing your electricity bill "has been going up lately" is you doing statistics, casually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Text 15"/>
          <p:cNvSpPr/>
          <p:nvPr/>
        </p:nvSpPr>
        <p:spPr>
          <a:xfrm>
            <a:off x="457200" y="6446520"/>
            <a:ext cx="8686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685F8F"/>
                </a:solidFill>
                <a:effectLst/>
                <a:uFillTx/>
                <a:latin typeface="Calibri"/>
                <a:ea typeface="Calibri"/>
              </a:rPr>
              <a:t>CodeByPaxto: The AI &amp; ML Playground  ·  Hafiz Waseem Ahmed (Paxto)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Text 16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85F8F"/>
                </a:solidFill>
                <a:effectLst/>
                <a:uFillTx/>
                <a:latin typeface="Calibri"/>
                <a:ea typeface="Calibri"/>
              </a:rPr>
              <a:t>9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Shape 0"/>
          <p:cNvSpPr/>
          <p:nvPr/>
        </p:nvSpPr>
        <p:spPr>
          <a:xfrm>
            <a:off x="457200" y="457200"/>
            <a:ext cx="639720" cy="639720"/>
          </a:xfrm>
          <a:prstGeom prst="ellipse">
            <a:avLst/>
          </a:prstGeom>
          <a:solidFill>
            <a:srgbClr val="8B7F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34" name="Image 0" descr="preencoded.png"/>
          <p:cNvPicPr/>
          <p:nvPr/>
        </p:nvPicPr>
        <p:blipFill>
          <a:blip r:embed="rId1"/>
          <a:stretch/>
        </p:blipFill>
        <p:spPr>
          <a:xfrm>
            <a:off x="548640" y="54864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5" name="Text 1"/>
          <p:cNvSpPr/>
          <p:nvPr/>
        </p:nvSpPr>
        <p:spPr>
          <a:xfrm>
            <a:off x="1280160" y="45720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2D2A4A"/>
                </a:solidFill>
                <a:effectLst/>
                <a:uFillTx/>
                <a:latin typeface="Century Gothic"/>
                <a:ea typeface="Century Gothic"/>
              </a:rPr>
              <a:t>From Raw Data to a Working Model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Shape 2"/>
          <p:cNvSpPr/>
          <p:nvPr/>
        </p:nvSpPr>
        <p:spPr>
          <a:xfrm>
            <a:off x="457200" y="1206720"/>
            <a:ext cx="11274480" cy="360"/>
          </a:xfrm>
          <a:prstGeom prst="line">
            <a:avLst/>
          </a:prstGeom>
          <a:ln w="19050">
            <a:solidFill>
              <a:srgbClr val="D8D2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Shape 3"/>
          <p:cNvSpPr/>
          <p:nvPr/>
        </p:nvSpPr>
        <p:spPr>
          <a:xfrm>
            <a:off x="457200" y="1965960"/>
            <a:ext cx="1998360" cy="3291480"/>
          </a:xfrm>
          <a:prstGeom prst="roundRect">
            <a:avLst>
              <a:gd name="adj" fmla="val 6404"/>
            </a:avLst>
          </a:prstGeom>
          <a:solidFill>
            <a:srgbClr val="FFFFFF"/>
          </a:solidFill>
          <a:ln w="12700">
            <a:solidFill>
              <a:srgbClr val="D8D2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Shape 4"/>
          <p:cNvSpPr/>
          <p:nvPr/>
        </p:nvSpPr>
        <p:spPr>
          <a:xfrm>
            <a:off x="1136520" y="2286000"/>
            <a:ext cx="639720" cy="639720"/>
          </a:xfrm>
          <a:prstGeom prst="ellipse">
            <a:avLst/>
          </a:prstGeom>
          <a:solidFill>
            <a:srgbClr val="685F8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39" name="Image 1" descr="preencoded.png"/>
          <p:cNvPicPr/>
          <p:nvPr/>
        </p:nvPicPr>
        <p:blipFill>
          <a:blip r:embed="rId2"/>
          <a:stretch/>
        </p:blipFill>
        <p:spPr>
          <a:xfrm>
            <a:off x="1237320" y="2386440"/>
            <a:ext cx="438480" cy="438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0" name="Text 5"/>
          <p:cNvSpPr/>
          <p:nvPr/>
        </p:nvSpPr>
        <p:spPr>
          <a:xfrm>
            <a:off x="530280" y="3108960"/>
            <a:ext cx="18522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2D2A4A"/>
                </a:solidFill>
                <a:effectLst/>
                <a:uFillTx/>
                <a:latin typeface="Century Gothic"/>
                <a:ea typeface="Century Gothic"/>
              </a:rPr>
              <a:t>Raw Data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Text 6"/>
          <p:cNvSpPr/>
          <p:nvPr/>
        </p:nvSpPr>
        <p:spPr>
          <a:xfrm>
            <a:off x="585360" y="3429000"/>
            <a:ext cx="174240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685F8F"/>
                </a:solidFill>
                <a:effectLst/>
                <a:uFillTx/>
                <a:latin typeface="Calibri"/>
                <a:ea typeface="Calibri"/>
              </a:rPr>
              <a:t>Numbers, text, images — unorganized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Text 7"/>
          <p:cNvSpPr/>
          <p:nvPr/>
        </p:nvSpPr>
        <p:spPr>
          <a:xfrm>
            <a:off x="2455920" y="3337560"/>
            <a:ext cx="3196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8B7FE8"/>
                </a:solidFill>
                <a:effectLst/>
                <a:uFillTx/>
                <a:latin typeface="Calibri"/>
              </a:rPr>
              <a:t>→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Shape 8"/>
          <p:cNvSpPr/>
          <p:nvPr/>
        </p:nvSpPr>
        <p:spPr>
          <a:xfrm>
            <a:off x="2775960" y="1965960"/>
            <a:ext cx="1998360" cy="3291480"/>
          </a:xfrm>
          <a:prstGeom prst="roundRect">
            <a:avLst>
              <a:gd name="adj" fmla="val 6404"/>
            </a:avLst>
          </a:prstGeom>
          <a:solidFill>
            <a:srgbClr val="EDE9FE"/>
          </a:solidFill>
          <a:ln w="12700">
            <a:solidFill>
              <a:srgbClr val="D8D2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Shape 9"/>
          <p:cNvSpPr/>
          <p:nvPr/>
        </p:nvSpPr>
        <p:spPr>
          <a:xfrm>
            <a:off x="3455640" y="2286000"/>
            <a:ext cx="639720" cy="639720"/>
          </a:xfrm>
          <a:prstGeom prst="ellipse">
            <a:avLst/>
          </a:prstGeom>
          <a:solidFill>
            <a:srgbClr val="8B7F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45" name="Image 2" descr="preencoded.png"/>
          <p:cNvPicPr/>
          <p:nvPr/>
        </p:nvPicPr>
        <p:blipFill>
          <a:blip r:embed="rId3"/>
          <a:stretch/>
        </p:blipFill>
        <p:spPr>
          <a:xfrm>
            <a:off x="3556080" y="2386440"/>
            <a:ext cx="438480" cy="438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6" name="Text 10"/>
          <p:cNvSpPr/>
          <p:nvPr/>
        </p:nvSpPr>
        <p:spPr>
          <a:xfrm>
            <a:off x="2849400" y="3108960"/>
            <a:ext cx="18522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2D2A4A"/>
                </a:solidFill>
                <a:effectLst/>
                <a:uFillTx/>
                <a:latin typeface="Century Gothic"/>
                <a:ea typeface="Century Gothic"/>
              </a:rPr>
              <a:t>Statistics &amp;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2D2A4A"/>
                </a:solidFill>
                <a:effectLst/>
                <a:uFillTx/>
                <a:latin typeface="Century Gothic"/>
                <a:ea typeface="Century Gothic"/>
              </a:rPr>
              <a:t>Probability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Text 11"/>
          <p:cNvSpPr/>
          <p:nvPr/>
        </p:nvSpPr>
        <p:spPr>
          <a:xfrm>
            <a:off x="2959200" y="3657600"/>
            <a:ext cx="174240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685F8F"/>
                </a:solidFill>
                <a:effectLst/>
                <a:uFillTx/>
                <a:latin typeface="Calibri"/>
                <a:ea typeface="Calibri"/>
              </a:rPr>
              <a:t>Understand it, trust it, handle uncertainty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Text 12"/>
          <p:cNvSpPr/>
          <p:nvPr/>
        </p:nvSpPr>
        <p:spPr>
          <a:xfrm>
            <a:off x="4775040" y="3337560"/>
            <a:ext cx="3196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8B7FE8"/>
                </a:solidFill>
                <a:effectLst/>
                <a:uFillTx/>
                <a:latin typeface="Calibri"/>
              </a:rPr>
              <a:t>→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Shape 13"/>
          <p:cNvSpPr/>
          <p:nvPr/>
        </p:nvSpPr>
        <p:spPr>
          <a:xfrm>
            <a:off x="5095080" y="1965960"/>
            <a:ext cx="1998360" cy="3291480"/>
          </a:xfrm>
          <a:prstGeom prst="roundRect">
            <a:avLst>
              <a:gd name="adj" fmla="val 6404"/>
            </a:avLst>
          </a:prstGeom>
          <a:solidFill>
            <a:srgbClr val="E3FBF3"/>
          </a:solidFill>
          <a:ln w="12700">
            <a:solidFill>
              <a:srgbClr val="D8D2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Shape 14"/>
          <p:cNvSpPr/>
          <p:nvPr/>
        </p:nvSpPr>
        <p:spPr>
          <a:xfrm>
            <a:off x="5774400" y="2286000"/>
            <a:ext cx="639720" cy="639720"/>
          </a:xfrm>
          <a:prstGeom prst="ellipse">
            <a:avLst/>
          </a:prstGeom>
          <a:solidFill>
            <a:srgbClr val="5FD6B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51" name="Image 3" descr="preencoded.png"/>
          <p:cNvPicPr/>
          <p:nvPr/>
        </p:nvPicPr>
        <p:blipFill>
          <a:blip r:embed="rId4"/>
          <a:stretch/>
        </p:blipFill>
        <p:spPr>
          <a:xfrm>
            <a:off x="5875200" y="2386440"/>
            <a:ext cx="438480" cy="438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2" name="Text 15"/>
          <p:cNvSpPr/>
          <p:nvPr/>
        </p:nvSpPr>
        <p:spPr>
          <a:xfrm>
            <a:off x="5168160" y="3108960"/>
            <a:ext cx="18522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2D2A4A"/>
                </a:solidFill>
                <a:effectLst/>
                <a:uFillTx/>
                <a:latin typeface="Century Gothic"/>
                <a:ea typeface="Century Gothic"/>
              </a:rPr>
              <a:t>Linear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2D2A4A"/>
                </a:solidFill>
                <a:effectLst/>
                <a:uFillTx/>
                <a:latin typeface="Century Gothic"/>
                <a:ea typeface="Century Gothic"/>
              </a:rPr>
              <a:t>Algebra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Text 16"/>
          <p:cNvSpPr/>
          <p:nvPr/>
        </p:nvSpPr>
        <p:spPr>
          <a:xfrm>
            <a:off x="5222880" y="3657600"/>
            <a:ext cx="174240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685F8F"/>
                </a:solidFill>
                <a:effectLst/>
                <a:uFillTx/>
                <a:latin typeface="Calibri"/>
                <a:ea typeface="Calibri"/>
              </a:rPr>
              <a:t>Represent it, compute with it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Text 17"/>
          <p:cNvSpPr/>
          <p:nvPr/>
        </p:nvSpPr>
        <p:spPr>
          <a:xfrm>
            <a:off x="7093800" y="3337560"/>
            <a:ext cx="3196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8B7FE8"/>
                </a:solidFill>
                <a:effectLst/>
                <a:uFillTx/>
                <a:latin typeface="Calibri"/>
              </a:rPr>
              <a:t>→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Shape 18"/>
          <p:cNvSpPr/>
          <p:nvPr/>
        </p:nvSpPr>
        <p:spPr>
          <a:xfrm>
            <a:off x="7413840" y="1965960"/>
            <a:ext cx="1998360" cy="3291480"/>
          </a:xfrm>
          <a:prstGeom prst="roundRect">
            <a:avLst>
              <a:gd name="adj" fmla="val 6404"/>
            </a:avLst>
          </a:prstGeom>
          <a:solidFill>
            <a:srgbClr val="FFF6DC"/>
          </a:solidFill>
          <a:ln w="12700">
            <a:solidFill>
              <a:srgbClr val="D8D2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Shape 19"/>
          <p:cNvSpPr/>
          <p:nvPr/>
        </p:nvSpPr>
        <p:spPr>
          <a:xfrm>
            <a:off x="8093520" y="2286000"/>
            <a:ext cx="639720" cy="639720"/>
          </a:xfrm>
          <a:prstGeom prst="ellipse">
            <a:avLst/>
          </a:prstGeom>
          <a:solidFill>
            <a:srgbClr val="FFC9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57" name="Image 4" descr="preencoded.png"/>
          <p:cNvPicPr/>
          <p:nvPr/>
        </p:nvPicPr>
        <p:blipFill>
          <a:blip r:embed="rId5"/>
          <a:stretch/>
        </p:blipFill>
        <p:spPr>
          <a:xfrm>
            <a:off x="8193960" y="2386440"/>
            <a:ext cx="438480" cy="438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8" name="Text 20"/>
          <p:cNvSpPr/>
          <p:nvPr/>
        </p:nvSpPr>
        <p:spPr>
          <a:xfrm>
            <a:off x="7487280" y="3108960"/>
            <a:ext cx="18522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2D2A4A"/>
                </a:solidFill>
                <a:effectLst/>
                <a:uFillTx/>
                <a:latin typeface="Century Gothic"/>
                <a:ea typeface="Century Gothic"/>
              </a:rPr>
              <a:t>Calculus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Text 21"/>
          <p:cNvSpPr/>
          <p:nvPr/>
        </p:nvSpPr>
        <p:spPr>
          <a:xfrm>
            <a:off x="7543800" y="3520800"/>
            <a:ext cx="174240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685F8F"/>
                </a:solidFill>
                <a:effectLst/>
                <a:uFillTx/>
                <a:latin typeface="Calibri"/>
                <a:ea typeface="Calibri"/>
              </a:rPr>
              <a:t>Learn from it, improve over time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Text 22"/>
          <p:cNvSpPr/>
          <p:nvPr/>
        </p:nvSpPr>
        <p:spPr>
          <a:xfrm>
            <a:off x="9412920" y="3337560"/>
            <a:ext cx="3196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8B7FE8"/>
                </a:solidFill>
                <a:effectLst/>
                <a:uFillTx/>
                <a:latin typeface="Calibri"/>
              </a:rPr>
              <a:t>→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Shape 23"/>
          <p:cNvSpPr/>
          <p:nvPr/>
        </p:nvSpPr>
        <p:spPr>
          <a:xfrm>
            <a:off x="9732960" y="1965960"/>
            <a:ext cx="1998360" cy="3291480"/>
          </a:xfrm>
          <a:prstGeom prst="roundRect">
            <a:avLst>
              <a:gd name="adj" fmla="val 6404"/>
            </a:avLst>
          </a:prstGeom>
          <a:solidFill>
            <a:srgbClr val="FFFFFF"/>
          </a:solidFill>
          <a:ln w="12700">
            <a:solidFill>
              <a:srgbClr val="D8D2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Shape 24"/>
          <p:cNvSpPr/>
          <p:nvPr/>
        </p:nvSpPr>
        <p:spPr>
          <a:xfrm>
            <a:off x="10412280" y="2286000"/>
            <a:ext cx="639720" cy="639720"/>
          </a:xfrm>
          <a:prstGeom prst="ellipse">
            <a:avLst/>
          </a:prstGeom>
          <a:solidFill>
            <a:srgbClr val="FF8FB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63" name="Image 5" descr="preencoded.png"/>
          <p:cNvPicPr/>
          <p:nvPr/>
        </p:nvPicPr>
        <p:blipFill>
          <a:blip r:embed="rId6"/>
          <a:stretch/>
        </p:blipFill>
        <p:spPr>
          <a:xfrm>
            <a:off x="10512720" y="2386440"/>
            <a:ext cx="438480" cy="438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4" name="Text 25"/>
          <p:cNvSpPr/>
          <p:nvPr/>
        </p:nvSpPr>
        <p:spPr>
          <a:xfrm>
            <a:off x="9806040" y="3108960"/>
            <a:ext cx="18522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2D2A4A"/>
                </a:solidFill>
                <a:effectLst/>
                <a:uFillTx/>
                <a:latin typeface="Century Gothic"/>
                <a:ea typeface="Century Gothic"/>
              </a:rPr>
              <a:t>Working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2D2A4A"/>
                </a:solidFill>
                <a:effectLst/>
                <a:uFillTx/>
                <a:latin typeface="Century Gothic"/>
                <a:ea typeface="Century Gothic"/>
              </a:rPr>
              <a:t>Model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Text 26"/>
          <p:cNvSpPr/>
          <p:nvPr/>
        </p:nvSpPr>
        <p:spPr>
          <a:xfrm>
            <a:off x="9860760" y="3520800"/>
            <a:ext cx="174240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685F8F"/>
                </a:solidFill>
                <a:effectLst/>
                <a:uFillTx/>
                <a:latin typeface="Calibri"/>
                <a:ea typeface="Calibri"/>
              </a:rPr>
              <a:t>Predicts, classifies, </a:t>
            </a:r>
            <a:r>
              <a:rPr lang="en-US" sz="1600" b="0" u="none" strike="noStrike">
                <a:solidFill>
                  <a:srgbClr val="685F8F"/>
                </a:solidFill>
                <a:effectLst/>
                <a:uFillTx/>
                <a:latin typeface="Calibri"/>
                <a:ea typeface="Calibri"/>
              </a:rPr>
              <a:t>recommends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Text 27"/>
          <p:cNvSpPr/>
          <p:nvPr/>
        </p:nvSpPr>
        <p:spPr>
          <a:xfrm>
            <a:off x="457200" y="5532120"/>
            <a:ext cx="11274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i="1" u="none" strike="noStrike">
                <a:solidFill>
                  <a:srgbClr val="685F8F"/>
                </a:solidFill>
                <a:effectLst/>
                <a:uFillTx/>
                <a:latin typeface="Calibri"/>
                <a:ea typeface="Calibri"/>
              </a:rPr>
              <a:t>Every arrow in this diagram is a phase of this course — you’re about to spend the next several sessions building exactly this pipeline, one skill at a time.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Text 28"/>
          <p:cNvSpPr/>
          <p:nvPr/>
        </p:nvSpPr>
        <p:spPr>
          <a:xfrm>
            <a:off x="457200" y="6446520"/>
            <a:ext cx="8686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685F8F"/>
                </a:solidFill>
                <a:effectLst/>
                <a:uFillTx/>
                <a:latin typeface="Calibri"/>
                <a:ea typeface="Calibri"/>
              </a:rPr>
              <a:t>CodeByPaxto: The AI &amp; ML Playground  ·  Hafiz Waseem Ahmed (Paxto)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Text 29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85F8F"/>
                </a:solidFill>
                <a:effectLst/>
                <a:uFillTx/>
                <a:latin typeface="Calibri"/>
                <a:ea typeface="Calibri"/>
              </a:rPr>
              <a:t>10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Shape 0"/>
          <p:cNvSpPr/>
          <p:nvPr/>
        </p:nvSpPr>
        <p:spPr>
          <a:xfrm>
            <a:off x="457200" y="457200"/>
            <a:ext cx="639720" cy="639720"/>
          </a:xfrm>
          <a:prstGeom prst="ellipse">
            <a:avLst/>
          </a:prstGeom>
          <a:solidFill>
            <a:srgbClr val="8B7F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70" name="Image 0" descr="preencoded.png"/>
          <p:cNvPicPr/>
          <p:nvPr/>
        </p:nvPicPr>
        <p:blipFill>
          <a:blip r:embed="rId1"/>
          <a:stretch/>
        </p:blipFill>
        <p:spPr>
          <a:xfrm>
            <a:off x="548640" y="54864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1" name="Text 1"/>
          <p:cNvSpPr/>
          <p:nvPr/>
        </p:nvSpPr>
        <p:spPr>
          <a:xfrm>
            <a:off x="1280160" y="45720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2D2A4A"/>
                </a:solidFill>
                <a:effectLst/>
                <a:uFillTx/>
                <a:latin typeface="Century Gothic"/>
                <a:ea typeface="Century Gothic"/>
              </a:rPr>
              <a:t>Statistics &amp; Probability — Making Sense of Data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Shape 2"/>
          <p:cNvSpPr/>
          <p:nvPr/>
        </p:nvSpPr>
        <p:spPr>
          <a:xfrm>
            <a:off x="457200" y="1206720"/>
            <a:ext cx="11274480" cy="360"/>
          </a:xfrm>
          <a:prstGeom prst="line">
            <a:avLst/>
          </a:prstGeom>
          <a:ln w="19050">
            <a:solidFill>
              <a:srgbClr val="D8D2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Shape 3"/>
          <p:cNvSpPr/>
          <p:nvPr/>
        </p:nvSpPr>
        <p:spPr>
          <a:xfrm>
            <a:off x="457200" y="1554480"/>
            <a:ext cx="3657240" cy="4663080"/>
          </a:xfrm>
          <a:prstGeom prst="roundRect">
            <a:avLst>
              <a:gd name="adj" fmla="val 4500"/>
            </a:avLst>
          </a:prstGeom>
          <a:solidFill>
            <a:srgbClr val="EDE9FE"/>
          </a:solidFill>
          <a:ln w="12700">
            <a:solidFill>
              <a:srgbClr val="D8D2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Shape 4"/>
          <p:cNvSpPr/>
          <p:nvPr/>
        </p:nvSpPr>
        <p:spPr>
          <a:xfrm>
            <a:off x="1508760" y="2194560"/>
            <a:ext cx="1554120" cy="1554120"/>
          </a:xfrm>
          <a:prstGeom prst="ellipse">
            <a:avLst/>
          </a:prstGeom>
          <a:solidFill>
            <a:srgbClr val="8B7F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75" name="Image 1" descr="preencoded.png"/>
          <p:cNvPicPr/>
          <p:nvPr/>
        </p:nvPicPr>
        <p:blipFill>
          <a:blip r:embed="rId2"/>
          <a:stretch/>
        </p:blipFill>
        <p:spPr>
          <a:xfrm>
            <a:off x="1746360" y="2423160"/>
            <a:ext cx="1087920" cy="1087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6" name="Text 5"/>
          <p:cNvSpPr/>
          <p:nvPr/>
        </p:nvSpPr>
        <p:spPr>
          <a:xfrm>
            <a:off x="640080" y="3977640"/>
            <a:ext cx="329148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2D2A4A"/>
                </a:solidFill>
                <a:effectLst/>
                <a:uFillTx/>
                <a:latin typeface="Century Gothic"/>
                <a:ea typeface="Century Gothic"/>
              </a:rPr>
              <a:t>Understand it,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2D2A4A"/>
                </a:solidFill>
                <a:effectLst/>
                <a:uFillTx/>
                <a:latin typeface="Century Gothic"/>
                <a:ea typeface="Century Gothic"/>
              </a:rPr>
              <a:t>and trust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2D2A4A"/>
                </a:solidFill>
                <a:effectLst/>
                <a:uFillTx/>
                <a:latin typeface="Century Gothic"/>
                <a:ea typeface="Century Gothic"/>
              </a:rPr>
              <a:t>it (or not)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Text 6"/>
          <p:cNvSpPr/>
          <p:nvPr/>
        </p:nvSpPr>
        <p:spPr>
          <a:xfrm>
            <a:off x="4572000" y="1737360"/>
            <a:ext cx="7131960" cy="411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28600" indent="-228600" defTabSz="914400">
              <a:lnSpc>
                <a:spcPct val="120000"/>
              </a:lnSpc>
              <a:spcAft>
                <a:spcPts val="1400"/>
              </a:spcAft>
              <a:buClr>
                <a:srgbClr val="2D2A4A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2D2A4A"/>
                </a:solidFill>
                <a:effectLst/>
                <a:uFillTx/>
                <a:latin typeface="Calibri"/>
                <a:ea typeface="Calibri"/>
              </a:rPr>
              <a:t>Statistics describes what your data actually looks like — what’s typical, what’s unusual, and how spread out things really are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20000"/>
              </a:lnSpc>
              <a:spcAft>
                <a:spcPts val="1400"/>
              </a:spcAft>
              <a:buClr>
                <a:srgbClr val="2D2A4A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2D2A4A"/>
                </a:solidFill>
                <a:effectLst/>
                <a:uFillTx/>
                <a:latin typeface="Calibri"/>
                <a:ea typeface="Calibri"/>
              </a:rPr>
              <a:t>Probability handles what statistics alone can’t — uncertainty. Will this customer churn? How confident are we in this result? Is this difference real, or just noise?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20000"/>
              </a:lnSpc>
              <a:spcAft>
                <a:spcPts val="1400"/>
              </a:spcAft>
              <a:buClr>
                <a:srgbClr val="2D2A4A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2D2A4A"/>
                </a:solidFill>
                <a:effectLst/>
                <a:uFillTx/>
                <a:latin typeface="Calibri"/>
                <a:ea typeface="Calibri"/>
              </a:rPr>
              <a:t>Every model evaluation metric you’ll ever compute — accuracy, confidence, error margins — is statistics and probability wearing a machine learning costume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20000"/>
              </a:lnSpc>
              <a:spcAft>
                <a:spcPts val="1400"/>
              </a:spcAft>
              <a:buClr>
                <a:srgbClr val="2D2A4A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2D2A4A"/>
                </a:solidFill>
                <a:effectLst/>
                <a:uFillTx/>
                <a:latin typeface="Calibri"/>
                <a:ea typeface="Calibri"/>
              </a:rPr>
              <a:t>This is also, on its own, the exact toolkit used in academic and scientific research — hypothesis testing, confidence intervals, and the tests you’ll learn later aren’t just for AI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Text 7"/>
          <p:cNvSpPr/>
          <p:nvPr/>
        </p:nvSpPr>
        <p:spPr>
          <a:xfrm>
            <a:off x="457200" y="6446520"/>
            <a:ext cx="8686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685F8F"/>
                </a:solidFill>
                <a:effectLst/>
                <a:uFillTx/>
                <a:latin typeface="Calibri"/>
                <a:ea typeface="Calibri"/>
              </a:rPr>
              <a:t>CodeByPaxto: The AI &amp; ML Playground  ·  Hafiz Waseem Ahmed (Paxto)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Text 8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85F8F"/>
                </a:solidFill>
                <a:effectLst/>
                <a:uFillTx/>
                <a:latin typeface="Calibri"/>
                <a:ea typeface="Calibri"/>
              </a:rPr>
              <a:t>11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Shape 0"/>
          <p:cNvSpPr/>
          <p:nvPr/>
        </p:nvSpPr>
        <p:spPr>
          <a:xfrm>
            <a:off x="457200" y="457200"/>
            <a:ext cx="639720" cy="639720"/>
          </a:xfrm>
          <a:prstGeom prst="ellipse">
            <a:avLst/>
          </a:prstGeom>
          <a:solidFill>
            <a:srgbClr val="8B7F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81" name="Image 0" descr="preencoded.png"/>
          <p:cNvPicPr/>
          <p:nvPr/>
        </p:nvPicPr>
        <p:blipFill>
          <a:blip r:embed="rId1"/>
          <a:stretch/>
        </p:blipFill>
        <p:spPr>
          <a:xfrm>
            <a:off x="548640" y="54864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2" name="Text 1"/>
          <p:cNvSpPr/>
          <p:nvPr/>
        </p:nvSpPr>
        <p:spPr>
          <a:xfrm>
            <a:off x="1280160" y="45720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2D2A4A"/>
                </a:solidFill>
                <a:effectLst/>
                <a:uFillTx/>
                <a:latin typeface="Century Gothic"/>
                <a:ea typeface="Century Gothic"/>
              </a:rPr>
              <a:t>Linear Algebra — How Data and Models Are Represented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Shape 2"/>
          <p:cNvSpPr/>
          <p:nvPr/>
        </p:nvSpPr>
        <p:spPr>
          <a:xfrm>
            <a:off x="457200" y="1206720"/>
            <a:ext cx="11274480" cy="360"/>
          </a:xfrm>
          <a:prstGeom prst="line">
            <a:avLst/>
          </a:prstGeom>
          <a:ln w="19050">
            <a:solidFill>
              <a:srgbClr val="D8D2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Shape 3"/>
          <p:cNvSpPr/>
          <p:nvPr/>
        </p:nvSpPr>
        <p:spPr>
          <a:xfrm>
            <a:off x="457200" y="1554480"/>
            <a:ext cx="3657240" cy="4663080"/>
          </a:xfrm>
          <a:prstGeom prst="roundRect">
            <a:avLst>
              <a:gd name="adj" fmla="val 4500"/>
            </a:avLst>
          </a:prstGeom>
          <a:solidFill>
            <a:srgbClr val="EDE9FE"/>
          </a:solidFill>
          <a:ln w="12700">
            <a:solidFill>
              <a:srgbClr val="D8D2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Shape 4"/>
          <p:cNvSpPr/>
          <p:nvPr/>
        </p:nvSpPr>
        <p:spPr>
          <a:xfrm>
            <a:off x="1508760" y="2194560"/>
            <a:ext cx="1554120" cy="1554120"/>
          </a:xfrm>
          <a:prstGeom prst="ellipse">
            <a:avLst/>
          </a:prstGeom>
          <a:solidFill>
            <a:srgbClr val="8B7F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86" name="Image 1" descr="preencoded.png"/>
          <p:cNvPicPr/>
          <p:nvPr/>
        </p:nvPicPr>
        <p:blipFill>
          <a:blip r:embed="rId2"/>
          <a:stretch/>
        </p:blipFill>
        <p:spPr>
          <a:xfrm>
            <a:off x="1746360" y="2423160"/>
            <a:ext cx="1087920" cy="1087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7" name="Text 5"/>
          <p:cNvSpPr/>
          <p:nvPr/>
        </p:nvSpPr>
        <p:spPr>
          <a:xfrm>
            <a:off x="640080" y="3977640"/>
            <a:ext cx="329148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2D2A4A"/>
                </a:solidFill>
                <a:effectLst/>
                <a:uFillTx/>
                <a:latin typeface="Century Gothic"/>
                <a:ea typeface="Century Gothic"/>
              </a:rPr>
              <a:t>The shape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2D2A4A"/>
                </a:solidFill>
                <a:effectLst/>
                <a:uFillTx/>
                <a:latin typeface="Century Gothic"/>
                <a:ea typeface="Century Gothic"/>
              </a:rPr>
              <a:t>data actually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2D2A4A"/>
                </a:solidFill>
                <a:effectLst/>
                <a:uFillTx/>
                <a:latin typeface="Century Gothic"/>
                <a:ea typeface="Century Gothic"/>
              </a:rPr>
              <a:t>takes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Text 6"/>
          <p:cNvSpPr/>
          <p:nvPr/>
        </p:nvSpPr>
        <p:spPr>
          <a:xfrm>
            <a:off x="4572000" y="1737360"/>
            <a:ext cx="7131960" cy="411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28600" indent="-228600" defTabSz="914400">
              <a:lnSpc>
                <a:spcPct val="120000"/>
              </a:lnSpc>
              <a:spcAft>
                <a:spcPts val="1400"/>
              </a:spcAft>
              <a:buClr>
                <a:srgbClr val="2D2A4A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2D2A4A"/>
                </a:solidFill>
                <a:effectLst/>
                <a:uFillTx/>
                <a:latin typeface="Calibri"/>
                <a:ea typeface="Calibri"/>
              </a:rPr>
              <a:t>Every row in a dataset — a customer, an image, a sentence — is, underneath, just a list of numbers. Linear algebra is the study of exactly that: lists and grids of numbers, and what you can do with them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20000"/>
              </a:lnSpc>
              <a:spcAft>
                <a:spcPts val="1400"/>
              </a:spcAft>
              <a:buClr>
                <a:srgbClr val="2D2A4A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2D2A4A"/>
                </a:solidFill>
                <a:effectLst/>
                <a:uFillTx/>
                <a:latin typeface="Calibri"/>
                <a:ea typeface="Calibri"/>
              </a:rPr>
              <a:t>A NumPy array, a Pandas DataFrame, and every layer of a neural network are all built directly on linear algebra’s core objects: vectors and matrices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20000"/>
              </a:lnSpc>
              <a:spcAft>
                <a:spcPts val="1400"/>
              </a:spcAft>
              <a:buClr>
                <a:srgbClr val="2D2A4A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2D2A4A"/>
                </a:solidFill>
                <a:effectLst/>
                <a:uFillTx/>
                <a:latin typeface="Calibri"/>
                <a:ea typeface="Calibri"/>
              </a:rPr>
              <a:t>This is genuinely the most immediately useful math in this entire phase — you’ll be using it within days, the moment NumPy shows up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20000"/>
              </a:lnSpc>
              <a:spcAft>
                <a:spcPts val="1400"/>
              </a:spcAft>
              <a:buClr>
                <a:srgbClr val="2D2A4A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2D2A4A"/>
                </a:solidFill>
                <a:effectLst/>
                <a:uFillTx/>
                <a:latin typeface="Calibri"/>
                <a:ea typeface="Calibri"/>
              </a:rPr>
              <a:t>Even a single idea — the dot product — quietly powers recommendation systems, similarity search, and the core computation inside every neural network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Text 7"/>
          <p:cNvSpPr/>
          <p:nvPr/>
        </p:nvSpPr>
        <p:spPr>
          <a:xfrm>
            <a:off x="457200" y="6446520"/>
            <a:ext cx="8686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685F8F"/>
                </a:solidFill>
                <a:effectLst/>
                <a:uFillTx/>
                <a:latin typeface="Calibri"/>
                <a:ea typeface="Calibri"/>
              </a:rPr>
              <a:t>CodeByPaxto: The AI &amp; ML Playground  ·  Hafiz Waseem Ahmed (Paxto)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Text 8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85F8F"/>
                </a:solidFill>
                <a:effectLst/>
                <a:uFillTx/>
                <a:latin typeface="Calibri"/>
                <a:ea typeface="Calibri"/>
              </a:rPr>
              <a:t>12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Shape 0"/>
          <p:cNvSpPr/>
          <p:nvPr/>
        </p:nvSpPr>
        <p:spPr>
          <a:xfrm>
            <a:off x="457200" y="457200"/>
            <a:ext cx="639720" cy="639720"/>
          </a:xfrm>
          <a:prstGeom prst="ellipse">
            <a:avLst/>
          </a:prstGeom>
          <a:solidFill>
            <a:srgbClr val="8B7F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92" name="Image 0" descr="preencoded.png"/>
          <p:cNvPicPr/>
          <p:nvPr/>
        </p:nvPicPr>
        <p:blipFill>
          <a:blip r:embed="rId1"/>
          <a:stretch/>
        </p:blipFill>
        <p:spPr>
          <a:xfrm>
            <a:off x="548640" y="54864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3" name="Text 1"/>
          <p:cNvSpPr/>
          <p:nvPr/>
        </p:nvSpPr>
        <p:spPr>
          <a:xfrm>
            <a:off x="1280160" y="45720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2D2A4A"/>
                </a:solidFill>
                <a:effectLst/>
                <a:uFillTx/>
                <a:latin typeface="Century Gothic"/>
                <a:ea typeface="Century Gothic"/>
              </a:rPr>
              <a:t>Calculus — How Models Actually Learn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Shape 2"/>
          <p:cNvSpPr/>
          <p:nvPr/>
        </p:nvSpPr>
        <p:spPr>
          <a:xfrm>
            <a:off x="457200" y="1206720"/>
            <a:ext cx="11274480" cy="360"/>
          </a:xfrm>
          <a:prstGeom prst="line">
            <a:avLst/>
          </a:prstGeom>
          <a:ln w="19050">
            <a:solidFill>
              <a:srgbClr val="D8D2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Shape 3"/>
          <p:cNvSpPr/>
          <p:nvPr/>
        </p:nvSpPr>
        <p:spPr>
          <a:xfrm>
            <a:off x="457200" y="1554480"/>
            <a:ext cx="3657240" cy="4663080"/>
          </a:xfrm>
          <a:prstGeom prst="roundRect">
            <a:avLst>
              <a:gd name="adj" fmla="val 4500"/>
            </a:avLst>
          </a:prstGeom>
          <a:solidFill>
            <a:srgbClr val="EDE9FE"/>
          </a:solidFill>
          <a:ln w="12700">
            <a:solidFill>
              <a:srgbClr val="D8D2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Shape 4"/>
          <p:cNvSpPr/>
          <p:nvPr/>
        </p:nvSpPr>
        <p:spPr>
          <a:xfrm>
            <a:off x="1508760" y="2194560"/>
            <a:ext cx="1554120" cy="1554120"/>
          </a:xfrm>
          <a:prstGeom prst="ellipse">
            <a:avLst/>
          </a:prstGeom>
          <a:solidFill>
            <a:srgbClr val="8B7F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97" name="Image 1" descr="preencoded.png"/>
          <p:cNvPicPr/>
          <p:nvPr/>
        </p:nvPicPr>
        <p:blipFill>
          <a:blip r:embed="rId2"/>
          <a:stretch/>
        </p:blipFill>
        <p:spPr>
          <a:xfrm>
            <a:off x="1746360" y="2423160"/>
            <a:ext cx="1087920" cy="1087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8" name="Text 5"/>
          <p:cNvSpPr/>
          <p:nvPr/>
        </p:nvSpPr>
        <p:spPr>
          <a:xfrm>
            <a:off x="640080" y="3977640"/>
            <a:ext cx="329148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2D2A4A"/>
                </a:solidFill>
                <a:effectLst/>
                <a:uFillTx/>
                <a:latin typeface="Century Gothic"/>
                <a:ea typeface="Century Gothic"/>
              </a:rPr>
              <a:t>The engine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2D2A4A"/>
                </a:solidFill>
                <a:effectLst/>
                <a:uFillTx/>
                <a:latin typeface="Century Gothic"/>
                <a:ea typeface="Century Gothic"/>
              </a:rPr>
              <a:t>behind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2D2A4A"/>
                </a:solidFill>
                <a:effectLst/>
                <a:uFillTx/>
                <a:latin typeface="Century Gothic"/>
                <a:ea typeface="Century Gothic"/>
              </a:rPr>
              <a:t>"training"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9" name="Text 6"/>
          <p:cNvSpPr/>
          <p:nvPr/>
        </p:nvSpPr>
        <p:spPr>
          <a:xfrm>
            <a:off x="4572000" y="1737360"/>
            <a:ext cx="7131960" cy="411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28600" indent="-228600" defTabSz="914400">
              <a:lnSpc>
                <a:spcPct val="120000"/>
              </a:lnSpc>
              <a:spcAft>
                <a:spcPts val="1400"/>
              </a:spcAft>
              <a:buClr>
                <a:srgbClr val="2D2A4A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2D2A4A"/>
                </a:solidFill>
                <a:effectLst/>
                <a:uFillTx/>
                <a:latin typeface="Calibri"/>
                <a:ea typeface="Calibri"/>
              </a:rPr>
              <a:t>When you hear a model was "trained," calculus is what that word is actually describing — a process of gradually reducing error, step by step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20000"/>
              </a:lnSpc>
              <a:spcAft>
                <a:spcPts val="1400"/>
              </a:spcAft>
              <a:buClr>
                <a:srgbClr val="2D2A4A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2D2A4A"/>
                </a:solidFill>
                <a:effectLst/>
                <a:uFillTx/>
                <a:latin typeface="Calibri"/>
                <a:ea typeface="Calibri"/>
              </a:rPr>
              <a:t>Calculus, at its core, is the study of change — and "how do I change my model’s settings to make its predictions a little less wrong" is exactly a calculus question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20000"/>
              </a:lnSpc>
              <a:spcAft>
                <a:spcPts val="1400"/>
              </a:spcAft>
              <a:buClr>
                <a:srgbClr val="2D2A4A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2D2A4A"/>
                </a:solidFill>
                <a:effectLst/>
                <a:uFillTx/>
                <a:latin typeface="Calibri"/>
                <a:ea typeface="Calibri"/>
              </a:rPr>
              <a:t>You won’t need this until much later in the course — it only really clicks once there’s an actual model to train, so we’re deliberately saving it for that exact moment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20000"/>
              </a:lnSpc>
              <a:spcAft>
                <a:spcPts val="1400"/>
              </a:spcAft>
              <a:buClr>
                <a:srgbClr val="2D2A4A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2D2A4A"/>
                </a:solidFill>
                <a:effectLst/>
                <a:uFillTx/>
                <a:latin typeface="Calibri"/>
                <a:ea typeface="Calibri"/>
              </a:rPr>
              <a:t>For now, just know it exists, and know its job: calculus is the part of math that lets a model improve itself, automatically, without you hand-tuning it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Text 7"/>
          <p:cNvSpPr/>
          <p:nvPr/>
        </p:nvSpPr>
        <p:spPr>
          <a:xfrm>
            <a:off x="457200" y="6446520"/>
            <a:ext cx="8686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685F8F"/>
                </a:solidFill>
                <a:effectLst/>
                <a:uFillTx/>
                <a:latin typeface="Calibri"/>
                <a:ea typeface="Calibri"/>
              </a:rPr>
              <a:t>CodeByPaxto: The AI &amp; ML Playground  ·  Hafiz Waseem Ahmed (Paxto)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Text 8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85F8F"/>
                </a:solidFill>
                <a:effectLst/>
                <a:uFillTx/>
                <a:latin typeface="Calibri"/>
                <a:ea typeface="Calibri"/>
              </a:rPr>
              <a:t>13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Shape 0"/>
          <p:cNvSpPr/>
          <p:nvPr/>
        </p:nvSpPr>
        <p:spPr>
          <a:xfrm>
            <a:off x="457200" y="457200"/>
            <a:ext cx="639720" cy="639720"/>
          </a:xfrm>
          <a:prstGeom prst="ellipse">
            <a:avLst/>
          </a:prstGeom>
          <a:solidFill>
            <a:srgbClr val="8B7F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03" name="Image 0" descr="preencoded.png"/>
          <p:cNvPicPr/>
          <p:nvPr/>
        </p:nvPicPr>
        <p:blipFill>
          <a:blip r:embed="rId1"/>
          <a:stretch/>
        </p:blipFill>
        <p:spPr>
          <a:xfrm>
            <a:off x="548640" y="54864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4" name="Text 1"/>
          <p:cNvSpPr/>
          <p:nvPr/>
        </p:nvSpPr>
        <p:spPr>
          <a:xfrm>
            <a:off x="1280160" y="45720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2D2A4A"/>
                </a:solidFill>
                <a:effectLst/>
                <a:uFillTx/>
                <a:latin typeface="Century Gothic"/>
                <a:ea typeface="Century Gothic"/>
              </a:rPr>
              <a:t>Real Systems, and the Math Quietly Running Underneath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" name="Shape 2"/>
          <p:cNvSpPr/>
          <p:nvPr/>
        </p:nvSpPr>
        <p:spPr>
          <a:xfrm>
            <a:off x="457200" y="1206720"/>
            <a:ext cx="11274480" cy="360"/>
          </a:xfrm>
          <a:prstGeom prst="line">
            <a:avLst/>
          </a:prstGeom>
          <a:ln w="19050">
            <a:solidFill>
              <a:srgbClr val="D8D2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Shape 3"/>
          <p:cNvSpPr/>
          <p:nvPr/>
        </p:nvSpPr>
        <p:spPr>
          <a:xfrm>
            <a:off x="457200" y="1508760"/>
            <a:ext cx="2653560" cy="4891680"/>
          </a:xfrm>
          <a:prstGeom prst="roundRect">
            <a:avLst>
              <a:gd name="adj" fmla="val 5512"/>
            </a:avLst>
          </a:prstGeom>
          <a:solidFill>
            <a:srgbClr val="EDE9FE"/>
          </a:solidFill>
          <a:ln w="12700">
            <a:solidFill>
              <a:srgbClr val="D8D2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Shape 4"/>
          <p:cNvSpPr/>
          <p:nvPr/>
        </p:nvSpPr>
        <p:spPr>
          <a:xfrm>
            <a:off x="1509840" y="2094120"/>
            <a:ext cx="548280" cy="548280"/>
          </a:xfrm>
          <a:prstGeom prst="ellipse">
            <a:avLst/>
          </a:prstGeom>
          <a:solidFill>
            <a:srgbClr val="8B7F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08" name="Image 1" descr="preencoded.png"/>
          <p:cNvPicPr/>
          <p:nvPr/>
        </p:nvPicPr>
        <p:blipFill>
          <a:blip r:embed="rId2"/>
          <a:stretch/>
        </p:blipFill>
        <p:spPr>
          <a:xfrm>
            <a:off x="1592280" y="2176200"/>
            <a:ext cx="383760" cy="383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9" name="Text 5"/>
          <p:cNvSpPr/>
          <p:nvPr/>
        </p:nvSpPr>
        <p:spPr>
          <a:xfrm>
            <a:off x="548640" y="2715840"/>
            <a:ext cx="24706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2D2A4A"/>
                </a:solidFill>
                <a:effectLst/>
                <a:uFillTx/>
                <a:latin typeface="Century Gothic"/>
                <a:ea typeface="Century Gothic"/>
              </a:rPr>
              <a:t>Recommendations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Text 6"/>
          <p:cNvSpPr/>
          <p:nvPr/>
        </p:nvSpPr>
        <p:spPr>
          <a:xfrm>
            <a:off x="603360" y="3099960"/>
            <a:ext cx="2361240" cy="315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685F8F"/>
                </a:solidFill>
                <a:effectLst/>
                <a:uFillTx/>
                <a:latin typeface="Calibri"/>
                <a:ea typeface="Calibri"/>
              </a:rPr>
              <a:t>Netflix and Spotify suggestions run on similarity math — linear algebra’s dot product, at massive scale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Shape 7"/>
          <p:cNvSpPr/>
          <p:nvPr/>
        </p:nvSpPr>
        <p:spPr>
          <a:xfrm>
            <a:off x="3330720" y="1508760"/>
            <a:ext cx="2653560" cy="4891680"/>
          </a:xfrm>
          <a:prstGeom prst="roundRect">
            <a:avLst>
              <a:gd name="adj" fmla="val 5512"/>
            </a:avLst>
          </a:prstGeom>
          <a:solidFill>
            <a:srgbClr val="FFF6DC"/>
          </a:solidFill>
          <a:ln w="12700">
            <a:solidFill>
              <a:srgbClr val="D8D2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Shape 8"/>
          <p:cNvSpPr/>
          <p:nvPr/>
        </p:nvSpPr>
        <p:spPr>
          <a:xfrm>
            <a:off x="4383360" y="2094120"/>
            <a:ext cx="548280" cy="548280"/>
          </a:xfrm>
          <a:prstGeom prst="ellipse">
            <a:avLst/>
          </a:prstGeom>
          <a:solidFill>
            <a:srgbClr val="FFC9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13" name="Image 2" descr="preencoded.png"/>
          <p:cNvPicPr/>
          <p:nvPr/>
        </p:nvPicPr>
        <p:blipFill>
          <a:blip r:embed="rId3"/>
          <a:stretch/>
        </p:blipFill>
        <p:spPr>
          <a:xfrm>
            <a:off x="4465800" y="2176200"/>
            <a:ext cx="383760" cy="383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4" name="Text 9"/>
          <p:cNvSpPr/>
          <p:nvPr/>
        </p:nvSpPr>
        <p:spPr>
          <a:xfrm>
            <a:off x="3422160" y="2715840"/>
            <a:ext cx="24706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2D2A4A"/>
                </a:solidFill>
                <a:effectLst/>
                <a:uFillTx/>
                <a:latin typeface="Century Gothic"/>
                <a:ea typeface="Century Gothic"/>
              </a:rPr>
              <a:t>Spam Filters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Text 10"/>
          <p:cNvSpPr/>
          <p:nvPr/>
        </p:nvSpPr>
        <p:spPr>
          <a:xfrm>
            <a:off x="3476880" y="3099960"/>
            <a:ext cx="2361240" cy="315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685F8F"/>
                </a:solidFill>
                <a:effectLst/>
                <a:uFillTx/>
                <a:latin typeface="Calibri"/>
                <a:ea typeface="Calibri"/>
              </a:rPr>
              <a:t>Deciding "spam or not" from the words in an email is a probability calculation — Bayes’ Theorem, specifically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Shape 11"/>
          <p:cNvSpPr/>
          <p:nvPr/>
        </p:nvSpPr>
        <p:spPr>
          <a:xfrm>
            <a:off x="6204240" y="1508760"/>
            <a:ext cx="2653560" cy="4891680"/>
          </a:xfrm>
          <a:prstGeom prst="roundRect">
            <a:avLst>
              <a:gd name="adj" fmla="val 5512"/>
            </a:avLst>
          </a:prstGeom>
          <a:solidFill>
            <a:srgbClr val="E3FBF3"/>
          </a:solidFill>
          <a:ln w="12700">
            <a:solidFill>
              <a:srgbClr val="D8D2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7" name="Shape 12"/>
          <p:cNvSpPr/>
          <p:nvPr/>
        </p:nvSpPr>
        <p:spPr>
          <a:xfrm>
            <a:off x="7256880" y="2094120"/>
            <a:ext cx="548280" cy="548280"/>
          </a:xfrm>
          <a:prstGeom prst="ellipse">
            <a:avLst/>
          </a:prstGeom>
          <a:solidFill>
            <a:srgbClr val="5FD6B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18" name="Image 3" descr="preencoded.png"/>
          <p:cNvPicPr/>
          <p:nvPr/>
        </p:nvPicPr>
        <p:blipFill>
          <a:blip r:embed="rId4"/>
          <a:stretch/>
        </p:blipFill>
        <p:spPr>
          <a:xfrm>
            <a:off x="7339320" y="2176200"/>
            <a:ext cx="383760" cy="383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9" name="Text 13"/>
          <p:cNvSpPr/>
          <p:nvPr/>
        </p:nvSpPr>
        <p:spPr>
          <a:xfrm>
            <a:off x="6295680" y="2715840"/>
            <a:ext cx="24706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2D2A4A"/>
                </a:solidFill>
                <a:effectLst/>
                <a:uFillTx/>
                <a:latin typeface="Century Gothic"/>
                <a:ea typeface="Century Gothic"/>
              </a:rPr>
              <a:t>Medical Diagnosis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0" name="Text 14"/>
          <p:cNvSpPr/>
          <p:nvPr/>
        </p:nvSpPr>
        <p:spPr>
          <a:xfrm>
            <a:off x="6350400" y="3099960"/>
            <a:ext cx="2361240" cy="315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685F8F"/>
                </a:solidFill>
                <a:effectLst/>
                <a:uFillTx/>
                <a:latin typeface="Calibri"/>
                <a:ea typeface="Calibri"/>
              </a:rPr>
              <a:t>AI-assisted diagnosis tools report a confidence level — a direct, practical use of statistics and probability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Shape 15"/>
          <p:cNvSpPr/>
          <p:nvPr/>
        </p:nvSpPr>
        <p:spPr>
          <a:xfrm>
            <a:off x="9077760" y="1508760"/>
            <a:ext cx="2653560" cy="4891680"/>
          </a:xfrm>
          <a:prstGeom prst="roundRect">
            <a:avLst>
              <a:gd name="adj" fmla="val 5512"/>
            </a:avLst>
          </a:prstGeom>
          <a:solidFill>
            <a:srgbClr val="EDE9FE"/>
          </a:solidFill>
          <a:ln w="12700">
            <a:solidFill>
              <a:srgbClr val="D8D2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" name="Shape 16"/>
          <p:cNvSpPr/>
          <p:nvPr/>
        </p:nvSpPr>
        <p:spPr>
          <a:xfrm>
            <a:off x="10130400" y="2094120"/>
            <a:ext cx="548280" cy="548280"/>
          </a:xfrm>
          <a:prstGeom prst="ellipse">
            <a:avLst/>
          </a:prstGeom>
          <a:solidFill>
            <a:srgbClr val="FF8FB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23" name="Image 4" descr="preencoded.png"/>
          <p:cNvPicPr/>
          <p:nvPr/>
        </p:nvPicPr>
        <p:blipFill>
          <a:blip r:embed="rId5"/>
          <a:stretch/>
        </p:blipFill>
        <p:spPr>
          <a:xfrm>
            <a:off x="10212840" y="2176200"/>
            <a:ext cx="383760" cy="383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4" name="Text 17"/>
          <p:cNvSpPr/>
          <p:nvPr/>
        </p:nvSpPr>
        <p:spPr>
          <a:xfrm>
            <a:off x="9169200" y="2715840"/>
            <a:ext cx="24706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2D2A4A"/>
                </a:solidFill>
                <a:effectLst/>
                <a:uFillTx/>
                <a:latin typeface="Century Gothic"/>
                <a:ea typeface="Century Gothic"/>
              </a:rPr>
              <a:t>Self-Driving Cars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5" name="Text 18"/>
          <p:cNvSpPr/>
          <p:nvPr/>
        </p:nvSpPr>
        <p:spPr>
          <a:xfrm>
            <a:off x="9223920" y="3099960"/>
            <a:ext cx="2361240" cy="315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685F8F"/>
                </a:solidFill>
                <a:effectLst/>
                <a:uFillTx/>
                <a:latin typeface="Calibri"/>
                <a:ea typeface="Calibri"/>
              </a:rPr>
              <a:t>Reading the road and updating driving decisions in real time leans on calculus — constant, rapid adjustment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6" name="Text 19"/>
          <p:cNvSpPr/>
          <p:nvPr/>
        </p:nvSpPr>
        <p:spPr>
          <a:xfrm>
            <a:off x="457200" y="6446520"/>
            <a:ext cx="8686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685F8F"/>
                </a:solidFill>
                <a:effectLst/>
                <a:uFillTx/>
                <a:latin typeface="Calibri"/>
                <a:ea typeface="Calibri"/>
              </a:rPr>
              <a:t>CodeByPaxto: The AI &amp; ML Playground  ·  Hafiz Waseem Ahmed (Paxto)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7" name="Text 20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85F8F"/>
                </a:solidFill>
                <a:effectLst/>
                <a:uFillTx/>
                <a:latin typeface="Calibri"/>
                <a:ea typeface="Calibri"/>
              </a:rPr>
              <a:t>14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Shape 0"/>
          <p:cNvSpPr/>
          <p:nvPr/>
        </p:nvSpPr>
        <p:spPr>
          <a:xfrm>
            <a:off x="457200" y="457200"/>
            <a:ext cx="639720" cy="639720"/>
          </a:xfrm>
          <a:prstGeom prst="ellipse">
            <a:avLst/>
          </a:prstGeom>
          <a:solidFill>
            <a:srgbClr val="8B7F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29" name="Image 0" descr="preencoded.png"/>
          <p:cNvPicPr/>
          <p:nvPr/>
        </p:nvPicPr>
        <p:blipFill>
          <a:blip r:embed="rId1"/>
          <a:stretch/>
        </p:blipFill>
        <p:spPr>
          <a:xfrm>
            <a:off x="548640" y="54864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0" name="Text 1"/>
          <p:cNvSpPr/>
          <p:nvPr/>
        </p:nvSpPr>
        <p:spPr>
          <a:xfrm>
            <a:off x="1280160" y="45720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2D2A4A"/>
                </a:solidFill>
                <a:effectLst/>
                <a:uFillTx/>
                <a:latin typeface="Century Gothic"/>
                <a:ea typeface="Century Gothic"/>
              </a:rPr>
              <a:t>Intuition First — What This Course Will (and Won’t) Do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Shape 2"/>
          <p:cNvSpPr/>
          <p:nvPr/>
        </p:nvSpPr>
        <p:spPr>
          <a:xfrm>
            <a:off x="457200" y="1206720"/>
            <a:ext cx="11274480" cy="360"/>
          </a:xfrm>
          <a:prstGeom prst="line">
            <a:avLst/>
          </a:prstGeom>
          <a:ln w="19050">
            <a:solidFill>
              <a:srgbClr val="D8D2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2" name="Shape 3"/>
          <p:cNvSpPr/>
          <p:nvPr/>
        </p:nvSpPr>
        <p:spPr>
          <a:xfrm>
            <a:off x="457200" y="1645920"/>
            <a:ext cx="5348880" cy="4480200"/>
          </a:xfrm>
          <a:prstGeom prst="roundRect">
            <a:avLst>
              <a:gd name="adj" fmla="val 3265"/>
            </a:avLst>
          </a:prstGeom>
          <a:solidFill>
            <a:srgbClr val="EDE9FE"/>
          </a:solidFill>
          <a:ln w="12700">
            <a:solidFill>
              <a:srgbClr val="D8D2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3" name="Shape 4"/>
          <p:cNvSpPr/>
          <p:nvPr/>
        </p:nvSpPr>
        <p:spPr>
          <a:xfrm>
            <a:off x="731520" y="1874520"/>
            <a:ext cx="456840" cy="456840"/>
          </a:xfrm>
          <a:prstGeom prst="ellipse">
            <a:avLst/>
          </a:prstGeom>
          <a:solidFill>
            <a:srgbClr val="8B7F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34" name="Image 1" descr="preencoded.png"/>
          <p:cNvPicPr/>
          <p:nvPr/>
        </p:nvPicPr>
        <p:blipFill>
          <a:blip r:embed="rId2"/>
          <a:stretch/>
        </p:blipFill>
        <p:spPr>
          <a:xfrm>
            <a:off x="804600" y="1938600"/>
            <a:ext cx="319680" cy="319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5" name="Text 5"/>
          <p:cNvSpPr/>
          <p:nvPr/>
        </p:nvSpPr>
        <p:spPr>
          <a:xfrm>
            <a:off x="1325880" y="1874520"/>
            <a:ext cx="4343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2D2A4A"/>
                </a:solidFill>
                <a:effectLst/>
                <a:uFillTx/>
                <a:latin typeface="Century Gothic"/>
                <a:ea typeface="Century Gothic"/>
              </a:rPr>
              <a:t>What We WILL Do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6" name="Text 6"/>
          <p:cNvSpPr/>
          <p:nvPr/>
        </p:nvSpPr>
        <p:spPr>
          <a:xfrm>
            <a:off x="731520" y="2514600"/>
            <a:ext cx="4800240" cy="338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03040" indent="-203040" defTabSz="914400">
              <a:lnSpc>
                <a:spcPct val="115000"/>
              </a:lnSpc>
              <a:spcAft>
                <a:spcPts val="1001"/>
              </a:spcAft>
              <a:buClr>
                <a:srgbClr val="2D2A4A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2D2A4A"/>
                </a:solidFill>
                <a:effectLst/>
                <a:uFillTx/>
                <a:latin typeface="Calibri"/>
                <a:ea typeface="Calibri"/>
              </a:rPr>
              <a:t>Build real intuition for what each concept means and why it matters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15000"/>
              </a:lnSpc>
              <a:spcAft>
                <a:spcPts val="1001"/>
              </a:spcAft>
              <a:buClr>
                <a:srgbClr val="2D2A4A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2D2A4A"/>
                </a:solidFill>
                <a:effectLst/>
                <a:uFillTx/>
                <a:latin typeface="Calibri"/>
                <a:ea typeface="Calibri"/>
              </a:rPr>
              <a:t>Show you exactly when to reach for which tool, in real, practical situations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15000"/>
              </a:lnSpc>
              <a:spcAft>
                <a:spcPts val="1001"/>
              </a:spcAft>
              <a:buClr>
                <a:srgbClr val="2D2A4A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2D2A4A"/>
                </a:solidFill>
                <a:effectLst/>
                <a:uFillTx/>
                <a:latin typeface="Calibri"/>
                <a:ea typeface="Calibri"/>
              </a:rPr>
              <a:t>Cover the handful of formulas that are genuinely worth knowing by heart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15000"/>
              </a:lnSpc>
              <a:spcAft>
                <a:spcPts val="1001"/>
              </a:spcAft>
              <a:buClr>
                <a:srgbClr val="2D2A4A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2D2A4A"/>
                </a:solidFill>
                <a:effectLst/>
                <a:uFillTx/>
                <a:latin typeface="Calibri"/>
                <a:ea typeface="Calibri"/>
              </a:rPr>
              <a:t>Connect every concept directly to code, data, and models you’ll actually build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7" name="Shape 7"/>
          <p:cNvSpPr/>
          <p:nvPr/>
        </p:nvSpPr>
        <p:spPr>
          <a:xfrm>
            <a:off x="6172200" y="1645920"/>
            <a:ext cx="5348880" cy="4480200"/>
          </a:xfrm>
          <a:prstGeom prst="roundRect">
            <a:avLst>
              <a:gd name="adj" fmla="val 3265"/>
            </a:avLst>
          </a:prstGeom>
          <a:solidFill>
            <a:srgbClr val="FFF6DC"/>
          </a:solidFill>
          <a:ln w="12700">
            <a:solidFill>
              <a:srgbClr val="D8D2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" name="Shape 8"/>
          <p:cNvSpPr/>
          <p:nvPr/>
        </p:nvSpPr>
        <p:spPr>
          <a:xfrm>
            <a:off x="6446520" y="1874520"/>
            <a:ext cx="456840" cy="456840"/>
          </a:xfrm>
          <a:prstGeom prst="ellipse">
            <a:avLst/>
          </a:prstGeom>
          <a:solidFill>
            <a:srgbClr val="FF8FB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39" name="Image 2" descr="preencoded.png"/>
          <p:cNvPicPr/>
          <p:nvPr/>
        </p:nvPicPr>
        <p:blipFill>
          <a:blip r:embed="rId3"/>
          <a:stretch/>
        </p:blipFill>
        <p:spPr>
          <a:xfrm>
            <a:off x="6519600" y="1938600"/>
            <a:ext cx="319680" cy="319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0" name="Text 9"/>
          <p:cNvSpPr/>
          <p:nvPr/>
        </p:nvSpPr>
        <p:spPr>
          <a:xfrm>
            <a:off x="7040880" y="1874520"/>
            <a:ext cx="4343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2D2A4A"/>
                </a:solidFill>
                <a:effectLst/>
                <a:uFillTx/>
                <a:latin typeface="Century Gothic"/>
                <a:ea typeface="Century Gothic"/>
              </a:rPr>
              <a:t>What We WON’T Do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1" name="Text 10"/>
          <p:cNvSpPr/>
          <p:nvPr/>
        </p:nvSpPr>
        <p:spPr>
          <a:xfrm>
            <a:off x="6446520" y="2514600"/>
            <a:ext cx="4800240" cy="338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03040" indent="-203040" defTabSz="914400">
              <a:lnSpc>
                <a:spcPct val="115000"/>
              </a:lnSpc>
              <a:spcAft>
                <a:spcPts val="1001"/>
              </a:spcAft>
              <a:buClr>
                <a:srgbClr val="2D2A4A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2D2A4A"/>
                </a:solidFill>
                <a:effectLst/>
                <a:uFillTx/>
                <a:latin typeface="Calibri"/>
                <a:ea typeface="Calibri"/>
              </a:rPr>
              <a:t>Derive formulas from first principles, or prove theorems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15000"/>
              </a:lnSpc>
              <a:spcAft>
                <a:spcPts val="1001"/>
              </a:spcAft>
              <a:buClr>
                <a:srgbClr val="2D2A4A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2D2A4A"/>
                </a:solidFill>
                <a:effectLst/>
                <a:uFillTx/>
                <a:latin typeface="Calibri"/>
                <a:ea typeface="Calibri"/>
              </a:rPr>
              <a:t>Drill long hand-calculations that a library computes instantly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15000"/>
              </a:lnSpc>
              <a:spcAft>
                <a:spcPts val="1001"/>
              </a:spcAft>
              <a:buClr>
                <a:srgbClr val="2D2A4A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2D2A4A"/>
                </a:solidFill>
                <a:effectLst/>
                <a:uFillTx/>
                <a:latin typeface="Calibri"/>
                <a:ea typeface="Calibri"/>
              </a:rPr>
              <a:t>Cover every edge case or every advanced variant of a technique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15000"/>
              </a:lnSpc>
              <a:spcAft>
                <a:spcPts val="1001"/>
              </a:spcAft>
              <a:buClr>
                <a:srgbClr val="2D2A4A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2D2A4A"/>
                </a:solidFill>
                <a:effectLst/>
                <a:uFillTx/>
                <a:latin typeface="Calibri"/>
                <a:ea typeface="Calibri"/>
              </a:rPr>
              <a:t>Expect any prior math background beyond what next session will cover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2" name="Text 11"/>
          <p:cNvSpPr/>
          <p:nvPr/>
        </p:nvSpPr>
        <p:spPr>
          <a:xfrm>
            <a:off x="457200" y="6446520"/>
            <a:ext cx="8686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685F8F"/>
                </a:solidFill>
                <a:effectLst/>
                <a:uFillTx/>
                <a:latin typeface="Calibri"/>
                <a:ea typeface="Calibri"/>
              </a:rPr>
              <a:t>CodeByPaxto: The AI &amp; ML Playground  ·  Hafiz Waseem Ahmed (Paxto)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3" name="Text 12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85F8F"/>
                </a:solidFill>
                <a:effectLst/>
                <a:uFillTx/>
                <a:latin typeface="Calibri"/>
                <a:ea typeface="Calibri"/>
              </a:rPr>
              <a:t>15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Shape 0"/>
          <p:cNvSpPr/>
          <p:nvPr/>
        </p:nvSpPr>
        <p:spPr>
          <a:xfrm>
            <a:off x="457200" y="457200"/>
            <a:ext cx="639720" cy="639720"/>
          </a:xfrm>
          <a:prstGeom prst="ellipse">
            <a:avLst/>
          </a:prstGeom>
          <a:solidFill>
            <a:srgbClr val="8B7F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45" name="Image 0" descr="preencoded.png"/>
          <p:cNvPicPr/>
          <p:nvPr/>
        </p:nvPicPr>
        <p:blipFill>
          <a:blip r:embed="rId1"/>
          <a:stretch/>
        </p:blipFill>
        <p:spPr>
          <a:xfrm>
            <a:off x="548640" y="54864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6" name="Text 1"/>
          <p:cNvSpPr/>
          <p:nvPr/>
        </p:nvSpPr>
        <p:spPr>
          <a:xfrm>
            <a:off x="1280160" y="45720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2D2A4A"/>
                </a:solidFill>
                <a:effectLst/>
                <a:uFillTx/>
                <a:latin typeface="Century Gothic"/>
                <a:ea typeface="Century Gothic"/>
              </a:rPr>
              <a:t>The Road Ahead — Every Math Session Still to Come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7" name="Shape 2"/>
          <p:cNvSpPr/>
          <p:nvPr/>
        </p:nvSpPr>
        <p:spPr>
          <a:xfrm>
            <a:off x="457200" y="1206720"/>
            <a:ext cx="11274480" cy="360"/>
          </a:xfrm>
          <a:prstGeom prst="line">
            <a:avLst/>
          </a:prstGeom>
          <a:ln w="19050">
            <a:solidFill>
              <a:srgbClr val="D8D2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8" name="Shape 3"/>
          <p:cNvSpPr/>
          <p:nvPr/>
        </p:nvSpPr>
        <p:spPr>
          <a:xfrm>
            <a:off x="457200" y="1600200"/>
            <a:ext cx="11274120" cy="561240"/>
          </a:xfrm>
          <a:prstGeom prst="roundRect">
            <a:avLst>
              <a:gd name="adj" fmla="val 19535"/>
            </a:avLst>
          </a:prstGeom>
          <a:solidFill>
            <a:srgbClr val="EDE9FE"/>
          </a:solidFill>
          <a:ln w="12700">
            <a:solidFill>
              <a:srgbClr val="D8D2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9" name="Shape 4"/>
          <p:cNvSpPr/>
          <p:nvPr/>
        </p:nvSpPr>
        <p:spPr>
          <a:xfrm>
            <a:off x="685800" y="1707480"/>
            <a:ext cx="347040" cy="347040"/>
          </a:xfrm>
          <a:prstGeom prst="ellipse">
            <a:avLst/>
          </a:prstGeom>
          <a:solidFill>
            <a:srgbClr val="8B7F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50" name="Image 1" descr="preencoded.png"/>
          <p:cNvPicPr/>
          <p:nvPr/>
        </p:nvPicPr>
        <p:blipFill>
          <a:blip r:embed="rId2"/>
          <a:stretch/>
        </p:blipFill>
        <p:spPr>
          <a:xfrm>
            <a:off x="758880" y="1780560"/>
            <a:ext cx="200880" cy="200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1" name="Text 5"/>
          <p:cNvSpPr/>
          <p:nvPr/>
        </p:nvSpPr>
        <p:spPr>
          <a:xfrm>
            <a:off x="1234440" y="1600200"/>
            <a:ext cx="10240920" cy="56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2D2A4A"/>
                </a:solidFill>
                <a:effectLst/>
                <a:uFillTx/>
                <a:latin typeface="Calibri"/>
                <a:ea typeface="Calibri"/>
              </a:rPr>
              <a:t>Session 17 — Math Prerequisites: percentages, ratios, roots, powers, logs, and reading notation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2" name="Shape 6"/>
          <p:cNvSpPr/>
          <p:nvPr/>
        </p:nvSpPr>
        <p:spPr>
          <a:xfrm>
            <a:off x="457200" y="2253240"/>
            <a:ext cx="11274120" cy="561240"/>
          </a:xfrm>
          <a:prstGeom prst="roundRect">
            <a:avLst>
              <a:gd name="adj" fmla="val 19535"/>
            </a:avLst>
          </a:prstGeom>
          <a:solidFill>
            <a:srgbClr val="FFFFFF"/>
          </a:solidFill>
          <a:ln w="12700">
            <a:solidFill>
              <a:srgbClr val="D8D2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3" name="Shape 7"/>
          <p:cNvSpPr/>
          <p:nvPr/>
        </p:nvSpPr>
        <p:spPr>
          <a:xfrm>
            <a:off x="685800" y="2360520"/>
            <a:ext cx="347040" cy="347040"/>
          </a:xfrm>
          <a:prstGeom prst="ellipse">
            <a:avLst/>
          </a:prstGeom>
          <a:solidFill>
            <a:srgbClr val="5FD6B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54" name="Image 2" descr="preencoded.png"/>
          <p:cNvPicPr/>
          <p:nvPr/>
        </p:nvPicPr>
        <p:blipFill>
          <a:blip r:embed="rId3"/>
          <a:stretch/>
        </p:blipFill>
        <p:spPr>
          <a:xfrm>
            <a:off x="758880" y="2433600"/>
            <a:ext cx="200880" cy="200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5" name="Text 8"/>
          <p:cNvSpPr/>
          <p:nvPr/>
        </p:nvSpPr>
        <p:spPr>
          <a:xfrm>
            <a:off x="1234440" y="2253240"/>
            <a:ext cx="10240920" cy="56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2D2A4A"/>
                </a:solidFill>
                <a:effectLst/>
                <a:uFillTx/>
                <a:latin typeface="Calibri"/>
                <a:ea typeface="Calibri"/>
              </a:rPr>
              <a:t>Session 18 — Descriptive Statistics: describing what your data actually looks like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6" name="Shape 9"/>
          <p:cNvSpPr/>
          <p:nvPr/>
        </p:nvSpPr>
        <p:spPr>
          <a:xfrm>
            <a:off x="457200" y="2906640"/>
            <a:ext cx="11274120" cy="561240"/>
          </a:xfrm>
          <a:prstGeom prst="roundRect">
            <a:avLst>
              <a:gd name="adj" fmla="val 19535"/>
            </a:avLst>
          </a:prstGeom>
          <a:solidFill>
            <a:srgbClr val="EDE9FE"/>
          </a:solidFill>
          <a:ln w="12700">
            <a:solidFill>
              <a:srgbClr val="D8D2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7" name="Shape 10"/>
          <p:cNvSpPr/>
          <p:nvPr/>
        </p:nvSpPr>
        <p:spPr>
          <a:xfrm>
            <a:off x="685800" y="3013560"/>
            <a:ext cx="347040" cy="347040"/>
          </a:xfrm>
          <a:prstGeom prst="ellipse">
            <a:avLst/>
          </a:prstGeom>
          <a:solidFill>
            <a:srgbClr val="FFC9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58" name="Image 3" descr="preencoded.png"/>
          <p:cNvPicPr/>
          <p:nvPr/>
        </p:nvPicPr>
        <p:blipFill>
          <a:blip r:embed="rId4"/>
          <a:stretch/>
        </p:blipFill>
        <p:spPr>
          <a:xfrm>
            <a:off x="758880" y="3086640"/>
            <a:ext cx="200880" cy="200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9" name="Text 11"/>
          <p:cNvSpPr/>
          <p:nvPr/>
        </p:nvSpPr>
        <p:spPr>
          <a:xfrm>
            <a:off x="1234440" y="2906640"/>
            <a:ext cx="10240920" cy="56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2D2A4A"/>
                </a:solidFill>
                <a:effectLst/>
                <a:uFillTx/>
                <a:latin typeface="Calibri"/>
                <a:ea typeface="Calibri"/>
              </a:rPr>
              <a:t>Session 19 — Probability: reasoning about uncertainty, and Bayes’ Theorem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0" name="Shape 12"/>
          <p:cNvSpPr/>
          <p:nvPr/>
        </p:nvSpPr>
        <p:spPr>
          <a:xfrm>
            <a:off x="457200" y="3559680"/>
            <a:ext cx="11274120" cy="561240"/>
          </a:xfrm>
          <a:prstGeom prst="roundRect">
            <a:avLst>
              <a:gd name="adj" fmla="val 19535"/>
            </a:avLst>
          </a:prstGeom>
          <a:solidFill>
            <a:srgbClr val="FFFFFF"/>
          </a:solidFill>
          <a:ln w="12700">
            <a:solidFill>
              <a:srgbClr val="D8D2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1" name="Shape 13"/>
          <p:cNvSpPr/>
          <p:nvPr/>
        </p:nvSpPr>
        <p:spPr>
          <a:xfrm>
            <a:off x="685800" y="3666600"/>
            <a:ext cx="347040" cy="347040"/>
          </a:xfrm>
          <a:prstGeom prst="ellipse">
            <a:avLst/>
          </a:prstGeom>
          <a:solidFill>
            <a:srgbClr val="FF8FB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62" name="Image 4" descr="preencoded.png"/>
          <p:cNvPicPr/>
          <p:nvPr/>
        </p:nvPicPr>
        <p:blipFill>
          <a:blip r:embed="rId5"/>
          <a:stretch/>
        </p:blipFill>
        <p:spPr>
          <a:xfrm>
            <a:off x="758880" y="3740040"/>
            <a:ext cx="200880" cy="200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3" name="Text 14"/>
          <p:cNvSpPr/>
          <p:nvPr/>
        </p:nvSpPr>
        <p:spPr>
          <a:xfrm>
            <a:off x="1234440" y="3559680"/>
            <a:ext cx="10240920" cy="56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2D2A4A"/>
                </a:solidFill>
                <a:effectLst/>
                <a:uFillTx/>
                <a:latin typeface="Calibri"/>
                <a:ea typeface="Calibri"/>
              </a:rPr>
              <a:t>Session 20 — Inferential Statistics I: confidence, hypothesis testing, and p-values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4" name="Shape 15"/>
          <p:cNvSpPr/>
          <p:nvPr/>
        </p:nvSpPr>
        <p:spPr>
          <a:xfrm>
            <a:off x="457200" y="4212720"/>
            <a:ext cx="11274120" cy="561240"/>
          </a:xfrm>
          <a:prstGeom prst="roundRect">
            <a:avLst>
              <a:gd name="adj" fmla="val 19535"/>
            </a:avLst>
          </a:prstGeom>
          <a:solidFill>
            <a:srgbClr val="EDE9FE"/>
          </a:solidFill>
          <a:ln w="12700">
            <a:solidFill>
              <a:srgbClr val="D8D2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5" name="Shape 16"/>
          <p:cNvSpPr/>
          <p:nvPr/>
        </p:nvSpPr>
        <p:spPr>
          <a:xfrm>
            <a:off x="685800" y="4320000"/>
            <a:ext cx="347040" cy="347040"/>
          </a:xfrm>
          <a:prstGeom prst="ellipse">
            <a:avLst/>
          </a:prstGeom>
          <a:solidFill>
            <a:srgbClr val="8B7F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66" name="Image 5" descr="preencoded.png"/>
          <p:cNvPicPr/>
          <p:nvPr/>
        </p:nvPicPr>
        <p:blipFill>
          <a:blip r:embed="rId6"/>
          <a:stretch/>
        </p:blipFill>
        <p:spPr>
          <a:xfrm>
            <a:off x="758880" y="4393080"/>
            <a:ext cx="200880" cy="200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7" name="Text 17"/>
          <p:cNvSpPr/>
          <p:nvPr/>
        </p:nvSpPr>
        <p:spPr>
          <a:xfrm>
            <a:off x="1234440" y="4212720"/>
            <a:ext cx="10240920" cy="56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2D2A4A"/>
                </a:solidFill>
                <a:effectLst/>
                <a:uFillTx/>
                <a:latin typeface="Calibri"/>
                <a:ea typeface="Calibri"/>
              </a:rPr>
              <a:t>Session 21 — Inferential Statistics II: t-tests, ANOVA, chi-square, and which test to use when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8" name="Shape 18"/>
          <p:cNvSpPr/>
          <p:nvPr/>
        </p:nvSpPr>
        <p:spPr>
          <a:xfrm>
            <a:off x="457200" y="4865760"/>
            <a:ext cx="11274120" cy="561240"/>
          </a:xfrm>
          <a:prstGeom prst="roundRect">
            <a:avLst>
              <a:gd name="adj" fmla="val 19535"/>
            </a:avLst>
          </a:prstGeom>
          <a:solidFill>
            <a:srgbClr val="FFFFFF"/>
          </a:solidFill>
          <a:ln w="12700">
            <a:solidFill>
              <a:srgbClr val="D8D2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9" name="Shape 19"/>
          <p:cNvSpPr/>
          <p:nvPr/>
        </p:nvSpPr>
        <p:spPr>
          <a:xfrm>
            <a:off x="685800" y="4973040"/>
            <a:ext cx="347040" cy="347040"/>
          </a:xfrm>
          <a:prstGeom prst="ellipse">
            <a:avLst/>
          </a:prstGeom>
          <a:solidFill>
            <a:srgbClr val="5FD6B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70" name="Image 6" descr="preencoded.png"/>
          <p:cNvPicPr/>
          <p:nvPr/>
        </p:nvPicPr>
        <p:blipFill>
          <a:blip r:embed="rId7"/>
          <a:stretch/>
        </p:blipFill>
        <p:spPr>
          <a:xfrm>
            <a:off x="758880" y="5046120"/>
            <a:ext cx="200880" cy="200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1" name="Text 20"/>
          <p:cNvSpPr/>
          <p:nvPr/>
        </p:nvSpPr>
        <p:spPr>
          <a:xfrm>
            <a:off x="1234440" y="4865760"/>
            <a:ext cx="10240920" cy="56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2D2A4A"/>
                </a:solidFill>
                <a:effectLst/>
                <a:uFillTx/>
                <a:latin typeface="Calibri"/>
                <a:ea typeface="Calibri"/>
              </a:rPr>
              <a:t>Session 22 — Linear Algebra: vectors, matrices, and the dot product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2" name="Shape 21"/>
          <p:cNvSpPr/>
          <p:nvPr/>
        </p:nvSpPr>
        <p:spPr>
          <a:xfrm>
            <a:off x="457200" y="5519160"/>
            <a:ext cx="11274120" cy="561240"/>
          </a:xfrm>
          <a:prstGeom prst="roundRect">
            <a:avLst>
              <a:gd name="adj" fmla="val 19535"/>
            </a:avLst>
          </a:prstGeom>
          <a:solidFill>
            <a:srgbClr val="EDE9FE"/>
          </a:solidFill>
          <a:ln w="12700">
            <a:solidFill>
              <a:srgbClr val="D8D2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3" name="Shape 22"/>
          <p:cNvSpPr/>
          <p:nvPr/>
        </p:nvSpPr>
        <p:spPr>
          <a:xfrm>
            <a:off x="685800" y="5626080"/>
            <a:ext cx="347040" cy="347040"/>
          </a:xfrm>
          <a:prstGeom prst="ellipse">
            <a:avLst/>
          </a:prstGeom>
          <a:solidFill>
            <a:srgbClr val="FFC9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74" name="Image 7" descr="preencoded.png"/>
          <p:cNvPicPr/>
          <p:nvPr/>
        </p:nvPicPr>
        <p:blipFill>
          <a:blip r:embed="rId8"/>
          <a:stretch/>
        </p:blipFill>
        <p:spPr>
          <a:xfrm>
            <a:off x="758880" y="5699160"/>
            <a:ext cx="200880" cy="200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5" name="Text 23"/>
          <p:cNvSpPr/>
          <p:nvPr/>
        </p:nvSpPr>
        <p:spPr>
          <a:xfrm>
            <a:off x="1234440" y="5519160"/>
            <a:ext cx="10240920" cy="56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2D2A4A"/>
                </a:solidFill>
                <a:effectLst/>
                <a:uFillTx/>
                <a:latin typeface="Calibri"/>
                <a:ea typeface="Calibri"/>
              </a:rPr>
              <a:t>Calculus arrives later — saved for the exact moment we introduce training a model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6" name="Text 24"/>
          <p:cNvSpPr/>
          <p:nvPr/>
        </p:nvSpPr>
        <p:spPr>
          <a:xfrm>
            <a:off x="457200" y="6446520"/>
            <a:ext cx="8686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685F8F"/>
                </a:solidFill>
                <a:effectLst/>
                <a:uFillTx/>
                <a:latin typeface="Calibri"/>
                <a:ea typeface="Calibri"/>
              </a:rPr>
              <a:t>CodeByPaxto: The AI &amp; ML Playground  ·  Hafiz Waseem Ahmed (Paxto)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7" name="Text 25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85F8F"/>
                </a:solidFill>
                <a:effectLst/>
                <a:uFillTx/>
                <a:latin typeface="Calibri"/>
                <a:ea typeface="Calibri"/>
              </a:rPr>
              <a:t>16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Shape 0"/>
          <p:cNvSpPr/>
          <p:nvPr/>
        </p:nvSpPr>
        <p:spPr>
          <a:xfrm>
            <a:off x="457200" y="457200"/>
            <a:ext cx="639720" cy="639720"/>
          </a:xfrm>
          <a:prstGeom prst="ellipse">
            <a:avLst/>
          </a:prstGeom>
          <a:solidFill>
            <a:srgbClr val="8B7F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79" name="Image 0" descr="preencoded.png"/>
          <p:cNvPicPr/>
          <p:nvPr/>
        </p:nvPicPr>
        <p:blipFill>
          <a:blip r:embed="rId1"/>
          <a:stretch/>
        </p:blipFill>
        <p:spPr>
          <a:xfrm>
            <a:off x="548640" y="54864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0" name="Text 1"/>
          <p:cNvSpPr/>
          <p:nvPr/>
        </p:nvSpPr>
        <p:spPr>
          <a:xfrm>
            <a:off x="1280160" y="45720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2D2A4A"/>
                </a:solidFill>
                <a:effectLst/>
                <a:uFillTx/>
                <a:latin typeface="Century Gothic"/>
                <a:ea typeface="Century Gothic"/>
              </a:rPr>
              <a:t>Quick Reflection — Before We Move On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1" name="Shape 2"/>
          <p:cNvSpPr/>
          <p:nvPr/>
        </p:nvSpPr>
        <p:spPr>
          <a:xfrm>
            <a:off x="457200" y="1206720"/>
            <a:ext cx="11274480" cy="360"/>
          </a:xfrm>
          <a:prstGeom prst="line">
            <a:avLst/>
          </a:prstGeom>
          <a:ln w="19050">
            <a:solidFill>
              <a:srgbClr val="D8D2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2" name="Shape 3"/>
          <p:cNvSpPr/>
          <p:nvPr/>
        </p:nvSpPr>
        <p:spPr>
          <a:xfrm>
            <a:off x="457200" y="1600200"/>
            <a:ext cx="11274120" cy="4480200"/>
          </a:xfrm>
          <a:prstGeom prst="roundRect">
            <a:avLst>
              <a:gd name="adj" fmla="val 3673"/>
            </a:avLst>
          </a:prstGeom>
          <a:solidFill>
            <a:srgbClr val="EDE9FE"/>
          </a:solidFill>
          <a:ln w="12700">
            <a:solidFill>
              <a:srgbClr val="D8D2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3" name="Text 4"/>
          <p:cNvSpPr/>
          <p:nvPr/>
        </p:nvSpPr>
        <p:spPr>
          <a:xfrm>
            <a:off x="822960" y="1828800"/>
            <a:ext cx="10515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D2A4A"/>
                </a:solidFill>
                <a:effectLst/>
                <a:uFillTx/>
                <a:latin typeface="Century Gothic"/>
                <a:ea typeface="Century Gothic"/>
              </a:rPr>
              <a:t>Take a few minutes with these — there’s no right answer, just your own thinking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4" name="Shape 5"/>
          <p:cNvSpPr/>
          <p:nvPr/>
        </p:nvSpPr>
        <p:spPr>
          <a:xfrm>
            <a:off x="822960" y="2423160"/>
            <a:ext cx="383760" cy="383760"/>
          </a:xfrm>
          <a:prstGeom prst="ellipse">
            <a:avLst/>
          </a:prstGeom>
          <a:solidFill>
            <a:srgbClr val="8B7F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5" name="Text 6"/>
          <p:cNvSpPr/>
          <p:nvPr/>
        </p:nvSpPr>
        <p:spPr>
          <a:xfrm>
            <a:off x="822960" y="242316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6" name="Text 7"/>
          <p:cNvSpPr/>
          <p:nvPr/>
        </p:nvSpPr>
        <p:spPr>
          <a:xfrm>
            <a:off x="1435680" y="2423160"/>
            <a:ext cx="95824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2D2A4A"/>
                </a:solidFill>
                <a:effectLst/>
                <a:uFillTx/>
                <a:latin typeface="Calibri"/>
                <a:ea typeface="Calibri"/>
              </a:rPr>
              <a:t>Think of one decision you made this week using an informal average, percentage, or probability — write it down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7" name="Shape 8"/>
          <p:cNvSpPr/>
          <p:nvPr/>
        </p:nvSpPr>
        <p:spPr>
          <a:xfrm>
            <a:off x="822960" y="3300840"/>
            <a:ext cx="383760" cy="383760"/>
          </a:xfrm>
          <a:prstGeom prst="ellipse">
            <a:avLst/>
          </a:prstGeom>
          <a:solidFill>
            <a:srgbClr val="8B7F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 9"/>
          <p:cNvSpPr/>
          <p:nvPr/>
        </p:nvSpPr>
        <p:spPr>
          <a:xfrm>
            <a:off x="822960" y="330084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9" name="Text 10"/>
          <p:cNvSpPr/>
          <p:nvPr/>
        </p:nvSpPr>
        <p:spPr>
          <a:xfrm>
            <a:off x="1435680" y="3300840"/>
            <a:ext cx="95824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2D2A4A"/>
                </a:solidFill>
                <a:effectLst/>
                <a:uFillTx/>
                <a:latin typeface="Calibri"/>
                <a:ea typeface="Calibri"/>
              </a:rPr>
              <a:t>Which of the four pillars — statistics, probability, linear algebra, calculus — sounds most useful for something YOU want to build one day?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0" name="Shape 11"/>
          <p:cNvSpPr/>
          <p:nvPr/>
        </p:nvSpPr>
        <p:spPr>
          <a:xfrm>
            <a:off x="822960" y="4178880"/>
            <a:ext cx="383760" cy="383760"/>
          </a:xfrm>
          <a:prstGeom prst="ellipse">
            <a:avLst/>
          </a:prstGeom>
          <a:solidFill>
            <a:srgbClr val="8B7F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1" name="Text 12"/>
          <p:cNvSpPr/>
          <p:nvPr/>
        </p:nvSpPr>
        <p:spPr>
          <a:xfrm>
            <a:off x="822960" y="417888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2" name="Text 13"/>
          <p:cNvSpPr/>
          <p:nvPr/>
        </p:nvSpPr>
        <p:spPr>
          <a:xfrm>
            <a:off x="1435680" y="4178880"/>
            <a:ext cx="95824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2D2A4A"/>
                </a:solidFill>
                <a:effectLst/>
                <a:uFillTx/>
                <a:latin typeface="Calibri"/>
                <a:ea typeface="Calibri"/>
              </a:rPr>
              <a:t>Name one AI-powered product you use regularly, and guess which pillar is doing the most work behind it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3" name="Shape 14"/>
          <p:cNvSpPr/>
          <p:nvPr/>
        </p:nvSpPr>
        <p:spPr>
          <a:xfrm>
            <a:off x="822960" y="5056560"/>
            <a:ext cx="383760" cy="383760"/>
          </a:xfrm>
          <a:prstGeom prst="ellipse">
            <a:avLst/>
          </a:prstGeom>
          <a:solidFill>
            <a:srgbClr val="8B7F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4" name="Text 15"/>
          <p:cNvSpPr/>
          <p:nvPr/>
        </p:nvSpPr>
        <p:spPr>
          <a:xfrm>
            <a:off x="822960" y="505656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5" name="Text 16"/>
          <p:cNvSpPr/>
          <p:nvPr/>
        </p:nvSpPr>
        <p:spPr>
          <a:xfrm>
            <a:off x="1435680" y="5056560"/>
            <a:ext cx="95824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2D2A4A"/>
                </a:solidFill>
                <a:effectLst/>
                <a:uFillTx/>
                <a:latin typeface="Calibri"/>
                <a:ea typeface="Calibri"/>
              </a:rPr>
              <a:t>What’s one math topic that’s intimidated you in the past? Keep it in mind — we’ll very likely de-mystify it directly in this phase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6" name="Text 17"/>
          <p:cNvSpPr/>
          <p:nvPr/>
        </p:nvSpPr>
        <p:spPr>
          <a:xfrm>
            <a:off x="457200" y="6446520"/>
            <a:ext cx="8686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685F8F"/>
                </a:solidFill>
                <a:effectLst/>
                <a:uFillTx/>
                <a:latin typeface="Calibri"/>
                <a:ea typeface="Calibri"/>
              </a:rPr>
              <a:t>CodeByPaxto: The AI &amp; ML Playground  ·  Hafiz Waseem Ahmed (Paxto)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7" name="Text 18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85F8F"/>
                </a:solidFill>
                <a:effectLst/>
                <a:uFillTx/>
                <a:latin typeface="Calibri"/>
                <a:ea typeface="Calibri"/>
              </a:rPr>
              <a:t>17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Text 0"/>
          <p:cNvSpPr/>
          <p:nvPr/>
        </p:nvSpPr>
        <p:spPr>
          <a:xfrm>
            <a:off x="457200" y="45720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5FD6B0"/>
                </a:solidFill>
                <a:effectLst/>
                <a:uFillTx/>
                <a:latin typeface="Calibri"/>
              </a:rPr>
              <a:t>✦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9" name="Text 1"/>
          <p:cNvSpPr/>
          <p:nvPr/>
        </p:nvSpPr>
        <p:spPr>
          <a:xfrm>
            <a:off x="11247120" y="548640"/>
            <a:ext cx="2008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0" b="0" u="none" strike="noStrike">
                <a:solidFill>
                  <a:srgbClr val="FFC94A"/>
                </a:solidFill>
                <a:effectLst/>
                <a:uFillTx/>
                <a:latin typeface="Calibri"/>
              </a:rPr>
              <a:t>✦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0" name="Text 2"/>
          <p:cNvSpPr/>
          <p:nvPr/>
        </p:nvSpPr>
        <p:spPr>
          <a:xfrm>
            <a:off x="640080" y="6126480"/>
            <a:ext cx="228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8FB3"/>
                </a:solidFill>
                <a:effectLst/>
                <a:uFillTx/>
                <a:latin typeface="Calibri"/>
              </a:rPr>
              <a:t>✦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1" name="Text 3"/>
          <p:cNvSpPr/>
          <p:nvPr/>
        </p:nvSpPr>
        <p:spPr>
          <a:xfrm>
            <a:off x="11338560" y="603504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8B7FE8"/>
                </a:solidFill>
                <a:effectLst/>
                <a:uFillTx/>
                <a:latin typeface="Calibri"/>
              </a:rPr>
              <a:t>✦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2" name="Shape 4"/>
          <p:cNvSpPr/>
          <p:nvPr/>
        </p:nvSpPr>
        <p:spPr>
          <a:xfrm rot="21510000">
            <a:off x="1874520" y="1325880"/>
            <a:ext cx="8805240" cy="776880"/>
          </a:xfrm>
          <a:prstGeom prst="roundRect">
            <a:avLst>
              <a:gd name="adj" fmla="val 17647"/>
            </a:avLst>
          </a:prstGeom>
          <a:solidFill>
            <a:srgbClr val="FFC9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3" name="Shape 5"/>
          <p:cNvSpPr/>
          <p:nvPr/>
        </p:nvSpPr>
        <p:spPr>
          <a:xfrm>
            <a:off x="1691640" y="1188720"/>
            <a:ext cx="8805240" cy="776880"/>
          </a:xfrm>
          <a:prstGeom prst="roundRect">
            <a:avLst>
              <a:gd name="adj" fmla="val 17647"/>
            </a:avLst>
          </a:prstGeom>
          <a:solidFill>
            <a:srgbClr val="8B7F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04" name="Image 0" descr="preencoded.png"/>
          <p:cNvPicPr/>
          <p:nvPr/>
        </p:nvPicPr>
        <p:blipFill>
          <a:blip r:embed="rId1"/>
          <a:stretch/>
        </p:blipFill>
        <p:spPr>
          <a:xfrm>
            <a:off x="5870520" y="1348920"/>
            <a:ext cx="45684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05" name="Text 6"/>
          <p:cNvSpPr/>
          <p:nvPr/>
        </p:nvSpPr>
        <p:spPr>
          <a:xfrm>
            <a:off x="1691640" y="1188720"/>
            <a:ext cx="88052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b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FFF6DC"/>
                </a:solidFill>
                <a:effectLst/>
                <a:uFillTx/>
                <a:latin typeface="Calibri"/>
                <a:ea typeface="Calibri"/>
              </a:rPr>
              <a:t>RECAP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6" name="Text 7"/>
          <p:cNvSpPr/>
          <p:nvPr/>
        </p:nvSpPr>
        <p:spPr>
          <a:xfrm>
            <a:off x="1097280" y="2331720"/>
            <a:ext cx="9993960" cy="191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900" b="1" u="none" strike="noStrike">
                <a:solidFill>
                  <a:srgbClr val="2D2A4A"/>
                </a:solidFill>
                <a:effectLst/>
                <a:uFillTx/>
                <a:latin typeface="Century Gothic"/>
                <a:ea typeface="Century Gothic"/>
              </a:rPr>
              <a:t>Math isn’t a wall standing between you and AI — it’s the vocabulary AI is written in. Like the queen, it reaches everywhere. You already speak more of it than you think.</a:t>
            </a:r>
            <a:endParaRPr lang="en-US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7" name="Text 8"/>
          <p:cNvSpPr/>
          <p:nvPr/>
        </p:nvSpPr>
        <p:spPr>
          <a:xfrm>
            <a:off x="1737360" y="4434840"/>
            <a:ext cx="871380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685F8F"/>
                </a:solidFill>
                <a:effectLst/>
                <a:uFillTx/>
                <a:latin typeface="Calibri"/>
                <a:ea typeface="Calibri"/>
              </a:rPr>
              <a:t>Next session: Math Prerequisites — percentages, ratios, roots, powers, logarithms, and reading notation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8" name="Text 9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85F8F"/>
                </a:solidFill>
                <a:effectLst/>
                <a:uFillTx/>
                <a:latin typeface="Calibri"/>
                <a:ea typeface="Calibri"/>
              </a:rPr>
              <a:t>18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Application>LibreOffice/26.2.4.2$Linux_X86_64 LibreOffice_project/620$Build-2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2026-08-21T05:04:15Z</dcterms:created>
  <dc:creator>PptxGenJS</dc:creator>
  <dc:description/>
  <dc:language>en-US</dc:language>
  <cp:lastModifiedBy/>
  <dcterms:modified xsi:type="dcterms:W3CDTF">2026-08-21T15:59:13Z</dcterms:modified>
  <cp:revision>6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18</vt:i4>
  </property>
  <property fmtid="{D5CDD505-2E9C-101B-9397-08002B2CF9AE}" pid="3" name="PresentationFormat">
    <vt:lpwstr>On-screen Show (16:9)</vt:lpwstr>
  </property>
  <property fmtid="{D5CDD505-2E9C-101B-9397-08002B2CF9AE}" pid="4" name="Slides">
    <vt:i4>18</vt:i4>
  </property>
</Properties>
</file>