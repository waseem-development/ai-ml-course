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12192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fiz Waseem Ahmed" userId="8a6b23c944322495" providerId="LiveId" clId="{E7CEC0E6-1526-4834-A6B2-B1E975D7A869}"/>
    <pc:docChg chg="undo custSel modSld">
      <pc:chgData name="Hafiz Waseem Ahmed" userId="8a6b23c944322495" providerId="LiveId" clId="{E7CEC0E6-1526-4834-A6B2-B1E975D7A869}" dt="2026-08-21T15:46:00.074" v="42"/>
      <pc:docMkLst>
        <pc:docMk/>
      </pc:docMkLst>
      <pc:sldChg chg="modSp mod modNotes">
        <pc:chgData name="Hafiz Waseem Ahmed" userId="8a6b23c944322495" providerId="LiveId" clId="{E7CEC0E6-1526-4834-A6B2-B1E975D7A869}" dt="2026-08-21T15:46:00.074" v="42"/>
        <pc:sldMkLst>
          <pc:docMk/>
          <pc:sldMk cId="0" sldId="277"/>
        </pc:sldMkLst>
        <pc:spChg chg="mod">
          <ac:chgData name="Hafiz Waseem Ahmed" userId="8a6b23c944322495" providerId="LiveId" clId="{E7CEC0E6-1526-4834-A6B2-B1E975D7A869}" dt="2026-08-21T15:46:00.074" v="42"/>
          <ac:spMkLst>
            <pc:docMk/>
            <pc:sldMk cId="0" sldId="277"/>
            <ac:spMk id="269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5:44:25.511" v="7"/>
          <ac:spMkLst>
            <pc:docMk/>
            <pc:sldMk cId="0" sldId="277"/>
            <ac:spMk id="27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A03CA2A-CA53-44D7-8E7A-C0F89F2ED5B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FF595B-7D0D-4EFB-AA18-7A268271AE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51C0C-2AE6-46AC-8DF6-7840037664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5F7734-4A0E-4B02-A3B6-2486F9175E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5ECED0-2D05-4510-B3B4-DD1B4A4379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793AFD-6ABD-4634-92FA-8624217C3A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C0685D-046F-410F-8D60-50CBF4272A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CD0587-C253-4E32-A615-ED2EE71673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826315-E941-4209-B94F-6F000EDEC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D070CE-85C2-44A4-8A1A-E9D02E0F9D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855766-46C2-43AA-9265-E678925907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95F619-5C94-40C0-99D1-C0603CAABA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5B0FAC-4328-450F-A910-43E887CF87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DE1A98-3CEF-49F9-8819-9523C71D1A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9F46A6-C912-4120-BD99-75B44FB472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C1D80F-1BC9-481F-AC88-002F894332F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1699E5-8543-4B59-9C5B-B5E25A488C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572609-43A4-4B1F-8B1E-94EB142519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30068C-F0B4-4E69-8498-E460F07962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2A56C0-B2F5-4417-8A27-F4AD5F2273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C5D488-CFEA-4E3D-AC61-428EE45426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25C958-E2EF-4B24-B48A-D20E49C656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EAA1A5-958C-4DEF-8496-31882EC11C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BE650C-B18F-4CA1-ABFA-04DA83A9D9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3385FD-509B-46BD-900C-85BA0F07F0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871249-4629-468D-9BF5-A01F517382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7596EA-206B-4CFD-917B-0FED235DB1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5EAA0A-94E5-4D07-B077-A2A712A054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586946-EB91-44F8-96E5-95475CA80D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0D3E55-0F6B-40B4-95D0-90B62E7DDA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DC0F47-2955-46AA-A070-06C627D8FD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145790-657F-4DD4-9087-EBD97C6684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DCC5A7-3094-4898-A0B6-D596A66B47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A2404F-D518-4F83-BDC3-A8153D6907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982B63-8066-48BF-A705-E256875FC7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14D915-01AF-4D7E-9997-48A2E49C22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A1B304-EFE2-42A3-B784-7EB3697E52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4E970F-BAE5-4869-ADFF-A7E89571C5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117EB7-68B3-496D-BAE8-E3A3058FE1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CB6B03-F5FA-46D2-BC3D-B3EAF4247D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B3BF58-1372-4048-947F-DB955F5004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3C2680-6639-4F5D-98DC-B54A4ECBA3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A235BF-1AF4-4825-9D46-8DDEEC0792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00A8E6-3631-4948-B415-6A8A351843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7494A2-0F73-4491-9240-CACC2A0353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840445-B7AA-4209-99AD-50C3915CC3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 rot="21480000">
            <a:off x="1234440" y="1690920"/>
            <a:ext cx="9719280" cy="3519720"/>
          </a:xfrm>
          <a:prstGeom prst="roundRect">
            <a:avLst>
              <a:gd name="adj" fmla="val 5195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1051560" y="1508760"/>
            <a:ext cx="9719280" cy="3519720"/>
          </a:xfrm>
          <a:prstGeom prst="roundRect">
            <a:avLst>
              <a:gd name="adj" fmla="val 5195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5367600" y="1874520"/>
            <a:ext cx="1096560" cy="10965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 0" descr="preencoded.png"/>
          <p:cNvPicPr/>
          <p:nvPr/>
        </p:nvPicPr>
        <p:blipFill>
          <a:blip r:embed="rId3"/>
          <a:stretch/>
        </p:blipFill>
        <p:spPr>
          <a:xfrm>
            <a:off x="5541120" y="2048400"/>
            <a:ext cx="749160" cy="74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 7"/>
          <p:cNvSpPr/>
          <p:nvPr/>
        </p:nvSpPr>
        <p:spPr>
          <a:xfrm>
            <a:off x="1508760" y="2880360"/>
            <a:ext cx="880488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entury Gothic"/>
                <a:ea typeface="Century Gothic"/>
              </a:rPr>
              <a:t>Math Prerequisites for Data Science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8"/>
          <p:cNvSpPr/>
          <p:nvPr/>
        </p:nvSpPr>
        <p:spPr>
          <a:xfrm>
            <a:off x="1508760" y="3794760"/>
            <a:ext cx="880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Percentages, Ratios, Powers, Roots, Logarithms &amp; Reading Notation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9"/>
          <p:cNvSpPr/>
          <p:nvPr/>
        </p:nvSpPr>
        <p:spPr>
          <a:xfrm>
            <a:off x="1508760" y="5394960"/>
            <a:ext cx="8804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Session 17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0"/>
          <p:cNvSpPr/>
          <p:nvPr/>
        </p:nvSpPr>
        <p:spPr>
          <a:xfrm>
            <a:off x="914400" y="5989320"/>
            <a:ext cx="103593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CodeByPaxto: The AI &amp; ML Playground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1"/>
          <p:cNvSpPr/>
          <p:nvPr/>
        </p:nvSpPr>
        <p:spPr>
          <a:xfrm>
            <a:off x="914400" y="6291000"/>
            <a:ext cx="1035936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Hafiz Waseem Ahmed (Paxto)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2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What We're Covering Today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457200" y="1600200"/>
            <a:ext cx="11273760" cy="566280"/>
          </a:xfrm>
          <a:prstGeom prst="roundRect">
            <a:avLst>
              <a:gd name="adj" fmla="val 19355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4"/>
          <p:cNvSpPr/>
          <p:nvPr/>
        </p:nvSpPr>
        <p:spPr>
          <a:xfrm>
            <a:off x="685800" y="1710000"/>
            <a:ext cx="346680" cy="34668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" name="Image 1" descr="preencoded.png"/>
          <p:cNvPicPr/>
          <p:nvPr/>
        </p:nvPicPr>
        <p:blipFill>
          <a:blip r:embed="rId4"/>
          <a:stretch/>
        </p:blipFill>
        <p:spPr>
          <a:xfrm>
            <a:off x="758880" y="178308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Text 5"/>
          <p:cNvSpPr/>
          <p:nvPr/>
        </p:nvSpPr>
        <p:spPr>
          <a:xfrm>
            <a:off x="1234440" y="1600200"/>
            <a:ext cx="10240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Percentages, percentage change, ratios, and proportions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457200" y="2258640"/>
            <a:ext cx="11273760" cy="56628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7"/>
          <p:cNvSpPr/>
          <p:nvPr/>
        </p:nvSpPr>
        <p:spPr>
          <a:xfrm>
            <a:off x="685800" y="2368440"/>
            <a:ext cx="346680" cy="346680"/>
          </a:xfrm>
          <a:prstGeom prst="ellipse">
            <a:avLst/>
          </a:prstGeom>
          <a:solidFill>
            <a:srgbClr val="5FD6B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2" descr="preencoded.png"/>
          <p:cNvPicPr/>
          <p:nvPr/>
        </p:nvPicPr>
        <p:blipFill>
          <a:blip r:embed="rId5"/>
          <a:stretch/>
        </p:blipFill>
        <p:spPr>
          <a:xfrm>
            <a:off x="758880" y="244152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8"/>
          <p:cNvSpPr/>
          <p:nvPr/>
        </p:nvSpPr>
        <p:spPr>
          <a:xfrm>
            <a:off x="1234440" y="2258640"/>
            <a:ext cx="10240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Powers, roots, and scientific notation — handling very big and very small numbers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457200" y="2917080"/>
            <a:ext cx="11273760" cy="566280"/>
          </a:xfrm>
          <a:prstGeom prst="roundRect">
            <a:avLst>
              <a:gd name="adj" fmla="val 19355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685800" y="3026520"/>
            <a:ext cx="346680" cy="346680"/>
          </a:xfrm>
          <a:prstGeom prst="ellipse">
            <a:avLst/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Image 3" descr="preencoded.png"/>
          <p:cNvPicPr/>
          <p:nvPr/>
        </p:nvPicPr>
        <p:blipFill>
          <a:blip r:embed="rId6"/>
          <a:stretch/>
        </p:blipFill>
        <p:spPr>
          <a:xfrm>
            <a:off x="758880" y="309996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Text 11"/>
          <p:cNvSpPr/>
          <p:nvPr/>
        </p:nvSpPr>
        <p:spPr>
          <a:xfrm>
            <a:off x="1234440" y="2917080"/>
            <a:ext cx="10240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Logarithms, intuitively — what they are, and why they matter later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2"/>
          <p:cNvSpPr/>
          <p:nvPr/>
        </p:nvSpPr>
        <p:spPr>
          <a:xfrm>
            <a:off x="457200" y="3575160"/>
            <a:ext cx="11273760" cy="56628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3"/>
          <p:cNvSpPr/>
          <p:nvPr/>
        </p:nvSpPr>
        <p:spPr>
          <a:xfrm>
            <a:off x="685800" y="3684960"/>
            <a:ext cx="346680" cy="346680"/>
          </a:xfrm>
          <a:prstGeom prst="ellipse">
            <a:avLst/>
          </a:prstGeom>
          <a:solidFill>
            <a:srgbClr val="FF8FB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Image 4" descr="preencoded.png"/>
          <p:cNvPicPr/>
          <p:nvPr/>
        </p:nvPicPr>
        <p:blipFill>
          <a:blip r:embed="rId7"/>
          <a:stretch/>
        </p:blipFill>
        <p:spPr>
          <a:xfrm>
            <a:off x="758880" y="375804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Text 14"/>
          <p:cNvSpPr/>
          <p:nvPr/>
        </p:nvSpPr>
        <p:spPr>
          <a:xfrm>
            <a:off x="1234440" y="3575160"/>
            <a:ext cx="10240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Reading math notation — Σ, subscripts, function notation, and common symbols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5"/>
          <p:cNvSpPr/>
          <p:nvPr/>
        </p:nvSpPr>
        <p:spPr>
          <a:xfrm>
            <a:off x="457200" y="4233600"/>
            <a:ext cx="11273760" cy="566280"/>
          </a:xfrm>
          <a:prstGeom prst="roundRect">
            <a:avLst>
              <a:gd name="adj" fmla="val 19355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685800" y="4343400"/>
            <a:ext cx="346680" cy="34668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" name="Image 5" descr="preencoded.png"/>
          <p:cNvPicPr/>
          <p:nvPr/>
        </p:nvPicPr>
        <p:blipFill>
          <a:blip r:embed="rId8"/>
          <a:stretch/>
        </p:blipFill>
        <p:spPr>
          <a:xfrm>
            <a:off x="758880" y="441648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Text 17"/>
          <p:cNvSpPr/>
          <p:nvPr/>
        </p:nvSpPr>
        <p:spPr>
          <a:xfrm>
            <a:off x="1234440" y="4233600"/>
            <a:ext cx="10240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Today's tasks and a mini project — decoding a real data science result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8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3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 rot="21510000">
            <a:off x="1874520" y="132588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5"/>
          <p:cNvSpPr/>
          <p:nvPr/>
        </p:nvSpPr>
        <p:spPr>
          <a:xfrm>
            <a:off x="1691640" y="118872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preencoded.png"/>
          <p:cNvPicPr/>
          <p:nvPr/>
        </p:nvPicPr>
        <p:blipFill>
          <a:blip r:embed="rId3"/>
          <a:stretch/>
        </p:blipFill>
        <p:spPr>
          <a:xfrm>
            <a:off x="5870520" y="13489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6"/>
          <p:cNvSpPr/>
          <p:nvPr/>
        </p:nvSpPr>
        <p:spPr>
          <a:xfrm>
            <a:off x="1691640" y="1188720"/>
            <a:ext cx="88048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7"/>
          <p:cNvSpPr/>
          <p:nvPr/>
        </p:nvSpPr>
        <p:spPr>
          <a:xfrm>
            <a:off x="1097280" y="2331720"/>
            <a:ext cx="999360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Percentages, Ratios &amp; Proportions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8"/>
          <p:cNvSpPr/>
          <p:nvPr/>
        </p:nvSpPr>
        <p:spPr>
          <a:xfrm>
            <a:off x="1737360" y="4434840"/>
            <a:ext cx="871344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The numbers you’ll see in almost every dataset, every metric, and every result from here 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What Is a Percentage, Really?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"Per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hundred,"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literally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Percent literally means "per hundred" — 25% is simply another way of writing 25 out of every 100, or the fraction 25/100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percentage is always a comparison — some part, measured against some whole. Without a clear "whole," a percentage is meaningless on its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"90% accuracy" only means something once you know the whole: 90 correct predictions out of 100 total attempts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Every percentage in this course — accuracy, confidence, growth — is this exact same idea, just applied to a different part and whole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Calculating a Percentage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 core formula never changes: divide the part by the whole, then multiply by 100 to express it as "per hundred"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This single formula covers test scores, discounts, model accuracy, survey results — anything expressed as a percentage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Converting back is just as common: to turn a percentage into a usable decimal, divide by 100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percentage = (part / whole) × 100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Example: 42 correct answers out of 50 questions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percentage = (42 / 50) × 100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      = 0.84 × 100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      = 84%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Converting a percentage back to a decimal: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84%  →  84 / 100  →  0.84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Percentage Change — Increase and Decrease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Percentage change measures how much something moved, relative to where it started — not just the raw difference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jump from 10 to 20 and a jump from 1000 to 1010 are both "+10" in raw terms, but wildly different in percentage terms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This distinction is exactly why data scientists almost always report percentage change, not raw change, when comparing results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percentage change = ((new - old) / old) × 100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Example: model accuracy improved from 72% to 84%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change = ((84 - 72) / 72) × 100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  = (12 / 72) × 100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  ≈ 16.7%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A negative result means a decrease, not an error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Real-World Use: Percentages in Data &amp; AI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Model accuracy is, quite literally, a percentage — correct predictions divided by total predictions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confusion matrix’s precision and recall are also percentages underneath — you’ll compute both directly from this exact formula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When a dataset report says "12% missing values," it’s telling you the part-to-whole ratio of empty cells to total cells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Model accuracy is a percentage in disguise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accuracy = (correct_predictions / total_predictions) × 100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Example: 940 correct out of 1000 predictions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accuracy = (940 / 1000) × 100 = 94%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"12% missing values" in a dataset of 500 rows: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missing_rows = 0.12 × 500 = 60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What Are Ratios and Proportions?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Comparing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two things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directly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ratio compares two quantities directly — a 3:1 ratio of cats to dogs means for every 3 cats, there is 1 dog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proportion is simply a statement that two ratios are equal — it’s how you scale a ratio up or down while keeping the same relationship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Ratios don’t need a "whole" the way percentages do — they just compare parts to each other directly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You already use ratios constantly — a recipe’s ingredient ratio, a map’s scale, or splitting a bill in a certain proportion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Working With Ratios &amp; Proportions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Ratios are usually simplified the same way fractions are — divide both sides by their greatest common factor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Cross-multiplication is the standard way to solve a proportion when one value is unknown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This exact technique is what you’ll use to scale a recipe, resize an image proportionally, or split a dataset into train/test sets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Simplifying a 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20 : 30   → divide both by 10 →   2 : 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Solving a proportion (cross-multiplication)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3 / 4  =  x / 20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3 × 20 = 4 × 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60 = 4x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x = 15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Real-World Use: Ratios in Data Science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An 80:20 train/test split is a ratio — 80% of your data trains the model, 20% evaluates it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Precision and recall, two of the most common ML evaluation metrics, are ratios — correct positive predictions compared against different totals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class imbalance report like "1:99" tells you immediately that one class is dramatically rarer than the other — critical to know before training a model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An 80:20 train/test split on 1,000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train_rows = 0.80 × 1000 = 800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test_rows  = 0.20 × 1000 = 200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Precision: correct positives out of ALL predicted positives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precision = true_positives / (true_positives + false_positives)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Recall: correct positives out of ALL actual positives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recall = true_positives / (true_positives + false_negatives)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Practice Set — Percentages &amp; Ratios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3673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Try these yourself first — that's the 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Out of 250 survey responses, 180 said yes. Calculate the percentage that said yes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8"/>
          <p:cNvSpPr/>
          <p:nvPr/>
        </p:nvSpPr>
        <p:spPr>
          <a:xfrm>
            <a:off x="822960" y="312732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822960" y="31273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0"/>
          <p:cNvSpPr/>
          <p:nvPr/>
        </p:nvSpPr>
        <p:spPr>
          <a:xfrm>
            <a:off x="1435680" y="312732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product’s price rose from $40 to $52. Calculate the percentage increase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1"/>
          <p:cNvSpPr/>
          <p:nvPr/>
        </p:nvSpPr>
        <p:spPr>
          <a:xfrm>
            <a:off x="822960" y="383148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2"/>
          <p:cNvSpPr/>
          <p:nvPr/>
        </p:nvSpPr>
        <p:spPr>
          <a:xfrm>
            <a:off x="822960" y="38314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3"/>
          <p:cNvSpPr/>
          <p:nvPr/>
        </p:nvSpPr>
        <p:spPr>
          <a:xfrm>
            <a:off x="1435680" y="38314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Simplify the ratio 45:60 to its lowest terms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4"/>
          <p:cNvSpPr/>
          <p:nvPr/>
        </p:nvSpPr>
        <p:spPr>
          <a:xfrm>
            <a:off x="822960" y="453528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5"/>
          <p:cNvSpPr/>
          <p:nvPr/>
        </p:nvSpPr>
        <p:spPr>
          <a:xfrm>
            <a:off x="822960" y="45352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6"/>
          <p:cNvSpPr/>
          <p:nvPr/>
        </p:nvSpPr>
        <p:spPr>
          <a:xfrm>
            <a:off x="1435680" y="45352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dataset has 5,000 rows split in an 70:30 train/test ratio — calculate how many rows are in each set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"/>
          <p:cNvSpPr/>
          <p:nvPr/>
        </p:nvSpPr>
        <p:spPr>
          <a:xfrm>
            <a:off x="822960" y="523944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8"/>
          <p:cNvSpPr/>
          <p:nvPr/>
        </p:nvSpPr>
        <p:spPr>
          <a:xfrm>
            <a:off x="822960" y="52394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9"/>
          <p:cNvSpPr/>
          <p:nvPr/>
        </p:nvSpPr>
        <p:spPr>
          <a:xfrm>
            <a:off x="1435680" y="52394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If precision = 0.85 and there were 100 predicted positives, how many were true positives?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0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3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4"/>
          <p:cNvSpPr/>
          <p:nvPr/>
        </p:nvSpPr>
        <p:spPr>
          <a:xfrm rot="21510000">
            <a:off x="1874520" y="132588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5"/>
          <p:cNvSpPr/>
          <p:nvPr/>
        </p:nvSpPr>
        <p:spPr>
          <a:xfrm>
            <a:off x="1691640" y="118872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" name="Image 0" descr="preencoded.png"/>
          <p:cNvPicPr/>
          <p:nvPr/>
        </p:nvPicPr>
        <p:blipFill>
          <a:blip r:embed="rId3"/>
          <a:stretch/>
        </p:blipFill>
        <p:spPr>
          <a:xfrm>
            <a:off x="5870520" y="13489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Text 6"/>
          <p:cNvSpPr/>
          <p:nvPr/>
        </p:nvSpPr>
        <p:spPr>
          <a:xfrm>
            <a:off x="1691640" y="1188720"/>
            <a:ext cx="88048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7"/>
          <p:cNvSpPr/>
          <p:nvPr/>
        </p:nvSpPr>
        <p:spPr>
          <a:xfrm>
            <a:off x="1097280" y="2331720"/>
            <a:ext cx="999360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Powers, Roots &amp; Scientific Notation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8"/>
          <p:cNvSpPr/>
          <p:nvPr/>
        </p:nvSpPr>
        <p:spPr>
          <a:xfrm>
            <a:off x="1737360" y="4434840"/>
            <a:ext cx="871344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The shorthand mathematicians use so nobody has to write out very large or very small numbers by hand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What Is an Exponent (Power)?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Repeated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multiplication,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compressed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An exponent is shorthand for repeated multiplication — 2⁴ simply means "multiply 2 by itself 4 times," not "multiply 2 by 4"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 base is the number being multiplied; the exponent tells you how many times to multiply it by itself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Squaring a number (raising it to the power of 2) is one of the most common operations in statistics — it shows up the moment you measure how spread out data is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Exponents grow explosively fast — this is exactly why they’re the natural tool for describing rapid growth, compounding, or exploding error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Rules of Exponents Worth Knowing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These handful of rules cover the vast majority of exponent situations you’ll actually run into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negative exponent doesn’t mean a negative number — it means "flip it into a fraction"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Anything raised to the power of 0 is always 1 — a rule that surprises people the first time, but holds with no exceptions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Multiplying same base: add the exponents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x² × x³ = x⁵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Power of a power: multiply the exponents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(x²)³ = x⁶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Negative exponent: flips into a fraction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x⁻² = 1 / x²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Anything to the power of 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x⁰ =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What Is a Square Root (and Cube Root)?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8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Undoing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a power,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exactly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square root asks the reverse question of squaring: "what number, multiplied by itself, gives me this?" √25 asks that about 25, and the answer is 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cube root asks the same question, three levels deep: "what number, multiplied by itself three times, gives me this?"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Square roots and squaring are inverse operations — one undoes the other, exactly like addition and subtraction undo each other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This "undoing" relationship is precisely why standard deviation (which involves a square root) is used to reverse the effect of variance (which involves squaring)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Roots as Fractional Exponents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Every root can be rewritten as a fractional exponent — this is genuinely how calculators and code compute roots internally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square root is the same as raising something to the power of one-half; a cube root is the power of one-third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Recognizing this connection means you never need to memorize roots and exponents as two separate, unrelated topics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√x        =  x^(1/2)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³√x       =  x^(1/3)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Example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√16 = 16^(1/2) = 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³√27 = 27^(1/3) = 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In Python, this is exactly what you'll type: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16 ** 0.5   # 4.0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27 ** (1/3) # 3.0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Real-World Use: Why Squares &amp; Roots Matter in Stats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Variance measures spread by squaring every deviation from the mean — squaring guarantees every value becomes positive, so distances don’t cancel out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But squaring also changes the units — squaring "dollars" gives you "dollars squared," which means nothing intuitively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Standard deviation takes the square root of variance specifically to undo that squaring, bringing the units back to something meaningful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Why variance squares deviations (simplified idea)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deviation = value - mean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squared_deviation = deviation ²      # always positive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Standard deviation undoes the squaring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standard_deviation = √variance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This is previewed here — full detail comes in Descriptive Statistics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Scientific Notation — Taming Very Big &amp; Very Small Numbers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One digit,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times 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power of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Scientific notation writes any number as a single digit (1–9), times 10 raised to some power — a compact way to handle numbers that would otherwise need a wall of zeros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positive exponent means a very large number; a negative exponent means a very small one, closer to zero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Datasets, probabilities, and computed error values constantly produce numbers like 0.0000031 or 4,500,000,000 — scientific notation keeps these genuinely readable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Python itself displays numbers this way automatically once they get large or small enough — you’ll see it constantly once real data shows up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Reading &amp; Converting Scientific Notation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 exponent tells you exactly which direction, and how far, to move the decimal point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positive exponent moves the decimal point right (making the number bigger); a negative exponent moves it left (making it smaller)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Python writes this using "e" notation — 3.1e-6 means exactly the same thing as 3.1 × 10⁻⁶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3.5 × 10⁶   =  3,500,000     (decimal moves 6 places right)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3.5 × 10⁻⁶  =  0.0000035     (decimal moves 6 places left)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 dirty="0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Python's "e" notation — identical meaning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3.5e6    # 3500000.0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3.5e-6   # 0.0000035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 dirty="0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You will see this constantly in real datasets and error values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Practice Set — Powers, Roots &amp; Scientific Notation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3673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Try these yourself first — that's the 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Calculate 3⁵ and 2⁻³ by hand, without a calculator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8"/>
          <p:cNvSpPr/>
          <p:nvPr/>
        </p:nvSpPr>
        <p:spPr>
          <a:xfrm>
            <a:off x="822960" y="312732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9"/>
          <p:cNvSpPr/>
          <p:nvPr/>
        </p:nvSpPr>
        <p:spPr>
          <a:xfrm>
            <a:off x="822960" y="31273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0"/>
          <p:cNvSpPr/>
          <p:nvPr/>
        </p:nvSpPr>
        <p:spPr>
          <a:xfrm>
            <a:off x="1435680" y="312732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Calculate √144 and ³√64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1"/>
          <p:cNvSpPr/>
          <p:nvPr/>
        </p:nvSpPr>
        <p:spPr>
          <a:xfrm>
            <a:off x="822960" y="383148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2"/>
          <p:cNvSpPr/>
          <p:nvPr/>
        </p:nvSpPr>
        <p:spPr>
          <a:xfrm>
            <a:off x="822960" y="38314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3"/>
          <p:cNvSpPr/>
          <p:nvPr/>
        </p:nvSpPr>
        <p:spPr>
          <a:xfrm>
            <a:off x="1435680" y="38314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Rewrite √50 as a fractional exponent expression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4"/>
          <p:cNvSpPr/>
          <p:nvPr/>
        </p:nvSpPr>
        <p:spPr>
          <a:xfrm>
            <a:off x="822960" y="453528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5"/>
          <p:cNvSpPr/>
          <p:nvPr/>
        </p:nvSpPr>
        <p:spPr>
          <a:xfrm>
            <a:off x="822960" y="45352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6"/>
          <p:cNvSpPr/>
          <p:nvPr/>
        </p:nvSpPr>
        <p:spPr>
          <a:xfrm>
            <a:off x="1435680" y="45352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Convert 0.00042 into scientific notation, and 6.1 × 10⁴ into ordinary decimal form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7"/>
          <p:cNvSpPr/>
          <p:nvPr/>
        </p:nvSpPr>
        <p:spPr>
          <a:xfrm>
            <a:off x="822960" y="523944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8"/>
          <p:cNvSpPr/>
          <p:nvPr/>
        </p:nvSpPr>
        <p:spPr>
          <a:xfrm>
            <a:off x="822960" y="52394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9"/>
          <p:cNvSpPr/>
          <p:nvPr/>
        </p:nvSpPr>
        <p:spPr>
          <a:xfrm>
            <a:off x="1435680" y="52394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Explain in your own words why standard deviation takes a square root, but variance doesn’t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0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22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23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4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5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8"/>
          <p:cNvSpPr/>
          <p:nvPr/>
        </p:nvSpPr>
        <p:spPr>
          <a:xfrm rot="21510000">
            <a:off x="1874520" y="132588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9"/>
          <p:cNvSpPr/>
          <p:nvPr/>
        </p:nvSpPr>
        <p:spPr>
          <a:xfrm>
            <a:off x="1691640" y="118872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" name="Image 6" descr="preencoded.png"/>
          <p:cNvPicPr/>
          <p:nvPr/>
        </p:nvPicPr>
        <p:blipFill>
          <a:blip r:embed="rId3"/>
          <a:stretch/>
        </p:blipFill>
        <p:spPr>
          <a:xfrm>
            <a:off x="5870520" y="13489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Text 26"/>
          <p:cNvSpPr/>
          <p:nvPr/>
        </p:nvSpPr>
        <p:spPr>
          <a:xfrm>
            <a:off x="1691640" y="1188720"/>
            <a:ext cx="88048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7"/>
          <p:cNvSpPr/>
          <p:nvPr/>
        </p:nvSpPr>
        <p:spPr>
          <a:xfrm>
            <a:off x="1893600" y="2514600"/>
            <a:ext cx="999360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9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Essential Math Conventions for Data Science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8"/>
          <p:cNvSpPr/>
          <p:nvPr/>
        </p:nvSpPr>
        <p:spPr>
          <a:xfrm>
            <a:off x="1737360" y="4434840"/>
            <a:ext cx="871344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Small rules and symbols you’ll need to read, calculate, and report data correctly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2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6" name="Image 7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Text 30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Rounding: Reporting the Right Amount of Precision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21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1"/>
          <p:cNvSpPr/>
          <p:nvPr/>
        </p:nvSpPr>
        <p:spPr>
          <a:xfrm>
            <a:off x="548640" y="146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buClr>
                <a:srgbClr val="2D2A4A"/>
              </a:buClr>
              <a:buFont typeface="Symbol" charset="2"/>
              <a:buChar char=""/>
            </a:pPr>
            <a:r>
              <a:rPr lang="en-US" b="0" u="none" strike="noStrike" dirty="0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Not every digit deserves to be reported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buClr>
                <a:srgbClr val="2D2A4A"/>
              </a:buClr>
              <a:buFont typeface="Symbol" charset="2"/>
              <a:buChar char=""/>
            </a:pPr>
            <a:r>
              <a:rPr lang="en-US" b="0" u="none" strike="noStrike" dirty="0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Rounding means reducing a number to fewer digits while keeping it close to its original value.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4" indent="-216000">
              <a:lnSpc>
                <a:spcPct val="135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rgbClr val="6B5FD1"/>
                </a:solidFill>
                <a:latin typeface="Cantarell"/>
              </a:rPr>
              <a:t>The basic rule:</a:t>
            </a:r>
          </a:p>
          <a:p>
            <a:pPr marL="864000" lvl="3" indent="-216000" defTabSz="9144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Look at the first digit you are removing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0–4 → keep the rounding digit unchanged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5–9 → increase the rounding digit by 1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Do the rounding at the end, not during intermediate calculations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4" indent="-216000">
              <a:lnSpc>
                <a:spcPct val="135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rgbClr val="6B5FD1"/>
                </a:solidFill>
                <a:latin typeface="Cantarell"/>
              </a:rPr>
              <a:t>Rule of thumb:</a:t>
            </a:r>
          </a:p>
          <a:p>
            <a:pPr marL="864000" lvl="3" indent="-216000" defTabSz="9144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Calculate with full precision → round when you report.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22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32"/>
          <p:cNvSpPr/>
          <p:nvPr/>
        </p:nvSpPr>
        <p:spPr>
          <a:xfrm>
            <a:off x="5806440" y="1920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350" dirty="0">
                <a:solidFill>
                  <a:srgbClr val="6B5FD1"/>
                </a:solidFill>
                <a:latin typeface="Cantarell"/>
              </a:rPr>
              <a:t>42.736</a:t>
            </a: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 dirty="0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To 1 decimal place: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350" dirty="0">
                <a:solidFill>
                  <a:srgbClr val="6B5FD1"/>
                </a:solidFill>
                <a:latin typeface="Cantarell"/>
              </a:rPr>
              <a:t>42.7   ← next digit is 3</a:t>
            </a: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 dirty="0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To 2 decimal places: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350" dirty="0">
                <a:solidFill>
                  <a:srgbClr val="6B5FD1"/>
                </a:solidFill>
                <a:latin typeface="Cantarell"/>
              </a:rPr>
              <a:t>42.74  ← next digit is 6</a:t>
            </a: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 dirty="0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To 3 decimal places: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350" dirty="0">
                <a:solidFill>
                  <a:srgbClr val="6B5FD1"/>
                </a:solidFill>
                <a:latin typeface="Cantarell"/>
              </a:rPr>
              <a:t>42.736</a:t>
            </a:r>
          </a:p>
        </p:txBody>
      </p:sp>
      <p:sp>
        <p:nvSpPr>
          <p:cNvPr id="272" name="Text 33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4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Shape 23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5" name="Image 8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Text 35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Significant Figures: How Precise Is Your Number?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24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6"/>
          <p:cNvSpPr/>
          <p:nvPr/>
        </p:nvSpPr>
        <p:spPr>
          <a:xfrm>
            <a:off x="548640" y="1576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Significant figures tell the reader how much precision the number actually communicates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 basic rules</a:t>
            </a:r>
            <a:endParaRPr lang="en-US" sz="135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Non-zero digits are always significant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Zeros between significant digits are significant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Leading zeros are not significant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Trailing zeros after a decimal point are significant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Why should you care?</a:t>
            </a:r>
            <a:endParaRPr lang="en-US" sz="135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Reporting too many digits can create a false impression of precision.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Model accuracy = 87.436291%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Better: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216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Model accuracy = 87.4%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5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7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Decimal places and significant figures are not the same thing.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42.7       → 3 significant figures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ourier New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0.00427    → 3 significant figures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ourier New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4270       → potentially ambiguous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ourier New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4.27 × 10³ → clearly 3 significant figures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ourier New"/>
            </a:endParaRPr>
          </a:p>
        </p:txBody>
      </p:sp>
      <p:sp>
        <p:nvSpPr>
          <p:cNvPr id="281" name="Text 38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Shape 26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9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0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Factorial Notation: n!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27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1"/>
          <p:cNvSpPr/>
          <p:nvPr/>
        </p:nvSpPr>
        <p:spPr>
          <a:xfrm>
            <a:off x="548640" y="1576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compact way to multiply all positive integers up to 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You will see ! attached to numbers in probability and counting formulas.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n! = n × (n − 1) × (n − 2) × ... × 2 × 1 (read is n factorial)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28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42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3! = 3 × 2 ×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= 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5! = 5 × 4 × 3 × 2 ×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= 120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7! = 7 × 6 × 5 × 4 × 3 × 2 ×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= 5040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0! =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43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44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3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4"/>
          <p:cNvSpPr/>
          <p:nvPr/>
        </p:nvSpPr>
        <p:spPr>
          <a:xfrm rot="21510000">
            <a:off x="1874520" y="132588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5"/>
          <p:cNvSpPr/>
          <p:nvPr/>
        </p:nvSpPr>
        <p:spPr>
          <a:xfrm>
            <a:off x="1691640" y="118872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0" descr="preencoded.png"/>
          <p:cNvPicPr/>
          <p:nvPr/>
        </p:nvPicPr>
        <p:blipFill>
          <a:blip r:embed="rId3"/>
          <a:stretch/>
        </p:blipFill>
        <p:spPr>
          <a:xfrm>
            <a:off x="5870520" y="13489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6"/>
          <p:cNvSpPr/>
          <p:nvPr/>
        </p:nvSpPr>
        <p:spPr>
          <a:xfrm>
            <a:off x="1691640" y="1188720"/>
            <a:ext cx="88048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7"/>
          <p:cNvSpPr/>
          <p:nvPr/>
        </p:nvSpPr>
        <p:spPr>
          <a:xfrm>
            <a:off x="1097280" y="2331720"/>
            <a:ext cx="999360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Logarithms, Intuitively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8"/>
          <p:cNvSpPr/>
          <p:nvPr/>
        </p:nvSpPr>
        <p:spPr>
          <a:xfrm>
            <a:off x="1737360" y="4434840"/>
            <a:ext cx="871344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The one topic on this list you didn’t ask for — and the one that will save you real confusion later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What Is a Logarithm, Really?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9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0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The inverse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of an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exponent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logarithm answers the exact reverse question of an exponent: "how many times do I need to multiply this base by itself to reach this number?"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log₂(8) asks "how many times do I multiply 2 by itself to get 8?" — the answer is 3, because 2³ = 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Logarithms and exponents are inverse operations, exactly like roots and powers, or addition and subtraction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If exponents describe explosive growth, logarithms describe the reverse — compressing a huge range of numbers back down into something manageable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Log Rules Worth Actually Knowing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These are the handful of log rules that actually show up in real data science work — nothing more is genuinely necessary at this stage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 product rule is especially useful — it’s exactly why probabilities are often summed as log-probabilities instead of multiplied directly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log base 10 and the natural log (base e, written ln) are the two you’ll see by far the most often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The defining relationship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log_b(x) = y   means   b^y = 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Product rule: log of a product = sum of logs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log(a × b) = log(a) + log(b)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The two logs you'll see constantly: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log10(x)   # base 10, common in scientific notation contexts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ln(x)      # natural log, base e ≈ 2.718, extremely common in ML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Why Logarithms Matter in AI &amp; Data Science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9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Compressing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huge ranges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into view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Log-transforming data is a standard EDA technique — it compresses a heavily skewed range (like income or population) into something you can actually visualize meaningfully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Log Loss, one of the most common ways to score a classification model, is built directly on logarithms — it penalizes confident-but-wrong predictions far more harshly than unsure ones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Entropy, the concept behind decision trees choosing what to split on, is also defined using logarithms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None of this requires you to compute a log by hand — the goal here is recognizing the word "log" later and knowing roughly why it’s there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Real-World Use: Log Transforms &amp; a First Look at Log Loss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log transform is often as simple as applying log() to an entire column of data before plotting or modeling it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Log Loss compares a model’s predicted probability against what actually happened — and the penalty grows sharply as a confident prediction turns out wrong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This is a preview, not the full picture — Log Loss gets properly covered once you reach model evaluation in the ML phase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Log-transforming a skewed column (conceptual)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df["income_log"] = np.log(df["income"])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Log Loss (simplified, single prediction)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heavy penalty for being confident AND wrong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loss = -(actual × log(predicted) + (1-actual) × log(1-predicted))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Predicting 0.99 when the true answer was 0 -&gt; a HUGE loss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Predicting 0.5 (unsure) when wrong -&gt; a much smaller loss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Practice Set — Logarithms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3673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Try these yourself first — that's the 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Calculate log₂(16) and log₁₀(1000) by reasoning through the definition, not a calculator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8"/>
          <p:cNvSpPr/>
          <p:nvPr/>
        </p:nvSpPr>
        <p:spPr>
          <a:xfrm>
            <a:off x="822960" y="330084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9"/>
          <p:cNvSpPr/>
          <p:nvPr/>
        </p:nvSpPr>
        <p:spPr>
          <a:xfrm>
            <a:off x="822960" y="33008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0"/>
          <p:cNvSpPr/>
          <p:nvPr/>
        </p:nvSpPr>
        <p:spPr>
          <a:xfrm>
            <a:off x="1435680" y="33008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Explain in your own words why log(a × b) equals log(a) + log(b)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1"/>
          <p:cNvSpPr/>
          <p:nvPr/>
        </p:nvSpPr>
        <p:spPr>
          <a:xfrm>
            <a:off x="822960" y="417888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2"/>
          <p:cNvSpPr/>
          <p:nvPr/>
        </p:nvSpPr>
        <p:spPr>
          <a:xfrm>
            <a:off x="822960" y="41788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3"/>
          <p:cNvSpPr/>
          <p:nvPr/>
        </p:nvSpPr>
        <p:spPr>
          <a:xfrm>
            <a:off x="1435680" y="41788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Look up one real dataset column (income, population, or file sizes) and explain why a log transform might help visualize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4"/>
          <p:cNvSpPr/>
          <p:nvPr/>
        </p:nvSpPr>
        <p:spPr>
          <a:xfrm>
            <a:off x="822960" y="505656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5"/>
          <p:cNvSpPr/>
          <p:nvPr/>
        </p:nvSpPr>
        <p:spPr>
          <a:xfrm>
            <a:off x="822960" y="5056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6"/>
          <p:cNvSpPr/>
          <p:nvPr/>
        </p:nvSpPr>
        <p:spPr>
          <a:xfrm>
            <a:off x="1435680" y="5056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In your own words, explain why a confidently wrong prediction should be penalized more harshly than an unsure wrong 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Text 0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2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3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4"/>
          <p:cNvSpPr/>
          <p:nvPr/>
        </p:nvSpPr>
        <p:spPr>
          <a:xfrm rot="21510000">
            <a:off x="1874520" y="132588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5"/>
          <p:cNvSpPr/>
          <p:nvPr/>
        </p:nvSpPr>
        <p:spPr>
          <a:xfrm>
            <a:off x="1691640" y="118872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Image 0" descr="preencoded.png"/>
          <p:cNvPicPr/>
          <p:nvPr/>
        </p:nvPicPr>
        <p:blipFill>
          <a:blip r:embed="rId3"/>
          <a:stretch/>
        </p:blipFill>
        <p:spPr>
          <a:xfrm>
            <a:off x="5870520" y="13489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Text 6"/>
          <p:cNvSpPr/>
          <p:nvPr/>
        </p:nvSpPr>
        <p:spPr>
          <a:xfrm>
            <a:off x="1691640" y="1188720"/>
            <a:ext cx="88048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PART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7"/>
          <p:cNvSpPr/>
          <p:nvPr/>
        </p:nvSpPr>
        <p:spPr>
          <a:xfrm>
            <a:off x="1097280" y="2331720"/>
            <a:ext cx="999360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Reading Math Notation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8"/>
          <p:cNvSpPr/>
          <p:nvPr/>
        </p:nvSpPr>
        <p:spPr>
          <a:xfrm>
            <a:off x="1737360" y="4434840"/>
            <a:ext cx="871344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The alphabet every formula from the next session onward is written 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Why Notation Feels Scary (But Genuinely Isn’t)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0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Symbols,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not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magic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Math notation is just a set of agreed-upon shorthand symbols — the same way *args and f-strings were unfamiliar shorthand the first time you saw Python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formula that looks intimidating as a block of symbols often says something completely ordinary once translated into plain English, one symbol at a 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You don’t need to memorize notation in the abstract — you need enough familiarity to translate it, slowly, the first few times you see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Every symbol on the next few slides will come back constantly starting in the very next session — this is worth sitting with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6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Variables &amp; Function Notation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variable (x, y, n) is just a placeholder for a number whose exact value isn’t fixed — exactly like a parameter in a Python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f(x) means "a function called f, applied to input x" — it’s notation, not multiplication; f isn’t being multiplied by 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This is precisely the same idea as a Python function — f(x) in math and def f(x): in code are describing the exact same concept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Math notation          # The equivalent 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f(x) = x²               def f(x):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                        return x ** 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f(3) = 9                 f(3)   # 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f(x) is read as "f of x" — never "f times x"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Summation Notation — Σ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Σ (the Greek capital letter sigma) simply means "add up everything that follows, for every value in the given range"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 small numbers above and below Σ tell you exactly where to start and stop — i=1 to n means "for every i from 1 through n"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This one symbol will appear constantly starting next session — it’s the entire notation behind the mean, and behind variance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Σ  xᵢ   =  x₁ + x₂ + x₃ + ... + xₙ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i=1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Example: sum of [4, 7, 2] using summation notation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Σ xᵢ for i=1 to 3   =   4 + 7 + 2   =   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In Python, this is exactly what sum() does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sum([4, 7, 2])   # 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Subscripts &amp; Indices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subscript (the small number after a variable) identifies WHICH item in a list or sequence you’re referring to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xᵢ means "the i-th value of x" — exactly the same idea as x[i] when indexing a Python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n almost always represents the total count of items — seeing "for i = 1 to n" is math’s way of saying "loop through every item"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Math notation        # The equivalent 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x₁, x₂, x₃, ..., xₙ    x = [10, 20, 30, ..., x_n]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xᵢ                     x[i]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n = 5                  len(x)   # 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Inequality &amp; Other Common Symbols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These symbols show up constantly in probability, statistics, and set notation — worth recognizing on sight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≈ specifically matters in data science, since almost nothing computed from real data comes out as a perfectly clean number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Once these feel familiar, an intimidating-looking formula becomes a sentence you can actually read left to right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≤   less than or equal to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≥   greater than or equal to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≠   not equal to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≈   approximately equal to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∈   "is an element of" (belongs to a set)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∞   infinity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|x|  absolute value of x (distance from zero, always positive)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Putting It Together: Reading the Mean Formula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Every symbol on this slide has already appeared earlier in this session — this is genuinely just translation practice, not new material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Read it exactly like this: "the mean, x-bar, equals one over n, times the sum of x-sub-i, for i from 1 to n"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0000"/>
              </a:lnSpc>
              <a:spcAft>
                <a:spcPts val="1199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In plain English: "add up every value, then divide by how many values there are" — exactly the average you already knew how to compute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3368"/>
            </a:avLst>
          </a:prstGeom>
          <a:solidFill>
            <a:srgbClr val="E3FBF3"/>
          </a:solidFill>
          <a:ln w="19050">
            <a:solidFill>
              <a:srgbClr val="5FD6B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     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x̄  =  1/n Σ  xᵢ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     i=1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85F8F"/>
                </a:solidFill>
                <a:effectLst/>
                <a:uFillTx/>
                <a:latin typeface="Cantarell"/>
                <a:ea typeface="Consolas"/>
              </a:rPr>
              <a:t># Translated into Python, line by line: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def mean(x):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n = len(x)          # "n"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total = sum(x)      # "Σ xᵢ for i=1 to n"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B5FD1"/>
                </a:solidFill>
                <a:effectLst/>
                <a:uFillTx/>
                <a:latin typeface="Cantarell"/>
                <a:ea typeface="Consolas"/>
              </a:rPr>
              <a:t>    return total / n    # "1/n × ..."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6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Practice Set — Reading Notation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3673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Try these yourself first — that's the 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Translate f(x) = 2x + 1 into a working Python function, then evaluate f(5) both on paper and in code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8"/>
          <p:cNvSpPr/>
          <p:nvPr/>
        </p:nvSpPr>
        <p:spPr>
          <a:xfrm>
            <a:off x="822960" y="312732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9"/>
          <p:cNvSpPr/>
          <p:nvPr/>
        </p:nvSpPr>
        <p:spPr>
          <a:xfrm>
            <a:off x="822960" y="31273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0"/>
          <p:cNvSpPr/>
          <p:nvPr/>
        </p:nvSpPr>
        <p:spPr>
          <a:xfrm>
            <a:off x="1435680" y="312732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Write out, in plain English, what Σ xᵢ for i=1 to 4 means for the list [3, 6, 1, 8]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1"/>
          <p:cNvSpPr/>
          <p:nvPr/>
        </p:nvSpPr>
        <p:spPr>
          <a:xfrm>
            <a:off x="822960" y="383148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2"/>
          <p:cNvSpPr/>
          <p:nvPr/>
        </p:nvSpPr>
        <p:spPr>
          <a:xfrm>
            <a:off x="822960" y="38314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3"/>
          <p:cNvSpPr/>
          <p:nvPr/>
        </p:nvSpPr>
        <p:spPr>
          <a:xfrm>
            <a:off x="1435680" y="38314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Given x = [12, 18, 24], identify x₁, x₂, and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4"/>
          <p:cNvSpPr/>
          <p:nvPr/>
        </p:nvSpPr>
        <p:spPr>
          <a:xfrm>
            <a:off x="822960" y="453528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5"/>
          <p:cNvSpPr/>
          <p:nvPr/>
        </p:nvSpPr>
        <p:spPr>
          <a:xfrm>
            <a:off x="822960" y="45352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6"/>
          <p:cNvSpPr/>
          <p:nvPr/>
        </p:nvSpPr>
        <p:spPr>
          <a:xfrm>
            <a:off x="1435680" y="45352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Translate the inequality x ≥ 10 into a plain-English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7"/>
          <p:cNvSpPr/>
          <p:nvPr/>
        </p:nvSpPr>
        <p:spPr>
          <a:xfrm>
            <a:off x="822960" y="5239440"/>
            <a:ext cx="383400" cy="38340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8"/>
          <p:cNvSpPr/>
          <p:nvPr/>
        </p:nvSpPr>
        <p:spPr>
          <a:xfrm>
            <a:off x="822960" y="52394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19"/>
          <p:cNvSpPr/>
          <p:nvPr/>
        </p:nvSpPr>
        <p:spPr>
          <a:xfrm>
            <a:off x="1435680" y="52394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Without looking back, explain the mean formula from the last slide out loud, symbol by symbol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0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 0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2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3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4"/>
          <p:cNvSpPr/>
          <p:nvPr/>
        </p:nvSpPr>
        <p:spPr>
          <a:xfrm rot="21510000">
            <a:off x="1874520" y="132588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5"/>
          <p:cNvSpPr/>
          <p:nvPr/>
        </p:nvSpPr>
        <p:spPr>
          <a:xfrm>
            <a:off x="1691640" y="118872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9" name="Image 0" descr="preencoded.png"/>
          <p:cNvPicPr/>
          <p:nvPr/>
        </p:nvPicPr>
        <p:blipFill>
          <a:blip r:embed="rId3"/>
          <a:stretch/>
        </p:blipFill>
        <p:spPr>
          <a:xfrm>
            <a:off x="5870520" y="13489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 6"/>
          <p:cNvSpPr/>
          <p:nvPr/>
        </p:nvSpPr>
        <p:spPr>
          <a:xfrm>
            <a:off x="1691640" y="1188720"/>
            <a:ext cx="88048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7"/>
          <p:cNvSpPr/>
          <p:nvPr/>
        </p:nvSpPr>
        <p:spPr>
          <a:xfrm>
            <a:off x="1097280" y="2331720"/>
            <a:ext cx="999360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Build the Fluency Every Formula From Here Depends On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8"/>
          <p:cNvSpPr/>
          <p:nvPr/>
        </p:nvSpPr>
        <p:spPr>
          <a:xfrm>
            <a:off x="1737360" y="4434840"/>
            <a:ext cx="871344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Not abstract drills — these are the exact calculations behind real metrics, transforms, and formulas you’ll use constantly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Today's Tasks — Part A: Percentages, Ratios, Powers &amp; Roots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3673"/>
            </a:avLst>
          </a:prstGeom>
          <a:solidFill>
            <a:srgbClr val="FFF6DC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Small tasks — do them in order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1" name="Image 1" descr="preencoded.png"/>
          <p:cNvPicPr/>
          <p:nvPr/>
        </p:nvPicPr>
        <p:blipFill>
          <a:blip r:embed="rId4"/>
          <a:stretch/>
        </p:blipFill>
        <p:spPr>
          <a:xfrm>
            <a:off x="887040" y="248724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8"/>
          <p:cNvSpPr/>
          <p:nvPr/>
        </p:nvSpPr>
        <p:spPr>
          <a:xfrm>
            <a:off x="1920240" y="242316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model’s accuracy went from 68% to 79%. Calculate the percentage change, and separately, the raw percentage-point difference — explain why they’re different 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9"/>
          <p:cNvSpPr/>
          <p:nvPr/>
        </p:nvSpPr>
        <p:spPr>
          <a:xfrm>
            <a:off x="822960" y="359352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6" name="Image 2" descr="preencoded.png"/>
          <p:cNvPicPr/>
          <p:nvPr/>
        </p:nvPicPr>
        <p:blipFill>
          <a:blip r:embed="rId4"/>
          <a:stretch/>
        </p:blipFill>
        <p:spPr>
          <a:xfrm>
            <a:off x="887040" y="365760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Shape 10"/>
          <p:cNvSpPr/>
          <p:nvPr/>
        </p:nvSpPr>
        <p:spPr>
          <a:xfrm>
            <a:off x="1371600" y="361188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1"/>
          <p:cNvSpPr/>
          <p:nvPr/>
        </p:nvSpPr>
        <p:spPr>
          <a:xfrm>
            <a:off x="1371600" y="361188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2"/>
          <p:cNvSpPr/>
          <p:nvPr/>
        </p:nvSpPr>
        <p:spPr>
          <a:xfrm>
            <a:off x="1920240" y="359352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A dataset has a class imbalance ratio of 1:24 (rare class to common class). If the common class has 4,800 rows, calculate how many rows are in the rare class.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13"/>
          <p:cNvSpPr/>
          <p:nvPr/>
        </p:nvSpPr>
        <p:spPr>
          <a:xfrm>
            <a:off x="822960" y="476388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1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2" name="Shape 14"/>
          <p:cNvSpPr/>
          <p:nvPr/>
        </p:nvSpPr>
        <p:spPr>
          <a:xfrm>
            <a:off x="1371600" y="478224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15"/>
          <p:cNvSpPr/>
          <p:nvPr/>
        </p:nvSpPr>
        <p:spPr>
          <a:xfrm>
            <a:off x="1371600" y="478224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6"/>
          <p:cNvSpPr/>
          <p:nvPr/>
        </p:nvSpPr>
        <p:spPr>
          <a:xfrm>
            <a:off x="1920240" y="476388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Calculate the standard deviation of the set [4, 4, 4] by hand (variance, then square root) and explain why the result makes intuitive sense.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1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8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9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Today's Tasks — Part B: Scientific Notation &amp; Logarithms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3673"/>
            </a:avLst>
          </a:prstGeom>
          <a:solidFill>
            <a:srgbClr val="FFF6DC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Small tasks — do them in order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4" name="Image 1" descr="preencoded.png"/>
          <p:cNvPicPr/>
          <p:nvPr/>
        </p:nvPicPr>
        <p:blipFill>
          <a:blip r:embed="rId4"/>
          <a:stretch/>
        </p:blipFill>
        <p:spPr>
          <a:xfrm>
            <a:off x="887040" y="248724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8"/>
          <p:cNvSpPr/>
          <p:nvPr/>
        </p:nvSpPr>
        <p:spPr>
          <a:xfrm>
            <a:off x="1920240" y="242316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Convert 0.0000078 and 250,000,000 into scientific notation, and explain out loud which direction the decimal moved and why.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9"/>
          <p:cNvSpPr/>
          <p:nvPr/>
        </p:nvSpPr>
        <p:spPr>
          <a:xfrm>
            <a:off x="822960" y="359352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9" name="Image 2" descr="preencoded.png"/>
          <p:cNvPicPr/>
          <p:nvPr/>
        </p:nvPicPr>
        <p:blipFill>
          <a:blip r:embed="rId4"/>
          <a:stretch/>
        </p:blipFill>
        <p:spPr>
          <a:xfrm>
            <a:off x="887040" y="365760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Shape 10"/>
          <p:cNvSpPr/>
          <p:nvPr/>
        </p:nvSpPr>
        <p:spPr>
          <a:xfrm>
            <a:off x="1371600" y="361188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11"/>
          <p:cNvSpPr/>
          <p:nvPr/>
        </p:nvSpPr>
        <p:spPr>
          <a:xfrm>
            <a:off x="1371600" y="361188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12"/>
          <p:cNvSpPr/>
          <p:nvPr/>
        </p:nvSpPr>
        <p:spPr>
          <a:xfrm>
            <a:off x="1920240" y="359352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Calculate log₂(64) and log₁₀(10000) using the definition of a logarithm, without a calculator.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13"/>
          <p:cNvSpPr/>
          <p:nvPr/>
        </p:nvSpPr>
        <p:spPr>
          <a:xfrm>
            <a:off x="822960" y="476388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4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Shape 14"/>
          <p:cNvSpPr/>
          <p:nvPr/>
        </p:nvSpPr>
        <p:spPr>
          <a:xfrm>
            <a:off x="1371600" y="478224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5"/>
          <p:cNvSpPr/>
          <p:nvPr/>
        </p:nvSpPr>
        <p:spPr>
          <a:xfrm>
            <a:off x="1371600" y="478224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6"/>
          <p:cNvSpPr/>
          <p:nvPr/>
        </p:nvSpPr>
        <p:spPr>
          <a:xfrm>
            <a:off x="1920240" y="476388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Find a real, publicly available dataset with a skewed numeric column, and describe in your own words how a log transform would change its shape.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1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2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Today's Tasks — Part C: Reading Notation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3673"/>
            </a:avLst>
          </a:prstGeom>
          <a:solidFill>
            <a:srgbClr val="FFF6DC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Small tasks — do them in order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7" name="Image 1" descr="preencoded.png"/>
          <p:cNvPicPr/>
          <p:nvPr/>
        </p:nvPicPr>
        <p:blipFill>
          <a:blip r:embed="rId4"/>
          <a:stretch/>
        </p:blipFill>
        <p:spPr>
          <a:xfrm>
            <a:off x="887040" y="248724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8"/>
          <p:cNvSpPr/>
          <p:nvPr/>
        </p:nvSpPr>
        <p:spPr>
          <a:xfrm>
            <a:off x="1920240" y="242316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Translate the function f(x) = x² - 3 into Python code, and confirm f(4) matches by hand and by running the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9"/>
          <p:cNvSpPr/>
          <p:nvPr/>
        </p:nvSpPr>
        <p:spPr>
          <a:xfrm>
            <a:off x="822960" y="359352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2" name="Image 2" descr="preencoded.png"/>
          <p:cNvPicPr/>
          <p:nvPr/>
        </p:nvPicPr>
        <p:blipFill>
          <a:blip r:embed="rId4"/>
          <a:stretch/>
        </p:blipFill>
        <p:spPr>
          <a:xfrm>
            <a:off x="887040" y="365760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Shape 10"/>
          <p:cNvSpPr/>
          <p:nvPr/>
        </p:nvSpPr>
        <p:spPr>
          <a:xfrm>
            <a:off x="1371600" y="361188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11"/>
          <p:cNvSpPr/>
          <p:nvPr/>
        </p:nvSpPr>
        <p:spPr>
          <a:xfrm>
            <a:off x="1371600" y="361188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12"/>
          <p:cNvSpPr/>
          <p:nvPr/>
        </p:nvSpPr>
        <p:spPr>
          <a:xfrm>
            <a:off x="1920240" y="359352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Write out Σ xᵢ for i=1 to 5 in plain English for the list [2, 4, 6, 8, 10], then compute it both by hand and with Python’s sum().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13"/>
          <p:cNvSpPr/>
          <p:nvPr/>
        </p:nvSpPr>
        <p:spPr>
          <a:xfrm>
            <a:off x="822960" y="4763880"/>
            <a:ext cx="401760" cy="401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7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8" name="Shape 14"/>
          <p:cNvSpPr/>
          <p:nvPr/>
        </p:nvSpPr>
        <p:spPr>
          <a:xfrm>
            <a:off x="1371600" y="478224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5"/>
          <p:cNvSpPr/>
          <p:nvPr/>
        </p:nvSpPr>
        <p:spPr>
          <a:xfrm>
            <a:off x="1371600" y="478224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5FD1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16"/>
          <p:cNvSpPr/>
          <p:nvPr/>
        </p:nvSpPr>
        <p:spPr>
          <a:xfrm>
            <a:off x="1920240" y="476388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Rewrite the mean formula from this session in your own words, then use it to calculate the mean of [15, 22, 18, 9] by hand.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Text 0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1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2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3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4"/>
          <p:cNvSpPr/>
          <p:nvPr/>
        </p:nvSpPr>
        <p:spPr>
          <a:xfrm rot="21510000">
            <a:off x="1874520" y="132588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5"/>
          <p:cNvSpPr/>
          <p:nvPr/>
        </p:nvSpPr>
        <p:spPr>
          <a:xfrm>
            <a:off x="1691640" y="118872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preencoded.png"/>
          <p:cNvPicPr/>
          <p:nvPr/>
        </p:nvPicPr>
        <p:blipFill>
          <a:blip r:embed="rId3"/>
          <a:stretch/>
        </p:blipFill>
        <p:spPr>
          <a:xfrm>
            <a:off x="5870520" y="13489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6"/>
          <p:cNvSpPr/>
          <p:nvPr/>
        </p:nvSpPr>
        <p:spPr>
          <a:xfrm>
            <a:off x="1691640" y="1188720"/>
            <a:ext cx="88048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MINI PROJECT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7"/>
          <p:cNvSpPr/>
          <p:nvPr/>
        </p:nvSpPr>
        <p:spPr>
          <a:xfrm>
            <a:off x="1097280" y="2331720"/>
            <a:ext cx="999360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Put It All Together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8"/>
          <p:cNvSpPr/>
          <p:nvPr/>
        </p:nvSpPr>
        <p:spPr>
          <a:xfrm>
            <a:off x="1737360" y="4434840"/>
            <a:ext cx="871344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Decode a real, published data-science result using every skill from this session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Mini Project: Decode a Real Data Science 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2"/>
          <p:cNvSpPr/>
          <p:nvPr/>
        </p:nvSpPr>
        <p:spPr>
          <a:xfrm>
            <a:off x="457200" y="1206720"/>
            <a:ext cx="11274480" cy="360"/>
          </a:xfrm>
          <a:prstGeom prst="line">
            <a:avLst/>
          </a:prstGeom>
          <a:ln w="1905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12700">
            <a:solidFill>
              <a:srgbClr val="D8D2F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Every skill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from today,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Find (or use a provided) real model report containing a sentence like: "Accuracy improved from 71.2% to 85.9%, precision reached 0.91, and the model’s Log Loss dropped to 4.3 × 10⁻²"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Calculate the exact percentage change in accuracy, and explain what a precision of 0.91 means as a ratio of true positives to predicted positives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Convert the scientific notation Log Loss value into ordinary decimal form, and explain in plain English why a LOWER Log Loss is the goal, unlike accuracy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2D2A4A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2D2A4A"/>
                </a:solidFill>
                <a:effectLst/>
                <a:uFillTx/>
                <a:latin typeface="Calibri"/>
                <a:ea typeface="Calibri"/>
              </a:rPr>
              <a:t>Write the whole result out as a short paragraph in plain English, as if explaining it to someone who has never seen a percent sign, a ratio, or scientific notation before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7"/>
          <p:cNvSpPr/>
          <p:nvPr/>
        </p:nvSpPr>
        <p:spPr>
          <a:xfrm>
            <a:off x="457200" y="6446520"/>
            <a:ext cx="86860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CodeByPaxto: The AI &amp; ML Playground  ·  Hafiz Waseem Ahmed (Paxto)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Text 0"/>
          <p:cNvSpPr/>
          <p:nvPr/>
        </p:nvSpPr>
        <p:spPr>
          <a:xfrm>
            <a:off x="457200" y="457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FD6B0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"/>
          <p:cNvSpPr/>
          <p:nvPr/>
        </p:nvSpPr>
        <p:spPr>
          <a:xfrm>
            <a:off x="11247120" y="548640"/>
            <a:ext cx="20052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FC94A"/>
                </a:solidFill>
                <a:effectLst/>
                <a:uFillTx/>
                <a:latin typeface="Calibri"/>
              </a:rPr>
              <a:t>✦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2"/>
          <p:cNvSpPr/>
          <p:nvPr/>
        </p:nvSpPr>
        <p:spPr>
          <a:xfrm>
            <a:off x="640080" y="6126480"/>
            <a:ext cx="2278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8FB3"/>
                </a:solidFill>
                <a:effectLst/>
                <a:uFillTx/>
                <a:latin typeface="Calibri"/>
              </a:rPr>
              <a:t>✦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3"/>
          <p:cNvSpPr/>
          <p:nvPr/>
        </p:nvSpPr>
        <p:spPr>
          <a:xfrm>
            <a:off x="11338560" y="60350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B7FE8"/>
                </a:solidFill>
                <a:effectLst/>
                <a:uFillTx/>
                <a:latin typeface="Calibri"/>
              </a:rPr>
              <a:t>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4"/>
          <p:cNvSpPr/>
          <p:nvPr/>
        </p:nvSpPr>
        <p:spPr>
          <a:xfrm rot="21510000">
            <a:off x="1874520" y="132588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FFC9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5"/>
          <p:cNvSpPr/>
          <p:nvPr/>
        </p:nvSpPr>
        <p:spPr>
          <a:xfrm>
            <a:off x="1691640" y="1188720"/>
            <a:ext cx="8804880" cy="776520"/>
          </a:xfrm>
          <a:prstGeom prst="roundRect">
            <a:avLst>
              <a:gd name="adj" fmla="val 17647"/>
            </a:avLst>
          </a:prstGeom>
          <a:solidFill>
            <a:srgbClr val="8B7FE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1" name="Image 0" descr="preencoded.png"/>
          <p:cNvPicPr/>
          <p:nvPr/>
        </p:nvPicPr>
        <p:blipFill>
          <a:blip r:embed="rId3"/>
          <a:stretch/>
        </p:blipFill>
        <p:spPr>
          <a:xfrm>
            <a:off x="5870520" y="13489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2" name="Text 6"/>
          <p:cNvSpPr/>
          <p:nvPr/>
        </p:nvSpPr>
        <p:spPr>
          <a:xfrm>
            <a:off x="1691640" y="1188720"/>
            <a:ext cx="88048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FFF6DC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7"/>
          <p:cNvSpPr/>
          <p:nvPr/>
        </p:nvSpPr>
        <p:spPr>
          <a:xfrm>
            <a:off x="1097280" y="2331720"/>
            <a:ext cx="9993600" cy="19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2D2A4A"/>
                </a:solidFill>
                <a:effectLst/>
                <a:uFillTx/>
                <a:latin typeface="Century Gothic"/>
                <a:ea typeface="Century Gothic"/>
              </a:rPr>
              <a:t>Percentages, ratios, powers, roots, logs, and notation aren’t separate hurdles — they’re the one shared vocabulary every formula from here on is written in.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8"/>
          <p:cNvSpPr/>
          <p:nvPr/>
        </p:nvSpPr>
        <p:spPr>
          <a:xfrm>
            <a:off x="1737360" y="4434840"/>
            <a:ext cx="871344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Next session: Descriptive Statistics — describing what your data actually looks like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85F8F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Words>5255</Words>
  <Application>Microsoft Office PowerPoint</Application>
  <PresentationFormat>Widescreen</PresentationFormat>
  <Paragraphs>588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4" baseType="lpstr">
      <vt:lpstr>Arial</vt:lpstr>
      <vt:lpstr>Calibri</vt:lpstr>
      <vt:lpstr>Cantarell</vt:lpstr>
      <vt:lpstr>Century Gothic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Hafiz Waseem Ahmed</cp:lastModifiedBy>
  <cp:revision>41</cp:revision>
  <dcterms:created xsi:type="dcterms:W3CDTF">2026-08-21T10:58:25Z</dcterms:created>
  <dcterms:modified xsi:type="dcterms:W3CDTF">2026-08-21T15:46:03Z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41</vt:i4>
  </property>
  <property fmtid="{D5CDD505-2E9C-101B-9397-08002B2CF9AE}" pid="3" name="PresentationFormat">
    <vt:lpwstr>On-screen Show (16:9)</vt:lpwstr>
  </property>
  <property fmtid="{D5CDD505-2E9C-101B-9397-08002B2CF9AE}" pid="4" name="Slides">
    <vt:i4>41</vt:i4>
  </property>
</Properties>
</file>