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notesMasterIdLst>
    <p:notesMasterId r:id="rId4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notesMaster" Target="notesMasters/notesMaster1.xml"/><Relationship Id="rId50" Type="http://schemas.openxmlformats.org/officeDocument/2006/relationships/presProps" Target="presProps.xml"/><Relationship Id="rId51" Type="http://schemas.openxmlformats.org/officeDocument/2006/relationships/viewProps" Target="viewProps.xml"/><Relationship Id="rId52" Type="http://schemas.openxmlformats.org/officeDocument/2006/relationships/theme" Target="theme/theme1.xml"/><Relationship Id="rId5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image" Target="../media/image-37-3.png"/><Relationship Id="rId4" Type="http://schemas.openxmlformats.org/officeDocument/2006/relationships/image" Target="../media/image-37-4.png"/><Relationship Id="rId5" Type="http://schemas.openxmlformats.org/officeDocument/2006/relationships/image" Target="../media/image-3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image" Target="../media/image-38-3.png"/><Relationship Id="rId4" Type="http://schemas.openxmlformats.org/officeDocument/2006/relationships/image" Target="../media/image-38-4.png"/><Relationship Id="rId5" Type="http://schemas.openxmlformats.org/officeDocument/2006/relationships/image" Target="../media/image-3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3" Type="http://schemas.openxmlformats.org/officeDocument/2006/relationships/image" Target="../media/image-41-3.png"/><Relationship Id="rId4" Type="http://schemas.openxmlformats.org/officeDocument/2006/relationships/image" Target="../media/image-4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3" Type="http://schemas.openxmlformats.org/officeDocument/2006/relationships/image" Target="../media/image-42-3.png"/><Relationship Id="rId4" Type="http://schemas.openxmlformats.org/officeDocument/2006/relationships/image" Target="../media/image-4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43-2.png"/><Relationship Id="rId3" Type="http://schemas.openxmlformats.org/officeDocument/2006/relationships/image" Target="../media/image-43-3.png"/><Relationship Id="rId4" Type="http://schemas.openxmlformats.org/officeDocument/2006/relationships/image" Target="../media/image-4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image" Target="../media/image-44-2.png"/><Relationship Id="rId3" Type="http://schemas.openxmlformats.org/officeDocument/2006/relationships/image" Target="../media/image-44-3.png"/><Relationship Id="rId4" Type="http://schemas.openxmlformats.org/officeDocument/2006/relationships/image" Target="../media/image-4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image" Target="../media/image-4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D6B0"/>
                </a:solidFill>
              </a:rPr>
              <a:t>✦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247120" y="5486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FFC94A"/>
                </a:solidFill>
              </a:rPr>
              <a:t>✦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640080" y="61264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8FB3"/>
                </a:solidFill>
              </a:rPr>
              <a:t>✦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338560" y="6035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7FE8"/>
                </a:solidFill>
              </a:rPr>
              <a:t>✦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 rot="-120000">
            <a:off x="1234440" y="1691640"/>
            <a:ext cx="9720072" cy="3520440"/>
          </a:xfrm>
          <a:prstGeom prst="roundRect">
            <a:avLst>
              <a:gd name="adj" fmla="val 5195"/>
            </a:avLst>
          </a:prstGeom>
          <a:solidFill>
            <a:srgbClr val="FFC94A"/>
          </a:solidFill>
          <a:ln/>
        </p:spPr>
      </p:sp>
      <p:sp>
        <p:nvSpPr>
          <p:cNvPr id="7" name="Shape 5"/>
          <p:cNvSpPr/>
          <p:nvPr/>
        </p:nvSpPr>
        <p:spPr>
          <a:xfrm>
            <a:off x="1051560" y="1508760"/>
            <a:ext cx="9720072" cy="3520440"/>
          </a:xfrm>
          <a:prstGeom prst="roundRect">
            <a:avLst>
              <a:gd name="adj" fmla="val 5195"/>
            </a:avLst>
          </a:prstGeom>
          <a:solidFill>
            <a:srgbClr val="8B7FE8"/>
          </a:solidFill>
          <a:ln/>
        </p:spPr>
      </p:sp>
      <p:sp>
        <p:nvSpPr>
          <p:cNvPr id="8" name="Shape 6"/>
          <p:cNvSpPr/>
          <p:nvPr/>
        </p:nvSpPr>
        <p:spPr>
          <a:xfrm>
            <a:off x="5367528" y="1874520"/>
            <a:ext cx="1097280" cy="10972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1264" y="2048256"/>
            <a:ext cx="749808" cy="74980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08760" y="2880360"/>
            <a:ext cx="8805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Descriptive Statistics II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1508760" y="3794760"/>
            <a:ext cx="8805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Spread, Shape, Z-Scores &amp; Correlation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1508760" y="5394960"/>
            <a:ext cx="8805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19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914400" y="5989320"/>
            <a:ext cx="10360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CodeByPaxto: The AI &amp; ML Playground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914400" y="6291072"/>
            <a:ext cx="10360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Hafiz Waseem Ahmed (Paxto)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8B7FE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What We're Covering Today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9050">
            <a:solidFill>
              <a:srgbClr val="D8D2F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600200"/>
            <a:ext cx="11274552" cy="566928"/>
          </a:xfrm>
          <a:prstGeom prst="roundRect">
            <a:avLst>
              <a:gd name="adj" fmla="val 19355"/>
            </a:avLst>
          </a:prstGeom>
          <a:solidFill>
            <a:srgbClr val="EDE9FE"/>
          </a:solidFill>
          <a:ln w="12700">
            <a:solidFill>
              <a:srgbClr val="D8D2F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85800" y="1709928"/>
            <a:ext cx="347472" cy="347472"/>
          </a:xfrm>
          <a:prstGeom prst="ellipse">
            <a:avLst/>
          </a:prstGeom>
          <a:solidFill>
            <a:srgbClr val="8B7FE8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783080"/>
            <a:ext cx="201168" cy="2011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34440" y="1600200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of spread — range, variance, standard deviation, and IQR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57200" y="2258568"/>
            <a:ext cx="11274552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8D2F5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85800" y="2368296"/>
            <a:ext cx="347472" cy="347472"/>
          </a:xfrm>
          <a:prstGeom prst="ellipse">
            <a:avLst/>
          </a:prstGeom>
          <a:solidFill>
            <a:srgbClr val="5FD6B0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2441448"/>
            <a:ext cx="201168" cy="2011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34440" y="225856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deviation vs. standard error — two very different questions</a:t>
            </a:r>
            <a:endParaRPr lang="en-US" sz="1350" dirty="0"/>
          </a:p>
        </p:txBody>
      </p:sp>
      <p:sp>
        <p:nvSpPr>
          <p:cNvPr id="14" name="Shape 9"/>
          <p:cNvSpPr/>
          <p:nvPr/>
        </p:nvSpPr>
        <p:spPr>
          <a:xfrm>
            <a:off x="457200" y="2916936"/>
            <a:ext cx="11274552" cy="566928"/>
          </a:xfrm>
          <a:prstGeom prst="roundRect">
            <a:avLst>
              <a:gd name="adj" fmla="val 19355"/>
            </a:avLst>
          </a:prstGeom>
          <a:solidFill>
            <a:srgbClr val="EDE9FE"/>
          </a:solidFill>
          <a:ln w="12700">
            <a:solidFill>
              <a:srgbClr val="D8D2F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85800" y="3026664"/>
            <a:ext cx="347472" cy="347472"/>
          </a:xfrm>
          <a:prstGeom prst="ellipse">
            <a:avLst/>
          </a:prstGeom>
          <a:solidFill>
            <a:srgbClr val="FFC94A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3099816"/>
            <a:ext cx="201168" cy="20116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34440" y="291693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Z-scores — measuring exactly how unusual a value really is</a:t>
            </a:r>
            <a:endParaRPr lang="en-US" sz="1350" dirty="0"/>
          </a:p>
        </p:txBody>
      </p:sp>
      <p:sp>
        <p:nvSpPr>
          <p:cNvPr id="18" name="Shape 12"/>
          <p:cNvSpPr/>
          <p:nvPr/>
        </p:nvSpPr>
        <p:spPr>
          <a:xfrm>
            <a:off x="457200" y="3575304"/>
            <a:ext cx="11274552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8D2F5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685800" y="3685032"/>
            <a:ext cx="347472" cy="347472"/>
          </a:xfrm>
          <a:prstGeom prst="ellipse">
            <a:avLst/>
          </a:prstGeom>
          <a:solidFill>
            <a:srgbClr val="FF8FB3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" y="3758184"/>
            <a:ext cx="201168" cy="20116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234440" y="3575304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shape of a distribution — skewness, kurtosis, and outliers</a:t>
            </a:r>
            <a:endParaRPr lang="en-US" sz="1350" dirty="0"/>
          </a:p>
        </p:txBody>
      </p:sp>
      <p:sp>
        <p:nvSpPr>
          <p:cNvPr id="22" name="Shape 15"/>
          <p:cNvSpPr/>
          <p:nvPr/>
        </p:nvSpPr>
        <p:spPr>
          <a:xfrm>
            <a:off x="457200" y="4233672"/>
            <a:ext cx="11274552" cy="566928"/>
          </a:xfrm>
          <a:prstGeom prst="roundRect">
            <a:avLst>
              <a:gd name="adj" fmla="val 19355"/>
            </a:avLst>
          </a:prstGeom>
          <a:solidFill>
            <a:srgbClr val="EDE9FE"/>
          </a:solidFill>
          <a:ln w="12700">
            <a:solidFill>
              <a:srgbClr val="D8D2F5"/>
            </a:solidFill>
            <a:prstDash val="solid"/>
          </a:ln>
        </p:spPr>
      </p:sp>
      <p:sp>
        <p:nvSpPr>
          <p:cNvPr id="23" name="Shape 16"/>
          <p:cNvSpPr/>
          <p:nvPr/>
        </p:nvSpPr>
        <p:spPr>
          <a:xfrm>
            <a:off x="685800" y="4343400"/>
            <a:ext cx="347472" cy="347472"/>
          </a:xfrm>
          <a:prstGeom prst="ellipse">
            <a:avLst/>
          </a:prstGeom>
          <a:solidFill>
            <a:srgbClr val="8B7FE8"/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952" y="4416552"/>
            <a:ext cx="201168" cy="201168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234440" y="4233672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— the actual coefficient behind last session’s heatmap</a:t>
            </a:r>
            <a:endParaRPr lang="en-US" sz="1350" dirty="0"/>
          </a:p>
        </p:txBody>
      </p:sp>
      <p:sp>
        <p:nvSpPr>
          <p:cNvPr id="26" name="Shape 18"/>
          <p:cNvSpPr/>
          <p:nvPr/>
        </p:nvSpPr>
        <p:spPr>
          <a:xfrm>
            <a:off x="457200" y="4892040"/>
            <a:ext cx="11274552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8D2F5"/>
            </a:solidFill>
            <a:prstDash val="solid"/>
          </a:ln>
        </p:spPr>
      </p:sp>
      <p:sp>
        <p:nvSpPr>
          <p:cNvPr id="27" name="Shape 19"/>
          <p:cNvSpPr/>
          <p:nvPr/>
        </p:nvSpPr>
        <p:spPr>
          <a:xfrm>
            <a:off x="685800" y="5001768"/>
            <a:ext cx="347472" cy="347472"/>
          </a:xfrm>
          <a:prstGeom prst="ellipse">
            <a:avLst/>
          </a:prstGeom>
          <a:solidFill>
            <a:srgbClr val="5FD6B0"/>
          </a:solidFill>
          <a:ln/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8952" y="5074920"/>
            <a:ext cx="201168" cy="201168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1234440" y="4892040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tasks and a mini project — a full descriptive profile of real data</a:t>
            </a:r>
            <a:endParaRPr lang="en-US" sz="1350" dirty="0"/>
          </a:p>
        </p:txBody>
      </p:sp>
      <p:sp>
        <p:nvSpPr>
          <p:cNvPr id="30" name="Text 21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CodeByPaxto: The AI &amp; ML Playground  ·  Hafiz Waseem Ahmed (Paxto)</a:t>
            </a:r>
            <a:endParaRPr lang="en-US" sz="950" dirty="0"/>
          </a:p>
        </p:txBody>
      </p:sp>
      <p:sp>
        <p:nvSpPr>
          <p:cNvPr id="31" name="Text 22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D6B0"/>
                </a:solidFill>
              </a:rPr>
              <a:t>✦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247120" y="5486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FFC94A"/>
                </a:solidFill>
              </a:rPr>
              <a:t>✦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640080" y="61264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8FB3"/>
                </a:solidFill>
              </a:rPr>
              <a:t>✦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338560" y="6035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7FE8"/>
                </a:solidFill>
              </a:rPr>
              <a:t>✦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 rot="-90000">
            <a:off x="1874520" y="1325880"/>
            <a:ext cx="8805672" cy="777240"/>
          </a:xfrm>
          <a:prstGeom prst="roundRect">
            <a:avLst>
              <a:gd name="adj" fmla="val 17647"/>
            </a:avLst>
          </a:prstGeom>
          <a:solidFill>
            <a:srgbClr val="FFC94A"/>
          </a:solidFill>
          <a:ln/>
        </p:spPr>
      </p:sp>
      <p:sp>
        <p:nvSpPr>
          <p:cNvPr id="7" name="Shape 5"/>
          <p:cNvSpPr/>
          <p:nvPr/>
        </p:nvSpPr>
        <p:spPr>
          <a:xfrm>
            <a:off x="1691640" y="1188720"/>
            <a:ext cx="8805672" cy="777240"/>
          </a:xfrm>
          <a:prstGeom prst="roundRect">
            <a:avLst>
              <a:gd name="adj" fmla="val 17647"/>
            </a:avLst>
          </a:prstGeom>
          <a:solidFill>
            <a:srgbClr val="8B7FE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0448" y="134874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91640" y="1188720"/>
            <a:ext cx="8805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97280" y="2331720"/>
            <a:ext cx="999439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Measures of Spread</a:t>
            </a:r>
            <a:endParaRPr lang="en-US" sz="2900" dirty="0"/>
          </a:p>
        </p:txBody>
      </p:sp>
      <p:sp>
        <p:nvSpPr>
          <p:cNvPr id="11" name="Text 8"/>
          <p:cNvSpPr/>
          <p:nvPr/>
        </p:nvSpPr>
        <p:spPr>
          <a:xfrm>
            <a:off x="1737360" y="4434840"/>
            <a:ext cx="87142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datasets can share the exact same mean and still look nothing alike — spread is what central tendency alone can’t tell you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8B7FE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What Is Spread, and Why Does It Matter?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9050">
            <a:solidFill>
              <a:srgbClr val="D8D2F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554480"/>
            <a:ext cx="3657600" cy="4663440"/>
          </a:xfrm>
          <a:prstGeom prst="roundRect">
            <a:avLst>
              <a:gd name="adj" fmla="val 4500"/>
            </a:avLst>
          </a:prstGeom>
          <a:solidFill>
            <a:srgbClr val="EDE9FE"/>
          </a:solidFill>
          <a:ln w="12700">
            <a:solidFill>
              <a:srgbClr val="D8D2F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508760" y="2194560"/>
            <a:ext cx="1554480" cy="1554480"/>
          </a:xfrm>
          <a:prstGeom prst="ellipse">
            <a:avLst/>
          </a:prstGeom>
          <a:solidFill>
            <a:srgbClr val="8B7FE8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6504" y="2423160"/>
            <a:ext cx="1088136" cy="10881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397764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Same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center,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different shape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4572000" y="1737360"/>
            <a:ext cx="71323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describes how tightly or loosely your data clusters around its center — exactly what a measure of central tendency can never tell you on its own</a:t>
            </a:r>
            <a:endParaRPr lang="en-US" sz="1600" dirty="0"/>
          </a:p>
          <a:p>
            <a:pPr marL="228600" indent="-2286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[18, 20, 22] and [2, 20, 38] both have a mean of 20 — but describing them with just "the average is 20" hides a completely different reality</a:t>
            </a:r>
            <a:endParaRPr lang="en-US" sz="1600" dirty="0"/>
          </a:p>
          <a:p>
            <a:pPr marL="228600" indent="-2286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is what tells you whether a value is genuinely typical, or actually unusual — a foundation this entire session builds on</a:t>
            </a:r>
            <a:endParaRPr lang="en-US" sz="1600" dirty="0"/>
          </a:p>
          <a:p>
            <a:pPr marL="228600" indent="-2286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measure on the next few slides answers the same underlying question in a different way: "how far, on average, do values stray from the center?"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CodeByPaxto: The AI &amp; ML Playground  ·  Hafiz Waseem Ahmed (Paxto)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8B7FE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Range — The Simplest Measure of Spread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9050">
            <a:solidFill>
              <a:srgbClr val="D8D2F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828800"/>
            <a:ext cx="4754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is simply the distance between the largest and smallest value in a dataset — the fastest possible way to measure spread</a:t>
            </a:r>
            <a:endParaRPr lang="en-US" sz="1350" dirty="0"/>
          </a:p>
          <a:p>
            <a:pPr marL="203200" indent="-2032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only looks at two values, and completely ignores everything in between — a single extreme outlier can inflate it dramatically</a:t>
            </a:r>
            <a:endParaRPr lang="en-US" sz="1350" dirty="0"/>
          </a:p>
          <a:p>
            <a:pPr marL="203200" indent="-2032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as a quick first glance, but rarely the measure you’d actually report or rely on for a real analysis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0" y="1691640"/>
            <a:ext cx="6217920" cy="4343400"/>
          </a:xfrm>
          <a:prstGeom prst="roundRect">
            <a:avLst>
              <a:gd name="adj" fmla="val 3368"/>
            </a:avLst>
          </a:prstGeom>
          <a:solidFill>
            <a:srgbClr val="E3FBF3"/>
          </a:solidFill>
          <a:ln w="19050">
            <a:solidFill>
              <a:srgbClr val="5FD6B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06440" y="1965960"/>
            <a:ext cx="55778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6B5F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 = max(x) − min(x)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6B5F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i="1" dirty="0">
                <a:solidFill>
                  <a:srgbClr val="685F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Example: [12, 15, 18, 20, 55]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6B5F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 = 55 - 12 = 43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6B5F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i="1" dirty="0">
                <a:solidFill>
                  <a:srgbClr val="685F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One extreme value (55) dominates the entire result —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i="1" dirty="0">
                <a:solidFill>
                  <a:srgbClr val="685F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range tells you nothing about the other four values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CodeByPaxto: The AI &amp; ML Playground  ·  Hafiz Waseem Ahmed (Paxto)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8B7FE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Variance — The Average Squared Distance From the Mean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9050">
            <a:solidFill>
              <a:srgbClr val="D8D2F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828800"/>
            <a:ext cx="4754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measures spread by finding how far every single value is from the mean, squaring each distance, then averaging those squared distances</a:t>
            </a:r>
            <a:endParaRPr lang="en-US" sz="1350" dirty="0"/>
          </a:p>
          <a:p>
            <a:pPr marL="203200" indent="-2032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Squaring serves two purposes: it makes every distance positive (so they don’t cancel out), and it punishes bigger deviations disproportionately more</a:t>
            </a:r>
            <a:endParaRPr lang="en-US" sz="1350" dirty="0"/>
          </a:p>
          <a:p>
            <a:pPr marL="203200" indent="-2032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is that variance’s units are squared too — "dollars squared" or "years squared" don’t mean anything intuitive on their own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0" y="1691640"/>
            <a:ext cx="6217920" cy="4343400"/>
          </a:xfrm>
          <a:prstGeom prst="roundRect">
            <a:avLst>
              <a:gd name="adj" fmla="val 3368"/>
            </a:avLst>
          </a:prstGeom>
          <a:solidFill>
            <a:srgbClr val="E3FBF3"/>
          </a:solidFill>
          <a:ln w="19050">
            <a:solidFill>
              <a:srgbClr val="5FD6B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06440" y="1965960"/>
            <a:ext cx="55778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6B5F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n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6B5F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variance =  1/n Σ  (xᵢ − mean)²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6B5F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i=1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6B5F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i="1" dirty="0">
                <a:solidFill>
                  <a:srgbClr val="685F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Example: [2, 4, 6], mean = 4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i="1" dirty="0">
                <a:solidFill>
                  <a:srgbClr val="685F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deviations: -2, 0, 2  -&gt;  squared: 4, 0, 4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6B5F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variance = (4 + 0 + 4) / 3 = 2.67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CodeByPaxto: The AI &amp; ML Playground  ·  Hafiz Waseem Ahmed (Paxto)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8B7FE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Standard Deviation — Undoing the Squaring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9050">
            <a:solidFill>
              <a:srgbClr val="D8D2F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828800"/>
            <a:ext cx="4754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deviation is simply the square root of variance — it exists specifically to undo variance’s squared units, bringing spread back into the original, meaningful scale</a:t>
            </a:r>
            <a:endParaRPr lang="en-US" sz="1350" dirty="0"/>
          </a:p>
          <a:p>
            <a:pPr marL="203200" indent="-2032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standard deviation of exam scores is 8 points" is something you can actually reason about; "the variance is 64 points squared" isn’t</a:t>
            </a:r>
            <a:endParaRPr lang="en-US" sz="1350" dirty="0"/>
          </a:p>
          <a:p>
            <a:pPr marL="203200" indent="-2032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single most commonly reported measure of spread in real statistics — you’ll see it constantly from this point forward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0" y="1691640"/>
            <a:ext cx="6217920" cy="4343400"/>
          </a:xfrm>
          <a:prstGeom prst="roundRect">
            <a:avLst>
              <a:gd name="adj" fmla="val 3368"/>
            </a:avLst>
          </a:prstGeom>
          <a:solidFill>
            <a:srgbClr val="E3FBF3"/>
          </a:solidFill>
          <a:ln w="19050">
            <a:solidFill>
              <a:srgbClr val="5FD6B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06440" y="1965960"/>
            <a:ext cx="55778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6B5F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standard deviation = √variance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6B5F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i="1" dirty="0">
                <a:solidFill>
                  <a:srgbClr val="685F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Continuing the example: variance = 2.67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6B5F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std_dev = √2.67 ≈ 1.63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6B5F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i="1" dirty="0">
                <a:solidFill>
                  <a:srgbClr val="685F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Back in the original units —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i="1" dirty="0">
                <a:solidFill>
                  <a:srgbClr val="685F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values typically sit about 1.63 away from the mean of 4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CodeByPaxto: The AI &amp; ML Playground  ·  Hafiz Waseem Ahmed (Paxto)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8B7FE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IQR Recap — The Middle 50%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9050">
            <a:solidFill>
              <a:srgbClr val="D8D2F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554480"/>
            <a:ext cx="3657600" cy="4663440"/>
          </a:xfrm>
          <a:prstGeom prst="roundRect">
            <a:avLst>
              <a:gd name="adj" fmla="val 4500"/>
            </a:avLst>
          </a:prstGeom>
          <a:solidFill>
            <a:srgbClr val="EDE9FE"/>
          </a:solidFill>
          <a:ln w="12700">
            <a:solidFill>
              <a:srgbClr val="D8D2F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508760" y="2194560"/>
            <a:ext cx="1554480" cy="1554480"/>
          </a:xfrm>
          <a:prstGeom prst="ellipse">
            <a:avLst/>
          </a:prstGeom>
          <a:solidFill>
            <a:srgbClr val="8B7FE8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6504" y="2423160"/>
            <a:ext cx="1088136" cy="10881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397764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Spread,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without the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outliers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4572000" y="1737360"/>
            <a:ext cx="71323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box plot in Session 18: IQR is Q3 minus Q1 — the width of exactly the middle 50% of your sorted data</a:t>
            </a:r>
            <a:endParaRPr lang="en-US" sz="1600" dirty="0"/>
          </a:p>
          <a:p>
            <a:pPr marL="228600" indent="-2286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range, IQR completely ignores the most extreme values on both ends — which makes it far more resistant to outliers than range, and even more resistant than standard deviation</a:t>
            </a:r>
            <a:endParaRPr lang="en-US" sz="1600" dirty="0"/>
          </a:p>
          <a:p>
            <a:pPr marL="228600" indent="-2286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exactly why IQR is the standard choice for detecting outliers in the first place — you’ll use it again shortly in this session’s look at outliers</a:t>
            </a:r>
            <a:endParaRPr lang="en-US" sz="1600" dirty="0"/>
          </a:p>
          <a:p>
            <a:pPr marL="228600" indent="-2286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skewed data or data with real outliers → report IQR alongside the median. Roughly symmetric, clean data → standard deviation alongside the mean is perfectly fine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CodeByPaxto: The AI &amp; ML Playground  ·  Hafiz Waseem Ahmed (Paxto)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8B7FE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Practice Set — Measures of Spread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9050">
            <a:solidFill>
              <a:srgbClr val="D8D2F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600200"/>
            <a:ext cx="11274552" cy="4480560"/>
          </a:xfrm>
          <a:prstGeom prst="roundRect">
            <a:avLst>
              <a:gd name="adj" fmla="val 3673"/>
            </a:avLst>
          </a:prstGeom>
          <a:solidFill>
            <a:srgbClr val="EDE9FE"/>
          </a:solidFill>
          <a:ln w="12700">
            <a:solidFill>
              <a:srgbClr val="D8D2F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Try these yourself first — that's the point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22960" y="2423160"/>
            <a:ext cx="384048" cy="384048"/>
          </a:xfrm>
          <a:prstGeom prst="ellipse">
            <a:avLst/>
          </a:prstGeom>
          <a:solidFill>
            <a:srgbClr val="8B7FE8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2423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435608" y="2423160"/>
            <a:ext cx="9582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the range, variance, and standard deviation of [5, 7, 7, 9, 12] by hand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22960" y="3300984"/>
            <a:ext cx="384048" cy="384048"/>
          </a:xfrm>
          <a:prstGeom prst="ellipse">
            <a:avLst/>
          </a:prstGeom>
          <a:solidFill>
            <a:srgbClr val="8B7FE8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3300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35608" y="3300984"/>
            <a:ext cx="9582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variance is rarely reported directly, using what you know about its units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22960" y="4178808"/>
            <a:ext cx="384048" cy="384048"/>
          </a:xfrm>
          <a:prstGeom prst="ellipse">
            <a:avLst/>
          </a:prstGeom>
          <a:solidFill>
            <a:srgbClr val="8B7FE8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" y="4178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35608" y="4178808"/>
            <a:ext cx="9582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dataset with one extreme outlier, explain which measure of spread would be least affected, and why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822960" y="5056632"/>
            <a:ext cx="384048" cy="384048"/>
          </a:xfrm>
          <a:prstGeom prst="ellipse">
            <a:avLst/>
          </a:prstGeom>
          <a:solidFill>
            <a:srgbClr val="8B7FE8"/>
          </a:solidFill>
          <a:ln/>
        </p:spPr>
      </p:sp>
      <p:sp>
        <p:nvSpPr>
          <p:cNvPr id="18" name="Text 15"/>
          <p:cNvSpPr/>
          <p:nvPr/>
        </p:nvSpPr>
        <p:spPr>
          <a:xfrm>
            <a:off x="822960" y="5056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35608" y="5056632"/>
            <a:ext cx="9582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classes have the same average test score, but Class A has a standard deviation of 3 and Class B has 15. Explain what this tells you about each class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CodeByPaxto: The AI &amp; ML Playground  ·  Hafiz Waseem Ahmed (Paxto)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D6B0"/>
                </a:solidFill>
              </a:rPr>
              <a:t>✦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247120" y="5486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FFC94A"/>
                </a:solidFill>
              </a:rPr>
              <a:t>✦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640080" y="61264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8FB3"/>
                </a:solidFill>
              </a:rPr>
              <a:t>✦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338560" y="6035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7FE8"/>
                </a:solidFill>
              </a:rPr>
              <a:t>✦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 rot="-90000">
            <a:off x="1874520" y="1325880"/>
            <a:ext cx="8805672" cy="777240"/>
          </a:xfrm>
          <a:prstGeom prst="roundRect">
            <a:avLst>
              <a:gd name="adj" fmla="val 17647"/>
            </a:avLst>
          </a:prstGeom>
          <a:solidFill>
            <a:srgbClr val="FFC94A"/>
          </a:solidFill>
          <a:ln/>
        </p:spPr>
      </p:sp>
      <p:sp>
        <p:nvSpPr>
          <p:cNvPr id="7" name="Shape 5"/>
          <p:cNvSpPr/>
          <p:nvPr/>
        </p:nvSpPr>
        <p:spPr>
          <a:xfrm>
            <a:off x="1691640" y="1188720"/>
            <a:ext cx="8805672" cy="777240"/>
          </a:xfrm>
          <a:prstGeom prst="roundRect">
            <a:avLst>
              <a:gd name="adj" fmla="val 17647"/>
            </a:avLst>
          </a:prstGeom>
          <a:solidFill>
            <a:srgbClr val="8B7FE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0448" y="134874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91640" y="1188720"/>
            <a:ext cx="8805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97280" y="2331720"/>
            <a:ext cx="999439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Standard Deviation vs. Standard Error</a:t>
            </a:r>
            <a:endParaRPr lang="en-US" sz="2900" dirty="0"/>
          </a:p>
        </p:txBody>
      </p:sp>
      <p:sp>
        <p:nvSpPr>
          <p:cNvPr id="11" name="Text 8"/>
          <p:cNvSpPr/>
          <p:nvPr/>
        </p:nvSpPr>
        <p:spPr>
          <a:xfrm>
            <a:off x="1737360" y="4434840"/>
            <a:ext cx="87142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measures that sound alike, get confused constantly, and answer genuinely different questions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8B7FE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What Is Standard Error?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9050">
            <a:solidFill>
              <a:srgbClr val="D8D2F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554480"/>
            <a:ext cx="3657600" cy="4663440"/>
          </a:xfrm>
          <a:prstGeom prst="roundRect">
            <a:avLst>
              <a:gd name="adj" fmla="val 4500"/>
            </a:avLst>
          </a:prstGeom>
          <a:solidFill>
            <a:srgbClr val="EDE9FE"/>
          </a:solidFill>
          <a:ln w="12700">
            <a:solidFill>
              <a:srgbClr val="D8D2F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508760" y="2194560"/>
            <a:ext cx="1554480" cy="1554480"/>
          </a:xfrm>
          <a:prstGeom prst="ellipse">
            <a:avLst/>
          </a:prstGeom>
          <a:solidFill>
            <a:srgbClr val="8B7FE8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6504" y="2423160"/>
            <a:ext cx="1088136" cy="10881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397764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Uncertainty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 the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estimate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4572000" y="1737360"/>
            <a:ext cx="71323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error measures how much a sample statistic (like a sample mean) would likely bounce around if you repeated the sampling process over and over</a:t>
            </a:r>
            <a:endParaRPr lang="en-US" sz="1600" dirty="0"/>
          </a:p>
          <a:p>
            <a:pPr marL="228600" indent="-2286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answers a question standard deviation was never built to answer: "if I took a different sample from the same population, how different might my mean turn out?"</a:t>
            </a:r>
            <a:endParaRPr lang="en-US" sz="1600" dirty="0"/>
          </a:p>
          <a:p>
            <a:pPr marL="228600" indent="-2286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error shrinks as your sample size grows — more data gives you a more stable, trustworthy estimate of the true population mean</a:t>
            </a:r>
            <a:endParaRPr lang="en-US" sz="1600" dirty="0"/>
          </a:p>
          <a:p>
            <a:pPr marL="228600" indent="-2286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concept is the direct seed of confidence intervals, which get fully covered in Session 21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CodeByPaxto: The AI &amp; ML Playground  ·  Hafiz Waseem Ahmed (Paxto)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8B7FE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Standard Deviation vs. Standard Error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9050">
            <a:solidFill>
              <a:srgbClr val="D8D2F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645920"/>
            <a:ext cx="5349240" cy="4480560"/>
          </a:xfrm>
          <a:prstGeom prst="roundRect">
            <a:avLst>
              <a:gd name="adj" fmla="val 3265"/>
            </a:avLst>
          </a:prstGeom>
          <a:solidFill>
            <a:srgbClr val="EDE9FE"/>
          </a:solidFill>
          <a:ln w="12700">
            <a:solidFill>
              <a:srgbClr val="D8D2F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31520" y="1874520"/>
            <a:ext cx="457200" cy="457200"/>
          </a:xfrm>
          <a:prstGeom prst="ellipse">
            <a:avLst/>
          </a:prstGeom>
          <a:solidFill>
            <a:srgbClr val="8B7FE8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1938528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25880" y="187452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Standard Deviation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731520" y="2514600"/>
            <a:ext cx="48006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Describes spread WITHIN your actual data</a:t>
            </a:r>
            <a:endParaRPr lang="en-US" sz="1350" dirty="0"/>
          </a:p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far, typically, does one data point sit from the mean?"</a:t>
            </a:r>
            <a:endParaRPr lang="en-US" sz="1350" dirty="0"/>
          </a:p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shrink just because you collect more data — it reflects real variability in the population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172200" y="1645920"/>
            <a:ext cx="5349240" cy="4480560"/>
          </a:xfrm>
          <a:prstGeom prst="roundRect">
            <a:avLst>
              <a:gd name="adj" fmla="val 3265"/>
            </a:avLst>
          </a:prstGeom>
          <a:solidFill>
            <a:srgbClr val="FFF6DC"/>
          </a:solidFill>
          <a:ln w="12700">
            <a:solidFill>
              <a:srgbClr val="D8D2F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46520" y="1874520"/>
            <a:ext cx="457200" cy="457200"/>
          </a:xfrm>
          <a:prstGeom prst="ellipse">
            <a:avLst/>
          </a:prstGeom>
          <a:solidFill>
            <a:srgbClr val="FFC94A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9672" y="1938528"/>
            <a:ext cx="320040" cy="3200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040880" y="187452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Standard Error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6446520" y="2514600"/>
            <a:ext cx="48006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Describes uncertainty in an ESTIMATE (like a sample mean)</a:t>
            </a:r>
            <a:endParaRPr lang="en-US" sz="1350" dirty="0"/>
          </a:p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much would my sample mean likely shift if I resampled?"</a:t>
            </a:r>
            <a:endParaRPr lang="en-US" sz="1350" dirty="0"/>
          </a:p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shrink as sample size grows — more data means a more precise estimate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CodeByPaxto: The AI &amp; ML Playground  ·  Hafiz Waseem Ahmed (Paxto)</a:t>
            </a:r>
            <a:endParaRPr lang="en-US" sz="950" dirty="0"/>
          </a:p>
        </p:txBody>
      </p:sp>
      <p:sp>
        <p:nvSpPr>
          <p:cNvPr id="17" name="Text 12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8B7FE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Calculating Standard Error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9050">
            <a:solidFill>
              <a:srgbClr val="D8D2F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828800"/>
            <a:ext cx="4754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error is calculated directly from your standard deviation and your sample size — no new data collection needed</a:t>
            </a:r>
            <a:endParaRPr lang="en-US" sz="1350" dirty="0"/>
          </a:p>
          <a:p>
            <a:pPr marL="203200" indent="-2032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Dividing by the square root of n means standard error shrinks slowly — quadrupling your sample size only halves your standard error</a:t>
            </a:r>
            <a:endParaRPr lang="en-US" sz="1350" dirty="0"/>
          </a:p>
          <a:p>
            <a:pPr marL="203200" indent="-2032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relationship is exactly why "collect more data" has real, predictable, diminishing returns on precision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0" y="1691640"/>
            <a:ext cx="6217920" cy="4343400"/>
          </a:xfrm>
          <a:prstGeom prst="roundRect">
            <a:avLst>
              <a:gd name="adj" fmla="val 3368"/>
            </a:avLst>
          </a:prstGeom>
          <a:solidFill>
            <a:srgbClr val="E3FBF3"/>
          </a:solidFill>
          <a:ln w="19050">
            <a:solidFill>
              <a:srgbClr val="5FD6B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06440" y="1965960"/>
            <a:ext cx="55778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6B5F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standard error = standard deviation / √n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6B5F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i="1" dirty="0">
                <a:solidFill>
                  <a:srgbClr val="685F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Example: std_dev = 10, sample size n = 25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6B5F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 = 10 / √25 = 10 / 5 = 2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6B5F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i="1" dirty="0">
                <a:solidFill>
                  <a:srgbClr val="685F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Quadruple the sample to n = 100: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6B5F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 = 10 / √100 = 10 / 10 = 1     # only halved, not quartered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CodeByPaxto: The AI &amp; ML Playground  ·  Hafiz Waseem Ahmed (Paxto)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8B7FE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Practice Set — SD vs. SE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9050">
            <a:solidFill>
              <a:srgbClr val="D8D2F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600200"/>
            <a:ext cx="11274552" cy="4480560"/>
          </a:xfrm>
          <a:prstGeom prst="roundRect">
            <a:avLst>
              <a:gd name="adj" fmla="val 3673"/>
            </a:avLst>
          </a:prstGeom>
          <a:solidFill>
            <a:srgbClr val="EDE9FE"/>
          </a:solidFill>
          <a:ln w="12700">
            <a:solidFill>
              <a:srgbClr val="D8D2F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Try these yourself first — that's the point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22960" y="2423160"/>
            <a:ext cx="384048" cy="384048"/>
          </a:xfrm>
          <a:prstGeom prst="ellipse">
            <a:avLst/>
          </a:prstGeom>
          <a:solidFill>
            <a:srgbClr val="8B7FE8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2423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435608" y="2423160"/>
            <a:ext cx="9582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Explain, in your own words, why standard error shrinks with a larger sample but standard deviation does not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22960" y="3300984"/>
            <a:ext cx="384048" cy="384048"/>
          </a:xfrm>
          <a:prstGeom prst="ellipse">
            <a:avLst/>
          </a:prstGeom>
          <a:solidFill>
            <a:srgbClr val="8B7FE8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3300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35608" y="3300984"/>
            <a:ext cx="9582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the standard error for a sample of 64 values with a standard deviation of 16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22960" y="4178808"/>
            <a:ext cx="384048" cy="384048"/>
          </a:xfrm>
          <a:prstGeom prst="ellipse">
            <a:avLst/>
          </a:prstGeom>
          <a:solidFill>
            <a:srgbClr val="8B7FE8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" y="4178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35608" y="4178808"/>
            <a:ext cx="9582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news report says "average height: 170cm" without mentioning sample size. Explain why you can’t evaluate how precise that estimate is without more information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822960" y="5056632"/>
            <a:ext cx="384048" cy="384048"/>
          </a:xfrm>
          <a:prstGeom prst="ellipse">
            <a:avLst/>
          </a:prstGeom>
          <a:solidFill>
            <a:srgbClr val="8B7FE8"/>
          </a:solidFill>
          <a:ln/>
        </p:spPr>
      </p:sp>
      <p:sp>
        <p:nvSpPr>
          <p:cNvPr id="18" name="Text 15"/>
          <p:cNvSpPr/>
          <p:nvPr/>
        </p:nvSpPr>
        <p:spPr>
          <a:xfrm>
            <a:off x="822960" y="5056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35608" y="5056632"/>
            <a:ext cx="9582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a researcher reporting results from an entire population (not a sample) would never need to calculate a standard error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CodeByPaxto: The AI &amp; ML Playground  ·  Hafiz Waseem Ahmed (Paxto)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D6B0"/>
                </a:solidFill>
              </a:rPr>
              <a:t>✦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247120" y="5486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FFC94A"/>
                </a:solidFill>
              </a:rPr>
              <a:t>✦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640080" y="61264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8FB3"/>
                </a:solidFill>
              </a:rPr>
              <a:t>✦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338560" y="6035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7FE8"/>
                </a:solidFill>
              </a:rPr>
              <a:t>✦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 rot="-90000">
            <a:off x="1874520" y="1325880"/>
            <a:ext cx="8805672" cy="777240"/>
          </a:xfrm>
          <a:prstGeom prst="roundRect">
            <a:avLst>
              <a:gd name="adj" fmla="val 17647"/>
            </a:avLst>
          </a:prstGeom>
          <a:solidFill>
            <a:srgbClr val="FFC94A"/>
          </a:solidFill>
          <a:ln/>
        </p:spPr>
      </p:sp>
      <p:sp>
        <p:nvSpPr>
          <p:cNvPr id="7" name="Shape 5"/>
          <p:cNvSpPr/>
          <p:nvPr/>
        </p:nvSpPr>
        <p:spPr>
          <a:xfrm>
            <a:off x="1691640" y="1188720"/>
            <a:ext cx="8805672" cy="777240"/>
          </a:xfrm>
          <a:prstGeom prst="roundRect">
            <a:avLst>
              <a:gd name="adj" fmla="val 17647"/>
            </a:avLst>
          </a:prstGeom>
          <a:solidFill>
            <a:srgbClr val="8B7FE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0448" y="134874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91640" y="1188720"/>
            <a:ext cx="8805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97280" y="2331720"/>
            <a:ext cx="999439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Z-Score</a:t>
            </a:r>
            <a:endParaRPr lang="en-US" sz="2900" dirty="0"/>
          </a:p>
        </p:txBody>
      </p:sp>
      <p:sp>
        <p:nvSpPr>
          <p:cNvPr id="11" name="Text 8"/>
          <p:cNvSpPr/>
          <p:nvPr/>
        </p:nvSpPr>
        <p:spPr>
          <a:xfrm>
            <a:off x="1737360" y="4434840"/>
            <a:ext cx="87142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number that answers "how unusual is this, really?" — on any scale, for any variable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8B7FE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What Is a Z-Score?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9050">
            <a:solidFill>
              <a:srgbClr val="D8D2F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554480"/>
            <a:ext cx="3657600" cy="4663440"/>
          </a:xfrm>
          <a:prstGeom prst="roundRect">
            <a:avLst>
              <a:gd name="adj" fmla="val 4500"/>
            </a:avLst>
          </a:prstGeom>
          <a:solidFill>
            <a:srgbClr val="EDE9FE"/>
          </a:solidFill>
          <a:ln w="12700">
            <a:solidFill>
              <a:srgbClr val="D8D2F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508760" y="2194560"/>
            <a:ext cx="1554480" cy="1554480"/>
          </a:xfrm>
          <a:prstGeom prst="ellipse">
            <a:avLst/>
          </a:prstGeom>
          <a:solidFill>
            <a:srgbClr val="8B7FE8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6504" y="2423160"/>
            <a:ext cx="1088136" cy="10881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397764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Distance,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measured in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std devs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4572000" y="1737360"/>
            <a:ext cx="71323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z-score tells you exactly how many standard deviations a value sits above or below the mean</a:t>
            </a:r>
            <a:endParaRPr lang="en-US" sz="1600" dirty="0"/>
          </a:p>
          <a:p>
            <a:pPr marL="228600" indent="-2286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z-score of 0 means "exactly average." Positive means above average, negative means below — and the size tells you how far</a:t>
            </a:r>
            <a:endParaRPr lang="en-US" sz="1600" dirty="0"/>
          </a:p>
          <a:p>
            <a:pPr marL="228600" indent="-2286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process is called standardizing — it converts any value, from any scale or unit, into this one universal "how unusual is this" number</a:t>
            </a:r>
            <a:endParaRPr lang="en-US" sz="1600" dirty="0"/>
          </a:p>
          <a:p>
            <a:pPr marL="228600" indent="-2286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z-score beyond ±2 is generally considered noticeably unusual; beyond ±3 is genuinely rare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CodeByPaxto: The AI &amp; ML Playground  ·  Hafiz Waseem Ahmed (Paxto)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8B7FE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Calculating a Z-Score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9050">
            <a:solidFill>
              <a:srgbClr val="D8D2F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828800"/>
            <a:ext cx="4754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Subtract the mean from your value, then divide by the standard deviation — that’s the entire calculation</a:t>
            </a:r>
            <a:endParaRPr lang="en-US" sz="1350" dirty="0"/>
          </a:p>
          <a:p>
            <a:pPr marL="203200" indent="-2032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subtraction centers the value around 0; the division rescales it in units of "how many standard deviations"</a:t>
            </a:r>
            <a:endParaRPr lang="en-US" sz="1350" dirty="0"/>
          </a:p>
          <a:p>
            <a:pPr marL="203200" indent="-2032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negative result simply means the value sits below the mean — not an error, just direction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0" y="1691640"/>
            <a:ext cx="6217920" cy="4343400"/>
          </a:xfrm>
          <a:prstGeom prst="roundRect">
            <a:avLst>
              <a:gd name="adj" fmla="val 3368"/>
            </a:avLst>
          </a:prstGeom>
          <a:solidFill>
            <a:srgbClr val="E3FBF3"/>
          </a:solidFill>
          <a:ln w="19050">
            <a:solidFill>
              <a:srgbClr val="5FD6B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06440" y="1965960"/>
            <a:ext cx="55778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6B5F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 = (x − mean) / standard deviation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6B5F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i="1" dirty="0">
                <a:solidFill>
                  <a:srgbClr val="685F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Example: exam mean = 70, std_dev = 8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i="1" dirty="0">
                <a:solidFill>
                  <a:srgbClr val="685F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Your score: 86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6B5F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 = (86 - 70) / 8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6B5F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= 16 / 8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6B5F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= 2.0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6B5F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i="1" dirty="0">
                <a:solidFill>
                  <a:srgbClr val="685F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You scored exactly 2 standard deviations above average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CodeByPaxto: The AI &amp; ML Playground  ·  Hafiz Waseem Ahmed (Paxto)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8B7FE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Z-Score, Visualized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9050">
            <a:solidFill>
              <a:srgbClr val="D8D2F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61288" y="4782065"/>
            <a:ext cx="413831" cy="64255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7" name="Shape 4"/>
          <p:cNvSpPr/>
          <p:nvPr/>
        </p:nvSpPr>
        <p:spPr>
          <a:xfrm>
            <a:off x="1631551" y="4717810"/>
            <a:ext cx="413831" cy="128510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8" name="Shape 5"/>
          <p:cNvSpPr/>
          <p:nvPr/>
        </p:nvSpPr>
        <p:spPr>
          <a:xfrm>
            <a:off x="2101814" y="4589299"/>
            <a:ext cx="413831" cy="257021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9" name="Shape 6"/>
          <p:cNvSpPr/>
          <p:nvPr/>
        </p:nvSpPr>
        <p:spPr>
          <a:xfrm>
            <a:off x="2572077" y="4396534"/>
            <a:ext cx="413831" cy="449786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10" name="Shape 7"/>
          <p:cNvSpPr/>
          <p:nvPr/>
        </p:nvSpPr>
        <p:spPr>
          <a:xfrm>
            <a:off x="3042339" y="4139514"/>
            <a:ext cx="413831" cy="706806"/>
          </a:xfrm>
          <a:prstGeom prst="rect">
            <a:avLst/>
          </a:prstGeom>
          <a:solidFill>
            <a:srgbClr val="5FD6B0"/>
          </a:solidFill>
          <a:ln/>
        </p:spPr>
      </p:sp>
      <p:sp>
        <p:nvSpPr>
          <p:cNvPr id="11" name="Shape 8"/>
          <p:cNvSpPr/>
          <p:nvPr/>
        </p:nvSpPr>
        <p:spPr>
          <a:xfrm>
            <a:off x="3512602" y="3818238"/>
            <a:ext cx="413831" cy="1028082"/>
          </a:xfrm>
          <a:prstGeom prst="rect">
            <a:avLst/>
          </a:prstGeom>
          <a:solidFill>
            <a:srgbClr val="5FD6B0"/>
          </a:solidFill>
          <a:ln/>
        </p:spPr>
      </p:sp>
      <p:sp>
        <p:nvSpPr>
          <p:cNvPr id="12" name="Shape 9"/>
          <p:cNvSpPr/>
          <p:nvPr/>
        </p:nvSpPr>
        <p:spPr>
          <a:xfrm>
            <a:off x="3982865" y="3432707"/>
            <a:ext cx="413831" cy="1413613"/>
          </a:xfrm>
          <a:prstGeom prst="rect">
            <a:avLst/>
          </a:prstGeom>
          <a:solidFill>
            <a:srgbClr val="5FD6B0"/>
          </a:solidFill>
          <a:ln/>
        </p:spPr>
      </p:sp>
      <p:sp>
        <p:nvSpPr>
          <p:cNvPr id="13" name="Shape 10"/>
          <p:cNvSpPr/>
          <p:nvPr/>
        </p:nvSpPr>
        <p:spPr>
          <a:xfrm>
            <a:off x="4453128" y="3047176"/>
            <a:ext cx="413831" cy="1799144"/>
          </a:xfrm>
          <a:prstGeom prst="rect">
            <a:avLst/>
          </a:prstGeom>
          <a:solidFill>
            <a:srgbClr val="8B7FE8"/>
          </a:solidFill>
          <a:ln/>
        </p:spPr>
      </p:sp>
      <p:sp>
        <p:nvSpPr>
          <p:cNvPr id="14" name="Shape 11"/>
          <p:cNvSpPr/>
          <p:nvPr/>
        </p:nvSpPr>
        <p:spPr>
          <a:xfrm>
            <a:off x="4923391" y="2725901"/>
            <a:ext cx="413831" cy="2120419"/>
          </a:xfrm>
          <a:prstGeom prst="rect">
            <a:avLst/>
          </a:prstGeom>
          <a:solidFill>
            <a:srgbClr val="8B7FE8"/>
          </a:solidFill>
          <a:ln/>
        </p:spPr>
      </p:sp>
      <p:sp>
        <p:nvSpPr>
          <p:cNvPr id="15" name="Shape 12"/>
          <p:cNvSpPr/>
          <p:nvPr/>
        </p:nvSpPr>
        <p:spPr>
          <a:xfrm>
            <a:off x="5393654" y="2533135"/>
            <a:ext cx="413831" cy="2313185"/>
          </a:xfrm>
          <a:prstGeom prst="rect">
            <a:avLst/>
          </a:prstGeom>
          <a:solidFill>
            <a:srgbClr val="8B7FE8"/>
          </a:solidFill>
          <a:ln/>
        </p:spPr>
      </p:sp>
      <p:sp>
        <p:nvSpPr>
          <p:cNvPr id="16" name="Shape 13"/>
          <p:cNvSpPr/>
          <p:nvPr/>
        </p:nvSpPr>
        <p:spPr>
          <a:xfrm>
            <a:off x="5863917" y="2468880"/>
            <a:ext cx="413831" cy="2377440"/>
          </a:xfrm>
          <a:prstGeom prst="rect">
            <a:avLst/>
          </a:prstGeom>
          <a:solidFill>
            <a:srgbClr val="8B7FE8"/>
          </a:solidFill>
          <a:ln/>
        </p:spPr>
      </p:sp>
      <p:sp>
        <p:nvSpPr>
          <p:cNvPr id="17" name="Shape 14"/>
          <p:cNvSpPr/>
          <p:nvPr/>
        </p:nvSpPr>
        <p:spPr>
          <a:xfrm>
            <a:off x="6334179" y="2533135"/>
            <a:ext cx="413831" cy="2313185"/>
          </a:xfrm>
          <a:prstGeom prst="rect">
            <a:avLst/>
          </a:prstGeom>
          <a:solidFill>
            <a:srgbClr val="8B7FE8"/>
          </a:solidFill>
          <a:ln/>
        </p:spPr>
      </p:sp>
      <p:sp>
        <p:nvSpPr>
          <p:cNvPr id="18" name="Shape 15"/>
          <p:cNvSpPr/>
          <p:nvPr/>
        </p:nvSpPr>
        <p:spPr>
          <a:xfrm>
            <a:off x="6804442" y="2725901"/>
            <a:ext cx="413831" cy="2120419"/>
          </a:xfrm>
          <a:prstGeom prst="rect">
            <a:avLst/>
          </a:prstGeom>
          <a:solidFill>
            <a:srgbClr val="8B7FE8"/>
          </a:solidFill>
          <a:ln/>
        </p:spPr>
      </p:sp>
      <p:sp>
        <p:nvSpPr>
          <p:cNvPr id="19" name="Shape 16"/>
          <p:cNvSpPr/>
          <p:nvPr/>
        </p:nvSpPr>
        <p:spPr>
          <a:xfrm>
            <a:off x="7274705" y="3047176"/>
            <a:ext cx="413831" cy="1799144"/>
          </a:xfrm>
          <a:prstGeom prst="rect">
            <a:avLst/>
          </a:prstGeom>
          <a:solidFill>
            <a:srgbClr val="8B7FE8"/>
          </a:solidFill>
          <a:ln/>
        </p:spPr>
      </p:sp>
      <p:sp>
        <p:nvSpPr>
          <p:cNvPr id="20" name="Shape 17"/>
          <p:cNvSpPr/>
          <p:nvPr/>
        </p:nvSpPr>
        <p:spPr>
          <a:xfrm>
            <a:off x="7744968" y="3432707"/>
            <a:ext cx="413831" cy="1413613"/>
          </a:xfrm>
          <a:prstGeom prst="rect">
            <a:avLst/>
          </a:prstGeom>
          <a:solidFill>
            <a:srgbClr val="5FD6B0"/>
          </a:solidFill>
          <a:ln/>
        </p:spPr>
      </p:sp>
      <p:sp>
        <p:nvSpPr>
          <p:cNvPr id="21" name="Shape 18"/>
          <p:cNvSpPr/>
          <p:nvPr/>
        </p:nvSpPr>
        <p:spPr>
          <a:xfrm>
            <a:off x="8215231" y="3818238"/>
            <a:ext cx="413831" cy="1028082"/>
          </a:xfrm>
          <a:prstGeom prst="rect">
            <a:avLst/>
          </a:prstGeom>
          <a:solidFill>
            <a:srgbClr val="5FD6B0"/>
          </a:solidFill>
          <a:ln/>
        </p:spPr>
      </p:sp>
      <p:sp>
        <p:nvSpPr>
          <p:cNvPr id="22" name="Shape 19"/>
          <p:cNvSpPr/>
          <p:nvPr/>
        </p:nvSpPr>
        <p:spPr>
          <a:xfrm>
            <a:off x="8685494" y="4139514"/>
            <a:ext cx="413831" cy="706806"/>
          </a:xfrm>
          <a:prstGeom prst="rect">
            <a:avLst/>
          </a:prstGeom>
          <a:solidFill>
            <a:srgbClr val="5FD6B0"/>
          </a:solidFill>
          <a:ln/>
        </p:spPr>
      </p:sp>
      <p:sp>
        <p:nvSpPr>
          <p:cNvPr id="23" name="Shape 20"/>
          <p:cNvSpPr/>
          <p:nvPr/>
        </p:nvSpPr>
        <p:spPr>
          <a:xfrm>
            <a:off x="9155757" y="4396534"/>
            <a:ext cx="413831" cy="449786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24" name="Shape 21"/>
          <p:cNvSpPr/>
          <p:nvPr/>
        </p:nvSpPr>
        <p:spPr>
          <a:xfrm>
            <a:off x="9626019" y="4589299"/>
            <a:ext cx="413831" cy="257021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25" name="Shape 22"/>
          <p:cNvSpPr/>
          <p:nvPr/>
        </p:nvSpPr>
        <p:spPr>
          <a:xfrm>
            <a:off x="10096282" y="4717810"/>
            <a:ext cx="413831" cy="128510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26" name="Shape 23"/>
          <p:cNvSpPr/>
          <p:nvPr/>
        </p:nvSpPr>
        <p:spPr>
          <a:xfrm>
            <a:off x="10566545" y="4782065"/>
            <a:ext cx="413831" cy="64255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27" name="Shape 24"/>
          <p:cNvSpPr/>
          <p:nvPr/>
        </p:nvSpPr>
        <p:spPr>
          <a:xfrm>
            <a:off x="1161288" y="4846320"/>
            <a:ext cx="9875520" cy="0"/>
          </a:xfrm>
          <a:prstGeom prst="line">
            <a:avLst/>
          </a:prstGeom>
          <a:noFill/>
          <a:ln w="19050">
            <a:solidFill>
              <a:srgbClr val="D8D2F5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161288" y="4846320"/>
            <a:ext cx="0" cy="137160"/>
          </a:xfrm>
          <a:prstGeom prst="line">
            <a:avLst/>
          </a:prstGeom>
          <a:noFill/>
          <a:ln w="19050">
            <a:solidFill>
              <a:srgbClr val="685F8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41248" y="501091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85F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-3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2807208" y="4846320"/>
            <a:ext cx="0" cy="137160"/>
          </a:xfrm>
          <a:prstGeom prst="line">
            <a:avLst/>
          </a:prstGeom>
          <a:noFill/>
          <a:ln w="19050">
            <a:solidFill>
              <a:srgbClr val="685F8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487168" y="501091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85F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4453128" y="4846320"/>
            <a:ext cx="0" cy="137160"/>
          </a:xfrm>
          <a:prstGeom prst="line">
            <a:avLst/>
          </a:prstGeom>
          <a:noFill/>
          <a:ln w="19050">
            <a:solidFill>
              <a:srgbClr val="685F8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133088" y="501091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85F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-1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6099048" y="4846320"/>
            <a:ext cx="0" cy="137160"/>
          </a:xfrm>
          <a:prstGeom prst="line">
            <a:avLst/>
          </a:prstGeom>
          <a:noFill/>
          <a:ln w="19050">
            <a:solidFill>
              <a:srgbClr val="685F8F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779008" y="501091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5F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7744968" y="4846320"/>
            <a:ext cx="0" cy="137160"/>
          </a:xfrm>
          <a:prstGeom prst="line">
            <a:avLst/>
          </a:prstGeom>
          <a:noFill/>
          <a:ln w="19050">
            <a:solidFill>
              <a:srgbClr val="685F8F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424928" y="501091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85F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9390888" y="4846320"/>
            <a:ext cx="0" cy="137160"/>
          </a:xfrm>
          <a:prstGeom prst="line">
            <a:avLst/>
          </a:prstGeom>
          <a:noFill/>
          <a:ln w="19050">
            <a:solidFill>
              <a:srgbClr val="685F8F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9070848" y="501091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85F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+2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11036808" y="4846320"/>
            <a:ext cx="0" cy="137160"/>
          </a:xfrm>
          <a:prstGeom prst="line">
            <a:avLst/>
          </a:prstGeom>
          <a:noFill/>
          <a:ln w="19050">
            <a:solidFill>
              <a:srgbClr val="685F8F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10716768" y="501091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85F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+3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5184648" y="53218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567928" y="1737360"/>
            <a:ext cx="0" cy="3108960"/>
          </a:xfrm>
          <a:prstGeom prst="line">
            <a:avLst/>
          </a:prstGeom>
          <a:noFill/>
          <a:ln w="31750">
            <a:solidFill>
              <a:srgbClr val="FF8FB3"/>
            </a:solidFill>
            <a:prstDash val="dash"/>
          </a:ln>
        </p:spPr>
      </p:sp>
      <p:sp>
        <p:nvSpPr>
          <p:cNvPr id="44" name="Shape 41"/>
          <p:cNvSpPr/>
          <p:nvPr/>
        </p:nvSpPr>
        <p:spPr>
          <a:xfrm>
            <a:off x="8156448" y="1417320"/>
            <a:ext cx="822960" cy="365760"/>
          </a:xfrm>
          <a:prstGeom prst="ellipse">
            <a:avLst/>
          </a:prstGeom>
          <a:solidFill>
            <a:srgbClr val="FF8FB3"/>
          </a:solidFill>
          <a:ln/>
        </p:spPr>
      </p:sp>
      <p:sp>
        <p:nvSpPr>
          <p:cNvPr id="45" name="Text 42"/>
          <p:cNvSpPr/>
          <p:nvPr/>
        </p:nvSpPr>
        <p:spPr>
          <a:xfrm>
            <a:off x="8156448" y="141732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 = 1.5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914400" y="548640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data point sits 1.5 standard deviations above the mean — noticeably above average, but not extreme.</a:t>
            </a:r>
            <a:endParaRPr lang="en-US" sz="1250" dirty="0"/>
          </a:p>
        </p:txBody>
      </p:sp>
      <p:sp>
        <p:nvSpPr>
          <p:cNvPr id="47" name="Text 44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CodeByPaxto: The AI &amp; ML Playground  ·  Hafiz Waseem Ahmed (Paxto)</a:t>
            </a:r>
            <a:endParaRPr lang="en-US" sz="950" dirty="0"/>
          </a:p>
        </p:txBody>
      </p:sp>
      <p:sp>
        <p:nvSpPr>
          <p:cNvPr id="48" name="Text 45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8B7FE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Real-World Use: Comparing Apples to Oranges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9050">
            <a:solidFill>
              <a:srgbClr val="D8D2F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828800"/>
            <a:ext cx="4754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Z-scores let you fairly compare two values that come from completely different scales — exactly the kind of comparison raw numbers can’t make honestly</a:t>
            </a:r>
            <a:endParaRPr lang="en-US" sz="1350" dirty="0"/>
          </a:p>
          <a:p>
            <a:pPr marL="203200" indent="-2032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who scored 86 on a test averaging 70 (std dev 8), and 650 on a different test averaging 500 (std dev 100) — which result was actually stronger?</a:t>
            </a:r>
            <a:endParaRPr lang="en-US" sz="1350" dirty="0"/>
          </a:p>
          <a:p>
            <a:pPr marL="203200" indent="-2032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Converting both to z-scores answers this immediately and fairly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0" y="1691640"/>
            <a:ext cx="6217920" cy="4343400"/>
          </a:xfrm>
          <a:prstGeom prst="roundRect">
            <a:avLst>
              <a:gd name="adj" fmla="val 3368"/>
            </a:avLst>
          </a:prstGeom>
          <a:solidFill>
            <a:srgbClr val="E3FBF3"/>
          </a:solidFill>
          <a:ln w="19050">
            <a:solidFill>
              <a:srgbClr val="5FD6B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06440" y="1965960"/>
            <a:ext cx="55778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i="1" dirty="0">
                <a:solidFill>
                  <a:srgbClr val="685F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Test A: mean 70, std_dev 8, score 86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6B5F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z_A = (86 - 70) / 8 = 2.0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6B5F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i="1" dirty="0">
                <a:solidFill>
                  <a:srgbClr val="685F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Test B: mean 500, std_dev 100, score 650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6B5F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z_B = (650 - 500) / 100 = 1.5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6B5F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i="1" dirty="0">
                <a:solidFill>
                  <a:srgbClr val="685F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Test A was the stronger relative performance —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i="1" dirty="0">
                <a:solidFill>
                  <a:srgbClr val="685F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2.0 standard deviations above average beats 1.5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CodeByPaxto: The AI &amp; ML Playground  ·  Hafiz Waseem Ahmed (Paxto)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8B7FE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Empirical Rule — 68 / 95 / 99.7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9050">
            <a:solidFill>
              <a:srgbClr val="D8D2F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554480"/>
            <a:ext cx="3657600" cy="4663440"/>
          </a:xfrm>
          <a:prstGeom prst="roundRect">
            <a:avLst>
              <a:gd name="adj" fmla="val 4500"/>
            </a:avLst>
          </a:prstGeom>
          <a:solidFill>
            <a:srgbClr val="EDE9FE"/>
          </a:solidFill>
          <a:ln w="12700">
            <a:solidFill>
              <a:srgbClr val="D8D2F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508760" y="2194560"/>
            <a:ext cx="1554480" cy="1554480"/>
          </a:xfrm>
          <a:prstGeom prst="ellipse">
            <a:avLst/>
          </a:prstGeom>
          <a:solidFill>
            <a:srgbClr val="8B7FE8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6504" y="2423160"/>
            <a:ext cx="1088136" cy="10881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397764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What a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z-score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actually covers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4572000" y="1737360"/>
            <a:ext cx="71323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roughly normal (bell-shaped) data, z-scores translate directly into percentages of your data — this is exactly why z-scores are so useful for judging "how unusual"</a:t>
            </a:r>
            <a:endParaRPr lang="en-US" sz="1600" dirty="0"/>
          </a:p>
          <a:p>
            <a:pPr marL="228600" indent="-2286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68.2% of values fall within 1 standard deviation of the mean (z between -1 and +1)</a:t>
            </a:r>
            <a:endParaRPr lang="en-US" sz="1600" dirty="0"/>
          </a:p>
          <a:p>
            <a:pPr marL="228600" indent="-2286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95.4% fall within 2 standard deviations, and about 99.7% fall within 3</a:t>
            </a:r>
            <a:endParaRPr lang="en-US" sz="1600" dirty="0"/>
          </a:p>
          <a:p>
            <a:pPr marL="228600" indent="-2286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means a z-score beyond ±2 already puts you outside roughly 95% of your data — and beyond ±3 is genuinely rare, under half a percent of values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CodeByPaxto: The AI &amp; ML Playground  ·  Hafiz Waseem Ahmed (Paxto)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8B7FE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Empirical Rule — 68 / 95 / 99.7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9050">
            <a:solidFill>
              <a:srgbClr val="D8D2F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61288" y="4097501"/>
            <a:ext cx="413831" cy="63019"/>
          </a:xfrm>
          <a:prstGeom prst="rect">
            <a:avLst/>
          </a:prstGeom>
          <a:solidFill>
            <a:srgbClr val="FFC94A"/>
          </a:solidFill>
          <a:ln/>
        </p:spPr>
      </p:sp>
      <p:sp>
        <p:nvSpPr>
          <p:cNvPr id="7" name="Shape 4"/>
          <p:cNvSpPr/>
          <p:nvPr/>
        </p:nvSpPr>
        <p:spPr>
          <a:xfrm>
            <a:off x="1631551" y="4034481"/>
            <a:ext cx="413831" cy="126039"/>
          </a:xfrm>
          <a:prstGeom prst="rect">
            <a:avLst/>
          </a:prstGeom>
          <a:solidFill>
            <a:srgbClr val="FFC94A"/>
          </a:solidFill>
          <a:ln/>
        </p:spPr>
      </p:sp>
      <p:sp>
        <p:nvSpPr>
          <p:cNvPr id="8" name="Shape 5"/>
          <p:cNvSpPr/>
          <p:nvPr/>
        </p:nvSpPr>
        <p:spPr>
          <a:xfrm>
            <a:off x="2101814" y="3908442"/>
            <a:ext cx="413831" cy="252078"/>
          </a:xfrm>
          <a:prstGeom prst="rect">
            <a:avLst/>
          </a:prstGeom>
          <a:solidFill>
            <a:srgbClr val="FFC94A"/>
          </a:solidFill>
          <a:ln/>
        </p:spPr>
      </p:sp>
      <p:sp>
        <p:nvSpPr>
          <p:cNvPr id="9" name="Shape 6"/>
          <p:cNvSpPr/>
          <p:nvPr/>
        </p:nvSpPr>
        <p:spPr>
          <a:xfrm>
            <a:off x="2572077" y="3719384"/>
            <a:ext cx="413831" cy="441136"/>
          </a:xfrm>
          <a:prstGeom prst="rect">
            <a:avLst/>
          </a:prstGeom>
          <a:solidFill>
            <a:srgbClr val="FFC94A"/>
          </a:solidFill>
          <a:ln/>
        </p:spPr>
      </p:sp>
      <p:sp>
        <p:nvSpPr>
          <p:cNvPr id="10" name="Shape 7"/>
          <p:cNvSpPr/>
          <p:nvPr/>
        </p:nvSpPr>
        <p:spPr>
          <a:xfrm>
            <a:off x="3042339" y="3467306"/>
            <a:ext cx="413831" cy="693214"/>
          </a:xfrm>
          <a:prstGeom prst="rect">
            <a:avLst/>
          </a:prstGeom>
          <a:solidFill>
            <a:srgbClr val="5FD6B0"/>
          </a:solidFill>
          <a:ln/>
        </p:spPr>
      </p:sp>
      <p:sp>
        <p:nvSpPr>
          <p:cNvPr id="11" name="Shape 8"/>
          <p:cNvSpPr/>
          <p:nvPr/>
        </p:nvSpPr>
        <p:spPr>
          <a:xfrm>
            <a:off x="3512602" y="3152209"/>
            <a:ext cx="413831" cy="1008311"/>
          </a:xfrm>
          <a:prstGeom prst="rect">
            <a:avLst/>
          </a:prstGeom>
          <a:solidFill>
            <a:srgbClr val="5FD6B0"/>
          </a:solidFill>
          <a:ln/>
        </p:spPr>
      </p:sp>
      <p:sp>
        <p:nvSpPr>
          <p:cNvPr id="12" name="Shape 9"/>
          <p:cNvSpPr/>
          <p:nvPr/>
        </p:nvSpPr>
        <p:spPr>
          <a:xfrm>
            <a:off x="3982865" y="2774092"/>
            <a:ext cx="413831" cy="1386428"/>
          </a:xfrm>
          <a:prstGeom prst="rect">
            <a:avLst/>
          </a:prstGeom>
          <a:solidFill>
            <a:srgbClr val="5FD6B0"/>
          </a:solidFill>
          <a:ln/>
        </p:spPr>
      </p:sp>
      <p:sp>
        <p:nvSpPr>
          <p:cNvPr id="13" name="Shape 10"/>
          <p:cNvSpPr/>
          <p:nvPr/>
        </p:nvSpPr>
        <p:spPr>
          <a:xfrm>
            <a:off x="4453128" y="2395975"/>
            <a:ext cx="413831" cy="1764545"/>
          </a:xfrm>
          <a:prstGeom prst="rect">
            <a:avLst/>
          </a:prstGeom>
          <a:solidFill>
            <a:srgbClr val="8B7FE8"/>
          </a:solidFill>
          <a:ln/>
        </p:spPr>
      </p:sp>
      <p:sp>
        <p:nvSpPr>
          <p:cNvPr id="14" name="Shape 11"/>
          <p:cNvSpPr/>
          <p:nvPr/>
        </p:nvSpPr>
        <p:spPr>
          <a:xfrm>
            <a:off x="4923391" y="2080878"/>
            <a:ext cx="413831" cy="2079642"/>
          </a:xfrm>
          <a:prstGeom prst="rect">
            <a:avLst/>
          </a:prstGeom>
          <a:solidFill>
            <a:srgbClr val="8B7FE8"/>
          </a:solidFill>
          <a:ln/>
        </p:spPr>
      </p:sp>
      <p:sp>
        <p:nvSpPr>
          <p:cNvPr id="15" name="Shape 12"/>
          <p:cNvSpPr/>
          <p:nvPr/>
        </p:nvSpPr>
        <p:spPr>
          <a:xfrm>
            <a:off x="5393654" y="1891819"/>
            <a:ext cx="413831" cy="2268701"/>
          </a:xfrm>
          <a:prstGeom prst="rect">
            <a:avLst/>
          </a:prstGeom>
          <a:solidFill>
            <a:srgbClr val="8B7FE8"/>
          </a:solidFill>
          <a:ln/>
        </p:spPr>
      </p:sp>
      <p:sp>
        <p:nvSpPr>
          <p:cNvPr id="16" name="Shape 13"/>
          <p:cNvSpPr/>
          <p:nvPr/>
        </p:nvSpPr>
        <p:spPr>
          <a:xfrm>
            <a:off x="5863917" y="1828800"/>
            <a:ext cx="413831" cy="2331720"/>
          </a:xfrm>
          <a:prstGeom prst="rect">
            <a:avLst/>
          </a:prstGeom>
          <a:solidFill>
            <a:srgbClr val="8B7FE8"/>
          </a:solidFill>
          <a:ln/>
        </p:spPr>
      </p:sp>
      <p:sp>
        <p:nvSpPr>
          <p:cNvPr id="17" name="Shape 14"/>
          <p:cNvSpPr/>
          <p:nvPr/>
        </p:nvSpPr>
        <p:spPr>
          <a:xfrm>
            <a:off x="6334179" y="1891819"/>
            <a:ext cx="413831" cy="2268701"/>
          </a:xfrm>
          <a:prstGeom prst="rect">
            <a:avLst/>
          </a:prstGeom>
          <a:solidFill>
            <a:srgbClr val="8B7FE8"/>
          </a:solidFill>
          <a:ln/>
        </p:spPr>
      </p:sp>
      <p:sp>
        <p:nvSpPr>
          <p:cNvPr id="18" name="Shape 15"/>
          <p:cNvSpPr/>
          <p:nvPr/>
        </p:nvSpPr>
        <p:spPr>
          <a:xfrm>
            <a:off x="6804442" y="2080878"/>
            <a:ext cx="413831" cy="2079642"/>
          </a:xfrm>
          <a:prstGeom prst="rect">
            <a:avLst/>
          </a:prstGeom>
          <a:solidFill>
            <a:srgbClr val="8B7FE8"/>
          </a:solidFill>
          <a:ln/>
        </p:spPr>
      </p:sp>
      <p:sp>
        <p:nvSpPr>
          <p:cNvPr id="19" name="Shape 16"/>
          <p:cNvSpPr/>
          <p:nvPr/>
        </p:nvSpPr>
        <p:spPr>
          <a:xfrm>
            <a:off x="7274705" y="2395975"/>
            <a:ext cx="413831" cy="1764545"/>
          </a:xfrm>
          <a:prstGeom prst="rect">
            <a:avLst/>
          </a:prstGeom>
          <a:solidFill>
            <a:srgbClr val="8B7FE8"/>
          </a:solidFill>
          <a:ln/>
        </p:spPr>
      </p:sp>
      <p:sp>
        <p:nvSpPr>
          <p:cNvPr id="20" name="Shape 17"/>
          <p:cNvSpPr/>
          <p:nvPr/>
        </p:nvSpPr>
        <p:spPr>
          <a:xfrm>
            <a:off x="7744968" y="2774092"/>
            <a:ext cx="413831" cy="1386428"/>
          </a:xfrm>
          <a:prstGeom prst="rect">
            <a:avLst/>
          </a:prstGeom>
          <a:solidFill>
            <a:srgbClr val="5FD6B0"/>
          </a:solidFill>
          <a:ln/>
        </p:spPr>
      </p:sp>
      <p:sp>
        <p:nvSpPr>
          <p:cNvPr id="21" name="Shape 18"/>
          <p:cNvSpPr/>
          <p:nvPr/>
        </p:nvSpPr>
        <p:spPr>
          <a:xfrm>
            <a:off x="8215231" y="3152209"/>
            <a:ext cx="413831" cy="1008311"/>
          </a:xfrm>
          <a:prstGeom prst="rect">
            <a:avLst/>
          </a:prstGeom>
          <a:solidFill>
            <a:srgbClr val="5FD6B0"/>
          </a:solidFill>
          <a:ln/>
        </p:spPr>
      </p:sp>
      <p:sp>
        <p:nvSpPr>
          <p:cNvPr id="22" name="Shape 19"/>
          <p:cNvSpPr/>
          <p:nvPr/>
        </p:nvSpPr>
        <p:spPr>
          <a:xfrm>
            <a:off x="8685494" y="3467306"/>
            <a:ext cx="413831" cy="693214"/>
          </a:xfrm>
          <a:prstGeom prst="rect">
            <a:avLst/>
          </a:prstGeom>
          <a:solidFill>
            <a:srgbClr val="5FD6B0"/>
          </a:solidFill>
          <a:ln/>
        </p:spPr>
      </p:sp>
      <p:sp>
        <p:nvSpPr>
          <p:cNvPr id="23" name="Shape 20"/>
          <p:cNvSpPr/>
          <p:nvPr/>
        </p:nvSpPr>
        <p:spPr>
          <a:xfrm>
            <a:off x="9155757" y="3719384"/>
            <a:ext cx="413831" cy="441136"/>
          </a:xfrm>
          <a:prstGeom prst="rect">
            <a:avLst/>
          </a:prstGeom>
          <a:solidFill>
            <a:srgbClr val="FFC94A"/>
          </a:solidFill>
          <a:ln/>
        </p:spPr>
      </p:sp>
      <p:sp>
        <p:nvSpPr>
          <p:cNvPr id="24" name="Shape 21"/>
          <p:cNvSpPr/>
          <p:nvPr/>
        </p:nvSpPr>
        <p:spPr>
          <a:xfrm>
            <a:off x="9626019" y="3908442"/>
            <a:ext cx="413831" cy="252078"/>
          </a:xfrm>
          <a:prstGeom prst="rect">
            <a:avLst/>
          </a:prstGeom>
          <a:solidFill>
            <a:srgbClr val="FFC94A"/>
          </a:solidFill>
          <a:ln/>
        </p:spPr>
      </p:sp>
      <p:sp>
        <p:nvSpPr>
          <p:cNvPr id="25" name="Shape 22"/>
          <p:cNvSpPr/>
          <p:nvPr/>
        </p:nvSpPr>
        <p:spPr>
          <a:xfrm>
            <a:off x="10096282" y="4034481"/>
            <a:ext cx="413831" cy="126039"/>
          </a:xfrm>
          <a:prstGeom prst="rect">
            <a:avLst/>
          </a:prstGeom>
          <a:solidFill>
            <a:srgbClr val="FFC94A"/>
          </a:solidFill>
          <a:ln/>
        </p:spPr>
      </p:sp>
      <p:sp>
        <p:nvSpPr>
          <p:cNvPr id="26" name="Shape 23"/>
          <p:cNvSpPr/>
          <p:nvPr/>
        </p:nvSpPr>
        <p:spPr>
          <a:xfrm>
            <a:off x="10566545" y="4097501"/>
            <a:ext cx="413831" cy="63019"/>
          </a:xfrm>
          <a:prstGeom prst="rect">
            <a:avLst/>
          </a:prstGeom>
          <a:solidFill>
            <a:srgbClr val="FFC94A"/>
          </a:solidFill>
          <a:ln/>
        </p:spPr>
      </p:sp>
      <p:sp>
        <p:nvSpPr>
          <p:cNvPr id="27" name="Shape 24"/>
          <p:cNvSpPr/>
          <p:nvPr/>
        </p:nvSpPr>
        <p:spPr>
          <a:xfrm>
            <a:off x="1161288" y="4160520"/>
            <a:ext cx="9875520" cy="0"/>
          </a:xfrm>
          <a:prstGeom prst="line">
            <a:avLst/>
          </a:prstGeom>
          <a:noFill/>
          <a:ln w="19050">
            <a:solidFill>
              <a:srgbClr val="D8D2F5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161288" y="4160520"/>
            <a:ext cx="0" cy="137160"/>
          </a:xfrm>
          <a:prstGeom prst="line">
            <a:avLst/>
          </a:prstGeom>
          <a:noFill/>
          <a:ln w="19050">
            <a:solidFill>
              <a:srgbClr val="685F8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95528" y="432511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85F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-3σ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2807208" y="4160520"/>
            <a:ext cx="0" cy="137160"/>
          </a:xfrm>
          <a:prstGeom prst="line">
            <a:avLst/>
          </a:prstGeom>
          <a:noFill/>
          <a:ln w="19050">
            <a:solidFill>
              <a:srgbClr val="685F8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441448" y="432511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85F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-2σ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4453128" y="4160520"/>
            <a:ext cx="0" cy="137160"/>
          </a:xfrm>
          <a:prstGeom prst="line">
            <a:avLst/>
          </a:prstGeom>
          <a:noFill/>
          <a:ln w="19050">
            <a:solidFill>
              <a:srgbClr val="685F8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087368" y="432511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85F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-1σ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6099048" y="4160520"/>
            <a:ext cx="0" cy="137160"/>
          </a:xfrm>
          <a:prstGeom prst="line">
            <a:avLst/>
          </a:prstGeom>
          <a:noFill/>
          <a:ln w="19050">
            <a:solidFill>
              <a:srgbClr val="685F8F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733288" y="432511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5F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μ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7744968" y="4160520"/>
            <a:ext cx="0" cy="137160"/>
          </a:xfrm>
          <a:prstGeom prst="line">
            <a:avLst/>
          </a:prstGeom>
          <a:noFill/>
          <a:ln w="19050">
            <a:solidFill>
              <a:srgbClr val="685F8F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379208" y="432511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85F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+1σ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9390888" y="4160520"/>
            <a:ext cx="0" cy="137160"/>
          </a:xfrm>
          <a:prstGeom prst="line">
            <a:avLst/>
          </a:prstGeom>
          <a:noFill/>
          <a:ln w="19050">
            <a:solidFill>
              <a:srgbClr val="685F8F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9025128" y="432511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85F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+2σ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11036808" y="4160520"/>
            <a:ext cx="0" cy="137160"/>
          </a:xfrm>
          <a:prstGeom prst="line">
            <a:avLst/>
          </a:prstGeom>
          <a:noFill/>
          <a:ln w="19050">
            <a:solidFill>
              <a:srgbClr val="685F8F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10671048" y="432511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85F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+3σ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4453128" y="5029200"/>
            <a:ext cx="3291840" cy="0"/>
          </a:xfrm>
          <a:prstGeom prst="line">
            <a:avLst/>
          </a:prstGeom>
          <a:noFill/>
          <a:ln w="38100">
            <a:solidFill>
              <a:srgbClr val="8B7FE8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4453128" y="4956048"/>
            <a:ext cx="0" cy="146304"/>
          </a:xfrm>
          <a:prstGeom prst="line">
            <a:avLst/>
          </a:prstGeom>
          <a:noFill/>
          <a:ln w="38100">
            <a:solidFill>
              <a:srgbClr val="8B7FE8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7744968" y="4956048"/>
            <a:ext cx="0" cy="146304"/>
          </a:xfrm>
          <a:prstGeom prst="line">
            <a:avLst/>
          </a:prstGeom>
          <a:noFill/>
          <a:ln w="38100">
            <a:solidFill>
              <a:srgbClr val="8B7FE8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2990088" y="4754880"/>
            <a:ext cx="6217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68.2% of data falls within ±1σ</a:t>
            </a:r>
            <a:endParaRPr lang="en-US" sz="1050" dirty="0"/>
          </a:p>
        </p:txBody>
      </p:sp>
      <p:sp>
        <p:nvSpPr>
          <p:cNvPr id="46" name="Shape 43"/>
          <p:cNvSpPr/>
          <p:nvPr/>
        </p:nvSpPr>
        <p:spPr>
          <a:xfrm>
            <a:off x="2807208" y="5458968"/>
            <a:ext cx="6583680" cy="0"/>
          </a:xfrm>
          <a:prstGeom prst="line">
            <a:avLst/>
          </a:prstGeom>
          <a:noFill/>
          <a:ln w="38100">
            <a:solidFill>
              <a:srgbClr val="5FD6B0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2807208" y="5385816"/>
            <a:ext cx="0" cy="146304"/>
          </a:xfrm>
          <a:prstGeom prst="line">
            <a:avLst/>
          </a:prstGeom>
          <a:noFill/>
          <a:ln w="38100">
            <a:solidFill>
              <a:srgbClr val="5FD6B0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9390888" y="5385816"/>
            <a:ext cx="0" cy="146304"/>
          </a:xfrm>
          <a:prstGeom prst="line">
            <a:avLst/>
          </a:prstGeom>
          <a:noFill/>
          <a:ln w="38100">
            <a:solidFill>
              <a:srgbClr val="5FD6B0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2990088" y="5184648"/>
            <a:ext cx="6217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95.4% of data falls within ±2σ</a:t>
            </a:r>
            <a:endParaRPr lang="en-US" sz="1050" dirty="0"/>
          </a:p>
        </p:txBody>
      </p:sp>
      <p:sp>
        <p:nvSpPr>
          <p:cNvPr id="50" name="Shape 47"/>
          <p:cNvSpPr/>
          <p:nvPr/>
        </p:nvSpPr>
        <p:spPr>
          <a:xfrm>
            <a:off x="1161288" y="5888736"/>
            <a:ext cx="9875520" cy="0"/>
          </a:xfrm>
          <a:prstGeom prst="line">
            <a:avLst/>
          </a:prstGeom>
          <a:noFill/>
          <a:ln w="38100">
            <a:solidFill>
              <a:srgbClr val="FFC94A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1161288" y="5815584"/>
            <a:ext cx="0" cy="146304"/>
          </a:xfrm>
          <a:prstGeom prst="line">
            <a:avLst/>
          </a:prstGeom>
          <a:noFill/>
          <a:ln w="38100">
            <a:solidFill>
              <a:srgbClr val="FFC94A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11036808" y="5815584"/>
            <a:ext cx="0" cy="146304"/>
          </a:xfrm>
          <a:prstGeom prst="line">
            <a:avLst/>
          </a:prstGeom>
          <a:noFill/>
          <a:ln w="38100">
            <a:solidFill>
              <a:srgbClr val="FFC94A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2990088" y="5614416"/>
            <a:ext cx="6217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99.7% of data falls within ±3σ</a:t>
            </a:r>
            <a:endParaRPr lang="en-US" sz="1050" dirty="0"/>
          </a:p>
        </p:txBody>
      </p:sp>
      <p:sp>
        <p:nvSpPr>
          <p:cNvPr id="54" name="Text 51"/>
          <p:cNvSpPr/>
          <p:nvPr/>
        </p:nvSpPr>
        <p:spPr>
          <a:xfrm>
            <a:off x="731520" y="6263640"/>
            <a:ext cx="10725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only holds when your data is roughly normally distributed — Session 20 covers exactly why the normal distribution has this property.</a:t>
            </a:r>
            <a:endParaRPr lang="en-US" sz="1050" dirty="0"/>
          </a:p>
        </p:txBody>
      </p:sp>
      <p:sp>
        <p:nvSpPr>
          <p:cNvPr id="55" name="Text 5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CodeByPaxto: The AI &amp; ML Playground  ·  Hafiz Waseem Ahmed (Paxto)</a:t>
            </a:r>
            <a:endParaRPr lang="en-US" sz="950" dirty="0"/>
          </a:p>
        </p:txBody>
      </p:sp>
      <p:sp>
        <p:nvSpPr>
          <p:cNvPr id="56" name="Text 53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8B7FE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Practice Set — Z-Scores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9050">
            <a:solidFill>
              <a:srgbClr val="D8D2F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600200"/>
            <a:ext cx="11274552" cy="4480560"/>
          </a:xfrm>
          <a:prstGeom prst="roundRect">
            <a:avLst>
              <a:gd name="adj" fmla="val 3673"/>
            </a:avLst>
          </a:prstGeom>
          <a:solidFill>
            <a:srgbClr val="EDE9FE"/>
          </a:solidFill>
          <a:ln w="12700">
            <a:solidFill>
              <a:srgbClr val="D8D2F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Try these yourself first — that's the point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22960" y="2423160"/>
            <a:ext cx="384048" cy="384048"/>
          </a:xfrm>
          <a:prstGeom prst="ellipse">
            <a:avLst/>
          </a:prstGeom>
          <a:solidFill>
            <a:srgbClr val="8B7FE8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2423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435608" y="2423160"/>
            <a:ext cx="9582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the z-score for a value of 45, from a dataset with mean 60 and standard deviation 10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22960" y="3300984"/>
            <a:ext cx="384048" cy="384048"/>
          </a:xfrm>
          <a:prstGeom prst="ellipse">
            <a:avLst/>
          </a:prstGeom>
          <a:solidFill>
            <a:srgbClr val="8B7FE8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3300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35608" y="3300984"/>
            <a:ext cx="9582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in your own words what a z-score of -2.5 means, without using the word "standard deviation" in your explanation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22960" y="4178808"/>
            <a:ext cx="384048" cy="384048"/>
          </a:xfrm>
          <a:prstGeom prst="ellipse">
            <a:avLst/>
          </a:prstGeom>
          <a:solidFill>
            <a:srgbClr val="8B7FE8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" y="4178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35608" y="4178808"/>
            <a:ext cx="9582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the empirical rule, estimate roughly what percentage of values fall ABOVE a z-score of +2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822960" y="5056632"/>
            <a:ext cx="384048" cy="384048"/>
          </a:xfrm>
          <a:prstGeom prst="ellipse">
            <a:avLst/>
          </a:prstGeom>
          <a:solidFill>
            <a:srgbClr val="8B7FE8"/>
          </a:solidFill>
          <a:ln/>
        </p:spPr>
      </p:sp>
      <p:sp>
        <p:nvSpPr>
          <p:cNvPr id="18" name="Text 15"/>
          <p:cNvSpPr/>
          <p:nvPr/>
        </p:nvSpPr>
        <p:spPr>
          <a:xfrm>
            <a:off x="822960" y="5056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35608" y="5056632"/>
            <a:ext cx="9582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employees are rated on completely different scoring systems at their two companies. Explain how z-scores would let you compare them fairly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CodeByPaxto: The AI &amp; ML Playground  ·  Hafiz Waseem Ahmed (Paxto)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D6B0"/>
                </a:solidFill>
              </a:rPr>
              <a:t>✦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247120" y="5486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FFC94A"/>
                </a:solidFill>
              </a:rPr>
              <a:t>✦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640080" y="61264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8FB3"/>
                </a:solidFill>
              </a:rPr>
              <a:t>✦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338560" y="6035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7FE8"/>
                </a:solidFill>
              </a:rPr>
              <a:t>✦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 rot="-90000">
            <a:off x="1874520" y="1325880"/>
            <a:ext cx="8805672" cy="777240"/>
          </a:xfrm>
          <a:prstGeom prst="roundRect">
            <a:avLst>
              <a:gd name="adj" fmla="val 17647"/>
            </a:avLst>
          </a:prstGeom>
          <a:solidFill>
            <a:srgbClr val="FFC94A"/>
          </a:solidFill>
          <a:ln/>
        </p:spPr>
      </p:sp>
      <p:sp>
        <p:nvSpPr>
          <p:cNvPr id="7" name="Shape 5"/>
          <p:cNvSpPr/>
          <p:nvPr/>
        </p:nvSpPr>
        <p:spPr>
          <a:xfrm>
            <a:off x="1691640" y="1188720"/>
            <a:ext cx="8805672" cy="777240"/>
          </a:xfrm>
          <a:prstGeom prst="roundRect">
            <a:avLst>
              <a:gd name="adj" fmla="val 17647"/>
            </a:avLst>
          </a:prstGeom>
          <a:solidFill>
            <a:srgbClr val="8B7FE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0448" y="134874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91640" y="1188720"/>
            <a:ext cx="8805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97280" y="2331720"/>
            <a:ext cx="999439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Shape of a Distribution</a:t>
            </a:r>
            <a:endParaRPr lang="en-US" sz="2900" dirty="0"/>
          </a:p>
        </p:txBody>
      </p:sp>
      <p:sp>
        <p:nvSpPr>
          <p:cNvPr id="11" name="Text 8"/>
          <p:cNvSpPr/>
          <p:nvPr/>
        </p:nvSpPr>
        <p:spPr>
          <a:xfrm>
            <a:off x="1737360" y="4434840"/>
            <a:ext cx="87142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datasets can share a mean AND a standard deviation, and still look completely different once you see their shape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8B7FE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Frequency Distributions &amp; Histograms, Revisited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9050">
            <a:solidFill>
              <a:srgbClr val="D8D2F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554480"/>
            <a:ext cx="3657600" cy="4663440"/>
          </a:xfrm>
          <a:prstGeom prst="roundRect">
            <a:avLst>
              <a:gd name="adj" fmla="val 4500"/>
            </a:avLst>
          </a:prstGeom>
          <a:solidFill>
            <a:srgbClr val="EDE9FE"/>
          </a:solidFill>
          <a:ln w="12700">
            <a:solidFill>
              <a:srgbClr val="D8D2F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508760" y="2194560"/>
            <a:ext cx="1554480" cy="1554480"/>
          </a:xfrm>
          <a:prstGeom prst="ellipse">
            <a:avLst/>
          </a:prstGeom>
          <a:solidFill>
            <a:srgbClr val="8B7FE8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6504" y="2423160"/>
            <a:ext cx="1088136" cy="10881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397764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Counting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how often,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not just what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4572000" y="1737360"/>
            <a:ext cx="71323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frequency distribution shows how often each value, or range of values, occurs in your dataset — the histogram from Session 18 is simply this idea, drawn as bars</a:t>
            </a:r>
            <a:endParaRPr lang="en-US" sz="1600" dirty="0"/>
          </a:p>
          <a:p>
            <a:pPr marL="228600" indent="-2286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overall shape traced by those bars is exactly what this part of the session is about — not just what the chart looks like, but what that shape tells you statistically</a:t>
            </a:r>
            <a:endParaRPr lang="en-US" sz="1600" dirty="0"/>
          </a:p>
          <a:p>
            <a:pPr marL="228600" indent="-2286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mean and standard deviation can hide wildly different shapes — shape is genuinely its own, separate piece of information</a:t>
            </a:r>
            <a:endParaRPr lang="en-US" sz="1600" dirty="0"/>
          </a:p>
          <a:p>
            <a:pPr marL="228600" indent="-2286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shape directly determines which statistical tests are even valid to use later, in Sessions 21 and 22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CodeByPaxto: The AI &amp; ML Playground  ·  Hafiz Waseem Ahmed (Paxto)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8B7FE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Symmetric vs. Skewed Distributions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9050">
            <a:solidFill>
              <a:srgbClr val="D8D2F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554480"/>
            <a:ext cx="3657600" cy="4663440"/>
          </a:xfrm>
          <a:prstGeom prst="roundRect">
            <a:avLst>
              <a:gd name="adj" fmla="val 4500"/>
            </a:avLst>
          </a:prstGeom>
          <a:solidFill>
            <a:srgbClr val="EDE9FE"/>
          </a:solidFill>
          <a:ln w="12700">
            <a:solidFill>
              <a:srgbClr val="D8D2F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508760" y="2194560"/>
            <a:ext cx="1554480" cy="1554480"/>
          </a:xfrm>
          <a:prstGeom prst="ellipse">
            <a:avLst/>
          </a:prstGeom>
          <a:solidFill>
            <a:srgbClr val="8B7FE8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6504" y="2423160"/>
            <a:ext cx="1088136" cy="10881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397764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Balanced,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or leaning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one way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4572000" y="1737360"/>
            <a:ext cx="71323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symmetric distribution looks roughly the same on both sides of its center — mean and median sit close together</a:t>
            </a:r>
            <a:endParaRPr lang="en-US" sz="1600" dirty="0"/>
          </a:p>
          <a:p>
            <a:pPr marL="228600" indent="-2286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skewed distribution has a longer tail stretching out on one side — pulling the mean toward that tail, while the median resists and stays closer to the bulk of the data</a:t>
            </a:r>
            <a:endParaRPr lang="en-US" sz="1600" dirty="0"/>
          </a:p>
          <a:p>
            <a:pPr marL="228600" indent="-2286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Right-skewed (positive skew): a long tail toward higher values — classic example: income, where a few very high earners stretch the tail right</a:t>
            </a:r>
            <a:endParaRPr lang="en-US" sz="1600" dirty="0"/>
          </a:p>
          <a:p>
            <a:pPr marL="228600" indent="-2286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Left-skewed (negative skew): a long tail toward lower values — classic example: age at retirement, where a few very early retirements stretch the tail left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CodeByPaxto: The AI &amp; ML Playground  ·  Hafiz Waseem Ahmed (Paxto)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8B7FE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Symmetric vs. Skewed Distributions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9050">
            <a:solidFill>
              <a:srgbClr val="D8D2F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11480" y="16459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Left-Skewed (Negative)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411480" y="4322064"/>
            <a:ext cx="189452" cy="158496"/>
          </a:xfrm>
          <a:prstGeom prst="rect">
            <a:avLst/>
          </a:prstGeom>
          <a:solidFill>
            <a:srgbClr val="FF8FB3"/>
          </a:solidFill>
          <a:ln/>
        </p:spPr>
      </p:sp>
      <p:sp>
        <p:nvSpPr>
          <p:cNvPr id="8" name="Shape 5"/>
          <p:cNvSpPr/>
          <p:nvPr/>
        </p:nvSpPr>
        <p:spPr>
          <a:xfrm>
            <a:off x="634365" y="4242816"/>
            <a:ext cx="189452" cy="237744"/>
          </a:xfrm>
          <a:prstGeom prst="rect">
            <a:avLst/>
          </a:prstGeom>
          <a:solidFill>
            <a:srgbClr val="FF8FB3"/>
          </a:solidFill>
          <a:ln/>
        </p:spPr>
      </p:sp>
      <p:sp>
        <p:nvSpPr>
          <p:cNvPr id="9" name="Shape 6"/>
          <p:cNvSpPr/>
          <p:nvPr/>
        </p:nvSpPr>
        <p:spPr>
          <a:xfrm>
            <a:off x="857250" y="4084320"/>
            <a:ext cx="189452" cy="396240"/>
          </a:xfrm>
          <a:prstGeom prst="rect">
            <a:avLst/>
          </a:prstGeom>
          <a:solidFill>
            <a:srgbClr val="FF8FB3"/>
          </a:solidFill>
          <a:ln/>
        </p:spPr>
      </p:sp>
      <p:sp>
        <p:nvSpPr>
          <p:cNvPr id="10" name="Shape 7"/>
          <p:cNvSpPr/>
          <p:nvPr/>
        </p:nvSpPr>
        <p:spPr>
          <a:xfrm>
            <a:off x="1080135" y="3846576"/>
            <a:ext cx="189452" cy="633984"/>
          </a:xfrm>
          <a:prstGeom prst="rect">
            <a:avLst/>
          </a:prstGeom>
          <a:solidFill>
            <a:srgbClr val="FF8FB3"/>
          </a:solidFill>
          <a:ln/>
        </p:spPr>
      </p:sp>
      <p:sp>
        <p:nvSpPr>
          <p:cNvPr id="11" name="Shape 8"/>
          <p:cNvSpPr/>
          <p:nvPr/>
        </p:nvSpPr>
        <p:spPr>
          <a:xfrm>
            <a:off x="1303020" y="3529584"/>
            <a:ext cx="189452" cy="950976"/>
          </a:xfrm>
          <a:prstGeom prst="rect">
            <a:avLst/>
          </a:prstGeom>
          <a:solidFill>
            <a:srgbClr val="FF8FB3"/>
          </a:solidFill>
          <a:ln/>
        </p:spPr>
      </p:sp>
      <p:sp>
        <p:nvSpPr>
          <p:cNvPr id="12" name="Shape 9"/>
          <p:cNvSpPr/>
          <p:nvPr/>
        </p:nvSpPr>
        <p:spPr>
          <a:xfrm>
            <a:off x="1525905" y="3212592"/>
            <a:ext cx="189452" cy="1267968"/>
          </a:xfrm>
          <a:prstGeom prst="rect">
            <a:avLst/>
          </a:prstGeom>
          <a:solidFill>
            <a:srgbClr val="FF8FB3"/>
          </a:solidFill>
          <a:ln/>
        </p:spPr>
      </p:sp>
      <p:sp>
        <p:nvSpPr>
          <p:cNvPr id="13" name="Shape 10"/>
          <p:cNvSpPr/>
          <p:nvPr/>
        </p:nvSpPr>
        <p:spPr>
          <a:xfrm>
            <a:off x="1748790" y="2895600"/>
            <a:ext cx="189452" cy="1584960"/>
          </a:xfrm>
          <a:prstGeom prst="rect">
            <a:avLst/>
          </a:prstGeom>
          <a:solidFill>
            <a:srgbClr val="FF8FB3"/>
          </a:solidFill>
          <a:ln/>
        </p:spPr>
      </p:sp>
      <p:sp>
        <p:nvSpPr>
          <p:cNvPr id="14" name="Shape 11"/>
          <p:cNvSpPr/>
          <p:nvPr/>
        </p:nvSpPr>
        <p:spPr>
          <a:xfrm>
            <a:off x="1971675" y="2578608"/>
            <a:ext cx="189452" cy="1901952"/>
          </a:xfrm>
          <a:prstGeom prst="rect">
            <a:avLst/>
          </a:prstGeom>
          <a:solidFill>
            <a:srgbClr val="FF8FB3"/>
          </a:solidFill>
          <a:ln/>
        </p:spPr>
      </p:sp>
      <p:sp>
        <p:nvSpPr>
          <p:cNvPr id="15" name="Shape 12"/>
          <p:cNvSpPr/>
          <p:nvPr/>
        </p:nvSpPr>
        <p:spPr>
          <a:xfrm>
            <a:off x="2194560" y="2340864"/>
            <a:ext cx="189452" cy="2139696"/>
          </a:xfrm>
          <a:prstGeom prst="rect">
            <a:avLst/>
          </a:prstGeom>
          <a:solidFill>
            <a:srgbClr val="FF8FB3"/>
          </a:solidFill>
          <a:ln/>
        </p:spPr>
      </p:sp>
      <p:sp>
        <p:nvSpPr>
          <p:cNvPr id="16" name="Shape 13"/>
          <p:cNvSpPr/>
          <p:nvPr/>
        </p:nvSpPr>
        <p:spPr>
          <a:xfrm>
            <a:off x="2417445" y="2182368"/>
            <a:ext cx="189452" cy="2298192"/>
          </a:xfrm>
          <a:prstGeom prst="rect">
            <a:avLst/>
          </a:prstGeom>
          <a:solidFill>
            <a:srgbClr val="FF8FB3"/>
          </a:solidFill>
          <a:ln/>
        </p:spPr>
      </p:sp>
      <p:sp>
        <p:nvSpPr>
          <p:cNvPr id="17" name="Shape 14"/>
          <p:cNvSpPr/>
          <p:nvPr/>
        </p:nvSpPr>
        <p:spPr>
          <a:xfrm>
            <a:off x="2640330" y="2103120"/>
            <a:ext cx="189452" cy="2377440"/>
          </a:xfrm>
          <a:prstGeom prst="rect">
            <a:avLst/>
          </a:prstGeom>
          <a:solidFill>
            <a:srgbClr val="FF8FB3"/>
          </a:solidFill>
          <a:ln/>
        </p:spPr>
      </p:sp>
      <p:sp>
        <p:nvSpPr>
          <p:cNvPr id="18" name="Shape 15"/>
          <p:cNvSpPr/>
          <p:nvPr/>
        </p:nvSpPr>
        <p:spPr>
          <a:xfrm>
            <a:off x="2863215" y="2182368"/>
            <a:ext cx="189452" cy="2298192"/>
          </a:xfrm>
          <a:prstGeom prst="rect">
            <a:avLst/>
          </a:prstGeom>
          <a:solidFill>
            <a:srgbClr val="FF8FB3"/>
          </a:solidFill>
          <a:ln/>
        </p:spPr>
      </p:sp>
      <p:sp>
        <p:nvSpPr>
          <p:cNvPr id="19" name="Shape 16"/>
          <p:cNvSpPr/>
          <p:nvPr/>
        </p:nvSpPr>
        <p:spPr>
          <a:xfrm>
            <a:off x="3086100" y="2420112"/>
            <a:ext cx="189452" cy="2060448"/>
          </a:xfrm>
          <a:prstGeom prst="rect">
            <a:avLst/>
          </a:prstGeom>
          <a:solidFill>
            <a:srgbClr val="FF8FB3"/>
          </a:solidFill>
          <a:ln/>
        </p:spPr>
      </p:sp>
      <p:sp>
        <p:nvSpPr>
          <p:cNvPr id="20" name="Shape 17"/>
          <p:cNvSpPr/>
          <p:nvPr/>
        </p:nvSpPr>
        <p:spPr>
          <a:xfrm>
            <a:off x="3308985" y="2895600"/>
            <a:ext cx="189452" cy="1584960"/>
          </a:xfrm>
          <a:prstGeom prst="rect">
            <a:avLst/>
          </a:prstGeom>
          <a:solidFill>
            <a:srgbClr val="FF8FB3"/>
          </a:solidFill>
          <a:ln/>
        </p:spPr>
      </p:sp>
      <p:sp>
        <p:nvSpPr>
          <p:cNvPr id="21" name="Shape 18"/>
          <p:cNvSpPr/>
          <p:nvPr/>
        </p:nvSpPr>
        <p:spPr>
          <a:xfrm>
            <a:off x="3531870" y="3688080"/>
            <a:ext cx="189452" cy="792480"/>
          </a:xfrm>
          <a:prstGeom prst="rect">
            <a:avLst/>
          </a:prstGeom>
          <a:solidFill>
            <a:srgbClr val="FF8FB3"/>
          </a:solidFill>
          <a:ln/>
        </p:spPr>
      </p:sp>
      <p:sp>
        <p:nvSpPr>
          <p:cNvPr id="22" name="Shape 19"/>
          <p:cNvSpPr/>
          <p:nvPr/>
        </p:nvSpPr>
        <p:spPr>
          <a:xfrm>
            <a:off x="3754755" y="4005072"/>
            <a:ext cx="189452" cy="475488"/>
          </a:xfrm>
          <a:prstGeom prst="rect">
            <a:avLst/>
          </a:prstGeom>
          <a:solidFill>
            <a:srgbClr val="FF8FB3"/>
          </a:solidFill>
          <a:ln/>
        </p:spPr>
      </p:sp>
      <p:sp>
        <p:nvSpPr>
          <p:cNvPr id="23" name="Shape 20"/>
          <p:cNvSpPr/>
          <p:nvPr/>
        </p:nvSpPr>
        <p:spPr>
          <a:xfrm>
            <a:off x="411480" y="4480560"/>
            <a:ext cx="3566160" cy="0"/>
          </a:xfrm>
          <a:prstGeom prst="line">
            <a:avLst/>
          </a:prstGeom>
          <a:noFill/>
          <a:ln w="19050">
            <a:solidFill>
              <a:srgbClr val="D8D2F5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481328" y="2057400"/>
            <a:ext cx="0" cy="2468880"/>
          </a:xfrm>
          <a:prstGeom prst="line">
            <a:avLst/>
          </a:prstGeom>
          <a:noFill/>
          <a:ln w="25400">
            <a:solidFill>
              <a:srgbClr val="6B5FD1"/>
            </a:solidFill>
            <a:prstDash val="dash"/>
          </a:ln>
        </p:spPr>
      </p:sp>
      <p:sp>
        <p:nvSpPr>
          <p:cNvPr id="25" name="Shape 22"/>
          <p:cNvSpPr/>
          <p:nvPr/>
        </p:nvSpPr>
        <p:spPr>
          <a:xfrm>
            <a:off x="1909267" y="2057400"/>
            <a:ext cx="0" cy="2468880"/>
          </a:xfrm>
          <a:prstGeom prst="line">
            <a:avLst/>
          </a:prstGeom>
          <a:noFill/>
          <a:ln w="25400">
            <a:solidFill>
              <a:srgbClr val="2D2A4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024128" y="45902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5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1452067" y="48463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4480560" y="16459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Symmetric</a:t>
            </a:r>
            <a:endParaRPr lang="en-US" sz="1350" dirty="0"/>
          </a:p>
        </p:txBody>
      </p:sp>
      <p:sp>
        <p:nvSpPr>
          <p:cNvPr id="29" name="Shape 26"/>
          <p:cNvSpPr/>
          <p:nvPr/>
        </p:nvSpPr>
        <p:spPr>
          <a:xfrm>
            <a:off x="4480560" y="4322064"/>
            <a:ext cx="189452" cy="158496"/>
          </a:xfrm>
          <a:prstGeom prst="rect">
            <a:avLst/>
          </a:prstGeom>
          <a:solidFill>
            <a:srgbClr val="5FD6B0"/>
          </a:solidFill>
          <a:ln/>
        </p:spPr>
      </p:sp>
      <p:sp>
        <p:nvSpPr>
          <p:cNvPr id="30" name="Shape 27"/>
          <p:cNvSpPr/>
          <p:nvPr/>
        </p:nvSpPr>
        <p:spPr>
          <a:xfrm>
            <a:off x="4703445" y="4163568"/>
            <a:ext cx="189452" cy="316992"/>
          </a:xfrm>
          <a:prstGeom prst="rect">
            <a:avLst/>
          </a:prstGeom>
          <a:solidFill>
            <a:srgbClr val="5FD6B0"/>
          </a:solidFill>
          <a:ln/>
        </p:spPr>
      </p:sp>
      <p:sp>
        <p:nvSpPr>
          <p:cNvPr id="31" name="Shape 28"/>
          <p:cNvSpPr/>
          <p:nvPr/>
        </p:nvSpPr>
        <p:spPr>
          <a:xfrm>
            <a:off x="4926330" y="3846576"/>
            <a:ext cx="189452" cy="633984"/>
          </a:xfrm>
          <a:prstGeom prst="rect">
            <a:avLst/>
          </a:prstGeom>
          <a:solidFill>
            <a:srgbClr val="5FD6B0"/>
          </a:solidFill>
          <a:ln/>
        </p:spPr>
      </p:sp>
      <p:sp>
        <p:nvSpPr>
          <p:cNvPr id="32" name="Shape 29"/>
          <p:cNvSpPr/>
          <p:nvPr/>
        </p:nvSpPr>
        <p:spPr>
          <a:xfrm>
            <a:off x="5149215" y="3450336"/>
            <a:ext cx="189452" cy="1030224"/>
          </a:xfrm>
          <a:prstGeom prst="rect">
            <a:avLst/>
          </a:prstGeom>
          <a:solidFill>
            <a:srgbClr val="5FD6B0"/>
          </a:solidFill>
          <a:ln/>
        </p:spPr>
      </p:sp>
      <p:sp>
        <p:nvSpPr>
          <p:cNvPr id="33" name="Shape 30"/>
          <p:cNvSpPr/>
          <p:nvPr/>
        </p:nvSpPr>
        <p:spPr>
          <a:xfrm>
            <a:off x="5372100" y="2974848"/>
            <a:ext cx="189452" cy="1505712"/>
          </a:xfrm>
          <a:prstGeom prst="rect">
            <a:avLst/>
          </a:prstGeom>
          <a:solidFill>
            <a:srgbClr val="5FD6B0"/>
          </a:solidFill>
          <a:ln/>
        </p:spPr>
      </p:sp>
      <p:sp>
        <p:nvSpPr>
          <p:cNvPr id="34" name="Shape 31"/>
          <p:cNvSpPr/>
          <p:nvPr/>
        </p:nvSpPr>
        <p:spPr>
          <a:xfrm>
            <a:off x="5594985" y="2578608"/>
            <a:ext cx="189452" cy="1901952"/>
          </a:xfrm>
          <a:prstGeom prst="rect">
            <a:avLst/>
          </a:prstGeom>
          <a:solidFill>
            <a:srgbClr val="5FD6B0"/>
          </a:solidFill>
          <a:ln/>
        </p:spPr>
      </p:sp>
      <p:sp>
        <p:nvSpPr>
          <p:cNvPr id="35" name="Shape 32"/>
          <p:cNvSpPr/>
          <p:nvPr/>
        </p:nvSpPr>
        <p:spPr>
          <a:xfrm>
            <a:off x="5817870" y="2261616"/>
            <a:ext cx="189452" cy="2218944"/>
          </a:xfrm>
          <a:prstGeom prst="rect">
            <a:avLst/>
          </a:prstGeom>
          <a:solidFill>
            <a:srgbClr val="5FD6B0"/>
          </a:solidFill>
          <a:ln/>
        </p:spPr>
      </p:sp>
      <p:sp>
        <p:nvSpPr>
          <p:cNvPr id="36" name="Shape 33"/>
          <p:cNvSpPr/>
          <p:nvPr/>
        </p:nvSpPr>
        <p:spPr>
          <a:xfrm>
            <a:off x="6040755" y="2103120"/>
            <a:ext cx="189452" cy="2377440"/>
          </a:xfrm>
          <a:prstGeom prst="rect">
            <a:avLst/>
          </a:prstGeom>
          <a:solidFill>
            <a:srgbClr val="5FD6B0"/>
          </a:solidFill>
          <a:ln/>
        </p:spPr>
      </p:sp>
      <p:sp>
        <p:nvSpPr>
          <p:cNvPr id="37" name="Shape 34"/>
          <p:cNvSpPr/>
          <p:nvPr/>
        </p:nvSpPr>
        <p:spPr>
          <a:xfrm>
            <a:off x="6263640" y="2103120"/>
            <a:ext cx="189452" cy="2377440"/>
          </a:xfrm>
          <a:prstGeom prst="rect">
            <a:avLst/>
          </a:prstGeom>
          <a:solidFill>
            <a:srgbClr val="5FD6B0"/>
          </a:solidFill>
          <a:ln/>
        </p:spPr>
      </p:sp>
      <p:sp>
        <p:nvSpPr>
          <p:cNvPr id="38" name="Shape 35"/>
          <p:cNvSpPr/>
          <p:nvPr/>
        </p:nvSpPr>
        <p:spPr>
          <a:xfrm>
            <a:off x="6486525" y="2261616"/>
            <a:ext cx="189452" cy="2218944"/>
          </a:xfrm>
          <a:prstGeom prst="rect">
            <a:avLst/>
          </a:prstGeom>
          <a:solidFill>
            <a:srgbClr val="5FD6B0"/>
          </a:solidFill>
          <a:ln/>
        </p:spPr>
      </p:sp>
      <p:sp>
        <p:nvSpPr>
          <p:cNvPr id="39" name="Shape 36"/>
          <p:cNvSpPr/>
          <p:nvPr/>
        </p:nvSpPr>
        <p:spPr>
          <a:xfrm>
            <a:off x="6709410" y="2578608"/>
            <a:ext cx="189452" cy="1901952"/>
          </a:xfrm>
          <a:prstGeom prst="rect">
            <a:avLst/>
          </a:prstGeom>
          <a:solidFill>
            <a:srgbClr val="5FD6B0"/>
          </a:solidFill>
          <a:ln/>
        </p:spPr>
      </p:sp>
      <p:sp>
        <p:nvSpPr>
          <p:cNvPr id="40" name="Shape 37"/>
          <p:cNvSpPr/>
          <p:nvPr/>
        </p:nvSpPr>
        <p:spPr>
          <a:xfrm>
            <a:off x="6932295" y="2974848"/>
            <a:ext cx="189452" cy="1505712"/>
          </a:xfrm>
          <a:prstGeom prst="rect">
            <a:avLst/>
          </a:prstGeom>
          <a:solidFill>
            <a:srgbClr val="5FD6B0"/>
          </a:solidFill>
          <a:ln/>
        </p:spPr>
      </p:sp>
      <p:sp>
        <p:nvSpPr>
          <p:cNvPr id="41" name="Shape 38"/>
          <p:cNvSpPr/>
          <p:nvPr/>
        </p:nvSpPr>
        <p:spPr>
          <a:xfrm>
            <a:off x="7155180" y="3450336"/>
            <a:ext cx="189452" cy="1030224"/>
          </a:xfrm>
          <a:prstGeom prst="rect">
            <a:avLst/>
          </a:prstGeom>
          <a:solidFill>
            <a:srgbClr val="5FD6B0"/>
          </a:solidFill>
          <a:ln/>
        </p:spPr>
      </p:sp>
      <p:sp>
        <p:nvSpPr>
          <p:cNvPr id="42" name="Shape 39"/>
          <p:cNvSpPr/>
          <p:nvPr/>
        </p:nvSpPr>
        <p:spPr>
          <a:xfrm>
            <a:off x="7378065" y="3846576"/>
            <a:ext cx="189452" cy="633984"/>
          </a:xfrm>
          <a:prstGeom prst="rect">
            <a:avLst/>
          </a:prstGeom>
          <a:solidFill>
            <a:srgbClr val="5FD6B0"/>
          </a:solidFill>
          <a:ln/>
        </p:spPr>
      </p:sp>
      <p:sp>
        <p:nvSpPr>
          <p:cNvPr id="43" name="Shape 40"/>
          <p:cNvSpPr/>
          <p:nvPr/>
        </p:nvSpPr>
        <p:spPr>
          <a:xfrm>
            <a:off x="7600950" y="4163568"/>
            <a:ext cx="189452" cy="316992"/>
          </a:xfrm>
          <a:prstGeom prst="rect">
            <a:avLst/>
          </a:prstGeom>
          <a:solidFill>
            <a:srgbClr val="5FD6B0"/>
          </a:solidFill>
          <a:ln/>
        </p:spPr>
      </p:sp>
      <p:sp>
        <p:nvSpPr>
          <p:cNvPr id="44" name="Shape 41"/>
          <p:cNvSpPr/>
          <p:nvPr/>
        </p:nvSpPr>
        <p:spPr>
          <a:xfrm>
            <a:off x="7823835" y="4322064"/>
            <a:ext cx="189452" cy="158496"/>
          </a:xfrm>
          <a:prstGeom prst="rect">
            <a:avLst/>
          </a:prstGeom>
          <a:solidFill>
            <a:srgbClr val="5FD6B0"/>
          </a:solidFill>
          <a:ln/>
        </p:spPr>
      </p:sp>
      <p:sp>
        <p:nvSpPr>
          <p:cNvPr id="45" name="Shape 42"/>
          <p:cNvSpPr/>
          <p:nvPr/>
        </p:nvSpPr>
        <p:spPr>
          <a:xfrm>
            <a:off x="4480560" y="4480560"/>
            <a:ext cx="3566160" cy="0"/>
          </a:xfrm>
          <a:prstGeom prst="line">
            <a:avLst/>
          </a:prstGeom>
          <a:noFill/>
          <a:ln w="19050">
            <a:solidFill>
              <a:srgbClr val="D8D2F5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6263640" y="2057400"/>
            <a:ext cx="0" cy="2468880"/>
          </a:xfrm>
          <a:prstGeom prst="line">
            <a:avLst/>
          </a:prstGeom>
          <a:noFill/>
          <a:ln w="25400">
            <a:solidFill>
              <a:srgbClr val="6B5FD1"/>
            </a:solidFill>
            <a:prstDash val="dash"/>
          </a:ln>
        </p:spPr>
      </p:sp>
      <p:sp>
        <p:nvSpPr>
          <p:cNvPr id="47" name="Shape 44"/>
          <p:cNvSpPr/>
          <p:nvPr/>
        </p:nvSpPr>
        <p:spPr>
          <a:xfrm>
            <a:off x="6263640" y="2057400"/>
            <a:ext cx="0" cy="2468880"/>
          </a:xfrm>
          <a:prstGeom prst="line">
            <a:avLst/>
          </a:prstGeom>
          <a:noFill/>
          <a:ln w="25400">
            <a:solidFill>
              <a:srgbClr val="2D2A4A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5806440" y="45902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5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</a:t>
            </a:r>
            <a:endParaRPr lang="en-US" sz="950" dirty="0"/>
          </a:p>
        </p:txBody>
      </p:sp>
      <p:sp>
        <p:nvSpPr>
          <p:cNvPr id="49" name="Text 46"/>
          <p:cNvSpPr/>
          <p:nvPr/>
        </p:nvSpPr>
        <p:spPr>
          <a:xfrm>
            <a:off x="5806440" y="48463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</a:t>
            </a:r>
            <a:endParaRPr lang="en-US" sz="950" dirty="0"/>
          </a:p>
        </p:txBody>
      </p:sp>
      <p:sp>
        <p:nvSpPr>
          <p:cNvPr id="50" name="Text 47"/>
          <p:cNvSpPr/>
          <p:nvPr/>
        </p:nvSpPr>
        <p:spPr>
          <a:xfrm>
            <a:off x="8549640" y="16459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Right-Skewed (Positive)</a:t>
            </a:r>
            <a:endParaRPr lang="en-US" sz="1350" dirty="0"/>
          </a:p>
        </p:txBody>
      </p:sp>
      <p:sp>
        <p:nvSpPr>
          <p:cNvPr id="51" name="Shape 48"/>
          <p:cNvSpPr/>
          <p:nvPr/>
        </p:nvSpPr>
        <p:spPr>
          <a:xfrm>
            <a:off x="8549640" y="4005072"/>
            <a:ext cx="189452" cy="475488"/>
          </a:xfrm>
          <a:prstGeom prst="rect">
            <a:avLst/>
          </a:prstGeom>
          <a:solidFill>
            <a:srgbClr val="FFC94A"/>
          </a:solidFill>
          <a:ln/>
        </p:spPr>
      </p:sp>
      <p:sp>
        <p:nvSpPr>
          <p:cNvPr id="52" name="Shape 49"/>
          <p:cNvSpPr/>
          <p:nvPr/>
        </p:nvSpPr>
        <p:spPr>
          <a:xfrm>
            <a:off x="8772525" y="3688080"/>
            <a:ext cx="189452" cy="792480"/>
          </a:xfrm>
          <a:prstGeom prst="rect">
            <a:avLst/>
          </a:prstGeom>
          <a:solidFill>
            <a:srgbClr val="FFC94A"/>
          </a:solidFill>
          <a:ln/>
        </p:spPr>
      </p:sp>
      <p:sp>
        <p:nvSpPr>
          <p:cNvPr id="53" name="Shape 50"/>
          <p:cNvSpPr/>
          <p:nvPr/>
        </p:nvSpPr>
        <p:spPr>
          <a:xfrm>
            <a:off x="8995410" y="2895600"/>
            <a:ext cx="189452" cy="1584960"/>
          </a:xfrm>
          <a:prstGeom prst="rect">
            <a:avLst/>
          </a:prstGeom>
          <a:solidFill>
            <a:srgbClr val="FFC94A"/>
          </a:solidFill>
          <a:ln/>
        </p:spPr>
      </p:sp>
      <p:sp>
        <p:nvSpPr>
          <p:cNvPr id="54" name="Shape 51"/>
          <p:cNvSpPr/>
          <p:nvPr/>
        </p:nvSpPr>
        <p:spPr>
          <a:xfrm>
            <a:off x="9218295" y="2420112"/>
            <a:ext cx="189452" cy="2060448"/>
          </a:xfrm>
          <a:prstGeom prst="rect">
            <a:avLst/>
          </a:prstGeom>
          <a:solidFill>
            <a:srgbClr val="FFC94A"/>
          </a:solidFill>
          <a:ln/>
        </p:spPr>
      </p:sp>
      <p:sp>
        <p:nvSpPr>
          <p:cNvPr id="55" name="Shape 52"/>
          <p:cNvSpPr/>
          <p:nvPr/>
        </p:nvSpPr>
        <p:spPr>
          <a:xfrm>
            <a:off x="9441180" y="2182368"/>
            <a:ext cx="189452" cy="2298192"/>
          </a:xfrm>
          <a:prstGeom prst="rect">
            <a:avLst/>
          </a:prstGeom>
          <a:solidFill>
            <a:srgbClr val="FFC94A"/>
          </a:solidFill>
          <a:ln/>
        </p:spPr>
      </p:sp>
      <p:sp>
        <p:nvSpPr>
          <p:cNvPr id="56" name="Shape 53"/>
          <p:cNvSpPr/>
          <p:nvPr/>
        </p:nvSpPr>
        <p:spPr>
          <a:xfrm>
            <a:off x="9664065" y="2103120"/>
            <a:ext cx="189452" cy="2377440"/>
          </a:xfrm>
          <a:prstGeom prst="rect">
            <a:avLst/>
          </a:prstGeom>
          <a:solidFill>
            <a:srgbClr val="FFC94A"/>
          </a:solidFill>
          <a:ln/>
        </p:spPr>
      </p:sp>
      <p:sp>
        <p:nvSpPr>
          <p:cNvPr id="57" name="Shape 54"/>
          <p:cNvSpPr/>
          <p:nvPr/>
        </p:nvSpPr>
        <p:spPr>
          <a:xfrm>
            <a:off x="9886950" y="2182368"/>
            <a:ext cx="189452" cy="2298192"/>
          </a:xfrm>
          <a:prstGeom prst="rect">
            <a:avLst/>
          </a:prstGeom>
          <a:solidFill>
            <a:srgbClr val="FFC94A"/>
          </a:solidFill>
          <a:ln/>
        </p:spPr>
      </p:sp>
      <p:sp>
        <p:nvSpPr>
          <p:cNvPr id="58" name="Shape 55"/>
          <p:cNvSpPr/>
          <p:nvPr/>
        </p:nvSpPr>
        <p:spPr>
          <a:xfrm>
            <a:off x="10109835" y="2340864"/>
            <a:ext cx="189452" cy="2139696"/>
          </a:xfrm>
          <a:prstGeom prst="rect">
            <a:avLst/>
          </a:prstGeom>
          <a:solidFill>
            <a:srgbClr val="FFC94A"/>
          </a:solidFill>
          <a:ln/>
        </p:spPr>
      </p:sp>
      <p:sp>
        <p:nvSpPr>
          <p:cNvPr id="59" name="Shape 56"/>
          <p:cNvSpPr/>
          <p:nvPr/>
        </p:nvSpPr>
        <p:spPr>
          <a:xfrm>
            <a:off x="10332720" y="2578608"/>
            <a:ext cx="189452" cy="1901952"/>
          </a:xfrm>
          <a:prstGeom prst="rect">
            <a:avLst/>
          </a:prstGeom>
          <a:solidFill>
            <a:srgbClr val="FFC94A"/>
          </a:solidFill>
          <a:ln/>
        </p:spPr>
      </p:sp>
      <p:sp>
        <p:nvSpPr>
          <p:cNvPr id="60" name="Shape 57"/>
          <p:cNvSpPr/>
          <p:nvPr/>
        </p:nvSpPr>
        <p:spPr>
          <a:xfrm>
            <a:off x="10555605" y="2895600"/>
            <a:ext cx="189452" cy="1584960"/>
          </a:xfrm>
          <a:prstGeom prst="rect">
            <a:avLst/>
          </a:prstGeom>
          <a:solidFill>
            <a:srgbClr val="FFC94A"/>
          </a:solidFill>
          <a:ln/>
        </p:spPr>
      </p:sp>
      <p:sp>
        <p:nvSpPr>
          <p:cNvPr id="61" name="Shape 58"/>
          <p:cNvSpPr/>
          <p:nvPr/>
        </p:nvSpPr>
        <p:spPr>
          <a:xfrm>
            <a:off x="10778490" y="3212592"/>
            <a:ext cx="189452" cy="1267968"/>
          </a:xfrm>
          <a:prstGeom prst="rect">
            <a:avLst/>
          </a:prstGeom>
          <a:solidFill>
            <a:srgbClr val="FFC94A"/>
          </a:solidFill>
          <a:ln/>
        </p:spPr>
      </p:sp>
      <p:sp>
        <p:nvSpPr>
          <p:cNvPr id="62" name="Shape 59"/>
          <p:cNvSpPr/>
          <p:nvPr/>
        </p:nvSpPr>
        <p:spPr>
          <a:xfrm>
            <a:off x="11001375" y="3529584"/>
            <a:ext cx="189452" cy="950976"/>
          </a:xfrm>
          <a:prstGeom prst="rect">
            <a:avLst/>
          </a:prstGeom>
          <a:solidFill>
            <a:srgbClr val="FFC94A"/>
          </a:solidFill>
          <a:ln/>
        </p:spPr>
      </p:sp>
      <p:sp>
        <p:nvSpPr>
          <p:cNvPr id="63" name="Shape 60"/>
          <p:cNvSpPr/>
          <p:nvPr/>
        </p:nvSpPr>
        <p:spPr>
          <a:xfrm>
            <a:off x="11224260" y="3846576"/>
            <a:ext cx="189452" cy="633984"/>
          </a:xfrm>
          <a:prstGeom prst="rect">
            <a:avLst/>
          </a:prstGeom>
          <a:solidFill>
            <a:srgbClr val="FFC94A"/>
          </a:solidFill>
          <a:ln/>
        </p:spPr>
      </p:sp>
      <p:sp>
        <p:nvSpPr>
          <p:cNvPr id="64" name="Shape 61"/>
          <p:cNvSpPr/>
          <p:nvPr/>
        </p:nvSpPr>
        <p:spPr>
          <a:xfrm>
            <a:off x="11447145" y="4084320"/>
            <a:ext cx="189452" cy="396240"/>
          </a:xfrm>
          <a:prstGeom prst="rect">
            <a:avLst/>
          </a:prstGeom>
          <a:solidFill>
            <a:srgbClr val="FFC94A"/>
          </a:solidFill>
          <a:ln/>
        </p:spPr>
      </p:sp>
      <p:sp>
        <p:nvSpPr>
          <p:cNvPr id="65" name="Shape 62"/>
          <p:cNvSpPr/>
          <p:nvPr/>
        </p:nvSpPr>
        <p:spPr>
          <a:xfrm>
            <a:off x="11670030" y="4242816"/>
            <a:ext cx="189452" cy="237744"/>
          </a:xfrm>
          <a:prstGeom prst="rect">
            <a:avLst/>
          </a:prstGeom>
          <a:solidFill>
            <a:srgbClr val="FFC94A"/>
          </a:solidFill>
          <a:ln/>
        </p:spPr>
      </p:sp>
      <p:sp>
        <p:nvSpPr>
          <p:cNvPr id="66" name="Shape 63"/>
          <p:cNvSpPr/>
          <p:nvPr/>
        </p:nvSpPr>
        <p:spPr>
          <a:xfrm>
            <a:off x="11892915" y="4322064"/>
            <a:ext cx="189452" cy="158496"/>
          </a:xfrm>
          <a:prstGeom prst="rect">
            <a:avLst/>
          </a:prstGeom>
          <a:solidFill>
            <a:srgbClr val="FFC94A"/>
          </a:solidFill>
          <a:ln/>
        </p:spPr>
      </p:sp>
      <p:sp>
        <p:nvSpPr>
          <p:cNvPr id="67" name="Shape 64"/>
          <p:cNvSpPr/>
          <p:nvPr/>
        </p:nvSpPr>
        <p:spPr>
          <a:xfrm>
            <a:off x="8549640" y="4480560"/>
            <a:ext cx="3566160" cy="0"/>
          </a:xfrm>
          <a:prstGeom prst="line">
            <a:avLst/>
          </a:prstGeom>
          <a:noFill/>
          <a:ln w="19050">
            <a:solidFill>
              <a:srgbClr val="D8D2F5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11045952" y="2057400"/>
            <a:ext cx="0" cy="2468880"/>
          </a:xfrm>
          <a:prstGeom prst="line">
            <a:avLst/>
          </a:prstGeom>
          <a:noFill/>
          <a:ln w="25400">
            <a:solidFill>
              <a:srgbClr val="6B5FD1"/>
            </a:solidFill>
            <a:prstDash val="dash"/>
          </a:ln>
        </p:spPr>
      </p:sp>
      <p:sp>
        <p:nvSpPr>
          <p:cNvPr id="69" name="Shape 66"/>
          <p:cNvSpPr/>
          <p:nvPr/>
        </p:nvSpPr>
        <p:spPr>
          <a:xfrm>
            <a:off x="10618013" y="2057400"/>
            <a:ext cx="0" cy="2468880"/>
          </a:xfrm>
          <a:prstGeom prst="line">
            <a:avLst/>
          </a:prstGeom>
          <a:noFill/>
          <a:ln w="25400">
            <a:solidFill>
              <a:srgbClr val="2D2A4A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10588752" y="45902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5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</a:t>
            </a:r>
            <a:endParaRPr lang="en-US" sz="950" dirty="0"/>
          </a:p>
        </p:txBody>
      </p:sp>
      <p:sp>
        <p:nvSpPr>
          <p:cNvPr id="71" name="Text 68"/>
          <p:cNvSpPr/>
          <p:nvPr/>
        </p:nvSpPr>
        <p:spPr>
          <a:xfrm>
            <a:off x="10160813" y="48463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</a:t>
            </a:r>
            <a:endParaRPr lang="en-US" sz="950" dirty="0"/>
          </a:p>
        </p:txBody>
      </p:sp>
      <p:sp>
        <p:nvSpPr>
          <p:cNvPr id="72" name="Shape 69"/>
          <p:cNvSpPr/>
          <p:nvPr/>
        </p:nvSpPr>
        <p:spPr>
          <a:xfrm>
            <a:off x="548640" y="5623560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EDE9FE"/>
          </a:solidFill>
          <a:ln w="12700">
            <a:solidFill>
              <a:srgbClr val="D8D2F5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822960" y="562356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tail pulls the mean toward it, while the median resists — this is exactly why a skewed distribution makes the mean and median disagree, and why the median is the safer choice when skew is present.</a:t>
            </a:r>
            <a:endParaRPr lang="en-US" sz="1200" dirty="0"/>
          </a:p>
        </p:txBody>
      </p:sp>
      <p:sp>
        <p:nvSpPr>
          <p:cNvPr id="74" name="Text 71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CodeByPaxto: The AI &amp; ML Playground  ·  Hafiz Waseem Ahmed (Paxto)</a:t>
            </a:r>
            <a:endParaRPr lang="en-US" sz="950" dirty="0"/>
          </a:p>
        </p:txBody>
      </p:sp>
      <p:sp>
        <p:nvSpPr>
          <p:cNvPr id="75" name="Text 72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8B7FE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Skewness vs. Kurtosis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9050">
            <a:solidFill>
              <a:srgbClr val="D8D2F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828800"/>
            <a:ext cx="4754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Skewness measures asymmetry — exactly the left-vs-right lean covered on the last slide, now given a number: 0 is symmetric, positive leans right, negative leans left</a:t>
            </a:r>
            <a:endParaRPr lang="en-US" sz="1350" dirty="0"/>
          </a:p>
          <a:p>
            <a:pPr marL="203200" indent="-2032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Kurtosis measures tail weight — how much of your data lives in extreme values far from the mean, compared to a normal distribution</a:t>
            </a:r>
            <a:endParaRPr lang="en-US" sz="1350" dirty="0"/>
          </a:p>
          <a:p>
            <a:pPr marL="203200" indent="-2032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kurtosis means heavier tails and more extreme outliers than you’d expect; low kurtosis means a flatter distribution with fewer extremes</a:t>
            </a:r>
            <a:endParaRPr lang="en-US" sz="1350" dirty="0"/>
          </a:p>
          <a:p>
            <a:pPr marL="203200" indent="-2032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needs to be calculated by hand in practice — the goal here is recognizing what these words mean when a tool reports them to you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0" y="1691640"/>
            <a:ext cx="6217920" cy="4343400"/>
          </a:xfrm>
          <a:prstGeom prst="roundRect">
            <a:avLst>
              <a:gd name="adj" fmla="val 3368"/>
            </a:avLst>
          </a:prstGeom>
          <a:solidFill>
            <a:srgbClr val="E3FBF3"/>
          </a:solidFill>
          <a:ln w="19050">
            <a:solidFill>
              <a:srgbClr val="5FD6B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06440" y="1965960"/>
            <a:ext cx="55778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i="1" dirty="0">
                <a:solidFill>
                  <a:srgbClr val="685F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Skewness: rough intuition, not the full formula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6B5F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skew &gt; 0   -&gt;  tail stretches right (positive/right-skewed)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6B5F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skew &lt; 0   -&gt;  tail stretches left (negative/left-skewed)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6B5F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skew ≈ 0   -&gt;  roughly symmetric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6B5F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i="1" dirty="0">
                <a:solidFill>
                  <a:srgbClr val="685F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Kurtosis: rough intuition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6B5F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kurtosis high  -&gt;  heavy tails, more extreme outliers than normal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6B5F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kurtosis low   -&gt;  light tails, flatter than normal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CodeByPaxto: The AI &amp; ML Playground  ·  Hafiz Waseem Ahmed (Paxto)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8B7FE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Outliers via the IQR Rule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9050">
            <a:solidFill>
              <a:srgbClr val="D8D2F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554480"/>
            <a:ext cx="3657600" cy="4663440"/>
          </a:xfrm>
          <a:prstGeom prst="roundRect">
            <a:avLst>
              <a:gd name="adj" fmla="val 4500"/>
            </a:avLst>
          </a:prstGeom>
          <a:solidFill>
            <a:srgbClr val="EDE9FE"/>
          </a:solidFill>
          <a:ln w="12700">
            <a:solidFill>
              <a:srgbClr val="D8D2F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508760" y="2194560"/>
            <a:ext cx="1554480" cy="1554480"/>
          </a:xfrm>
          <a:prstGeom prst="ellipse">
            <a:avLst/>
          </a:prstGeom>
          <a:solidFill>
            <a:srgbClr val="8B7FE8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6504" y="2423160"/>
            <a:ext cx="1088136" cy="10881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397764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precise,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repeatable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fence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4572000" y="1737360"/>
            <a:ext cx="71323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18 introduced outliers conceptually through the box plot — this is the actual rule that decides exactly where the whiskers end</a:t>
            </a:r>
            <a:endParaRPr lang="en-US" sz="1600" dirty="0"/>
          </a:p>
          <a:p>
            <a:pPr marL="228600" indent="-2286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 builds a "fence" 1.5 times the IQR beyond Q1 and Q3 — anything outside that fence is flagged as an outlier</a:t>
            </a:r>
            <a:endParaRPr lang="en-US" sz="1600" dirty="0"/>
          </a:p>
          <a:p>
            <a:pPr marL="228600" indent="-2286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gives you a precise, repeatable, and consistent way to flag outliers, instead of relying on a subjective "that number looks big" judgment</a:t>
            </a:r>
            <a:endParaRPr lang="en-US" sz="1600" dirty="0"/>
          </a:p>
          <a:p>
            <a:pPr marL="228600" indent="-2286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 outlier is an error — some are perfectly real, important extreme values. Flagging is the first step; deciding what to do about it always requires judgment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CodeByPaxto: The AI &amp; ML Playground  ·  Hafiz Waseem Ahmed (Paxto)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8B7FE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1.5×IQR Fence Rule in Action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9050">
            <a:solidFill>
              <a:srgbClr val="D8D2F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828800"/>
            <a:ext cx="4754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IQR, then build a lower fence and an upper fence exactly 1.5×IQR beyond Q1 and Q3</a:t>
            </a:r>
            <a:endParaRPr lang="en-US" sz="1350" dirty="0"/>
          </a:p>
          <a:p>
            <a:pPr marL="203200" indent="-2032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below the lower fence, or above the upper fence, gets flagged as an outlier</a:t>
            </a:r>
            <a:endParaRPr lang="en-US" sz="1350" dirty="0"/>
          </a:p>
          <a:p>
            <a:pPr marL="203200" indent="-2032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exactly the rule box plot whiskers use to decide where to stop — anything beyond them is typically plotted as an individual point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0" y="1691640"/>
            <a:ext cx="6217920" cy="4343400"/>
          </a:xfrm>
          <a:prstGeom prst="roundRect">
            <a:avLst>
              <a:gd name="adj" fmla="val 3368"/>
            </a:avLst>
          </a:prstGeom>
          <a:solidFill>
            <a:srgbClr val="E3FBF3"/>
          </a:solidFill>
          <a:ln w="19050">
            <a:solidFill>
              <a:srgbClr val="5FD6B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06440" y="1965960"/>
            <a:ext cx="55778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6B5F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IQR = Q3 − Q1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6B5F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lower_fence = Q1 − 1.5 × IQR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6B5F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upper_fence = Q3 + 1.5 × IQR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6B5F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i="1" dirty="0">
                <a:solidFill>
                  <a:srgbClr val="685F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Example: Q1 = 20, Q3 = 50  -&gt;  IQR = 30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6B5F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lower_fence = 20 - 45 = -25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6B5F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upper_fence = 50 + 45 = 95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i="1" dirty="0">
                <a:solidFill>
                  <a:srgbClr val="685F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Any value below -25 or above 95 is flagged as an outlier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CodeByPaxto: The AI &amp; ML Playground  ·  Hafiz Waseem Ahmed (Paxto)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8B7FE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Practice Set — Shape of a Distribution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9050">
            <a:solidFill>
              <a:srgbClr val="D8D2F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600200"/>
            <a:ext cx="11274552" cy="4480560"/>
          </a:xfrm>
          <a:prstGeom prst="roundRect">
            <a:avLst>
              <a:gd name="adj" fmla="val 3673"/>
            </a:avLst>
          </a:prstGeom>
          <a:solidFill>
            <a:srgbClr val="EDE9FE"/>
          </a:solidFill>
          <a:ln w="12700">
            <a:solidFill>
              <a:srgbClr val="D8D2F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Try these yourself first — that's the point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22960" y="2423160"/>
            <a:ext cx="384048" cy="384048"/>
          </a:xfrm>
          <a:prstGeom prst="ellipse">
            <a:avLst/>
          </a:prstGeom>
          <a:solidFill>
            <a:srgbClr val="8B7FE8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2423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435608" y="2423160"/>
            <a:ext cx="9582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dataset of household incomes, predict whether it’s more likely left-skewed or right-skewed, and explain your reasoning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22960" y="3300984"/>
            <a:ext cx="384048" cy="384048"/>
          </a:xfrm>
          <a:prstGeom prst="ellipse">
            <a:avLst/>
          </a:prstGeom>
          <a:solidFill>
            <a:srgbClr val="8B7FE8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3300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35608" y="3300984"/>
            <a:ext cx="9582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in your own words why a skewed distribution makes the mean less trustworthy as a "typical value"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22960" y="4178808"/>
            <a:ext cx="384048" cy="384048"/>
          </a:xfrm>
          <a:prstGeom prst="ellipse">
            <a:avLst/>
          </a:prstGeom>
          <a:solidFill>
            <a:srgbClr val="8B7FE8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" y="4178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35608" y="4178808"/>
            <a:ext cx="9582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Q1 = 10 and Q3 = 40, calculate the lower and upper fences using the 1.5×IQR rule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822960" y="5056632"/>
            <a:ext cx="384048" cy="384048"/>
          </a:xfrm>
          <a:prstGeom prst="ellipse">
            <a:avLst/>
          </a:prstGeom>
          <a:solidFill>
            <a:srgbClr val="8B7FE8"/>
          </a:solidFill>
          <a:ln/>
        </p:spPr>
      </p:sp>
      <p:sp>
        <p:nvSpPr>
          <p:cNvPr id="18" name="Text 15"/>
          <p:cNvSpPr/>
          <p:nvPr/>
        </p:nvSpPr>
        <p:spPr>
          <a:xfrm>
            <a:off x="822960" y="5056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35608" y="5056632"/>
            <a:ext cx="9582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 real histogram (news article, report, or dataset) and describe its shape — symmetric, left-skewed, or right-skewed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CodeByPaxto: The AI &amp; ML Playground  ·  Hafiz Waseem Ahmed (Paxto)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D6B0"/>
                </a:solidFill>
              </a:rPr>
              <a:t>✦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247120" y="5486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FFC94A"/>
                </a:solidFill>
              </a:rPr>
              <a:t>✦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640080" y="61264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8FB3"/>
                </a:solidFill>
              </a:rPr>
              <a:t>✦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338560" y="6035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7FE8"/>
                </a:solidFill>
              </a:rPr>
              <a:t>✦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 rot="-90000">
            <a:off x="1874520" y="1325880"/>
            <a:ext cx="8805672" cy="777240"/>
          </a:xfrm>
          <a:prstGeom prst="roundRect">
            <a:avLst>
              <a:gd name="adj" fmla="val 17647"/>
            </a:avLst>
          </a:prstGeom>
          <a:solidFill>
            <a:srgbClr val="FFC94A"/>
          </a:solidFill>
          <a:ln/>
        </p:spPr>
      </p:sp>
      <p:sp>
        <p:nvSpPr>
          <p:cNvPr id="7" name="Shape 5"/>
          <p:cNvSpPr/>
          <p:nvPr/>
        </p:nvSpPr>
        <p:spPr>
          <a:xfrm>
            <a:off x="1691640" y="1188720"/>
            <a:ext cx="8805672" cy="777240"/>
          </a:xfrm>
          <a:prstGeom prst="roundRect">
            <a:avLst>
              <a:gd name="adj" fmla="val 17647"/>
            </a:avLst>
          </a:prstGeom>
          <a:solidFill>
            <a:srgbClr val="8B7FE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0448" y="134874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91640" y="1188720"/>
            <a:ext cx="8805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97280" y="2331720"/>
            <a:ext cx="999439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Correlation</a:t>
            </a:r>
            <a:endParaRPr lang="en-US" sz="2900" dirty="0"/>
          </a:p>
        </p:txBody>
      </p:sp>
      <p:sp>
        <p:nvSpPr>
          <p:cNvPr id="11" name="Text 8"/>
          <p:cNvSpPr/>
          <p:nvPr/>
        </p:nvSpPr>
        <p:spPr>
          <a:xfrm>
            <a:off x="1737360" y="4434840"/>
            <a:ext cx="87142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heatmap from Session 18 was the picture — this is the actual number behind it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8B7FE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What Does Correlation Actually Measure?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9050">
            <a:solidFill>
              <a:srgbClr val="D8D2F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554480"/>
            <a:ext cx="3657600" cy="4663440"/>
          </a:xfrm>
          <a:prstGeom prst="roundRect">
            <a:avLst>
              <a:gd name="adj" fmla="val 4500"/>
            </a:avLst>
          </a:prstGeom>
          <a:solidFill>
            <a:srgbClr val="EDE9FE"/>
          </a:solidFill>
          <a:ln w="12700">
            <a:solidFill>
              <a:srgbClr val="D8D2F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508760" y="2194560"/>
            <a:ext cx="1554480" cy="1554480"/>
          </a:xfrm>
          <a:prstGeom prst="ellipse">
            <a:avLst/>
          </a:prstGeom>
          <a:solidFill>
            <a:srgbClr val="8B7FE8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6504" y="2423160"/>
            <a:ext cx="1088136" cy="10881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397764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Do they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move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together?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4572000" y="1737360"/>
            <a:ext cx="71323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measures the strength and direction of a straight-line relationship between two numerical variables</a:t>
            </a:r>
            <a:endParaRPr lang="en-US" sz="1600" dirty="0"/>
          </a:p>
          <a:p>
            <a:pPr marL="228600" indent="-2286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correlation: as one variable increases, the other tends to increase too. Negative correlation: as one increases, the other tends to decrease</a:t>
            </a:r>
            <a:endParaRPr lang="en-US" sz="1600" dirty="0"/>
          </a:p>
          <a:p>
            <a:pPr marL="228600" indent="-2286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says absolutely nothing about WHY two things move together — only THAT they do, and how consistently</a:t>
            </a:r>
            <a:endParaRPr lang="en-US" sz="1600" dirty="0"/>
          </a:p>
          <a:p>
            <a:pPr marL="228600" indent="-2286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precisely the statistic behind every cell of the correlation heatmap from Session 18 — now you’ll see exactly how each number is actually calculated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CodeByPaxto: The AI &amp; ML Playground  ·  Hafiz Waseem Ahmed (Paxto)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8B7FE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Pearson Correlation Coefficient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9050">
            <a:solidFill>
              <a:srgbClr val="D8D2F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828800"/>
            <a:ext cx="4754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Pearson correlation coefficient, r, is the standard measure of straight-line correlation — the exact number that fills every cell of a correlation heatmap</a:t>
            </a:r>
            <a:endParaRPr lang="en-US" sz="1350" dirty="0"/>
          </a:p>
          <a:p>
            <a:pPr marL="203200" indent="-2032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always falls between −1 and +1 — the sign gives direction, the size gives strength</a:t>
            </a:r>
            <a:endParaRPr lang="en-US" sz="1350" dirty="0"/>
          </a:p>
          <a:p>
            <a:pPr marL="203200" indent="-2032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 doesn’t necessarily mean "no relationship at all" — it means no LINEAR relationship. A strong curved relationship can still produce an r near 0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0" y="1691640"/>
            <a:ext cx="6217920" cy="4343400"/>
          </a:xfrm>
          <a:prstGeom prst="roundRect">
            <a:avLst>
              <a:gd name="adj" fmla="val 3368"/>
            </a:avLst>
          </a:prstGeom>
          <a:solidFill>
            <a:srgbClr val="E3FBF3"/>
          </a:solidFill>
          <a:ln w="19050">
            <a:solidFill>
              <a:srgbClr val="5FD6B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06440" y="1965960"/>
            <a:ext cx="55778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i="1" dirty="0">
                <a:solidFill>
                  <a:srgbClr val="685F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Conceptually, r compares how x and y vary together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i="1" dirty="0">
                <a:solidFill>
                  <a:srgbClr val="685F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against how much each varies on its own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6B5F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6B5F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= +1.0   perfect positive straight-line relationship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6B5F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= +0.7   strong positive relationship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6B5F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=  0.0   no linear relationship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6B5F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= -0.7   strong negative relationship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6B5F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= -1.0   perfect negative straight-line relationship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CodeByPaxto: The AI &amp; ML Playground  ·  Hafiz Waseem Ahmed (Paxto)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8B7FE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Correlation Strength, at a Glance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9050">
            <a:solidFill>
              <a:srgbClr val="D8D2F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78028" y="1920240"/>
            <a:ext cx="246888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8D2F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74040" y="3662172"/>
            <a:ext cx="82296" cy="82296"/>
          </a:xfrm>
          <a:prstGeom prst="ellipse">
            <a:avLst/>
          </a:prstGeom>
          <a:solidFill>
            <a:srgbClr val="8B7FE8"/>
          </a:solidFill>
          <a:ln/>
        </p:spPr>
      </p:sp>
      <p:sp>
        <p:nvSpPr>
          <p:cNvPr id="8" name="Shape 5"/>
          <p:cNvSpPr/>
          <p:nvPr/>
        </p:nvSpPr>
        <p:spPr>
          <a:xfrm>
            <a:off x="903131" y="3523709"/>
            <a:ext cx="82296" cy="82296"/>
          </a:xfrm>
          <a:prstGeom prst="ellipse">
            <a:avLst/>
          </a:prstGeom>
          <a:solidFill>
            <a:srgbClr val="8B7FE8"/>
          </a:solidFill>
          <a:ln/>
        </p:spPr>
      </p:sp>
      <p:sp>
        <p:nvSpPr>
          <p:cNvPr id="9" name="Shape 6"/>
          <p:cNvSpPr/>
          <p:nvPr/>
        </p:nvSpPr>
        <p:spPr>
          <a:xfrm>
            <a:off x="1032223" y="3512261"/>
            <a:ext cx="82296" cy="82296"/>
          </a:xfrm>
          <a:prstGeom prst="ellipse">
            <a:avLst/>
          </a:prstGeom>
          <a:solidFill>
            <a:srgbClr val="8B7FE8"/>
          </a:solidFill>
          <a:ln/>
        </p:spPr>
      </p:sp>
      <p:sp>
        <p:nvSpPr>
          <p:cNvPr id="10" name="Shape 7"/>
          <p:cNvSpPr/>
          <p:nvPr/>
        </p:nvSpPr>
        <p:spPr>
          <a:xfrm>
            <a:off x="1161315" y="3365966"/>
            <a:ext cx="82296" cy="82296"/>
          </a:xfrm>
          <a:prstGeom prst="ellipse">
            <a:avLst/>
          </a:prstGeom>
          <a:solidFill>
            <a:srgbClr val="8B7FE8"/>
          </a:solidFill>
          <a:ln/>
        </p:spPr>
      </p:sp>
      <p:sp>
        <p:nvSpPr>
          <p:cNvPr id="11" name="Shape 8"/>
          <p:cNvSpPr/>
          <p:nvPr/>
        </p:nvSpPr>
        <p:spPr>
          <a:xfrm>
            <a:off x="1290407" y="3287366"/>
            <a:ext cx="82296" cy="82296"/>
          </a:xfrm>
          <a:prstGeom prst="ellipse">
            <a:avLst/>
          </a:prstGeom>
          <a:solidFill>
            <a:srgbClr val="8B7FE8"/>
          </a:solidFill>
          <a:ln/>
        </p:spPr>
      </p:sp>
      <p:sp>
        <p:nvSpPr>
          <p:cNvPr id="12" name="Shape 9"/>
          <p:cNvSpPr/>
          <p:nvPr/>
        </p:nvSpPr>
        <p:spPr>
          <a:xfrm>
            <a:off x="1419498" y="3182672"/>
            <a:ext cx="82296" cy="82296"/>
          </a:xfrm>
          <a:prstGeom prst="ellipse">
            <a:avLst/>
          </a:prstGeom>
          <a:solidFill>
            <a:srgbClr val="8B7FE8"/>
          </a:solidFill>
          <a:ln/>
        </p:spPr>
      </p:sp>
      <p:sp>
        <p:nvSpPr>
          <p:cNvPr id="13" name="Shape 10"/>
          <p:cNvSpPr/>
          <p:nvPr/>
        </p:nvSpPr>
        <p:spPr>
          <a:xfrm>
            <a:off x="1548590" y="3068807"/>
            <a:ext cx="82296" cy="82296"/>
          </a:xfrm>
          <a:prstGeom prst="ellipse">
            <a:avLst/>
          </a:prstGeom>
          <a:solidFill>
            <a:srgbClr val="8B7FE8"/>
          </a:solidFill>
          <a:ln/>
        </p:spPr>
      </p:sp>
      <p:sp>
        <p:nvSpPr>
          <p:cNvPr id="14" name="Shape 11"/>
          <p:cNvSpPr/>
          <p:nvPr/>
        </p:nvSpPr>
        <p:spPr>
          <a:xfrm>
            <a:off x="1677682" y="3017466"/>
            <a:ext cx="82296" cy="82296"/>
          </a:xfrm>
          <a:prstGeom prst="ellipse">
            <a:avLst/>
          </a:prstGeom>
          <a:solidFill>
            <a:srgbClr val="8B7FE8"/>
          </a:solidFill>
          <a:ln/>
        </p:spPr>
      </p:sp>
      <p:sp>
        <p:nvSpPr>
          <p:cNvPr id="15" name="Shape 12"/>
          <p:cNvSpPr/>
          <p:nvPr/>
        </p:nvSpPr>
        <p:spPr>
          <a:xfrm>
            <a:off x="1806774" y="2904498"/>
            <a:ext cx="82296" cy="82296"/>
          </a:xfrm>
          <a:prstGeom prst="ellipse">
            <a:avLst/>
          </a:prstGeom>
          <a:solidFill>
            <a:srgbClr val="8B7FE8"/>
          </a:solidFill>
          <a:ln/>
        </p:spPr>
      </p:sp>
      <p:sp>
        <p:nvSpPr>
          <p:cNvPr id="16" name="Shape 13"/>
          <p:cNvSpPr/>
          <p:nvPr/>
        </p:nvSpPr>
        <p:spPr>
          <a:xfrm>
            <a:off x="1935865" y="2786889"/>
            <a:ext cx="82296" cy="82296"/>
          </a:xfrm>
          <a:prstGeom prst="ellipse">
            <a:avLst/>
          </a:prstGeom>
          <a:solidFill>
            <a:srgbClr val="8B7FE8"/>
          </a:solidFill>
          <a:ln/>
        </p:spPr>
      </p:sp>
      <p:sp>
        <p:nvSpPr>
          <p:cNvPr id="17" name="Shape 14"/>
          <p:cNvSpPr/>
          <p:nvPr/>
        </p:nvSpPr>
        <p:spPr>
          <a:xfrm>
            <a:off x="2064957" y="2647419"/>
            <a:ext cx="82296" cy="82296"/>
          </a:xfrm>
          <a:prstGeom prst="ellipse">
            <a:avLst/>
          </a:prstGeom>
          <a:solidFill>
            <a:srgbClr val="8B7FE8"/>
          </a:solidFill>
          <a:ln/>
        </p:spPr>
      </p:sp>
      <p:sp>
        <p:nvSpPr>
          <p:cNvPr id="18" name="Shape 15"/>
          <p:cNvSpPr/>
          <p:nvPr/>
        </p:nvSpPr>
        <p:spPr>
          <a:xfrm>
            <a:off x="2194049" y="2565446"/>
            <a:ext cx="82296" cy="82296"/>
          </a:xfrm>
          <a:prstGeom prst="ellipse">
            <a:avLst/>
          </a:prstGeom>
          <a:solidFill>
            <a:srgbClr val="8B7FE8"/>
          </a:solidFill>
          <a:ln/>
        </p:spPr>
      </p:sp>
      <p:sp>
        <p:nvSpPr>
          <p:cNvPr id="19" name="Shape 16"/>
          <p:cNvSpPr/>
          <p:nvPr/>
        </p:nvSpPr>
        <p:spPr>
          <a:xfrm>
            <a:off x="2323141" y="2532042"/>
            <a:ext cx="82296" cy="82296"/>
          </a:xfrm>
          <a:prstGeom prst="ellipse">
            <a:avLst/>
          </a:prstGeom>
          <a:solidFill>
            <a:srgbClr val="8B7FE8"/>
          </a:solidFill>
          <a:ln/>
        </p:spPr>
      </p:sp>
      <p:sp>
        <p:nvSpPr>
          <p:cNvPr id="20" name="Shape 17"/>
          <p:cNvSpPr/>
          <p:nvPr/>
        </p:nvSpPr>
        <p:spPr>
          <a:xfrm>
            <a:off x="2452233" y="2354627"/>
            <a:ext cx="82296" cy="82296"/>
          </a:xfrm>
          <a:prstGeom prst="ellipse">
            <a:avLst/>
          </a:prstGeom>
          <a:solidFill>
            <a:srgbClr val="8B7FE8"/>
          </a:solidFill>
          <a:ln/>
        </p:spPr>
      </p:sp>
      <p:sp>
        <p:nvSpPr>
          <p:cNvPr id="21" name="Shape 18"/>
          <p:cNvSpPr/>
          <p:nvPr/>
        </p:nvSpPr>
        <p:spPr>
          <a:xfrm>
            <a:off x="2581324" y="2275499"/>
            <a:ext cx="82296" cy="82296"/>
          </a:xfrm>
          <a:prstGeom prst="ellipse">
            <a:avLst/>
          </a:prstGeom>
          <a:solidFill>
            <a:srgbClr val="8B7FE8"/>
          </a:solidFill>
          <a:ln/>
        </p:spPr>
      </p:sp>
      <p:sp>
        <p:nvSpPr>
          <p:cNvPr id="22" name="Shape 19"/>
          <p:cNvSpPr/>
          <p:nvPr/>
        </p:nvSpPr>
        <p:spPr>
          <a:xfrm>
            <a:off x="2710416" y="2215636"/>
            <a:ext cx="82296" cy="82296"/>
          </a:xfrm>
          <a:prstGeom prst="ellipse">
            <a:avLst/>
          </a:prstGeom>
          <a:solidFill>
            <a:srgbClr val="8B7FE8"/>
          </a:solidFill>
          <a:ln/>
        </p:spPr>
      </p:sp>
      <p:sp>
        <p:nvSpPr>
          <p:cNvPr id="23" name="Shape 20"/>
          <p:cNvSpPr/>
          <p:nvPr/>
        </p:nvSpPr>
        <p:spPr>
          <a:xfrm>
            <a:off x="2839508" y="2070914"/>
            <a:ext cx="82296" cy="82296"/>
          </a:xfrm>
          <a:prstGeom prst="ellipse">
            <a:avLst/>
          </a:prstGeom>
          <a:solidFill>
            <a:srgbClr val="8B7FE8"/>
          </a:solidFill>
          <a:ln/>
        </p:spPr>
      </p:sp>
      <p:sp>
        <p:nvSpPr>
          <p:cNvPr id="24" name="Shape 21"/>
          <p:cNvSpPr/>
          <p:nvPr/>
        </p:nvSpPr>
        <p:spPr>
          <a:xfrm>
            <a:off x="2968600" y="2022751"/>
            <a:ext cx="82296" cy="82296"/>
          </a:xfrm>
          <a:prstGeom prst="ellipse">
            <a:avLst/>
          </a:prstGeom>
          <a:solidFill>
            <a:srgbClr val="8B7FE8"/>
          </a:solidFill>
          <a:ln/>
        </p:spPr>
      </p:sp>
      <p:sp>
        <p:nvSpPr>
          <p:cNvPr id="25" name="Text 22"/>
          <p:cNvSpPr/>
          <p:nvPr/>
        </p:nvSpPr>
        <p:spPr>
          <a:xfrm>
            <a:off x="678028" y="39136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Strong Positive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678028" y="41879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85F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≈ +0.95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3466948" y="1920240"/>
            <a:ext cx="246888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8D2F5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562960" y="3501068"/>
            <a:ext cx="82296" cy="82296"/>
          </a:xfrm>
          <a:prstGeom prst="ellipse">
            <a:avLst/>
          </a:prstGeom>
          <a:solidFill>
            <a:srgbClr val="5FD6B0"/>
          </a:solidFill>
          <a:ln/>
        </p:spPr>
      </p:sp>
      <p:sp>
        <p:nvSpPr>
          <p:cNvPr id="29" name="Shape 26"/>
          <p:cNvSpPr/>
          <p:nvPr/>
        </p:nvSpPr>
        <p:spPr>
          <a:xfrm>
            <a:off x="3692051" y="3284666"/>
            <a:ext cx="82296" cy="82296"/>
          </a:xfrm>
          <a:prstGeom prst="ellipse">
            <a:avLst/>
          </a:prstGeom>
          <a:solidFill>
            <a:srgbClr val="5FD6B0"/>
          </a:solidFill>
          <a:ln/>
        </p:spPr>
      </p:sp>
      <p:sp>
        <p:nvSpPr>
          <p:cNvPr id="30" name="Shape 27"/>
          <p:cNvSpPr/>
          <p:nvPr/>
        </p:nvSpPr>
        <p:spPr>
          <a:xfrm>
            <a:off x="3821143" y="3405059"/>
            <a:ext cx="82296" cy="82296"/>
          </a:xfrm>
          <a:prstGeom prst="ellipse">
            <a:avLst/>
          </a:prstGeom>
          <a:solidFill>
            <a:srgbClr val="5FD6B0"/>
          </a:solidFill>
          <a:ln/>
        </p:spPr>
      </p:sp>
      <p:sp>
        <p:nvSpPr>
          <p:cNvPr id="31" name="Shape 28"/>
          <p:cNvSpPr/>
          <p:nvPr/>
        </p:nvSpPr>
        <p:spPr>
          <a:xfrm>
            <a:off x="3950235" y="3397293"/>
            <a:ext cx="82296" cy="82296"/>
          </a:xfrm>
          <a:prstGeom prst="ellipse">
            <a:avLst/>
          </a:prstGeom>
          <a:solidFill>
            <a:srgbClr val="5FD6B0"/>
          </a:solidFill>
          <a:ln/>
        </p:spPr>
      </p:sp>
      <p:sp>
        <p:nvSpPr>
          <p:cNvPr id="32" name="Shape 29"/>
          <p:cNvSpPr/>
          <p:nvPr/>
        </p:nvSpPr>
        <p:spPr>
          <a:xfrm>
            <a:off x="4079327" y="3438000"/>
            <a:ext cx="82296" cy="82296"/>
          </a:xfrm>
          <a:prstGeom prst="ellipse">
            <a:avLst/>
          </a:prstGeom>
          <a:solidFill>
            <a:srgbClr val="5FD6B0"/>
          </a:solidFill>
          <a:ln/>
        </p:spPr>
      </p:sp>
      <p:sp>
        <p:nvSpPr>
          <p:cNvPr id="33" name="Shape 30"/>
          <p:cNvSpPr/>
          <p:nvPr/>
        </p:nvSpPr>
        <p:spPr>
          <a:xfrm>
            <a:off x="4208418" y="3429218"/>
            <a:ext cx="82296" cy="82296"/>
          </a:xfrm>
          <a:prstGeom prst="ellipse">
            <a:avLst/>
          </a:prstGeom>
          <a:solidFill>
            <a:srgbClr val="5FD6B0"/>
          </a:solidFill>
          <a:ln/>
        </p:spPr>
      </p:sp>
      <p:sp>
        <p:nvSpPr>
          <p:cNvPr id="34" name="Shape 31"/>
          <p:cNvSpPr/>
          <p:nvPr/>
        </p:nvSpPr>
        <p:spPr>
          <a:xfrm>
            <a:off x="4337510" y="3254117"/>
            <a:ext cx="82296" cy="82296"/>
          </a:xfrm>
          <a:prstGeom prst="ellipse">
            <a:avLst/>
          </a:prstGeom>
          <a:solidFill>
            <a:srgbClr val="5FD6B0"/>
          </a:solidFill>
          <a:ln/>
        </p:spPr>
      </p:sp>
      <p:sp>
        <p:nvSpPr>
          <p:cNvPr id="35" name="Shape 32"/>
          <p:cNvSpPr/>
          <p:nvPr/>
        </p:nvSpPr>
        <p:spPr>
          <a:xfrm>
            <a:off x="4466602" y="3242310"/>
            <a:ext cx="82296" cy="82296"/>
          </a:xfrm>
          <a:prstGeom prst="ellipse">
            <a:avLst/>
          </a:prstGeom>
          <a:solidFill>
            <a:srgbClr val="5FD6B0"/>
          </a:solidFill>
          <a:ln/>
        </p:spPr>
      </p:sp>
      <p:sp>
        <p:nvSpPr>
          <p:cNvPr id="36" name="Shape 33"/>
          <p:cNvSpPr/>
          <p:nvPr/>
        </p:nvSpPr>
        <p:spPr>
          <a:xfrm>
            <a:off x="4595694" y="2680827"/>
            <a:ext cx="82296" cy="82296"/>
          </a:xfrm>
          <a:prstGeom prst="ellipse">
            <a:avLst/>
          </a:prstGeom>
          <a:solidFill>
            <a:srgbClr val="5FD6B0"/>
          </a:solidFill>
          <a:ln/>
        </p:spPr>
      </p:sp>
      <p:sp>
        <p:nvSpPr>
          <p:cNvPr id="37" name="Shape 34"/>
          <p:cNvSpPr/>
          <p:nvPr/>
        </p:nvSpPr>
        <p:spPr>
          <a:xfrm>
            <a:off x="4724785" y="2545039"/>
            <a:ext cx="82296" cy="82296"/>
          </a:xfrm>
          <a:prstGeom prst="ellipse">
            <a:avLst/>
          </a:prstGeom>
          <a:solidFill>
            <a:srgbClr val="5FD6B0"/>
          </a:solidFill>
          <a:ln/>
        </p:spPr>
      </p:sp>
      <p:sp>
        <p:nvSpPr>
          <p:cNvPr id="38" name="Shape 35"/>
          <p:cNvSpPr/>
          <p:nvPr/>
        </p:nvSpPr>
        <p:spPr>
          <a:xfrm>
            <a:off x="4853877" y="2703305"/>
            <a:ext cx="82296" cy="82296"/>
          </a:xfrm>
          <a:prstGeom prst="ellipse">
            <a:avLst/>
          </a:prstGeom>
          <a:solidFill>
            <a:srgbClr val="5FD6B0"/>
          </a:solidFill>
          <a:ln/>
        </p:spPr>
      </p:sp>
      <p:sp>
        <p:nvSpPr>
          <p:cNvPr id="39" name="Shape 36"/>
          <p:cNvSpPr/>
          <p:nvPr/>
        </p:nvSpPr>
        <p:spPr>
          <a:xfrm>
            <a:off x="4982969" y="2526831"/>
            <a:ext cx="82296" cy="82296"/>
          </a:xfrm>
          <a:prstGeom prst="ellipse">
            <a:avLst/>
          </a:prstGeom>
          <a:solidFill>
            <a:srgbClr val="5FD6B0"/>
          </a:solidFill>
          <a:ln/>
        </p:spPr>
      </p:sp>
      <p:sp>
        <p:nvSpPr>
          <p:cNvPr id="40" name="Shape 37"/>
          <p:cNvSpPr/>
          <p:nvPr/>
        </p:nvSpPr>
        <p:spPr>
          <a:xfrm>
            <a:off x="5112061" y="2783995"/>
            <a:ext cx="82296" cy="82296"/>
          </a:xfrm>
          <a:prstGeom prst="ellipse">
            <a:avLst/>
          </a:prstGeom>
          <a:solidFill>
            <a:srgbClr val="5FD6B0"/>
          </a:solidFill>
          <a:ln/>
        </p:spPr>
      </p:sp>
      <p:sp>
        <p:nvSpPr>
          <p:cNvPr id="41" name="Shape 38"/>
          <p:cNvSpPr/>
          <p:nvPr/>
        </p:nvSpPr>
        <p:spPr>
          <a:xfrm>
            <a:off x="5241153" y="2393449"/>
            <a:ext cx="82296" cy="82296"/>
          </a:xfrm>
          <a:prstGeom prst="ellipse">
            <a:avLst/>
          </a:prstGeom>
          <a:solidFill>
            <a:srgbClr val="5FD6B0"/>
          </a:solidFill>
          <a:ln/>
        </p:spPr>
      </p:sp>
      <p:sp>
        <p:nvSpPr>
          <p:cNvPr id="42" name="Shape 39"/>
          <p:cNvSpPr/>
          <p:nvPr/>
        </p:nvSpPr>
        <p:spPr>
          <a:xfrm>
            <a:off x="5370244" y="2464242"/>
            <a:ext cx="82296" cy="82296"/>
          </a:xfrm>
          <a:prstGeom prst="ellipse">
            <a:avLst/>
          </a:prstGeom>
          <a:solidFill>
            <a:srgbClr val="5FD6B0"/>
          </a:solidFill>
          <a:ln/>
        </p:spPr>
      </p:sp>
      <p:sp>
        <p:nvSpPr>
          <p:cNvPr id="43" name="Shape 40"/>
          <p:cNvSpPr/>
          <p:nvPr/>
        </p:nvSpPr>
        <p:spPr>
          <a:xfrm>
            <a:off x="5499336" y="2349203"/>
            <a:ext cx="82296" cy="82296"/>
          </a:xfrm>
          <a:prstGeom prst="ellipse">
            <a:avLst/>
          </a:prstGeom>
          <a:solidFill>
            <a:srgbClr val="5FD6B0"/>
          </a:solidFill>
          <a:ln/>
        </p:spPr>
      </p:sp>
      <p:sp>
        <p:nvSpPr>
          <p:cNvPr id="44" name="Shape 41"/>
          <p:cNvSpPr/>
          <p:nvPr/>
        </p:nvSpPr>
        <p:spPr>
          <a:xfrm>
            <a:off x="5628428" y="2285783"/>
            <a:ext cx="82296" cy="82296"/>
          </a:xfrm>
          <a:prstGeom prst="ellipse">
            <a:avLst/>
          </a:prstGeom>
          <a:solidFill>
            <a:srgbClr val="5FD6B0"/>
          </a:solidFill>
          <a:ln/>
        </p:spPr>
      </p:sp>
      <p:sp>
        <p:nvSpPr>
          <p:cNvPr id="45" name="Shape 42"/>
          <p:cNvSpPr/>
          <p:nvPr/>
        </p:nvSpPr>
        <p:spPr>
          <a:xfrm>
            <a:off x="5757520" y="2016252"/>
            <a:ext cx="82296" cy="82296"/>
          </a:xfrm>
          <a:prstGeom prst="ellipse">
            <a:avLst/>
          </a:prstGeom>
          <a:solidFill>
            <a:srgbClr val="5FD6B0"/>
          </a:solidFill>
          <a:ln/>
        </p:spPr>
      </p:sp>
      <p:sp>
        <p:nvSpPr>
          <p:cNvPr id="46" name="Text 43"/>
          <p:cNvSpPr/>
          <p:nvPr/>
        </p:nvSpPr>
        <p:spPr>
          <a:xfrm>
            <a:off x="3466948" y="39136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Weak Positive</a:t>
            </a:r>
            <a:endParaRPr lang="en-US" sz="1200" dirty="0"/>
          </a:p>
        </p:txBody>
      </p:sp>
      <p:sp>
        <p:nvSpPr>
          <p:cNvPr id="47" name="Text 44"/>
          <p:cNvSpPr/>
          <p:nvPr/>
        </p:nvSpPr>
        <p:spPr>
          <a:xfrm>
            <a:off x="3466948" y="41879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85F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≈ +0.35</a:t>
            </a:r>
            <a:endParaRPr lang="en-US" sz="1100" dirty="0"/>
          </a:p>
        </p:txBody>
      </p:sp>
      <p:sp>
        <p:nvSpPr>
          <p:cNvPr id="48" name="Shape 45"/>
          <p:cNvSpPr/>
          <p:nvPr/>
        </p:nvSpPr>
        <p:spPr>
          <a:xfrm>
            <a:off x="6255868" y="1920240"/>
            <a:ext cx="246888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8D2F5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6351880" y="2325850"/>
            <a:ext cx="82296" cy="82296"/>
          </a:xfrm>
          <a:prstGeom prst="ellipse">
            <a:avLst/>
          </a:prstGeom>
          <a:solidFill>
            <a:srgbClr val="685F8F"/>
          </a:solidFill>
          <a:ln/>
        </p:spPr>
      </p:sp>
      <p:sp>
        <p:nvSpPr>
          <p:cNvPr id="50" name="Shape 47"/>
          <p:cNvSpPr/>
          <p:nvPr/>
        </p:nvSpPr>
        <p:spPr>
          <a:xfrm>
            <a:off x="6480971" y="2901951"/>
            <a:ext cx="82296" cy="82296"/>
          </a:xfrm>
          <a:prstGeom prst="ellipse">
            <a:avLst/>
          </a:prstGeom>
          <a:solidFill>
            <a:srgbClr val="685F8F"/>
          </a:solidFill>
          <a:ln/>
        </p:spPr>
      </p:sp>
      <p:sp>
        <p:nvSpPr>
          <p:cNvPr id="51" name="Shape 48"/>
          <p:cNvSpPr/>
          <p:nvPr/>
        </p:nvSpPr>
        <p:spPr>
          <a:xfrm>
            <a:off x="6610063" y="2383548"/>
            <a:ext cx="82296" cy="82296"/>
          </a:xfrm>
          <a:prstGeom prst="ellipse">
            <a:avLst/>
          </a:prstGeom>
          <a:solidFill>
            <a:srgbClr val="685F8F"/>
          </a:solidFill>
          <a:ln/>
        </p:spPr>
      </p:sp>
      <p:sp>
        <p:nvSpPr>
          <p:cNvPr id="52" name="Shape 49"/>
          <p:cNvSpPr/>
          <p:nvPr/>
        </p:nvSpPr>
        <p:spPr>
          <a:xfrm>
            <a:off x="6739155" y="2154099"/>
            <a:ext cx="82296" cy="82296"/>
          </a:xfrm>
          <a:prstGeom prst="ellipse">
            <a:avLst/>
          </a:prstGeom>
          <a:solidFill>
            <a:srgbClr val="685F8F"/>
          </a:solidFill>
          <a:ln/>
        </p:spPr>
      </p:sp>
      <p:sp>
        <p:nvSpPr>
          <p:cNvPr id="53" name="Shape 50"/>
          <p:cNvSpPr/>
          <p:nvPr/>
        </p:nvSpPr>
        <p:spPr>
          <a:xfrm>
            <a:off x="6868247" y="3475024"/>
            <a:ext cx="82296" cy="82296"/>
          </a:xfrm>
          <a:prstGeom prst="ellipse">
            <a:avLst/>
          </a:prstGeom>
          <a:solidFill>
            <a:srgbClr val="685F8F"/>
          </a:solidFill>
          <a:ln/>
        </p:spPr>
      </p:sp>
      <p:sp>
        <p:nvSpPr>
          <p:cNvPr id="54" name="Shape 51"/>
          <p:cNvSpPr/>
          <p:nvPr/>
        </p:nvSpPr>
        <p:spPr>
          <a:xfrm>
            <a:off x="6997338" y="2742691"/>
            <a:ext cx="82296" cy="82296"/>
          </a:xfrm>
          <a:prstGeom prst="ellipse">
            <a:avLst/>
          </a:prstGeom>
          <a:solidFill>
            <a:srgbClr val="685F8F"/>
          </a:solidFill>
          <a:ln/>
        </p:spPr>
      </p:sp>
      <p:sp>
        <p:nvSpPr>
          <p:cNvPr id="55" name="Shape 52"/>
          <p:cNvSpPr/>
          <p:nvPr/>
        </p:nvSpPr>
        <p:spPr>
          <a:xfrm>
            <a:off x="7126430" y="2474050"/>
            <a:ext cx="82296" cy="82296"/>
          </a:xfrm>
          <a:prstGeom prst="ellipse">
            <a:avLst/>
          </a:prstGeom>
          <a:solidFill>
            <a:srgbClr val="685F8F"/>
          </a:solidFill>
          <a:ln/>
        </p:spPr>
      </p:sp>
      <p:sp>
        <p:nvSpPr>
          <p:cNvPr id="56" name="Shape 53"/>
          <p:cNvSpPr/>
          <p:nvPr/>
        </p:nvSpPr>
        <p:spPr>
          <a:xfrm>
            <a:off x="7255522" y="3532275"/>
            <a:ext cx="82296" cy="82296"/>
          </a:xfrm>
          <a:prstGeom prst="ellipse">
            <a:avLst/>
          </a:prstGeom>
          <a:solidFill>
            <a:srgbClr val="685F8F"/>
          </a:solidFill>
          <a:ln/>
        </p:spPr>
      </p:sp>
      <p:sp>
        <p:nvSpPr>
          <p:cNvPr id="57" name="Shape 54"/>
          <p:cNvSpPr/>
          <p:nvPr/>
        </p:nvSpPr>
        <p:spPr>
          <a:xfrm>
            <a:off x="7384614" y="2411589"/>
            <a:ext cx="82296" cy="82296"/>
          </a:xfrm>
          <a:prstGeom prst="ellipse">
            <a:avLst/>
          </a:prstGeom>
          <a:solidFill>
            <a:srgbClr val="685F8F"/>
          </a:solidFill>
          <a:ln/>
        </p:spPr>
      </p:sp>
      <p:sp>
        <p:nvSpPr>
          <p:cNvPr id="58" name="Shape 55"/>
          <p:cNvSpPr/>
          <p:nvPr/>
        </p:nvSpPr>
        <p:spPr>
          <a:xfrm>
            <a:off x="7513705" y="3210920"/>
            <a:ext cx="82296" cy="82296"/>
          </a:xfrm>
          <a:prstGeom prst="ellipse">
            <a:avLst/>
          </a:prstGeom>
          <a:solidFill>
            <a:srgbClr val="685F8F"/>
          </a:solidFill>
          <a:ln/>
        </p:spPr>
      </p:sp>
      <p:sp>
        <p:nvSpPr>
          <p:cNvPr id="59" name="Shape 56"/>
          <p:cNvSpPr/>
          <p:nvPr/>
        </p:nvSpPr>
        <p:spPr>
          <a:xfrm>
            <a:off x="7642797" y="3284744"/>
            <a:ext cx="82296" cy="82296"/>
          </a:xfrm>
          <a:prstGeom prst="ellipse">
            <a:avLst/>
          </a:prstGeom>
          <a:solidFill>
            <a:srgbClr val="685F8F"/>
          </a:solidFill>
          <a:ln/>
        </p:spPr>
      </p:sp>
      <p:sp>
        <p:nvSpPr>
          <p:cNvPr id="60" name="Shape 57"/>
          <p:cNvSpPr/>
          <p:nvPr/>
        </p:nvSpPr>
        <p:spPr>
          <a:xfrm>
            <a:off x="7771889" y="2701199"/>
            <a:ext cx="82296" cy="82296"/>
          </a:xfrm>
          <a:prstGeom prst="ellipse">
            <a:avLst/>
          </a:prstGeom>
          <a:solidFill>
            <a:srgbClr val="685F8F"/>
          </a:solidFill>
          <a:ln/>
        </p:spPr>
      </p:sp>
      <p:sp>
        <p:nvSpPr>
          <p:cNvPr id="61" name="Shape 58"/>
          <p:cNvSpPr/>
          <p:nvPr/>
        </p:nvSpPr>
        <p:spPr>
          <a:xfrm>
            <a:off x="7900981" y="2800463"/>
            <a:ext cx="82296" cy="82296"/>
          </a:xfrm>
          <a:prstGeom prst="ellipse">
            <a:avLst/>
          </a:prstGeom>
          <a:solidFill>
            <a:srgbClr val="685F8F"/>
          </a:solidFill>
          <a:ln/>
        </p:spPr>
      </p:sp>
      <p:sp>
        <p:nvSpPr>
          <p:cNvPr id="62" name="Shape 59"/>
          <p:cNvSpPr/>
          <p:nvPr/>
        </p:nvSpPr>
        <p:spPr>
          <a:xfrm>
            <a:off x="8030073" y="3458302"/>
            <a:ext cx="82296" cy="82296"/>
          </a:xfrm>
          <a:prstGeom prst="ellipse">
            <a:avLst/>
          </a:prstGeom>
          <a:solidFill>
            <a:srgbClr val="685F8F"/>
          </a:solidFill>
          <a:ln/>
        </p:spPr>
      </p:sp>
      <p:sp>
        <p:nvSpPr>
          <p:cNvPr id="63" name="Shape 60"/>
          <p:cNvSpPr/>
          <p:nvPr/>
        </p:nvSpPr>
        <p:spPr>
          <a:xfrm>
            <a:off x="8159164" y="2459827"/>
            <a:ext cx="82296" cy="82296"/>
          </a:xfrm>
          <a:prstGeom prst="ellipse">
            <a:avLst/>
          </a:prstGeom>
          <a:solidFill>
            <a:srgbClr val="685F8F"/>
          </a:solidFill>
          <a:ln/>
        </p:spPr>
      </p:sp>
      <p:sp>
        <p:nvSpPr>
          <p:cNvPr id="64" name="Shape 61"/>
          <p:cNvSpPr/>
          <p:nvPr/>
        </p:nvSpPr>
        <p:spPr>
          <a:xfrm>
            <a:off x="8288256" y="3497693"/>
            <a:ext cx="82296" cy="82296"/>
          </a:xfrm>
          <a:prstGeom prst="ellipse">
            <a:avLst/>
          </a:prstGeom>
          <a:solidFill>
            <a:srgbClr val="685F8F"/>
          </a:solidFill>
          <a:ln/>
        </p:spPr>
      </p:sp>
      <p:sp>
        <p:nvSpPr>
          <p:cNvPr id="65" name="Shape 62"/>
          <p:cNvSpPr/>
          <p:nvPr/>
        </p:nvSpPr>
        <p:spPr>
          <a:xfrm>
            <a:off x="8417348" y="2121237"/>
            <a:ext cx="82296" cy="82296"/>
          </a:xfrm>
          <a:prstGeom prst="ellipse">
            <a:avLst/>
          </a:prstGeom>
          <a:solidFill>
            <a:srgbClr val="685F8F"/>
          </a:solidFill>
          <a:ln/>
        </p:spPr>
      </p:sp>
      <p:sp>
        <p:nvSpPr>
          <p:cNvPr id="66" name="Shape 63"/>
          <p:cNvSpPr/>
          <p:nvPr/>
        </p:nvSpPr>
        <p:spPr>
          <a:xfrm>
            <a:off x="8546440" y="2277895"/>
            <a:ext cx="82296" cy="82296"/>
          </a:xfrm>
          <a:prstGeom prst="ellipse">
            <a:avLst/>
          </a:prstGeom>
          <a:solidFill>
            <a:srgbClr val="685F8F"/>
          </a:solidFill>
          <a:ln/>
        </p:spPr>
      </p:sp>
      <p:sp>
        <p:nvSpPr>
          <p:cNvPr id="67" name="Text 64"/>
          <p:cNvSpPr/>
          <p:nvPr/>
        </p:nvSpPr>
        <p:spPr>
          <a:xfrm>
            <a:off x="6255868" y="39136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 Correlation</a:t>
            </a:r>
            <a:endParaRPr lang="en-US" sz="1200" dirty="0"/>
          </a:p>
        </p:txBody>
      </p:sp>
      <p:sp>
        <p:nvSpPr>
          <p:cNvPr id="68" name="Text 65"/>
          <p:cNvSpPr/>
          <p:nvPr/>
        </p:nvSpPr>
        <p:spPr>
          <a:xfrm>
            <a:off x="6255868" y="41879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85F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≈ 0.00</a:t>
            </a:r>
            <a:endParaRPr lang="en-US" sz="1100" dirty="0"/>
          </a:p>
        </p:txBody>
      </p:sp>
      <p:sp>
        <p:nvSpPr>
          <p:cNvPr id="69" name="Shape 66"/>
          <p:cNvSpPr/>
          <p:nvPr/>
        </p:nvSpPr>
        <p:spPr>
          <a:xfrm>
            <a:off x="9044788" y="1920240"/>
            <a:ext cx="246888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8D2F5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9140800" y="2029644"/>
            <a:ext cx="82296" cy="82296"/>
          </a:xfrm>
          <a:prstGeom prst="ellipse">
            <a:avLst/>
          </a:prstGeom>
          <a:solidFill>
            <a:srgbClr val="FF8FB3"/>
          </a:solidFill>
          <a:ln/>
        </p:spPr>
      </p:sp>
      <p:sp>
        <p:nvSpPr>
          <p:cNvPr id="71" name="Shape 68"/>
          <p:cNvSpPr/>
          <p:nvPr/>
        </p:nvSpPr>
        <p:spPr>
          <a:xfrm>
            <a:off x="9269891" y="2065545"/>
            <a:ext cx="82296" cy="82296"/>
          </a:xfrm>
          <a:prstGeom prst="ellipse">
            <a:avLst/>
          </a:prstGeom>
          <a:solidFill>
            <a:srgbClr val="FF8FB3"/>
          </a:solidFill>
          <a:ln/>
        </p:spPr>
      </p:sp>
      <p:sp>
        <p:nvSpPr>
          <p:cNvPr id="72" name="Shape 69"/>
          <p:cNvSpPr/>
          <p:nvPr/>
        </p:nvSpPr>
        <p:spPr>
          <a:xfrm>
            <a:off x="9398983" y="2151736"/>
            <a:ext cx="82296" cy="82296"/>
          </a:xfrm>
          <a:prstGeom prst="ellipse">
            <a:avLst/>
          </a:prstGeom>
          <a:solidFill>
            <a:srgbClr val="FF8FB3"/>
          </a:solidFill>
          <a:ln/>
        </p:spPr>
      </p:sp>
      <p:sp>
        <p:nvSpPr>
          <p:cNvPr id="73" name="Shape 70"/>
          <p:cNvSpPr/>
          <p:nvPr/>
        </p:nvSpPr>
        <p:spPr>
          <a:xfrm>
            <a:off x="9528075" y="2362274"/>
            <a:ext cx="82296" cy="82296"/>
          </a:xfrm>
          <a:prstGeom prst="ellipse">
            <a:avLst/>
          </a:prstGeom>
          <a:solidFill>
            <a:srgbClr val="FF8FB3"/>
          </a:solidFill>
          <a:ln/>
        </p:spPr>
      </p:sp>
      <p:sp>
        <p:nvSpPr>
          <p:cNvPr id="74" name="Shape 71"/>
          <p:cNvSpPr/>
          <p:nvPr/>
        </p:nvSpPr>
        <p:spPr>
          <a:xfrm>
            <a:off x="9657167" y="2385867"/>
            <a:ext cx="82296" cy="82296"/>
          </a:xfrm>
          <a:prstGeom prst="ellipse">
            <a:avLst/>
          </a:prstGeom>
          <a:solidFill>
            <a:srgbClr val="FF8FB3"/>
          </a:solidFill>
          <a:ln/>
        </p:spPr>
      </p:sp>
      <p:sp>
        <p:nvSpPr>
          <p:cNvPr id="75" name="Shape 72"/>
          <p:cNvSpPr/>
          <p:nvPr/>
        </p:nvSpPr>
        <p:spPr>
          <a:xfrm>
            <a:off x="9786258" y="2548047"/>
            <a:ext cx="82296" cy="82296"/>
          </a:xfrm>
          <a:prstGeom prst="ellipse">
            <a:avLst/>
          </a:prstGeom>
          <a:solidFill>
            <a:srgbClr val="FF8FB3"/>
          </a:solidFill>
          <a:ln/>
        </p:spPr>
      </p:sp>
      <p:sp>
        <p:nvSpPr>
          <p:cNvPr id="76" name="Shape 73"/>
          <p:cNvSpPr/>
          <p:nvPr/>
        </p:nvSpPr>
        <p:spPr>
          <a:xfrm>
            <a:off x="9915350" y="2650676"/>
            <a:ext cx="82296" cy="82296"/>
          </a:xfrm>
          <a:prstGeom prst="ellipse">
            <a:avLst/>
          </a:prstGeom>
          <a:solidFill>
            <a:srgbClr val="FF8FB3"/>
          </a:solidFill>
          <a:ln/>
        </p:spPr>
      </p:sp>
      <p:sp>
        <p:nvSpPr>
          <p:cNvPr id="77" name="Shape 74"/>
          <p:cNvSpPr/>
          <p:nvPr/>
        </p:nvSpPr>
        <p:spPr>
          <a:xfrm>
            <a:off x="10044442" y="2644460"/>
            <a:ext cx="82296" cy="82296"/>
          </a:xfrm>
          <a:prstGeom prst="ellipse">
            <a:avLst/>
          </a:prstGeom>
          <a:solidFill>
            <a:srgbClr val="FF8FB3"/>
          </a:solidFill>
          <a:ln/>
        </p:spPr>
      </p:sp>
      <p:sp>
        <p:nvSpPr>
          <p:cNvPr id="78" name="Shape 75"/>
          <p:cNvSpPr/>
          <p:nvPr/>
        </p:nvSpPr>
        <p:spPr>
          <a:xfrm>
            <a:off x="10173534" y="2805170"/>
            <a:ext cx="82296" cy="82296"/>
          </a:xfrm>
          <a:prstGeom prst="ellipse">
            <a:avLst/>
          </a:prstGeom>
          <a:solidFill>
            <a:srgbClr val="FF8FB3"/>
          </a:solidFill>
          <a:ln/>
        </p:spPr>
      </p:sp>
      <p:sp>
        <p:nvSpPr>
          <p:cNvPr id="79" name="Shape 76"/>
          <p:cNvSpPr/>
          <p:nvPr/>
        </p:nvSpPr>
        <p:spPr>
          <a:xfrm>
            <a:off x="10302625" y="2865390"/>
            <a:ext cx="82296" cy="82296"/>
          </a:xfrm>
          <a:prstGeom prst="ellipse">
            <a:avLst/>
          </a:prstGeom>
          <a:solidFill>
            <a:srgbClr val="FF8FB3"/>
          </a:solidFill>
          <a:ln/>
        </p:spPr>
      </p:sp>
      <p:sp>
        <p:nvSpPr>
          <p:cNvPr id="80" name="Shape 77"/>
          <p:cNvSpPr/>
          <p:nvPr/>
        </p:nvSpPr>
        <p:spPr>
          <a:xfrm>
            <a:off x="10431717" y="2941549"/>
            <a:ext cx="82296" cy="82296"/>
          </a:xfrm>
          <a:prstGeom prst="ellipse">
            <a:avLst/>
          </a:prstGeom>
          <a:solidFill>
            <a:srgbClr val="FF8FB3"/>
          </a:solidFill>
          <a:ln/>
        </p:spPr>
      </p:sp>
      <p:sp>
        <p:nvSpPr>
          <p:cNvPr id="81" name="Shape 78"/>
          <p:cNvSpPr/>
          <p:nvPr/>
        </p:nvSpPr>
        <p:spPr>
          <a:xfrm>
            <a:off x="10560809" y="3027812"/>
            <a:ext cx="82296" cy="82296"/>
          </a:xfrm>
          <a:prstGeom prst="ellipse">
            <a:avLst/>
          </a:prstGeom>
          <a:solidFill>
            <a:srgbClr val="FF8FB3"/>
          </a:solidFill>
          <a:ln/>
        </p:spPr>
      </p:sp>
      <p:sp>
        <p:nvSpPr>
          <p:cNvPr id="82" name="Shape 79"/>
          <p:cNvSpPr/>
          <p:nvPr/>
        </p:nvSpPr>
        <p:spPr>
          <a:xfrm>
            <a:off x="10689901" y="3202839"/>
            <a:ext cx="82296" cy="82296"/>
          </a:xfrm>
          <a:prstGeom prst="ellipse">
            <a:avLst/>
          </a:prstGeom>
          <a:solidFill>
            <a:srgbClr val="FF8FB3"/>
          </a:solidFill>
          <a:ln/>
        </p:spPr>
      </p:sp>
      <p:sp>
        <p:nvSpPr>
          <p:cNvPr id="83" name="Shape 80"/>
          <p:cNvSpPr/>
          <p:nvPr/>
        </p:nvSpPr>
        <p:spPr>
          <a:xfrm>
            <a:off x="10818993" y="3285197"/>
            <a:ext cx="82296" cy="82296"/>
          </a:xfrm>
          <a:prstGeom prst="ellipse">
            <a:avLst/>
          </a:prstGeom>
          <a:solidFill>
            <a:srgbClr val="FF8FB3"/>
          </a:solidFill>
          <a:ln/>
        </p:spPr>
      </p:sp>
      <p:sp>
        <p:nvSpPr>
          <p:cNvPr id="84" name="Shape 81"/>
          <p:cNvSpPr/>
          <p:nvPr/>
        </p:nvSpPr>
        <p:spPr>
          <a:xfrm>
            <a:off x="10948084" y="3424815"/>
            <a:ext cx="82296" cy="82296"/>
          </a:xfrm>
          <a:prstGeom prst="ellipse">
            <a:avLst/>
          </a:prstGeom>
          <a:solidFill>
            <a:srgbClr val="FF8FB3"/>
          </a:solidFill>
          <a:ln/>
        </p:spPr>
      </p:sp>
      <p:sp>
        <p:nvSpPr>
          <p:cNvPr id="85" name="Shape 82"/>
          <p:cNvSpPr/>
          <p:nvPr/>
        </p:nvSpPr>
        <p:spPr>
          <a:xfrm>
            <a:off x="11077176" y="3463226"/>
            <a:ext cx="82296" cy="82296"/>
          </a:xfrm>
          <a:prstGeom prst="ellipse">
            <a:avLst/>
          </a:prstGeom>
          <a:solidFill>
            <a:srgbClr val="FF8FB3"/>
          </a:solidFill>
          <a:ln/>
        </p:spPr>
      </p:sp>
      <p:sp>
        <p:nvSpPr>
          <p:cNvPr id="86" name="Shape 83"/>
          <p:cNvSpPr/>
          <p:nvPr/>
        </p:nvSpPr>
        <p:spPr>
          <a:xfrm>
            <a:off x="11206268" y="3576847"/>
            <a:ext cx="82296" cy="82296"/>
          </a:xfrm>
          <a:prstGeom prst="ellipse">
            <a:avLst/>
          </a:prstGeom>
          <a:solidFill>
            <a:srgbClr val="FF8FB3"/>
          </a:solidFill>
          <a:ln/>
        </p:spPr>
      </p:sp>
      <p:sp>
        <p:nvSpPr>
          <p:cNvPr id="87" name="Shape 84"/>
          <p:cNvSpPr/>
          <p:nvPr/>
        </p:nvSpPr>
        <p:spPr>
          <a:xfrm>
            <a:off x="11335360" y="3606502"/>
            <a:ext cx="82296" cy="82296"/>
          </a:xfrm>
          <a:prstGeom prst="ellipse">
            <a:avLst/>
          </a:prstGeom>
          <a:solidFill>
            <a:srgbClr val="FF8FB3"/>
          </a:solidFill>
          <a:ln/>
        </p:spPr>
      </p:sp>
      <p:sp>
        <p:nvSpPr>
          <p:cNvPr id="88" name="Text 85"/>
          <p:cNvSpPr/>
          <p:nvPr/>
        </p:nvSpPr>
        <p:spPr>
          <a:xfrm>
            <a:off x="9044788" y="39136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Strong Negative</a:t>
            </a:r>
            <a:endParaRPr lang="en-US" sz="1200" dirty="0"/>
          </a:p>
        </p:txBody>
      </p:sp>
      <p:sp>
        <p:nvSpPr>
          <p:cNvPr id="89" name="Text 86"/>
          <p:cNvSpPr/>
          <p:nvPr/>
        </p:nvSpPr>
        <p:spPr>
          <a:xfrm>
            <a:off x="9044788" y="41879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85F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≈ −0.92</a:t>
            </a:r>
            <a:endParaRPr lang="en-US" sz="1100" dirty="0"/>
          </a:p>
        </p:txBody>
      </p:sp>
      <p:sp>
        <p:nvSpPr>
          <p:cNvPr id="90" name="Shape 87"/>
          <p:cNvSpPr/>
          <p:nvPr/>
        </p:nvSpPr>
        <p:spPr>
          <a:xfrm>
            <a:off x="548640" y="4892040"/>
            <a:ext cx="11091672" cy="1234440"/>
          </a:xfrm>
          <a:prstGeom prst="roundRect">
            <a:avLst>
              <a:gd name="adj" fmla="val 8889"/>
            </a:avLst>
          </a:prstGeom>
          <a:solidFill>
            <a:srgbClr val="EDE9FE"/>
          </a:solidFill>
          <a:ln w="12700">
            <a:solidFill>
              <a:srgbClr val="D8D2F5"/>
            </a:solidFill>
            <a:prstDash val="solid"/>
          </a:ln>
        </p:spPr>
      </p:sp>
      <p:sp>
        <p:nvSpPr>
          <p:cNvPr id="91" name="Text 88"/>
          <p:cNvSpPr/>
          <p:nvPr/>
        </p:nvSpPr>
        <p:spPr>
          <a:xfrm>
            <a:off x="822960" y="4892040"/>
            <a:ext cx="1054303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ranges from −1 to +1.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sign tells you the direction (do they rise together, or does one fall as the other rises?). The magnitude — how close to ±1 — tells you how tightly the points hug a straight line. Near 0 means no meaningful straight-line relationship, not necessarily "no relationship at all."</a:t>
            </a:r>
            <a:endParaRPr lang="en-US" sz="1250" dirty="0"/>
          </a:p>
        </p:txBody>
      </p:sp>
      <p:sp>
        <p:nvSpPr>
          <p:cNvPr id="92" name="Text 89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CodeByPaxto: The AI &amp; ML Playground  ·  Hafiz Waseem Ahmed (Paxto)</a:t>
            </a:r>
            <a:endParaRPr lang="en-US" sz="950" dirty="0"/>
          </a:p>
        </p:txBody>
      </p:sp>
      <p:sp>
        <p:nvSpPr>
          <p:cNvPr id="93" name="Text 90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8B7FE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Correlation ≠ Causation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9050">
            <a:solidFill>
              <a:srgbClr val="D8D2F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554480"/>
            <a:ext cx="3657600" cy="4663440"/>
          </a:xfrm>
          <a:prstGeom prst="roundRect">
            <a:avLst>
              <a:gd name="adj" fmla="val 4500"/>
            </a:avLst>
          </a:prstGeom>
          <a:solidFill>
            <a:srgbClr val="EDE9FE"/>
          </a:solidFill>
          <a:ln w="12700">
            <a:solidFill>
              <a:srgbClr val="D8D2F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508760" y="2194560"/>
            <a:ext cx="1554480" cy="1554480"/>
          </a:xfrm>
          <a:prstGeom prst="ellipse">
            <a:avLst/>
          </a:prstGeom>
          <a:solidFill>
            <a:srgbClr val="FF8FB3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6504" y="2423160"/>
            <a:ext cx="1088136" cy="10881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397764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Moving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together,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not causing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4572000" y="1737360"/>
            <a:ext cx="71323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variables can correlate strongly without either one causing the other at all — this is one of the most important cautions in all of statistics</a:t>
            </a:r>
            <a:endParaRPr lang="en-US" sz="1600" dirty="0"/>
          </a:p>
          <a:p>
            <a:pPr marL="228600" indent="-2286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example: ice cream sales and drowning incidents both rise together in summer — neither causes the other. A third factor, hot weather, drives both</a:t>
            </a:r>
            <a:endParaRPr lang="en-US" sz="1600" dirty="0"/>
          </a:p>
          <a:p>
            <a:pPr marL="228600" indent="-2286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strong correlation is a genuinely useful signal to investigate further — it’s just never, on its own, proof of a cause-and-effect relationship</a:t>
            </a:r>
            <a:endParaRPr lang="en-US" sz="1600" dirty="0"/>
          </a:p>
          <a:p>
            <a:pPr marL="228600" indent="-2286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Proving causation requires a controlled experiment, or careful methods specifically designed to rule out other explanations — far beyond what a correlation coefficient alone can tell you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CodeByPaxto: The AI &amp; ML Playground  ·  Hafiz Waseem Ahmed (Paxto)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8B7FE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Practice Set — Correlation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9050">
            <a:solidFill>
              <a:srgbClr val="D8D2F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600200"/>
            <a:ext cx="11274552" cy="4480560"/>
          </a:xfrm>
          <a:prstGeom prst="roundRect">
            <a:avLst>
              <a:gd name="adj" fmla="val 3673"/>
            </a:avLst>
          </a:prstGeom>
          <a:solidFill>
            <a:srgbClr val="EDE9FE"/>
          </a:solidFill>
          <a:ln w="12700">
            <a:solidFill>
              <a:srgbClr val="D8D2F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Try these yourself first — that's the point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22960" y="2423160"/>
            <a:ext cx="384048" cy="384048"/>
          </a:xfrm>
          <a:prstGeom prst="ellipse">
            <a:avLst/>
          </a:prstGeom>
          <a:solidFill>
            <a:srgbClr val="8B7FE8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2423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435608" y="2423160"/>
            <a:ext cx="9582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dataset shows r = 0.85 between hours studied and exam score. Describe the direction and strength of this relationship in plain English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22960" y="3300984"/>
            <a:ext cx="384048" cy="384048"/>
          </a:xfrm>
          <a:prstGeom prst="ellipse">
            <a:avLst/>
          </a:prstGeom>
          <a:solidFill>
            <a:srgbClr val="8B7FE8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3300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35608" y="3300984"/>
            <a:ext cx="9582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 real headline claiming one thing "causes" another, and explain whether the evidence described is actually causal or just correlational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22960" y="4178808"/>
            <a:ext cx="384048" cy="384048"/>
          </a:xfrm>
          <a:prstGeom prst="ellipse">
            <a:avLst/>
          </a:prstGeom>
          <a:solidFill>
            <a:srgbClr val="8B7FE8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" y="4178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35608" y="4178808"/>
            <a:ext cx="9582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r = 0.05 between two variables doesn’t necessarily mean they’re unrelated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822960" y="5056632"/>
            <a:ext cx="384048" cy="384048"/>
          </a:xfrm>
          <a:prstGeom prst="ellipse">
            <a:avLst/>
          </a:prstGeom>
          <a:solidFill>
            <a:srgbClr val="8B7FE8"/>
          </a:solidFill>
          <a:ln/>
        </p:spPr>
      </p:sp>
      <p:sp>
        <p:nvSpPr>
          <p:cNvPr id="18" name="Text 15"/>
          <p:cNvSpPr/>
          <p:nvPr/>
        </p:nvSpPr>
        <p:spPr>
          <a:xfrm>
            <a:off x="822960" y="5056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35608" y="5056632"/>
            <a:ext cx="9582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 a plausible hidden third factor for a correlation between "number of firefighters at a fire" and "amount of damage caused"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CodeByPaxto: The AI &amp; ML Playground  ·  Hafiz Waseem Ahmed (Paxto)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8B7FE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Value Ranges at a Glance — Spread Measures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9050">
            <a:solidFill>
              <a:srgbClr val="D8D2F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508760"/>
            <a:ext cx="2654046" cy="4892040"/>
          </a:xfrm>
          <a:prstGeom prst="roundRect">
            <a:avLst>
              <a:gd name="adj" fmla="val 5512"/>
            </a:avLst>
          </a:prstGeom>
          <a:solidFill>
            <a:srgbClr val="EDE9FE"/>
          </a:solidFill>
          <a:ln w="12700">
            <a:solidFill>
              <a:srgbClr val="D8D2F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509903" y="2093976"/>
            <a:ext cx="548640" cy="548640"/>
          </a:xfrm>
          <a:prstGeom prst="ellipse">
            <a:avLst/>
          </a:prstGeom>
          <a:solidFill>
            <a:srgbClr val="8B7FE8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2199" y="2176272"/>
            <a:ext cx="384048" cy="3840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8640" y="2715768"/>
            <a:ext cx="24711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Range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603504" y="3099816"/>
            <a:ext cx="236143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to +∞. Always non-negative — the distance between two values can’t be negative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3330702" y="1508760"/>
            <a:ext cx="2654046" cy="4892040"/>
          </a:xfrm>
          <a:prstGeom prst="roundRect">
            <a:avLst>
              <a:gd name="adj" fmla="val 5512"/>
            </a:avLst>
          </a:prstGeom>
          <a:solidFill>
            <a:srgbClr val="FFF6DC"/>
          </a:solidFill>
          <a:ln w="12700">
            <a:solidFill>
              <a:srgbClr val="D8D2F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383405" y="2093976"/>
            <a:ext cx="548640" cy="548640"/>
          </a:xfrm>
          <a:prstGeom prst="ellipse">
            <a:avLst/>
          </a:prstGeom>
          <a:solidFill>
            <a:srgbClr val="FFC94A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5701" y="2176272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22142" y="2715768"/>
            <a:ext cx="24711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Variance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3477006" y="3099816"/>
            <a:ext cx="236143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to +∞. Always non-negative — every deviation is squared before averaging, so it can never go below 0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204204" y="1508760"/>
            <a:ext cx="2654046" cy="4892040"/>
          </a:xfrm>
          <a:prstGeom prst="roundRect">
            <a:avLst>
              <a:gd name="adj" fmla="val 5512"/>
            </a:avLst>
          </a:prstGeom>
          <a:solidFill>
            <a:srgbClr val="E3FBF3"/>
          </a:solidFill>
          <a:ln w="12700">
            <a:solidFill>
              <a:srgbClr val="D8D2F5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7256907" y="2093976"/>
            <a:ext cx="548640" cy="548640"/>
          </a:xfrm>
          <a:prstGeom prst="ellipse">
            <a:avLst/>
          </a:prstGeom>
          <a:solidFill>
            <a:srgbClr val="5FD6B0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9203" y="2176272"/>
            <a:ext cx="384048" cy="38404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295644" y="2715768"/>
            <a:ext cx="24711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Standard Deviation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6350508" y="3099816"/>
            <a:ext cx="236143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to +∞. Always non-negative — the square root of variance is never negative. Exactly 0 means every value is identical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9077706" y="1508760"/>
            <a:ext cx="2654046" cy="4892040"/>
          </a:xfrm>
          <a:prstGeom prst="roundRect">
            <a:avLst>
              <a:gd name="adj" fmla="val 5512"/>
            </a:avLst>
          </a:prstGeom>
          <a:solidFill>
            <a:srgbClr val="EDE9FE"/>
          </a:solidFill>
          <a:ln w="12700">
            <a:solidFill>
              <a:srgbClr val="D8D2F5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10130409" y="2093976"/>
            <a:ext cx="548640" cy="548640"/>
          </a:xfrm>
          <a:prstGeom prst="ellipse">
            <a:avLst/>
          </a:prstGeom>
          <a:solidFill>
            <a:srgbClr val="FF8FB3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12705" y="2176272"/>
            <a:ext cx="384048" cy="38404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169146" y="2715768"/>
            <a:ext cx="24711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Standard Error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9224010" y="3099816"/>
            <a:ext cx="236143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to +∞. Always non-negative — shrinks toward 0 as sample size grows, but never becomes negative</a:t>
            </a:r>
            <a:endParaRPr lang="en-US" sz="1100" dirty="0"/>
          </a:p>
        </p:txBody>
      </p:sp>
      <p:sp>
        <p:nvSpPr>
          <p:cNvPr id="26" name="Text 19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CodeByPaxto: The AI &amp; ML Playground  ·  Hafiz Waseem Ahmed (Paxto)</a:t>
            </a:r>
            <a:endParaRPr lang="en-US" sz="950" dirty="0"/>
          </a:p>
        </p:txBody>
      </p:sp>
      <p:sp>
        <p:nvSpPr>
          <p:cNvPr id="27" name="Text 20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8B7FE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Value Ranges at a Glance — Position &amp; Relationship Measures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9050">
            <a:solidFill>
              <a:srgbClr val="D8D2F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508760"/>
            <a:ext cx="2654046" cy="4892040"/>
          </a:xfrm>
          <a:prstGeom prst="roundRect">
            <a:avLst>
              <a:gd name="adj" fmla="val 5512"/>
            </a:avLst>
          </a:prstGeom>
          <a:solidFill>
            <a:srgbClr val="EDE9FE"/>
          </a:solidFill>
          <a:ln w="12700">
            <a:solidFill>
              <a:srgbClr val="D8D2F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509903" y="2093976"/>
            <a:ext cx="548640" cy="548640"/>
          </a:xfrm>
          <a:prstGeom prst="ellipse">
            <a:avLst/>
          </a:prstGeom>
          <a:solidFill>
            <a:srgbClr val="8B7FE8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2199" y="2176272"/>
            <a:ext cx="384048" cy="3840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8640" y="2715768"/>
            <a:ext cx="24711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Z-Score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603504" y="3099816"/>
            <a:ext cx="236143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−∞ to +∞. In practice, almost always falls between −3 and +3 for real data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3330702" y="1508760"/>
            <a:ext cx="2654046" cy="4892040"/>
          </a:xfrm>
          <a:prstGeom prst="roundRect">
            <a:avLst>
              <a:gd name="adj" fmla="val 5512"/>
            </a:avLst>
          </a:prstGeom>
          <a:solidFill>
            <a:srgbClr val="FFF6DC"/>
          </a:solidFill>
          <a:ln w="12700">
            <a:solidFill>
              <a:srgbClr val="D8D2F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383405" y="2093976"/>
            <a:ext cx="548640" cy="548640"/>
          </a:xfrm>
          <a:prstGeom prst="ellipse">
            <a:avLst/>
          </a:prstGeom>
          <a:solidFill>
            <a:srgbClr val="FFC94A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5701" y="2176272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22142" y="2715768"/>
            <a:ext cx="24711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Correlation (r)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3477006" y="3099816"/>
            <a:ext cx="236143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 to +1 exactly. −1 and +1 are perfect relationships; 0 means no linear relationship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204204" y="1508760"/>
            <a:ext cx="2654046" cy="4892040"/>
          </a:xfrm>
          <a:prstGeom prst="roundRect">
            <a:avLst>
              <a:gd name="adj" fmla="val 5512"/>
            </a:avLst>
          </a:prstGeom>
          <a:solidFill>
            <a:srgbClr val="E3FBF3"/>
          </a:solidFill>
          <a:ln w="12700">
            <a:solidFill>
              <a:srgbClr val="D8D2F5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7256907" y="2093976"/>
            <a:ext cx="548640" cy="548640"/>
          </a:xfrm>
          <a:prstGeom prst="ellipse">
            <a:avLst/>
          </a:prstGeom>
          <a:solidFill>
            <a:srgbClr val="5FD6B0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9203" y="2176272"/>
            <a:ext cx="384048" cy="38404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295644" y="2715768"/>
            <a:ext cx="24711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Skewness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6350508" y="3099816"/>
            <a:ext cx="236143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Unbounded in theory, but real data usually falls roughly between −3 and +3. 0 means symmetric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9077706" y="1508760"/>
            <a:ext cx="2654046" cy="4892040"/>
          </a:xfrm>
          <a:prstGeom prst="roundRect">
            <a:avLst>
              <a:gd name="adj" fmla="val 5512"/>
            </a:avLst>
          </a:prstGeom>
          <a:solidFill>
            <a:srgbClr val="EDE9FE"/>
          </a:solidFill>
          <a:ln w="12700">
            <a:solidFill>
              <a:srgbClr val="D8D2F5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10130409" y="2093976"/>
            <a:ext cx="548640" cy="548640"/>
          </a:xfrm>
          <a:prstGeom prst="ellipse">
            <a:avLst/>
          </a:prstGeom>
          <a:solidFill>
            <a:srgbClr val="FF8FB3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12705" y="2176272"/>
            <a:ext cx="384048" cy="38404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169146" y="2715768"/>
            <a:ext cx="24711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Kurtosis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9224010" y="3099816"/>
            <a:ext cx="236143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Unbounded in theory. "Excess kurtosis" is centered at 0 for a perfectly normal distribution</a:t>
            </a:r>
            <a:endParaRPr lang="en-US" sz="1100" dirty="0"/>
          </a:p>
        </p:txBody>
      </p:sp>
      <p:sp>
        <p:nvSpPr>
          <p:cNvPr id="26" name="Text 19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CodeByPaxto: The AI &amp; ML Playground  ·  Hafiz Waseem Ahmed (Paxto)</a:t>
            </a:r>
            <a:endParaRPr lang="en-US" sz="950" dirty="0"/>
          </a:p>
        </p:txBody>
      </p:sp>
      <p:sp>
        <p:nvSpPr>
          <p:cNvPr id="27" name="Text 20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8B7FE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Where This Is Headed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9050">
            <a:solidFill>
              <a:srgbClr val="D8D2F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554480"/>
            <a:ext cx="3657600" cy="4663440"/>
          </a:xfrm>
          <a:prstGeom prst="roundRect">
            <a:avLst>
              <a:gd name="adj" fmla="val 4500"/>
            </a:avLst>
          </a:prstGeom>
          <a:solidFill>
            <a:srgbClr val="EDE9FE"/>
          </a:solidFill>
          <a:ln w="12700">
            <a:solidFill>
              <a:srgbClr val="D8D2F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508760" y="2194560"/>
            <a:ext cx="1554480" cy="1554480"/>
          </a:xfrm>
          <a:prstGeom prst="ellipse">
            <a:avLst/>
          </a:prstGeom>
          <a:solidFill>
            <a:srgbClr val="8B7FE8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6504" y="2423160"/>
            <a:ext cx="1088136" cy="10881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397764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Description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becomes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real test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4572000" y="1737360"/>
            <a:ext cx="71323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tool in this session — mean, standard deviation, z-score — was used to describe data you already fully have in front of you</a:t>
            </a:r>
            <a:endParaRPr lang="en-US" sz="1600" dirty="0"/>
          </a:p>
          <a:p>
            <a:pPr marL="228600" indent="-2286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soon, these exact same tools get reused for a very different job: deciding whether a difference you’ve observed in a SAMPLE is likely real in the full population, or just random noise</a:t>
            </a:r>
            <a:endParaRPr lang="en-US" sz="1600" dirty="0"/>
          </a:p>
          <a:p>
            <a:pPr marL="228600" indent="-2286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t-test, which you’ll meet properly in Session 22, is built almost entirely from a mean, a standard deviation, and a standard error — nothing you haven’t just learned</a:t>
            </a:r>
            <a:endParaRPr lang="en-US" sz="1600" dirty="0"/>
          </a:p>
          <a:p>
            <a:pPr marL="228600" indent="-2286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20 fills in exactly one missing piece first: probability — the language needed to say precisely what "likely real" and "just random noise" actually mean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CodeByPaxto: The AI &amp; ML Playground  ·  Hafiz Waseem Ahmed (Paxto)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D6B0"/>
                </a:solidFill>
              </a:rPr>
              <a:t>✦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247120" y="5486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FFC94A"/>
                </a:solidFill>
              </a:rPr>
              <a:t>✦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640080" y="61264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8FB3"/>
                </a:solidFill>
              </a:rPr>
              <a:t>✦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338560" y="6035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7FE8"/>
                </a:solidFill>
              </a:rPr>
              <a:t>✦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 rot="-90000">
            <a:off x="1874520" y="1325880"/>
            <a:ext cx="8805672" cy="777240"/>
          </a:xfrm>
          <a:prstGeom prst="roundRect">
            <a:avLst>
              <a:gd name="adj" fmla="val 17647"/>
            </a:avLst>
          </a:prstGeom>
          <a:solidFill>
            <a:srgbClr val="FFC94A"/>
          </a:solidFill>
          <a:ln/>
        </p:spPr>
      </p:sp>
      <p:sp>
        <p:nvSpPr>
          <p:cNvPr id="7" name="Shape 5"/>
          <p:cNvSpPr/>
          <p:nvPr/>
        </p:nvSpPr>
        <p:spPr>
          <a:xfrm>
            <a:off x="1691640" y="1188720"/>
            <a:ext cx="8805672" cy="777240"/>
          </a:xfrm>
          <a:prstGeom prst="roundRect">
            <a:avLst>
              <a:gd name="adj" fmla="val 17647"/>
            </a:avLst>
          </a:prstGeom>
          <a:solidFill>
            <a:srgbClr val="8B7FE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0448" y="134874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91640" y="1188720"/>
            <a:ext cx="8805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INDUSTRY-STYLE TASKS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97280" y="2331720"/>
            <a:ext cx="999439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Build the Toolkit Every Real Analysis Depends On</a:t>
            </a:r>
            <a:endParaRPr lang="en-US" sz="2900" dirty="0"/>
          </a:p>
        </p:txBody>
      </p:sp>
      <p:sp>
        <p:nvSpPr>
          <p:cNvPr id="11" name="Text 8"/>
          <p:cNvSpPr/>
          <p:nvPr/>
        </p:nvSpPr>
        <p:spPr>
          <a:xfrm>
            <a:off x="1737360" y="4434840"/>
            <a:ext cx="87142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abstract formula drills — spread, shape, and correlation are what turn a raw dataset into an honest, defensible description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8B7FE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Today's Tasks — Part A: Spread &amp; SD vs. SE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9050">
            <a:solidFill>
              <a:srgbClr val="D8D2F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600200"/>
            <a:ext cx="11274552" cy="4480560"/>
          </a:xfrm>
          <a:prstGeom prst="roundRect">
            <a:avLst>
              <a:gd name="adj" fmla="val 3673"/>
            </a:avLst>
          </a:prstGeom>
          <a:solidFill>
            <a:srgbClr val="FFF6DC"/>
          </a:solidFill>
          <a:ln w="12700">
            <a:solidFill>
              <a:srgbClr val="D8D2F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Small tasks — do them in order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22960" y="2423160"/>
            <a:ext cx="402336" cy="402336"/>
          </a:xfrm>
          <a:prstGeom prst="ellipse">
            <a:avLst/>
          </a:prstGeom>
          <a:solidFill>
            <a:srgbClr val="8B7FE8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2487168"/>
            <a:ext cx="283464" cy="28346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1371600" y="2441448"/>
            <a:ext cx="402336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8D2F5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1371600" y="2441448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5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920240" y="2423160"/>
            <a:ext cx="9509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the range, variance, and standard deviation of a real numerical column from a dataset of your choice.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822960" y="3593592"/>
            <a:ext cx="402336" cy="402336"/>
          </a:xfrm>
          <a:prstGeom prst="ellipse">
            <a:avLst/>
          </a:prstGeom>
          <a:solidFill>
            <a:srgbClr val="8B7FE8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3657600"/>
            <a:ext cx="283464" cy="283464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1371600" y="3611880"/>
            <a:ext cx="402336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8D2F5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1371600" y="3611880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5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1920240" y="3593592"/>
            <a:ext cx="9509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that same column, calculate the standard error assuming your data is a sample, and explain what it tells you that standard deviation doesn’t.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822960" y="4764024"/>
            <a:ext cx="402336" cy="402336"/>
          </a:xfrm>
          <a:prstGeom prst="ellipse">
            <a:avLst/>
          </a:prstGeom>
          <a:solidFill>
            <a:srgbClr val="8B7FE8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4828032"/>
            <a:ext cx="283464" cy="283464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1371600" y="4782312"/>
            <a:ext cx="402336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8D2F5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1371600" y="4782312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5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1920240" y="4764024"/>
            <a:ext cx="9509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Explain, using your own numbers, why quadrupling your sample size only halves your standard error rather than quartering it.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CodeByPaxto: The AI &amp; ML Playground  ·  Hafiz Waseem Ahmed (Paxto)</a:t>
            </a:r>
            <a:endParaRPr lang="en-US" sz="950" dirty="0"/>
          </a:p>
        </p:txBody>
      </p:sp>
      <p:sp>
        <p:nvSpPr>
          <p:cNvPr id="24" name="Text 1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8B7FE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Today's Tasks — Part B: Z-Scores &amp; Distribution Shape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9050">
            <a:solidFill>
              <a:srgbClr val="D8D2F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600200"/>
            <a:ext cx="11274552" cy="4480560"/>
          </a:xfrm>
          <a:prstGeom prst="roundRect">
            <a:avLst>
              <a:gd name="adj" fmla="val 3673"/>
            </a:avLst>
          </a:prstGeom>
          <a:solidFill>
            <a:srgbClr val="FFF6DC"/>
          </a:solidFill>
          <a:ln w="12700">
            <a:solidFill>
              <a:srgbClr val="D8D2F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Small tasks — do them in order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22960" y="2423160"/>
            <a:ext cx="402336" cy="402336"/>
          </a:xfrm>
          <a:prstGeom prst="ellipse">
            <a:avLst/>
          </a:prstGeom>
          <a:solidFill>
            <a:srgbClr val="8B7FE8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2487168"/>
            <a:ext cx="283464" cy="28346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1371600" y="2441448"/>
            <a:ext cx="402336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8D2F5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1371600" y="2441448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5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920240" y="2423160"/>
            <a:ext cx="9509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z-scores for the five highest and five lowest values in a real numerical column, and identify any that exceed ±2.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822960" y="3593592"/>
            <a:ext cx="402336" cy="402336"/>
          </a:xfrm>
          <a:prstGeom prst="ellipse">
            <a:avLst/>
          </a:prstGeom>
          <a:solidFill>
            <a:srgbClr val="8B7FE8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3657600"/>
            <a:ext cx="283464" cy="283464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1371600" y="3611880"/>
            <a:ext cx="402336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8D2F5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1371600" y="3611880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5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1920240" y="3593592"/>
            <a:ext cx="9509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a histogram of a real numerical column and describe its shape — symmetric, left-skewed, or right-skewed — and explain your reasoning.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822960" y="4764024"/>
            <a:ext cx="402336" cy="402336"/>
          </a:xfrm>
          <a:prstGeom prst="ellipse">
            <a:avLst/>
          </a:prstGeom>
          <a:solidFill>
            <a:srgbClr val="8B7FE8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4828032"/>
            <a:ext cx="283464" cy="283464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1371600" y="4782312"/>
            <a:ext cx="402336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8D2F5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1371600" y="4782312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5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1920240" y="4764024"/>
            <a:ext cx="9509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1.5×IQR rule to that same column and list any values it flags as outliers.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CodeByPaxto: The AI &amp; ML Playground  ·  Hafiz Waseem Ahmed (Paxto)</a:t>
            </a:r>
            <a:endParaRPr lang="en-US" sz="950" dirty="0"/>
          </a:p>
        </p:txBody>
      </p:sp>
      <p:sp>
        <p:nvSpPr>
          <p:cNvPr id="24" name="Text 1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8B7FE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Today's Tasks — Part C: Correlation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9050">
            <a:solidFill>
              <a:srgbClr val="D8D2F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600200"/>
            <a:ext cx="11274552" cy="4480560"/>
          </a:xfrm>
          <a:prstGeom prst="roundRect">
            <a:avLst>
              <a:gd name="adj" fmla="val 3673"/>
            </a:avLst>
          </a:prstGeom>
          <a:solidFill>
            <a:srgbClr val="FFF6DC"/>
          </a:solidFill>
          <a:ln w="12700">
            <a:solidFill>
              <a:srgbClr val="D8D2F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Small tasks — do them in order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22960" y="2423160"/>
            <a:ext cx="402336" cy="402336"/>
          </a:xfrm>
          <a:prstGeom prst="ellipse">
            <a:avLst/>
          </a:prstGeom>
          <a:solidFill>
            <a:srgbClr val="8B7FE8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2487168"/>
            <a:ext cx="283464" cy="28346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1371600" y="2441448"/>
            <a:ext cx="402336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8D2F5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1371600" y="2441448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5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920240" y="2423160"/>
            <a:ext cx="9509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two numerical columns from a real dataset and calculate their Pearson correlation coefficient.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822960" y="3593592"/>
            <a:ext cx="402336" cy="402336"/>
          </a:xfrm>
          <a:prstGeom prst="ellipse">
            <a:avLst/>
          </a:prstGeom>
          <a:solidFill>
            <a:srgbClr val="8B7FE8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3657600"/>
            <a:ext cx="283464" cy="283464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1371600" y="3611880"/>
            <a:ext cx="402336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8D2F5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1371600" y="3611880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5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1920240" y="3593592"/>
            <a:ext cx="9509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scatter plot of those two variables, and describe whether the visual matches what the coefficient suggested.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822960" y="4764024"/>
            <a:ext cx="402336" cy="402336"/>
          </a:xfrm>
          <a:prstGeom prst="ellipse">
            <a:avLst/>
          </a:prstGeom>
          <a:solidFill>
            <a:srgbClr val="8B7FE8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4828032"/>
            <a:ext cx="283464" cy="283464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1371600" y="4782312"/>
            <a:ext cx="402336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8D2F5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1371600" y="4782312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5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1920240" y="4764024"/>
            <a:ext cx="9509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 one plausible reason two variables might correlate without one causing the other, using your own chosen columns as the example.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CodeByPaxto: The AI &amp; ML Playground  ·  Hafiz Waseem Ahmed (Paxto)</a:t>
            </a:r>
            <a:endParaRPr lang="en-US" sz="950" dirty="0"/>
          </a:p>
        </p:txBody>
      </p:sp>
      <p:sp>
        <p:nvSpPr>
          <p:cNvPr id="24" name="Text 1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8B7FE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Today's Tasks — Part D: Applying Everything to Real Data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9050">
            <a:solidFill>
              <a:srgbClr val="D8D2F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600200"/>
            <a:ext cx="11274552" cy="4480560"/>
          </a:xfrm>
          <a:prstGeom prst="roundRect">
            <a:avLst>
              <a:gd name="adj" fmla="val 3673"/>
            </a:avLst>
          </a:prstGeom>
          <a:solidFill>
            <a:srgbClr val="FFF6DC"/>
          </a:solidFill>
          <a:ln w="12700">
            <a:solidFill>
              <a:srgbClr val="D8D2F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Small tasks — do them in order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22960" y="2423160"/>
            <a:ext cx="402336" cy="402336"/>
          </a:xfrm>
          <a:prstGeom prst="ellipse">
            <a:avLst/>
          </a:prstGeom>
          <a:solidFill>
            <a:srgbClr val="8B7FE8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2487168"/>
            <a:ext cx="283464" cy="28346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1371600" y="2441448"/>
            <a:ext cx="402336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8D2F5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1371600" y="2441448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5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920240" y="2423160"/>
            <a:ext cx="9509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full numerical column and report its mean, median, standard deviation, and shape (skew direction) in one short paragraph.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822960" y="3593592"/>
            <a:ext cx="402336" cy="402336"/>
          </a:xfrm>
          <a:prstGeom prst="ellipse">
            <a:avLst/>
          </a:prstGeom>
          <a:solidFill>
            <a:srgbClr val="8B7FE8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3657600"/>
            <a:ext cx="283464" cy="283464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1371600" y="3611880"/>
            <a:ext cx="402336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8D2F5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1371600" y="3611880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5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1920240" y="3593592"/>
            <a:ext cx="9509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one pair of columns worth checking for correlation, and explain why you suspect a relationship before calculating it.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822960" y="4764024"/>
            <a:ext cx="402336" cy="402336"/>
          </a:xfrm>
          <a:prstGeom prst="ellipse">
            <a:avLst/>
          </a:prstGeom>
          <a:solidFill>
            <a:srgbClr val="8B7FE8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4828032"/>
            <a:ext cx="283464" cy="283464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1371600" y="4782312"/>
            <a:ext cx="402336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8D2F5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1371600" y="4782312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5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1920240" y="4764024"/>
            <a:ext cx="9509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two-sentence "descriptive summary" of your dataset suitable for someone who has never seen it, using only what you learned in Sessions 18 and 19.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CodeByPaxto: The AI &amp; ML Playground  ·  Hafiz Waseem Ahmed (Paxto)</a:t>
            </a:r>
            <a:endParaRPr lang="en-US" sz="950" dirty="0"/>
          </a:p>
        </p:txBody>
      </p:sp>
      <p:sp>
        <p:nvSpPr>
          <p:cNvPr id="24" name="Text 1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D6B0"/>
                </a:solidFill>
              </a:rPr>
              <a:t>✦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247120" y="5486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FFC94A"/>
                </a:solidFill>
              </a:rPr>
              <a:t>✦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640080" y="61264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8FB3"/>
                </a:solidFill>
              </a:rPr>
              <a:t>✦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338560" y="6035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7FE8"/>
                </a:solidFill>
              </a:rPr>
              <a:t>✦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 rot="-90000">
            <a:off x="1874520" y="1325880"/>
            <a:ext cx="8805672" cy="777240"/>
          </a:xfrm>
          <a:prstGeom prst="roundRect">
            <a:avLst>
              <a:gd name="adj" fmla="val 17647"/>
            </a:avLst>
          </a:prstGeom>
          <a:solidFill>
            <a:srgbClr val="FFC94A"/>
          </a:solidFill>
          <a:ln/>
        </p:spPr>
      </p:sp>
      <p:sp>
        <p:nvSpPr>
          <p:cNvPr id="7" name="Shape 5"/>
          <p:cNvSpPr/>
          <p:nvPr/>
        </p:nvSpPr>
        <p:spPr>
          <a:xfrm>
            <a:off x="1691640" y="1188720"/>
            <a:ext cx="8805672" cy="777240"/>
          </a:xfrm>
          <a:prstGeom prst="roundRect">
            <a:avLst>
              <a:gd name="adj" fmla="val 17647"/>
            </a:avLst>
          </a:prstGeom>
          <a:solidFill>
            <a:srgbClr val="8B7FE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0448" y="134874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91640" y="1188720"/>
            <a:ext cx="8805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97280" y="2331720"/>
            <a:ext cx="999439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Put It All Together</a:t>
            </a:r>
            <a:endParaRPr lang="en-US" sz="2900" dirty="0"/>
          </a:p>
        </p:txBody>
      </p:sp>
      <p:sp>
        <p:nvSpPr>
          <p:cNvPr id="11" name="Text 8"/>
          <p:cNvSpPr/>
          <p:nvPr/>
        </p:nvSpPr>
        <p:spPr>
          <a:xfrm>
            <a:off x="1737360" y="4434840"/>
            <a:ext cx="87142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descriptive profile of a real dataset, spread and shape included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8B7FE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Mini Project: Full Descriptive Profile of a Real Dataset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9050">
            <a:solidFill>
              <a:srgbClr val="D8D2F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554480"/>
            <a:ext cx="3657600" cy="4663440"/>
          </a:xfrm>
          <a:prstGeom prst="roundRect">
            <a:avLst>
              <a:gd name="adj" fmla="val 4500"/>
            </a:avLst>
          </a:prstGeom>
          <a:solidFill>
            <a:srgbClr val="EDE9FE"/>
          </a:solidFill>
          <a:ln w="12700">
            <a:solidFill>
              <a:srgbClr val="D8D2F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508760" y="2194560"/>
            <a:ext cx="1554480" cy="1554480"/>
          </a:xfrm>
          <a:prstGeom prst="ellipse">
            <a:avLst/>
          </a:prstGeom>
          <a:solidFill>
            <a:srgbClr val="8B7FE8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6504" y="2423160"/>
            <a:ext cx="1088136" cy="10881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397764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Every skill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from today,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combined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4572000" y="1737360"/>
            <a:ext cx="71323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any real, numerical-heavy dataset, and for its key column calculate: range, variance, standard deviation, and standard error</a:t>
            </a:r>
            <a:endParaRPr lang="en-US" sz="1600" dirty="0"/>
          </a:p>
          <a:p>
            <a:pPr marL="228600" indent="-2286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column’s shape (symmetric or skewed), and flag any outliers using the 1.5×IQR rule</a:t>
            </a:r>
            <a:endParaRPr lang="en-US" sz="1600" dirty="0"/>
          </a:p>
          <a:p>
            <a:pPr marL="228600" indent="-2286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z-scores for at least three specific values, and explain in plain English how unusual each one really is</a:t>
            </a:r>
            <a:endParaRPr lang="en-US" sz="1600" dirty="0"/>
          </a:p>
          <a:p>
            <a:pPr marL="228600" indent="-2286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two numerical columns, calculate their correlation, and write a short, honest note on whether a real causal relationship seems plausible or unlikely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CodeByPaxto: The AI &amp; ML Playground  ·  Hafiz Waseem Ahmed (Paxto)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D6B0"/>
                </a:solidFill>
              </a:rPr>
              <a:t>✦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247120" y="5486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FFC94A"/>
                </a:solidFill>
              </a:rPr>
              <a:t>✦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640080" y="61264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8FB3"/>
                </a:solidFill>
              </a:rPr>
              <a:t>✦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338560" y="6035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7FE8"/>
                </a:solidFill>
              </a:rPr>
              <a:t>✦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 rot="-90000">
            <a:off x="1874520" y="1325880"/>
            <a:ext cx="8805672" cy="777240"/>
          </a:xfrm>
          <a:prstGeom prst="roundRect">
            <a:avLst>
              <a:gd name="adj" fmla="val 17647"/>
            </a:avLst>
          </a:prstGeom>
          <a:solidFill>
            <a:srgbClr val="FFC94A"/>
          </a:solidFill>
          <a:ln/>
        </p:spPr>
      </p:sp>
      <p:sp>
        <p:nvSpPr>
          <p:cNvPr id="7" name="Shape 5"/>
          <p:cNvSpPr/>
          <p:nvPr/>
        </p:nvSpPr>
        <p:spPr>
          <a:xfrm>
            <a:off x="1691640" y="1188720"/>
            <a:ext cx="8805672" cy="777240"/>
          </a:xfrm>
          <a:prstGeom prst="roundRect">
            <a:avLst>
              <a:gd name="adj" fmla="val 17647"/>
            </a:avLst>
          </a:prstGeom>
          <a:solidFill>
            <a:srgbClr val="8B7FE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0448" y="134874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91640" y="1188720"/>
            <a:ext cx="8805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97280" y="2331720"/>
            <a:ext cx="999439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mean alone is a rumor. Spread, shape, and correlation are what turn it into an honest description of your data.</a:t>
            </a:r>
            <a:endParaRPr lang="en-US" sz="2900" dirty="0"/>
          </a:p>
        </p:txBody>
      </p:sp>
      <p:sp>
        <p:nvSpPr>
          <p:cNvPr id="11" name="Text 8"/>
          <p:cNvSpPr/>
          <p:nvPr/>
        </p:nvSpPr>
        <p:spPr>
          <a:xfrm>
            <a:off x="1737360" y="4434840"/>
            <a:ext cx="87142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session: Probability — the language of uncertainty that inferential statistics is built on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47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2026-08-26T06:21:08Z</dcterms:created>
  <dcterms:modified xsi:type="dcterms:W3CDTF">2026-08-26T06:21:08Z</dcterms:modified>
</cp:coreProperties>
</file>