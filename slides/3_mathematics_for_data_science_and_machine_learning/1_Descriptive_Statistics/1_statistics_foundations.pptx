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notesMasterIdLst>
    <p:notesMasterId r:id="rId6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1.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1.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slideLayout" Target="../slideLayouts/slideLayout1.xml"/><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slideLayout" Target="../slideLayouts/slideLayout1.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slideLayout" Target="../slideLayouts/slideLayout1.xml"/><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slideLayout" Target="../slideLayouts/slideLayout1.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slideLayout" Target="../slideLayouts/slideLayout1.xml"/><Relationship Id="rId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slideLayout" Target="../slideLayouts/slideLayout1.xml"/><Relationship Id="rId5"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image" Target="../media/image-60-4.png"/><Relationship Id="rId5" Type="http://schemas.openxmlformats.org/officeDocument/2006/relationships/slideLayout" Target="../slideLayouts/slideLayout1.xml"/><Relationship Id="rId6"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image" Target="../media/image-61-4.png"/><Relationship Id="rId5" Type="http://schemas.openxmlformats.org/officeDocument/2006/relationships/slideLayout" Target="../slideLayouts/slideLayout1.xml"/><Relationship Id="rId6"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slideLayout" Target="../slideLayouts/slideLayout1.xml"/><Relationship Id="rId6"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5" Type="http://schemas.openxmlformats.org/officeDocument/2006/relationships/slideLayout" Target="../slideLayouts/slideLayout1.xml"/><Relationship Id="rId6"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slideLayout" Target="../slideLayouts/slideLayout1.xml"/><Relationship Id="rId6"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slideLayout" Target="../slideLayouts/slideLayout1.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F"/>
        </a:solidFill>
      </p:bgPr>
    </p:bg>
    <p:spTree>
      <p:nvGrpSpPr>
        <p:cNvPr id="1" name=""/>
        <p:cNvGrpSpPr/>
        <p:nvPr/>
      </p:nvGrpSpPr>
      <p:grpSpPr>
        <a:xfrm>
          <a:off x="0" y="0"/>
          <a:ext cx="0" cy="0"/>
          <a:chOff x="0" y="0"/>
          <a:chExt cx="0" cy="0"/>
        </a:xfrm>
      </p:grpSpPr>
      <p:sp>
        <p:nvSpPr>
          <p:cNvPr id="2" name="Text 0"/>
          <p:cNvSpPr/>
          <p:nvPr/>
        </p:nvSpPr>
        <p:spPr>
          <a:xfrm>
            <a:off x="457200" y="457200"/>
            <a:ext cx="274320" cy="274320"/>
          </a:xfrm>
          <a:prstGeom prst="rect">
            <a:avLst/>
          </a:prstGeom>
          <a:noFill/>
          <a:ln/>
        </p:spPr>
        <p:txBody>
          <a:bodyPr wrap="square" lIns="0" tIns="0" rIns="0" bIns="0" rtlCol="0" anchor="ctr"/>
          <a:lstStyle/>
          <a:p>
            <a:pPr algn="ctr" indent="0" marL="0">
              <a:buNone/>
            </a:pPr>
            <a:r>
              <a:rPr lang="en-US" sz="1200" dirty="0">
                <a:solidFill>
                  <a:srgbClr val="5FD6B0"/>
                </a:solidFill>
              </a:rPr>
              <a:t>✦</a:t>
            </a:r>
            <a:endParaRPr lang="en-US" sz="1200" dirty="0"/>
          </a:p>
        </p:txBody>
      </p:sp>
      <p:sp>
        <p:nvSpPr>
          <p:cNvPr id="3" name="Text 1"/>
          <p:cNvSpPr/>
          <p:nvPr/>
        </p:nvSpPr>
        <p:spPr>
          <a:xfrm>
            <a:off x="11247120" y="548640"/>
            <a:ext cx="201168" cy="201168"/>
          </a:xfrm>
          <a:prstGeom prst="rect">
            <a:avLst/>
          </a:prstGeom>
          <a:noFill/>
          <a:ln/>
        </p:spPr>
        <p:txBody>
          <a:bodyPr wrap="square" lIns="0" tIns="0" rIns="0" bIns="0" rtlCol="0" anchor="ctr"/>
          <a:lstStyle/>
          <a:p>
            <a:pPr algn="ctr" indent="0" marL="0">
              <a:buNone/>
            </a:pPr>
            <a:r>
              <a:rPr lang="en-US" sz="880" dirty="0">
                <a:solidFill>
                  <a:srgbClr val="FFC94A"/>
                </a:solidFill>
              </a:rPr>
              <a:t>✦</a:t>
            </a:r>
            <a:endParaRPr lang="en-US" sz="880" dirty="0"/>
          </a:p>
        </p:txBody>
      </p:sp>
      <p:sp>
        <p:nvSpPr>
          <p:cNvPr id="4" name="Text 2"/>
          <p:cNvSpPr/>
          <p:nvPr/>
        </p:nvSpPr>
        <p:spPr>
          <a:xfrm>
            <a:off x="640080" y="6126480"/>
            <a:ext cx="228600" cy="228600"/>
          </a:xfrm>
          <a:prstGeom prst="rect">
            <a:avLst/>
          </a:prstGeom>
          <a:noFill/>
          <a:ln/>
        </p:spPr>
        <p:txBody>
          <a:bodyPr wrap="square" lIns="0" tIns="0" rIns="0" bIns="0" rtlCol="0" anchor="ctr"/>
          <a:lstStyle/>
          <a:p>
            <a:pPr algn="ctr" indent="0" marL="0">
              <a:buNone/>
            </a:pPr>
            <a:r>
              <a:rPr lang="en-US" sz="1000" dirty="0">
                <a:solidFill>
                  <a:srgbClr val="FF8FB3"/>
                </a:solidFill>
              </a:rPr>
              <a:t>✦</a:t>
            </a:r>
            <a:endParaRPr lang="en-US" sz="1000" dirty="0"/>
          </a:p>
        </p:txBody>
      </p:sp>
      <p:sp>
        <p:nvSpPr>
          <p:cNvPr id="5" name="Text 3"/>
          <p:cNvSpPr/>
          <p:nvPr/>
        </p:nvSpPr>
        <p:spPr>
          <a:xfrm>
            <a:off x="11338560" y="6035040"/>
            <a:ext cx="274320" cy="274320"/>
          </a:xfrm>
          <a:prstGeom prst="rect">
            <a:avLst/>
          </a:prstGeom>
          <a:noFill/>
          <a:ln/>
        </p:spPr>
        <p:txBody>
          <a:bodyPr wrap="square" lIns="0" tIns="0" rIns="0" bIns="0" rtlCol="0" anchor="ctr"/>
          <a:lstStyle/>
          <a:p>
            <a:pPr algn="ctr" indent="0" marL="0">
              <a:buNone/>
            </a:pPr>
            <a:r>
              <a:rPr lang="en-US" sz="1200" dirty="0">
                <a:solidFill>
                  <a:srgbClr val="8B7FE8"/>
                </a:solidFill>
              </a:rPr>
              <a:t>✦</a:t>
            </a:r>
            <a:endParaRPr lang="en-US" sz="1200" dirty="0"/>
          </a:p>
        </p:txBody>
      </p:sp>
      <p:sp>
        <p:nvSpPr>
          <p:cNvPr id="6" name="Shape 4"/>
          <p:cNvSpPr/>
          <p:nvPr/>
        </p:nvSpPr>
        <p:spPr>
          <a:xfrm rot="-120000">
            <a:off x="1234440" y="1691640"/>
            <a:ext cx="9720072" cy="3520440"/>
          </a:xfrm>
          <a:prstGeom prst="roundRect">
            <a:avLst>
              <a:gd name="adj" fmla="val 5195"/>
            </a:avLst>
          </a:prstGeom>
          <a:solidFill>
            <a:srgbClr val="FFC94A"/>
          </a:solidFill>
          <a:ln/>
        </p:spPr>
      </p:sp>
      <p:sp>
        <p:nvSpPr>
          <p:cNvPr id="7" name="Shape 5"/>
          <p:cNvSpPr/>
          <p:nvPr/>
        </p:nvSpPr>
        <p:spPr>
          <a:xfrm>
            <a:off x="1051560" y="1508760"/>
            <a:ext cx="9720072" cy="3520440"/>
          </a:xfrm>
          <a:prstGeom prst="roundRect">
            <a:avLst>
              <a:gd name="adj" fmla="val 5195"/>
            </a:avLst>
          </a:prstGeom>
          <a:solidFill>
            <a:srgbClr val="8B7FE8"/>
          </a:solidFill>
          <a:ln/>
        </p:spPr>
      </p:sp>
      <p:sp>
        <p:nvSpPr>
          <p:cNvPr id="8" name="Shape 6"/>
          <p:cNvSpPr/>
          <p:nvPr/>
        </p:nvSpPr>
        <p:spPr>
          <a:xfrm>
            <a:off x="5367528" y="1874520"/>
            <a:ext cx="1097280" cy="1097280"/>
          </a:xfrm>
          <a:prstGeom prst="ellipse">
            <a:avLst/>
          </a:prstGeom>
          <a:solidFill>
            <a:srgbClr val="FFFFFF"/>
          </a:solidFill>
          <a:ln/>
        </p:spPr>
      </p:sp>
      <p:pic>
        <p:nvPicPr>
          <p:cNvPr id="9" name="Image 0" descr="preencoded.png">    </p:cNvPr>
          <p:cNvPicPr>
            <a:picLocks noChangeAspect="1"/>
          </p:cNvPicPr>
          <p:nvPr/>
        </p:nvPicPr>
        <p:blipFill>
          <a:blip r:embed="rId1"/>
          <a:stretch>
            <a:fillRect/>
          </a:stretch>
        </p:blipFill>
        <p:spPr>
          <a:xfrm>
            <a:off x="5541264" y="2048256"/>
            <a:ext cx="749808" cy="749808"/>
          </a:xfrm>
          <a:prstGeom prst="rect">
            <a:avLst/>
          </a:prstGeom>
        </p:spPr>
      </p:pic>
      <p:sp>
        <p:nvSpPr>
          <p:cNvPr id="10" name="Text 7"/>
          <p:cNvSpPr/>
          <p:nvPr/>
        </p:nvSpPr>
        <p:spPr>
          <a:xfrm>
            <a:off x="1508760" y="2880360"/>
            <a:ext cx="8805672" cy="1005840"/>
          </a:xfrm>
          <a:prstGeom prst="rect">
            <a:avLst/>
          </a:prstGeom>
          <a:noFill/>
          <a:ln/>
        </p:spPr>
        <p:txBody>
          <a:bodyPr wrap="square" lIns="0" tIns="0" rIns="0" bIns="0" rtlCol="0" anchor="ctr"/>
          <a:lstStyle/>
          <a:p>
            <a:pPr algn="ctr" indent="0" marL="0">
              <a:buNone/>
            </a:pPr>
            <a:r>
              <a:rPr lang="en-US" sz="3200" b="1" dirty="0">
                <a:solidFill>
                  <a:srgbClr val="FFFFFF"/>
                </a:solidFill>
                <a:latin typeface="Century Gothic" pitchFamily="34" charset="0"/>
                <a:ea typeface="Century Gothic" pitchFamily="34" charset="-122"/>
                <a:cs typeface="Century Gothic" pitchFamily="34" charset="-120"/>
              </a:rPr>
              <a:t>Statistics Foundations</a:t>
            </a:r>
            <a:endParaRPr lang="en-US" sz="3200" dirty="0"/>
          </a:p>
        </p:txBody>
      </p:sp>
      <p:sp>
        <p:nvSpPr>
          <p:cNvPr id="11" name="Text 8"/>
          <p:cNvSpPr/>
          <p:nvPr/>
        </p:nvSpPr>
        <p:spPr>
          <a:xfrm>
            <a:off x="1508760" y="3794760"/>
            <a:ext cx="8805672" cy="548640"/>
          </a:xfrm>
          <a:prstGeom prst="rect">
            <a:avLst/>
          </a:prstGeom>
          <a:noFill/>
          <a:ln/>
        </p:spPr>
        <p:txBody>
          <a:bodyPr wrap="square" lIns="0" tIns="0" rIns="0" bIns="0" rtlCol="0" anchor="ctr"/>
          <a:lstStyle/>
          <a:p>
            <a:pPr algn="ctr" indent="0" marL="0">
              <a:buNone/>
            </a:pPr>
            <a:r>
              <a:rPr lang="en-US" sz="1550" b="1" dirty="0">
                <a:solidFill>
                  <a:srgbClr val="FFF6DC"/>
                </a:solidFill>
                <a:latin typeface="Calibri" pitchFamily="34" charset="0"/>
                <a:ea typeface="Calibri" pitchFamily="34" charset="-122"/>
                <a:cs typeface="Calibri" pitchFamily="34" charset="-120"/>
              </a:rPr>
              <a:t>What Statistics Is, Data Types, Measurement Scales, Errors, Every Chart You Need &amp; Central Tendency</a:t>
            </a:r>
            <a:endParaRPr lang="en-US" sz="1550" dirty="0"/>
          </a:p>
        </p:txBody>
      </p:sp>
      <p:sp>
        <p:nvSpPr>
          <p:cNvPr id="12" name="Text 9"/>
          <p:cNvSpPr/>
          <p:nvPr/>
        </p:nvSpPr>
        <p:spPr>
          <a:xfrm>
            <a:off x="1508760" y="5394960"/>
            <a:ext cx="8805672" cy="365760"/>
          </a:xfrm>
          <a:prstGeom prst="rect">
            <a:avLst/>
          </a:prstGeom>
          <a:noFill/>
          <a:ln/>
        </p:spPr>
        <p:txBody>
          <a:bodyPr wrap="square" lIns="0" tIns="0" rIns="0" bIns="0" rtlCol="0" anchor="ctr"/>
          <a:lstStyle/>
          <a:p>
            <a:pPr algn="ctr" indent="0" marL="0">
              <a:buNone/>
            </a:pPr>
            <a:r>
              <a:rPr lang="en-US" sz="1300" b="1" dirty="0">
                <a:solidFill>
                  <a:srgbClr val="2D2A4A"/>
                </a:solidFill>
                <a:latin typeface="Calibri" pitchFamily="34" charset="0"/>
                <a:ea typeface="Calibri" pitchFamily="34" charset="-122"/>
                <a:cs typeface="Calibri" pitchFamily="34" charset="-120"/>
              </a:rPr>
              <a:t>Session 18</a:t>
            </a:r>
            <a:endParaRPr lang="en-US" sz="1300" dirty="0"/>
          </a:p>
        </p:txBody>
      </p:sp>
      <p:sp>
        <p:nvSpPr>
          <p:cNvPr id="13" name="Text 10"/>
          <p:cNvSpPr/>
          <p:nvPr/>
        </p:nvSpPr>
        <p:spPr>
          <a:xfrm>
            <a:off x="914400" y="5989320"/>
            <a:ext cx="10360152" cy="320040"/>
          </a:xfrm>
          <a:prstGeom prst="rect">
            <a:avLst/>
          </a:prstGeom>
          <a:noFill/>
          <a:ln/>
        </p:spPr>
        <p:txBody>
          <a:bodyPr wrap="square" lIns="0" tIns="0" rIns="0" bIns="0" rtlCol="0" anchor="ctr"/>
          <a:lstStyle/>
          <a:p>
            <a:pPr algn="ctr" indent="0" marL="0">
              <a:buNone/>
            </a:pPr>
            <a:r>
              <a:rPr lang="en-US" sz="1250" b="1" dirty="0">
                <a:solidFill>
                  <a:srgbClr val="2D2A4A"/>
                </a:solidFill>
                <a:latin typeface="Calibri" pitchFamily="34" charset="0"/>
                <a:ea typeface="Calibri" pitchFamily="34" charset="-122"/>
                <a:cs typeface="Calibri" pitchFamily="34" charset="-120"/>
              </a:rPr>
              <a:t>CodeByPaxto: The AI &amp; ML Playground</a:t>
            </a:r>
            <a:endParaRPr lang="en-US" sz="1250" dirty="0"/>
          </a:p>
        </p:txBody>
      </p:sp>
      <p:sp>
        <p:nvSpPr>
          <p:cNvPr id="14" name="Text 11"/>
          <p:cNvSpPr/>
          <p:nvPr/>
        </p:nvSpPr>
        <p:spPr>
          <a:xfrm>
            <a:off x="914400" y="6291072"/>
            <a:ext cx="10360152" cy="292608"/>
          </a:xfrm>
          <a:prstGeom prst="rect">
            <a:avLst/>
          </a:prstGeom>
          <a:noFill/>
          <a:ln/>
        </p:spPr>
        <p:txBody>
          <a:bodyPr wrap="square" lIns="0" tIns="0" rIns="0" bIns="0" rtlCol="0" anchor="ctr"/>
          <a:lstStyle/>
          <a:p>
            <a:pPr algn="ctr" indent="0" marL="0">
              <a:buNone/>
            </a:pPr>
            <a:r>
              <a:rPr lang="en-US" sz="1100" dirty="0">
                <a:solidFill>
                  <a:srgbClr val="685F8F"/>
                </a:solidFill>
                <a:latin typeface="Calibri" pitchFamily="34" charset="0"/>
                <a:ea typeface="Calibri" pitchFamily="34" charset="-122"/>
                <a:cs typeface="Calibri" pitchFamily="34" charset="-120"/>
              </a:rPr>
              <a:t>Hafiz Waseem Ahmed (Paxto)</a:t>
            </a:r>
            <a:endParaRPr lang="en-US" sz="1100" dirty="0"/>
          </a:p>
        </p:txBody>
      </p:sp>
      <p:sp>
        <p:nvSpPr>
          <p:cNvPr id="15" name="Text 12"/>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What We're Covering Today</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600200"/>
            <a:ext cx="11274552" cy="480060"/>
          </a:xfrm>
          <a:prstGeom prst="roundRect">
            <a:avLst>
              <a:gd name="adj" fmla="val 22857"/>
            </a:avLst>
          </a:prstGeom>
          <a:solidFill>
            <a:srgbClr val="EDE9FE"/>
          </a:solidFill>
          <a:ln w="12700">
            <a:solidFill>
              <a:srgbClr val="D8D2F5"/>
            </a:solidFill>
            <a:prstDash val="solid"/>
          </a:ln>
        </p:spPr>
      </p:sp>
      <p:sp>
        <p:nvSpPr>
          <p:cNvPr id="7" name="Shape 4"/>
          <p:cNvSpPr/>
          <p:nvPr/>
        </p:nvSpPr>
        <p:spPr>
          <a:xfrm>
            <a:off x="685800" y="1666494"/>
            <a:ext cx="347472" cy="347472"/>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758952" y="1739646"/>
            <a:ext cx="201168" cy="201168"/>
          </a:xfrm>
          <a:prstGeom prst="rect">
            <a:avLst/>
          </a:prstGeom>
        </p:spPr>
      </p:pic>
      <p:sp>
        <p:nvSpPr>
          <p:cNvPr id="9" name="Text 5"/>
          <p:cNvSpPr/>
          <p:nvPr/>
        </p:nvSpPr>
        <p:spPr>
          <a:xfrm>
            <a:off x="1234440" y="1600200"/>
            <a:ext cx="10241280" cy="480060"/>
          </a:xfrm>
          <a:prstGeom prst="rect">
            <a:avLst/>
          </a:prstGeom>
          <a:noFill/>
          <a:ln/>
        </p:spPr>
        <p:txBody>
          <a:bodyPr wrap="square" lIns="0" tIns="0" rIns="0" bIns="0" rtlCol="0" anchor="ctr"/>
          <a:lstStyle/>
          <a:p>
            <a:pPr indent="0" marL="0">
              <a:buNone/>
            </a:pPr>
            <a:r>
              <a:rPr lang="en-US" sz="1350" dirty="0">
                <a:solidFill>
                  <a:srgbClr val="2D2A4A"/>
                </a:solidFill>
                <a:latin typeface="Calibri" pitchFamily="34" charset="0"/>
                <a:ea typeface="Calibri" pitchFamily="34" charset="-122"/>
                <a:cs typeface="Calibri" pitchFamily="34" charset="-120"/>
              </a:rPr>
              <a:t>What statistics actually is, and the two types: descriptive vs. inferential</a:t>
            </a:r>
            <a:endParaRPr lang="en-US" sz="1350" dirty="0"/>
          </a:p>
        </p:txBody>
      </p:sp>
      <p:sp>
        <p:nvSpPr>
          <p:cNvPr id="10" name="Shape 6"/>
          <p:cNvSpPr/>
          <p:nvPr/>
        </p:nvSpPr>
        <p:spPr>
          <a:xfrm>
            <a:off x="457200" y="2171700"/>
            <a:ext cx="11274552" cy="480060"/>
          </a:xfrm>
          <a:prstGeom prst="roundRect">
            <a:avLst>
              <a:gd name="adj" fmla="val 22857"/>
            </a:avLst>
          </a:prstGeom>
          <a:solidFill>
            <a:srgbClr val="FFFFFF"/>
          </a:solidFill>
          <a:ln w="12700">
            <a:solidFill>
              <a:srgbClr val="D8D2F5"/>
            </a:solidFill>
            <a:prstDash val="solid"/>
          </a:ln>
        </p:spPr>
      </p:sp>
      <p:sp>
        <p:nvSpPr>
          <p:cNvPr id="11" name="Shape 7"/>
          <p:cNvSpPr/>
          <p:nvPr/>
        </p:nvSpPr>
        <p:spPr>
          <a:xfrm>
            <a:off x="685800" y="2237994"/>
            <a:ext cx="347472" cy="347472"/>
          </a:xfrm>
          <a:prstGeom prst="ellipse">
            <a:avLst/>
          </a:prstGeom>
          <a:solidFill>
            <a:srgbClr val="5FD6B0"/>
          </a:solidFill>
          <a:ln/>
        </p:spPr>
      </p:sp>
      <p:pic>
        <p:nvPicPr>
          <p:cNvPr id="12" name="Image 2" descr="preencoded.png">    </p:cNvPr>
          <p:cNvPicPr>
            <a:picLocks noChangeAspect="1"/>
          </p:cNvPicPr>
          <p:nvPr/>
        </p:nvPicPr>
        <p:blipFill>
          <a:blip r:embed="rId3"/>
          <a:stretch>
            <a:fillRect/>
          </a:stretch>
        </p:blipFill>
        <p:spPr>
          <a:xfrm>
            <a:off x="758952" y="2311146"/>
            <a:ext cx="201168" cy="201168"/>
          </a:xfrm>
          <a:prstGeom prst="rect">
            <a:avLst/>
          </a:prstGeom>
        </p:spPr>
      </p:pic>
      <p:sp>
        <p:nvSpPr>
          <p:cNvPr id="13" name="Text 8"/>
          <p:cNvSpPr/>
          <p:nvPr/>
        </p:nvSpPr>
        <p:spPr>
          <a:xfrm>
            <a:off x="1234440" y="2171700"/>
            <a:ext cx="10241280" cy="480060"/>
          </a:xfrm>
          <a:prstGeom prst="rect">
            <a:avLst/>
          </a:prstGeom>
          <a:noFill/>
          <a:ln/>
        </p:spPr>
        <p:txBody>
          <a:bodyPr wrap="square" lIns="0" tIns="0" rIns="0" bIns="0" rtlCol="0" anchor="ctr"/>
          <a:lstStyle/>
          <a:p>
            <a:pPr indent="0" marL="0">
              <a:buNone/>
            </a:pPr>
            <a:r>
              <a:rPr lang="en-US" sz="1350" dirty="0">
                <a:solidFill>
                  <a:srgbClr val="2D2A4A"/>
                </a:solidFill>
                <a:latin typeface="Calibri" pitchFamily="34" charset="0"/>
                <a:ea typeface="Calibri" pitchFamily="34" charset="-122"/>
                <a:cs typeface="Calibri" pitchFamily="34" charset="-120"/>
              </a:rPr>
              <a:t>Population vs. sample, and dependent vs. independent variables</a:t>
            </a:r>
            <a:endParaRPr lang="en-US" sz="1350" dirty="0"/>
          </a:p>
        </p:txBody>
      </p:sp>
      <p:sp>
        <p:nvSpPr>
          <p:cNvPr id="14" name="Shape 9"/>
          <p:cNvSpPr/>
          <p:nvPr/>
        </p:nvSpPr>
        <p:spPr>
          <a:xfrm>
            <a:off x="457200" y="2743200"/>
            <a:ext cx="11274552" cy="480060"/>
          </a:xfrm>
          <a:prstGeom prst="roundRect">
            <a:avLst>
              <a:gd name="adj" fmla="val 22857"/>
            </a:avLst>
          </a:prstGeom>
          <a:solidFill>
            <a:srgbClr val="EDE9FE"/>
          </a:solidFill>
          <a:ln w="12700">
            <a:solidFill>
              <a:srgbClr val="D8D2F5"/>
            </a:solidFill>
            <a:prstDash val="solid"/>
          </a:ln>
        </p:spPr>
      </p:sp>
      <p:sp>
        <p:nvSpPr>
          <p:cNvPr id="15" name="Shape 10"/>
          <p:cNvSpPr/>
          <p:nvPr/>
        </p:nvSpPr>
        <p:spPr>
          <a:xfrm>
            <a:off x="685800" y="2809494"/>
            <a:ext cx="347472" cy="347472"/>
          </a:xfrm>
          <a:prstGeom prst="ellipse">
            <a:avLst/>
          </a:prstGeom>
          <a:solidFill>
            <a:srgbClr val="FFC94A"/>
          </a:solidFill>
          <a:ln/>
        </p:spPr>
      </p:sp>
      <p:pic>
        <p:nvPicPr>
          <p:cNvPr id="16" name="Image 3" descr="preencoded.png">    </p:cNvPr>
          <p:cNvPicPr>
            <a:picLocks noChangeAspect="1"/>
          </p:cNvPicPr>
          <p:nvPr/>
        </p:nvPicPr>
        <p:blipFill>
          <a:blip r:embed="rId4"/>
          <a:stretch>
            <a:fillRect/>
          </a:stretch>
        </p:blipFill>
        <p:spPr>
          <a:xfrm>
            <a:off x="758952" y="2882646"/>
            <a:ext cx="201168" cy="201168"/>
          </a:xfrm>
          <a:prstGeom prst="rect">
            <a:avLst/>
          </a:prstGeom>
        </p:spPr>
      </p:pic>
      <p:sp>
        <p:nvSpPr>
          <p:cNvPr id="17" name="Text 11"/>
          <p:cNvSpPr/>
          <p:nvPr/>
        </p:nvSpPr>
        <p:spPr>
          <a:xfrm>
            <a:off x="1234440" y="2743200"/>
            <a:ext cx="10241280" cy="480060"/>
          </a:xfrm>
          <a:prstGeom prst="rect">
            <a:avLst/>
          </a:prstGeom>
          <a:noFill/>
          <a:ln/>
        </p:spPr>
        <p:txBody>
          <a:bodyPr wrap="square" lIns="0" tIns="0" rIns="0" bIns="0" rtlCol="0" anchor="ctr"/>
          <a:lstStyle/>
          <a:p>
            <a:pPr indent="0" marL="0">
              <a:buNone/>
            </a:pPr>
            <a:r>
              <a:rPr lang="en-US" sz="1350" dirty="0">
                <a:solidFill>
                  <a:srgbClr val="2D2A4A"/>
                </a:solidFill>
                <a:latin typeface="Calibri" pitchFamily="34" charset="0"/>
                <a:ea typeface="Calibri" pitchFamily="34" charset="-122"/>
                <a:cs typeface="Calibri" pitchFamily="34" charset="-120"/>
              </a:rPr>
              <a:t>Collecting &amp; measuring data — sources, sampling techniques, and reliability vs. validity</a:t>
            </a:r>
            <a:endParaRPr lang="en-US" sz="1350" dirty="0"/>
          </a:p>
        </p:txBody>
      </p:sp>
      <p:sp>
        <p:nvSpPr>
          <p:cNvPr id="18" name="Shape 12"/>
          <p:cNvSpPr/>
          <p:nvPr/>
        </p:nvSpPr>
        <p:spPr>
          <a:xfrm>
            <a:off x="457200" y="3314700"/>
            <a:ext cx="11274552" cy="480060"/>
          </a:xfrm>
          <a:prstGeom prst="roundRect">
            <a:avLst>
              <a:gd name="adj" fmla="val 22857"/>
            </a:avLst>
          </a:prstGeom>
          <a:solidFill>
            <a:srgbClr val="FFFFFF"/>
          </a:solidFill>
          <a:ln w="12700">
            <a:solidFill>
              <a:srgbClr val="D8D2F5"/>
            </a:solidFill>
            <a:prstDash val="solid"/>
          </a:ln>
        </p:spPr>
      </p:sp>
      <p:sp>
        <p:nvSpPr>
          <p:cNvPr id="19" name="Shape 13"/>
          <p:cNvSpPr/>
          <p:nvPr/>
        </p:nvSpPr>
        <p:spPr>
          <a:xfrm>
            <a:off x="685800" y="3380994"/>
            <a:ext cx="347472" cy="347472"/>
          </a:xfrm>
          <a:prstGeom prst="ellipse">
            <a:avLst/>
          </a:prstGeom>
          <a:solidFill>
            <a:srgbClr val="FF8FB3"/>
          </a:solidFill>
          <a:ln/>
        </p:spPr>
      </p:sp>
      <p:pic>
        <p:nvPicPr>
          <p:cNvPr id="20" name="Image 4" descr="preencoded.png">    </p:cNvPr>
          <p:cNvPicPr>
            <a:picLocks noChangeAspect="1"/>
          </p:cNvPicPr>
          <p:nvPr/>
        </p:nvPicPr>
        <p:blipFill>
          <a:blip r:embed="rId5"/>
          <a:stretch>
            <a:fillRect/>
          </a:stretch>
        </p:blipFill>
        <p:spPr>
          <a:xfrm>
            <a:off x="758952" y="3454146"/>
            <a:ext cx="201168" cy="201168"/>
          </a:xfrm>
          <a:prstGeom prst="rect">
            <a:avLst/>
          </a:prstGeom>
        </p:spPr>
      </p:pic>
      <p:sp>
        <p:nvSpPr>
          <p:cNvPr id="21" name="Text 14"/>
          <p:cNvSpPr/>
          <p:nvPr/>
        </p:nvSpPr>
        <p:spPr>
          <a:xfrm>
            <a:off x="1234440" y="3314700"/>
            <a:ext cx="10241280" cy="480060"/>
          </a:xfrm>
          <a:prstGeom prst="rect">
            <a:avLst/>
          </a:prstGeom>
          <a:noFill/>
          <a:ln/>
        </p:spPr>
        <p:txBody>
          <a:bodyPr wrap="square" lIns="0" tIns="0" rIns="0" bIns="0" rtlCol="0" anchor="ctr"/>
          <a:lstStyle/>
          <a:p>
            <a:pPr indent="0" marL="0">
              <a:buNone/>
            </a:pPr>
            <a:r>
              <a:rPr lang="en-US" sz="1350" dirty="0">
                <a:solidFill>
                  <a:srgbClr val="2D2A4A"/>
                </a:solidFill>
                <a:latin typeface="Calibri" pitchFamily="34" charset="0"/>
                <a:ea typeface="Calibri" pitchFamily="34" charset="-122"/>
                <a:cs typeface="Calibri" pitchFamily="34" charset="-120"/>
              </a:rPr>
              <a:t>Types of data and the four measurement scales — and where each is used</a:t>
            </a:r>
            <a:endParaRPr lang="en-US" sz="1350" dirty="0"/>
          </a:p>
        </p:txBody>
      </p:sp>
      <p:sp>
        <p:nvSpPr>
          <p:cNvPr id="22" name="Shape 15"/>
          <p:cNvSpPr/>
          <p:nvPr/>
        </p:nvSpPr>
        <p:spPr>
          <a:xfrm>
            <a:off x="457200" y="3886200"/>
            <a:ext cx="11274552" cy="480060"/>
          </a:xfrm>
          <a:prstGeom prst="roundRect">
            <a:avLst>
              <a:gd name="adj" fmla="val 22857"/>
            </a:avLst>
          </a:prstGeom>
          <a:solidFill>
            <a:srgbClr val="EDE9FE"/>
          </a:solidFill>
          <a:ln w="12700">
            <a:solidFill>
              <a:srgbClr val="D8D2F5"/>
            </a:solidFill>
            <a:prstDash val="solid"/>
          </a:ln>
        </p:spPr>
      </p:sp>
      <p:sp>
        <p:nvSpPr>
          <p:cNvPr id="23" name="Shape 16"/>
          <p:cNvSpPr/>
          <p:nvPr/>
        </p:nvSpPr>
        <p:spPr>
          <a:xfrm>
            <a:off x="685800" y="3952494"/>
            <a:ext cx="347472" cy="347472"/>
          </a:xfrm>
          <a:prstGeom prst="ellipse">
            <a:avLst/>
          </a:prstGeom>
          <a:solidFill>
            <a:srgbClr val="8B7FE8"/>
          </a:solidFill>
          <a:ln/>
        </p:spPr>
      </p:sp>
      <p:pic>
        <p:nvPicPr>
          <p:cNvPr id="24" name="Image 5" descr="preencoded.png">    </p:cNvPr>
          <p:cNvPicPr>
            <a:picLocks noChangeAspect="1"/>
          </p:cNvPicPr>
          <p:nvPr/>
        </p:nvPicPr>
        <p:blipFill>
          <a:blip r:embed="rId6"/>
          <a:stretch>
            <a:fillRect/>
          </a:stretch>
        </p:blipFill>
        <p:spPr>
          <a:xfrm>
            <a:off x="758952" y="4025646"/>
            <a:ext cx="201168" cy="201168"/>
          </a:xfrm>
          <a:prstGeom prst="rect">
            <a:avLst/>
          </a:prstGeom>
        </p:spPr>
      </p:pic>
      <p:sp>
        <p:nvSpPr>
          <p:cNvPr id="25" name="Text 17"/>
          <p:cNvSpPr/>
          <p:nvPr/>
        </p:nvSpPr>
        <p:spPr>
          <a:xfrm>
            <a:off x="1234440" y="3886200"/>
            <a:ext cx="10241280" cy="480060"/>
          </a:xfrm>
          <a:prstGeom prst="rect">
            <a:avLst/>
          </a:prstGeom>
          <a:noFill/>
          <a:ln/>
        </p:spPr>
        <p:txBody>
          <a:bodyPr wrap="square" lIns="0" tIns="0" rIns="0" bIns="0" rtlCol="0" anchor="ctr"/>
          <a:lstStyle/>
          <a:p>
            <a:pPr indent="0" marL="0">
              <a:buNone/>
            </a:pPr>
            <a:r>
              <a:rPr lang="en-US" sz="1350" dirty="0">
                <a:solidFill>
                  <a:srgbClr val="2D2A4A"/>
                </a:solidFill>
                <a:latin typeface="Calibri" pitchFamily="34" charset="0"/>
                <a:ea typeface="Calibri" pitchFamily="34" charset="-122"/>
                <a:cs typeface="Calibri" pitchFamily="34" charset="-120"/>
              </a:rPr>
              <a:t>Errors and bias in data — what’s random, what’s systematic, and how to reduce it</a:t>
            </a:r>
            <a:endParaRPr lang="en-US" sz="1350" dirty="0"/>
          </a:p>
        </p:txBody>
      </p:sp>
      <p:sp>
        <p:nvSpPr>
          <p:cNvPr id="26" name="Shape 18"/>
          <p:cNvSpPr/>
          <p:nvPr/>
        </p:nvSpPr>
        <p:spPr>
          <a:xfrm>
            <a:off x="457200" y="4457700"/>
            <a:ext cx="11274552" cy="480060"/>
          </a:xfrm>
          <a:prstGeom prst="roundRect">
            <a:avLst>
              <a:gd name="adj" fmla="val 22857"/>
            </a:avLst>
          </a:prstGeom>
          <a:solidFill>
            <a:srgbClr val="FFFFFF"/>
          </a:solidFill>
          <a:ln w="12700">
            <a:solidFill>
              <a:srgbClr val="D8D2F5"/>
            </a:solidFill>
            <a:prstDash val="solid"/>
          </a:ln>
        </p:spPr>
      </p:sp>
      <p:sp>
        <p:nvSpPr>
          <p:cNvPr id="27" name="Shape 19"/>
          <p:cNvSpPr/>
          <p:nvPr/>
        </p:nvSpPr>
        <p:spPr>
          <a:xfrm>
            <a:off x="685800" y="4523994"/>
            <a:ext cx="347472" cy="347472"/>
          </a:xfrm>
          <a:prstGeom prst="ellipse">
            <a:avLst/>
          </a:prstGeom>
          <a:solidFill>
            <a:srgbClr val="5FD6B0"/>
          </a:solidFill>
          <a:ln/>
        </p:spPr>
      </p:sp>
      <p:pic>
        <p:nvPicPr>
          <p:cNvPr id="28" name="Image 6" descr="preencoded.png">    </p:cNvPr>
          <p:cNvPicPr>
            <a:picLocks noChangeAspect="1"/>
          </p:cNvPicPr>
          <p:nvPr/>
        </p:nvPicPr>
        <p:blipFill>
          <a:blip r:embed="rId7"/>
          <a:stretch>
            <a:fillRect/>
          </a:stretch>
        </p:blipFill>
        <p:spPr>
          <a:xfrm>
            <a:off x="758952" y="4597146"/>
            <a:ext cx="201168" cy="201168"/>
          </a:xfrm>
          <a:prstGeom prst="rect">
            <a:avLst/>
          </a:prstGeom>
        </p:spPr>
      </p:pic>
      <p:sp>
        <p:nvSpPr>
          <p:cNvPr id="29" name="Text 20"/>
          <p:cNvSpPr/>
          <p:nvPr/>
        </p:nvSpPr>
        <p:spPr>
          <a:xfrm>
            <a:off x="1234440" y="4457700"/>
            <a:ext cx="10241280" cy="480060"/>
          </a:xfrm>
          <a:prstGeom prst="rect">
            <a:avLst/>
          </a:prstGeom>
          <a:noFill/>
          <a:ln/>
        </p:spPr>
        <p:txBody>
          <a:bodyPr wrap="square" lIns="0" tIns="0" rIns="0" bIns="0" rtlCol="0" anchor="ctr"/>
          <a:lstStyle/>
          <a:p>
            <a:pPr indent="0" marL="0">
              <a:buNone/>
            </a:pPr>
            <a:r>
              <a:rPr lang="en-US" sz="1350" dirty="0">
                <a:solidFill>
                  <a:srgbClr val="2D2A4A"/>
                </a:solidFill>
                <a:latin typeface="Calibri" pitchFamily="34" charset="0"/>
                <a:ea typeface="Calibri" pitchFamily="34" charset="-122"/>
                <a:cs typeface="Calibri" pitchFamily="34" charset="-120"/>
              </a:rPr>
              <a:t>The complete chart &amp; graph catalog — when to use each, and when not to</a:t>
            </a:r>
            <a:endParaRPr lang="en-US" sz="1350" dirty="0"/>
          </a:p>
        </p:txBody>
      </p:sp>
      <p:sp>
        <p:nvSpPr>
          <p:cNvPr id="30" name="Shape 21"/>
          <p:cNvSpPr/>
          <p:nvPr/>
        </p:nvSpPr>
        <p:spPr>
          <a:xfrm>
            <a:off x="457200" y="5029200"/>
            <a:ext cx="11274552" cy="480060"/>
          </a:xfrm>
          <a:prstGeom prst="roundRect">
            <a:avLst>
              <a:gd name="adj" fmla="val 22857"/>
            </a:avLst>
          </a:prstGeom>
          <a:solidFill>
            <a:srgbClr val="EDE9FE"/>
          </a:solidFill>
          <a:ln w="12700">
            <a:solidFill>
              <a:srgbClr val="D8D2F5"/>
            </a:solidFill>
            <a:prstDash val="solid"/>
          </a:ln>
        </p:spPr>
      </p:sp>
      <p:sp>
        <p:nvSpPr>
          <p:cNvPr id="31" name="Shape 22"/>
          <p:cNvSpPr/>
          <p:nvPr/>
        </p:nvSpPr>
        <p:spPr>
          <a:xfrm>
            <a:off x="685800" y="5095494"/>
            <a:ext cx="347472" cy="347472"/>
          </a:xfrm>
          <a:prstGeom prst="ellipse">
            <a:avLst/>
          </a:prstGeom>
          <a:solidFill>
            <a:srgbClr val="FFC94A"/>
          </a:solidFill>
          <a:ln/>
        </p:spPr>
      </p:sp>
      <p:pic>
        <p:nvPicPr>
          <p:cNvPr id="32" name="Image 7" descr="preencoded.png">    </p:cNvPr>
          <p:cNvPicPr>
            <a:picLocks noChangeAspect="1"/>
          </p:cNvPicPr>
          <p:nvPr/>
        </p:nvPicPr>
        <p:blipFill>
          <a:blip r:embed="rId8"/>
          <a:stretch>
            <a:fillRect/>
          </a:stretch>
        </p:blipFill>
        <p:spPr>
          <a:xfrm>
            <a:off x="758952" y="5168646"/>
            <a:ext cx="201168" cy="201168"/>
          </a:xfrm>
          <a:prstGeom prst="rect">
            <a:avLst/>
          </a:prstGeom>
        </p:spPr>
      </p:pic>
      <p:sp>
        <p:nvSpPr>
          <p:cNvPr id="33" name="Text 23"/>
          <p:cNvSpPr/>
          <p:nvPr/>
        </p:nvSpPr>
        <p:spPr>
          <a:xfrm>
            <a:off x="1234440" y="5029200"/>
            <a:ext cx="10241280" cy="480060"/>
          </a:xfrm>
          <a:prstGeom prst="rect">
            <a:avLst/>
          </a:prstGeom>
          <a:noFill/>
          <a:ln/>
        </p:spPr>
        <p:txBody>
          <a:bodyPr wrap="square" lIns="0" tIns="0" rIns="0" bIns="0" rtlCol="0" anchor="ctr"/>
          <a:lstStyle/>
          <a:p>
            <a:pPr indent="0" marL="0">
              <a:buNone/>
            </a:pPr>
            <a:r>
              <a:rPr lang="en-US" sz="1350" dirty="0">
                <a:solidFill>
                  <a:srgbClr val="2D2A4A"/>
                </a:solidFill>
                <a:latin typeface="Calibri" pitchFamily="34" charset="0"/>
                <a:ea typeface="Calibri" pitchFamily="34" charset="-122"/>
                <a:cs typeface="Calibri" pitchFamily="34" charset="-120"/>
              </a:rPr>
              <a:t>Measures of central tendency — mean, median, and mode</a:t>
            </a:r>
            <a:endParaRPr lang="en-US" sz="1350" dirty="0"/>
          </a:p>
        </p:txBody>
      </p:sp>
      <p:sp>
        <p:nvSpPr>
          <p:cNvPr id="34" name="Shape 24"/>
          <p:cNvSpPr/>
          <p:nvPr/>
        </p:nvSpPr>
        <p:spPr>
          <a:xfrm>
            <a:off x="457200" y="5600700"/>
            <a:ext cx="11274552" cy="480060"/>
          </a:xfrm>
          <a:prstGeom prst="roundRect">
            <a:avLst>
              <a:gd name="adj" fmla="val 22857"/>
            </a:avLst>
          </a:prstGeom>
          <a:solidFill>
            <a:srgbClr val="FFFFFF"/>
          </a:solidFill>
          <a:ln w="12700">
            <a:solidFill>
              <a:srgbClr val="D8D2F5"/>
            </a:solidFill>
            <a:prstDash val="solid"/>
          </a:ln>
        </p:spPr>
      </p:sp>
      <p:sp>
        <p:nvSpPr>
          <p:cNvPr id="35" name="Shape 25"/>
          <p:cNvSpPr/>
          <p:nvPr/>
        </p:nvSpPr>
        <p:spPr>
          <a:xfrm>
            <a:off x="685800" y="5666994"/>
            <a:ext cx="347472" cy="347472"/>
          </a:xfrm>
          <a:prstGeom prst="ellipse">
            <a:avLst/>
          </a:prstGeom>
          <a:solidFill>
            <a:srgbClr val="FF8FB3"/>
          </a:solidFill>
          <a:ln/>
        </p:spPr>
      </p:sp>
      <p:pic>
        <p:nvPicPr>
          <p:cNvPr id="36" name="Image 8" descr="preencoded.png">    </p:cNvPr>
          <p:cNvPicPr>
            <a:picLocks noChangeAspect="1"/>
          </p:cNvPicPr>
          <p:nvPr/>
        </p:nvPicPr>
        <p:blipFill>
          <a:blip r:embed="rId9"/>
          <a:stretch>
            <a:fillRect/>
          </a:stretch>
        </p:blipFill>
        <p:spPr>
          <a:xfrm>
            <a:off x="758952" y="5740146"/>
            <a:ext cx="201168" cy="201168"/>
          </a:xfrm>
          <a:prstGeom prst="rect">
            <a:avLst/>
          </a:prstGeom>
        </p:spPr>
      </p:pic>
      <p:sp>
        <p:nvSpPr>
          <p:cNvPr id="37" name="Text 26"/>
          <p:cNvSpPr/>
          <p:nvPr/>
        </p:nvSpPr>
        <p:spPr>
          <a:xfrm>
            <a:off x="1234440" y="5600700"/>
            <a:ext cx="10241280" cy="480060"/>
          </a:xfrm>
          <a:prstGeom prst="rect">
            <a:avLst/>
          </a:prstGeom>
          <a:noFill/>
          <a:ln/>
        </p:spPr>
        <p:txBody>
          <a:bodyPr wrap="square" lIns="0" tIns="0" rIns="0" bIns="0" rtlCol="0" anchor="ctr"/>
          <a:lstStyle/>
          <a:p>
            <a:pPr indent="0" marL="0">
              <a:buNone/>
            </a:pPr>
            <a:r>
              <a:rPr lang="en-US" sz="1350" dirty="0">
                <a:solidFill>
                  <a:srgbClr val="2D2A4A"/>
                </a:solidFill>
                <a:latin typeface="Calibri" pitchFamily="34" charset="0"/>
                <a:ea typeface="Calibri" pitchFamily="34" charset="-122"/>
                <a:cs typeface="Calibri" pitchFamily="34" charset="-120"/>
              </a:rPr>
              <a:t>Today's tasks and a mini project — profiling a real dataset</a:t>
            </a:r>
            <a:endParaRPr lang="en-US" sz="1350" dirty="0"/>
          </a:p>
        </p:txBody>
      </p:sp>
      <p:sp>
        <p:nvSpPr>
          <p:cNvPr id="38" name="Text 2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39" name="Text 2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F"/>
        </a:solidFill>
      </p:bgPr>
    </p:bg>
    <p:spTree>
      <p:nvGrpSpPr>
        <p:cNvPr id="1" name=""/>
        <p:cNvGrpSpPr/>
        <p:nvPr/>
      </p:nvGrpSpPr>
      <p:grpSpPr>
        <a:xfrm>
          <a:off x="0" y="0"/>
          <a:ext cx="0" cy="0"/>
          <a:chOff x="0" y="0"/>
          <a:chExt cx="0" cy="0"/>
        </a:xfrm>
      </p:grpSpPr>
      <p:sp>
        <p:nvSpPr>
          <p:cNvPr id="2" name="Text 0"/>
          <p:cNvSpPr/>
          <p:nvPr/>
        </p:nvSpPr>
        <p:spPr>
          <a:xfrm>
            <a:off x="457200" y="457200"/>
            <a:ext cx="274320" cy="274320"/>
          </a:xfrm>
          <a:prstGeom prst="rect">
            <a:avLst/>
          </a:prstGeom>
          <a:noFill/>
          <a:ln/>
        </p:spPr>
        <p:txBody>
          <a:bodyPr wrap="square" lIns="0" tIns="0" rIns="0" bIns="0" rtlCol="0" anchor="ctr"/>
          <a:lstStyle/>
          <a:p>
            <a:pPr algn="ctr" indent="0" marL="0">
              <a:buNone/>
            </a:pPr>
            <a:r>
              <a:rPr lang="en-US" sz="1200" dirty="0">
                <a:solidFill>
                  <a:srgbClr val="5FD6B0"/>
                </a:solidFill>
              </a:rPr>
              <a:t>✦</a:t>
            </a:r>
            <a:endParaRPr lang="en-US" sz="1200" dirty="0"/>
          </a:p>
        </p:txBody>
      </p:sp>
      <p:sp>
        <p:nvSpPr>
          <p:cNvPr id="3" name="Text 1"/>
          <p:cNvSpPr/>
          <p:nvPr/>
        </p:nvSpPr>
        <p:spPr>
          <a:xfrm>
            <a:off x="11247120" y="548640"/>
            <a:ext cx="201168" cy="201168"/>
          </a:xfrm>
          <a:prstGeom prst="rect">
            <a:avLst/>
          </a:prstGeom>
          <a:noFill/>
          <a:ln/>
        </p:spPr>
        <p:txBody>
          <a:bodyPr wrap="square" lIns="0" tIns="0" rIns="0" bIns="0" rtlCol="0" anchor="ctr"/>
          <a:lstStyle/>
          <a:p>
            <a:pPr algn="ctr" indent="0" marL="0">
              <a:buNone/>
            </a:pPr>
            <a:r>
              <a:rPr lang="en-US" sz="880" dirty="0">
                <a:solidFill>
                  <a:srgbClr val="FFC94A"/>
                </a:solidFill>
              </a:rPr>
              <a:t>✦</a:t>
            </a:r>
            <a:endParaRPr lang="en-US" sz="880" dirty="0"/>
          </a:p>
        </p:txBody>
      </p:sp>
      <p:sp>
        <p:nvSpPr>
          <p:cNvPr id="4" name="Text 2"/>
          <p:cNvSpPr/>
          <p:nvPr/>
        </p:nvSpPr>
        <p:spPr>
          <a:xfrm>
            <a:off x="640080" y="6126480"/>
            <a:ext cx="228600" cy="228600"/>
          </a:xfrm>
          <a:prstGeom prst="rect">
            <a:avLst/>
          </a:prstGeom>
          <a:noFill/>
          <a:ln/>
        </p:spPr>
        <p:txBody>
          <a:bodyPr wrap="square" lIns="0" tIns="0" rIns="0" bIns="0" rtlCol="0" anchor="ctr"/>
          <a:lstStyle/>
          <a:p>
            <a:pPr algn="ctr" indent="0" marL="0">
              <a:buNone/>
            </a:pPr>
            <a:r>
              <a:rPr lang="en-US" sz="1000" dirty="0">
                <a:solidFill>
                  <a:srgbClr val="FF8FB3"/>
                </a:solidFill>
              </a:rPr>
              <a:t>✦</a:t>
            </a:r>
            <a:endParaRPr lang="en-US" sz="1000" dirty="0"/>
          </a:p>
        </p:txBody>
      </p:sp>
      <p:sp>
        <p:nvSpPr>
          <p:cNvPr id="5" name="Text 3"/>
          <p:cNvSpPr/>
          <p:nvPr/>
        </p:nvSpPr>
        <p:spPr>
          <a:xfrm>
            <a:off x="11338560" y="6035040"/>
            <a:ext cx="274320" cy="274320"/>
          </a:xfrm>
          <a:prstGeom prst="rect">
            <a:avLst/>
          </a:prstGeom>
          <a:noFill/>
          <a:ln/>
        </p:spPr>
        <p:txBody>
          <a:bodyPr wrap="square" lIns="0" tIns="0" rIns="0" bIns="0" rtlCol="0" anchor="ctr"/>
          <a:lstStyle/>
          <a:p>
            <a:pPr algn="ctr" indent="0" marL="0">
              <a:buNone/>
            </a:pPr>
            <a:r>
              <a:rPr lang="en-US" sz="1200" dirty="0">
                <a:solidFill>
                  <a:srgbClr val="8B7FE8"/>
                </a:solidFill>
              </a:rPr>
              <a:t>✦</a:t>
            </a:r>
            <a:endParaRPr lang="en-US" sz="1200" dirty="0"/>
          </a:p>
        </p:txBody>
      </p:sp>
      <p:sp>
        <p:nvSpPr>
          <p:cNvPr id="6" name="Shape 4"/>
          <p:cNvSpPr/>
          <p:nvPr/>
        </p:nvSpPr>
        <p:spPr>
          <a:xfrm rot="-90000">
            <a:off x="1874520" y="1325880"/>
            <a:ext cx="8805672" cy="777240"/>
          </a:xfrm>
          <a:prstGeom prst="roundRect">
            <a:avLst>
              <a:gd name="adj" fmla="val 17647"/>
            </a:avLst>
          </a:prstGeom>
          <a:solidFill>
            <a:srgbClr val="FFC94A"/>
          </a:solidFill>
          <a:ln/>
        </p:spPr>
      </p:sp>
      <p:sp>
        <p:nvSpPr>
          <p:cNvPr id="7" name="Shape 5"/>
          <p:cNvSpPr/>
          <p:nvPr/>
        </p:nvSpPr>
        <p:spPr>
          <a:xfrm>
            <a:off x="1691640" y="1188720"/>
            <a:ext cx="8805672" cy="777240"/>
          </a:xfrm>
          <a:prstGeom prst="roundRect">
            <a:avLst>
              <a:gd name="adj" fmla="val 17647"/>
            </a:avLst>
          </a:prstGeom>
          <a:solidFill>
            <a:srgbClr val="8B7FE8"/>
          </a:solidFill>
          <a:ln/>
        </p:spPr>
      </p:sp>
      <p:pic>
        <p:nvPicPr>
          <p:cNvPr id="8" name="Image 0" descr="preencoded.png">    </p:cNvPr>
          <p:cNvPicPr>
            <a:picLocks noChangeAspect="1"/>
          </p:cNvPicPr>
          <p:nvPr/>
        </p:nvPicPr>
        <p:blipFill>
          <a:blip r:embed="rId1"/>
          <a:stretch>
            <a:fillRect/>
          </a:stretch>
        </p:blipFill>
        <p:spPr>
          <a:xfrm>
            <a:off x="5870448" y="1348740"/>
            <a:ext cx="457200" cy="457200"/>
          </a:xfrm>
          <a:prstGeom prst="rect">
            <a:avLst/>
          </a:prstGeom>
        </p:spPr>
      </p:pic>
      <p:sp>
        <p:nvSpPr>
          <p:cNvPr id="9" name="Text 6"/>
          <p:cNvSpPr/>
          <p:nvPr/>
        </p:nvSpPr>
        <p:spPr>
          <a:xfrm>
            <a:off x="1691640" y="1188720"/>
            <a:ext cx="8805672" cy="777240"/>
          </a:xfrm>
          <a:prstGeom prst="rect">
            <a:avLst/>
          </a:prstGeom>
          <a:noFill/>
          <a:ln/>
        </p:spPr>
        <p:txBody>
          <a:bodyPr wrap="square" lIns="0" tIns="0" rIns="0" bIns="0" rtlCol="0" anchor="b"/>
          <a:lstStyle/>
          <a:p>
            <a:pPr algn="ctr" indent="0" marL="0">
              <a:buNone/>
            </a:pPr>
            <a:r>
              <a:rPr lang="en-US" sz="1200" b="1" spc="200" kern="0" dirty="0">
                <a:solidFill>
                  <a:srgbClr val="FFF6DC"/>
                </a:solidFill>
                <a:latin typeface="Calibri" pitchFamily="34" charset="0"/>
                <a:ea typeface="Calibri" pitchFamily="34" charset="-122"/>
                <a:cs typeface="Calibri" pitchFamily="34" charset="-120"/>
              </a:rPr>
              <a:t>PART 1</a:t>
            </a:r>
            <a:endParaRPr lang="en-US" sz="1200" dirty="0"/>
          </a:p>
        </p:txBody>
      </p:sp>
      <p:sp>
        <p:nvSpPr>
          <p:cNvPr id="10" name="Text 7"/>
          <p:cNvSpPr/>
          <p:nvPr/>
        </p:nvSpPr>
        <p:spPr>
          <a:xfrm>
            <a:off x="1097280" y="2331720"/>
            <a:ext cx="9994392" cy="1920240"/>
          </a:xfrm>
          <a:prstGeom prst="rect">
            <a:avLst/>
          </a:prstGeom>
          <a:noFill/>
          <a:ln/>
        </p:spPr>
        <p:txBody>
          <a:bodyPr wrap="square" lIns="0" tIns="0" rIns="0" bIns="0" rtlCol="0" anchor="t"/>
          <a:lstStyle/>
          <a:p>
            <a:pPr algn="ctr" indent="0" marL="0">
              <a:buNone/>
            </a:pPr>
            <a:r>
              <a:rPr lang="en-US" sz="2900" b="1" dirty="0">
                <a:solidFill>
                  <a:srgbClr val="2D2A4A"/>
                </a:solidFill>
                <a:latin typeface="Century Gothic" pitchFamily="34" charset="0"/>
                <a:ea typeface="Century Gothic" pitchFamily="34" charset="-122"/>
                <a:cs typeface="Century Gothic" pitchFamily="34" charset="-120"/>
              </a:rPr>
              <a:t>What Is Statistics?</a:t>
            </a:r>
            <a:endParaRPr lang="en-US" sz="2900" dirty="0"/>
          </a:p>
        </p:txBody>
      </p:sp>
      <p:sp>
        <p:nvSpPr>
          <p:cNvPr id="11" name="Text 8"/>
          <p:cNvSpPr/>
          <p:nvPr/>
        </p:nvSpPr>
        <p:spPr>
          <a:xfrm>
            <a:off x="1737360" y="4434840"/>
            <a:ext cx="8714232" cy="1097280"/>
          </a:xfrm>
          <a:prstGeom prst="rect">
            <a:avLst/>
          </a:prstGeom>
          <a:noFill/>
          <a:ln/>
        </p:spPr>
        <p:txBody>
          <a:bodyPr wrap="square" lIns="0" tIns="0" rIns="0" bIns="0" rtlCol="0" anchor="t"/>
          <a:lstStyle/>
          <a:p>
            <a:pPr algn="ctr" indent="0" marL="0">
              <a:buNone/>
            </a:pPr>
            <a:r>
              <a:rPr lang="en-US" sz="1500" dirty="0">
                <a:solidFill>
                  <a:srgbClr val="685F8F"/>
                </a:solidFill>
                <a:latin typeface="Calibri" pitchFamily="34" charset="0"/>
                <a:ea typeface="Calibri" pitchFamily="34" charset="-122"/>
                <a:cs typeface="Calibri" pitchFamily="34" charset="-120"/>
              </a:rPr>
              <a:t>Before any formula, a clear picture of what this field actually does, and the two very different jobs it does it for</a:t>
            </a:r>
            <a:endParaRPr lang="en-US" sz="1500" dirty="0"/>
          </a:p>
        </p:txBody>
      </p:sp>
      <p:sp>
        <p:nvSpPr>
          <p:cNvPr id="12" name="Text 9"/>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What Is Statistics, Really?</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54480"/>
            <a:ext cx="3657600" cy="4663440"/>
          </a:xfrm>
          <a:prstGeom prst="roundRect">
            <a:avLst>
              <a:gd name="adj" fmla="val 4500"/>
            </a:avLst>
          </a:prstGeom>
          <a:solidFill>
            <a:srgbClr val="EDE9FE"/>
          </a:solidFill>
          <a:ln w="12700">
            <a:solidFill>
              <a:srgbClr val="D8D2F5"/>
            </a:solidFill>
            <a:prstDash val="solid"/>
          </a:ln>
        </p:spPr>
      </p:sp>
      <p:sp>
        <p:nvSpPr>
          <p:cNvPr id="7" name="Shape 4"/>
          <p:cNvSpPr/>
          <p:nvPr/>
        </p:nvSpPr>
        <p:spPr>
          <a:xfrm>
            <a:off x="1508760" y="2194560"/>
            <a:ext cx="1554480" cy="155448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1746504" y="2423160"/>
            <a:ext cx="1088136" cy="1088136"/>
          </a:xfrm>
          <a:prstGeom prst="rect">
            <a:avLst/>
          </a:prstGeom>
        </p:spPr>
      </p:pic>
      <p:sp>
        <p:nvSpPr>
          <p:cNvPr id="9" name="Text 5"/>
          <p:cNvSpPr/>
          <p:nvPr/>
        </p:nvSpPr>
        <p:spPr>
          <a:xfrm>
            <a:off x="640080" y="3977640"/>
            <a:ext cx="3291840" cy="1737360"/>
          </a:xfrm>
          <a:prstGeom prst="rect">
            <a:avLst/>
          </a:prstGeom>
          <a:noFill/>
          <a:ln/>
        </p:spPr>
        <p:txBody>
          <a:bodyPr wrap="square" lIns="0" tIns="0" rIns="0" bIns="0" rtlCol="0" anchor="t"/>
          <a:lstStyle/>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Making</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sense of</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data</a:t>
            </a:r>
            <a:endParaRPr lang="en-US" sz="1600" dirty="0"/>
          </a:p>
        </p:txBody>
      </p:sp>
      <p:sp>
        <p:nvSpPr>
          <p:cNvPr id="10" name="Text 6"/>
          <p:cNvSpPr/>
          <p:nvPr/>
        </p:nvSpPr>
        <p:spPr>
          <a:xfrm>
            <a:off x="4572000" y="1737360"/>
            <a:ext cx="7132320" cy="4114800"/>
          </a:xfrm>
          <a:prstGeom prst="rect">
            <a:avLst/>
          </a:prstGeom>
          <a:noFill/>
          <a:ln/>
        </p:spPr>
        <p:txBody>
          <a:bodyPr wrap="square" lIns="0" tIns="0" rIns="0" bIns="0" rtlCol="0" anchor="t"/>
          <a:lstStyle/>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Statistics is the field of collecting, organizing, summarizing, and drawing conclusions from data</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At its core, it answers two very different kinds of questions: "what does this data show?" and "what can this data tell me about something bigger than itself?"</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Every dataset is meaningless until statistics gives you a way to describe it, compare it, or trust (or doubt) a conclusion drawn from it</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This is genuinely one of the most widely used branches of math in the world — not just in AI, but in every field that collects data of any kind</a:t>
            </a:r>
            <a:endParaRPr lang="en-US" sz="1600" dirty="0"/>
          </a:p>
        </p:txBody>
      </p:sp>
      <p:sp>
        <p:nvSpPr>
          <p:cNvPr id="11" name="Text 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2" name="Text 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Where Statistics Is Actually Used</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08760"/>
            <a:ext cx="2654046" cy="4892040"/>
          </a:xfrm>
          <a:prstGeom prst="roundRect">
            <a:avLst>
              <a:gd name="adj" fmla="val 5512"/>
            </a:avLst>
          </a:prstGeom>
          <a:solidFill>
            <a:srgbClr val="EDE9FE"/>
          </a:solidFill>
          <a:ln w="12700">
            <a:solidFill>
              <a:srgbClr val="D8D2F5"/>
            </a:solidFill>
            <a:prstDash val="solid"/>
          </a:ln>
        </p:spPr>
      </p:sp>
      <p:sp>
        <p:nvSpPr>
          <p:cNvPr id="7" name="Shape 4"/>
          <p:cNvSpPr/>
          <p:nvPr/>
        </p:nvSpPr>
        <p:spPr>
          <a:xfrm>
            <a:off x="1509903" y="2093976"/>
            <a:ext cx="548640" cy="54864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1592199" y="2176272"/>
            <a:ext cx="384048" cy="384048"/>
          </a:xfrm>
          <a:prstGeom prst="rect">
            <a:avLst/>
          </a:prstGeom>
        </p:spPr>
      </p:pic>
      <p:sp>
        <p:nvSpPr>
          <p:cNvPr id="9" name="Text 5"/>
          <p:cNvSpPr/>
          <p:nvPr/>
        </p:nvSpPr>
        <p:spPr>
          <a:xfrm>
            <a:off x="548640" y="2715768"/>
            <a:ext cx="2471166"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Medicine &amp; Research</a:t>
            </a:r>
            <a:endParaRPr lang="en-US" sz="1300" dirty="0"/>
          </a:p>
        </p:txBody>
      </p:sp>
      <p:sp>
        <p:nvSpPr>
          <p:cNvPr id="10" name="Text 6"/>
          <p:cNvSpPr/>
          <p:nvPr/>
        </p:nvSpPr>
        <p:spPr>
          <a:xfrm>
            <a:off x="603504" y="3099816"/>
            <a:ext cx="2361438"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Clinical trials, drug effectiveness, and public health decisions all rest on statistical evidence</a:t>
            </a:r>
            <a:endParaRPr lang="en-US" sz="1100" dirty="0"/>
          </a:p>
        </p:txBody>
      </p:sp>
      <p:sp>
        <p:nvSpPr>
          <p:cNvPr id="11" name="Shape 7"/>
          <p:cNvSpPr/>
          <p:nvPr/>
        </p:nvSpPr>
        <p:spPr>
          <a:xfrm>
            <a:off x="3330702" y="1508760"/>
            <a:ext cx="2654046" cy="4892040"/>
          </a:xfrm>
          <a:prstGeom prst="roundRect">
            <a:avLst>
              <a:gd name="adj" fmla="val 5512"/>
            </a:avLst>
          </a:prstGeom>
          <a:solidFill>
            <a:srgbClr val="FFF6DC"/>
          </a:solidFill>
          <a:ln w="12700">
            <a:solidFill>
              <a:srgbClr val="D8D2F5"/>
            </a:solidFill>
            <a:prstDash val="solid"/>
          </a:ln>
        </p:spPr>
      </p:sp>
      <p:sp>
        <p:nvSpPr>
          <p:cNvPr id="12" name="Shape 8"/>
          <p:cNvSpPr/>
          <p:nvPr/>
        </p:nvSpPr>
        <p:spPr>
          <a:xfrm>
            <a:off x="4383405" y="2093976"/>
            <a:ext cx="548640" cy="548640"/>
          </a:xfrm>
          <a:prstGeom prst="ellipse">
            <a:avLst/>
          </a:prstGeom>
          <a:solidFill>
            <a:srgbClr val="FFC94A"/>
          </a:solidFill>
          <a:ln/>
        </p:spPr>
      </p:sp>
      <p:pic>
        <p:nvPicPr>
          <p:cNvPr id="13" name="Image 2" descr="preencoded.png">    </p:cNvPr>
          <p:cNvPicPr>
            <a:picLocks noChangeAspect="1"/>
          </p:cNvPicPr>
          <p:nvPr/>
        </p:nvPicPr>
        <p:blipFill>
          <a:blip r:embed="rId3"/>
          <a:stretch>
            <a:fillRect/>
          </a:stretch>
        </p:blipFill>
        <p:spPr>
          <a:xfrm>
            <a:off x="4465701" y="2176272"/>
            <a:ext cx="384048" cy="384048"/>
          </a:xfrm>
          <a:prstGeom prst="rect">
            <a:avLst/>
          </a:prstGeom>
        </p:spPr>
      </p:pic>
      <p:sp>
        <p:nvSpPr>
          <p:cNvPr id="14" name="Text 9"/>
          <p:cNvSpPr/>
          <p:nvPr/>
        </p:nvSpPr>
        <p:spPr>
          <a:xfrm>
            <a:off x="3422142" y="2715768"/>
            <a:ext cx="2471166"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Business</a:t>
            </a:r>
            <a:endParaRPr lang="en-US" sz="1300" dirty="0"/>
          </a:p>
        </p:txBody>
      </p:sp>
      <p:sp>
        <p:nvSpPr>
          <p:cNvPr id="15" name="Text 10"/>
          <p:cNvSpPr/>
          <p:nvPr/>
        </p:nvSpPr>
        <p:spPr>
          <a:xfrm>
            <a:off x="3477006" y="3099816"/>
            <a:ext cx="2361438"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Sales forecasting, customer segmentation, and A/B testing a new feature or price</a:t>
            </a:r>
            <a:endParaRPr lang="en-US" sz="1100" dirty="0"/>
          </a:p>
        </p:txBody>
      </p:sp>
      <p:sp>
        <p:nvSpPr>
          <p:cNvPr id="16" name="Shape 11"/>
          <p:cNvSpPr/>
          <p:nvPr/>
        </p:nvSpPr>
        <p:spPr>
          <a:xfrm>
            <a:off x="6204204" y="1508760"/>
            <a:ext cx="2654046" cy="4892040"/>
          </a:xfrm>
          <a:prstGeom prst="roundRect">
            <a:avLst>
              <a:gd name="adj" fmla="val 5512"/>
            </a:avLst>
          </a:prstGeom>
          <a:solidFill>
            <a:srgbClr val="E3FBF3"/>
          </a:solidFill>
          <a:ln w="12700">
            <a:solidFill>
              <a:srgbClr val="D8D2F5"/>
            </a:solidFill>
            <a:prstDash val="solid"/>
          </a:ln>
        </p:spPr>
      </p:sp>
      <p:sp>
        <p:nvSpPr>
          <p:cNvPr id="17" name="Shape 12"/>
          <p:cNvSpPr/>
          <p:nvPr/>
        </p:nvSpPr>
        <p:spPr>
          <a:xfrm>
            <a:off x="7256907" y="2093976"/>
            <a:ext cx="548640" cy="548640"/>
          </a:xfrm>
          <a:prstGeom prst="ellipse">
            <a:avLst/>
          </a:prstGeom>
          <a:solidFill>
            <a:srgbClr val="5FD6B0"/>
          </a:solidFill>
          <a:ln/>
        </p:spPr>
      </p:sp>
      <p:pic>
        <p:nvPicPr>
          <p:cNvPr id="18" name="Image 3" descr="preencoded.png">    </p:cNvPr>
          <p:cNvPicPr>
            <a:picLocks noChangeAspect="1"/>
          </p:cNvPicPr>
          <p:nvPr/>
        </p:nvPicPr>
        <p:blipFill>
          <a:blip r:embed="rId4"/>
          <a:stretch>
            <a:fillRect/>
          </a:stretch>
        </p:blipFill>
        <p:spPr>
          <a:xfrm>
            <a:off x="7339203" y="2176272"/>
            <a:ext cx="384048" cy="384048"/>
          </a:xfrm>
          <a:prstGeom prst="rect">
            <a:avLst/>
          </a:prstGeom>
        </p:spPr>
      </p:pic>
      <p:sp>
        <p:nvSpPr>
          <p:cNvPr id="19" name="Text 13"/>
          <p:cNvSpPr/>
          <p:nvPr/>
        </p:nvSpPr>
        <p:spPr>
          <a:xfrm>
            <a:off x="6295644" y="2715768"/>
            <a:ext cx="2471166"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Sports</a:t>
            </a:r>
            <a:endParaRPr lang="en-US" sz="1300" dirty="0"/>
          </a:p>
        </p:txBody>
      </p:sp>
      <p:sp>
        <p:nvSpPr>
          <p:cNvPr id="20" name="Text 14"/>
          <p:cNvSpPr/>
          <p:nvPr/>
        </p:nvSpPr>
        <p:spPr>
          <a:xfrm>
            <a:off x="6350508" y="3099816"/>
            <a:ext cx="2361438"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Player performance metrics, game strategy, and predicting match outcomes</a:t>
            </a:r>
            <a:endParaRPr lang="en-US" sz="1100" dirty="0"/>
          </a:p>
        </p:txBody>
      </p:sp>
      <p:sp>
        <p:nvSpPr>
          <p:cNvPr id="21" name="Shape 15"/>
          <p:cNvSpPr/>
          <p:nvPr/>
        </p:nvSpPr>
        <p:spPr>
          <a:xfrm>
            <a:off x="9077706" y="1508760"/>
            <a:ext cx="2654046" cy="4892040"/>
          </a:xfrm>
          <a:prstGeom prst="roundRect">
            <a:avLst>
              <a:gd name="adj" fmla="val 5512"/>
            </a:avLst>
          </a:prstGeom>
          <a:solidFill>
            <a:srgbClr val="EDE9FE"/>
          </a:solidFill>
          <a:ln w="12700">
            <a:solidFill>
              <a:srgbClr val="D8D2F5"/>
            </a:solidFill>
            <a:prstDash val="solid"/>
          </a:ln>
        </p:spPr>
      </p:sp>
      <p:sp>
        <p:nvSpPr>
          <p:cNvPr id="22" name="Shape 16"/>
          <p:cNvSpPr/>
          <p:nvPr/>
        </p:nvSpPr>
        <p:spPr>
          <a:xfrm>
            <a:off x="10130409" y="2093976"/>
            <a:ext cx="548640" cy="548640"/>
          </a:xfrm>
          <a:prstGeom prst="ellipse">
            <a:avLst/>
          </a:prstGeom>
          <a:solidFill>
            <a:srgbClr val="FF8FB3"/>
          </a:solidFill>
          <a:ln/>
        </p:spPr>
      </p:sp>
      <p:pic>
        <p:nvPicPr>
          <p:cNvPr id="23" name="Image 4" descr="preencoded.png">    </p:cNvPr>
          <p:cNvPicPr>
            <a:picLocks noChangeAspect="1"/>
          </p:cNvPicPr>
          <p:nvPr/>
        </p:nvPicPr>
        <p:blipFill>
          <a:blip r:embed="rId5"/>
          <a:stretch>
            <a:fillRect/>
          </a:stretch>
        </p:blipFill>
        <p:spPr>
          <a:xfrm>
            <a:off x="10212705" y="2176272"/>
            <a:ext cx="384048" cy="384048"/>
          </a:xfrm>
          <a:prstGeom prst="rect">
            <a:avLst/>
          </a:prstGeom>
        </p:spPr>
      </p:pic>
      <p:sp>
        <p:nvSpPr>
          <p:cNvPr id="24" name="Text 17"/>
          <p:cNvSpPr/>
          <p:nvPr/>
        </p:nvSpPr>
        <p:spPr>
          <a:xfrm>
            <a:off x="9169146" y="2715768"/>
            <a:ext cx="2471166"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Government &amp; Policy</a:t>
            </a:r>
            <a:endParaRPr lang="en-US" sz="1300" dirty="0"/>
          </a:p>
        </p:txBody>
      </p:sp>
      <p:sp>
        <p:nvSpPr>
          <p:cNvPr id="25" name="Text 18"/>
          <p:cNvSpPr/>
          <p:nvPr/>
        </p:nvSpPr>
        <p:spPr>
          <a:xfrm>
            <a:off x="9224010" y="3099816"/>
            <a:ext cx="2361438"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Census data, unemployment rates, and evidence behind public policy decisions</a:t>
            </a:r>
            <a:endParaRPr lang="en-US" sz="1100" dirty="0"/>
          </a:p>
        </p:txBody>
      </p:sp>
      <p:sp>
        <p:nvSpPr>
          <p:cNvPr id="26" name="Text 19"/>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27" name="Text 20"/>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Descriptive vs. Inferential Statistics</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645920"/>
            <a:ext cx="5349240" cy="4480560"/>
          </a:xfrm>
          <a:prstGeom prst="roundRect">
            <a:avLst>
              <a:gd name="adj" fmla="val 3265"/>
            </a:avLst>
          </a:prstGeom>
          <a:solidFill>
            <a:srgbClr val="EDE9FE"/>
          </a:solidFill>
          <a:ln w="12700">
            <a:solidFill>
              <a:srgbClr val="D8D2F5"/>
            </a:solidFill>
            <a:prstDash val="solid"/>
          </a:ln>
        </p:spPr>
      </p:sp>
      <p:sp>
        <p:nvSpPr>
          <p:cNvPr id="7" name="Shape 4"/>
          <p:cNvSpPr/>
          <p:nvPr/>
        </p:nvSpPr>
        <p:spPr>
          <a:xfrm>
            <a:off x="731520" y="1874520"/>
            <a:ext cx="457200" cy="45720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804672" y="1938528"/>
            <a:ext cx="320040" cy="320040"/>
          </a:xfrm>
          <a:prstGeom prst="rect">
            <a:avLst/>
          </a:prstGeom>
        </p:spPr>
      </p:pic>
      <p:sp>
        <p:nvSpPr>
          <p:cNvPr id="9" name="Text 5"/>
          <p:cNvSpPr/>
          <p:nvPr/>
        </p:nvSpPr>
        <p:spPr>
          <a:xfrm>
            <a:off x="1325880" y="1874520"/>
            <a:ext cx="4343400" cy="457200"/>
          </a:xfrm>
          <a:prstGeom prst="rect">
            <a:avLst/>
          </a:prstGeom>
          <a:noFill/>
          <a:ln/>
        </p:spPr>
        <p:txBody>
          <a:bodyPr wrap="square" lIns="0" tIns="0" rIns="0" bIns="0" rtlCol="0" anchor="ctr"/>
          <a:lstStyle/>
          <a:p>
            <a:pPr indent="0" marL="0">
              <a:buNone/>
            </a:pPr>
            <a:r>
              <a:rPr lang="en-US" sz="1700" b="1" dirty="0">
                <a:solidFill>
                  <a:srgbClr val="2D2A4A"/>
                </a:solidFill>
                <a:latin typeface="Century Gothic" pitchFamily="34" charset="0"/>
                <a:ea typeface="Century Gothic" pitchFamily="34" charset="-122"/>
                <a:cs typeface="Century Gothic" pitchFamily="34" charset="-120"/>
              </a:rPr>
              <a:t>Descriptive Statistics</a:t>
            </a:r>
            <a:endParaRPr lang="en-US" sz="1700" dirty="0"/>
          </a:p>
        </p:txBody>
      </p:sp>
      <p:sp>
        <p:nvSpPr>
          <p:cNvPr id="10" name="Text 6"/>
          <p:cNvSpPr/>
          <p:nvPr/>
        </p:nvSpPr>
        <p:spPr>
          <a:xfrm>
            <a:off x="731520" y="2514600"/>
            <a:ext cx="4800600" cy="3383280"/>
          </a:xfrm>
          <a:prstGeom prst="rect">
            <a:avLst/>
          </a:prstGeom>
          <a:noFill/>
          <a:ln/>
        </p:spPr>
        <p:txBody>
          <a:bodyPr wrap="square" lIns="0" tIns="0" rIns="0" bIns="0" rtlCol="0" anchor="t"/>
          <a:lstStyle/>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Describes and summarizes the exact data you already have — nothing more</a:t>
            </a:r>
            <a:endParaRPr lang="en-US" sz="1350" dirty="0"/>
          </a:p>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Answers "what happened in THIS data?" — the average, the spread, the shape</a:t>
            </a:r>
            <a:endParaRPr lang="en-US" sz="1350" dirty="0"/>
          </a:p>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This entire session, and the next, live here</a:t>
            </a:r>
            <a:endParaRPr lang="en-US" sz="1350" dirty="0"/>
          </a:p>
        </p:txBody>
      </p:sp>
      <p:sp>
        <p:nvSpPr>
          <p:cNvPr id="11" name="Shape 7"/>
          <p:cNvSpPr/>
          <p:nvPr/>
        </p:nvSpPr>
        <p:spPr>
          <a:xfrm>
            <a:off x="6172200" y="1645920"/>
            <a:ext cx="5349240" cy="4480560"/>
          </a:xfrm>
          <a:prstGeom prst="roundRect">
            <a:avLst>
              <a:gd name="adj" fmla="val 3265"/>
            </a:avLst>
          </a:prstGeom>
          <a:solidFill>
            <a:srgbClr val="FFF6DC"/>
          </a:solidFill>
          <a:ln w="12700">
            <a:solidFill>
              <a:srgbClr val="D8D2F5"/>
            </a:solidFill>
            <a:prstDash val="solid"/>
          </a:ln>
        </p:spPr>
      </p:sp>
      <p:sp>
        <p:nvSpPr>
          <p:cNvPr id="12" name="Shape 8"/>
          <p:cNvSpPr/>
          <p:nvPr/>
        </p:nvSpPr>
        <p:spPr>
          <a:xfrm>
            <a:off x="6446520" y="1874520"/>
            <a:ext cx="457200" cy="457200"/>
          </a:xfrm>
          <a:prstGeom prst="ellipse">
            <a:avLst/>
          </a:prstGeom>
          <a:solidFill>
            <a:srgbClr val="FFC94A"/>
          </a:solidFill>
          <a:ln/>
        </p:spPr>
      </p:sp>
      <p:pic>
        <p:nvPicPr>
          <p:cNvPr id="13" name="Image 2" descr="preencoded.png">    </p:cNvPr>
          <p:cNvPicPr>
            <a:picLocks noChangeAspect="1"/>
          </p:cNvPicPr>
          <p:nvPr/>
        </p:nvPicPr>
        <p:blipFill>
          <a:blip r:embed="rId3"/>
          <a:stretch>
            <a:fillRect/>
          </a:stretch>
        </p:blipFill>
        <p:spPr>
          <a:xfrm>
            <a:off x="6519672" y="1938528"/>
            <a:ext cx="320040" cy="320040"/>
          </a:xfrm>
          <a:prstGeom prst="rect">
            <a:avLst/>
          </a:prstGeom>
        </p:spPr>
      </p:pic>
      <p:sp>
        <p:nvSpPr>
          <p:cNvPr id="14" name="Text 9"/>
          <p:cNvSpPr/>
          <p:nvPr/>
        </p:nvSpPr>
        <p:spPr>
          <a:xfrm>
            <a:off x="7040880" y="1874520"/>
            <a:ext cx="4343400" cy="457200"/>
          </a:xfrm>
          <a:prstGeom prst="rect">
            <a:avLst/>
          </a:prstGeom>
          <a:noFill/>
          <a:ln/>
        </p:spPr>
        <p:txBody>
          <a:bodyPr wrap="square" lIns="0" tIns="0" rIns="0" bIns="0" rtlCol="0" anchor="ctr"/>
          <a:lstStyle/>
          <a:p>
            <a:pPr indent="0" marL="0">
              <a:buNone/>
            </a:pPr>
            <a:r>
              <a:rPr lang="en-US" sz="1700" b="1" dirty="0">
                <a:solidFill>
                  <a:srgbClr val="2D2A4A"/>
                </a:solidFill>
                <a:latin typeface="Century Gothic" pitchFamily="34" charset="0"/>
                <a:ea typeface="Century Gothic" pitchFamily="34" charset="-122"/>
                <a:cs typeface="Century Gothic" pitchFamily="34" charset="-120"/>
              </a:rPr>
              <a:t>Inferential Statistics</a:t>
            </a:r>
            <a:endParaRPr lang="en-US" sz="1700" dirty="0"/>
          </a:p>
        </p:txBody>
      </p:sp>
      <p:sp>
        <p:nvSpPr>
          <p:cNvPr id="15" name="Text 10"/>
          <p:cNvSpPr/>
          <p:nvPr/>
        </p:nvSpPr>
        <p:spPr>
          <a:xfrm>
            <a:off x="6446520" y="2514600"/>
            <a:ext cx="4800600" cy="3383280"/>
          </a:xfrm>
          <a:prstGeom prst="rect">
            <a:avLst/>
          </a:prstGeom>
          <a:noFill/>
          <a:ln/>
        </p:spPr>
        <p:txBody>
          <a:bodyPr wrap="square" lIns="0" tIns="0" rIns="0" bIns="0" rtlCol="0" anchor="t"/>
          <a:lstStyle/>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Uses a smaller sample to draw conclusions about a larger population you didn’t fully measure</a:t>
            </a:r>
            <a:endParaRPr lang="en-US" sz="1350" dirty="0"/>
          </a:p>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Answers "what can I confidently CONCLUDE, beyond just this data?" — confidence, significance, hypothesis tests</a:t>
            </a:r>
            <a:endParaRPr lang="en-US" sz="1350" dirty="0"/>
          </a:p>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This is where the course goes in Sessions 20 and 21</a:t>
            </a:r>
            <a:endParaRPr lang="en-US" sz="1350" dirty="0"/>
          </a:p>
        </p:txBody>
      </p:sp>
      <p:sp>
        <p:nvSpPr>
          <p:cNvPr id="16" name="Text 11"/>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7" name="Text 12"/>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Population vs. Sample</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54480"/>
            <a:ext cx="3657600" cy="4663440"/>
          </a:xfrm>
          <a:prstGeom prst="roundRect">
            <a:avLst>
              <a:gd name="adj" fmla="val 4500"/>
            </a:avLst>
          </a:prstGeom>
          <a:solidFill>
            <a:srgbClr val="EDE9FE"/>
          </a:solidFill>
          <a:ln w="12700">
            <a:solidFill>
              <a:srgbClr val="D8D2F5"/>
            </a:solidFill>
            <a:prstDash val="solid"/>
          </a:ln>
        </p:spPr>
      </p:sp>
      <p:sp>
        <p:nvSpPr>
          <p:cNvPr id="7" name="Shape 4"/>
          <p:cNvSpPr/>
          <p:nvPr/>
        </p:nvSpPr>
        <p:spPr>
          <a:xfrm>
            <a:off x="1508760" y="2194560"/>
            <a:ext cx="1554480" cy="155448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1746504" y="2423160"/>
            <a:ext cx="1088136" cy="1088136"/>
          </a:xfrm>
          <a:prstGeom prst="rect">
            <a:avLst/>
          </a:prstGeom>
        </p:spPr>
      </p:pic>
      <p:sp>
        <p:nvSpPr>
          <p:cNvPr id="9" name="Text 5"/>
          <p:cNvSpPr/>
          <p:nvPr/>
        </p:nvSpPr>
        <p:spPr>
          <a:xfrm>
            <a:off x="640080" y="3977640"/>
            <a:ext cx="3291840" cy="1737360"/>
          </a:xfrm>
          <a:prstGeom prst="rect">
            <a:avLst/>
          </a:prstGeom>
          <a:noFill/>
          <a:ln/>
        </p:spPr>
        <p:txBody>
          <a:bodyPr wrap="square" lIns="0" tIns="0" rIns="0" bIns="0" rtlCol="0" anchor="t"/>
          <a:lstStyle/>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The whole</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group, vs.</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a slice of it</a:t>
            </a:r>
            <a:endParaRPr lang="en-US" sz="1600" dirty="0"/>
          </a:p>
        </p:txBody>
      </p:sp>
      <p:sp>
        <p:nvSpPr>
          <p:cNvPr id="10" name="Text 6"/>
          <p:cNvSpPr/>
          <p:nvPr/>
        </p:nvSpPr>
        <p:spPr>
          <a:xfrm>
            <a:off x="4572000" y="1737360"/>
            <a:ext cx="7132320" cy="4114800"/>
          </a:xfrm>
          <a:prstGeom prst="rect">
            <a:avLst/>
          </a:prstGeom>
          <a:noFill/>
          <a:ln/>
        </p:spPr>
        <p:txBody>
          <a:bodyPr wrap="square" lIns="0" tIns="0" rIns="0" bIns="0" rtlCol="0" anchor="t"/>
          <a:lstStyle/>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A population is every single member of the group you actually care about — every voter, every customer, every product ever made</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A sample is a smaller, manageable subset of that population, actually measured — usually because measuring the entire population is impossible or impractical</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Almost everything in real data science is a sample — you rarely have data on literally everyone or everything</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This single distinction is the entire reason inferential statistics needs to exist at all — keep it in mind, it comes back constantly</a:t>
            </a:r>
            <a:endParaRPr lang="en-US" sz="1600" dirty="0"/>
          </a:p>
        </p:txBody>
      </p:sp>
      <p:sp>
        <p:nvSpPr>
          <p:cNvPr id="11" name="Text 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2" name="Text 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Dependent vs. Independent Variables</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54480"/>
            <a:ext cx="3657600" cy="4663440"/>
          </a:xfrm>
          <a:prstGeom prst="roundRect">
            <a:avLst>
              <a:gd name="adj" fmla="val 4500"/>
            </a:avLst>
          </a:prstGeom>
          <a:solidFill>
            <a:srgbClr val="EDE9FE"/>
          </a:solidFill>
          <a:ln w="12700">
            <a:solidFill>
              <a:srgbClr val="D8D2F5"/>
            </a:solidFill>
            <a:prstDash val="solid"/>
          </a:ln>
        </p:spPr>
      </p:sp>
      <p:sp>
        <p:nvSpPr>
          <p:cNvPr id="7" name="Shape 4"/>
          <p:cNvSpPr/>
          <p:nvPr/>
        </p:nvSpPr>
        <p:spPr>
          <a:xfrm>
            <a:off x="1508760" y="2194560"/>
            <a:ext cx="1554480" cy="155448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1746504" y="2423160"/>
            <a:ext cx="1088136" cy="1088136"/>
          </a:xfrm>
          <a:prstGeom prst="rect">
            <a:avLst/>
          </a:prstGeom>
        </p:spPr>
      </p:pic>
      <p:sp>
        <p:nvSpPr>
          <p:cNvPr id="9" name="Text 5"/>
          <p:cNvSpPr/>
          <p:nvPr/>
        </p:nvSpPr>
        <p:spPr>
          <a:xfrm>
            <a:off x="640080" y="3977640"/>
            <a:ext cx="3291840" cy="1737360"/>
          </a:xfrm>
          <a:prstGeom prst="rect">
            <a:avLst/>
          </a:prstGeom>
          <a:noFill/>
          <a:ln/>
        </p:spPr>
        <p:txBody>
          <a:bodyPr wrap="square" lIns="0" tIns="0" rIns="0" bIns="0" rtlCol="0" anchor="t"/>
          <a:lstStyle/>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Cause,</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and the</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effect</a:t>
            </a:r>
            <a:endParaRPr lang="en-US" sz="1600" dirty="0"/>
          </a:p>
        </p:txBody>
      </p:sp>
      <p:sp>
        <p:nvSpPr>
          <p:cNvPr id="10" name="Text 6"/>
          <p:cNvSpPr/>
          <p:nvPr/>
        </p:nvSpPr>
        <p:spPr>
          <a:xfrm>
            <a:off x="4572000" y="1737360"/>
            <a:ext cx="7132320" cy="4114800"/>
          </a:xfrm>
          <a:prstGeom prst="rect">
            <a:avLst/>
          </a:prstGeom>
          <a:noFill/>
          <a:ln/>
        </p:spPr>
        <p:txBody>
          <a:bodyPr wrap="square" lIns="0" tIns="0" rIns="0" bIns="0" rtlCol="0" anchor="t"/>
          <a:lstStyle/>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An independent variable is the one you change, control, or use to explain something — it stands on its own, unaffected by the other variables in the study</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A dependent variable is the one you measure as an outcome — its value "depends on" the independent variable</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In "does study time affect exam score," study time is independent, exam score is dependent — the score depends on the hours studied, not the other way around</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This distinction quietly decides which axis a variable belongs on in a scatter plot, and which side of a formula it belongs on in a regression — both coming up soon</a:t>
            </a:r>
            <a:endParaRPr lang="en-US" sz="1600" dirty="0"/>
          </a:p>
        </p:txBody>
      </p:sp>
      <p:sp>
        <p:nvSpPr>
          <p:cNvPr id="11" name="Text 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2" name="Text 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Practice Set — What Is Statistics?</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600200"/>
            <a:ext cx="11274552" cy="4480560"/>
          </a:xfrm>
          <a:prstGeom prst="roundRect">
            <a:avLst>
              <a:gd name="adj" fmla="val 3673"/>
            </a:avLst>
          </a:prstGeom>
          <a:solidFill>
            <a:srgbClr val="EDE9FE"/>
          </a:solidFill>
          <a:ln w="12700">
            <a:solidFill>
              <a:srgbClr val="D8D2F5"/>
            </a:solidFill>
            <a:prstDash val="solid"/>
          </a:ln>
        </p:spPr>
      </p:sp>
      <p:sp>
        <p:nvSpPr>
          <p:cNvPr id="7" name="Text 4"/>
          <p:cNvSpPr/>
          <p:nvPr/>
        </p:nvSpPr>
        <p:spPr>
          <a:xfrm>
            <a:off x="822960" y="1828800"/>
            <a:ext cx="10515600" cy="457200"/>
          </a:xfrm>
          <a:prstGeom prst="rect">
            <a:avLst/>
          </a:prstGeom>
          <a:noFill/>
          <a:ln/>
        </p:spPr>
        <p:txBody>
          <a:bodyPr wrap="square" lIns="0" tIns="0" rIns="0" bIns="0" rtlCol="0" anchor="ctr"/>
          <a:lstStyle/>
          <a:p>
            <a:pPr indent="0" marL="0">
              <a:buNone/>
            </a:pPr>
            <a:r>
              <a:rPr lang="en-US" sz="1500" b="1" dirty="0">
                <a:solidFill>
                  <a:srgbClr val="2D2A4A"/>
                </a:solidFill>
                <a:latin typeface="Century Gothic" pitchFamily="34" charset="0"/>
                <a:ea typeface="Century Gothic" pitchFamily="34" charset="-122"/>
                <a:cs typeface="Century Gothic" pitchFamily="34" charset="-120"/>
              </a:rPr>
              <a:t>Try these yourself first — that's the point</a:t>
            </a:r>
            <a:endParaRPr lang="en-US" sz="1500" dirty="0"/>
          </a:p>
        </p:txBody>
      </p:sp>
      <p:sp>
        <p:nvSpPr>
          <p:cNvPr id="8" name="Shape 5"/>
          <p:cNvSpPr/>
          <p:nvPr/>
        </p:nvSpPr>
        <p:spPr>
          <a:xfrm>
            <a:off x="822960" y="2423160"/>
            <a:ext cx="384048" cy="384048"/>
          </a:xfrm>
          <a:prstGeom prst="ellipse">
            <a:avLst/>
          </a:prstGeom>
          <a:solidFill>
            <a:srgbClr val="8B7FE8"/>
          </a:solidFill>
          <a:ln/>
        </p:spPr>
      </p:sp>
      <p:sp>
        <p:nvSpPr>
          <p:cNvPr id="9" name="Text 6"/>
          <p:cNvSpPr/>
          <p:nvPr/>
        </p:nvSpPr>
        <p:spPr>
          <a:xfrm>
            <a:off x="822960" y="2423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p:nvPr/>
        </p:nvSpPr>
        <p:spPr>
          <a:xfrm>
            <a:off x="1435608" y="2423160"/>
            <a:ext cx="9582912" cy="384048"/>
          </a:xfrm>
          <a:prstGeom prst="rect">
            <a:avLst/>
          </a:prstGeom>
          <a:noFill/>
          <a:ln/>
        </p:spPr>
        <p:txBody>
          <a:bodyPr wrap="square" lIns="0" tIns="0" rIns="0" bIns="0" rtlCol="0" anchor="ctr"/>
          <a:lstStyle/>
          <a:p>
            <a:pPr indent="0" marL="0">
              <a:buNone/>
            </a:pPr>
            <a:r>
              <a:rPr lang="en-US" sz="1250" dirty="0">
                <a:solidFill>
                  <a:srgbClr val="2D2A4A"/>
                </a:solidFill>
                <a:latin typeface="Calibri" pitchFamily="34" charset="0"/>
                <a:ea typeface="Calibri" pitchFamily="34" charset="-122"/>
                <a:cs typeface="Calibri" pitchFamily="34" charset="-120"/>
              </a:rPr>
              <a:t>Name one real decision (personal, business, or public) that was likely made using statistics</a:t>
            </a:r>
            <a:endParaRPr lang="en-US" sz="1250" dirty="0"/>
          </a:p>
        </p:txBody>
      </p:sp>
      <p:sp>
        <p:nvSpPr>
          <p:cNvPr id="11" name="Shape 8"/>
          <p:cNvSpPr/>
          <p:nvPr/>
        </p:nvSpPr>
        <p:spPr>
          <a:xfrm>
            <a:off x="822960" y="3300984"/>
            <a:ext cx="384048" cy="384048"/>
          </a:xfrm>
          <a:prstGeom prst="ellipse">
            <a:avLst/>
          </a:prstGeom>
          <a:solidFill>
            <a:srgbClr val="8B7FE8"/>
          </a:solidFill>
          <a:ln/>
        </p:spPr>
      </p:sp>
      <p:sp>
        <p:nvSpPr>
          <p:cNvPr id="12" name="Text 9"/>
          <p:cNvSpPr/>
          <p:nvPr/>
        </p:nvSpPr>
        <p:spPr>
          <a:xfrm>
            <a:off x="822960" y="3300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435608" y="3300984"/>
            <a:ext cx="9582912" cy="384048"/>
          </a:xfrm>
          <a:prstGeom prst="rect">
            <a:avLst/>
          </a:prstGeom>
          <a:noFill/>
          <a:ln/>
        </p:spPr>
        <p:txBody>
          <a:bodyPr wrap="square" lIns="0" tIns="0" rIns="0" bIns="0" rtlCol="0" anchor="ctr"/>
          <a:lstStyle/>
          <a:p>
            <a:pPr indent="0" marL="0">
              <a:buNone/>
            </a:pPr>
            <a:r>
              <a:rPr lang="en-US" sz="1250" dirty="0">
                <a:solidFill>
                  <a:srgbClr val="2D2A4A"/>
                </a:solidFill>
                <a:latin typeface="Calibri" pitchFamily="34" charset="0"/>
                <a:ea typeface="Calibri" pitchFamily="34" charset="-122"/>
                <a:cs typeface="Calibri" pitchFamily="34" charset="-120"/>
              </a:rPr>
              <a:t>For a survey of 200 university students about study habits, identify the population and the sample</a:t>
            </a:r>
            <a:endParaRPr lang="en-US" sz="1250" dirty="0"/>
          </a:p>
        </p:txBody>
      </p:sp>
      <p:sp>
        <p:nvSpPr>
          <p:cNvPr id="14" name="Shape 11"/>
          <p:cNvSpPr/>
          <p:nvPr/>
        </p:nvSpPr>
        <p:spPr>
          <a:xfrm>
            <a:off x="822960" y="4178808"/>
            <a:ext cx="384048" cy="384048"/>
          </a:xfrm>
          <a:prstGeom prst="ellipse">
            <a:avLst/>
          </a:prstGeom>
          <a:solidFill>
            <a:srgbClr val="8B7FE8"/>
          </a:solidFill>
          <a:ln/>
        </p:spPr>
      </p:sp>
      <p:sp>
        <p:nvSpPr>
          <p:cNvPr id="15" name="Text 12"/>
          <p:cNvSpPr/>
          <p:nvPr/>
        </p:nvSpPr>
        <p:spPr>
          <a:xfrm>
            <a:off x="822960" y="4178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3"/>
          <p:cNvSpPr/>
          <p:nvPr/>
        </p:nvSpPr>
        <p:spPr>
          <a:xfrm>
            <a:off x="1435608" y="4178808"/>
            <a:ext cx="9582912" cy="384048"/>
          </a:xfrm>
          <a:prstGeom prst="rect">
            <a:avLst/>
          </a:prstGeom>
          <a:noFill/>
          <a:ln/>
        </p:spPr>
        <p:txBody>
          <a:bodyPr wrap="square" lIns="0" tIns="0" rIns="0" bIns="0" rtlCol="0" anchor="ctr"/>
          <a:lstStyle/>
          <a:p>
            <a:pPr indent="0" marL="0">
              <a:buNone/>
            </a:pPr>
            <a:r>
              <a:rPr lang="en-US" sz="1250" dirty="0">
                <a:solidFill>
                  <a:srgbClr val="2D2A4A"/>
                </a:solidFill>
                <a:latin typeface="Calibri" pitchFamily="34" charset="0"/>
                <a:ea typeface="Calibri" pitchFamily="34" charset="-122"/>
                <a:cs typeface="Calibri" pitchFamily="34" charset="-120"/>
              </a:rPr>
              <a:t>Explain in your own words the difference between descriptive and inferential statistics, using your own example for each</a:t>
            </a:r>
            <a:endParaRPr lang="en-US" sz="1250" dirty="0"/>
          </a:p>
        </p:txBody>
      </p:sp>
      <p:sp>
        <p:nvSpPr>
          <p:cNvPr id="17" name="Shape 14"/>
          <p:cNvSpPr/>
          <p:nvPr/>
        </p:nvSpPr>
        <p:spPr>
          <a:xfrm>
            <a:off x="822960" y="5056632"/>
            <a:ext cx="384048" cy="384048"/>
          </a:xfrm>
          <a:prstGeom prst="ellipse">
            <a:avLst/>
          </a:prstGeom>
          <a:solidFill>
            <a:srgbClr val="8B7FE8"/>
          </a:solidFill>
          <a:ln/>
        </p:spPr>
      </p:sp>
      <p:sp>
        <p:nvSpPr>
          <p:cNvPr id="18" name="Text 15"/>
          <p:cNvSpPr/>
          <p:nvPr/>
        </p:nvSpPr>
        <p:spPr>
          <a:xfrm>
            <a:off x="822960" y="5056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6"/>
          <p:cNvSpPr/>
          <p:nvPr/>
        </p:nvSpPr>
        <p:spPr>
          <a:xfrm>
            <a:off x="1435608" y="5056632"/>
            <a:ext cx="9582912" cy="384048"/>
          </a:xfrm>
          <a:prstGeom prst="rect">
            <a:avLst/>
          </a:prstGeom>
          <a:noFill/>
          <a:ln/>
        </p:spPr>
        <p:txBody>
          <a:bodyPr wrap="square" lIns="0" tIns="0" rIns="0" bIns="0" rtlCol="0" anchor="ctr"/>
          <a:lstStyle/>
          <a:p>
            <a:pPr indent="0" marL="0">
              <a:buNone/>
            </a:pPr>
            <a:r>
              <a:rPr lang="en-US" sz="1250" dirty="0">
                <a:solidFill>
                  <a:srgbClr val="2D2A4A"/>
                </a:solidFill>
                <a:latin typeface="Calibri" pitchFamily="34" charset="0"/>
                <a:ea typeface="Calibri" pitchFamily="34" charset="-122"/>
                <a:cs typeface="Calibri" pitchFamily="34" charset="-120"/>
              </a:rPr>
              <a:t>For "does fertilizer amount affect plant height," identify the independent and dependent variable, and explain your reasoning</a:t>
            </a:r>
            <a:endParaRPr lang="en-US" sz="1250" dirty="0"/>
          </a:p>
        </p:txBody>
      </p:sp>
      <p:sp>
        <p:nvSpPr>
          <p:cNvPr id="20" name="Text 1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21" name="Text 1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F"/>
        </a:solidFill>
      </p:bgPr>
    </p:bg>
    <p:spTree>
      <p:nvGrpSpPr>
        <p:cNvPr id="1" name=""/>
        <p:cNvGrpSpPr/>
        <p:nvPr/>
      </p:nvGrpSpPr>
      <p:grpSpPr>
        <a:xfrm>
          <a:off x="0" y="0"/>
          <a:ext cx="0" cy="0"/>
          <a:chOff x="0" y="0"/>
          <a:chExt cx="0" cy="0"/>
        </a:xfrm>
      </p:grpSpPr>
      <p:sp>
        <p:nvSpPr>
          <p:cNvPr id="2" name="Text 0"/>
          <p:cNvSpPr/>
          <p:nvPr/>
        </p:nvSpPr>
        <p:spPr>
          <a:xfrm>
            <a:off x="457200" y="457200"/>
            <a:ext cx="274320" cy="274320"/>
          </a:xfrm>
          <a:prstGeom prst="rect">
            <a:avLst/>
          </a:prstGeom>
          <a:noFill/>
          <a:ln/>
        </p:spPr>
        <p:txBody>
          <a:bodyPr wrap="square" lIns="0" tIns="0" rIns="0" bIns="0" rtlCol="0" anchor="ctr"/>
          <a:lstStyle/>
          <a:p>
            <a:pPr algn="ctr" indent="0" marL="0">
              <a:buNone/>
            </a:pPr>
            <a:r>
              <a:rPr lang="en-US" sz="1200" dirty="0">
                <a:solidFill>
                  <a:srgbClr val="5FD6B0"/>
                </a:solidFill>
              </a:rPr>
              <a:t>✦</a:t>
            </a:r>
            <a:endParaRPr lang="en-US" sz="1200" dirty="0"/>
          </a:p>
        </p:txBody>
      </p:sp>
      <p:sp>
        <p:nvSpPr>
          <p:cNvPr id="3" name="Text 1"/>
          <p:cNvSpPr/>
          <p:nvPr/>
        </p:nvSpPr>
        <p:spPr>
          <a:xfrm>
            <a:off x="11247120" y="548640"/>
            <a:ext cx="201168" cy="201168"/>
          </a:xfrm>
          <a:prstGeom prst="rect">
            <a:avLst/>
          </a:prstGeom>
          <a:noFill/>
          <a:ln/>
        </p:spPr>
        <p:txBody>
          <a:bodyPr wrap="square" lIns="0" tIns="0" rIns="0" bIns="0" rtlCol="0" anchor="ctr"/>
          <a:lstStyle/>
          <a:p>
            <a:pPr algn="ctr" indent="0" marL="0">
              <a:buNone/>
            </a:pPr>
            <a:r>
              <a:rPr lang="en-US" sz="880" dirty="0">
                <a:solidFill>
                  <a:srgbClr val="FFC94A"/>
                </a:solidFill>
              </a:rPr>
              <a:t>✦</a:t>
            </a:r>
            <a:endParaRPr lang="en-US" sz="880" dirty="0"/>
          </a:p>
        </p:txBody>
      </p:sp>
      <p:sp>
        <p:nvSpPr>
          <p:cNvPr id="4" name="Text 2"/>
          <p:cNvSpPr/>
          <p:nvPr/>
        </p:nvSpPr>
        <p:spPr>
          <a:xfrm>
            <a:off x="640080" y="6126480"/>
            <a:ext cx="228600" cy="228600"/>
          </a:xfrm>
          <a:prstGeom prst="rect">
            <a:avLst/>
          </a:prstGeom>
          <a:noFill/>
          <a:ln/>
        </p:spPr>
        <p:txBody>
          <a:bodyPr wrap="square" lIns="0" tIns="0" rIns="0" bIns="0" rtlCol="0" anchor="ctr"/>
          <a:lstStyle/>
          <a:p>
            <a:pPr algn="ctr" indent="0" marL="0">
              <a:buNone/>
            </a:pPr>
            <a:r>
              <a:rPr lang="en-US" sz="1000" dirty="0">
                <a:solidFill>
                  <a:srgbClr val="FF8FB3"/>
                </a:solidFill>
              </a:rPr>
              <a:t>✦</a:t>
            </a:r>
            <a:endParaRPr lang="en-US" sz="1000" dirty="0"/>
          </a:p>
        </p:txBody>
      </p:sp>
      <p:sp>
        <p:nvSpPr>
          <p:cNvPr id="5" name="Text 3"/>
          <p:cNvSpPr/>
          <p:nvPr/>
        </p:nvSpPr>
        <p:spPr>
          <a:xfrm>
            <a:off x="11338560" y="6035040"/>
            <a:ext cx="274320" cy="274320"/>
          </a:xfrm>
          <a:prstGeom prst="rect">
            <a:avLst/>
          </a:prstGeom>
          <a:noFill/>
          <a:ln/>
        </p:spPr>
        <p:txBody>
          <a:bodyPr wrap="square" lIns="0" tIns="0" rIns="0" bIns="0" rtlCol="0" anchor="ctr"/>
          <a:lstStyle/>
          <a:p>
            <a:pPr algn="ctr" indent="0" marL="0">
              <a:buNone/>
            </a:pPr>
            <a:r>
              <a:rPr lang="en-US" sz="1200" dirty="0">
                <a:solidFill>
                  <a:srgbClr val="8B7FE8"/>
                </a:solidFill>
              </a:rPr>
              <a:t>✦</a:t>
            </a:r>
            <a:endParaRPr lang="en-US" sz="1200" dirty="0"/>
          </a:p>
        </p:txBody>
      </p:sp>
      <p:sp>
        <p:nvSpPr>
          <p:cNvPr id="6" name="Shape 4"/>
          <p:cNvSpPr/>
          <p:nvPr/>
        </p:nvSpPr>
        <p:spPr>
          <a:xfrm rot="-90000">
            <a:off x="1874520" y="1325880"/>
            <a:ext cx="8805672" cy="777240"/>
          </a:xfrm>
          <a:prstGeom prst="roundRect">
            <a:avLst>
              <a:gd name="adj" fmla="val 17647"/>
            </a:avLst>
          </a:prstGeom>
          <a:solidFill>
            <a:srgbClr val="FFC94A"/>
          </a:solidFill>
          <a:ln/>
        </p:spPr>
      </p:sp>
      <p:sp>
        <p:nvSpPr>
          <p:cNvPr id="7" name="Shape 5"/>
          <p:cNvSpPr/>
          <p:nvPr/>
        </p:nvSpPr>
        <p:spPr>
          <a:xfrm>
            <a:off x="1691640" y="1188720"/>
            <a:ext cx="8805672" cy="777240"/>
          </a:xfrm>
          <a:prstGeom prst="roundRect">
            <a:avLst>
              <a:gd name="adj" fmla="val 17647"/>
            </a:avLst>
          </a:prstGeom>
          <a:solidFill>
            <a:srgbClr val="8B7FE8"/>
          </a:solidFill>
          <a:ln/>
        </p:spPr>
      </p:sp>
      <p:pic>
        <p:nvPicPr>
          <p:cNvPr id="8" name="Image 0" descr="preencoded.png">    </p:cNvPr>
          <p:cNvPicPr>
            <a:picLocks noChangeAspect="1"/>
          </p:cNvPicPr>
          <p:nvPr/>
        </p:nvPicPr>
        <p:blipFill>
          <a:blip r:embed="rId1"/>
          <a:stretch>
            <a:fillRect/>
          </a:stretch>
        </p:blipFill>
        <p:spPr>
          <a:xfrm>
            <a:off x="5870448" y="1348740"/>
            <a:ext cx="457200" cy="457200"/>
          </a:xfrm>
          <a:prstGeom prst="rect">
            <a:avLst/>
          </a:prstGeom>
        </p:spPr>
      </p:pic>
      <p:sp>
        <p:nvSpPr>
          <p:cNvPr id="9" name="Text 6"/>
          <p:cNvSpPr/>
          <p:nvPr/>
        </p:nvSpPr>
        <p:spPr>
          <a:xfrm>
            <a:off x="1691640" y="1188720"/>
            <a:ext cx="8805672" cy="777240"/>
          </a:xfrm>
          <a:prstGeom prst="rect">
            <a:avLst/>
          </a:prstGeom>
          <a:noFill/>
          <a:ln/>
        </p:spPr>
        <p:txBody>
          <a:bodyPr wrap="square" lIns="0" tIns="0" rIns="0" bIns="0" rtlCol="0" anchor="b"/>
          <a:lstStyle/>
          <a:p>
            <a:pPr algn="ctr" indent="0" marL="0">
              <a:buNone/>
            </a:pPr>
            <a:r>
              <a:rPr lang="en-US" sz="1200" b="1" spc="200" kern="0" dirty="0">
                <a:solidFill>
                  <a:srgbClr val="FFF6DC"/>
                </a:solidFill>
                <a:latin typeface="Calibri" pitchFamily="34" charset="0"/>
                <a:ea typeface="Calibri" pitchFamily="34" charset="-122"/>
                <a:cs typeface="Calibri" pitchFamily="34" charset="-120"/>
              </a:rPr>
              <a:t>PART 2</a:t>
            </a:r>
            <a:endParaRPr lang="en-US" sz="1200" dirty="0"/>
          </a:p>
        </p:txBody>
      </p:sp>
      <p:sp>
        <p:nvSpPr>
          <p:cNvPr id="10" name="Text 7"/>
          <p:cNvSpPr/>
          <p:nvPr/>
        </p:nvSpPr>
        <p:spPr>
          <a:xfrm>
            <a:off x="1097280" y="2331720"/>
            <a:ext cx="9994392" cy="1920240"/>
          </a:xfrm>
          <a:prstGeom prst="rect">
            <a:avLst/>
          </a:prstGeom>
          <a:noFill/>
          <a:ln/>
        </p:spPr>
        <p:txBody>
          <a:bodyPr wrap="square" lIns="0" tIns="0" rIns="0" bIns="0" rtlCol="0" anchor="t"/>
          <a:lstStyle/>
          <a:p>
            <a:pPr algn="ctr" indent="0" marL="0">
              <a:buNone/>
            </a:pPr>
            <a:r>
              <a:rPr lang="en-US" sz="2900" b="1" dirty="0">
                <a:solidFill>
                  <a:srgbClr val="2D2A4A"/>
                </a:solidFill>
                <a:latin typeface="Century Gothic" pitchFamily="34" charset="0"/>
                <a:ea typeface="Century Gothic" pitchFamily="34" charset="-122"/>
                <a:cs typeface="Century Gothic" pitchFamily="34" charset="-120"/>
              </a:rPr>
              <a:t>Collecting &amp; Measuring Data</a:t>
            </a:r>
            <a:endParaRPr lang="en-US" sz="2900" dirty="0"/>
          </a:p>
        </p:txBody>
      </p:sp>
      <p:sp>
        <p:nvSpPr>
          <p:cNvPr id="11" name="Text 8"/>
          <p:cNvSpPr/>
          <p:nvPr/>
        </p:nvSpPr>
        <p:spPr>
          <a:xfrm>
            <a:off x="1737360" y="4434840"/>
            <a:ext cx="8714232" cy="1097280"/>
          </a:xfrm>
          <a:prstGeom prst="rect">
            <a:avLst/>
          </a:prstGeom>
          <a:noFill/>
          <a:ln/>
        </p:spPr>
        <p:txBody>
          <a:bodyPr wrap="square" lIns="0" tIns="0" rIns="0" bIns="0" rtlCol="0" anchor="t"/>
          <a:lstStyle/>
          <a:p>
            <a:pPr algn="ctr" indent="0" marL="0">
              <a:buNone/>
            </a:pPr>
            <a:r>
              <a:rPr lang="en-US" sz="1500" dirty="0">
                <a:solidFill>
                  <a:srgbClr val="685F8F"/>
                </a:solidFill>
                <a:latin typeface="Calibri" pitchFamily="34" charset="0"/>
                <a:ea typeface="Calibri" pitchFamily="34" charset="-122"/>
                <a:cs typeface="Calibri" pitchFamily="34" charset="-120"/>
              </a:rPr>
              <a:t>Where your data actually comes from, how it was sampled, and whether the way it was measured can even be trusted</a:t>
            </a:r>
            <a:endParaRPr lang="en-US" sz="1500" dirty="0"/>
          </a:p>
        </p:txBody>
      </p:sp>
      <p:sp>
        <p:nvSpPr>
          <p:cNvPr id="12" name="Text 9"/>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Primary vs. Secondary Data</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54480"/>
            <a:ext cx="3657600" cy="4663440"/>
          </a:xfrm>
          <a:prstGeom prst="roundRect">
            <a:avLst>
              <a:gd name="adj" fmla="val 4500"/>
            </a:avLst>
          </a:prstGeom>
          <a:solidFill>
            <a:srgbClr val="EDE9FE"/>
          </a:solidFill>
          <a:ln w="12700">
            <a:solidFill>
              <a:srgbClr val="D8D2F5"/>
            </a:solidFill>
            <a:prstDash val="solid"/>
          </a:ln>
        </p:spPr>
      </p:sp>
      <p:sp>
        <p:nvSpPr>
          <p:cNvPr id="7" name="Shape 4"/>
          <p:cNvSpPr/>
          <p:nvPr/>
        </p:nvSpPr>
        <p:spPr>
          <a:xfrm>
            <a:off x="1508760" y="2194560"/>
            <a:ext cx="1554480" cy="155448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1746504" y="2423160"/>
            <a:ext cx="1088136" cy="1088136"/>
          </a:xfrm>
          <a:prstGeom prst="rect">
            <a:avLst/>
          </a:prstGeom>
        </p:spPr>
      </p:pic>
      <p:sp>
        <p:nvSpPr>
          <p:cNvPr id="9" name="Text 5"/>
          <p:cNvSpPr/>
          <p:nvPr/>
        </p:nvSpPr>
        <p:spPr>
          <a:xfrm>
            <a:off x="640080" y="3977640"/>
            <a:ext cx="3291840" cy="1737360"/>
          </a:xfrm>
          <a:prstGeom prst="rect">
            <a:avLst/>
          </a:prstGeom>
          <a:noFill/>
          <a:ln/>
        </p:spPr>
        <p:txBody>
          <a:bodyPr wrap="square" lIns="0" tIns="0" rIns="0" bIns="0" rtlCol="0" anchor="t"/>
          <a:lstStyle/>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Who</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collected</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it first</a:t>
            </a:r>
            <a:endParaRPr lang="en-US" sz="1600" dirty="0"/>
          </a:p>
        </p:txBody>
      </p:sp>
      <p:sp>
        <p:nvSpPr>
          <p:cNvPr id="10" name="Text 6"/>
          <p:cNvSpPr/>
          <p:nvPr/>
        </p:nvSpPr>
        <p:spPr>
          <a:xfrm>
            <a:off x="4572000" y="1737360"/>
            <a:ext cx="7132320" cy="4114800"/>
          </a:xfrm>
          <a:prstGeom prst="rect">
            <a:avLst/>
          </a:prstGeom>
          <a:noFill/>
          <a:ln/>
        </p:spPr>
        <p:txBody>
          <a:bodyPr wrap="square" lIns="0" tIns="0" rIns="0" bIns="0" rtlCol="0" anchor="t"/>
          <a:lstStyle/>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Primary data is collected firsthand, specifically for your own purpose — your own survey, your own experiment, your own sensor readings</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Secondary data was collected by someone else, for a different original purpose, and you’re reusing it — government census data, a public dataset, a previous study’s results</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Primary data fits your exact question perfectly, but costs real time and money to collect. Secondary data is fast and often free, but may not perfectly match what you actually need</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Most real-world data science work is a mix of both — recognizing which kind you’re holding shapes how much you should trust and reshape it</a:t>
            </a:r>
            <a:endParaRPr lang="en-US" sz="1600" dirty="0"/>
          </a:p>
        </p:txBody>
      </p:sp>
      <p:sp>
        <p:nvSpPr>
          <p:cNvPr id="11" name="Text 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2" name="Text 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Sampling Types &amp; Techniques</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54480"/>
            <a:ext cx="3657600" cy="4663440"/>
          </a:xfrm>
          <a:prstGeom prst="roundRect">
            <a:avLst>
              <a:gd name="adj" fmla="val 4500"/>
            </a:avLst>
          </a:prstGeom>
          <a:solidFill>
            <a:srgbClr val="EDE9FE"/>
          </a:solidFill>
          <a:ln w="12700">
            <a:solidFill>
              <a:srgbClr val="D8D2F5"/>
            </a:solidFill>
            <a:prstDash val="solid"/>
          </a:ln>
        </p:spPr>
      </p:sp>
      <p:sp>
        <p:nvSpPr>
          <p:cNvPr id="7" name="Shape 4"/>
          <p:cNvSpPr/>
          <p:nvPr/>
        </p:nvSpPr>
        <p:spPr>
          <a:xfrm>
            <a:off x="1508760" y="2194560"/>
            <a:ext cx="1554480" cy="155448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1746504" y="2423160"/>
            <a:ext cx="1088136" cy="1088136"/>
          </a:xfrm>
          <a:prstGeom prst="rect">
            <a:avLst/>
          </a:prstGeom>
        </p:spPr>
      </p:pic>
      <p:sp>
        <p:nvSpPr>
          <p:cNvPr id="9" name="Text 5"/>
          <p:cNvSpPr/>
          <p:nvPr/>
        </p:nvSpPr>
        <p:spPr>
          <a:xfrm>
            <a:off x="640080" y="3977640"/>
            <a:ext cx="3291840" cy="1737360"/>
          </a:xfrm>
          <a:prstGeom prst="rect">
            <a:avLst/>
          </a:prstGeom>
          <a:noFill/>
          <a:ln/>
        </p:spPr>
        <p:txBody>
          <a:bodyPr wrap="square" lIns="0" tIns="0" rIns="0" bIns="0" rtlCol="0" anchor="t"/>
          <a:lstStyle/>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How you</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pick the</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slice</a:t>
            </a:r>
            <a:endParaRPr lang="en-US" sz="1600" dirty="0"/>
          </a:p>
        </p:txBody>
      </p:sp>
      <p:sp>
        <p:nvSpPr>
          <p:cNvPr id="10" name="Text 6"/>
          <p:cNvSpPr/>
          <p:nvPr/>
        </p:nvSpPr>
        <p:spPr>
          <a:xfrm>
            <a:off x="4572000" y="1737360"/>
            <a:ext cx="7132320" cy="4114800"/>
          </a:xfrm>
          <a:prstGeom prst="rect">
            <a:avLst/>
          </a:prstGeom>
          <a:noFill/>
          <a:ln/>
        </p:spPr>
        <p:txBody>
          <a:bodyPr wrap="square" lIns="0" tIns="0" rIns="0" bIns="0" rtlCol="0" anchor="t"/>
          <a:lstStyle/>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How a sample is chosen directly determines whether it can honestly represent the population it came from</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Probability sampling gives every member of the population a known chance of being selected — this is what makes inferential statistics (Sessions 20–22) mathematically valid at all</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Non-probability sampling doesn’t guarantee that — it’s often faster and cheaper, but carries a real risk of a biased, unrepresentative sample</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The next slide walks through the specific techniques inside each category</a:t>
            </a:r>
            <a:endParaRPr lang="en-US" sz="1600" dirty="0"/>
          </a:p>
        </p:txBody>
      </p:sp>
      <p:sp>
        <p:nvSpPr>
          <p:cNvPr id="11" name="Text 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2" name="Text 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Common Sampling Techniques</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08760"/>
            <a:ext cx="2654046" cy="4892040"/>
          </a:xfrm>
          <a:prstGeom prst="roundRect">
            <a:avLst>
              <a:gd name="adj" fmla="val 5512"/>
            </a:avLst>
          </a:prstGeom>
          <a:solidFill>
            <a:srgbClr val="EDE9FE"/>
          </a:solidFill>
          <a:ln w="12700">
            <a:solidFill>
              <a:srgbClr val="D8D2F5"/>
            </a:solidFill>
            <a:prstDash val="solid"/>
          </a:ln>
        </p:spPr>
      </p:sp>
      <p:sp>
        <p:nvSpPr>
          <p:cNvPr id="7" name="Shape 4"/>
          <p:cNvSpPr/>
          <p:nvPr/>
        </p:nvSpPr>
        <p:spPr>
          <a:xfrm>
            <a:off x="1509903" y="2093976"/>
            <a:ext cx="548640" cy="54864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1592199" y="2176272"/>
            <a:ext cx="384048" cy="384048"/>
          </a:xfrm>
          <a:prstGeom prst="rect">
            <a:avLst/>
          </a:prstGeom>
        </p:spPr>
      </p:pic>
      <p:sp>
        <p:nvSpPr>
          <p:cNvPr id="9" name="Text 5"/>
          <p:cNvSpPr/>
          <p:nvPr/>
        </p:nvSpPr>
        <p:spPr>
          <a:xfrm>
            <a:off x="548640" y="2715768"/>
            <a:ext cx="2471166"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Simple Random</a:t>
            </a:r>
            <a:endParaRPr lang="en-US" sz="1300" dirty="0"/>
          </a:p>
        </p:txBody>
      </p:sp>
      <p:sp>
        <p:nvSpPr>
          <p:cNvPr id="10" name="Text 6"/>
          <p:cNvSpPr/>
          <p:nvPr/>
        </p:nvSpPr>
        <p:spPr>
          <a:xfrm>
            <a:off x="603504" y="3099816"/>
            <a:ext cx="2361438"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Every member has an exactly equal chance of selection — like drawing names from a hat</a:t>
            </a:r>
            <a:endParaRPr lang="en-US" sz="1100" dirty="0"/>
          </a:p>
        </p:txBody>
      </p:sp>
      <p:sp>
        <p:nvSpPr>
          <p:cNvPr id="11" name="Shape 7"/>
          <p:cNvSpPr/>
          <p:nvPr/>
        </p:nvSpPr>
        <p:spPr>
          <a:xfrm>
            <a:off x="3330702" y="1508760"/>
            <a:ext cx="2654046" cy="4892040"/>
          </a:xfrm>
          <a:prstGeom prst="roundRect">
            <a:avLst>
              <a:gd name="adj" fmla="val 5512"/>
            </a:avLst>
          </a:prstGeom>
          <a:solidFill>
            <a:srgbClr val="FFF6DC"/>
          </a:solidFill>
          <a:ln w="12700">
            <a:solidFill>
              <a:srgbClr val="D8D2F5"/>
            </a:solidFill>
            <a:prstDash val="solid"/>
          </a:ln>
        </p:spPr>
      </p:sp>
      <p:sp>
        <p:nvSpPr>
          <p:cNvPr id="12" name="Shape 8"/>
          <p:cNvSpPr/>
          <p:nvPr/>
        </p:nvSpPr>
        <p:spPr>
          <a:xfrm>
            <a:off x="4383405" y="2093976"/>
            <a:ext cx="548640" cy="548640"/>
          </a:xfrm>
          <a:prstGeom prst="ellipse">
            <a:avLst/>
          </a:prstGeom>
          <a:solidFill>
            <a:srgbClr val="FFC94A"/>
          </a:solidFill>
          <a:ln/>
        </p:spPr>
      </p:sp>
      <p:pic>
        <p:nvPicPr>
          <p:cNvPr id="13" name="Image 2" descr="preencoded.png">    </p:cNvPr>
          <p:cNvPicPr>
            <a:picLocks noChangeAspect="1"/>
          </p:cNvPicPr>
          <p:nvPr/>
        </p:nvPicPr>
        <p:blipFill>
          <a:blip r:embed="rId3"/>
          <a:stretch>
            <a:fillRect/>
          </a:stretch>
        </p:blipFill>
        <p:spPr>
          <a:xfrm>
            <a:off x="4465701" y="2176272"/>
            <a:ext cx="384048" cy="384048"/>
          </a:xfrm>
          <a:prstGeom prst="rect">
            <a:avLst/>
          </a:prstGeom>
        </p:spPr>
      </p:pic>
      <p:sp>
        <p:nvSpPr>
          <p:cNvPr id="14" name="Text 9"/>
          <p:cNvSpPr/>
          <p:nvPr/>
        </p:nvSpPr>
        <p:spPr>
          <a:xfrm>
            <a:off x="3422142" y="2715768"/>
            <a:ext cx="2471166"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Stratified</a:t>
            </a:r>
            <a:endParaRPr lang="en-US" sz="1300" dirty="0"/>
          </a:p>
        </p:txBody>
      </p:sp>
      <p:sp>
        <p:nvSpPr>
          <p:cNvPr id="15" name="Text 10"/>
          <p:cNvSpPr/>
          <p:nvPr/>
        </p:nvSpPr>
        <p:spPr>
          <a:xfrm>
            <a:off x="3477006" y="3099816"/>
            <a:ext cx="2361438"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The population is split into meaningful subgroups first, then randomly sampled within each</a:t>
            </a:r>
            <a:endParaRPr lang="en-US" sz="1100" dirty="0"/>
          </a:p>
        </p:txBody>
      </p:sp>
      <p:sp>
        <p:nvSpPr>
          <p:cNvPr id="16" name="Shape 11"/>
          <p:cNvSpPr/>
          <p:nvPr/>
        </p:nvSpPr>
        <p:spPr>
          <a:xfrm>
            <a:off x="6204204" y="1508760"/>
            <a:ext cx="2654046" cy="4892040"/>
          </a:xfrm>
          <a:prstGeom prst="roundRect">
            <a:avLst>
              <a:gd name="adj" fmla="val 5512"/>
            </a:avLst>
          </a:prstGeom>
          <a:solidFill>
            <a:srgbClr val="E3FBF3"/>
          </a:solidFill>
          <a:ln w="12700">
            <a:solidFill>
              <a:srgbClr val="D8D2F5"/>
            </a:solidFill>
            <a:prstDash val="solid"/>
          </a:ln>
        </p:spPr>
      </p:sp>
      <p:sp>
        <p:nvSpPr>
          <p:cNvPr id="17" name="Shape 12"/>
          <p:cNvSpPr/>
          <p:nvPr/>
        </p:nvSpPr>
        <p:spPr>
          <a:xfrm>
            <a:off x="7256907" y="2093976"/>
            <a:ext cx="548640" cy="548640"/>
          </a:xfrm>
          <a:prstGeom prst="ellipse">
            <a:avLst/>
          </a:prstGeom>
          <a:solidFill>
            <a:srgbClr val="5FD6B0"/>
          </a:solidFill>
          <a:ln/>
        </p:spPr>
      </p:sp>
      <p:pic>
        <p:nvPicPr>
          <p:cNvPr id="18" name="Image 3" descr="preencoded.png">    </p:cNvPr>
          <p:cNvPicPr>
            <a:picLocks noChangeAspect="1"/>
          </p:cNvPicPr>
          <p:nvPr/>
        </p:nvPicPr>
        <p:blipFill>
          <a:blip r:embed="rId4"/>
          <a:stretch>
            <a:fillRect/>
          </a:stretch>
        </p:blipFill>
        <p:spPr>
          <a:xfrm>
            <a:off x="7339203" y="2176272"/>
            <a:ext cx="384048" cy="384048"/>
          </a:xfrm>
          <a:prstGeom prst="rect">
            <a:avLst/>
          </a:prstGeom>
        </p:spPr>
      </p:pic>
      <p:sp>
        <p:nvSpPr>
          <p:cNvPr id="19" name="Text 13"/>
          <p:cNvSpPr/>
          <p:nvPr/>
        </p:nvSpPr>
        <p:spPr>
          <a:xfrm>
            <a:off x="6295644" y="2715768"/>
            <a:ext cx="2471166"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Cluster</a:t>
            </a:r>
            <a:endParaRPr lang="en-US" sz="1300" dirty="0"/>
          </a:p>
        </p:txBody>
      </p:sp>
      <p:sp>
        <p:nvSpPr>
          <p:cNvPr id="20" name="Text 14"/>
          <p:cNvSpPr/>
          <p:nvPr/>
        </p:nvSpPr>
        <p:spPr>
          <a:xfrm>
            <a:off x="6350508" y="3099816"/>
            <a:ext cx="2361438"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The population is split into naturally occurring groups (e.g. schools), and whole groups are randomly selected</a:t>
            </a:r>
            <a:endParaRPr lang="en-US" sz="1100" dirty="0"/>
          </a:p>
        </p:txBody>
      </p:sp>
      <p:sp>
        <p:nvSpPr>
          <p:cNvPr id="21" name="Shape 15"/>
          <p:cNvSpPr/>
          <p:nvPr/>
        </p:nvSpPr>
        <p:spPr>
          <a:xfrm>
            <a:off x="9077706" y="1508760"/>
            <a:ext cx="2654046" cy="4892040"/>
          </a:xfrm>
          <a:prstGeom prst="roundRect">
            <a:avLst>
              <a:gd name="adj" fmla="val 5512"/>
            </a:avLst>
          </a:prstGeom>
          <a:solidFill>
            <a:srgbClr val="EDE9FE"/>
          </a:solidFill>
          <a:ln w="12700">
            <a:solidFill>
              <a:srgbClr val="D8D2F5"/>
            </a:solidFill>
            <a:prstDash val="solid"/>
          </a:ln>
        </p:spPr>
      </p:sp>
      <p:sp>
        <p:nvSpPr>
          <p:cNvPr id="22" name="Shape 16"/>
          <p:cNvSpPr/>
          <p:nvPr/>
        </p:nvSpPr>
        <p:spPr>
          <a:xfrm>
            <a:off x="10130409" y="2093976"/>
            <a:ext cx="548640" cy="548640"/>
          </a:xfrm>
          <a:prstGeom prst="ellipse">
            <a:avLst/>
          </a:prstGeom>
          <a:solidFill>
            <a:srgbClr val="FF8FB3"/>
          </a:solidFill>
          <a:ln/>
        </p:spPr>
      </p:sp>
      <p:pic>
        <p:nvPicPr>
          <p:cNvPr id="23" name="Image 4" descr="preencoded.png">    </p:cNvPr>
          <p:cNvPicPr>
            <a:picLocks noChangeAspect="1"/>
          </p:cNvPicPr>
          <p:nvPr/>
        </p:nvPicPr>
        <p:blipFill>
          <a:blip r:embed="rId5"/>
          <a:stretch>
            <a:fillRect/>
          </a:stretch>
        </p:blipFill>
        <p:spPr>
          <a:xfrm>
            <a:off x="10212705" y="2176272"/>
            <a:ext cx="384048" cy="384048"/>
          </a:xfrm>
          <a:prstGeom prst="rect">
            <a:avLst/>
          </a:prstGeom>
        </p:spPr>
      </p:pic>
      <p:sp>
        <p:nvSpPr>
          <p:cNvPr id="24" name="Text 17"/>
          <p:cNvSpPr/>
          <p:nvPr/>
        </p:nvSpPr>
        <p:spPr>
          <a:xfrm>
            <a:off x="9169146" y="2715768"/>
            <a:ext cx="2471166"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Convenience</a:t>
            </a:r>
            <a:endParaRPr lang="en-US" sz="1300" dirty="0"/>
          </a:p>
        </p:txBody>
      </p:sp>
      <p:sp>
        <p:nvSpPr>
          <p:cNvPr id="25" name="Text 18"/>
          <p:cNvSpPr/>
          <p:nvPr/>
        </p:nvSpPr>
        <p:spPr>
          <a:xfrm>
            <a:off x="9224010" y="3099816"/>
            <a:ext cx="2361438"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Whoever is easiest to reach is sampled — fast, but carries the highest risk of an unrepresentative sample</a:t>
            </a:r>
            <a:endParaRPr lang="en-US" sz="1100" dirty="0"/>
          </a:p>
        </p:txBody>
      </p:sp>
      <p:sp>
        <p:nvSpPr>
          <p:cNvPr id="26" name="Text 19"/>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27" name="Text 20"/>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More Sampling Techniques</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08760"/>
            <a:ext cx="3611880" cy="4892040"/>
          </a:xfrm>
          <a:prstGeom prst="roundRect">
            <a:avLst>
              <a:gd name="adj" fmla="val 4051"/>
            </a:avLst>
          </a:prstGeom>
          <a:solidFill>
            <a:srgbClr val="EDE9FE"/>
          </a:solidFill>
          <a:ln w="12700">
            <a:solidFill>
              <a:srgbClr val="D8D2F5"/>
            </a:solidFill>
            <a:prstDash val="solid"/>
          </a:ln>
        </p:spPr>
      </p:sp>
      <p:sp>
        <p:nvSpPr>
          <p:cNvPr id="7" name="Shape 4"/>
          <p:cNvSpPr/>
          <p:nvPr/>
        </p:nvSpPr>
        <p:spPr>
          <a:xfrm>
            <a:off x="1988820" y="2093976"/>
            <a:ext cx="548640" cy="54864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2071116" y="2176272"/>
            <a:ext cx="384048" cy="384048"/>
          </a:xfrm>
          <a:prstGeom prst="rect">
            <a:avLst/>
          </a:prstGeom>
        </p:spPr>
      </p:pic>
      <p:sp>
        <p:nvSpPr>
          <p:cNvPr id="9" name="Text 5"/>
          <p:cNvSpPr/>
          <p:nvPr/>
        </p:nvSpPr>
        <p:spPr>
          <a:xfrm>
            <a:off x="548640" y="2715768"/>
            <a:ext cx="3429000"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Systematic</a:t>
            </a:r>
            <a:endParaRPr lang="en-US" sz="1300" dirty="0"/>
          </a:p>
        </p:txBody>
      </p:sp>
      <p:sp>
        <p:nvSpPr>
          <p:cNvPr id="10" name="Text 6"/>
          <p:cNvSpPr/>
          <p:nvPr/>
        </p:nvSpPr>
        <p:spPr>
          <a:xfrm>
            <a:off x="603504" y="3099816"/>
            <a:ext cx="3319272"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Select every k-th member from a list (e.g. every 10th name) after a random starting point — probability-based</a:t>
            </a:r>
            <a:endParaRPr lang="en-US" sz="1100" dirty="0"/>
          </a:p>
        </p:txBody>
      </p:sp>
      <p:sp>
        <p:nvSpPr>
          <p:cNvPr id="11" name="Shape 7"/>
          <p:cNvSpPr/>
          <p:nvPr/>
        </p:nvSpPr>
        <p:spPr>
          <a:xfrm>
            <a:off x="4288536" y="1508760"/>
            <a:ext cx="3611880" cy="4892040"/>
          </a:xfrm>
          <a:prstGeom prst="roundRect">
            <a:avLst>
              <a:gd name="adj" fmla="val 4051"/>
            </a:avLst>
          </a:prstGeom>
          <a:solidFill>
            <a:srgbClr val="FFF6DC"/>
          </a:solidFill>
          <a:ln w="12700">
            <a:solidFill>
              <a:srgbClr val="D8D2F5"/>
            </a:solidFill>
            <a:prstDash val="solid"/>
          </a:ln>
        </p:spPr>
      </p:sp>
      <p:sp>
        <p:nvSpPr>
          <p:cNvPr id="12" name="Shape 8"/>
          <p:cNvSpPr/>
          <p:nvPr/>
        </p:nvSpPr>
        <p:spPr>
          <a:xfrm>
            <a:off x="5820156" y="2093976"/>
            <a:ext cx="548640" cy="548640"/>
          </a:xfrm>
          <a:prstGeom prst="ellipse">
            <a:avLst/>
          </a:prstGeom>
          <a:solidFill>
            <a:srgbClr val="FFC94A"/>
          </a:solidFill>
          <a:ln/>
        </p:spPr>
      </p:sp>
      <p:pic>
        <p:nvPicPr>
          <p:cNvPr id="13" name="Image 2" descr="preencoded.png">    </p:cNvPr>
          <p:cNvPicPr>
            <a:picLocks noChangeAspect="1"/>
          </p:cNvPicPr>
          <p:nvPr/>
        </p:nvPicPr>
        <p:blipFill>
          <a:blip r:embed="rId3"/>
          <a:stretch>
            <a:fillRect/>
          </a:stretch>
        </p:blipFill>
        <p:spPr>
          <a:xfrm>
            <a:off x="5902452" y="2176272"/>
            <a:ext cx="384048" cy="384048"/>
          </a:xfrm>
          <a:prstGeom prst="rect">
            <a:avLst/>
          </a:prstGeom>
        </p:spPr>
      </p:pic>
      <p:sp>
        <p:nvSpPr>
          <p:cNvPr id="14" name="Text 9"/>
          <p:cNvSpPr/>
          <p:nvPr/>
        </p:nvSpPr>
        <p:spPr>
          <a:xfrm>
            <a:off x="4379976" y="2715768"/>
            <a:ext cx="3429000"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Snowball</a:t>
            </a:r>
            <a:endParaRPr lang="en-US" sz="1300" dirty="0"/>
          </a:p>
        </p:txBody>
      </p:sp>
      <p:sp>
        <p:nvSpPr>
          <p:cNvPr id="15" name="Text 10"/>
          <p:cNvSpPr/>
          <p:nvPr/>
        </p:nvSpPr>
        <p:spPr>
          <a:xfrm>
            <a:off x="4434840" y="3099816"/>
            <a:ext cx="3319272"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Existing participants refer other participants — useful for hard-to-reach populations, but non-random</a:t>
            </a:r>
            <a:endParaRPr lang="en-US" sz="1100" dirty="0"/>
          </a:p>
        </p:txBody>
      </p:sp>
      <p:sp>
        <p:nvSpPr>
          <p:cNvPr id="16" name="Shape 11"/>
          <p:cNvSpPr/>
          <p:nvPr/>
        </p:nvSpPr>
        <p:spPr>
          <a:xfrm>
            <a:off x="8119872" y="1508760"/>
            <a:ext cx="3611880" cy="4892040"/>
          </a:xfrm>
          <a:prstGeom prst="roundRect">
            <a:avLst>
              <a:gd name="adj" fmla="val 4051"/>
            </a:avLst>
          </a:prstGeom>
          <a:solidFill>
            <a:srgbClr val="E3FBF3"/>
          </a:solidFill>
          <a:ln w="12700">
            <a:solidFill>
              <a:srgbClr val="D8D2F5"/>
            </a:solidFill>
            <a:prstDash val="solid"/>
          </a:ln>
        </p:spPr>
      </p:sp>
      <p:sp>
        <p:nvSpPr>
          <p:cNvPr id="17" name="Shape 12"/>
          <p:cNvSpPr/>
          <p:nvPr/>
        </p:nvSpPr>
        <p:spPr>
          <a:xfrm>
            <a:off x="9651492" y="2093976"/>
            <a:ext cx="548640" cy="548640"/>
          </a:xfrm>
          <a:prstGeom prst="ellipse">
            <a:avLst/>
          </a:prstGeom>
          <a:solidFill>
            <a:srgbClr val="5FD6B0"/>
          </a:solidFill>
          <a:ln/>
        </p:spPr>
      </p:sp>
      <p:pic>
        <p:nvPicPr>
          <p:cNvPr id="18" name="Image 3" descr="preencoded.png">    </p:cNvPr>
          <p:cNvPicPr>
            <a:picLocks noChangeAspect="1"/>
          </p:cNvPicPr>
          <p:nvPr/>
        </p:nvPicPr>
        <p:blipFill>
          <a:blip r:embed="rId4"/>
          <a:stretch>
            <a:fillRect/>
          </a:stretch>
        </p:blipFill>
        <p:spPr>
          <a:xfrm>
            <a:off x="9733788" y="2176272"/>
            <a:ext cx="384048" cy="384048"/>
          </a:xfrm>
          <a:prstGeom prst="rect">
            <a:avLst/>
          </a:prstGeom>
        </p:spPr>
      </p:pic>
      <p:sp>
        <p:nvSpPr>
          <p:cNvPr id="19" name="Text 13"/>
          <p:cNvSpPr/>
          <p:nvPr/>
        </p:nvSpPr>
        <p:spPr>
          <a:xfrm>
            <a:off x="8211312" y="2715768"/>
            <a:ext cx="3429000"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Quota</a:t>
            </a:r>
            <a:endParaRPr lang="en-US" sz="1300" dirty="0"/>
          </a:p>
        </p:txBody>
      </p:sp>
      <p:sp>
        <p:nvSpPr>
          <p:cNvPr id="20" name="Text 14"/>
          <p:cNvSpPr/>
          <p:nvPr/>
        </p:nvSpPr>
        <p:spPr>
          <a:xfrm>
            <a:off x="8266176" y="3099816"/>
            <a:ext cx="3319272"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A fixed number is sampled from each subgroup, like stratified — but selection within each group isn’t random</a:t>
            </a:r>
            <a:endParaRPr lang="en-US" sz="1100" dirty="0"/>
          </a:p>
        </p:txBody>
      </p:sp>
      <p:sp>
        <p:nvSpPr>
          <p:cNvPr id="21" name="Text 15"/>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22"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Hybrid Sampling in Practice</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54480"/>
            <a:ext cx="3657600" cy="4663440"/>
          </a:xfrm>
          <a:prstGeom prst="roundRect">
            <a:avLst>
              <a:gd name="adj" fmla="val 4500"/>
            </a:avLst>
          </a:prstGeom>
          <a:solidFill>
            <a:srgbClr val="EDE9FE"/>
          </a:solidFill>
          <a:ln w="12700">
            <a:solidFill>
              <a:srgbClr val="D8D2F5"/>
            </a:solidFill>
            <a:prstDash val="solid"/>
          </a:ln>
        </p:spPr>
      </p:sp>
      <p:sp>
        <p:nvSpPr>
          <p:cNvPr id="7" name="Shape 4"/>
          <p:cNvSpPr/>
          <p:nvPr/>
        </p:nvSpPr>
        <p:spPr>
          <a:xfrm>
            <a:off x="1508760" y="2194560"/>
            <a:ext cx="1554480" cy="155448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1746504" y="2423160"/>
            <a:ext cx="1088136" cy="1088136"/>
          </a:xfrm>
          <a:prstGeom prst="rect">
            <a:avLst/>
          </a:prstGeom>
        </p:spPr>
      </p:pic>
      <p:sp>
        <p:nvSpPr>
          <p:cNvPr id="9" name="Text 5"/>
          <p:cNvSpPr/>
          <p:nvPr/>
        </p:nvSpPr>
        <p:spPr>
          <a:xfrm>
            <a:off x="640080" y="3977640"/>
            <a:ext cx="3291840" cy="1737360"/>
          </a:xfrm>
          <a:prstGeom prst="rect">
            <a:avLst/>
          </a:prstGeom>
          <a:noFill/>
          <a:ln/>
        </p:spPr>
        <p:txBody>
          <a:bodyPr wrap="square" lIns="0" tIns="0" rIns="0" bIns="0" rtlCol="0" anchor="t"/>
          <a:lstStyle/>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Mixing</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methods,</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honestly</a:t>
            </a:r>
            <a:endParaRPr lang="en-US" sz="1600" dirty="0"/>
          </a:p>
        </p:txBody>
      </p:sp>
      <p:sp>
        <p:nvSpPr>
          <p:cNvPr id="10" name="Text 6"/>
          <p:cNvSpPr/>
          <p:nvPr/>
        </p:nvSpPr>
        <p:spPr>
          <a:xfrm>
            <a:off x="4572000" y="1737360"/>
            <a:ext cx="7132320" cy="4114800"/>
          </a:xfrm>
          <a:prstGeom prst="rect">
            <a:avLst/>
          </a:prstGeom>
          <a:noFill/>
          <a:ln/>
        </p:spPr>
        <p:txBody>
          <a:bodyPr wrap="square" lIns="0" tIns="0" rIns="0" bIns="0" rtlCol="0" anchor="t"/>
          <a:lstStyle/>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Real research often combines techniques rather than picking just one — for example, stratifying a national population by region, then using convenience sampling at accessible locations within each region</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This is completely legitimate — it balances practicality against representativeness far better than pure convenience sampling alone</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The key obligation is transparency: a hybrid approach should be reported exactly as it was done, so readers can judge for themselves how representative the sample really is</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Hiding a convenience step inside what looks like a fully random design is exactly how a study quietly inherits selection bias without anyone noticing</a:t>
            </a:r>
            <a:endParaRPr lang="en-US" sz="1600" dirty="0"/>
          </a:p>
        </p:txBody>
      </p:sp>
      <p:sp>
        <p:nvSpPr>
          <p:cNvPr id="11" name="Text 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2" name="Text 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Probability vs. Non-Probability Sampling</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645920"/>
            <a:ext cx="5349240" cy="4480560"/>
          </a:xfrm>
          <a:prstGeom prst="roundRect">
            <a:avLst>
              <a:gd name="adj" fmla="val 3265"/>
            </a:avLst>
          </a:prstGeom>
          <a:solidFill>
            <a:srgbClr val="EDE9FE"/>
          </a:solidFill>
          <a:ln w="12700">
            <a:solidFill>
              <a:srgbClr val="D8D2F5"/>
            </a:solidFill>
            <a:prstDash val="solid"/>
          </a:ln>
        </p:spPr>
      </p:sp>
      <p:sp>
        <p:nvSpPr>
          <p:cNvPr id="7" name="Shape 4"/>
          <p:cNvSpPr/>
          <p:nvPr/>
        </p:nvSpPr>
        <p:spPr>
          <a:xfrm>
            <a:off x="731520" y="1874520"/>
            <a:ext cx="457200" cy="45720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804672" y="1938528"/>
            <a:ext cx="320040" cy="320040"/>
          </a:xfrm>
          <a:prstGeom prst="rect">
            <a:avLst/>
          </a:prstGeom>
        </p:spPr>
      </p:pic>
      <p:sp>
        <p:nvSpPr>
          <p:cNvPr id="9" name="Text 5"/>
          <p:cNvSpPr/>
          <p:nvPr/>
        </p:nvSpPr>
        <p:spPr>
          <a:xfrm>
            <a:off x="1325880" y="1874520"/>
            <a:ext cx="4343400" cy="457200"/>
          </a:xfrm>
          <a:prstGeom prst="rect">
            <a:avLst/>
          </a:prstGeom>
          <a:noFill/>
          <a:ln/>
        </p:spPr>
        <p:txBody>
          <a:bodyPr wrap="square" lIns="0" tIns="0" rIns="0" bIns="0" rtlCol="0" anchor="ctr"/>
          <a:lstStyle/>
          <a:p>
            <a:pPr indent="0" marL="0">
              <a:buNone/>
            </a:pPr>
            <a:r>
              <a:rPr lang="en-US" sz="1700" b="1" dirty="0">
                <a:solidFill>
                  <a:srgbClr val="2D2A4A"/>
                </a:solidFill>
                <a:latin typeface="Century Gothic" pitchFamily="34" charset="0"/>
                <a:ea typeface="Century Gothic" pitchFamily="34" charset="-122"/>
                <a:cs typeface="Century Gothic" pitchFamily="34" charset="-120"/>
              </a:rPr>
              <a:t>Probability Sampling</a:t>
            </a:r>
            <a:endParaRPr lang="en-US" sz="1700" dirty="0"/>
          </a:p>
        </p:txBody>
      </p:sp>
      <p:sp>
        <p:nvSpPr>
          <p:cNvPr id="10" name="Text 6"/>
          <p:cNvSpPr/>
          <p:nvPr/>
        </p:nvSpPr>
        <p:spPr>
          <a:xfrm>
            <a:off x="731520" y="2514600"/>
            <a:ext cx="4800600" cy="3383280"/>
          </a:xfrm>
          <a:prstGeom prst="rect">
            <a:avLst/>
          </a:prstGeom>
          <a:noFill/>
          <a:ln/>
        </p:spPr>
        <p:txBody>
          <a:bodyPr wrap="square" lIns="0" tIns="0" rIns="0" bIns="0" rtlCol="0" anchor="t"/>
          <a:lstStyle/>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Simple random, stratified, cluster, and systematic sampling all belong here</a:t>
            </a:r>
            <a:endParaRPr lang="en-US" sz="1350" dirty="0"/>
          </a:p>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Every member has a known, nonzero chance of selection</a:t>
            </a:r>
            <a:endParaRPr lang="en-US" sz="1350" dirty="0"/>
          </a:p>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This is what lets you legitimately generalize a sample’s result back to the full population</a:t>
            </a:r>
            <a:endParaRPr lang="en-US" sz="1350" dirty="0"/>
          </a:p>
        </p:txBody>
      </p:sp>
      <p:sp>
        <p:nvSpPr>
          <p:cNvPr id="11" name="Shape 7"/>
          <p:cNvSpPr/>
          <p:nvPr/>
        </p:nvSpPr>
        <p:spPr>
          <a:xfrm>
            <a:off x="6172200" y="1645920"/>
            <a:ext cx="5349240" cy="4480560"/>
          </a:xfrm>
          <a:prstGeom prst="roundRect">
            <a:avLst>
              <a:gd name="adj" fmla="val 3265"/>
            </a:avLst>
          </a:prstGeom>
          <a:solidFill>
            <a:srgbClr val="FFF6DC"/>
          </a:solidFill>
          <a:ln w="12700">
            <a:solidFill>
              <a:srgbClr val="D8D2F5"/>
            </a:solidFill>
            <a:prstDash val="solid"/>
          </a:ln>
        </p:spPr>
      </p:sp>
      <p:sp>
        <p:nvSpPr>
          <p:cNvPr id="12" name="Shape 8"/>
          <p:cNvSpPr/>
          <p:nvPr/>
        </p:nvSpPr>
        <p:spPr>
          <a:xfrm>
            <a:off x="6446520" y="1874520"/>
            <a:ext cx="457200" cy="457200"/>
          </a:xfrm>
          <a:prstGeom prst="ellipse">
            <a:avLst/>
          </a:prstGeom>
          <a:solidFill>
            <a:srgbClr val="FFC94A"/>
          </a:solidFill>
          <a:ln/>
        </p:spPr>
      </p:sp>
      <p:pic>
        <p:nvPicPr>
          <p:cNvPr id="13" name="Image 2" descr="preencoded.png">    </p:cNvPr>
          <p:cNvPicPr>
            <a:picLocks noChangeAspect="1"/>
          </p:cNvPicPr>
          <p:nvPr/>
        </p:nvPicPr>
        <p:blipFill>
          <a:blip r:embed="rId3"/>
          <a:stretch>
            <a:fillRect/>
          </a:stretch>
        </p:blipFill>
        <p:spPr>
          <a:xfrm>
            <a:off x="6519672" y="1938528"/>
            <a:ext cx="320040" cy="320040"/>
          </a:xfrm>
          <a:prstGeom prst="rect">
            <a:avLst/>
          </a:prstGeom>
        </p:spPr>
      </p:pic>
      <p:sp>
        <p:nvSpPr>
          <p:cNvPr id="14" name="Text 9"/>
          <p:cNvSpPr/>
          <p:nvPr/>
        </p:nvSpPr>
        <p:spPr>
          <a:xfrm>
            <a:off x="7040880" y="1874520"/>
            <a:ext cx="4343400" cy="457200"/>
          </a:xfrm>
          <a:prstGeom prst="rect">
            <a:avLst/>
          </a:prstGeom>
          <a:noFill/>
          <a:ln/>
        </p:spPr>
        <p:txBody>
          <a:bodyPr wrap="square" lIns="0" tIns="0" rIns="0" bIns="0" rtlCol="0" anchor="ctr"/>
          <a:lstStyle/>
          <a:p>
            <a:pPr indent="0" marL="0">
              <a:buNone/>
            </a:pPr>
            <a:r>
              <a:rPr lang="en-US" sz="1700" b="1" dirty="0">
                <a:solidFill>
                  <a:srgbClr val="2D2A4A"/>
                </a:solidFill>
                <a:latin typeface="Century Gothic" pitchFamily="34" charset="0"/>
                <a:ea typeface="Century Gothic" pitchFamily="34" charset="-122"/>
                <a:cs typeface="Century Gothic" pitchFamily="34" charset="-120"/>
              </a:rPr>
              <a:t>Non-Probability Sampling</a:t>
            </a:r>
            <a:endParaRPr lang="en-US" sz="1700" dirty="0"/>
          </a:p>
        </p:txBody>
      </p:sp>
      <p:sp>
        <p:nvSpPr>
          <p:cNvPr id="15" name="Text 10"/>
          <p:cNvSpPr/>
          <p:nvPr/>
        </p:nvSpPr>
        <p:spPr>
          <a:xfrm>
            <a:off x="6446520" y="2514600"/>
            <a:ext cx="4800600" cy="3383280"/>
          </a:xfrm>
          <a:prstGeom prst="rect">
            <a:avLst/>
          </a:prstGeom>
          <a:noFill/>
          <a:ln/>
        </p:spPr>
        <p:txBody>
          <a:bodyPr wrap="square" lIns="0" tIns="0" rIns="0" bIns="0" rtlCol="0" anchor="t"/>
          <a:lstStyle/>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Convenience, snowball, and quota sampling all belong here</a:t>
            </a:r>
            <a:endParaRPr lang="en-US" sz="1350" dirty="0"/>
          </a:p>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Selection isn’t random — some members may have no chance of being included at all</a:t>
            </a:r>
            <a:endParaRPr lang="en-US" sz="1350" dirty="0"/>
          </a:p>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A hybrid approach (mixing both) is common in practice — useful, but should be reported honestly, not hidden</a:t>
            </a:r>
            <a:endParaRPr lang="en-US" sz="1350" dirty="0"/>
          </a:p>
        </p:txBody>
      </p:sp>
      <p:sp>
        <p:nvSpPr>
          <p:cNvPr id="16" name="Text 11"/>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7" name="Text 12"/>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Operationalization &amp; Proxy Measurements</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54480"/>
            <a:ext cx="3657600" cy="4663440"/>
          </a:xfrm>
          <a:prstGeom prst="roundRect">
            <a:avLst>
              <a:gd name="adj" fmla="val 4500"/>
            </a:avLst>
          </a:prstGeom>
          <a:solidFill>
            <a:srgbClr val="EDE9FE"/>
          </a:solidFill>
          <a:ln w="12700">
            <a:solidFill>
              <a:srgbClr val="D8D2F5"/>
            </a:solidFill>
            <a:prstDash val="solid"/>
          </a:ln>
        </p:spPr>
      </p:sp>
      <p:sp>
        <p:nvSpPr>
          <p:cNvPr id="7" name="Shape 4"/>
          <p:cNvSpPr/>
          <p:nvPr/>
        </p:nvSpPr>
        <p:spPr>
          <a:xfrm>
            <a:off x="1508760" y="2194560"/>
            <a:ext cx="1554480" cy="155448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1746504" y="2423160"/>
            <a:ext cx="1088136" cy="1088136"/>
          </a:xfrm>
          <a:prstGeom prst="rect">
            <a:avLst/>
          </a:prstGeom>
        </p:spPr>
      </p:pic>
      <p:sp>
        <p:nvSpPr>
          <p:cNvPr id="9" name="Text 5"/>
          <p:cNvSpPr/>
          <p:nvPr/>
        </p:nvSpPr>
        <p:spPr>
          <a:xfrm>
            <a:off x="640080" y="3977640"/>
            <a:ext cx="3291840" cy="1737360"/>
          </a:xfrm>
          <a:prstGeom prst="rect">
            <a:avLst/>
          </a:prstGeom>
          <a:noFill/>
          <a:ln/>
        </p:spPr>
        <p:txBody>
          <a:bodyPr wrap="square" lIns="0" tIns="0" rIns="0" bIns="0" rtlCol="0" anchor="t"/>
          <a:lstStyle/>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Turning an</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idea into</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a number</a:t>
            </a:r>
            <a:endParaRPr lang="en-US" sz="1600" dirty="0"/>
          </a:p>
        </p:txBody>
      </p:sp>
      <p:sp>
        <p:nvSpPr>
          <p:cNvPr id="10" name="Text 6"/>
          <p:cNvSpPr/>
          <p:nvPr/>
        </p:nvSpPr>
        <p:spPr>
          <a:xfrm>
            <a:off x="4572000" y="1737360"/>
            <a:ext cx="7132320" cy="4114800"/>
          </a:xfrm>
          <a:prstGeom prst="rect">
            <a:avLst/>
          </a:prstGeom>
          <a:noFill/>
          <a:ln/>
        </p:spPr>
        <p:txBody>
          <a:bodyPr wrap="square" lIns="0" tIns="0" rIns="0" bIns="0" rtlCol="0" anchor="t"/>
          <a:lstStyle/>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Operationalization is the process of turning a vague, abstract idea — "happiness," "customer loyalty," "intelligence" — into something concrete enough to actually measure</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A proxy measurement is a stand-in variable used because the real thing can’t be measured directly — using "number of repeat purchases" to represent "customer loyalty"</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Every operationalization involves a judgment call, and a different one can lead to a genuinely different result — this is worth stating openly in any real analysis</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This is precisely the step where "reliability" and "validity," on the next slide, actually get put to the test</a:t>
            </a:r>
            <a:endParaRPr lang="en-US" sz="1600" dirty="0"/>
          </a:p>
        </p:txBody>
      </p:sp>
      <p:sp>
        <p:nvSpPr>
          <p:cNvPr id="11" name="Text 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2" name="Text 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Reliability vs. Validity</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645920"/>
            <a:ext cx="5349240" cy="4480560"/>
          </a:xfrm>
          <a:prstGeom prst="roundRect">
            <a:avLst>
              <a:gd name="adj" fmla="val 3265"/>
            </a:avLst>
          </a:prstGeom>
          <a:solidFill>
            <a:srgbClr val="EDE9FE"/>
          </a:solidFill>
          <a:ln w="12700">
            <a:solidFill>
              <a:srgbClr val="D8D2F5"/>
            </a:solidFill>
            <a:prstDash val="solid"/>
          </a:ln>
        </p:spPr>
      </p:sp>
      <p:sp>
        <p:nvSpPr>
          <p:cNvPr id="7" name="Shape 4"/>
          <p:cNvSpPr/>
          <p:nvPr/>
        </p:nvSpPr>
        <p:spPr>
          <a:xfrm>
            <a:off x="731520" y="1874520"/>
            <a:ext cx="457200" cy="45720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804672" y="1938528"/>
            <a:ext cx="320040" cy="320040"/>
          </a:xfrm>
          <a:prstGeom prst="rect">
            <a:avLst/>
          </a:prstGeom>
        </p:spPr>
      </p:pic>
      <p:sp>
        <p:nvSpPr>
          <p:cNvPr id="9" name="Text 5"/>
          <p:cNvSpPr/>
          <p:nvPr/>
        </p:nvSpPr>
        <p:spPr>
          <a:xfrm>
            <a:off x="1325880" y="1874520"/>
            <a:ext cx="4343400" cy="457200"/>
          </a:xfrm>
          <a:prstGeom prst="rect">
            <a:avLst/>
          </a:prstGeom>
          <a:noFill/>
          <a:ln/>
        </p:spPr>
        <p:txBody>
          <a:bodyPr wrap="square" lIns="0" tIns="0" rIns="0" bIns="0" rtlCol="0" anchor="ctr"/>
          <a:lstStyle/>
          <a:p>
            <a:pPr indent="0" marL="0">
              <a:buNone/>
            </a:pPr>
            <a:r>
              <a:rPr lang="en-US" sz="1700" b="1" dirty="0">
                <a:solidFill>
                  <a:srgbClr val="2D2A4A"/>
                </a:solidFill>
                <a:latin typeface="Century Gothic" pitchFamily="34" charset="0"/>
                <a:ea typeface="Century Gothic" pitchFamily="34" charset="-122"/>
                <a:cs typeface="Century Gothic" pitchFamily="34" charset="-120"/>
              </a:rPr>
              <a:t>Reliability</a:t>
            </a:r>
            <a:endParaRPr lang="en-US" sz="1700" dirty="0"/>
          </a:p>
        </p:txBody>
      </p:sp>
      <p:sp>
        <p:nvSpPr>
          <p:cNvPr id="10" name="Text 6"/>
          <p:cNvSpPr/>
          <p:nvPr/>
        </p:nvSpPr>
        <p:spPr>
          <a:xfrm>
            <a:off x="731520" y="2514600"/>
            <a:ext cx="4800600" cy="3383280"/>
          </a:xfrm>
          <a:prstGeom prst="rect">
            <a:avLst/>
          </a:prstGeom>
          <a:noFill/>
          <a:ln/>
        </p:spPr>
        <p:txBody>
          <a:bodyPr wrap="square" lIns="0" tIns="0" rIns="0" bIns="0" rtlCol="0" anchor="t"/>
          <a:lstStyle/>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Asks: if I measure this again, under the same conditions, do I get a consistent result?</a:t>
            </a:r>
            <a:endParaRPr lang="en-US" sz="1350" dirty="0"/>
          </a:p>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A bathroom scale that reads 3kg heavier every time is reliable — wrong, but consistently wrong</a:t>
            </a:r>
            <a:endParaRPr lang="en-US" sz="1350" dirty="0"/>
          </a:p>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Without reliability, you can’t trust any single measurement at all</a:t>
            </a:r>
            <a:endParaRPr lang="en-US" sz="1350" dirty="0"/>
          </a:p>
        </p:txBody>
      </p:sp>
      <p:sp>
        <p:nvSpPr>
          <p:cNvPr id="11" name="Shape 7"/>
          <p:cNvSpPr/>
          <p:nvPr/>
        </p:nvSpPr>
        <p:spPr>
          <a:xfrm>
            <a:off x="6172200" y="1645920"/>
            <a:ext cx="5349240" cy="4480560"/>
          </a:xfrm>
          <a:prstGeom prst="roundRect">
            <a:avLst>
              <a:gd name="adj" fmla="val 3265"/>
            </a:avLst>
          </a:prstGeom>
          <a:solidFill>
            <a:srgbClr val="FFF6DC"/>
          </a:solidFill>
          <a:ln w="12700">
            <a:solidFill>
              <a:srgbClr val="D8D2F5"/>
            </a:solidFill>
            <a:prstDash val="solid"/>
          </a:ln>
        </p:spPr>
      </p:sp>
      <p:sp>
        <p:nvSpPr>
          <p:cNvPr id="12" name="Shape 8"/>
          <p:cNvSpPr/>
          <p:nvPr/>
        </p:nvSpPr>
        <p:spPr>
          <a:xfrm>
            <a:off x="6446520" y="1874520"/>
            <a:ext cx="457200" cy="457200"/>
          </a:xfrm>
          <a:prstGeom prst="ellipse">
            <a:avLst/>
          </a:prstGeom>
          <a:solidFill>
            <a:srgbClr val="FFC94A"/>
          </a:solidFill>
          <a:ln/>
        </p:spPr>
      </p:sp>
      <p:pic>
        <p:nvPicPr>
          <p:cNvPr id="13" name="Image 2" descr="preencoded.png">    </p:cNvPr>
          <p:cNvPicPr>
            <a:picLocks noChangeAspect="1"/>
          </p:cNvPicPr>
          <p:nvPr/>
        </p:nvPicPr>
        <p:blipFill>
          <a:blip r:embed="rId3"/>
          <a:stretch>
            <a:fillRect/>
          </a:stretch>
        </p:blipFill>
        <p:spPr>
          <a:xfrm>
            <a:off x="6519672" y="1938528"/>
            <a:ext cx="320040" cy="320040"/>
          </a:xfrm>
          <a:prstGeom prst="rect">
            <a:avLst/>
          </a:prstGeom>
        </p:spPr>
      </p:pic>
      <p:sp>
        <p:nvSpPr>
          <p:cNvPr id="14" name="Text 9"/>
          <p:cNvSpPr/>
          <p:nvPr/>
        </p:nvSpPr>
        <p:spPr>
          <a:xfrm>
            <a:off x="7040880" y="1874520"/>
            <a:ext cx="4343400" cy="457200"/>
          </a:xfrm>
          <a:prstGeom prst="rect">
            <a:avLst/>
          </a:prstGeom>
          <a:noFill/>
          <a:ln/>
        </p:spPr>
        <p:txBody>
          <a:bodyPr wrap="square" lIns="0" tIns="0" rIns="0" bIns="0" rtlCol="0" anchor="ctr"/>
          <a:lstStyle/>
          <a:p>
            <a:pPr indent="0" marL="0">
              <a:buNone/>
            </a:pPr>
            <a:r>
              <a:rPr lang="en-US" sz="1700" b="1" dirty="0">
                <a:solidFill>
                  <a:srgbClr val="2D2A4A"/>
                </a:solidFill>
                <a:latin typeface="Century Gothic" pitchFamily="34" charset="0"/>
                <a:ea typeface="Century Gothic" pitchFamily="34" charset="-122"/>
                <a:cs typeface="Century Gothic" pitchFamily="34" charset="-120"/>
              </a:rPr>
              <a:t>Validity</a:t>
            </a:r>
            <a:endParaRPr lang="en-US" sz="1700" dirty="0"/>
          </a:p>
        </p:txBody>
      </p:sp>
      <p:sp>
        <p:nvSpPr>
          <p:cNvPr id="15" name="Text 10"/>
          <p:cNvSpPr/>
          <p:nvPr/>
        </p:nvSpPr>
        <p:spPr>
          <a:xfrm>
            <a:off x="6446520" y="2514600"/>
            <a:ext cx="4800600" cy="3383280"/>
          </a:xfrm>
          <a:prstGeom prst="rect">
            <a:avLst/>
          </a:prstGeom>
          <a:noFill/>
          <a:ln/>
        </p:spPr>
        <p:txBody>
          <a:bodyPr wrap="square" lIns="0" tIns="0" rIns="0" bIns="0" rtlCol="0" anchor="t"/>
          <a:lstStyle/>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Asks: am I actually measuring the concept I claim to be measuring?</a:t>
            </a:r>
            <a:endParaRPr lang="en-US" sz="1350" dirty="0"/>
          </a:p>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A survey meant to measure "job satisfaction" that actually measures "salary satisfaction" is NOT valid, even if it’s perfectly reliable</a:t>
            </a:r>
            <a:endParaRPr lang="en-US" sz="1350" dirty="0"/>
          </a:p>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A measurement can be reliable without being valid — but it can’t be genuinely valid without also being reliable</a:t>
            </a:r>
            <a:endParaRPr lang="en-US" sz="1350" dirty="0"/>
          </a:p>
        </p:txBody>
      </p:sp>
      <p:sp>
        <p:nvSpPr>
          <p:cNvPr id="16" name="Text 11"/>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7" name="Text 12"/>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Reliability vs. Validity, Visualized</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2057400" y="1371600"/>
            <a:ext cx="1554480" cy="1554480"/>
          </a:xfrm>
          <a:prstGeom prst="ellipse">
            <a:avLst/>
          </a:prstGeom>
          <a:solidFill>
            <a:srgbClr val="FFFFFF"/>
          </a:solidFill>
          <a:ln w="12700">
            <a:solidFill>
              <a:srgbClr val="D8D2F5"/>
            </a:solidFill>
            <a:prstDash val="solid"/>
          </a:ln>
        </p:spPr>
      </p:sp>
      <p:sp>
        <p:nvSpPr>
          <p:cNvPr id="7" name="Shape 4"/>
          <p:cNvSpPr/>
          <p:nvPr/>
        </p:nvSpPr>
        <p:spPr>
          <a:xfrm>
            <a:off x="2275027" y="1589227"/>
            <a:ext cx="1119226" cy="1119226"/>
          </a:xfrm>
          <a:prstGeom prst="ellipse">
            <a:avLst/>
          </a:prstGeom>
          <a:solidFill>
            <a:srgbClr val="EDE9FE"/>
          </a:solidFill>
          <a:ln w="12700">
            <a:solidFill>
              <a:srgbClr val="D8D2F5"/>
            </a:solidFill>
            <a:prstDash val="solid"/>
          </a:ln>
        </p:spPr>
      </p:sp>
      <p:sp>
        <p:nvSpPr>
          <p:cNvPr id="8" name="Shape 5"/>
          <p:cNvSpPr/>
          <p:nvPr/>
        </p:nvSpPr>
        <p:spPr>
          <a:xfrm>
            <a:off x="2492654" y="1806854"/>
            <a:ext cx="683971" cy="683971"/>
          </a:xfrm>
          <a:prstGeom prst="ellipse">
            <a:avLst/>
          </a:prstGeom>
          <a:solidFill>
            <a:srgbClr val="8B7FE8"/>
          </a:solidFill>
          <a:ln w="12700">
            <a:solidFill>
              <a:srgbClr val="D8D2F5"/>
            </a:solidFill>
            <a:prstDash val="solid"/>
          </a:ln>
        </p:spPr>
      </p:sp>
      <p:sp>
        <p:nvSpPr>
          <p:cNvPr id="9" name="Shape 6"/>
          <p:cNvSpPr/>
          <p:nvPr/>
        </p:nvSpPr>
        <p:spPr>
          <a:xfrm>
            <a:off x="2694737" y="2008937"/>
            <a:ext cx="279806" cy="279806"/>
          </a:xfrm>
          <a:prstGeom prst="ellipse">
            <a:avLst/>
          </a:prstGeom>
          <a:solidFill>
            <a:srgbClr val="6B5FD1"/>
          </a:solidFill>
          <a:ln w="12700">
            <a:solidFill>
              <a:srgbClr val="D8D2F5"/>
            </a:solidFill>
            <a:prstDash val="solid"/>
          </a:ln>
        </p:spPr>
      </p:sp>
      <p:sp>
        <p:nvSpPr>
          <p:cNvPr id="10" name="Shape 7"/>
          <p:cNvSpPr/>
          <p:nvPr/>
        </p:nvSpPr>
        <p:spPr>
          <a:xfrm>
            <a:off x="2775204" y="2089404"/>
            <a:ext cx="118872" cy="118872"/>
          </a:xfrm>
          <a:prstGeom prst="ellipse">
            <a:avLst/>
          </a:prstGeom>
          <a:solidFill>
            <a:srgbClr val="5FD6B0"/>
          </a:solidFill>
          <a:ln w="9525">
            <a:solidFill>
              <a:srgbClr val="FFFFFF"/>
            </a:solidFill>
            <a:prstDash val="solid"/>
          </a:ln>
        </p:spPr>
      </p:sp>
      <p:sp>
        <p:nvSpPr>
          <p:cNvPr id="11" name="Shape 8"/>
          <p:cNvSpPr/>
          <p:nvPr/>
        </p:nvSpPr>
        <p:spPr>
          <a:xfrm>
            <a:off x="2820924" y="2144268"/>
            <a:ext cx="118872" cy="118872"/>
          </a:xfrm>
          <a:prstGeom prst="ellipse">
            <a:avLst/>
          </a:prstGeom>
          <a:solidFill>
            <a:srgbClr val="5FD6B0"/>
          </a:solidFill>
          <a:ln w="9525">
            <a:solidFill>
              <a:srgbClr val="FFFFFF"/>
            </a:solidFill>
            <a:prstDash val="solid"/>
          </a:ln>
        </p:spPr>
      </p:sp>
      <p:sp>
        <p:nvSpPr>
          <p:cNvPr id="12" name="Shape 9"/>
          <p:cNvSpPr/>
          <p:nvPr/>
        </p:nvSpPr>
        <p:spPr>
          <a:xfrm>
            <a:off x="2738628" y="2116836"/>
            <a:ext cx="118872" cy="118872"/>
          </a:xfrm>
          <a:prstGeom prst="ellipse">
            <a:avLst/>
          </a:prstGeom>
          <a:solidFill>
            <a:srgbClr val="5FD6B0"/>
          </a:solidFill>
          <a:ln w="9525">
            <a:solidFill>
              <a:srgbClr val="FFFFFF"/>
            </a:solidFill>
            <a:prstDash val="solid"/>
          </a:ln>
        </p:spPr>
      </p:sp>
      <p:sp>
        <p:nvSpPr>
          <p:cNvPr id="13" name="Shape 10"/>
          <p:cNvSpPr/>
          <p:nvPr/>
        </p:nvSpPr>
        <p:spPr>
          <a:xfrm>
            <a:off x="2793492" y="2043684"/>
            <a:ext cx="118872" cy="118872"/>
          </a:xfrm>
          <a:prstGeom prst="ellipse">
            <a:avLst/>
          </a:prstGeom>
          <a:solidFill>
            <a:srgbClr val="5FD6B0"/>
          </a:solidFill>
          <a:ln w="9525">
            <a:solidFill>
              <a:srgbClr val="FFFFFF"/>
            </a:solidFill>
            <a:prstDash val="solid"/>
          </a:ln>
        </p:spPr>
      </p:sp>
      <p:sp>
        <p:nvSpPr>
          <p:cNvPr id="14" name="Shape 11"/>
          <p:cNvSpPr/>
          <p:nvPr/>
        </p:nvSpPr>
        <p:spPr>
          <a:xfrm>
            <a:off x="2720340" y="2071116"/>
            <a:ext cx="118872" cy="118872"/>
          </a:xfrm>
          <a:prstGeom prst="ellipse">
            <a:avLst/>
          </a:prstGeom>
          <a:solidFill>
            <a:srgbClr val="5FD6B0"/>
          </a:solidFill>
          <a:ln w="9525">
            <a:solidFill>
              <a:srgbClr val="FFFFFF"/>
            </a:solidFill>
            <a:prstDash val="solid"/>
          </a:ln>
        </p:spPr>
      </p:sp>
      <p:sp>
        <p:nvSpPr>
          <p:cNvPr id="15" name="Text 12"/>
          <p:cNvSpPr/>
          <p:nvPr/>
        </p:nvSpPr>
        <p:spPr>
          <a:xfrm>
            <a:off x="1188720" y="3063240"/>
            <a:ext cx="3291840" cy="320040"/>
          </a:xfrm>
          <a:prstGeom prst="rect">
            <a:avLst/>
          </a:prstGeom>
          <a:noFill/>
          <a:ln/>
        </p:spPr>
        <p:txBody>
          <a:bodyPr wrap="square" lIns="0" tIns="0" rIns="0" bIns="0" rtlCol="0" anchor="ctr"/>
          <a:lstStyle/>
          <a:p>
            <a:pPr algn="ctr" indent="0" marL="0">
              <a:buNone/>
            </a:pPr>
            <a:r>
              <a:rPr lang="en-US" sz="1250" b="1" dirty="0">
                <a:solidFill>
                  <a:srgbClr val="2D2A4A"/>
                </a:solidFill>
                <a:latin typeface="Century Gothic" pitchFamily="34" charset="0"/>
                <a:ea typeface="Century Gothic" pitchFamily="34" charset="-122"/>
                <a:cs typeface="Century Gothic" pitchFamily="34" charset="-120"/>
              </a:rPr>
              <a:t>Reliable AND Valid</a:t>
            </a:r>
            <a:endParaRPr lang="en-US" sz="1250" dirty="0"/>
          </a:p>
        </p:txBody>
      </p:sp>
      <p:sp>
        <p:nvSpPr>
          <p:cNvPr id="16" name="Text 13"/>
          <p:cNvSpPr/>
          <p:nvPr/>
        </p:nvSpPr>
        <p:spPr>
          <a:xfrm>
            <a:off x="1188720" y="3383280"/>
            <a:ext cx="3291840" cy="274320"/>
          </a:xfrm>
          <a:prstGeom prst="rect">
            <a:avLst/>
          </a:prstGeom>
          <a:noFill/>
          <a:ln/>
        </p:spPr>
        <p:txBody>
          <a:bodyPr wrap="square" lIns="0" tIns="0" rIns="0" bIns="0" rtlCol="0" anchor="ctr"/>
          <a:lstStyle/>
          <a:p>
            <a:pPr algn="ctr" indent="0" marL="0">
              <a:buNone/>
            </a:pPr>
            <a:r>
              <a:rPr lang="en-US" sz="1000" i="1" dirty="0">
                <a:solidFill>
                  <a:srgbClr val="685F8F"/>
                </a:solidFill>
                <a:latin typeface="Calibri" pitchFamily="34" charset="0"/>
                <a:ea typeface="Calibri" pitchFamily="34" charset="-122"/>
                <a:cs typeface="Calibri" pitchFamily="34" charset="-120"/>
              </a:rPr>
              <a:t>Tightly clustered, right on target</a:t>
            </a:r>
            <a:endParaRPr lang="en-US" sz="1000" dirty="0"/>
          </a:p>
        </p:txBody>
      </p:sp>
      <p:sp>
        <p:nvSpPr>
          <p:cNvPr id="17" name="Shape 14"/>
          <p:cNvSpPr/>
          <p:nvPr/>
        </p:nvSpPr>
        <p:spPr>
          <a:xfrm>
            <a:off x="7360920" y="1371600"/>
            <a:ext cx="1554480" cy="1554480"/>
          </a:xfrm>
          <a:prstGeom prst="ellipse">
            <a:avLst/>
          </a:prstGeom>
          <a:solidFill>
            <a:srgbClr val="FFFFFF"/>
          </a:solidFill>
          <a:ln w="12700">
            <a:solidFill>
              <a:srgbClr val="D8D2F5"/>
            </a:solidFill>
            <a:prstDash val="solid"/>
          </a:ln>
        </p:spPr>
      </p:sp>
      <p:sp>
        <p:nvSpPr>
          <p:cNvPr id="18" name="Shape 15"/>
          <p:cNvSpPr/>
          <p:nvPr/>
        </p:nvSpPr>
        <p:spPr>
          <a:xfrm>
            <a:off x="7578547" y="1589227"/>
            <a:ext cx="1119226" cy="1119226"/>
          </a:xfrm>
          <a:prstGeom prst="ellipse">
            <a:avLst/>
          </a:prstGeom>
          <a:solidFill>
            <a:srgbClr val="EDE9FE"/>
          </a:solidFill>
          <a:ln w="12700">
            <a:solidFill>
              <a:srgbClr val="D8D2F5"/>
            </a:solidFill>
            <a:prstDash val="solid"/>
          </a:ln>
        </p:spPr>
      </p:sp>
      <p:sp>
        <p:nvSpPr>
          <p:cNvPr id="19" name="Shape 16"/>
          <p:cNvSpPr/>
          <p:nvPr/>
        </p:nvSpPr>
        <p:spPr>
          <a:xfrm>
            <a:off x="7796174" y="1806854"/>
            <a:ext cx="683971" cy="683971"/>
          </a:xfrm>
          <a:prstGeom prst="ellipse">
            <a:avLst/>
          </a:prstGeom>
          <a:solidFill>
            <a:srgbClr val="8B7FE8"/>
          </a:solidFill>
          <a:ln w="12700">
            <a:solidFill>
              <a:srgbClr val="D8D2F5"/>
            </a:solidFill>
            <a:prstDash val="solid"/>
          </a:ln>
        </p:spPr>
      </p:sp>
      <p:sp>
        <p:nvSpPr>
          <p:cNvPr id="20" name="Shape 17"/>
          <p:cNvSpPr/>
          <p:nvPr/>
        </p:nvSpPr>
        <p:spPr>
          <a:xfrm>
            <a:off x="7998257" y="2008937"/>
            <a:ext cx="279806" cy="279806"/>
          </a:xfrm>
          <a:prstGeom prst="ellipse">
            <a:avLst/>
          </a:prstGeom>
          <a:solidFill>
            <a:srgbClr val="6B5FD1"/>
          </a:solidFill>
          <a:ln w="12700">
            <a:solidFill>
              <a:srgbClr val="D8D2F5"/>
            </a:solidFill>
            <a:prstDash val="solid"/>
          </a:ln>
        </p:spPr>
      </p:sp>
      <p:sp>
        <p:nvSpPr>
          <p:cNvPr id="21" name="Shape 18"/>
          <p:cNvSpPr/>
          <p:nvPr/>
        </p:nvSpPr>
        <p:spPr>
          <a:xfrm>
            <a:off x="8581644" y="2546604"/>
            <a:ext cx="118872" cy="118872"/>
          </a:xfrm>
          <a:prstGeom prst="ellipse">
            <a:avLst/>
          </a:prstGeom>
          <a:solidFill>
            <a:srgbClr val="FFC94A"/>
          </a:solidFill>
          <a:ln w="9525">
            <a:solidFill>
              <a:srgbClr val="FFFFFF"/>
            </a:solidFill>
            <a:prstDash val="solid"/>
          </a:ln>
        </p:spPr>
      </p:sp>
      <p:sp>
        <p:nvSpPr>
          <p:cNvPr id="22" name="Shape 19"/>
          <p:cNvSpPr/>
          <p:nvPr/>
        </p:nvSpPr>
        <p:spPr>
          <a:xfrm>
            <a:off x="8627364" y="2601468"/>
            <a:ext cx="118872" cy="118872"/>
          </a:xfrm>
          <a:prstGeom prst="ellipse">
            <a:avLst/>
          </a:prstGeom>
          <a:solidFill>
            <a:srgbClr val="FFC94A"/>
          </a:solidFill>
          <a:ln w="9525">
            <a:solidFill>
              <a:srgbClr val="FFFFFF"/>
            </a:solidFill>
            <a:prstDash val="solid"/>
          </a:ln>
        </p:spPr>
      </p:sp>
      <p:sp>
        <p:nvSpPr>
          <p:cNvPr id="23" name="Shape 20"/>
          <p:cNvSpPr/>
          <p:nvPr/>
        </p:nvSpPr>
        <p:spPr>
          <a:xfrm>
            <a:off x="8545068" y="2574036"/>
            <a:ext cx="118872" cy="118872"/>
          </a:xfrm>
          <a:prstGeom prst="ellipse">
            <a:avLst/>
          </a:prstGeom>
          <a:solidFill>
            <a:srgbClr val="FFC94A"/>
          </a:solidFill>
          <a:ln w="9525">
            <a:solidFill>
              <a:srgbClr val="FFFFFF"/>
            </a:solidFill>
            <a:prstDash val="solid"/>
          </a:ln>
        </p:spPr>
      </p:sp>
      <p:sp>
        <p:nvSpPr>
          <p:cNvPr id="24" name="Shape 21"/>
          <p:cNvSpPr/>
          <p:nvPr/>
        </p:nvSpPr>
        <p:spPr>
          <a:xfrm>
            <a:off x="8609076" y="2491740"/>
            <a:ext cx="118872" cy="118872"/>
          </a:xfrm>
          <a:prstGeom prst="ellipse">
            <a:avLst/>
          </a:prstGeom>
          <a:solidFill>
            <a:srgbClr val="FFC94A"/>
          </a:solidFill>
          <a:ln w="9525">
            <a:solidFill>
              <a:srgbClr val="FFFFFF"/>
            </a:solidFill>
            <a:prstDash val="solid"/>
          </a:ln>
        </p:spPr>
      </p:sp>
      <p:sp>
        <p:nvSpPr>
          <p:cNvPr id="25" name="Shape 22"/>
          <p:cNvSpPr/>
          <p:nvPr/>
        </p:nvSpPr>
        <p:spPr>
          <a:xfrm>
            <a:off x="8554212" y="2638044"/>
            <a:ext cx="118872" cy="118872"/>
          </a:xfrm>
          <a:prstGeom prst="ellipse">
            <a:avLst/>
          </a:prstGeom>
          <a:solidFill>
            <a:srgbClr val="FFC94A"/>
          </a:solidFill>
          <a:ln w="9525">
            <a:solidFill>
              <a:srgbClr val="FFFFFF"/>
            </a:solidFill>
            <a:prstDash val="solid"/>
          </a:ln>
        </p:spPr>
      </p:sp>
      <p:sp>
        <p:nvSpPr>
          <p:cNvPr id="26" name="Text 23"/>
          <p:cNvSpPr/>
          <p:nvPr/>
        </p:nvSpPr>
        <p:spPr>
          <a:xfrm>
            <a:off x="6492240" y="3063240"/>
            <a:ext cx="3291840" cy="320040"/>
          </a:xfrm>
          <a:prstGeom prst="rect">
            <a:avLst/>
          </a:prstGeom>
          <a:noFill/>
          <a:ln/>
        </p:spPr>
        <p:txBody>
          <a:bodyPr wrap="square" lIns="0" tIns="0" rIns="0" bIns="0" rtlCol="0" anchor="ctr"/>
          <a:lstStyle/>
          <a:p>
            <a:pPr algn="ctr" indent="0" marL="0">
              <a:buNone/>
            </a:pPr>
            <a:r>
              <a:rPr lang="en-US" sz="1250" b="1" dirty="0">
                <a:solidFill>
                  <a:srgbClr val="2D2A4A"/>
                </a:solidFill>
                <a:latin typeface="Century Gothic" pitchFamily="34" charset="0"/>
                <a:ea typeface="Century Gothic" pitchFamily="34" charset="-122"/>
                <a:cs typeface="Century Gothic" pitchFamily="34" charset="-120"/>
              </a:rPr>
              <a:t>Reliable, but NOT Valid</a:t>
            </a:r>
            <a:endParaRPr lang="en-US" sz="1250" dirty="0"/>
          </a:p>
        </p:txBody>
      </p:sp>
      <p:sp>
        <p:nvSpPr>
          <p:cNvPr id="27" name="Text 24"/>
          <p:cNvSpPr/>
          <p:nvPr/>
        </p:nvSpPr>
        <p:spPr>
          <a:xfrm>
            <a:off x="6492240" y="3383280"/>
            <a:ext cx="3291840" cy="274320"/>
          </a:xfrm>
          <a:prstGeom prst="rect">
            <a:avLst/>
          </a:prstGeom>
          <a:noFill/>
          <a:ln/>
        </p:spPr>
        <p:txBody>
          <a:bodyPr wrap="square" lIns="0" tIns="0" rIns="0" bIns="0" rtlCol="0" anchor="ctr"/>
          <a:lstStyle/>
          <a:p>
            <a:pPr algn="ctr" indent="0" marL="0">
              <a:buNone/>
            </a:pPr>
            <a:r>
              <a:rPr lang="en-US" sz="1000" i="1" dirty="0">
                <a:solidFill>
                  <a:srgbClr val="685F8F"/>
                </a:solidFill>
                <a:latin typeface="Calibri" pitchFamily="34" charset="0"/>
                <a:ea typeface="Calibri" pitchFamily="34" charset="-122"/>
                <a:cs typeface="Calibri" pitchFamily="34" charset="-120"/>
              </a:rPr>
              <a:t>Tightly clustered — consistently off-target</a:t>
            </a:r>
            <a:endParaRPr lang="en-US" sz="1000" dirty="0"/>
          </a:p>
        </p:txBody>
      </p:sp>
      <p:sp>
        <p:nvSpPr>
          <p:cNvPr id="28" name="Shape 25"/>
          <p:cNvSpPr/>
          <p:nvPr/>
        </p:nvSpPr>
        <p:spPr>
          <a:xfrm>
            <a:off x="2057400" y="3794760"/>
            <a:ext cx="1554480" cy="1554480"/>
          </a:xfrm>
          <a:prstGeom prst="ellipse">
            <a:avLst/>
          </a:prstGeom>
          <a:solidFill>
            <a:srgbClr val="FFFFFF"/>
          </a:solidFill>
          <a:ln w="12700">
            <a:solidFill>
              <a:srgbClr val="D8D2F5"/>
            </a:solidFill>
            <a:prstDash val="solid"/>
          </a:ln>
        </p:spPr>
      </p:sp>
      <p:sp>
        <p:nvSpPr>
          <p:cNvPr id="29" name="Shape 26"/>
          <p:cNvSpPr/>
          <p:nvPr/>
        </p:nvSpPr>
        <p:spPr>
          <a:xfrm>
            <a:off x="2275027" y="4012387"/>
            <a:ext cx="1119226" cy="1119226"/>
          </a:xfrm>
          <a:prstGeom prst="ellipse">
            <a:avLst/>
          </a:prstGeom>
          <a:solidFill>
            <a:srgbClr val="EDE9FE"/>
          </a:solidFill>
          <a:ln w="12700">
            <a:solidFill>
              <a:srgbClr val="D8D2F5"/>
            </a:solidFill>
            <a:prstDash val="solid"/>
          </a:ln>
        </p:spPr>
      </p:sp>
      <p:sp>
        <p:nvSpPr>
          <p:cNvPr id="30" name="Shape 27"/>
          <p:cNvSpPr/>
          <p:nvPr/>
        </p:nvSpPr>
        <p:spPr>
          <a:xfrm>
            <a:off x="2492654" y="4230014"/>
            <a:ext cx="683971" cy="683971"/>
          </a:xfrm>
          <a:prstGeom prst="ellipse">
            <a:avLst/>
          </a:prstGeom>
          <a:solidFill>
            <a:srgbClr val="8B7FE8"/>
          </a:solidFill>
          <a:ln w="12700">
            <a:solidFill>
              <a:srgbClr val="D8D2F5"/>
            </a:solidFill>
            <a:prstDash val="solid"/>
          </a:ln>
        </p:spPr>
      </p:sp>
      <p:sp>
        <p:nvSpPr>
          <p:cNvPr id="31" name="Shape 28"/>
          <p:cNvSpPr/>
          <p:nvPr/>
        </p:nvSpPr>
        <p:spPr>
          <a:xfrm>
            <a:off x="2694737" y="4432097"/>
            <a:ext cx="279806" cy="279806"/>
          </a:xfrm>
          <a:prstGeom prst="ellipse">
            <a:avLst/>
          </a:prstGeom>
          <a:solidFill>
            <a:srgbClr val="6B5FD1"/>
          </a:solidFill>
          <a:ln w="12700">
            <a:solidFill>
              <a:srgbClr val="D8D2F5"/>
            </a:solidFill>
            <a:prstDash val="solid"/>
          </a:ln>
        </p:spPr>
      </p:sp>
      <p:sp>
        <p:nvSpPr>
          <p:cNvPr id="32" name="Shape 29"/>
          <p:cNvSpPr/>
          <p:nvPr/>
        </p:nvSpPr>
        <p:spPr>
          <a:xfrm>
            <a:off x="3232404" y="4649724"/>
            <a:ext cx="118872" cy="118872"/>
          </a:xfrm>
          <a:prstGeom prst="ellipse">
            <a:avLst/>
          </a:prstGeom>
          <a:solidFill>
            <a:srgbClr val="FF8FB3"/>
          </a:solidFill>
          <a:ln w="9525">
            <a:solidFill>
              <a:srgbClr val="FFFFFF"/>
            </a:solidFill>
            <a:prstDash val="solid"/>
          </a:ln>
        </p:spPr>
      </p:sp>
      <p:sp>
        <p:nvSpPr>
          <p:cNvPr id="33" name="Shape 30"/>
          <p:cNvSpPr/>
          <p:nvPr/>
        </p:nvSpPr>
        <p:spPr>
          <a:xfrm>
            <a:off x="2363724" y="4786884"/>
            <a:ext cx="118872" cy="118872"/>
          </a:xfrm>
          <a:prstGeom prst="ellipse">
            <a:avLst/>
          </a:prstGeom>
          <a:solidFill>
            <a:srgbClr val="FF8FB3"/>
          </a:solidFill>
          <a:ln w="9525">
            <a:solidFill>
              <a:srgbClr val="FFFFFF"/>
            </a:solidFill>
            <a:prstDash val="solid"/>
          </a:ln>
        </p:spPr>
      </p:sp>
      <p:sp>
        <p:nvSpPr>
          <p:cNvPr id="34" name="Shape 31"/>
          <p:cNvSpPr/>
          <p:nvPr/>
        </p:nvSpPr>
        <p:spPr>
          <a:xfrm>
            <a:off x="2866644" y="4009644"/>
            <a:ext cx="118872" cy="118872"/>
          </a:xfrm>
          <a:prstGeom prst="ellipse">
            <a:avLst/>
          </a:prstGeom>
          <a:solidFill>
            <a:srgbClr val="FF8FB3"/>
          </a:solidFill>
          <a:ln w="9525">
            <a:solidFill>
              <a:srgbClr val="FFFFFF"/>
            </a:solidFill>
            <a:prstDash val="solid"/>
          </a:ln>
        </p:spPr>
      </p:sp>
      <p:sp>
        <p:nvSpPr>
          <p:cNvPr id="35" name="Shape 32"/>
          <p:cNvSpPr/>
          <p:nvPr/>
        </p:nvSpPr>
        <p:spPr>
          <a:xfrm>
            <a:off x="2500884" y="4146804"/>
            <a:ext cx="118872" cy="118872"/>
          </a:xfrm>
          <a:prstGeom prst="ellipse">
            <a:avLst/>
          </a:prstGeom>
          <a:solidFill>
            <a:srgbClr val="FF8FB3"/>
          </a:solidFill>
          <a:ln w="9525">
            <a:solidFill>
              <a:srgbClr val="FFFFFF"/>
            </a:solidFill>
            <a:prstDash val="solid"/>
          </a:ln>
        </p:spPr>
      </p:sp>
      <p:sp>
        <p:nvSpPr>
          <p:cNvPr id="36" name="Shape 33"/>
          <p:cNvSpPr/>
          <p:nvPr/>
        </p:nvSpPr>
        <p:spPr>
          <a:xfrm>
            <a:off x="3140964" y="4329684"/>
            <a:ext cx="118872" cy="118872"/>
          </a:xfrm>
          <a:prstGeom prst="ellipse">
            <a:avLst/>
          </a:prstGeom>
          <a:solidFill>
            <a:srgbClr val="FF8FB3"/>
          </a:solidFill>
          <a:ln w="9525">
            <a:solidFill>
              <a:srgbClr val="FFFFFF"/>
            </a:solidFill>
            <a:prstDash val="solid"/>
          </a:ln>
        </p:spPr>
      </p:sp>
      <p:sp>
        <p:nvSpPr>
          <p:cNvPr id="37" name="Text 34"/>
          <p:cNvSpPr/>
          <p:nvPr/>
        </p:nvSpPr>
        <p:spPr>
          <a:xfrm>
            <a:off x="1188720" y="5486400"/>
            <a:ext cx="3291840" cy="320040"/>
          </a:xfrm>
          <a:prstGeom prst="rect">
            <a:avLst/>
          </a:prstGeom>
          <a:noFill/>
          <a:ln/>
        </p:spPr>
        <p:txBody>
          <a:bodyPr wrap="square" lIns="0" tIns="0" rIns="0" bIns="0" rtlCol="0" anchor="ctr"/>
          <a:lstStyle/>
          <a:p>
            <a:pPr algn="ctr" indent="0" marL="0">
              <a:buNone/>
            </a:pPr>
            <a:r>
              <a:rPr lang="en-US" sz="1250" b="1" dirty="0">
                <a:solidFill>
                  <a:srgbClr val="2D2A4A"/>
                </a:solidFill>
                <a:latin typeface="Century Gothic" pitchFamily="34" charset="0"/>
                <a:ea typeface="Century Gothic" pitchFamily="34" charset="-122"/>
                <a:cs typeface="Century Gothic" pitchFamily="34" charset="-120"/>
              </a:rPr>
              <a:t>NOT Reliable, but Valid "on average"</a:t>
            </a:r>
            <a:endParaRPr lang="en-US" sz="1250" dirty="0"/>
          </a:p>
        </p:txBody>
      </p:sp>
      <p:sp>
        <p:nvSpPr>
          <p:cNvPr id="38" name="Text 35"/>
          <p:cNvSpPr/>
          <p:nvPr/>
        </p:nvSpPr>
        <p:spPr>
          <a:xfrm>
            <a:off x="1188720" y="5806440"/>
            <a:ext cx="3291840" cy="274320"/>
          </a:xfrm>
          <a:prstGeom prst="rect">
            <a:avLst/>
          </a:prstGeom>
          <a:noFill/>
          <a:ln/>
        </p:spPr>
        <p:txBody>
          <a:bodyPr wrap="square" lIns="0" tIns="0" rIns="0" bIns="0" rtlCol="0" anchor="ctr"/>
          <a:lstStyle/>
          <a:p>
            <a:pPr algn="ctr" indent="0" marL="0">
              <a:buNone/>
            </a:pPr>
            <a:r>
              <a:rPr lang="en-US" sz="1000" i="1" dirty="0">
                <a:solidFill>
                  <a:srgbClr val="685F8F"/>
                </a:solidFill>
                <a:latin typeface="Calibri" pitchFamily="34" charset="0"/>
                <a:ea typeface="Calibri" pitchFamily="34" charset="-122"/>
                <a:cs typeface="Calibri" pitchFamily="34" charset="-120"/>
              </a:rPr>
              <a:t>Scattered widely, but centered on target</a:t>
            </a:r>
            <a:endParaRPr lang="en-US" sz="1000" dirty="0"/>
          </a:p>
        </p:txBody>
      </p:sp>
      <p:sp>
        <p:nvSpPr>
          <p:cNvPr id="39" name="Shape 36"/>
          <p:cNvSpPr/>
          <p:nvPr/>
        </p:nvSpPr>
        <p:spPr>
          <a:xfrm>
            <a:off x="7360920" y="3794760"/>
            <a:ext cx="1554480" cy="1554480"/>
          </a:xfrm>
          <a:prstGeom prst="ellipse">
            <a:avLst/>
          </a:prstGeom>
          <a:solidFill>
            <a:srgbClr val="FFFFFF"/>
          </a:solidFill>
          <a:ln w="12700">
            <a:solidFill>
              <a:srgbClr val="D8D2F5"/>
            </a:solidFill>
            <a:prstDash val="solid"/>
          </a:ln>
        </p:spPr>
      </p:sp>
      <p:sp>
        <p:nvSpPr>
          <p:cNvPr id="40" name="Shape 37"/>
          <p:cNvSpPr/>
          <p:nvPr/>
        </p:nvSpPr>
        <p:spPr>
          <a:xfrm>
            <a:off x="7578547" y="4012387"/>
            <a:ext cx="1119226" cy="1119226"/>
          </a:xfrm>
          <a:prstGeom prst="ellipse">
            <a:avLst/>
          </a:prstGeom>
          <a:solidFill>
            <a:srgbClr val="EDE9FE"/>
          </a:solidFill>
          <a:ln w="12700">
            <a:solidFill>
              <a:srgbClr val="D8D2F5"/>
            </a:solidFill>
            <a:prstDash val="solid"/>
          </a:ln>
        </p:spPr>
      </p:sp>
      <p:sp>
        <p:nvSpPr>
          <p:cNvPr id="41" name="Shape 38"/>
          <p:cNvSpPr/>
          <p:nvPr/>
        </p:nvSpPr>
        <p:spPr>
          <a:xfrm>
            <a:off x="7796174" y="4230014"/>
            <a:ext cx="683971" cy="683971"/>
          </a:xfrm>
          <a:prstGeom prst="ellipse">
            <a:avLst/>
          </a:prstGeom>
          <a:solidFill>
            <a:srgbClr val="8B7FE8"/>
          </a:solidFill>
          <a:ln w="12700">
            <a:solidFill>
              <a:srgbClr val="D8D2F5"/>
            </a:solidFill>
            <a:prstDash val="solid"/>
          </a:ln>
        </p:spPr>
      </p:sp>
      <p:sp>
        <p:nvSpPr>
          <p:cNvPr id="42" name="Shape 39"/>
          <p:cNvSpPr/>
          <p:nvPr/>
        </p:nvSpPr>
        <p:spPr>
          <a:xfrm>
            <a:off x="7998257" y="4432097"/>
            <a:ext cx="279806" cy="279806"/>
          </a:xfrm>
          <a:prstGeom prst="ellipse">
            <a:avLst/>
          </a:prstGeom>
          <a:solidFill>
            <a:srgbClr val="6B5FD1"/>
          </a:solidFill>
          <a:ln w="12700">
            <a:solidFill>
              <a:srgbClr val="D8D2F5"/>
            </a:solidFill>
            <a:prstDash val="solid"/>
          </a:ln>
        </p:spPr>
      </p:sp>
      <p:sp>
        <p:nvSpPr>
          <p:cNvPr id="43" name="Shape 40"/>
          <p:cNvSpPr/>
          <p:nvPr/>
        </p:nvSpPr>
        <p:spPr>
          <a:xfrm>
            <a:off x="8627364" y="4969764"/>
            <a:ext cx="118872" cy="118872"/>
          </a:xfrm>
          <a:prstGeom prst="ellipse">
            <a:avLst/>
          </a:prstGeom>
          <a:solidFill>
            <a:srgbClr val="6B5FD1"/>
          </a:solidFill>
          <a:ln w="9525">
            <a:solidFill>
              <a:srgbClr val="FFFFFF"/>
            </a:solidFill>
            <a:prstDash val="solid"/>
          </a:ln>
        </p:spPr>
      </p:sp>
      <p:sp>
        <p:nvSpPr>
          <p:cNvPr id="44" name="Shape 41"/>
          <p:cNvSpPr/>
          <p:nvPr/>
        </p:nvSpPr>
        <p:spPr>
          <a:xfrm>
            <a:off x="7575804" y="5061204"/>
            <a:ext cx="118872" cy="118872"/>
          </a:xfrm>
          <a:prstGeom prst="ellipse">
            <a:avLst/>
          </a:prstGeom>
          <a:solidFill>
            <a:srgbClr val="6B5FD1"/>
          </a:solidFill>
          <a:ln w="9525">
            <a:solidFill>
              <a:srgbClr val="FFFFFF"/>
            </a:solidFill>
            <a:prstDash val="solid"/>
          </a:ln>
        </p:spPr>
      </p:sp>
      <p:sp>
        <p:nvSpPr>
          <p:cNvPr id="45" name="Shape 42"/>
          <p:cNvSpPr/>
          <p:nvPr/>
        </p:nvSpPr>
        <p:spPr>
          <a:xfrm>
            <a:off x="8353044" y="3963924"/>
            <a:ext cx="118872" cy="118872"/>
          </a:xfrm>
          <a:prstGeom prst="ellipse">
            <a:avLst/>
          </a:prstGeom>
          <a:solidFill>
            <a:srgbClr val="6B5FD1"/>
          </a:solidFill>
          <a:ln w="9525">
            <a:solidFill>
              <a:srgbClr val="FFFFFF"/>
            </a:solidFill>
            <a:prstDash val="solid"/>
          </a:ln>
        </p:spPr>
      </p:sp>
      <p:sp>
        <p:nvSpPr>
          <p:cNvPr id="46" name="Shape 43"/>
          <p:cNvSpPr/>
          <p:nvPr/>
        </p:nvSpPr>
        <p:spPr>
          <a:xfrm>
            <a:off x="7530084" y="4238244"/>
            <a:ext cx="118872" cy="118872"/>
          </a:xfrm>
          <a:prstGeom prst="ellipse">
            <a:avLst/>
          </a:prstGeom>
          <a:solidFill>
            <a:srgbClr val="6B5FD1"/>
          </a:solidFill>
          <a:ln w="9525">
            <a:solidFill>
              <a:srgbClr val="FFFFFF"/>
            </a:solidFill>
            <a:prstDash val="solid"/>
          </a:ln>
        </p:spPr>
      </p:sp>
      <p:sp>
        <p:nvSpPr>
          <p:cNvPr id="47" name="Shape 44"/>
          <p:cNvSpPr/>
          <p:nvPr/>
        </p:nvSpPr>
        <p:spPr>
          <a:xfrm>
            <a:off x="8215884" y="5106924"/>
            <a:ext cx="118872" cy="118872"/>
          </a:xfrm>
          <a:prstGeom prst="ellipse">
            <a:avLst/>
          </a:prstGeom>
          <a:solidFill>
            <a:srgbClr val="6B5FD1"/>
          </a:solidFill>
          <a:ln w="9525">
            <a:solidFill>
              <a:srgbClr val="FFFFFF"/>
            </a:solidFill>
            <a:prstDash val="solid"/>
          </a:ln>
        </p:spPr>
      </p:sp>
      <p:sp>
        <p:nvSpPr>
          <p:cNvPr id="48" name="Text 45"/>
          <p:cNvSpPr/>
          <p:nvPr/>
        </p:nvSpPr>
        <p:spPr>
          <a:xfrm>
            <a:off x="6492240" y="5486400"/>
            <a:ext cx="3291840" cy="320040"/>
          </a:xfrm>
          <a:prstGeom prst="rect">
            <a:avLst/>
          </a:prstGeom>
          <a:noFill/>
          <a:ln/>
        </p:spPr>
        <p:txBody>
          <a:bodyPr wrap="square" lIns="0" tIns="0" rIns="0" bIns="0" rtlCol="0" anchor="ctr"/>
          <a:lstStyle/>
          <a:p>
            <a:pPr algn="ctr" indent="0" marL="0">
              <a:buNone/>
            </a:pPr>
            <a:r>
              <a:rPr lang="en-US" sz="1250" b="1" dirty="0">
                <a:solidFill>
                  <a:srgbClr val="2D2A4A"/>
                </a:solidFill>
                <a:latin typeface="Century Gothic" pitchFamily="34" charset="0"/>
                <a:ea typeface="Century Gothic" pitchFamily="34" charset="-122"/>
                <a:cs typeface="Century Gothic" pitchFamily="34" charset="-120"/>
              </a:rPr>
              <a:t>NOT Reliable, NOT Valid</a:t>
            </a:r>
            <a:endParaRPr lang="en-US" sz="1250" dirty="0"/>
          </a:p>
        </p:txBody>
      </p:sp>
      <p:sp>
        <p:nvSpPr>
          <p:cNvPr id="49" name="Text 46"/>
          <p:cNvSpPr/>
          <p:nvPr/>
        </p:nvSpPr>
        <p:spPr>
          <a:xfrm>
            <a:off x="6492240" y="5806440"/>
            <a:ext cx="3291840" cy="274320"/>
          </a:xfrm>
          <a:prstGeom prst="rect">
            <a:avLst/>
          </a:prstGeom>
          <a:noFill/>
          <a:ln/>
        </p:spPr>
        <p:txBody>
          <a:bodyPr wrap="square" lIns="0" tIns="0" rIns="0" bIns="0" rtlCol="0" anchor="ctr"/>
          <a:lstStyle/>
          <a:p>
            <a:pPr algn="ctr" indent="0" marL="0">
              <a:buNone/>
            </a:pPr>
            <a:r>
              <a:rPr lang="en-US" sz="1000" i="1" dirty="0">
                <a:solidFill>
                  <a:srgbClr val="685F8F"/>
                </a:solidFill>
                <a:latin typeface="Calibri" pitchFamily="34" charset="0"/>
                <a:ea typeface="Calibri" pitchFamily="34" charset="-122"/>
                <a:cs typeface="Calibri" pitchFamily="34" charset="-120"/>
              </a:rPr>
              <a:t>Scattered randomly, nowhere near the target</a:t>
            </a:r>
            <a:endParaRPr lang="en-US" sz="1000" dirty="0"/>
          </a:p>
        </p:txBody>
      </p:sp>
      <p:sp>
        <p:nvSpPr>
          <p:cNvPr id="50" name="Text 47"/>
          <p:cNvSpPr/>
          <p:nvPr/>
        </p:nvSpPr>
        <p:spPr>
          <a:xfrm>
            <a:off x="731520" y="6108192"/>
            <a:ext cx="10725912" cy="320040"/>
          </a:xfrm>
          <a:prstGeom prst="rect">
            <a:avLst/>
          </a:prstGeom>
          <a:noFill/>
          <a:ln/>
        </p:spPr>
        <p:txBody>
          <a:bodyPr wrap="square" lIns="0" tIns="0" rIns="0" bIns="0" rtlCol="0" anchor="t"/>
          <a:lstStyle/>
          <a:p>
            <a:pPr algn="ctr" indent="0" marL="0">
              <a:buNone/>
            </a:pPr>
            <a:r>
              <a:rPr lang="en-US" sz="1100" b="1" dirty="0">
                <a:solidFill>
                  <a:srgbClr val="6B5FD1"/>
                </a:solidFill>
                <a:latin typeface="Calibri" pitchFamily="34" charset="0"/>
                <a:ea typeface="Calibri" pitchFamily="34" charset="-122"/>
                <a:cs typeface="Calibri" pitchFamily="34" charset="-120"/>
              </a:rPr>
              <a:t>Reliability</a:t>
            </a:r>
            <a:pPr algn="ctr" indent="0" marL="0">
              <a:buNone/>
            </a:pPr>
            <a:r>
              <a:rPr lang="en-US" sz="1100" dirty="0">
                <a:solidFill>
                  <a:srgbClr val="2D2A4A"/>
                </a:solidFill>
                <a:latin typeface="Calibri" pitchFamily="34" charset="0"/>
                <a:ea typeface="Calibri" pitchFamily="34" charset="-122"/>
                <a:cs typeface="Calibri" pitchFamily="34" charset="-120"/>
              </a:rPr>
              <a:t> asks: if I measure this again, do I get a consistent result? </a:t>
            </a:r>
            <a:pPr algn="ctr" indent="0" marL="0">
              <a:buNone/>
            </a:pPr>
            <a:r>
              <a:rPr lang="en-US" sz="1100" b="1" dirty="0">
                <a:solidFill>
                  <a:srgbClr val="6B5FD1"/>
                </a:solidFill>
                <a:latin typeface="Calibri" pitchFamily="34" charset="0"/>
                <a:ea typeface="Calibri" pitchFamily="34" charset="-122"/>
                <a:cs typeface="Calibri" pitchFamily="34" charset="-120"/>
              </a:rPr>
              <a:t>Validity</a:t>
            </a:r>
            <a:pPr algn="ctr" indent="0" marL="0">
              <a:buNone/>
            </a:pPr>
            <a:r>
              <a:rPr lang="en-US" sz="1100" dirty="0">
                <a:solidFill>
                  <a:srgbClr val="2D2A4A"/>
                </a:solidFill>
                <a:latin typeface="Calibri" pitchFamily="34" charset="0"/>
                <a:ea typeface="Calibri" pitchFamily="34" charset="-122"/>
                <a:cs typeface="Calibri" pitchFamily="34" charset="-120"/>
              </a:rPr>
              <a:t> asks: am I actually measuring the right thing? A measurement needs both to be trustworthy.</a:t>
            </a:r>
            <a:endParaRPr lang="en-US" sz="1100" dirty="0"/>
          </a:p>
        </p:txBody>
      </p:sp>
      <p:sp>
        <p:nvSpPr>
          <p:cNvPr id="51" name="Text 48"/>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52" name="Text 49"/>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Practice Set — Collecting &amp; Measuring Data</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600200"/>
            <a:ext cx="11274552" cy="4480560"/>
          </a:xfrm>
          <a:prstGeom prst="roundRect">
            <a:avLst>
              <a:gd name="adj" fmla="val 3673"/>
            </a:avLst>
          </a:prstGeom>
          <a:solidFill>
            <a:srgbClr val="EDE9FE"/>
          </a:solidFill>
          <a:ln w="12700">
            <a:solidFill>
              <a:srgbClr val="D8D2F5"/>
            </a:solidFill>
            <a:prstDash val="solid"/>
          </a:ln>
        </p:spPr>
      </p:sp>
      <p:sp>
        <p:nvSpPr>
          <p:cNvPr id="7" name="Text 4"/>
          <p:cNvSpPr/>
          <p:nvPr/>
        </p:nvSpPr>
        <p:spPr>
          <a:xfrm>
            <a:off x="822960" y="1828800"/>
            <a:ext cx="10515600" cy="457200"/>
          </a:xfrm>
          <a:prstGeom prst="rect">
            <a:avLst/>
          </a:prstGeom>
          <a:noFill/>
          <a:ln/>
        </p:spPr>
        <p:txBody>
          <a:bodyPr wrap="square" lIns="0" tIns="0" rIns="0" bIns="0" rtlCol="0" anchor="ctr"/>
          <a:lstStyle/>
          <a:p>
            <a:pPr indent="0" marL="0">
              <a:buNone/>
            </a:pPr>
            <a:r>
              <a:rPr lang="en-US" sz="1500" b="1" dirty="0">
                <a:solidFill>
                  <a:srgbClr val="2D2A4A"/>
                </a:solidFill>
                <a:latin typeface="Century Gothic" pitchFamily="34" charset="0"/>
                <a:ea typeface="Century Gothic" pitchFamily="34" charset="-122"/>
                <a:cs typeface="Century Gothic" pitchFamily="34" charset="-120"/>
              </a:rPr>
              <a:t>Try these yourself first — that's the point</a:t>
            </a:r>
            <a:endParaRPr lang="en-US" sz="1500" dirty="0"/>
          </a:p>
        </p:txBody>
      </p:sp>
      <p:sp>
        <p:nvSpPr>
          <p:cNvPr id="8" name="Shape 5"/>
          <p:cNvSpPr/>
          <p:nvPr/>
        </p:nvSpPr>
        <p:spPr>
          <a:xfrm>
            <a:off x="822960" y="2423160"/>
            <a:ext cx="384048" cy="384048"/>
          </a:xfrm>
          <a:prstGeom prst="ellipse">
            <a:avLst/>
          </a:prstGeom>
          <a:solidFill>
            <a:srgbClr val="8B7FE8"/>
          </a:solidFill>
          <a:ln/>
        </p:spPr>
      </p:sp>
      <p:sp>
        <p:nvSpPr>
          <p:cNvPr id="9" name="Text 6"/>
          <p:cNvSpPr/>
          <p:nvPr/>
        </p:nvSpPr>
        <p:spPr>
          <a:xfrm>
            <a:off x="822960" y="2423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p:nvPr/>
        </p:nvSpPr>
        <p:spPr>
          <a:xfrm>
            <a:off x="1435608" y="2423160"/>
            <a:ext cx="9582912" cy="384048"/>
          </a:xfrm>
          <a:prstGeom prst="rect">
            <a:avLst/>
          </a:prstGeom>
          <a:noFill/>
          <a:ln/>
        </p:spPr>
        <p:txBody>
          <a:bodyPr wrap="square" lIns="0" tIns="0" rIns="0" bIns="0" rtlCol="0" anchor="ctr"/>
          <a:lstStyle/>
          <a:p>
            <a:pPr indent="0" marL="0">
              <a:buNone/>
            </a:pPr>
            <a:r>
              <a:rPr lang="en-US" sz="1250" dirty="0">
                <a:solidFill>
                  <a:srgbClr val="2D2A4A"/>
                </a:solidFill>
                <a:latin typeface="Calibri" pitchFamily="34" charset="0"/>
                <a:ea typeface="Calibri" pitchFamily="34" charset="-122"/>
                <a:cs typeface="Calibri" pitchFamily="34" charset="-120"/>
              </a:rPr>
              <a:t>For your own final project idea, decide whether your data would be primary or secondary, and explain why</a:t>
            </a:r>
            <a:endParaRPr lang="en-US" sz="1250" dirty="0"/>
          </a:p>
        </p:txBody>
      </p:sp>
      <p:sp>
        <p:nvSpPr>
          <p:cNvPr id="11" name="Shape 8"/>
          <p:cNvSpPr/>
          <p:nvPr/>
        </p:nvSpPr>
        <p:spPr>
          <a:xfrm>
            <a:off x="822960" y="3127248"/>
            <a:ext cx="384048" cy="384048"/>
          </a:xfrm>
          <a:prstGeom prst="ellipse">
            <a:avLst/>
          </a:prstGeom>
          <a:solidFill>
            <a:srgbClr val="8B7FE8"/>
          </a:solidFill>
          <a:ln/>
        </p:spPr>
      </p:sp>
      <p:sp>
        <p:nvSpPr>
          <p:cNvPr id="12" name="Text 9"/>
          <p:cNvSpPr/>
          <p:nvPr/>
        </p:nvSpPr>
        <p:spPr>
          <a:xfrm>
            <a:off x="822960" y="3127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435608" y="3127248"/>
            <a:ext cx="9582912" cy="384048"/>
          </a:xfrm>
          <a:prstGeom prst="rect">
            <a:avLst/>
          </a:prstGeom>
          <a:noFill/>
          <a:ln/>
        </p:spPr>
        <p:txBody>
          <a:bodyPr wrap="square" lIns="0" tIns="0" rIns="0" bIns="0" rtlCol="0" anchor="ctr"/>
          <a:lstStyle/>
          <a:p>
            <a:pPr indent="0" marL="0">
              <a:buNone/>
            </a:pPr>
            <a:r>
              <a:rPr lang="en-US" sz="1250" dirty="0">
                <a:solidFill>
                  <a:srgbClr val="2D2A4A"/>
                </a:solidFill>
                <a:latin typeface="Calibri" pitchFamily="34" charset="0"/>
                <a:ea typeface="Calibri" pitchFamily="34" charset="-122"/>
                <a:cs typeface="Calibri" pitchFamily="34" charset="-120"/>
              </a:rPr>
              <a:t>A researcher samples only students who walk past the library at noon. Name this sampling technique, and explain its main risk</a:t>
            </a:r>
            <a:endParaRPr lang="en-US" sz="1250" dirty="0"/>
          </a:p>
        </p:txBody>
      </p:sp>
      <p:sp>
        <p:nvSpPr>
          <p:cNvPr id="14" name="Shape 11"/>
          <p:cNvSpPr/>
          <p:nvPr/>
        </p:nvSpPr>
        <p:spPr>
          <a:xfrm>
            <a:off x="822960" y="3831336"/>
            <a:ext cx="384048" cy="384048"/>
          </a:xfrm>
          <a:prstGeom prst="ellipse">
            <a:avLst/>
          </a:prstGeom>
          <a:solidFill>
            <a:srgbClr val="8B7FE8"/>
          </a:solidFill>
          <a:ln/>
        </p:spPr>
      </p:sp>
      <p:sp>
        <p:nvSpPr>
          <p:cNvPr id="15" name="Text 12"/>
          <p:cNvSpPr/>
          <p:nvPr/>
        </p:nvSpPr>
        <p:spPr>
          <a:xfrm>
            <a:off x="822960" y="38313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3"/>
          <p:cNvSpPr/>
          <p:nvPr/>
        </p:nvSpPr>
        <p:spPr>
          <a:xfrm>
            <a:off x="1435608" y="3831336"/>
            <a:ext cx="9582912" cy="384048"/>
          </a:xfrm>
          <a:prstGeom prst="rect">
            <a:avLst/>
          </a:prstGeom>
          <a:noFill/>
          <a:ln/>
        </p:spPr>
        <p:txBody>
          <a:bodyPr wrap="square" lIns="0" tIns="0" rIns="0" bIns="0" rtlCol="0" anchor="ctr"/>
          <a:lstStyle/>
          <a:p>
            <a:pPr indent="0" marL="0">
              <a:buNone/>
            </a:pPr>
            <a:r>
              <a:rPr lang="en-US" sz="1250" dirty="0">
                <a:solidFill>
                  <a:srgbClr val="2D2A4A"/>
                </a:solidFill>
                <a:latin typeface="Calibri" pitchFamily="34" charset="0"/>
                <a:ea typeface="Calibri" pitchFamily="34" charset="-122"/>
                <a:cs typeface="Calibri" pitchFamily="34" charset="-120"/>
              </a:rPr>
              <a:t>A study on a rare medical condition asks each participant to refer other people with the same condition. Name this technique, and explain when it’s genuinely the right choice despite being non-random</a:t>
            </a:r>
            <a:endParaRPr lang="en-US" sz="1250" dirty="0"/>
          </a:p>
        </p:txBody>
      </p:sp>
      <p:sp>
        <p:nvSpPr>
          <p:cNvPr id="17" name="Shape 14"/>
          <p:cNvSpPr/>
          <p:nvPr/>
        </p:nvSpPr>
        <p:spPr>
          <a:xfrm>
            <a:off x="822960" y="4535424"/>
            <a:ext cx="384048" cy="384048"/>
          </a:xfrm>
          <a:prstGeom prst="ellipse">
            <a:avLst/>
          </a:prstGeom>
          <a:solidFill>
            <a:srgbClr val="8B7FE8"/>
          </a:solidFill>
          <a:ln/>
        </p:spPr>
      </p:sp>
      <p:sp>
        <p:nvSpPr>
          <p:cNvPr id="18" name="Text 15"/>
          <p:cNvSpPr/>
          <p:nvPr/>
        </p:nvSpPr>
        <p:spPr>
          <a:xfrm>
            <a:off x="822960" y="45354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6"/>
          <p:cNvSpPr/>
          <p:nvPr/>
        </p:nvSpPr>
        <p:spPr>
          <a:xfrm>
            <a:off x="1435608" y="4535424"/>
            <a:ext cx="9582912" cy="384048"/>
          </a:xfrm>
          <a:prstGeom prst="rect">
            <a:avLst/>
          </a:prstGeom>
          <a:noFill/>
          <a:ln/>
        </p:spPr>
        <p:txBody>
          <a:bodyPr wrap="square" lIns="0" tIns="0" rIns="0" bIns="0" rtlCol="0" anchor="ctr"/>
          <a:lstStyle/>
          <a:p>
            <a:pPr indent="0" marL="0">
              <a:buNone/>
            </a:pPr>
            <a:r>
              <a:rPr lang="en-US" sz="1250" dirty="0">
                <a:solidFill>
                  <a:srgbClr val="2D2A4A"/>
                </a:solidFill>
                <a:latin typeface="Calibri" pitchFamily="34" charset="0"/>
                <a:ea typeface="Calibri" pitchFamily="34" charset="-122"/>
                <a:cs typeface="Calibri" pitchFamily="34" charset="-120"/>
              </a:rPr>
              <a:t>Propose one reasonable way to operationalize "student engagement" using a measurable proxy</a:t>
            </a:r>
            <a:endParaRPr lang="en-US" sz="1250" dirty="0"/>
          </a:p>
        </p:txBody>
      </p:sp>
      <p:sp>
        <p:nvSpPr>
          <p:cNvPr id="20" name="Shape 17"/>
          <p:cNvSpPr/>
          <p:nvPr/>
        </p:nvSpPr>
        <p:spPr>
          <a:xfrm>
            <a:off x="822960" y="5239512"/>
            <a:ext cx="384048" cy="384048"/>
          </a:xfrm>
          <a:prstGeom prst="ellipse">
            <a:avLst/>
          </a:prstGeom>
          <a:solidFill>
            <a:srgbClr val="8B7FE8"/>
          </a:solidFill>
          <a:ln/>
        </p:spPr>
      </p:sp>
      <p:sp>
        <p:nvSpPr>
          <p:cNvPr id="21" name="Text 18"/>
          <p:cNvSpPr/>
          <p:nvPr/>
        </p:nvSpPr>
        <p:spPr>
          <a:xfrm>
            <a:off x="822960" y="52395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19"/>
          <p:cNvSpPr/>
          <p:nvPr/>
        </p:nvSpPr>
        <p:spPr>
          <a:xfrm>
            <a:off x="1435608" y="5239512"/>
            <a:ext cx="9582912" cy="384048"/>
          </a:xfrm>
          <a:prstGeom prst="rect">
            <a:avLst/>
          </a:prstGeom>
          <a:noFill/>
          <a:ln/>
        </p:spPr>
        <p:txBody>
          <a:bodyPr wrap="square" lIns="0" tIns="0" rIns="0" bIns="0" rtlCol="0" anchor="ctr"/>
          <a:lstStyle/>
          <a:p>
            <a:pPr indent="0" marL="0">
              <a:buNone/>
            </a:pPr>
            <a:r>
              <a:rPr lang="en-US" sz="1250" dirty="0">
                <a:solidFill>
                  <a:srgbClr val="2D2A4A"/>
                </a:solidFill>
                <a:latin typeface="Calibri" pitchFamily="34" charset="0"/>
                <a:ea typeface="Calibri" pitchFamily="34" charset="-122"/>
                <a:cs typeface="Calibri" pitchFamily="34" charset="-120"/>
              </a:rPr>
              <a:t>A weight scale gives a different reading every time you step on it, seconds apart, with nothing else changing. Is this a reliability problem or a validity problem? Explain</a:t>
            </a:r>
            <a:endParaRPr lang="en-US" sz="1250" dirty="0"/>
          </a:p>
        </p:txBody>
      </p:sp>
      <p:sp>
        <p:nvSpPr>
          <p:cNvPr id="23" name="Text 20"/>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24" name="Text 21"/>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8FF"/>
        </a:solidFill>
      </p:bgPr>
    </p:bg>
    <p:spTree>
      <p:nvGrpSpPr>
        <p:cNvPr id="1" name=""/>
        <p:cNvGrpSpPr/>
        <p:nvPr/>
      </p:nvGrpSpPr>
      <p:grpSpPr>
        <a:xfrm>
          <a:off x="0" y="0"/>
          <a:ext cx="0" cy="0"/>
          <a:chOff x="0" y="0"/>
          <a:chExt cx="0" cy="0"/>
        </a:xfrm>
      </p:grpSpPr>
      <p:sp>
        <p:nvSpPr>
          <p:cNvPr id="2" name="Text 0"/>
          <p:cNvSpPr/>
          <p:nvPr/>
        </p:nvSpPr>
        <p:spPr>
          <a:xfrm>
            <a:off x="457200" y="457200"/>
            <a:ext cx="274320" cy="274320"/>
          </a:xfrm>
          <a:prstGeom prst="rect">
            <a:avLst/>
          </a:prstGeom>
          <a:noFill/>
          <a:ln/>
        </p:spPr>
        <p:txBody>
          <a:bodyPr wrap="square" lIns="0" tIns="0" rIns="0" bIns="0" rtlCol="0" anchor="ctr"/>
          <a:lstStyle/>
          <a:p>
            <a:pPr algn="ctr" indent="0" marL="0">
              <a:buNone/>
            </a:pPr>
            <a:r>
              <a:rPr lang="en-US" sz="1200" dirty="0">
                <a:solidFill>
                  <a:srgbClr val="5FD6B0"/>
                </a:solidFill>
              </a:rPr>
              <a:t>✦</a:t>
            </a:r>
            <a:endParaRPr lang="en-US" sz="1200" dirty="0"/>
          </a:p>
        </p:txBody>
      </p:sp>
      <p:sp>
        <p:nvSpPr>
          <p:cNvPr id="3" name="Text 1"/>
          <p:cNvSpPr/>
          <p:nvPr/>
        </p:nvSpPr>
        <p:spPr>
          <a:xfrm>
            <a:off x="11247120" y="548640"/>
            <a:ext cx="201168" cy="201168"/>
          </a:xfrm>
          <a:prstGeom prst="rect">
            <a:avLst/>
          </a:prstGeom>
          <a:noFill/>
          <a:ln/>
        </p:spPr>
        <p:txBody>
          <a:bodyPr wrap="square" lIns="0" tIns="0" rIns="0" bIns="0" rtlCol="0" anchor="ctr"/>
          <a:lstStyle/>
          <a:p>
            <a:pPr algn="ctr" indent="0" marL="0">
              <a:buNone/>
            </a:pPr>
            <a:r>
              <a:rPr lang="en-US" sz="880" dirty="0">
                <a:solidFill>
                  <a:srgbClr val="FFC94A"/>
                </a:solidFill>
              </a:rPr>
              <a:t>✦</a:t>
            </a:r>
            <a:endParaRPr lang="en-US" sz="880" dirty="0"/>
          </a:p>
        </p:txBody>
      </p:sp>
      <p:sp>
        <p:nvSpPr>
          <p:cNvPr id="4" name="Text 2"/>
          <p:cNvSpPr/>
          <p:nvPr/>
        </p:nvSpPr>
        <p:spPr>
          <a:xfrm>
            <a:off x="640080" y="6126480"/>
            <a:ext cx="228600" cy="228600"/>
          </a:xfrm>
          <a:prstGeom prst="rect">
            <a:avLst/>
          </a:prstGeom>
          <a:noFill/>
          <a:ln/>
        </p:spPr>
        <p:txBody>
          <a:bodyPr wrap="square" lIns="0" tIns="0" rIns="0" bIns="0" rtlCol="0" anchor="ctr"/>
          <a:lstStyle/>
          <a:p>
            <a:pPr algn="ctr" indent="0" marL="0">
              <a:buNone/>
            </a:pPr>
            <a:r>
              <a:rPr lang="en-US" sz="1000" dirty="0">
                <a:solidFill>
                  <a:srgbClr val="FF8FB3"/>
                </a:solidFill>
              </a:rPr>
              <a:t>✦</a:t>
            </a:r>
            <a:endParaRPr lang="en-US" sz="1000" dirty="0"/>
          </a:p>
        </p:txBody>
      </p:sp>
      <p:sp>
        <p:nvSpPr>
          <p:cNvPr id="5" name="Text 3"/>
          <p:cNvSpPr/>
          <p:nvPr/>
        </p:nvSpPr>
        <p:spPr>
          <a:xfrm>
            <a:off x="11338560" y="6035040"/>
            <a:ext cx="274320" cy="274320"/>
          </a:xfrm>
          <a:prstGeom prst="rect">
            <a:avLst/>
          </a:prstGeom>
          <a:noFill/>
          <a:ln/>
        </p:spPr>
        <p:txBody>
          <a:bodyPr wrap="square" lIns="0" tIns="0" rIns="0" bIns="0" rtlCol="0" anchor="ctr"/>
          <a:lstStyle/>
          <a:p>
            <a:pPr algn="ctr" indent="0" marL="0">
              <a:buNone/>
            </a:pPr>
            <a:r>
              <a:rPr lang="en-US" sz="1200" dirty="0">
                <a:solidFill>
                  <a:srgbClr val="8B7FE8"/>
                </a:solidFill>
              </a:rPr>
              <a:t>✦</a:t>
            </a:r>
            <a:endParaRPr lang="en-US" sz="1200" dirty="0"/>
          </a:p>
        </p:txBody>
      </p:sp>
      <p:sp>
        <p:nvSpPr>
          <p:cNvPr id="6" name="Shape 4"/>
          <p:cNvSpPr/>
          <p:nvPr/>
        </p:nvSpPr>
        <p:spPr>
          <a:xfrm rot="-90000">
            <a:off x="1874520" y="1325880"/>
            <a:ext cx="8805672" cy="777240"/>
          </a:xfrm>
          <a:prstGeom prst="roundRect">
            <a:avLst>
              <a:gd name="adj" fmla="val 17647"/>
            </a:avLst>
          </a:prstGeom>
          <a:solidFill>
            <a:srgbClr val="FFC94A"/>
          </a:solidFill>
          <a:ln/>
        </p:spPr>
      </p:sp>
      <p:sp>
        <p:nvSpPr>
          <p:cNvPr id="7" name="Shape 5"/>
          <p:cNvSpPr/>
          <p:nvPr/>
        </p:nvSpPr>
        <p:spPr>
          <a:xfrm>
            <a:off x="1691640" y="1188720"/>
            <a:ext cx="8805672" cy="777240"/>
          </a:xfrm>
          <a:prstGeom prst="roundRect">
            <a:avLst>
              <a:gd name="adj" fmla="val 17647"/>
            </a:avLst>
          </a:prstGeom>
          <a:solidFill>
            <a:srgbClr val="8B7FE8"/>
          </a:solidFill>
          <a:ln/>
        </p:spPr>
      </p:sp>
      <p:pic>
        <p:nvPicPr>
          <p:cNvPr id="8" name="Image 0" descr="preencoded.png">    </p:cNvPr>
          <p:cNvPicPr>
            <a:picLocks noChangeAspect="1"/>
          </p:cNvPicPr>
          <p:nvPr/>
        </p:nvPicPr>
        <p:blipFill>
          <a:blip r:embed="rId1"/>
          <a:stretch>
            <a:fillRect/>
          </a:stretch>
        </p:blipFill>
        <p:spPr>
          <a:xfrm>
            <a:off x="5870448" y="1348740"/>
            <a:ext cx="457200" cy="457200"/>
          </a:xfrm>
          <a:prstGeom prst="rect">
            <a:avLst/>
          </a:prstGeom>
        </p:spPr>
      </p:pic>
      <p:sp>
        <p:nvSpPr>
          <p:cNvPr id="9" name="Text 6"/>
          <p:cNvSpPr/>
          <p:nvPr/>
        </p:nvSpPr>
        <p:spPr>
          <a:xfrm>
            <a:off x="1691640" y="1188720"/>
            <a:ext cx="8805672" cy="777240"/>
          </a:xfrm>
          <a:prstGeom prst="rect">
            <a:avLst/>
          </a:prstGeom>
          <a:noFill/>
          <a:ln/>
        </p:spPr>
        <p:txBody>
          <a:bodyPr wrap="square" lIns="0" tIns="0" rIns="0" bIns="0" rtlCol="0" anchor="b"/>
          <a:lstStyle/>
          <a:p>
            <a:pPr algn="ctr" indent="0" marL="0">
              <a:buNone/>
            </a:pPr>
            <a:r>
              <a:rPr lang="en-US" sz="1200" b="1" spc="200" kern="0" dirty="0">
                <a:solidFill>
                  <a:srgbClr val="FFF6DC"/>
                </a:solidFill>
                <a:latin typeface="Calibri" pitchFamily="34" charset="0"/>
                <a:ea typeface="Calibri" pitchFamily="34" charset="-122"/>
                <a:cs typeface="Calibri" pitchFamily="34" charset="-120"/>
              </a:rPr>
              <a:t>PART 3</a:t>
            </a:r>
            <a:endParaRPr lang="en-US" sz="1200" dirty="0"/>
          </a:p>
        </p:txBody>
      </p:sp>
      <p:sp>
        <p:nvSpPr>
          <p:cNvPr id="10" name="Text 7"/>
          <p:cNvSpPr/>
          <p:nvPr/>
        </p:nvSpPr>
        <p:spPr>
          <a:xfrm>
            <a:off x="1097280" y="2331720"/>
            <a:ext cx="9994392" cy="1920240"/>
          </a:xfrm>
          <a:prstGeom prst="rect">
            <a:avLst/>
          </a:prstGeom>
          <a:noFill/>
          <a:ln/>
        </p:spPr>
        <p:txBody>
          <a:bodyPr wrap="square" lIns="0" tIns="0" rIns="0" bIns="0" rtlCol="0" anchor="t"/>
          <a:lstStyle/>
          <a:p>
            <a:pPr algn="ctr" indent="0" marL="0">
              <a:buNone/>
            </a:pPr>
            <a:r>
              <a:rPr lang="en-US" sz="2900" b="1" dirty="0">
                <a:solidFill>
                  <a:srgbClr val="2D2A4A"/>
                </a:solidFill>
                <a:latin typeface="Century Gothic" pitchFamily="34" charset="0"/>
                <a:ea typeface="Century Gothic" pitchFamily="34" charset="-122"/>
                <a:cs typeface="Century Gothic" pitchFamily="34" charset="-120"/>
              </a:rPr>
              <a:t>Types of Data &amp; Measurement Scales</a:t>
            </a:r>
            <a:endParaRPr lang="en-US" sz="2900" dirty="0"/>
          </a:p>
        </p:txBody>
      </p:sp>
      <p:sp>
        <p:nvSpPr>
          <p:cNvPr id="11" name="Text 8"/>
          <p:cNvSpPr/>
          <p:nvPr/>
        </p:nvSpPr>
        <p:spPr>
          <a:xfrm>
            <a:off x="1737360" y="4434840"/>
            <a:ext cx="8714232" cy="1097280"/>
          </a:xfrm>
          <a:prstGeom prst="rect">
            <a:avLst/>
          </a:prstGeom>
          <a:noFill/>
          <a:ln/>
        </p:spPr>
        <p:txBody>
          <a:bodyPr wrap="square" lIns="0" tIns="0" rIns="0" bIns="0" rtlCol="0" anchor="t"/>
          <a:lstStyle/>
          <a:p>
            <a:pPr algn="ctr" indent="0" marL="0">
              <a:buNone/>
            </a:pPr>
            <a:r>
              <a:rPr lang="en-US" sz="1500" dirty="0">
                <a:solidFill>
                  <a:srgbClr val="685F8F"/>
                </a:solidFill>
                <a:latin typeface="Calibri" pitchFamily="34" charset="0"/>
                <a:ea typeface="Calibri" pitchFamily="34" charset="-122"/>
                <a:cs typeface="Calibri" pitchFamily="34" charset="-120"/>
              </a:rPr>
              <a:t>Not all data can be treated the same way — this determines which statistics and which charts are even valid to use</a:t>
            </a:r>
            <a:endParaRPr lang="en-US" sz="1500" dirty="0"/>
          </a:p>
        </p:txBody>
      </p:sp>
      <p:sp>
        <p:nvSpPr>
          <p:cNvPr id="12" name="Text 9"/>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Categorical vs. Numerical Data</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645920"/>
            <a:ext cx="5349240" cy="4480560"/>
          </a:xfrm>
          <a:prstGeom prst="roundRect">
            <a:avLst>
              <a:gd name="adj" fmla="val 3265"/>
            </a:avLst>
          </a:prstGeom>
          <a:solidFill>
            <a:srgbClr val="EDE9FE"/>
          </a:solidFill>
          <a:ln w="12700">
            <a:solidFill>
              <a:srgbClr val="D8D2F5"/>
            </a:solidFill>
            <a:prstDash val="solid"/>
          </a:ln>
        </p:spPr>
      </p:sp>
      <p:sp>
        <p:nvSpPr>
          <p:cNvPr id="7" name="Shape 4"/>
          <p:cNvSpPr/>
          <p:nvPr/>
        </p:nvSpPr>
        <p:spPr>
          <a:xfrm>
            <a:off x="731520" y="1874520"/>
            <a:ext cx="457200" cy="45720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804672" y="1938528"/>
            <a:ext cx="320040" cy="320040"/>
          </a:xfrm>
          <a:prstGeom prst="rect">
            <a:avLst/>
          </a:prstGeom>
        </p:spPr>
      </p:pic>
      <p:sp>
        <p:nvSpPr>
          <p:cNvPr id="9" name="Text 5"/>
          <p:cNvSpPr/>
          <p:nvPr/>
        </p:nvSpPr>
        <p:spPr>
          <a:xfrm>
            <a:off x="1325880" y="1874520"/>
            <a:ext cx="4343400" cy="457200"/>
          </a:xfrm>
          <a:prstGeom prst="rect">
            <a:avLst/>
          </a:prstGeom>
          <a:noFill/>
          <a:ln/>
        </p:spPr>
        <p:txBody>
          <a:bodyPr wrap="square" lIns="0" tIns="0" rIns="0" bIns="0" rtlCol="0" anchor="ctr"/>
          <a:lstStyle/>
          <a:p>
            <a:pPr indent="0" marL="0">
              <a:buNone/>
            </a:pPr>
            <a:r>
              <a:rPr lang="en-US" sz="1700" b="1" dirty="0">
                <a:solidFill>
                  <a:srgbClr val="2D2A4A"/>
                </a:solidFill>
                <a:latin typeface="Century Gothic" pitchFamily="34" charset="0"/>
                <a:ea typeface="Century Gothic" pitchFamily="34" charset="-122"/>
                <a:cs typeface="Century Gothic" pitchFamily="34" charset="-120"/>
              </a:rPr>
              <a:t>Categorical Data</a:t>
            </a:r>
            <a:endParaRPr lang="en-US" sz="1700" dirty="0"/>
          </a:p>
        </p:txBody>
      </p:sp>
      <p:sp>
        <p:nvSpPr>
          <p:cNvPr id="10" name="Text 6"/>
          <p:cNvSpPr/>
          <p:nvPr/>
        </p:nvSpPr>
        <p:spPr>
          <a:xfrm>
            <a:off x="731520" y="2514600"/>
            <a:ext cx="4800600" cy="3383280"/>
          </a:xfrm>
          <a:prstGeom prst="rect">
            <a:avLst/>
          </a:prstGeom>
          <a:noFill/>
          <a:ln/>
        </p:spPr>
        <p:txBody>
          <a:bodyPr wrap="square" lIns="0" tIns="0" rIns="0" bIns="0" rtlCol="0" anchor="t"/>
          <a:lstStyle/>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Describes a quality or category — groups, labels, names</a:t>
            </a:r>
            <a:endParaRPr lang="en-US" sz="1350" dirty="0"/>
          </a:p>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Nominal: no natural order (blood type, country, color)</a:t>
            </a:r>
            <a:endParaRPr lang="en-US" sz="1350" dirty="0"/>
          </a:p>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Ordinal: a natural order exists, but distances aren’t meaningful (satisfaction rating, education level)</a:t>
            </a:r>
            <a:endParaRPr lang="en-US" sz="1350" dirty="0"/>
          </a:p>
        </p:txBody>
      </p:sp>
      <p:sp>
        <p:nvSpPr>
          <p:cNvPr id="11" name="Shape 7"/>
          <p:cNvSpPr/>
          <p:nvPr/>
        </p:nvSpPr>
        <p:spPr>
          <a:xfrm>
            <a:off x="6172200" y="1645920"/>
            <a:ext cx="5349240" cy="4480560"/>
          </a:xfrm>
          <a:prstGeom prst="roundRect">
            <a:avLst>
              <a:gd name="adj" fmla="val 3265"/>
            </a:avLst>
          </a:prstGeom>
          <a:solidFill>
            <a:srgbClr val="FFF6DC"/>
          </a:solidFill>
          <a:ln w="12700">
            <a:solidFill>
              <a:srgbClr val="D8D2F5"/>
            </a:solidFill>
            <a:prstDash val="solid"/>
          </a:ln>
        </p:spPr>
      </p:sp>
      <p:sp>
        <p:nvSpPr>
          <p:cNvPr id="12" name="Shape 8"/>
          <p:cNvSpPr/>
          <p:nvPr/>
        </p:nvSpPr>
        <p:spPr>
          <a:xfrm>
            <a:off x="6446520" y="1874520"/>
            <a:ext cx="457200" cy="457200"/>
          </a:xfrm>
          <a:prstGeom prst="ellipse">
            <a:avLst/>
          </a:prstGeom>
          <a:solidFill>
            <a:srgbClr val="FFC94A"/>
          </a:solidFill>
          <a:ln/>
        </p:spPr>
      </p:sp>
      <p:pic>
        <p:nvPicPr>
          <p:cNvPr id="13" name="Image 2" descr="preencoded.png">    </p:cNvPr>
          <p:cNvPicPr>
            <a:picLocks noChangeAspect="1"/>
          </p:cNvPicPr>
          <p:nvPr/>
        </p:nvPicPr>
        <p:blipFill>
          <a:blip r:embed="rId3"/>
          <a:stretch>
            <a:fillRect/>
          </a:stretch>
        </p:blipFill>
        <p:spPr>
          <a:xfrm>
            <a:off x="6519672" y="1938528"/>
            <a:ext cx="320040" cy="320040"/>
          </a:xfrm>
          <a:prstGeom prst="rect">
            <a:avLst/>
          </a:prstGeom>
        </p:spPr>
      </p:pic>
      <p:sp>
        <p:nvSpPr>
          <p:cNvPr id="14" name="Text 9"/>
          <p:cNvSpPr/>
          <p:nvPr/>
        </p:nvSpPr>
        <p:spPr>
          <a:xfrm>
            <a:off x="7040880" y="1874520"/>
            <a:ext cx="4343400" cy="457200"/>
          </a:xfrm>
          <a:prstGeom prst="rect">
            <a:avLst/>
          </a:prstGeom>
          <a:noFill/>
          <a:ln/>
        </p:spPr>
        <p:txBody>
          <a:bodyPr wrap="square" lIns="0" tIns="0" rIns="0" bIns="0" rtlCol="0" anchor="ctr"/>
          <a:lstStyle/>
          <a:p>
            <a:pPr indent="0" marL="0">
              <a:buNone/>
            </a:pPr>
            <a:r>
              <a:rPr lang="en-US" sz="1700" b="1" dirty="0">
                <a:solidFill>
                  <a:srgbClr val="2D2A4A"/>
                </a:solidFill>
                <a:latin typeface="Century Gothic" pitchFamily="34" charset="0"/>
                <a:ea typeface="Century Gothic" pitchFamily="34" charset="-122"/>
                <a:cs typeface="Century Gothic" pitchFamily="34" charset="-120"/>
              </a:rPr>
              <a:t>Numerical Data</a:t>
            </a:r>
            <a:endParaRPr lang="en-US" sz="1700" dirty="0"/>
          </a:p>
        </p:txBody>
      </p:sp>
      <p:sp>
        <p:nvSpPr>
          <p:cNvPr id="15" name="Text 10"/>
          <p:cNvSpPr/>
          <p:nvPr/>
        </p:nvSpPr>
        <p:spPr>
          <a:xfrm>
            <a:off x="6446520" y="2514600"/>
            <a:ext cx="4800600" cy="3383280"/>
          </a:xfrm>
          <a:prstGeom prst="rect">
            <a:avLst/>
          </a:prstGeom>
          <a:noFill/>
          <a:ln/>
        </p:spPr>
        <p:txBody>
          <a:bodyPr wrap="square" lIns="0" tIns="0" rIns="0" bIns="0" rtlCol="0" anchor="t"/>
          <a:lstStyle/>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Describes a measurable quantity — counts or measurements</a:t>
            </a:r>
            <a:endParaRPr lang="en-US" sz="1350" dirty="0"/>
          </a:p>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Discrete: countable, whole values only (number of children, number of orders)</a:t>
            </a:r>
            <a:endParaRPr lang="en-US" sz="1350" dirty="0"/>
          </a:p>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Continuous: can take any value in a range (height, temperature, time)</a:t>
            </a:r>
            <a:endParaRPr lang="en-US" sz="1350" dirty="0"/>
          </a:p>
        </p:txBody>
      </p:sp>
      <p:sp>
        <p:nvSpPr>
          <p:cNvPr id="16" name="Text 11"/>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7" name="Text 12"/>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The Four Measurement Scales, at a Glance</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08760"/>
            <a:ext cx="2654046" cy="4892040"/>
          </a:xfrm>
          <a:prstGeom prst="roundRect">
            <a:avLst>
              <a:gd name="adj" fmla="val 5512"/>
            </a:avLst>
          </a:prstGeom>
          <a:solidFill>
            <a:srgbClr val="EDE9FE"/>
          </a:solidFill>
          <a:ln w="12700">
            <a:solidFill>
              <a:srgbClr val="D8D2F5"/>
            </a:solidFill>
            <a:prstDash val="solid"/>
          </a:ln>
        </p:spPr>
      </p:sp>
      <p:sp>
        <p:nvSpPr>
          <p:cNvPr id="7" name="Shape 4"/>
          <p:cNvSpPr/>
          <p:nvPr/>
        </p:nvSpPr>
        <p:spPr>
          <a:xfrm>
            <a:off x="1509903" y="2093976"/>
            <a:ext cx="548640" cy="54864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1592199" y="2176272"/>
            <a:ext cx="384048" cy="384048"/>
          </a:xfrm>
          <a:prstGeom prst="rect">
            <a:avLst/>
          </a:prstGeom>
        </p:spPr>
      </p:pic>
      <p:sp>
        <p:nvSpPr>
          <p:cNvPr id="9" name="Text 5"/>
          <p:cNvSpPr/>
          <p:nvPr/>
        </p:nvSpPr>
        <p:spPr>
          <a:xfrm>
            <a:off x="548640" y="2715768"/>
            <a:ext cx="2471166"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Nominal</a:t>
            </a:r>
            <a:endParaRPr lang="en-US" sz="1300" dirty="0"/>
          </a:p>
        </p:txBody>
      </p:sp>
      <p:sp>
        <p:nvSpPr>
          <p:cNvPr id="10" name="Text 6"/>
          <p:cNvSpPr/>
          <p:nvPr/>
        </p:nvSpPr>
        <p:spPr>
          <a:xfrm>
            <a:off x="603504" y="3099816"/>
            <a:ext cx="2361438"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Labels only — no order, no distance. Example: eye color, country of birth</a:t>
            </a:r>
            <a:endParaRPr lang="en-US" sz="1100" dirty="0"/>
          </a:p>
        </p:txBody>
      </p:sp>
      <p:sp>
        <p:nvSpPr>
          <p:cNvPr id="11" name="Shape 7"/>
          <p:cNvSpPr/>
          <p:nvPr/>
        </p:nvSpPr>
        <p:spPr>
          <a:xfrm>
            <a:off x="3330702" y="1508760"/>
            <a:ext cx="2654046" cy="4892040"/>
          </a:xfrm>
          <a:prstGeom prst="roundRect">
            <a:avLst>
              <a:gd name="adj" fmla="val 5512"/>
            </a:avLst>
          </a:prstGeom>
          <a:solidFill>
            <a:srgbClr val="FFF6DC"/>
          </a:solidFill>
          <a:ln w="12700">
            <a:solidFill>
              <a:srgbClr val="D8D2F5"/>
            </a:solidFill>
            <a:prstDash val="solid"/>
          </a:ln>
        </p:spPr>
      </p:sp>
      <p:sp>
        <p:nvSpPr>
          <p:cNvPr id="12" name="Shape 8"/>
          <p:cNvSpPr/>
          <p:nvPr/>
        </p:nvSpPr>
        <p:spPr>
          <a:xfrm>
            <a:off x="4383405" y="2093976"/>
            <a:ext cx="548640" cy="548640"/>
          </a:xfrm>
          <a:prstGeom prst="ellipse">
            <a:avLst/>
          </a:prstGeom>
          <a:solidFill>
            <a:srgbClr val="FFC94A"/>
          </a:solidFill>
          <a:ln/>
        </p:spPr>
      </p:sp>
      <p:pic>
        <p:nvPicPr>
          <p:cNvPr id="13" name="Image 2" descr="preencoded.png">    </p:cNvPr>
          <p:cNvPicPr>
            <a:picLocks noChangeAspect="1"/>
          </p:cNvPicPr>
          <p:nvPr/>
        </p:nvPicPr>
        <p:blipFill>
          <a:blip r:embed="rId3"/>
          <a:stretch>
            <a:fillRect/>
          </a:stretch>
        </p:blipFill>
        <p:spPr>
          <a:xfrm>
            <a:off x="4465701" y="2176272"/>
            <a:ext cx="384048" cy="384048"/>
          </a:xfrm>
          <a:prstGeom prst="rect">
            <a:avLst/>
          </a:prstGeom>
        </p:spPr>
      </p:pic>
      <p:sp>
        <p:nvSpPr>
          <p:cNvPr id="14" name="Text 9"/>
          <p:cNvSpPr/>
          <p:nvPr/>
        </p:nvSpPr>
        <p:spPr>
          <a:xfrm>
            <a:off x="3422142" y="2715768"/>
            <a:ext cx="2471166"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Ordinal</a:t>
            </a:r>
            <a:endParaRPr lang="en-US" sz="1300" dirty="0"/>
          </a:p>
        </p:txBody>
      </p:sp>
      <p:sp>
        <p:nvSpPr>
          <p:cNvPr id="15" name="Text 10"/>
          <p:cNvSpPr/>
          <p:nvPr/>
        </p:nvSpPr>
        <p:spPr>
          <a:xfrm>
            <a:off x="3477006" y="3099816"/>
            <a:ext cx="2361438"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Has order, but the gaps between values aren’t equal. Example: movie star ratings</a:t>
            </a:r>
            <a:endParaRPr lang="en-US" sz="1100" dirty="0"/>
          </a:p>
        </p:txBody>
      </p:sp>
      <p:sp>
        <p:nvSpPr>
          <p:cNvPr id="16" name="Shape 11"/>
          <p:cNvSpPr/>
          <p:nvPr/>
        </p:nvSpPr>
        <p:spPr>
          <a:xfrm>
            <a:off x="6204204" y="1508760"/>
            <a:ext cx="2654046" cy="4892040"/>
          </a:xfrm>
          <a:prstGeom prst="roundRect">
            <a:avLst>
              <a:gd name="adj" fmla="val 5512"/>
            </a:avLst>
          </a:prstGeom>
          <a:solidFill>
            <a:srgbClr val="E3FBF3"/>
          </a:solidFill>
          <a:ln w="12700">
            <a:solidFill>
              <a:srgbClr val="D8D2F5"/>
            </a:solidFill>
            <a:prstDash val="solid"/>
          </a:ln>
        </p:spPr>
      </p:sp>
      <p:sp>
        <p:nvSpPr>
          <p:cNvPr id="17" name="Shape 12"/>
          <p:cNvSpPr/>
          <p:nvPr/>
        </p:nvSpPr>
        <p:spPr>
          <a:xfrm>
            <a:off x="7256907" y="2093976"/>
            <a:ext cx="548640" cy="548640"/>
          </a:xfrm>
          <a:prstGeom prst="ellipse">
            <a:avLst/>
          </a:prstGeom>
          <a:solidFill>
            <a:srgbClr val="5FD6B0"/>
          </a:solidFill>
          <a:ln/>
        </p:spPr>
      </p:sp>
      <p:pic>
        <p:nvPicPr>
          <p:cNvPr id="18" name="Image 3" descr="preencoded.png">    </p:cNvPr>
          <p:cNvPicPr>
            <a:picLocks noChangeAspect="1"/>
          </p:cNvPicPr>
          <p:nvPr/>
        </p:nvPicPr>
        <p:blipFill>
          <a:blip r:embed="rId4"/>
          <a:stretch>
            <a:fillRect/>
          </a:stretch>
        </p:blipFill>
        <p:spPr>
          <a:xfrm>
            <a:off x="7339203" y="2176272"/>
            <a:ext cx="384048" cy="384048"/>
          </a:xfrm>
          <a:prstGeom prst="rect">
            <a:avLst/>
          </a:prstGeom>
        </p:spPr>
      </p:pic>
      <p:sp>
        <p:nvSpPr>
          <p:cNvPr id="19" name="Text 13"/>
          <p:cNvSpPr/>
          <p:nvPr/>
        </p:nvSpPr>
        <p:spPr>
          <a:xfrm>
            <a:off x="6295644" y="2715768"/>
            <a:ext cx="2471166"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Interval</a:t>
            </a:r>
            <a:endParaRPr lang="en-US" sz="1300" dirty="0"/>
          </a:p>
        </p:txBody>
      </p:sp>
      <p:sp>
        <p:nvSpPr>
          <p:cNvPr id="20" name="Text 14"/>
          <p:cNvSpPr/>
          <p:nvPr/>
        </p:nvSpPr>
        <p:spPr>
          <a:xfrm>
            <a:off x="6350508" y="3099816"/>
            <a:ext cx="2361438"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Equal gaps between values, but no true zero. Example: temperature in °C</a:t>
            </a:r>
            <a:endParaRPr lang="en-US" sz="1100" dirty="0"/>
          </a:p>
        </p:txBody>
      </p:sp>
      <p:sp>
        <p:nvSpPr>
          <p:cNvPr id="21" name="Shape 15"/>
          <p:cNvSpPr/>
          <p:nvPr/>
        </p:nvSpPr>
        <p:spPr>
          <a:xfrm>
            <a:off x="9077706" y="1508760"/>
            <a:ext cx="2654046" cy="4892040"/>
          </a:xfrm>
          <a:prstGeom prst="roundRect">
            <a:avLst>
              <a:gd name="adj" fmla="val 5512"/>
            </a:avLst>
          </a:prstGeom>
          <a:solidFill>
            <a:srgbClr val="EDE9FE"/>
          </a:solidFill>
          <a:ln w="12700">
            <a:solidFill>
              <a:srgbClr val="D8D2F5"/>
            </a:solidFill>
            <a:prstDash val="solid"/>
          </a:ln>
        </p:spPr>
      </p:sp>
      <p:sp>
        <p:nvSpPr>
          <p:cNvPr id="22" name="Shape 16"/>
          <p:cNvSpPr/>
          <p:nvPr/>
        </p:nvSpPr>
        <p:spPr>
          <a:xfrm>
            <a:off x="10130409" y="2093976"/>
            <a:ext cx="548640" cy="548640"/>
          </a:xfrm>
          <a:prstGeom prst="ellipse">
            <a:avLst/>
          </a:prstGeom>
          <a:solidFill>
            <a:srgbClr val="FF8FB3"/>
          </a:solidFill>
          <a:ln/>
        </p:spPr>
      </p:sp>
      <p:pic>
        <p:nvPicPr>
          <p:cNvPr id="23" name="Image 4" descr="preencoded.png">    </p:cNvPr>
          <p:cNvPicPr>
            <a:picLocks noChangeAspect="1"/>
          </p:cNvPicPr>
          <p:nvPr/>
        </p:nvPicPr>
        <p:blipFill>
          <a:blip r:embed="rId5"/>
          <a:stretch>
            <a:fillRect/>
          </a:stretch>
        </p:blipFill>
        <p:spPr>
          <a:xfrm>
            <a:off x="10212705" y="2176272"/>
            <a:ext cx="384048" cy="384048"/>
          </a:xfrm>
          <a:prstGeom prst="rect">
            <a:avLst/>
          </a:prstGeom>
        </p:spPr>
      </p:pic>
      <p:sp>
        <p:nvSpPr>
          <p:cNvPr id="24" name="Text 17"/>
          <p:cNvSpPr/>
          <p:nvPr/>
        </p:nvSpPr>
        <p:spPr>
          <a:xfrm>
            <a:off x="9169146" y="2715768"/>
            <a:ext cx="2471166"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Ratio</a:t>
            </a:r>
            <a:endParaRPr lang="en-US" sz="1300" dirty="0"/>
          </a:p>
        </p:txBody>
      </p:sp>
      <p:sp>
        <p:nvSpPr>
          <p:cNvPr id="25" name="Text 18"/>
          <p:cNvSpPr/>
          <p:nvPr/>
        </p:nvSpPr>
        <p:spPr>
          <a:xfrm>
            <a:off x="9224010" y="3099816"/>
            <a:ext cx="2361438"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Equal gaps AND a true zero, meaning "none at all." Example: weight, income, age</a:t>
            </a:r>
            <a:endParaRPr lang="en-US" sz="1100" dirty="0"/>
          </a:p>
        </p:txBody>
      </p:sp>
      <p:sp>
        <p:nvSpPr>
          <p:cNvPr id="26" name="Text 19"/>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27" name="Text 20"/>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The Measurement Scales Ladder</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860908" y="4983480"/>
            <a:ext cx="2514600" cy="960120"/>
          </a:xfrm>
          <a:prstGeom prst="roundRect">
            <a:avLst>
              <a:gd name="adj" fmla="val 9524"/>
            </a:avLst>
          </a:prstGeom>
          <a:solidFill>
            <a:srgbClr val="EDE9FE"/>
          </a:solidFill>
          <a:ln w="25400">
            <a:solidFill>
              <a:srgbClr val="8B7FE8"/>
            </a:solidFill>
            <a:prstDash val="solid"/>
          </a:ln>
        </p:spPr>
      </p:sp>
      <p:sp>
        <p:nvSpPr>
          <p:cNvPr id="7" name="Shape 4"/>
          <p:cNvSpPr/>
          <p:nvPr/>
        </p:nvSpPr>
        <p:spPr>
          <a:xfrm>
            <a:off x="1862176" y="5111496"/>
            <a:ext cx="512064" cy="512064"/>
          </a:xfrm>
          <a:prstGeom prst="ellipse">
            <a:avLst/>
          </a:prstGeom>
          <a:solidFill>
            <a:srgbClr val="8B7FE8"/>
          </a:solidFill>
          <a:ln/>
        </p:spPr>
      </p:sp>
      <p:sp>
        <p:nvSpPr>
          <p:cNvPr id="8" name="Text 5"/>
          <p:cNvSpPr/>
          <p:nvPr/>
        </p:nvSpPr>
        <p:spPr>
          <a:xfrm>
            <a:off x="1862176" y="5111496"/>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Gothic" pitchFamily="34" charset="0"/>
                <a:ea typeface="Century Gothic" pitchFamily="34" charset="-122"/>
                <a:cs typeface="Century Gothic" pitchFamily="34" charset="-120"/>
              </a:rPr>
              <a:t>1</a:t>
            </a:r>
            <a:endParaRPr lang="en-US" sz="1600" dirty="0"/>
          </a:p>
        </p:txBody>
      </p:sp>
      <p:sp>
        <p:nvSpPr>
          <p:cNvPr id="9" name="Text 6"/>
          <p:cNvSpPr/>
          <p:nvPr/>
        </p:nvSpPr>
        <p:spPr>
          <a:xfrm>
            <a:off x="952348" y="5660136"/>
            <a:ext cx="2331720" cy="320040"/>
          </a:xfrm>
          <a:prstGeom prst="rect">
            <a:avLst/>
          </a:prstGeom>
          <a:noFill/>
          <a:ln/>
        </p:spPr>
        <p:txBody>
          <a:bodyPr wrap="square" lIns="0" tIns="0" rIns="0" bIns="0" rtlCol="0" anchor="t"/>
          <a:lstStyle/>
          <a:p>
            <a:pPr algn="ctr" indent="0" marL="0">
              <a:buNone/>
            </a:pPr>
            <a:r>
              <a:rPr lang="en-US" sz="1350" b="1" dirty="0">
                <a:solidFill>
                  <a:srgbClr val="2D2A4A"/>
                </a:solidFill>
                <a:latin typeface="Century Gothic" pitchFamily="34" charset="0"/>
                <a:ea typeface="Century Gothic" pitchFamily="34" charset="-122"/>
                <a:cs typeface="Century Gothic" pitchFamily="34" charset="-120"/>
              </a:rPr>
              <a:t>Nominal</a:t>
            </a:r>
            <a:endParaRPr lang="en-US" sz="1350" dirty="0"/>
          </a:p>
        </p:txBody>
      </p:sp>
      <p:sp>
        <p:nvSpPr>
          <p:cNvPr id="10" name="Shape 7"/>
          <p:cNvSpPr/>
          <p:nvPr/>
        </p:nvSpPr>
        <p:spPr>
          <a:xfrm>
            <a:off x="3512668" y="4599432"/>
            <a:ext cx="2514600" cy="1344168"/>
          </a:xfrm>
          <a:prstGeom prst="roundRect">
            <a:avLst>
              <a:gd name="adj" fmla="val 6803"/>
            </a:avLst>
          </a:prstGeom>
          <a:solidFill>
            <a:srgbClr val="E3FBF3"/>
          </a:solidFill>
          <a:ln w="25400">
            <a:solidFill>
              <a:srgbClr val="5FD6B0"/>
            </a:solidFill>
            <a:prstDash val="solid"/>
          </a:ln>
        </p:spPr>
      </p:sp>
      <p:sp>
        <p:nvSpPr>
          <p:cNvPr id="11" name="Shape 8"/>
          <p:cNvSpPr/>
          <p:nvPr/>
        </p:nvSpPr>
        <p:spPr>
          <a:xfrm>
            <a:off x="4513936" y="4727448"/>
            <a:ext cx="512064" cy="512064"/>
          </a:xfrm>
          <a:prstGeom prst="ellipse">
            <a:avLst/>
          </a:prstGeom>
          <a:solidFill>
            <a:srgbClr val="5FD6B0"/>
          </a:solidFill>
          <a:ln/>
        </p:spPr>
      </p:sp>
      <p:sp>
        <p:nvSpPr>
          <p:cNvPr id="12" name="Text 9"/>
          <p:cNvSpPr/>
          <p:nvPr/>
        </p:nvSpPr>
        <p:spPr>
          <a:xfrm>
            <a:off x="4513936" y="472744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Gothic" pitchFamily="34" charset="0"/>
                <a:ea typeface="Century Gothic" pitchFamily="34" charset="-122"/>
                <a:cs typeface="Century Gothic" pitchFamily="34" charset="-120"/>
              </a:rPr>
              <a:t>2</a:t>
            </a:r>
            <a:endParaRPr lang="en-US" sz="1600" dirty="0"/>
          </a:p>
        </p:txBody>
      </p:sp>
      <p:sp>
        <p:nvSpPr>
          <p:cNvPr id="13" name="Text 10"/>
          <p:cNvSpPr/>
          <p:nvPr/>
        </p:nvSpPr>
        <p:spPr>
          <a:xfrm>
            <a:off x="3604108" y="5276088"/>
            <a:ext cx="2331720" cy="320040"/>
          </a:xfrm>
          <a:prstGeom prst="rect">
            <a:avLst/>
          </a:prstGeom>
          <a:noFill/>
          <a:ln/>
        </p:spPr>
        <p:txBody>
          <a:bodyPr wrap="square" lIns="0" tIns="0" rIns="0" bIns="0" rtlCol="0" anchor="t"/>
          <a:lstStyle/>
          <a:p>
            <a:pPr algn="ctr" indent="0" marL="0">
              <a:buNone/>
            </a:pPr>
            <a:r>
              <a:rPr lang="en-US" sz="1350" b="1" dirty="0">
                <a:solidFill>
                  <a:srgbClr val="2D2A4A"/>
                </a:solidFill>
                <a:latin typeface="Century Gothic" pitchFamily="34" charset="0"/>
                <a:ea typeface="Century Gothic" pitchFamily="34" charset="-122"/>
                <a:cs typeface="Century Gothic" pitchFamily="34" charset="-120"/>
              </a:rPr>
              <a:t>Ordinal</a:t>
            </a:r>
            <a:endParaRPr lang="en-US" sz="1350" dirty="0"/>
          </a:p>
        </p:txBody>
      </p:sp>
      <p:sp>
        <p:nvSpPr>
          <p:cNvPr id="14" name="Text 11"/>
          <p:cNvSpPr/>
          <p:nvPr/>
        </p:nvSpPr>
        <p:spPr>
          <a:xfrm>
            <a:off x="3604108" y="5586984"/>
            <a:ext cx="2331720" cy="274320"/>
          </a:xfrm>
          <a:prstGeom prst="rect">
            <a:avLst/>
          </a:prstGeom>
          <a:noFill/>
          <a:ln/>
        </p:spPr>
        <p:txBody>
          <a:bodyPr wrap="square" lIns="0" tIns="0" rIns="0" bIns="0" rtlCol="0" anchor="t"/>
          <a:lstStyle/>
          <a:p>
            <a:pPr algn="ctr" indent="0" marL="0">
              <a:buNone/>
            </a:pPr>
            <a:r>
              <a:rPr lang="en-US" sz="950" i="1" dirty="0">
                <a:solidFill>
                  <a:srgbClr val="685F8F"/>
                </a:solidFill>
                <a:latin typeface="Calibri" pitchFamily="34" charset="0"/>
                <a:ea typeface="Calibri" pitchFamily="34" charset="-122"/>
                <a:cs typeface="Calibri" pitchFamily="34" charset="-120"/>
              </a:rPr>
              <a:t>e.g. satisfaction rating</a:t>
            </a:r>
            <a:endParaRPr lang="en-US" sz="950" dirty="0"/>
          </a:p>
        </p:txBody>
      </p:sp>
      <p:sp>
        <p:nvSpPr>
          <p:cNvPr id="15" name="Shape 12"/>
          <p:cNvSpPr/>
          <p:nvPr/>
        </p:nvSpPr>
        <p:spPr>
          <a:xfrm>
            <a:off x="6164428" y="4215384"/>
            <a:ext cx="2514600" cy="1728216"/>
          </a:xfrm>
          <a:prstGeom prst="roundRect">
            <a:avLst>
              <a:gd name="adj" fmla="val 5291"/>
            </a:avLst>
          </a:prstGeom>
          <a:solidFill>
            <a:srgbClr val="FFF6DC"/>
          </a:solidFill>
          <a:ln w="25400">
            <a:solidFill>
              <a:srgbClr val="FFC94A"/>
            </a:solidFill>
            <a:prstDash val="solid"/>
          </a:ln>
        </p:spPr>
      </p:sp>
      <p:sp>
        <p:nvSpPr>
          <p:cNvPr id="16" name="Shape 13"/>
          <p:cNvSpPr/>
          <p:nvPr/>
        </p:nvSpPr>
        <p:spPr>
          <a:xfrm>
            <a:off x="7165696" y="4343400"/>
            <a:ext cx="512064" cy="512064"/>
          </a:xfrm>
          <a:prstGeom prst="ellipse">
            <a:avLst/>
          </a:prstGeom>
          <a:solidFill>
            <a:srgbClr val="FFC94A"/>
          </a:solidFill>
          <a:ln/>
        </p:spPr>
      </p:sp>
      <p:sp>
        <p:nvSpPr>
          <p:cNvPr id="17" name="Text 14"/>
          <p:cNvSpPr/>
          <p:nvPr/>
        </p:nvSpPr>
        <p:spPr>
          <a:xfrm>
            <a:off x="7165696" y="4343400"/>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Gothic" pitchFamily="34" charset="0"/>
                <a:ea typeface="Century Gothic" pitchFamily="34" charset="-122"/>
                <a:cs typeface="Century Gothic" pitchFamily="34" charset="-120"/>
              </a:rPr>
              <a:t>3</a:t>
            </a:r>
            <a:endParaRPr lang="en-US" sz="1600" dirty="0"/>
          </a:p>
        </p:txBody>
      </p:sp>
      <p:sp>
        <p:nvSpPr>
          <p:cNvPr id="18" name="Text 15"/>
          <p:cNvSpPr/>
          <p:nvPr/>
        </p:nvSpPr>
        <p:spPr>
          <a:xfrm>
            <a:off x="6255868" y="4892040"/>
            <a:ext cx="2331720" cy="320040"/>
          </a:xfrm>
          <a:prstGeom prst="rect">
            <a:avLst/>
          </a:prstGeom>
          <a:noFill/>
          <a:ln/>
        </p:spPr>
        <p:txBody>
          <a:bodyPr wrap="square" lIns="0" tIns="0" rIns="0" bIns="0" rtlCol="0" anchor="t"/>
          <a:lstStyle/>
          <a:p>
            <a:pPr algn="ctr" indent="0" marL="0">
              <a:buNone/>
            </a:pPr>
            <a:r>
              <a:rPr lang="en-US" sz="1350" b="1" dirty="0">
                <a:solidFill>
                  <a:srgbClr val="2D2A4A"/>
                </a:solidFill>
                <a:latin typeface="Century Gothic" pitchFamily="34" charset="0"/>
                <a:ea typeface="Century Gothic" pitchFamily="34" charset="-122"/>
                <a:cs typeface="Century Gothic" pitchFamily="34" charset="-120"/>
              </a:rPr>
              <a:t>Interval</a:t>
            </a:r>
            <a:endParaRPr lang="en-US" sz="1350" dirty="0"/>
          </a:p>
        </p:txBody>
      </p:sp>
      <p:sp>
        <p:nvSpPr>
          <p:cNvPr id="19" name="Text 16"/>
          <p:cNvSpPr/>
          <p:nvPr/>
        </p:nvSpPr>
        <p:spPr>
          <a:xfrm>
            <a:off x="6255868" y="5202936"/>
            <a:ext cx="2331720" cy="274320"/>
          </a:xfrm>
          <a:prstGeom prst="rect">
            <a:avLst/>
          </a:prstGeom>
          <a:noFill/>
          <a:ln/>
        </p:spPr>
        <p:txBody>
          <a:bodyPr wrap="square" lIns="0" tIns="0" rIns="0" bIns="0" rtlCol="0" anchor="t"/>
          <a:lstStyle/>
          <a:p>
            <a:pPr algn="ctr" indent="0" marL="0">
              <a:buNone/>
            </a:pPr>
            <a:r>
              <a:rPr lang="en-US" sz="950" i="1" dirty="0">
                <a:solidFill>
                  <a:srgbClr val="685F8F"/>
                </a:solidFill>
                <a:latin typeface="Calibri" pitchFamily="34" charset="0"/>
                <a:ea typeface="Calibri" pitchFamily="34" charset="-122"/>
                <a:cs typeface="Calibri" pitchFamily="34" charset="-120"/>
              </a:rPr>
              <a:t>e.g. temperature in °C</a:t>
            </a:r>
            <a:endParaRPr lang="en-US" sz="950" dirty="0"/>
          </a:p>
        </p:txBody>
      </p:sp>
      <p:sp>
        <p:nvSpPr>
          <p:cNvPr id="20" name="Shape 17"/>
          <p:cNvSpPr/>
          <p:nvPr/>
        </p:nvSpPr>
        <p:spPr>
          <a:xfrm>
            <a:off x="8816188" y="3831336"/>
            <a:ext cx="2514600" cy="2112264"/>
          </a:xfrm>
          <a:prstGeom prst="roundRect">
            <a:avLst>
              <a:gd name="adj" fmla="val 4329"/>
            </a:avLst>
          </a:prstGeom>
          <a:solidFill>
            <a:srgbClr val="FFFFFF"/>
          </a:solidFill>
          <a:ln w="25400">
            <a:solidFill>
              <a:srgbClr val="FF8FB3"/>
            </a:solidFill>
            <a:prstDash val="solid"/>
          </a:ln>
        </p:spPr>
      </p:sp>
      <p:sp>
        <p:nvSpPr>
          <p:cNvPr id="21" name="Shape 18"/>
          <p:cNvSpPr/>
          <p:nvPr/>
        </p:nvSpPr>
        <p:spPr>
          <a:xfrm>
            <a:off x="9817456" y="3959352"/>
            <a:ext cx="512064" cy="512064"/>
          </a:xfrm>
          <a:prstGeom prst="ellipse">
            <a:avLst/>
          </a:prstGeom>
          <a:solidFill>
            <a:srgbClr val="FF8FB3"/>
          </a:solidFill>
          <a:ln/>
        </p:spPr>
      </p:sp>
      <p:sp>
        <p:nvSpPr>
          <p:cNvPr id="22" name="Text 19"/>
          <p:cNvSpPr/>
          <p:nvPr/>
        </p:nvSpPr>
        <p:spPr>
          <a:xfrm>
            <a:off x="9817456" y="395935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Gothic" pitchFamily="34" charset="0"/>
                <a:ea typeface="Century Gothic" pitchFamily="34" charset="-122"/>
                <a:cs typeface="Century Gothic" pitchFamily="34" charset="-120"/>
              </a:rPr>
              <a:t>4</a:t>
            </a:r>
            <a:endParaRPr lang="en-US" sz="1600" dirty="0"/>
          </a:p>
        </p:txBody>
      </p:sp>
      <p:sp>
        <p:nvSpPr>
          <p:cNvPr id="23" name="Text 20"/>
          <p:cNvSpPr/>
          <p:nvPr/>
        </p:nvSpPr>
        <p:spPr>
          <a:xfrm>
            <a:off x="8907628" y="4507992"/>
            <a:ext cx="2331720" cy="320040"/>
          </a:xfrm>
          <a:prstGeom prst="rect">
            <a:avLst/>
          </a:prstGeom>
          <a:noFill/>
          <a:ln/>
        </p:spPr>
        <p:txBody>
          <a:bodyPr wrap="square" lIns="0" tIns="0" rIns="0" bIns="0" rtlCol="0" anchor="t"/>
          <a:lstStyle/>
          <a:p>
            <a:pPr algn="ctr" indent="0" marL="0">
              <a:buNone/>
            </a:pPr>
            <a:r>
              <a:rPr lang="en-US" sz="1350" b="1" dirty="0">
                <a:solidFill>
                  <a:srgbClr val="2D2A4A"/>
                </a:solidFill>
                <a:latin typeface="Century Gothic" pitchFamily="34" charset="0"/>
                <a:ea typeface="Century Gothic" pitchFamily="34" charset="-122"/>
                <a:cs typeface="Century Gothic" pitchFamily="34" charset="-120"/>
              </a:rPr>
              <a:t>Ratio</a:t>
            </a:r>
            <a:endParaRPr lang="en-US" sz="1350" dirty="0"/>
          </a:p>
        </p:txBody>
      </p:sp>
      <p:sp>
        <p:nvSpPr>
          <p:cNvPr id="24" name="Text 21"/>
          <p:cNvSpPr/>
          <p:nvPr/>
        </p:nvSpPr>
        <p:spPr>
          <a:xfrm>
            <a:off x="8907628" y="4818888"/>
            <a:ext cx="2331720" cy="274320"/>
          </a:xfrm>
          <a:prstGeom prst="rect">
            <a:avLst/>
          </a:prstGeom>
          <a:noFill/>
          <a:ln/>
        </p:spPr>
        <p:txBody>
          <a:bodyPr wrap="square" lIns="0" tIns="0" rIns="0" bIns="0" rtlCol="0" anchor="t"/>
          <a:lstStyle/>
          <a:p>
            <a:pPr algn="ctr" indent="0" marL="0">
              <a:buNone/>
            </a:pPr>
            <a:r>
              <a:rPr lang="en-US" sz="950" i="1" dirty="0">
                <a:solidFill>
                  <a:srgbClr val="685F8F"/>
                </a:solidFill>
                <a:latin typeface="Calibri" pitchFamily="34" charset="0"/>
                <a:ea typeface="Calibri" pitchFamily="34" charset="-122"/>
                <a:cs typeface="Calibri" pitchFamily="34" charset="-120"/>
              </a:rPr>
              <a:t>e.g. height, weight, income</a:t>
            </a:r>
            <a:endParaRPr lang="en-US" sz="950" dirty="0"/>
          </a:p>
        </p:txBody>
      </p:sp>
      <p:sp>
        <p:nvSpPr>
          <p:cNvPr id="25" name="Text 22"/>
          <p:cNvSpPr/>
          <p:nvPr/>
        </p:nvSpPr>
        <p:spPr>
          <a:xfrm>
            <a:off x="906628" y="6080760"/>
            <a:ext cx="2423160" cy="594360"/>
          </a:xfrm>
          <a:prstGeom prst="rect">
            <a:avLst/>
          </a:prstGeom>
          <a:noFill/>
          <a:ln/>
        </p:spPr>
        <p:txBody>
          <a:bodyPr wrap="square" lIns="0" tIns="0" rIns="0" bIns="0" rtlCol="0" anchor="t"/>
          <a:lstStyle/>
          <a:p>
            <a:pPr algn="ctr" indent="0" marL="0">
              <a:lnSpc>
                <a:spcPct val="115000"/>
              </a:lnSpc>
              <a:buNone/>
            </a:pPr>
            <a:r>
              <a:rPr lang="en-US" sz="1000" dirty="0">
                <a:solidFill>
                  <a:srgbClr val="685F8F"/>
                </a:solidFill>
                <a:latin typeface="Calibri" pitchFamily="34" charset="0"/>
                <a:ea typeface="Calibri" pitchFamily="34" charset="-122"/>
                <a:cs typeface="Calibri" pitchFamily="34" charset="-120"/>
              </a:rPr>
              <a:t>Can only check equal / not equal</a:t>
            </a:r>
            <a:endParaRPr lang="en-US" sz="1000" dirty="0"/>
          </a:p>
        </p:txBody>
      </p:sp>
      <p:sp>
        <p:nvSpPr>
          <p:cNvPr id="26" name="Text 23"/>
          <p:cNvSpPr/>
          <p:nvPr/>
        </p:nvSpPr>
        <p:spPr>
          <a:xfrm>
            <a:off x="3558388" y="6080760"/>
            <a:ext cx="2423160" cy="594360"/>
          </a:xfrm>
          <a:prstGeom prst="rect">
            <a:avLst/>
          </a:prstGeom>
          <a:noFill/>
          <a:ln/>
        </p:spPr>
        <p:txBody>
          <a:bodyPr wrap="square" lIns="0" tIns="0" rIns="0" bIns="0" rtlCol="0" anchor="t"/>
          <a:lstStyle/>
          <a:p>
            <a:pPr algn="ctr" indent="0" marL="0">
              <a:lnSpc>
                <a:spcPct val="115000"/>
              </a:lnSpc>
              <a:buNone/>
            </a:pPr>
            <a:r>
              <a:rPr lang="en-US" sz="1000" dirty="0">
                <a:solidFill>
                  <a:srgbClr val="685F8F"/>
                </a:solidFill>
                <a:latin typeface="Calibri" pitchFamily="34" charset="0"/>
                <a:ea typeface="Calibri" pitchFamily="34" charset="-122"/>
                <a:cs typeface="Calibri" pitchFamily="34" charset="-120"/>
              </a:rPr>
              <a:t>Can also rank: greater / less than</a:t>
            </a:r>
            <a:endParaRPr lang="en-US" sz="1000" dirty="0"/>
          </a:p>
        </p:txBody>
      </p:sp>
      <p:sp>
        <p:nvSpPr>
          <p:cNvPr id="27" name="Text 24"/>
          <p:cNvSpPr/>
          <p:nvPr/>
        </p:nvSpPr>
        <p:spPr>
          <a:xfrm>
            <a:off x="6210148" y="6080760"/>
            <a:ext cx="2423160" cy="594360"/>
          </a:xfrm>
          <a:prstGeom prst="rect">
            <a:avLst/>
          </a:prstGeom>
          <a:noFill/>
          <a:ln/>
        </p:spPr>
        <p:txBody>
          <a:bodyPr wrap="square" lIns="0" tIns="0" rIns="0" bIns="0" rtlCol="0" anchor="t"/>
          <a:lstStyle/>
          <a:p>
            <a:pPr algn="ctr" indent="0" marL="0">
              <a:lnSpc>
                <a:spcPct val="115000"/>
              </a:lnSpc>
              <a:buNone/>
            </a:pPr>
            <a:r>
              <a:rPr lang="en-US" sz="1000" dirty="0">
                <a:solidFill>
                  <a:srgbClr val="685F8F"/>
                </a:solidFill>
                <a:latin typeface="Calibri" pitchFamily="34" charset="0"/>
                <a:ea typeface="Calibri" pitchFamily="34" charset="-122"/>
                <a:cs typeface="Calibri" pitchFamily="34" charset="-120"/>
              </a:rPr>
              <a:t>Can also add / subtract meaningfully</a:t>
            </a:r>
            <a:endParaRPr lang="en-US" sz="1000" dirty="0"/>
          </a:p>
        </p:txBody>
      </p:sp>
      <p:sp>
        <p:nvSpPr>
          <p:cNvPr id="28" name="Text 25"/>
          <p:cNvSpPr/>
          <p:nvPr/>
        </p:nvSpPr>
        <p:spPr>
          <a:xfrm>
            <a:off x="8861908" y="6080760"/>
            <a:ext cx="2423160" cy="594360"/>
          </a:xfrm>
          <a:prstGeom prst="rect">
            <a:avLst/>
          </a:prstGeom>
          <a:noFill/>
          <a:ln/>
        </p:spPr>
        <p:txBody>
          <a:bodyPr wrap="square" lIns="0" tIns="0" rIns="0" bIns="0" rtlCol="0" anchor="t"/>
          <a:lstStyle/>
          <a:p>
            <a:pPr algn="ctr" indent="0" marL="0">
              <a:lnSpc>
                <a:spcPct val="115000"/>
              </a:lnSpc>
              <a:buNone/>
            </a:pPr>
            <a:r>
              <a:rPr lang="en-US" sz="1000" dirty="0">
                <a:solidFill>
                  <a:srgbClr val="685F8F"/>
                </a:solidFill>
                <a:latin typeface="Calibri" pitchFamily="34" charset="0"/>
                <a:ea typeface="Calibri" pitchFamily="34" charset="-122"/>
                <a:cs typeface="Calibri" pitchFamily="34" charset="-120"/>
              </a:rPr>
              <a:t>Can also multiply / divide — has a true zero</a:t>
            </a:r>
            <a:endParaRPr lang="en-US" sz="1000" dirty="0"/>
          </a:p>
        </p:txBody>
      </p:sp>
      <p:sp>
        <p:nvSpPr>
          <p:cNvPr id="29" name="Text 26"/>
          <p:cNvSpPr/>
          <p:nvPr/>
        </p:nvSpPr>
        <p:spPr>
          <a:xfrm>
            <a:off x="731520" y="6858000"/>
            <a:ext cx="10725912" cy="365760"/>
          </a:xfrm>
          <a:prstGeom prst="rect">
            <a:avLst/>
          </a:prstGeom>
          <a:noFill/>
          <a:ln/>
        </p:spPr>
        <p:txBody>
          <a:bodyPr wrap="square" lIns="0" tIns="0" rIns="0" bIns="0" rtlCol="0" anchor="ctr"/>
          <a:lstStyle/>
          <a:p>
            <a:pPr algn="ctr" indent="0" marL="0">
              <a:buNone/>
            </a:pPr>
            <a:r>
              <a:rPr lang="en-US" sz="1200" i="1" dirty="0">
                <a:solidFill>
                  <a:srgbClr val="685F8F"/>
                </a:solidFill>
                <a:latin typeface="Calibri" pitchFamily="34" charset="0"/>
                <a:ea typeface="Calibri" pitchFamily="34" charset="-122"/>
                <a:cs typeface="Calibri" pitchFamily="34" charset="-120"/>
              </a:rPr>
              <a:t>Each step up the ladder keeps everything the step below could do, and adds one new ability on top of it.</a:t>
            </a:r>
            <a:endParaRPr lang="en-US" sz="1200" dirty="0"/>
          </a:p>
        </p:txBody>
      </p:sp>
      <p:sp>
        <p:nvSpPr>
          <p:cNvPr id="30" name="Text 2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31" name="Text 2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Nominal Scale — Labels Only</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54480"/>
            <a:ext cx="3657600" cy="4663440"/>
          </a:xfrm>
          <a:prstGeom prst="roundRect">
            <a:avLst>
              <a:gd name="adj" fmla="val 4500"/>
            </a:avLst>
          </a:prstGeom>
          <a:solidFill>
            <a:srgbClr val="EDE9FE"/>
          </a:solidFill>
          <a:ln w="12700">
            <a:solidFill>
              <a:srgbClr val="D8D2F5"/>
            </a:solidFill>
            <a:prstDash val="solid"/>
          </a:ln>
        </p:spPr>
      </p:sp>
      <p:sp>
        <p:nvSpPr>
          <p:cNvPr id="7" name="Shape 4"/>
          <p:cNvSpPr/>
          <p:nvPr/>
        </p:nvSpPr>
        <p:spPr>
          <a:xfrm>
            <a:off x="1508760" y="2194560"/>
            <a:ext cx="1554480" cy="155448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1746504" y="2423160"/>
            <a:ext cx="1088136" cy="1088136"/>
          </a:xfrm>
          <a:prstGeom prst="rect">
            <a:avLst/>
          </a:prstGeom>
        </p:spPr>
      </p:pic>
      <p:sp>
        <p:nvSpPr>
          <p:cNvPr id="9" name="Text 5"/>
          <p:cNvSpPr/>
          <p:nvPr/>
        </p:nvSpPr>
        <p:spPr>
          <a:xfrm>
            <a:off x="640080" y="3977640"/>
            <a:ext cx="3291840" cy="1737360"/>
          </a:xfrm>
          <a:prstGeom prst="rect">
            <a:avLst/>
          </a:prstGeom>
          <a:noFill/>
          <a:ln/>
        </p:spPr>
        <p:txBody>
          <a:bodyPr wrap="square" lIns="0" tIns="0" rIns="0" bIns="0" rtlCol="0" anchor="t"/>
          <a:lstStyle/>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Just</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names,</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no order</a:t>
            </a:r>
            <a:endParaRPr lang="en-US" sz="1600" dirty="0"/>
          </a:p>
        </p:txBody>
      </p:sp>
      <p:sp>
        <p:nvSpPr>
          <p:cNvPr id="10" name="Text 6"/>
          <p:cNvSpPr/>
          <p:nvPr/>
        </p:nvSpPr>
        <p:spPr>
          <a:xfrm>
            <a:off x="4572000" y="1737360"/>
            <a:ext cx="7132320" cy="4114800"/>
          </a:xfrm>
          <a:prstGeom prst="rect">
            <a:avLst/>
          </a:prstGeom>
          <a:noFill/>
          <a:ln/>
        </p:spPr>
        <p:txBody>
          <a:bodyPr wrap="square" lIns="0" tIns="0" rIns="0" bIns="0" rtlCol="0" anchor="t"/>
          <a:lstStyle/>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Nominal data sorts things into named categories, with no meaningful order between them — "red" isn’t more or less than "blue"</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Examples: gender, blood type, country of residence, a customer’s preferred payment method</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The only valid comparison is equality — you can say two things are the same category or different categories, and nothing more mathematically</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You can count how often each category appears, and find the mode — but calculating a "mean country" makes no sense at all</a:t>
            </a:r>
            <a:endParaRPr lang="en-US" sz="1600" dirty="0"/>
          </a:p>
        </p:txBody>
      </p:sp>
      <p:sp>
        <p:nvSpPr>
          <p:cNvPr id="11" name="Text 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2" name="Text 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Ordinal Scale — Order, But No Real Distance</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54480"/>
            <a:ext cx="3657600" cy="4663440"/>
          </a:xfrm>
          <a:prstGeom prst="roundRect">
            <a:avLst>
              <a:gd name="adj" fmla="val 4500"/>
            </a:avLst>
          </a:prstGeom>
          <a:solidFill>
            <a:srgbClr val="EDE9FE"/>
          </a:solidFill>
          <a:ln w="12700">
            <a:solidFill>
              <a:srgbClr val="D8D2F5"/>
            </a:solidFill>
            <a:prstDash val="solid"/>
          </a:ln>
        </p:spPr>
      </p:sp>
      <p:sp>
        <p:nvSpPr>
          <p:cNvPr id="7" name="Shape 4"/>
          <p:cNvSpPr/>
          <p:nvPr/>
        </p:nvSpPr>
        <p:spPr>
          <a:xfrm>
            <a:off x="1508760" y="2194560"/>
            <a:ext cx="1554480" cy="155448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1746504" y="2423160"/>
            <a:ext cx="1088136" cy="1088136"/>
          </a:xfrm>
          <a:prstGeom prst="rect">
            <a:avLst/>
          </a:prstGeom>
        </p:spPr>
      </p:pic>
      <p:sp>
        <p:nvSpPr>
          <p:cNvPr id="9" name="Text 5"/>
          <p:cNvSpPr/>
          <p:nvPr/>
        </p:nvSpPr>
        <p:spPr>
          <a:xfrm>
            <a:off x="640080" y="3977640"/>
            <a:ext cx="3291840" cy="1737360"/>
          </a:xfrm>
          <a:prstGeom prst="rect">
            <a:avLst/>
          </a:prstGeom>
          <a:noFill/>
          <a:ln/>
        </p:spPr>
        <p:txBody>
          <a:bodyPr wrap="square" lIns="0" tIns="0" rIns="0" bIns="0" rtlCol="0" anchor="t"/>
          <a:lstStyle/>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Ranked,</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but not</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measured</a:t>
            </a:r>
            <a:endParaRPr lang="en-US" sz="1600" dirty="0"/>
          </a:p>
        </p:txBody>
      </p:sp>
      <p:sp>
        <p:nvSpPr>
          <p:cNvPr id="10" name="Text 6"/>
          <p:cNvSpPr/>
          <p:nvPr/>
        </p:nvSpPr>
        <p:spPr>
          <a:xfrm>
            <a:off x="4572000" y="1737360"/>
            <a:ext cx="7132320" cy="4114800"/>
          </a:xfrm>
          <a:prstGeom prst="rect">
            <a:avLst/>
          </a:prstGeom>
          <a:noFill/>
          <a:ln/>
        </p:spPr>
        <p:txBody>
          <a:bodyPr wrap="square" lIns="0" tIns="0" rIns="0" bIns="0" rtlCol="0" anchor="t"/>
          <a:lstStyle/>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Ordinal data has a genuine, meaningful order — but the gap between adjacent values isn’t guaranteed to be equal</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Examples: a 5-star rating, a t-shirt size (S/M/L/XL), an education level (high school/bachelor’s/master’s)</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The jump from 1 star to 2 stars might not represent the same "amount" of change as 4 stars to 5 stars — you only know the direction, not the exact size</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You can find the median and mode reliably — but averaging star ratings, while extremely common in practice, is technically stretching what the scale actually guarantees</a:t>
            </a:r>
            <a:endParaRPr lang="en-US" sz="1600" dirty="0"/>
          </a:p>
        </p:txBody>
      </p:sp>
      <p:sp>
        <p:nvSpPr>
          <p:cNvPr id="11" name="Text 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2" name="Text 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Interval Scale — Equal Distance, No True Zero</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54480"/>
            <a:ext cx="3657600" cy="4663440"/>
          </a:xfrm>
          <a:prstGeom prst="roundRect">
            <a:avLst>
              <a:gd name="adj" fmla="val 4500"/>
            </a:avLst>
          </a:prstGeom>
          <a:solidFill>
            <a:srgbClr val="EDE9FE"/>
          </a:solidFill>
          <a:ln w="12700">
            <a:solidFill>
              <a:srgbClr val="D8D2F5"/>
            </a:solidFill>
            <a:prstDash val="solid"/>
          </a:ln>
        </p:spPr>
      </p:sp>
      <p:sp>
        <p:nvSpPr>
          <p:cNvPr id="7" name="Shape 4"/>
          <p:cNvSpPr/>
          <p:nvPr/>
        </p:nvSpPr>
        <p:spPr>
          <a:xfrm>
            <a:off x="1508760" y="2194560"/>
            <a:ext cx="1554480" cy="155448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1746504" y="2423160"/>
            <a:ext cx="1088136" cy="1088136"/>
          </a:xfrm>
          <a:prstGeom prst="rect">
            <a:avLst/>
          </a:prstGeom>
        </p:spPr>
      </p:pic>
      <p:sp>
        <p:nvSpPr>
          <p:cNvPr id="9" name="Text 5"/>
          <p:cNvSpPr/>
          <p:nvPr/>
        </p:nvSpPr>
        <p:spPr>
          <a:xfrm>
            <a:off x="640080" y="3977640"/>
            <a:ext cx="3291840" cy="1737360"/>
          </a:xfrm>
          <a:prstGeom prst="rect">
            <a:avLst/>
          </a:prstGeom>
          <a:noFill/>
          <a:ln/>
        </p:spPr>
        <p:txBody>
          <a:bodyPr wrap="square" lIns="0" tIns="0" rIns="0" bIns="0" rtlCol="0" anchor="t"/>
          <a:lstStyle/>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Zero</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doesn’t mean</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"none"</a:t>
            </a:r>
            <a:endParaRPr lang="en-US" sz="1600" dirty="0"/>
          </a:p>
        </p:txBody>
      </p:sp>
      <p:sp>
        <p:nvSpPr>
          <p:cNvPr id="10" name="Text 6"/>
          <p:cNvSpPr/>
          <p:nvPr/>
        </p:nvSpPr>
        <p:spPr>
          <a:xfrm>
            <a:off x="4572000" y="1737360"/>
            <a:ext cx="7132320" cy="4114800"/>
          </a:xfrm>
          <a:prstGeom prst="rect">
            <a:avLst/>
          </a:prstGeom>
          <a:noFill/>
          <a:ln/>
        </p:spPr>
        <p:txBody>
          <a:bodyPr wrap="square" lIns="0" tIns="0" rIns="0" bIns="0" rtlCol="0" anchor="t"/>
          <a:lstStyle/>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Interval data has consistent, equal gaps between values — the difference between 10°C and 20°C is the same "amount" as between 20°C and 30°C</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But zero doesn’t mean "nothing" — 0°C isn’t "no temperature at all," it’s just the freezing point of water, an arbitrary reference</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Because of this, ratios are meaningless here: 20°C is NOT "twice as hot" as 10°C — that claim doesn’t survive converting to Fahrenheit</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Classic examples: temperature in Celsius or Fahrenheit, and calendar year (year 0 doesn’t mean "no time has passed")</a:t>
            </a:r>
            <a:endParaRPr lang="en-US" sz="1600" dirty="0"/>
          </a:p>
        </p:txBody>
      </p:sp>
      <p:sp>
        <p:nvSpPr>
          <p:cNvPr id="11" name="Text 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2" name="Text 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Ratio Scale — Equal Distance AND a True Zero</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54480"/>
            <a:ext cx="3657600" cy="4663440"/>
          </a:xfrm>
          <a:prstGeom prst="roundRect">
            <a:avLst>
              <a:gd name="adj" fmla="val 4500"/>
            </a:avLst>
          </a:prstGeom>
          <a:solidFill>
            <a:srgbClr val="EDE9FE"/>
          </a:solidFill>
          <a:ln w="12700">
            <a:solidFill>
              <a:srgbClr val="D8D2F5"/>
            </a:solidFill>
            <a:prstDash val="solid"/>
          </a:ln>
        </p:spPr>
      </p:sp>
      <p:sp>
        <p:nvSpPr>
          <p:cNvPr id="7" name="Shape 4"/>
          <p:cNvSpPr/>
          <p:nvPr/>
        </p:nvSpPr>
        <p:spPr>
          <a:xfrm>
            <a:off x="1508760" y="2194560"/>
            <a:ext cx="1554480" cy="155448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1746504" y="2423160"/>
            <a:ext cx="1088136" cy="1088136"/>
          </a:xfrm>
          <a:prstGeom prst="rect">
            <a:avLst/>
          </a:prstGeom>
        </p:spPr>
      </p:pic>
      <p:sp>
        <p:nvSpPr>
          <p:cNvPr id="9" name="Text 5"/>
          <p:cNvSpPr/>
          <p:nvPr/>
        </p:nvSpPr>
        <p:spPr>
          <a:xfrm>
            <a:off x="640080" y="3977640"/>
            <a:ext cx="3291840" cy="1737360"/>
          </a:xfrm>
          <a:prstGeom prst="rect">
            <a:avLst/>
          </a:prstGeom>
          <a:noFill/>
          <a:ln/>
        </p:spPr>
        <p:txBody>
          <a:bodyPr wrap="square" lIns="0" tIns="0" rIns="0" bIns="0" rtlCol="0" anchor="t"/>
          <a:lstStyle/>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The most</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flexible</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scale</a:t>
            </a:r>
            <a:endParaRPr lang="en-US" sz="1600" dirty="0"/>
          </a:p>
        </p:txBody>
      </p:sp>
      <p:sp>
        <p:nvSpPr>
          <p:cNvPr id="10" name="Text 6"/>
          <p:cNvSpPr/>
          <p:nvPr/>
        </p:nvSpPr>
        <p:spPr>
          <a:xfrm>
            <a:off x="4572000" y="1737360"/>
            <a:ext cx="7132320" cy="4114800"/>
          </a:xfrm>
          <a:prstGeom prst="rect">
            <a:avLst/>
          </a:prstGeom>
          <a:noFill/>
          <a:ln/>
        </p:spPr>
        <p:txBody>
          <a:bodyPr wrap="square" lIns="0" tIns="0" rIns="0" bIns="0" rtlCol="0" anchor="t"/>
          <a:lstStyle/>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Ratio data has everything interval data has, PLUS a true, meaningful zero — zero really does mean "none at all"</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Because of that true zero, ratios genuinely make sense: $20 really is twice as much money as $10; 40kg really is twice as heavy as 20kg</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Examples: height, weight, age, income, distance, time elapsed — most of the "hard numbers" you’ll work with in data science live here</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Every mathematical operation is valid on this scale — which is exactly why it sits at the top of the ladder</a:t>
            </a:r>
            <a:endParaRPr lang="en-US" sz="1600" dirty="0"/>
          </a:p>
        </p:txBody>
      </p:sp>
      <p:sp>
        <p:nvSpPr>
          <p:cNvPr id="11" name="Text 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2" name="Text 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Which Operations Are Valid on Which Scale</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08760"/>
            <a:ext cx="2654046" cy="4892040"/>
          </a:xfrm>
          <a:prstGeom prst="roundRect">
            <a:avLst>
              <a:gd name="adj" fmla="val 5512"/>
            </a:avLst>
          </a:prstGeom>
          <a:solidFill>
            <a:srgbClr val="EDE9FE"/>
          </a:solidFill>
          <a:ln w="12700">
            <a:solidFill>
              <a:srgbClr val="D8D2F5"/>
            </a:solidFill>
            <a:prstDash val="solid"/>
          </a:ln>
        </p:spPr>
      </p:sp>
      <p:sp>
        <p:nvSpPr>
          <p:cNvPr id="7" name="Shape 4"/>
          <p:cNvSpPr/>
          <p:nvPr/>
        </p:nvSpPr>
        <p:spPr>
          <a:xfrm>
            <a:off x="1509903" y="2093976"/>
            <a:ext cx="548640" cy="54864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1592199" y="2176272"/>
            <a:ext cx="384048" cy="384048"/>
          </a:xfrm>
          <a:prstGeom prst="rect">
            <a:avLst/>
          </a:prstGeom>
        </p:spPr>
      </p:pic>
      <p:sp>
        <p:nvSpPr>
          <p:cNvPr id="9" name="Text 5"/>
          <p:cNvSpPr/>
          <p:nvPr/>
        </p:nvSpPr>
        <p:spPr>
          <a:xfrm>
            <a:off x="548640" y="2715768"/>
            <a:ext cx="2471166"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Nominal</a:t>
            </a:r>
            <a:endParaRPr lang="en-US" sz="1300" dirty="0"/>
          </a:p>
        </p:txBody>
      </p:sp>
      <p:sp>
        <p:nvSpPr>
          <p:cNvPr id="10" name="Text 6"/>
          <p:cNvSpPr/>
          <p:nvPr/>
        </p:nvSpPr>
        <p:spPr>
          <a:xfrm>
            <a:off x="603504" y="3099816"/>
            <a:ext cx="2361438"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Valid: mode, frequency counts. NOT valid: mean, median, or any ranking</a:t>
            </a:r>
            <a:endParaRPr lang="en-US" sz="1100" dirty="0"/>
          </a:p>
        </p:txBody>
      </p:sp>
      <p:sp>
        <p:nvSpPr>
          <p:cNvPr id="11" name="Shape 7"/>
          <p:cNvSpPr/>
          <p:nvPr/>
        </p:nvSpPr>
        <p:spPr>
          <a:xfrm>
            <a:off x="3330702" y="1508760"/>
            <a:ext cx="2654046" cy="4892040"/>
          </a:xfrm>
          <a:prstGeom prst="roundRect">
            <a:avLst>
              <a:gd name="adj" fmla="val 5512"/>
            </a:avLst>
          </a:prstGeom>
          <a:solidFill>
            <a:srgbClr val="FFF6DC"/>
          </a:solidFill>
          <a:ln w="12700">
            <a:solidFill>
              <a:srgbClr val="D8D2F5"/>
            </a:solidFill>
            <a:prstDash val="solid"/>
          </a:ln>
        </p:spPr>
      </p:sp>
      <p:sp>
        <p:nvSpPr>
          <p:cNvPr id="12" name="Shape 8"/>
          <p:cNvSpPr/>
          <p:nvPr/>
        </p:nvSpPr>
        <p:spPr>
          <a:xfrm>
            <a:off x="4383405" y="2093976"/>
            <a:ext cx="548640" cy="548640"/>
          </a:xfrm>
          <a:prstGeom prst="ellipse">
            <a:avLst/>
          </a:prstGeom>
          <a:solidFill>
            <a:srgbClr val="FFC94A"/>
          </a:solidFill>
          <a:ln/>
        </p:spPr>
      </p:sp>
      <p:pic>
        <p:nvPicPr>
          <p:cNvPr id="13" name="Image 2" descr="preencoded.png">    </p:cNvPr>
          <p:cNvPicPr>
            <a:picLocks noChangeAspect="1"/>
          </p:cNvPicPr>
          <p:nvPr/>
        </p:nvPicPr>
        <p:blipFill>
          <a:blip r:embed="rId3"/>
          <a:stretch>
            <a:fillRect/>
          </a:stretch>
        </p:blipFill>
        <p:spPr>
          <a:xfrm>
            <a:off x="4465701" y="2176272"/>
            <a:ext cx="384048" cy="384048"/>
          </a:xfrm>
          <a:prstGeom prst="rect">
            <a:avLst/>
          </a:prstGeom>
        </p:spPr>
      </p:pic>
      <p:sp>
        <p:nvSpPr>
          <p:cNvPr id="14" name="Text 9"/>
          <p:cNvSpPr/>
          <p:nvPr/>
        </p:nvSpPr>
        <p:spPr>
          <a:xfrm>
            <a:off x="3422142" y="2715768"/>
            <a:ext cx="2471166"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Ordinal</a:t>
            </a:r>
            <a:endParaRPr lang="en-US" sz="1300" dirty="0"/>
          </a:p>
        </p:txBody>
      </p:sp>
      <p:sp>
        <p:nvSpPr>
          <p:cNvPr id="15" name="Text 10"/>
          <p:cNvSpPr/>
          <p:nvPr/>
        </p:nvSpPr>
        <p:spPr>
          <a:xfrm>
            <a:off x="3477006" y="3099816"/>
            <a:ext cx="2361438"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Valid: mode, median, ranking. Debatable: mean (common in practice, technically imprecise)</a:t>
            </a:r>
            <a:endParaRPr lang="en-US" sz="1100" dirty="0"/>
          </a:p>
        </p:txBody>
      </p:sp>
      <p:sp>
        <p:nvSpPr>
          <p:cNvPr id="16" name="Shape 11"/>
          <p:cNvSpPr/>
          <p:nvPr/>
        </p:nvSpPr>
        <p:spPr>
          <a:xfrm>
            <a:off x="6204204" y="1508760"/>
            <a:ext cx="2654046" cy="4892040"/>
          </a:xfrm>
          <a:prstGeom prst="roundRect">
            <a:avLst>
              <a:gd name="adj" fmla="val 5512"/>
            </a:avLst>
          </a:prstGeom>
          <a:solidFill>
            <a:srgbClr val="E3FBF3"/>
          </a:solidFill>
          <a:ln w="12700">
            <a:solidFill>
              <a:srgbClr val="D8D2F5"/>
            </a:solidFill>
            <a:prstDash val="solid"/>
          </a:ln>
        </p:spPr>
      </p:sp>
      <p:sp>
        <p:nvSpPr>
          <p:cNvPr id="17" name="Shape 12"/>
          <p:cNvSpPr/>
          <p:nvPr/>
        </p:nvSpPr>
        <p:spPr>
          <a:xfrm>
            <a:off x="7256907" y="2093976"/>
            <a:ext cx="548640" cy="548640"/>
          </a:xfrm>
          <a:prstGeom prst="ellipse">
            <a:avLst/>
          </a:prstGeom>
          <a:solidFill>
            <a:srgbClr val="5FD6B0"/>
          </a:solidFill>
          <a:ln/>
        </p:spPr>
      </p:sp>
      <p:pic>
        <p:nvPicPr>
          <p:cNvPr id="18" name="Image 3" descr="preencoded.png">    </p:cNvPr>
          <p:cNvPicPr>
            <a:picLocks noChangeAspect="1"/>
          </p:cNvPicPr>
          <p:nvPr/>
        </p:nvPicPr>
        <p:blipFill>
          <a:blip r:embed="rId4"/>
          <a:stretch>
            <a:fillRect/>
          </a:stretch>
        </p:blipFill>
        <p:spPr>
          <a:xfrm>
            <a:off x="7339203" y="2176272"/>
            <a:ext cx="384048" cy="384048"/>
          </a:xfrm>
          <a:prstGeom prst="rect">
            <a:avLst/>
          </a:prstGeom>
        </p:spPr>
      </p:pic>
      <p:sp>
        <p:nvSpPr>
          <p:cNvPr id="19" name="Text 13"/>
          <p:cNvSpPr/>
          <p:nvPr/>
        </p:nvSpPr>
        <p:spPr>
          <a:xfrm>
            <a:off x="6295644" y="2715768"/>
            <a:ext cx="2471166"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Interval</a:t>
            </a:r>
            <a:endParaRPr lang="en-US" sz="1300" dirty="0"/>
          </a:p>
        </p:txBody>
      </p:sp>
      <p:sp>
        <p:nvSpPr>
          <p:cNvPr id="20" name="Text 14"/>
          <p:cNvSpPr/>
          <p:nvPr/>
        </p:nvSpPr>
        <p:spPr>
          <a:xfrm>
            <a:off x="6350508" y="3099816"/>
            <a:ext cx="2361438"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Valid: mean, median, mode, addition/subtraction. NOT valid: meaningful ratios ("twice as much")</a:t>
            </a:r>
            <a:endParaRPr lang="en-US" sz="1100" dirty="0"/>
          </a:p>
        </p:txBody>
      </p:sp>
      <p:sp>
        <p:nvSpPr>
          <p:cNvPr id="21" name="Shape 15"/>
          <p:cNvSpPr/>
          <p:nvPr/>
        </p:nvSpPr>
        <p:spPr>
          <a:xfrm>
            <a:off x="9077706" y="1508760"/>
            <a:ext cx="2654046" cy="4892040"/>
          </a:xfrm>
          <a:prstGeom prst="roundRect">
            <a:avLst>
              <a:gd name="adj" fmla="val 5512"/>
            </a:avLst>
          </a:prstGeom>
          <a:solidFill>
            <a:srgbClr val="EDE9FE"/>
          </a:solidFill>
          <a:ln w="12700">
            <a:solidFill>
              <a:srgbClr val="D8D2F5"/>
            </a:solidFill>
            <a:prstDash val="solid"/>
          </a:ln>
        </p:spPr>
      </p:sp>
      <p:sp>
        <p:nvSpPr>
          <p:cNvPr id="22" name="Shape 16"/>
          <p:cNvSpPr/>
          <p:nvPr/>
        </p:nvSpPr>
        <p:spPr>
          <a:xfrm>
            <a:off x="10130409" y="2093976"/>
            <a:ext cx="548640" cy="548640"/>
          </a:xfrm>
          <a:prstGeom prst="ellipse">
            <a:avLst/>
          </a:prstGeom>
          <a:solidFill>
            <a:srgbClr val="FF8FB3"/>
          </a:solidFill>
          <a:ln/>
        </p:spPr>
      </p:sp>
      <p:pic>
        <p:nvPicPr>
          <p:cNvPr id="23" name="Image 4" descr="preencoded.png">    </p:cNvPr>
          <p:cNvPicPr>
            <a:picLocks noChangeAspect="1"/>
          </p:cNvPicPr>
          <p:nvPr/>
        </p:nvPicPr>
        <p:blipFill>
          <a:blip r:embed="rId5"/>
          <a:stretch>
            <a:fillRect/>
          </a:stretch>
        </p:blipFill>
        <p:spPr>
          <a:xfrm>
            <a:off x="10212705" y="2176272"/>
            <a:ext cx="384048" cy="384048"/>
          </a:xfrm>
          <a:prstGeom prst="rect">
            <a:avLst/>
          </a:prstGeom>
        </p:spPr>
      </p:pic>
      <p:sp>
        <p:nvSpPr>
          <p:cNvPr id="24" name="Text 17"/>
          <p:cNvSpPr/>
          <p:nvPr/>
        </p:nvSpPr>
        <p:spPr>
          <a:xfrm>
            <a:off x="9169146" y="2715768"/>
            <a:ext cx="2471166"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Ratio</a:t>
            </a:r>
            <a:endParaRPr lang="en-US" sz="1300" dirty="0"/>
          </a:p>
        </p:txBody>
      </p:sp>
      <p:sp>
        <p:nvSpPr>
          <p:cNvPr id="25" name="Text 18"/>
          <p:cNvSpPr/>
          <p:nvPr/>
        </p:nvSpPr>
        <p:spPr>
          <a:xfrm>
            <a:off x="9224010" y="3099816"/>
            <a:ext cx="2361438"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Valid: absolutely everything — mean, median, mode, ratios, and every arithmetic operation</a:t>
            </a:r>
            <a:endParaRPr lang="en-US" sz="1100" dirty="0"/>
          </a:p>
        </p:txBody>
      </p:sp>
      <p:sp>
        <p:nvSpPr>
          <p:cNvPr id="26" name="Text 19"/>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27" name="Text 20"/>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Practice Set — Types of Data &amp; Measurement Scales</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600200"/>
            <a:ext cx="11274552" cy="4480560"/>
          </a:xfrm>
          <a:prstGeom prst="roundRect">
            <a:avLst>
              <a:gd name="adj" fmla="val 3673"/>
            </a:avLst>
          </a:prstGeom>
          <a:solidFill>
            <a:srgbClr val="EDE9FE"/>
          </a:solidFill>
          <a:ln w="12700">
            <a:solidFill>
              <a:srgbClr val="D8D2F5"/>
            </a:solidFill>
            <a:prstDash val="solid"/>
          </a:ln>
        </p:spPr>
      </p:sp>
      <p:sp>
        <p:nvSpPr>
          <p:cNvPr id="7" name="Text 4"/>
          <p:cNvSpPr/>
          <p:nvPr/>
        </p:nvSpPr>
        <p:spPr>
          <a:xfrm>
            <a:off x="822960" y="1828800"/>
            <a:ext cx="10515600" cy="457200"/>
          </a:xfrm>
          <a:prstGeom prst="rect">
            <a:avLst/>
          </a:prstGeom>
          <a:noFill/>
          <a:ln/>
        </p:spPr>
        <p:txBody>
          <a:bodyPr wrap="square" lIns="0" tIns="0" rIns="0" bIns="0" rtlCol="0" anchor="ctr"/>
          <a:lstStyle/>
          <a:p>
            <a:pPr indent="0" marL="0">
              <a:buNone/>
            </a:pPr>
            <a:r>
              <a:rPr lang="en-US" sz="1500" b="1" dirty="0">
                <a:solidFill>
                  <a:srgbClr val="2D2A4A"/>
                </a:solidFill>
                <a:latin typeface="Century Gothic" pitchFamily="34" charset="0"/>
                <a:ea typeface="Century Gothic" pitchFamily="34" charset="-122"/>
                <a:cs typeface="Century Gothic" pitchFamily="34" charset="-120"/>
              </a:rPr>
              <a:t>Try these yourself first — that's the point</a:t>
            </a:r>
            <a:endParaRPr lang="en-US" sz="1500" dirty="0"/>
          </a:p>
        </p:txBody>
      </p:sp>
      <p:sp>
        <p:nvSpPr>
          <p:cNvPr id="8" name="Shape 5"/>
          <p:cNvSpPr/>
          <p:nvPr/>
        </p:nvSpPr>
        <p:spPr>
          <a:xfrm>
            <a:off x="822960" y="2423160"/>
            <a:ext cx="384048" cy="384048"/>
          </a:xfrm>
          <a:prstGeom prst="ellipse">
            <a:avLst/>
          </a:prstGeom>
          <a:solidFill>
            <a:srgbClr val="8B7FE8"/>
          </a:solidFill>
          <a:ln/>
        </p:spPr>
      </p:sp>
      <p:sp>
        <p:nvSpPr>
          <p:cNvPr id="9" name="Text 6"/>
          <p:cNvSpPr/>
          <p:nvPr/>
        </p:nvSpPr>
        <p:spPr>
          <a:xfrm>
            <a:off x="822960" y="2423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p:nvPr/>
        </p:nvSpPr>
        <p:spPr>
          <a:xfrm>
            <a:off x="1435608" y="2423160"/>
            <a:ext cx="9582912" cy="384048"/>
          </a:xfrm>
          <a:prstGeom prst="rect">
            <a:avLst/>
          </a:prstGeom>
          <a:noFill/>
          <a:ln/>
        </p:spPr>
        <p:txBody>
          <a:bodyPr wrap="square" lIns="0" tIns="0" rIns="0" bIns="0" rtlCol="0" anchor="ctr"/>
          <a:lstStyle/>
          <a:p>
            <a:pPr indent="0" marL="0">
              <a:buNone/>
            </a:pPr>
            <a:r>
              <a:rPr lang="en-US" sz="1250" dirty="0">
                <a:solidFill>
                  <a:srgbClr val="2D2A4A"/>
                </a:solidFill>
                <a:latin typeface="Calibri" pitchFamily="34" charset="0"/>
                <a:ea typeface="Calibri" pitchFamily="34" charset="-122"/>
                <a:cs typeface="Calibri" pitchFamily="34" charset="-120"/>
              </a:rPr>
              <a:t>Classify each as nominal, ordinal, interval, or ratio: shoe size, exam grade (A/B/C), income, year of birth</a:t>
            </a:r>
            <a:endParaRPr lang="en-US" sz="1250" dirty="0"/>
          </a:p>
        </p:txBody>
      </p:sp>
      <p:sp>
        <p:nvSpPr>
          <p:cNvPr id="11" name="Shape 8"/>
          <p:cNvSpPr/>
          <p:nvPr/>
        </p:nvSpPr>
        <p:spPr>
          <a:xfrm>
            <a:off x="822960" y="3300984"/>
            <a:ext cx="384048" cy="384048"/>
          </a:xfrm>
          <a:prstGeom prst="ellipse">
            <a:avLst/>
          </a:prstGeom>
          <a:solidFill>
            <a:srgbClr val="8B7FE8"/>
          </a:solidFill>
          <a:ln/>
        </p:spPr>
      </p:sp>
      <p:sp>
        <p:nvSpPr>
          <p:cNvPr id="12" name="Text 9"/>
          <p:cNvSpPr/>
          <p:nvPr/>
        </p:nvSpPr>
        <p:spPr>
          <a:xfrm>
            <a:off x="822960" y="3300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435608" y="3300984"/>
            <a:ext cx="9582912" cy="384048"/>
          </a:xfrm>
          <a:prstGeom prst="rect">
            <a:avLst/>
          </a:prstGeom>
          <a:noFill/>
          <a:ln/>
        </p:spPr>
        <p:txBody>
          <a:bodyPr wrap="square" lIns="0" tIns="0" rIns="0" bIns="0" rtlCol="0" anchor="ctr"/>
          <a:lstStyle/>
          <a:p>
            <a:pPr indent="0" marL="0">
              <a:buNone/>
            </a:pPr>
            <a:r>
              <a:rPr lang="en-US" sz="1250" dirty="0">
                <a:solidFill>
                  <a:srgbClr val="2D2A4A"/>
                </a:solidFill>
                <a:latin typeface="Calibri" pitchFamily="34" charset="0"/>
                <a:ea typeface="Calibri" pitchFamily="34" charset="-122"/>
                <a:cs typeface="Calibri" pitchFamily="34" charset="-120"/>
              </a:rPr>
              <a:t>Explain why "average zip code" is a meaningless calculation, using what you learned about nominal data</a:t>
            </a:r>
            <a:endParaRPr lang="en-US" sz="1250" dirty="0"/>
          </a:p>
        </p:txBody>
      </p:sp>
      <p:sp>
        <p:nvSpPr>
          <p:cNvPr id="14" name="Shape 11"/>
          <p:cNvSpPr/>
          <p:nvPr/>
        </p:nvSpPr>
        <p:spPr>
          <a:xfrm>
            <a:off x="822960" y="4178808"/>
            <a:ext cx="384048" cy="384048"/>
          </a:xfrm>
          <a:prstGeom prst="ellipse">
            <a:avLst/>
          </a:prstGeom>
          <a:solidFill>
            <a:srgbClr val="8B7FE8"/>
          </a:solidFill>
          <a:ln/>
        </p:spPr>
      </p:sp>
      <p:sp>
        <p:nvSpPr>
          <p:cNvPr id="15" name="Text 12"/>
          <p:cNvSpPr/>
          <p:nvPr/>
        </p:nvSpPr>
        <p:spPr>
          <a:xfrm>
            <a:off x="822960" y="4178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3"/>
          <p:cNvSpPr/>
          <p:nvPr/>
        </p:nvSpPr>
        <p:spPr>
          <a:xfrm>
            <a:off x="1435608" y="4178808"/>
            <a:ext cx="9582912" cy="384048"/>
          </a:xfrm>
          <a:prstGeom prst="rect">
            <a:avLst/>
          </a:prstGeom>
          <a:noFill/>
          <a:ln/>
        </p:spPr>
        <p:txBody>
          <a:bodyPr wrap="square" lIns="0" tIns="0" rIns="0" bIns="0" rtlCol="0" anchor="ctr"/>
          <a:lstStyle/>
          <a:p>
            <a:pPr indent="0" marL="0">
              <a:buNone/>
            </a:pPr>
            <a:r>
              <a:rPr lang="en-US" sz="1250" dirty="0">
                <a:solidFill>
                  <a:srgbClr val="2D2A4A"/>
                </a:solidFill>
                <a:latin typeface="Calibri" pitchFamily="34" charset="0"/>
                <a:ea typeface="Calibri" pitchFamily="34" charset="-122"/>
                <a:cs typeface="Calibri" pitchFamily="34" charset="-120"/>
              </a:rPr>
              <a:t>Explain why saying "40°C is twice as hot as 20°C" is incorrect, using the interval scale’s lack of a true zero</a:t>
            </a:r>
            <a:endParaRPr lang="en-US" sz="1250" dirty="0"/>
          </a:p>
        </p:txBody>
      </p:sp>
      <p:sp>
        <p:nvSpPr>
          <p:cNvPr id="17" name="Shape 14"/>
          <p:cNvSpPr/>
          <p:nvPr/>
        </p:nvSpPr>
        <p:spPr>
          <a:xfrm>
            <a:off x="822960" y="5056632"/>
            <a:ext cx="384048" cy="384048"/>
          </a:xfrm>
          <a:prstGeom prst="ellipse">
            <a:avLst/>
          </a:prstGeom>
          <a:solidFill>
            <a:srgbClr val="8B7FE8"/>
          </a:solidFill>
          <a:ln/>
        </p:spPr>
      </p:sp>
      <p:sp>
        <p:nvSpPr>
          <p:cNvPr id="18" name="Text 15"/>
          <p:cNvSpPr/>
          <p:nvPr/>
        </p:nvSpPr>
        <p:spPr>
          <a:xfrm>
            <a:off x="822960" y="5056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6"/>
          <p:cNvSpPr/>
          <p:nvPr/>
        </p:nvSpPr>
        <p:spPr>
          <a:xfrm>
            <a:off x="1435608" y="5056632"/>
            <a:ext cx="9582912" cy="384048"/>
          </a:xfrm>
          <a:prstGeom prst="rect">
            <a:avLst/>
          </a:prstGeom>
          <a:noFill/>
          <a:ln/>
        </p:spPr>
        <p:txBody>
          <a:bodyPr wrap="square" lIns="0" tIns="0" rIns="0" bIns="0" rtlCol="0" anchor="ctr"/>
          <a:lstStyle/>
          <a:p>
            <a:pPr indent="0" marL="0">
              <a:buNone/>
            </a:pPr>
            <a:r>
              <a:rPr lang="en-US" sz="1250" dirty="0">
                <a:solidFill>
                  <a:srgbClr val="2D2A4A"/>
                </a:solidFill>
                <a:latin typeface="Calibri" pitchFamily="34" charset="0"/>
                <a:ea typeface="Calibri" pitchFamily="34" charset="-122"/>
                <a:cs typeface="Calibri" pitchFamily="34" charset="-120"/>
              </a:rPr>
              <a:t>For a customer satisfaction survey using a 1–5 star rating, identify the scale and explain what operations are safely valid on it</a:t>
            </a:r>
            <a:endParaRPr lang="en-US" sz="1250" dirty="0"/>
          </a:p>
        </p:txBody>
      </p:sp>
      <p:sp>
        <p:nvSpPr>
          <p:cNvPr id="20" name="Text 1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21" name="Text 1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8FF"/>
        </a:solidFill>
      </p:bgPr>
    </p:bg>
    <p:spTree>
      <p:nvGrpSpPr>
        <p:cNvPr id="1" name=""/>
        <p:cNvGrpSpPr/>
        <p:nvPr/>
      </p:nvGrpSpPr>
      <p:grpSpPr>
        <a:xfrm>
          <a:off x="0" y="0"/>
          <a:ext cx="0" cy="0"/>
          <a:chOff x="0" y="0"/>
          <a:chExt cx="0" cy="0"/>
        </a:xfrm>
      </p:grpSpPr>
      <p:sp>
        <p:nvSpPr>
          <p:cNvPr id="2" name="Text 0"/>
          <p:cNvSpPr/>
          <p:nvPr/>
        </p:nvSpPr>
        <p:spPr>
          <a:xfrm>
            <a:off x="457200" y="457200"/>
            <a:ext cx="274320" cy="274320"/>
          </a:xfrm>
          <a:prstGeom prst="rect">
            <a:avLst/>
          </a:prstGeom>
          <a:noFill/>
          <a:ln/>
        </p:spPr>
        <p:txBody>
          <a:bodyPr wrap="square" lIns="0" tIns="0" rIns="0" bIns="0" rtlCol="0" anchor="ctr"/>
          <a:lstStyle/>
          <a:p>
            <a:pPr algn="ctr" indent="0" marL="0">
              <a:buNone/>
            </a:pPr>
            <a:r>
              <a:rPr lang="en-US" sz="1200" dirty="0">
                <a:solidFill>
                  <a:srgbClr val="5FD6B0"/>
                </a:solidFill>
              </a:rPr>
              <a:t>✦</a:t>
            </a:r>
            <a:endParaRPr lang="en-US" sz="1200" dirty="0"/>
          </a:p>
        </p:txBody>
      </p:sp>
      <p:sp>
        <p:nvSpPr>
          <p:cNvPr id="3" name="Text 1"/>
          <p:cNvSpPr/>
          <p:nvPr/>
        </p:nvSpPr>
        <p:spPr>
          <a:xfrm>
            <a:off x="11247120" y="548640"/>
            <a:ext cx="201168" cy="201168"/>
          </a:xfrm>
          <a:prstGeom prst="rect">
            <a:avLst/>
          </a:prstGeom>
          <a:noFill/>
          <a:ln/>
        </p:spPr>
        <p:txBody>
          <a:bodyPr wrap="square" lIns="0" tIns="0" rIns="0" bIns="0" rtlCol="0" anchor="ctr"/>
          <a:lstStyle/>
          <a:p>
            <a:pPr algn="ctr" indent="0" marL="0">
              <a:buNone/>
            </a:pPr>
            <a:r>
              <a:rPr lang="en-US" sz="880" dirty="0">
                <a:solidFill>
                  <a:srgbClr val="FFC94A"/>
                </a:solidFill>
              </a:rPr>
              <a:t>✦</a:t>
            </a:r>
            <a:endParaRPr lang="en-US" sz="880" dirty="0"/>
          </a:p>
        </p:txBody>
      </p:sp>
      <p:sp>
        <p:nvSpPr>
          <p:cNvPr id="4" name="Text 2"/>
          <p:cNvSpPr/>
          <p:nvPr/>
        </p:nvSpPr>
        <p:spPr>
          <a:xfrm>
            <a:off x="640080" y="6126480"/>
            <a:ext cx="228600" cy="228600"/>
          </a:xfrm>
          <a:prstGeom prst="rect">
            <a:avLst/>
          </a:prstGeom>
          <a:noFill/>
          <a:ln/>
        </p:spPr>
        <p:txBody>
          <a:bodyPr wrap="square" lIns="0" tIns="0" rIns="0" bIns="0" rtlCol="0" anchor="ctr"/>
          <a:lstStyle/>
          <a:p>
            <a:pPr algn="ctr" indent="0" marL="0">
              <a:buNone/>
            </a:pPr>
            <a:r>
              <a:rPr lang="en-US" sz="1000" dirty="0">
                <a:solidFill>
                  <a:srgbClr val="FF8FB3"/>
                </a:solidFill>
              </a:rPr>
              <a:t>✦</a:t>
            </a:r>
            <a:endParaRPr lang="en-US" sz="1000" dirty="0"/>
          </a:p>
        </p:txBody>
      </p:sp>
      <p:sp>
        <p:nvSpPr>
          <p:cNvPr id="5" name="Text 3"/>
          <p:cNvSpPr/>
          <p:nvPr/>
        </p:nvSpPr>
        <p:spPr>
          <a:xfrm>
            <a:off x="11338560" y="6035040"/>
            <a:ext cx="274320" cy="274320"/>
          </a:xfrm>
          <a:prstGeom prst="rect">
            <a:avLst/>
          </a:prstGeom>
          <a:noFill/>
          <a:ln/>
        </p:spPr>
        <p:txBody>
          <a:bodyPr wrap="square" lIns="0" tIns="0" rIns="0" bIns="0" rtlCol="0" anchor="ctr"/>
          <a:lstStyle/>
          <a:p>
            <a:pPr algn="ctr" indent="0" marL="0">
              <a:buNone/>
            </a:pPr>
            <a:r>
              <a:rPr lang="en-US" sz="1200" dirty="0">
                <a:solidFill>
                  <a:srgbClr val="8B7FE8"/>
                </a:solidFill>
              </a:rPr>
              <a:t>✦</a:t>
            </a:r>
            <a:endParaRPr lang="en-US" sz="1200" dirty="0"/>
          </a:p>
        </p:txBody>
      </p:sp>
      <p:sp>
        <p:nvSpPr>
          <p:cNvPr id="6" name="Shape 4"/>
          <p:cNvSpPr/>
          <p:nvPr/>
        </p:nvSpPr>
        <p:spPr>
          <a:xfrm rot="-90000">
            <a:off x="1874520" y="1325880"/>
            <a:ext cx="8805672" cy="777240"/>
          </a:xfrm>
          <a:prstGeom prst="roundRect">
            <a:avLst>
              <a:gd name="adj" fmla="val 17647"/>
            </a:avLst>
          </a:prstGeom>
          <a:solidFill>
            <a:srgbClr val="FFC94A"/>
          </a:solidFill>
          <a:ln/>
        </p:spPr>
      </p:sp>
      <p:sp>
        <p:nvSpPr>
          <p:cNvPr id="7" name="Shape 5"/>
          <p:cNvSpPr/>
          <p:nvPr/>
        </p:nvSpPr>
        <p:spPr>
          <a:xfrm>
            <a:off x="1691640" y="1188720"/>
            <a:ext cx="8805672" cy="777240"/>
          </a:xfrm>
          <a:prstGeom prst="roundRect">
            <a:avLst>
              <a:gd name="adj" fmla="val 17647"/>
            </a:avLst>
          </a:prstGeom>
          <a:solidFill>
            <a:srgbClr val="8B7FE8"/>
          </a:solidFill>
          <a:ln/>
        </p:spPr>
      </p:sp>
      <p:pic>
        <p:nvPicPr>
          <p:cNvPr id="8" name="Image 0" descr="preencoded.png">    </p:cNvPr>
          <p:cNvPicPr>
            <a:picLocks noChangeAspect="1"/>
          </p:cNvPicPr>
          <p:nvPr/>
        </p:nvPicPr>
        <p:blipFill>
          <a:blip r:embed="rId1"/>
          <a:stretch>
            <a:fillRect/>
          </a:stretch>
        </p:blipFill>
        <p:spPr>
          <a:xfrm>
            <a:off x="5870448" y="1348740"/>
            <a:ext cx="457200" cy="457200"/>
          </a:xfrm>
          <a:prstGeom prst="rect">
            <a:avLst/>
          </a:prstGeom>
        </p:spPr>
      </p:pic>
      <p:sp>
        <p:nvSpPr>
          <p:cNvPr id="9" name="Text 6"/>
          <p:cNvSpPr/>
          <p:nvPr/>
        </p:nvSpPr>
        <p:spPr>
          <a:xfrm>
            <a:off x="1691640" y="1188720"/>
            <a:ext cx="8805672" cy="777240"/>
          </a:xfrm>
          <a:prstGeom prst="rect">
            <a:avLst/>
          </a:prstGeom>
          <a:noFill/>
          <a:ln/>
        </p:spPr>
        <p:txBody>
          <a:bodyPr wrap="square" lIns="0" tIns="0" rIns="0" bIns="0" rtlCol="0" anchor="b"/>
          <a:lstStyle/>
          <a:p>
            <a:pPr algn="ctr" indent="0" marL="0">
              <a:buNone/>
            </a:pPr>
            <a:r>
              <a:rPr lang="en-US" sz="1200" b="1" spc="200" kern="0" dirty="0">
                <a:solidFill>
                  <a:srgbClr val="FFF6DC"/>
                </a:solidFill>
                <a:latin typeface="Calibri" pitchFamily="34" charset="0"/>
                <a:ea typeface="Calibri" pitchFamily="34" charset="-122"/>
                <a:cs typeface="Calibri" pitchFamily="34" charset="-120"/>
              </a:rPr>
              <a:t>PART 4</a:t>
            </a:r>
            <a:endParaRPr lang="en-US" sz="1200" dirty="0"/>
          </a:p>
        </p:txBody>
      </p:sp>
      <p:sp>
        <p:nvSpPr>
          <p:cNvPr id="10" name="Text 7"/>
          <p:cNvSpPr/>
          <p:nvPr/>
        </p:nvSpPr>
        <p:spPr>
          <a:xfrm>
            <a:off x="1097280" y="2331720"/>
            <a:ext cx="9994392" cy="1920240"/>
          </a:xfrm>
          <a:prstGeom prst="rect">
            <a:avLst/>
          </a:prstGeom>
          <a:noFill/>
          <a:ln/>
        </p:spPr>
        <p:txBody>
          <a:bodyPr wrap="square" lIns="0" tIns="0" rIns="0" bIns="0" rtlCol="0" anchor="t"/>
          <a:lstStyle/>
          <a:p>
            <a:pPr algn="ctr" indent="0" marL="0">
              <a:buNone/>
            </a:pPr>
            <a:r>
              <a:rPr lang="en-US" sz="2900" b="1" dirty="0">
                <a:solidFill>
                  <a:srgbClr val="2D2A4A"/>
                </a:solidFill>
                <a:latin typeface="Century Gothic" pitchFamily="34" charset="0"/>
                <a:ea typeface="Century Gothic" pitchFamily="34" charset="-122"/>
                <a:cs typeface="Century Gothic" pitchFamily="34" charset="-120"/>
              </a:rPr>
              <a:t>Errors &amp; Bias in Data &amp; Measurement</a:t>
            </a:r>
            <a:endParaRPr lang="en-US" sz="2900" dirty="0"/>
          </a:p>
        </p:txBody>
      </p:sp>
      <p:sp>
        <p:nvSpPr>
          <p:cNvPr id="11" name="Text 8"/>
          <p:cNvSpPr/>
          <p:nvPr/>
        </p:nvSpPr>
        <p:spPr>
          <a:xfrm>
            <a:off x="1737360" y="4434840"/>
            <a:ext cx="8714232" cy="1097280"/>
          </a:xfrm>
          <a:prstGeom prst="rect">
            <a:avLst/>
          </a:prstGeom>
          <a:noFill/>
          <a:ln/>
        </p:spPr>
        <p:txBody>
          <a:bodyPr wrap="square" lIns="0" tIns="0" rIns="0" bIns="0" rtlCol="0" anchor="t"/>
          <a:lstStyle/>
          <a:p>
            <a:pPr algn="ctr" indent="0" marL="0">
              <a:buNone/>
            </a:pPr>
            <a:r>
              <a:rPr lang="en-US" sz="1500" dirty="0">
                <a:solidFill>
                  <a:srgbClr val="685F8F"/>
                </a:solidFill>
                <a:latin typeface="Calibri" pitchFamily="34" charset="0"/>
                <a:ea typeface="Calibri" pitchFamily="34" charset="-122"/>
                <a:cs typeface="Calibri" pitchFamily="34" charset="-120"/>
              </a:rPr>
              <a:t>Before trusting any statistic, it’s worth asking where the data could have gone wrong on the way to you</a:t>
            </a:r>
            <a:endParaRPr lang="en-US" sz="1500" dirty="0"/>
          </a:p>
        </p:txBody>
      </p:sp>
      <p:sp>
        <p:nvSpPr>
          <p:cNvPr id="12" name="Text 9"/>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Why Errors Matter Before You Even Start Analyzing</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54480"/>
            <a:ext cx="3657600" cy="4663440"/>
          </a:xfrm>
          <a:prstGeom prst="roundRect">
            <a:avLst>
              <a:gd name="adj" fmla="val 4500"/>
            </a:avLst>
          </a:prstGeom>
          <a:solidFill>
            <a:srgbClr val="EDE9FE"/>
          </a:solidFill>
          <a:ln w="12700">
            <a:solidFill>
              <a:srgbClr val="D8D2F5"/>
            </a:solidFill>
            <a:prstDash val="solid"/>
          </a:ln>
        </p:spPr>
      </p:sp>
      <p:sp>
        <p:nvSpPr>
          <p:cNvPr id="7" name="Shape 4"/>
          <p:cNvSpPr/>
          <p:nvPr/>
        </p:nvSpPr>
        <p:spPr>
          <a:xfrm>
            <a:off x="1508760" y="2194560"/>
            <a:ext cx="1554480" cy="155448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1746504" y="2423160"/>
            <a:ext cx="1088136" cy="1088136"/>
          </a:xfrm>
          <a:prstGeom prst="rect">
            <a:avLst/>
          </a:prstGeom>
        </p:spPr>
      </p:pic>
      <p:sp>
        <p:nvSpPr>
          <p:cNvPr id="9" name="Text 5"/>
          <p:cNvSpPr/>
          <p:nvPr/>
        </p:nvSpPr>
        <p:spPr>
          <a:xfrm>
            <a:off x="640080" y="3977640"/>
            <a:ext cx="3291840" cy="1737360"/>
          </a:xfrm>
          <a:prstGeom prst="rect">
            <a:avLst/>
          </a:prstGeom>
          <a:noFill/>
          <a:ln/>
        </p:spPr>
        <p:txBody>
          <a:bodyPr wrap="square" lIns="0" tIns="0" rIns="0" bIns="0" rtlCol="0" anchor="t"/>
          <a:lstStyle/>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Garbage in,</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garbage</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out</a:t>
            </a:r>
            <a:endParaRPr lang="en-US" sz="1600" dirty="0"/>
          </a:p>
        </p:txBody>
      </p:sp>
      <p:sp>
        <p:nvSpPr>
          <p:cNvPr id="10" name="Text 6"/>
          <p:cNvSpPr/>
          <p:nvPr/>
        </p:nvSpPr>
        <p:spPr>
          <a:xfrm>
            <a:off x="4572000" y="1737360"/>
            <a:ext cx="7132320" cy="4114800"/>
          </a:xfrm>
          <a:prstGeom prst="rect">
            <a:avLst/>
          </a:prstGeom>
          <a:noFill/>
          <a:ln/>
        </p:spPr>
        <p:txBody>
          <a:bodyPr wrap="square" lIns="0" tIns="0" rIns="0" bIns="0" rtlCol="0" anchor="t"/>
          <a:lstStyle/>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No formula can fix data that was collected badly — statistics can describe your data perfectly and still describe the wrong thing entirely</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Understanding where error creeps in is exactly what separates a careful analysis from a misleading one, especially in research</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Error, here, doesn’t mean "a mistake someone made" — it means any gap between what you measured and the real truth, even an entirely honest one</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Two broad categories cover almost every real-world case: sampling error, and non-sampling error</a:t>
            </a:r>
            <a:endParaRPr lang="en-US" sz="1600" dirty="0"/>
          </a:p>
        </p:txBody>
      </p:sp>
      <p:sp>
        <p:nvSpPr>
          <p:cNvPr id="11" name="Text 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2" name="Text 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Sampling Error</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54480"/>
            <a:ext cx="3657600" cy="4663440"/>
          </a:xfrm>
          <a:prstGeom prst="roundRect">
            <a:avLst>
              <a:gd name="adj" fmla="val 4500"/>
            </a:avLst>
          </a:prstGeom>
          <a:solidFill>
            <a:srgbClr val="EDE9FE"/>
          </a:solidFill>
          <a:ln w="12700">
            <a:solidFill>
              <a:srgbClr val="D8D2F5"/>
            </a:solidFill>
            <a:prstDash val="solid"/>
          </a:ln>
        </p:spPr>
      </p:sp>
      <p:sp>
        <p:nvSpPr>
          <p:cNvPr id="7" name="Shape 4"/>
          <p:cNvSpPr/>
          <p:nvPr/>
        </p:nvSpPr>
        <p:spPr>
          <a:xfrm>
            <a:off x="1508760" y="2194560"/>
            <a:ext cx="1554480" cy="155448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1746504" y="2423160"/>
            <a:ext cx="1088136" cy="1088136"/>
          </a:xfrm>
          <a:prstGeom prst="rect">
            <a:avLst/>
          </a:prstGeom>
        </p:spPr>
      </p:pic>
      <p:sp>
        <p:nvSpPr>
          <p:cNvPr id="9" name="Text 5"/>
          <p:cNvSpPr/>
          <p:nvPr/>
        </p:nvSpPr>
        <p:spPr>
          <a:xfrm>
            <a:off x="640080" y="3977640"/>
            <a:ext cx="3291840" cy="1737360"/>
          </a:xfrm>
          <a:prstGeom prst="rect">
            <a:avLst/>
          </a:prstGeom>
          <a:noFill/>
          <a:ln/>
        </p:spPr>
        <p:txBody>
          <a:bodyPr wrap="square" lIns="0" tIns="0" rIns="0" bIns="0" rtlCol="0" anchor="t"/>
          <a:lstStyle/>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The sample</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wasn’t the</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population</a:t>
            </a:r>
            <a:endParaRPr lang="en-US" sz="1600" dirty="0"/>
          </a:p>
        </p:txBody>
      </p:sp>
      <p:sp>
        <p:nvSpPr>
          <p:cNvPr id="10" name="Text 6"/>
          <p:cNvSpPr/>
          <p:nvPr/>
        </p:nvSpPr>
        <p:spPr>
          <a:xfrm>
            <a:off x="4572000" y="1737360"/>
            <a:ext cx="7132320" cy="4114800"/>
          </a:xfrm>
          <a:prstGeom prst="rect">
            <a:avLst/>
          </a:prstGeom>
          <a:noFill/>
          <a:ln/>
        </p:spPr>
        <p:txBody>
          <a:bodyPr wrap="square" lIns="0" tIns="0" rIns="0" bIns="0" rtlCol="0" anchor="t"/>
          <a:lstStyle/>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Sampling error is the natural, unavoidable difference between a sample’s result and the true population value — simply because you didn’t measure everyone</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This exists even with a perfectly random, perfectly executed sample — it’s a mathematical consequence of sampling itself, not a mistake</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Generally, larger samples have smaller sampling error — this is exactly why survey sample sizes matter so much</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This concept is the direct seed of "margin of error" and confidence intervals, which get fully covered in Session 20</a:t>
            </a:r>
            <a:endParaRPr lang="en-US" sz="1600" dirty="0"/>
          </a:p>
        </p:txBody>
      </p:sp>
      <p:sp>
        <p:nvSpPr>
          <p:cNvPr id="11" name="Text 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2" name="Text 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Non-Sampling Error — Everything Else That Can Go Wrong</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54480"/>
            <a:ext cx="3657600" cy="4663440"/>
          </a:xfrm>
          <a:prstGeom prst="roundRect">
            <a:avLst>
              <a:gd name="adj" fmla="val 4500"/>
            </a:avLst>
          </a:prstGeom>
          <a:solidFill>
            <a:srgbClr val="EDE9FE"/>
          </a:solidFill>
          <a:ln w="12700">
            <a:solidFill>
              <a:srgbClr val="D8D2F5"/>
            </a:solidFill>
            <a:prstDash val="solid"/>
          </a:ln>
        </p:spPr>
      </p:sp>
      <p:sp>
        <p:nvSpPr>
          <p:cNvPr id="7" name="Shape 4"/>
          <p:cNvSpPr/>
          <p:nvPr/>
        </p:nvSpPr>
        <p:spPr>
          <a:xfrm>
            <a:off x="1508760" y="2194560"/>
            <a:ext cx="1554480" cy="1554480"/>
          </a:xfrm>
          <a:prstGeom prst="ellipse">
            <a:avLst/>
          </a:prstGeom>
          <a:solidFill>
            <a:srgbClr val="FF8FB3"/>
          </a:solidFill>
          <a:ln/>
        </p:spPr>
      </p:sp>
      <p:pic>
        <p:nvPicPr>
          <p:cNvPr id="8" name="Image 1" descr="preencoded.png">    </p:cNvPr>
          <p:cNvPicPr>
            <a:picLocks noChangeAspect="1"/>
          </p:cNvPicPr>
          <p:nvPr/>
        </p:nvPicPr>
        <p:blipFill>
          <a:blip r:embed="rId2"/>
          <a:stretch>
            <a:fillRect/>
          </a:stretch>
        </p:blipFill>
        <p:spPr>
          <a:xfrm>
            <a:off x="1746504" y="2423160"/>
            <a:ext cx="1088136" cy="1088136"/>
          </a:xfrm>
          <a:prstGeom prst="rect">
            <a:avLst/>
          </a:prstGeom>
        </p:spPr>
      </p:pic>
      <p:sp>
        <p:nvSpPr>
          <p:cNvPr id="9" name="Text 5"/>
          <p:cNvSpPr/>
          <p:nvPr/>
        </p:nvSpPr>
        <p:spPr>
          <a:xfrm>
            <a:off x="640080" y="3977640"/>
            <a:ext cx="3291840" cy="1737360"/>
          </a:xfrm>
          <a:prstGeom prst="rect">
            <a:avLst/>
          </a:prstGeom>
          <a:noFill/>
          <a:ln/>
        </p:spPr>
        <p:txBody>
          <a:bodyPr wrap="square" lIns="0" tIns="0" rIns="0" bIns="0" rtlCol="0" anchor="t"/>
          <a:lstStyle/>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Avoidable,</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if you’re</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careful</a:t>
            </a:r>
            <a:endParaRPr lang="en-US" sz="1600" dirty="0"/>
          </a:p>
        </p:txBody>
      </p:sp>
      <p:sp>
        <p:nvSpPr>
          <p:cNvPr id="10" name="Text 6"/>
          <p:cNvSpPr/>
          <p:nvPr/>
        </p:nvSpPr>
        <p:spPr>
          <a:xfrm>
            <a:off x="4572000" y="1737360"/>
            <a:ext cx="7132320" cy="4114800"/>
          </a:xfrm>
          <a:prstGeom prst="rect">
            <a:avLst/>
          </a:prstGeom>
          <a:noFill/>
          <a:ln/>
        </p:spPr>
        <p:txBody>
          <a:bodyPr wrap="square" lIns="0" tIns="0" rIns="0" bIns="0" rtlCol="0" anchor="t"/>
          <a:lstStyle/>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Unlike sampling error, non-sampling error is NOT unavoidable — it comes from how the data was collected, entered, or reported, and better process can reduce it</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Measurement error: a faulty scale, a poorly worded survey question, or an inconsistent way of recording something</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Non-response error: the people who didn’t answer your survey may differ systematically from those who did</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Data entry error: simple typos, duplicate records, or a unit mismatch (recording kg as lbs) during data collection</a:t>
            </a:r>
            <a:endParaRPr lang="en-US" sz="1600" dirty="0"/>
          </a:p>
        </p:txBody>
      </p:sp>
      <p:sp>
        <p:nvSpPr>
          <p:cNvPr id="11" name="Text 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2" name="Text 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Common Sources of Non-Sampling Error, at a Glance</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08760"/>
            <a:ext cx="3611880" cy="4892040"/>
          </a:xfrm>
          <a:prstGeom prst="roundRect">
            <a:avLst>
              <a:gd name="adj" fmla="val 4051"/>
            </a:avLst>
          </a:prstGeom>
          <a:solidFill>
            <a:srgbClr val="EDE9FE"/>
          </a:solidFill>
          <a:ln w="12700">
            <a:solidFill>
              <a:srgbClr val="D8D2F5"/>
            </a:solidFill>
            <a:prstDash val="solid"/>
          </a:ln>
        </p:spPr>
      </p:sp>
      <p:sp>
        <p:nvSpPr>
          <p:cNvPr id="7" name="Shape 4"/>
          <p:cNvSpPr/>
          <p:nvPr/>
        </p:nvSpPr>
        <p:spPr>
          <a:xfrm>
            <a:off x="1988820" y="2093976"/>
            <a:ext cx="548640" cy="54864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2071116" y="2176272"/>
            <a:ext cx="384048" cy="384048"/>
          </a:xfrm>
          <a:prstGeom prst="rect">
            <a:avLst/>
          </a:prstGeom>
        </p:spPr>
      </p:pic>
      <p:sp>
        <p:nvSpPr>
          <p:cNvPr id="9" name="Text 5"/>
          <p:cNvSpPr/>
          <p:nvPr/>
        </p:nvSpPr>
        <p:spPr>
          <a:xfrm>
            <a:off x="548640" y="2715768"/>
            <a:ext cx="3429000"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Measurement Error</a:t>
            </a:r>
            <a:endParaRPr lang="en-US" sz="1300" dirty="0"/>
          </a:p>
        </p:txBody>
      </p:sp>
      <p:sp>
        <p:nvSpPr>
          <p:cNvPr id="10" name="Text 6"/>
          <p:cNvSpPr/>
          <p:nvPr/>
        </p:nvSpPr>
        <p:spPr>
          <a:xfrm>
            <a:off x="603504" y="3099816"/>
            <a:ext cx="3319272"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The tool, question, or process used to record the data was flawed or inconsistent</a:t>
            </a:r>
            <a:endParaRPr lang="en-US" sz="1100" dirty="0"/>
          </a:p>
        </p:txBody>
      </p:sp>
      <p:sp>
        <p:nvSpPr>
          <p:cNvPr id="11" name="Shape 7"/>
          <p:cNvSpPr/>
          <p:nvPr/>
        </p:nvSpPr>
        <p:spPr>
          <a:xfrm>
            <a:off x="4288536" y="1508760"/>
            <a:ext cx="3611880" cy="4892040"/>
          </a:xfrm>
          <a:prstGeom prst="roundRect">
            <a:avLst>
              <a:gd name="adj" fmla="val 4051"/>
            </a:avLst>
          </a:prstGeom>
          <a:solidFill>
            <a:srgbClr val="FFF6DC"/>
          </a:solidFill>
          <a:ln w="12700">
            <a:solidFill>
              <a:srgbClr val="D8D2F5"/>
            </a:solidFill>
            <a:prstDash val="solid"/>
          </a:ln>
        </p:spPr>
      </p:sp>
      <p:sp>
        <p:nvSpPr>
          <p:cNvPr id="12" name="Shape 8"/>
          <p:cNvSpPr/>
          <p:nvPr/>
        </p:nvSpPr>
        <p:spPr>
          <a:xfrm>
            <a:off x="5820156" y="2093976"/>
            <a:ext cx="548640" cy="548640"/>
          </a:xfrm>
          <a:prstGeom prst="ellipse">
            <a:avLst/>
          </a:prstGeom>
          <a:solidFill>
            <a:srgbClr val="FFC94A"/>
          </a:solidFill>
          <a:ln/>
        </p:spPr>
      </p:sp>
      <p:pic>
        <p:nvPicPr>
          <p:cNvPr id="13" name="Image 2" descr="preencoded.png">    </p:cNvPr>
          <p:cNvPicPr>
            <a:picLocks noChangeAspect="1"/>
          </p:cNvPicPr>
          <p:nvPr/>
        </p:nvPicPr>
        <p:blipFill>
          <a:blip r:embed="rId3"/>
          <a:stretch>
            <a:fillRect/>
          </a:stretch>
        </p:blipFill>
        <p:spPr>
          <a:xfrm>
            <a:off x="5902452" y="2176272"/>
            <a:ext cx="384048" cy="384048"/>
          </a:xfrm>
          <a:prstGeom prst="rect">
            <a:avLst/>
          </a:prstGeom>
        </p:spPr>
      </p:pic>
      <p:sp>
        <p:nvSpPr>
          <p:cNvPr id="14" name="Text 9"/>
          <p:cNvSpPr/>
          <p:nvPr/>
        </p:nvSpPr>
        <p:spPr>
          <a:xfrm>
            <a:off x="4379976" y="2715768"/>
            <a:ext cx="3429000"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Non-Response Error</a:t>
            </a:r>
            <a:endParaRPr lang="en-US" sz="1300" dirty="0"/>
          </a:p>
        </p:txBody>
      </p:sp>
      <p:sp>
        <p:nvSpPr>
          <p:cNvPr id="15" name="Text 10"/>
          <p:cNvSpPr/>
          <p:nvPr/>
        </p:nvSpPr>
        <p:spPr>
          <a:xfrm>
            <a:off x="4434840" y="3099816"/>
            <a:ext cx="3319272"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The people who didn’t respond likely differ from those who did, skewing results</a:t>
            </a:r>
            <a:endParaRPr lang="en-US" sz="1100" dirty="0"/>
          </a:p>
        </p:txBody>
      </p:sp>
      <p:sp>
        <p:nvSpPr>
          <p:cNvPr id="16" name="Shape 11"/>
          <p:cNvSpPr/>
          <p:nvPr/>
        </p:nvSpPr>
        <p:spPr>
          <a:xfrm>
            <a:off x="8119872" y="1508760"/>
            <a:ext cx="3611880" cy="4892040"/>
          </a:xfrm>
          <a:prstGeom prst="roundRect">
            <a:avLst>
              <a:gd name="adj" fmla="val 4051"/>
            </a:avLst>
          </a:prstGeom>
          <a:solidFill>
            <a:srgbClr val="E3FBF3"/>
          </a:solidFill>
          <a:ln w="12700">
            <a:solidFill>
              <a:srgbClr val="D8D2F5"/>
            </a:solidFill>
            <a:prstDash val="solid"/>
          </a:ln>
        </p:spPr>
      </p:sp>
      <p:sp>
        <p:nvSpPr>
          <p:cNvPr id="17" name="Shape 12"/>
          <p:cNvSpPr/>
          <p:nvPr/>
        </p:nvSpPr>
        <p:spPr>
          <a:xfrm>
            <a:off x="9651492" y="2093976"/>
            <a:ext cx="548640" cy="548640"/>
          </a:xfrm>
          <a:prstGeom prst="ellipse">
            <a:avLst/>
          </a:prstGeom>
          <a:solidFill>
            <a:srgbClr val="5FD6B0"/>
          </a:solidFill>
          <a:ln/>
        </p:spPr>
      </p:sp>
      <p:pic>
        <p:nvPicPr>
          <p:cNvPr id="18" name="Image 3" descr="preencoded.png">    </p:cNvPr>
          <p:cNvPicPr>
            <a:picLocks noChangeAspect="1"/>
          </p:cNvPicPr>
          <p:nvPr/>
        </p:nvPicPr>
        <p:blipFill>
          <a:blip r:embed="rId4"/>
          <a:stretch>
            <a:fillRect/>
          </a:stretch>
        </p:blipFill>
        <p:spPr>
          <a:xfrm>
            <a:off x="9733788" y="2176272"/>
            <a:ext cx="384048" cy="384048"/>
          </a:xfrm>
          <a:prstGeom prst="rect">
            <a:avLst/>
          </a:prstGeom>
        </p:spPr>
      </p:pic>
      <p:sp>
        <p:nvSpPr>
          <p:cNvPr id="19" name="Text 13"/>
          <p:cNvSpPr/>
          <p:nvPr/>
        </p:nvSpPr>
        <p:spPr>
          <a:xfrm>
            <a:off x="8211312" y="2715768"/>
            <a:ext cx="3429000"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Data Entry Error</a:t>
            </a:r>
            <a:endParaRPr lang="en-US" sz="1300" dirty="0"/>
          </a:p>
        </p:txBody>
      </p:sp>
      <p:sp>
        <p:nvSpPr>
          <p:cNvPr id="20" name="Text 14"/>
          <p:cNvSpPr/>
          <p:nvPr/>
        </p:nvSpPr>
        <p:spPr>
          <a:xfrm>
            <a:off x="8266176" y="3099816"/>
            <a:ext cx="3319272"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Typos, duplicates, and unit mismatches introduced while recording or storing data</a:t>
            </a:r>
            <a:endParaRPr lang="en-US" sz="1100" dirty="0"/>
          </a:p>
        </p:txBody>
      </p:sp>
      <p:sp>
        <p:nvSpPr>
          <p:cNvPr id="21" name="Text 15"/>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22"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Bias — Not the Same Thing as Error</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54480"/>
            <a:ext cx="3657600" cy="4663440"/>
          </a:xfrm>
          <a:prstGeom prst="roundRect">
            <a:avLst>
              <a:gd name="adj" fmla="val 4500"/>
            </a:avLst>
          </a:prstGeom>
          <a:solidFill>
            <a:srgbClr val="EDE9FE"/>
          </a:solidFill>
          <a:ln w="12700">
            <a:solidFill>
              <a:srgbClr val="D8D2F5"/>
            </a:solidFill>
            <a:prstDash val="solid"/>
          </a:ln>
        </p:spPr>
      </p:sp>
      <p:sp>
        <p:nvSpPr>
          <p:cNvPr id="7" name="Shape 4"/>
          <p:cNvSpPr/>
          <p:nvPr/>
        </p:nvSpPr>
        <p:spPr>
          <a:xfrm>
            <a:off x="1508760" y="2194560"/>
            <a:ext cx="1554480" cy="1554480"/>
          </a:xfrm>
          <a:prstGeom prst="ellipse">
            <a:avLst/>
          </a:prstGeom>
          <a:solidFill>
            <a:srgbClr val="FF8FB3"/>
          </a:solidFill>
          <a:ln/>
        </p:spPr>
      </p:sp>
      <p:pic>
        <p:nvPicPr>
          <p:cNvPr id="8" name="Image 1" descr="preencoded.png">    </p:cNvPr>
          <p:cNvPicPr>
            <a:picLocks noChangeAspect="1"/>
          </p:cNvPicPr>
          <p:nvPr/>
        </p:nvPicPr>
        <p:blipFill>
          <a:blip r:embed="rId2"/>
          <a:stretch>
            <a:fillRect/>
          </a:stretch>
        </p:blipFill>
        <p:spPr>
          <a:xfrm>
            <a:off x="1746504" y="2423160"/>
            <a:ext cx="1088136" cy="1088136"/>
          </a:xfrm>
          <a:prstGeom prst="rect">
            <a:avLst/>
          </a:prstGeom>
        </p:spPr>
      </p:pic>
      <p:sp>
        <p:nvSpPr>
          <p:cNvPr id="9" name="Text 5"/>
          <p:cNvSpPr/>
          <p:nvPr/>
        </p:nvSpPr>
        <p:spPr>
          <a:xfrm>
            <a:off x="640080" y="3977640"/>
            <a:ext cx="3291840" cy="1737360"/>
          </a:xfrm>
          <a:prstGeom prst="rect">
            <a:avLst/>
          </a:prstGeom>
          <a:noFill/>
          <a:ln/>
        </p:spPr>
        <p:txBody>
          <a:bodyPr wrap="square" lIns="0" tIns="0" rIns="0" bIns="0" rtlCol="0" anchor="t"/>
          <a:lstStyle/>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Systematic,</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not</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random</a:t>
            </a:r>
            <a:endParaRPr lang="en-US" sz="1600" dirty="0"/>
          </a:p>
        </p:txBody>
      </p:sp>
      <p:sp>
        <p:nvSpPr>
          <p:cNvPr id="10" name="Text 6"/>
          <p:cNvSpPr/>
          <p:nvPr/>
        </p:nvSpPr>
        <p:spPr>
          <a:xfrm>
            <a:off x="4572000" y="1737360"/>
            <a:ext cx="7132320" cy="4114800"/>
          </a:xfrm>
          <a:prstGeom prst="rect">
            <a:avLst/>
          </a:prstGeom>
          <a:noFill/>
          <a:ln/>
        </p:spPr>
        <p:txBody>
          <a:bodyPr wrap="square" lIns="0" tIns="0" rIns="0" bIns="0" rtlCol="0" anchor="t"/>
          <a:lstStyle/>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Random error scatters your data around the true value — sometimes too high, sometimes too low, roughly canceling out on average</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Bias pushes your data consistently in ONE direction — it doesn’t cancel out no matter how much data you collect, because the flaw is systematic, not random</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This is exactly why sampling error shrinks with a bigger sample, but bias does not — a biased sampling method just gives you a more precisely wrong answer with more data</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Recognizing bias means looking critically at HOW data was collected, not just how much of it there is</a:t>
            </a:r>
            <a:endParaRPr lang="en-US" sz="1600" dirty="0"/>
          </a:p>
        </p:txBody>
      </p:sp>
      <p:sp>
        <p:nvSpPr>
          <p:cNvPr id="11" name="Text 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2" name="Text 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Common Types of Bias</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08760"/>
            <a:ext cx="2654046" cy="4892040"/>
          </a:xfrm>
          <a:prstGeom prst="roundRect">
            <a:avLst>
              <a:gd name="adj" fmla="val 5512"/>
            </a:avLst>
          </a:prstGeom>
          <a:solidFill>
            <a:srgbClr val="EDE9FE"/>
          </a:solidFill>
          <a:ln w="12700">
            <a:solidFill>
              <a:srgbClr val="D8D2F5"/>
            </a:solidFill>
            <a:prstDash val="solid"/>
          </a:ln>
        </p:spPr>
      </p:sp>
      <p:sp>
        <p:nvSpPr>
          <p:cNvPr id="7" name="Shape 4"/>
          <p:cNvSpPr/>
          <p:nvPr/>
        </p:nvSpPr>
        <p:spPr>
          <a:xfrm>
            <a:off x="1509903" y="2093976"/>
            <a:ext cx="548640" cy="54864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1592199" y="2176272"/>
            <a:ext cx="384048" cy="384048"/>
          </a:xfrm>
          <a:prstGeom prst="rect">
            <a:avLst/>
          </a:prstGeom>
        </p:spPr>
      </p:pic>
      <p:sp>
        <p:nvSpPr>
          <p:cNvPr id="9" name="Text 5"/>
          <p:cNvSpPr/>
          <p:nvPr/>
        </p:nvSpPr>
        <p:spPr>
          <a:xfrm>
            <a:off x="548640" y="2715768"/>
            <a:ext cx="2471166"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Selection Bias</a:t>
            </a:r>
            <a:endParaRPr lang="en-US" sz="1300" dirty="0"/>
          </a:p>
        </p:txBody>
      </p:sp>
      <p:sp>
        <p:nvSpPr>
          <p:cNvPr id="10" name="Text 6"/>
          <p:cNvSpPr/>
          <p:nvPr/>
        </p:nvSpPr>
        <p:spPr>
          <a:xfrm>
            <a:off x="603504" y="3099816"/>
            <a:ext cx="2361438"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The sample systematically favors certain members of the population over others</a:t>
            </a:r>
            <a:endParaRPr lang="en-US" sz="1100" dirty="0"/>
          </a:p>
        </p:txBody>
      </p:sp>
      <p:sp>
        <p:nvSpPr>
          <p:cNvPr id="11" name="Shape 7"/>
          <p:cNvSpPr/>
          <p:nvPr/>
        </p:nvSpPr>
        <p:spPr>
          <a:xfrm>
            <a:off x="3330702" y="1508760"/>
            <a:ext cx="2654046" cy="4892040"/>
          </a:xfrm>
          <a:prstGeom prst="roundRect">
            <a:avLst>
              <a:gd name="adj" fmla="val 5512"/>
            </a:avLst>
          </a:prstGeom>
          <a:solidFill>
            <a:srgbClr val="FFF6DC"/>
          </a:solidFill>
          <a:ln w="12700">
            <a:solidFill>
              <a:srgbClr val="D8D2F5"/>
            </a:solidFill>
            <a:prstDash val="solid"/>
          </a:ln>
        </p:spPr>
      </p:sp>
      <p:sp>
        <p:nvSpPr>
          <p:cNvPr id="12" name="Shape 8"/>
          <p:cNvSpPr/>
          <p:nvPr/>
        </p:nvSpPr>
        <p:spPr>
          <a:xfrm>
            <a:off x="4383405" y="2093976"/>
            <a:ext cx="548640" cy="548640"/>
          </a:xfrm>
          <a:prstGeom prst="ellipse">
            <a:avLst/>
          </a:prstGeom>
          <a:solidFill>
            <a:srgbClr val="FFC94A"/>
          </a:solidFill>
          <a:ln/>
        </p:spPr>
      </p:sp>
      <p:pic>
        <p:nvPicPr>
          <p:cNvPr id="13" name="Image 2" descr="preencoded.png">    </p:cNvPr>
          <p:cNvPicPr>
            <a:picLocks noChangeAspect="1"/>
          </p:cNvPicPr>
          <p:nvPr/>
        </p:nvPicPr>
        <p:blipFill>
          <a:blip r:embed="rId3"/>
          <a:stretch>
            <a:fillRect/>
          </a:stretch>
        </p:blipFill>
        <p:spPr>
          <a:xfrm>
            <a:off x="4465701" y="2176272"/>
            <a:ext cx="384048" cy="384048"/>
          </a:xfrm>
          <a:prstGeom prst="rect">
            <a:avLst/>
          </a:prstGeom>
        </p:spPr>
      </p:pic>
      <p:sp>
        <p:nvSpPr>
          <p:cNvPr id="14" name="Text 9"/>
          <p:cNvSpPr/>
          <p:nvPr/>
        </p:nvSpPr>
        <p:spPr>
          <a:xfrm>
            <a:off x="3422142" y="2715768"/>
            <a:ext cx="2471166"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Confirmation Bias</a:t>
            </a:r>
            <a:endParaRPr lang="en-US" sz="1300" dirty="0"/>
          </a:p>
        </p:txBody>
      </p:sp>
      <p:sp>
        <p:nvSpPr>
          <p:cNvPr id="15" name="Text 10"/>
          <p:cNvSpPr/>
          <p:nvPr/>
        </p:nvSpPr>
        <p:spPr>
          <a:xfrm>
            <a:off x="3477006" y="3099816"/>
            <a:ext cx="2361438"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Collecting or interpreting data in a way that favors what you already expected to find</a:t>
            </a:r>
            <a:endParaRPr lang="en-US" sz="1100" dirty="0"/>
          </a:p>
        </p:txBody>
      </p:sp>
      <p:sp>
        <p:nvSpPr>
          <p:cNvPr id="16" name="Shape 11"/>
          <p:cNvSpPr/>
          <p:nvPr/>
        </p:nvSpPr>
        <p:spPr>
          <a:xfrm>
            <a:off x="6204204" y="1508760"/>
            <a:ext cx="2654046" cy="4892040"/>
          </a:xfrm>
          <a:prstGeom prst="roundRect">
            <a:avLst>
              <a:gd name="adj" fmla="val 5512"/>
            </a:avLst>
          </a:prstGeom>
          <a:solidFill>
            <a:srgbClr val="E3FBF3"/>
          </a:solidFill>
          <a:ln w="12700">
            <a:solidFill>
              <a:srgbClr val="D8D2F5"/>
            </a:solidFill>
            <a:prstDash val="solid"/>
          </a:ln>
        </p:spPr>
      </p:sp>
      <p:sp>
        <p:nvSpPr>
          <p:cNvPr id="17" name="Shape 12"/>
          <p:cNvSpPr/>
          <p:nvPr/>
        </p:nvSpPr>
        <p:spPr>
          <a:xfrm>
            <a:off x="7256907" y="2093976"/>
            <a:ext cx="548640" cy="548640"/>
          </a:xfrm>
          <a:prstGeom prst="ellipse">
            <a:avLst/>
          </a:prstGeom>
          <a:solidFill>
            <a:srgbClr val="5FD6B0"/>
          </a:solidFill>
          <a:ln/>
        </p:spPr>
      </p:sp>
      <p:pic>
        <p:nvPicPr>
          <p:cNvPr id="18" name="Image 3" descr="preencoded.png">    </p:cNvPr>
          <p:cNvPicPr>
            <a:picLocks noChangeAspect="1"/>
          </p:cNvPicPr>
          <p:nvPr/>
        </p:nvPicPr>
        <p:blipFill>
          <a:blip r:embed="rId4"/>
          <a:stretch>
            <a:fillRect/>
          </a:stretch>
        </p:blipFill>
        <p:spPr>
          <a:xfrm>
            <a:off x="7339203" y="2176272"/>
            <a:ext cx="384048" cy="384048"/>
          </a:xfrm>
          <a:prstGeom prst="rect">
            <a:avLst/>
          </a:prstGeom>
        </p:spPr>
      </p:pic>
      <p:sp>
        <p:nvSpPr>
          <p:cNvPr id="19" name="Text 13"/>
          <p:cNvSpPr/>
          <p:nvPr/>
        </p:nvSpPr>
        <p:spPr>
          <a:xfrm>
            <a:off x="6295644" y="2715768"/>
            <a:ext cx="2471166"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Response Bias</a:t>
            </a:r>
            <a:endParaRPr lang="en-US" sz="1300" dirty="0"/>
          </a:p>
        </p:txBody>
      </p:sp>
      <p:sp>
        <p:nvSpPr>
          <p:cNvPr id="20" name="Text 14"/>
          <p:cNvSpPr/>
          <p:nvPr/>
        </p:nvSpPr>
        <p:spPr>
          <a:xfrm>
            <a:off x="6350508" y="3099816"/>
            <a:ext cx="2361438"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People answer inaccurately, often to appear more socially acceptable than their true answer</a:t>
            </a:r>
            <a:endParaRPr lang="en-US" sz="1100" dirty="0"/>
          </a:p>
        </p:txBody>
      </p:sp>
      <p:sp>
        <p:nvSpPr>
          <p:cNvPr id="21" name="Shape 15"/>
          <p:cNvSpPr/>
          <p:nvPr/>
        </p:nvSpPr>
        <p:spPr>
          <a:xfrm>
            <a:off x="9077706" y="1508760"/>
            <a:ext cx="2654046" cy="4892040"/>
          </a:xfrm>
          <a:prstGeom prst="roundRect">
            <a:avLst>
              <a:gd name="adj" fmla="val 5512"/>
            </a:avLst>
          </a:prstGeom>
          <a:solidFill>
            <a:srgbClr val="EDE9FE"/>
          </a:solidFill>
          <a:ln w="12700">
            <a:solidFill>
              <a:srgbClr val="D8D2F5"/>
            </a:solidFill>
            <a:prstDash val="solid"/>
          </a:ln>
        </p:spPr>
      </p:sp>
      <p:sp>
        <p:nvSpPr>
          <p:cNvPr id="22" name="Shape 16"/>
          <p:cNvSpPr/>
          <p:nvPr/>
        </p:nvSpPr>
        <p:spPr>
          <a:xfrm>
            <a:off x="10130409" y="2093976"/>
            <a:ext cx="548640" cy="548640"/>
          </a:xfrm>
          <a:prstGeom prst="ellipse">
            <a:avLst/>
          </a:prstGeom>
          <a:solidFill>
            <a:srgbClr val="FF8FB3"/>
          </a:solidFill>
          <a:ln/>
        </p:spPr>
      </p:sp>
      <p:pic>
        <p:nvPicPr>
          <p:cNvPr id="23" name="Image 4" descr="preencoded.png">    </p:cNvPr>
          <p:cNvPicPr>
            <a:picLocks noChangeAspect="1"/>
          </p:cNvPicPr>
          <p:nvPr/>
        </p:nvPicPr>
        <p:blipFill>
          <a:blip r:embed="rId5"/>
          <a:stretch>
            <a:fillRect/>
          </a:stretch>
        </p:blipFill>
        <p:spPr>
          <a:xfrm>
            <a:off x="10212705" y="2176272"/>
            <a:ext cx="384048" cy="384048"/>
          </a:xfrm>
          <a:prstGeom prst="rect">
            <a:avLst/>
          </a:prstGeom>
        </p:spPr>
      </p:pic>
      <p:sp>
        <p:nvSpPr>
          <p:cNvPr id="24" name="Text 17"/>
          <p:cNvSpPr/>
          <p:nvPr/>
        </p:nvSpPr>
        <p:spPr>
          <a:xfrm>
            <a:off x="9169146" y="2715768"/>
            <a:ext cx="2471166"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Survivorship Bias</a:t>
            </a:r>
            <a:endParaRPr lang="en-US" sz="1300" dirty="0"/>
          </a:p>
        </p:txBody>
      </p:sp>
      <p:sp>
        <p:nvSpPr>
          <p:cNvPr id="25" name="Text 18"/>
          <p:cNvSpPr/>
          <p:nvPr/>
        </p:nvSpPr>
        <p:spPr>
          <a:xfrm>
            <a:off x="9224010" y="3099816"/>
            <a:ext cx="2361438"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Only the "survivors" of a process get measured, hiding the failures that dropped out</a:t>
            </a:r>
            <a:endParaRPr lang="en-US" sz="1100" dirty="0"/>
          </a:p>
        </p:txBody>
      </p:sp>
      <p:sp>
        <p:nvSpPr>
          <p:cNvPr id="26" name="Text 19"/>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27" name="Text 20"/>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How to Actually Reduce Bias</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54480"/>
            <a:ext cx="3657600" cy="4663440"/>
          </a:xfrm>
          <a:prstGeom prst="roundRect">
            <a:avLst>
              <a:gd name="adj" fmla="val 4500"/>
            </a:avLst>
          </a:prstGeom>
          <a:solidFill>
            <a:srgbClr val="EDE9FE"/>
          </a:solidFill>
          <a:ln w="12700">
            <a:solidFill>
              <a:srgbClr val="D8D2F5"/>
            </a:solidFill>
            <a:prstDash val="solid"/>
          </a:ln>
        </p:spPr>
      </p:sp>
      <p:sp>
        <p:nvSpPr>
          <p:cNvPr id="7" name="Shape 4"/>
          <p:cNvSpPr/>
          <p:nvPr/>
        </p:nvSpPr>
        <p:spPr>
          <a:xfrm>
            <a:off x="1508760" y="2194560"/>
            <a:ext cx="1554480" cy="155448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1746504" y="2423160"/>
            <a:ext cx="1088136" cy="1088136"/>
          </a:xfrm>
          <a:prstGeom prst="rect">
            <a:avLst/>
          </a:prstGeom>
        </p:spPr>
      </p:pic>
      <p:sp>
        <p:nvSpPr>
          <p:cNvPr id="9" name="Text 5"/>
          <p:cNvSpPr/>
          <p:nvPr/>
        </p:nvSpPr>
        <p:spPr>
          <a:xfrm>
            <a:off x="640080" y="3977640"/>
            <a:ext cx="3291840" cy="1737360"/>
          </a:xfrm>
          <a:prstGeom prst="rect">
            <a:avLst/>
          </a:prstGeom>
          <a:noFill/>
          <a:ln/>
        </p:spPr>
        <p:txBody>
          <a:bodyPr wrap="square" lIns="0" tIns="0" rIns="0" bIns="0" rtlCol="0" anchor="t"/>
          <a:lstStyle/>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Design it</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out, before</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collecting</a:t>
            </a:r>
            <a:endParaRPr lang="en-US" sz="1600" dirty="0"/>
          </a:p>
        </p:txBody>
      </p:sp>
      <p:sp>
        <p:nvSpPr>
          <p:cNvPr id="10" name="Text 6"/>
          <p:cNvSpPr/>
          <p:nvPr/>
        </p:nvSpPr>
        <p:spPr>
          <a:xfrm>
            <a:off x="4572000" y="1737360"/>
            <a:ext cx="7132320" cy="4114800"/>
          </a:xfrm>
          <a:prstGeom prst="rect">
            <a:avLst/>
          </a:prstGeom>
          <a:noFill/>
          <a:ln/>
        </p:spPr>
        <p:txBody>
          <a:bodyPr wrap="square" lIns="0" tIns="0" rIns="0" bIns="0" rtlCol="0" anchor="t"/>
          <a:lstStyle/>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Randomization: using genuine probability sampling gives every member a fair, known chance of selection, directly countering selection bias</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Standardized instruments: using the exact same questions, wording, and measurement process for everyone reduces measurement and response bias</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Blinding: keeping data collectors unaware of the hypothesis being tested reduces the chance their expectations influence the results</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Pilot testing: trying your data collection process on a small group first surfaces confusing questions or flawed measurements before they contaminate the real dataset</a:t>
            </a:r>
            <a:endParaRPr lang="en-US" sz="1600" dirty="0"/>
          </a:p>
        </p:txBody>
      </p:sp>
      <p:sp>
        <p:nvSpPr>
          <p:cNvPr id="11" name="Text 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2" name="Text 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Practice Set — Errors &amp; Bias</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600200"/>
            <a:ext cx="11274552" cy="4480560"/>
          </a:xfrm>
          <a:prstGeom prst="roundRect">
            <a:avLst>
              <a:gd name="adj" fmla="val 3673"/>
            </a:avLst>
          </a:prstGeom>
          <a:solidFill>
            <a:srgbClr val="EDE9FE"/>
          </a:solidFill>
          <a:ln w="12700">
            <a:solidFill>
              <a:srgbClr val="D8D2F5"/>
            </a:solidFill>
            <a:prstDash val="solid"/>
          </a:ln>
        </p:spPr>
      </p:sp>
      <p:sp>
        <p:nvSpPr>
          <p:cNvPr id="7" name="Text 4"/>
          <p:cNvSpPr/>
          <p:nvPr/>
        </p:nvSpPr>
        <p:spPr>
          <a:xfrm>
            <a:off x="822960" y="1828800"/>
            <a:ext cx="10515600" cy="457200"/>
          </a:xfrm>
          <a:prstGeom prst="rect">
            <a:avLst/>
          </a:prstGeom>
          <a:noFill/>
          <a:ln/>
        </p:spPr>
        <p:txBody>
          <a:bodyPr wrap="square" lIns="0" tIns="0" rIns="0" bIns="0" rtlCol="0" anchor="ctr"/>
          <a:lstStyle/>
          <a:p>
            <a:pPr indent="0" marL="0">
              <a:buNone/>
            </a:pPr>
            <a:r>
              <a:rPr lang="en-US" sz="1500" b="1" dirty="0">
                <a:solidFill>
                  <a:srgbClr val="2D2A4A"/>
                </a:solidFill>
                <a:latin typeface="Century Gothic" pitchFamily="34" charset="0"/>
                <a:ea typeface="Century Gothic" pitchFamily="34" charset="-122"/>
                <a:cs typeface="Century Gothic" pitchFamily="34" charset="-120"/>
              </a:rPr>
              <a:t>Try these yourself first — that's the point</a:t>
            </a:r>
            <a:endParaRPr lang="en-US" sz="1500" dirty="0"/>
          </a:p>
        </p:txBody>
      </p:sp>
      <p:sp>
        <p:nvSpPr>
          <p:cNvPr id="8" name="Shape 5"/>
          <p:cNvSpPr/>
          <p:nvPr/>
        </p:nvSpPr>
        <p:spPr>
          <a:xfrm>
            <a:off x="822960" y="2423160"/>
            <a:ext cx="384048" cy="384048"/>
          </a:xfrm>
          <a:prstGeom prst="ellipse">
            <a:avLst/>
          </a:prstGeom>
          <a:solidFill>
            <a:srgbClr val="8B7FE8"/>
          </a:solidFill>
          <a:ln/>
        </p:spPr>
      </p:sp>
      <p:sp>
        <p:nvSpPr>
          <p:cNvPr id="9" name="Text 6"/>
          <p:cNvSpPr/>
          <p:nvPr/>
        </p:nvSpPr>
        <p:spPr>
          <a:xfrm>
            <a:off x="822960" y="2423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p:nvPr/>
        </p:nvSpPr>
        <p:spPr>
          <a:xfrm>
            <a:off x="1435608" y="2423160"/>
            <a:ext cx="9582912" cy="384048"/>
          </a:xfrm>
          <a:prstGeom prst="rect">
            <a:avLst/>
          </a:prstGeom>
          <a:noFill/>
          <a:ln/>
        </p:spPr>
        <p:txBody>
          <a:bodyPr wrap="square" lIns="0" tIns="0" rIns="0" bIns="0" rtlCol="0" anchor="ctr"/>
          <a:lstStyle/>
          <a:p>
            <a:pPr indent="0" marL="0">
              <a:buNone/>
            </a:pPr>
            <a:r>
              <a:rPr lang="en-US" sz="1250" dirty="0">
                <a:solidFill>
                  <a:srgbClr val="2D2A4A"/>
                </a:solidFill>
                <a:latin typeface="Calibri" pitchFamily="34" charset="0"/>
                <a:ea typeface="Calibri" pitchFamily="34" charset="-122"/>
                <a:cs typeface="Calibri" pitchFamily="34" charset="-120"/>
              </a:rPr>
              <a:t>A survey about phone usage was only sent by email — explain what kind of error or bias this risks, and why</a:t>
            </a:r>
            <a:endParaRPr lang="en-US" sz="1250" dirty="0"/>
          </a:p>
        </p:txBody>
      </p:sp>
      <p:sp>
        <p:nvSpPr>
          <p:cNvPr id="11" name="Shape 8"/>
          <p:cNvSpPr/>
          <p:nvPr/>
        </p:nvSpPr>
        <p:spPr>
          <a:xfrm>
            <a:off x="822960" y="3300984"/>
            <a:ext cx="384048" cy="384048"/>
          </a:xfrm>
          <a:prstGeom prst="ellipse">
            <a:avLst/>
          </a:prstGeom>
          <a:solidFill>
            <a:srgbClr val="8B7FE8"/>
          </a:solidFill>
          <a:ln/>
        </p:spPr>
      </p:sp>
      <p:sp>
        <p:nvSpPr>
          <p:cNvPr id="12" name="Text 9"/>
          <p:cNvSpPr/>
          <p:nvPr/>
        </p:nvSpPr>
        <p:spPr>
          <a:xfrm>
            <a:off x="822960" y="3300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435608" y="3300984"/>
            <a:ext cx="9582912" cy="384048"/>
          </a:xfrm>
          <a:prstGeom prst="rect">
            <a:avLst/>
          </a:prstGeom>
          <a:noFill/>
          <a:ln/>
        </p:spPr>
        <p:txBody>
          <a:bodyPr wrap="square" lIns="0" tIns="0" rIns="0" bIns="0" rtlCol="0" anchor="ctr"/>
          <a:lstStyle/>
          <a:p>
            <a:pPr indent="0" marL="0">
              <a:buNone/>
            </a:pPr>
            <a:r>
              <a:rPr lang="en-US" sz="1250" dirty="0">
                <a:solidFill>
                  <a:srgbClr val="2D2A4A"/>
                </a:solidFill>
                <a:latin typeface="Calibri" pitchFamily="34" charset="0"/>
                <a:ea typeface="Calibri" pitchFamily="34" charset="-122"/>
                <a:cs typeface="Calibri" pitchFamily="34" charset="-120"/>
              </a:rPr>
              <a:t>Explain, in your own words, why bias doesn’t shrink with a larger sample size, while sampling error does</a:t>
            </a:r>
            <a:endParaRPr lang="en-US" sz="1250" dirty="0"/>
          </a:p>
        </p:txBody>
      </p:sp>
      <p:sp>
        <p:nvSpPr>
          <p:cNvPr id="14" name="Shape 11"/>
          <p:cNvSpPr/>
          <p:nvPr/>
        </p:nvSpPr>
        <p:spPr>
          <a:xfrm>
            <a:off x="822960" y="4178808"/>
            <a:ext cx="384048" cy="384048"/>
          </a:xfrm>
          <a:prstGeom prst="ellipse">
            <a:avLst/>
          </a:prstGeom>
          <a:solidFill>
            <a:srgbClr val="8B7FE8"/>
          </a:solidFill>
          <a:ln/>
        </p:spPr>
      </p:sp>
      <p:sp>
        <p:nvSpPr>
          <p:cNvPr id="15" name="Text 12"/>
          <p:cNvSpPr/>
          <p:nvPr/>
        </p:nvSpPr>
        <p:spPr>
          <a:xfrm>
            <a:off x="822960" y="4178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3"/>
          <p:cNvSpPr/>
          <p:nvPr/>
        </p:nvSpPr>
        <p:spPr>
          <a:xfrm>
            <a:off x="1435608" y="4178808"/>
            <a:ext cx="9582912" cy="384048"/>
          </a:xfrm>
          <a:prstGeom prst="rect">
            <a:avLst/>
          </a:prstGeom>
          <a:noFill/>
          <a:ln/>
        </p:spPr>
        <p:txBody>
          <a:bodyPr wrap="square" lIns="0" tIns="0" rIns="0" bIns="0" rtlCol="0" anchor="ctr"/>
          <a:lstStyle/>
          <a:p>
            <a:pPr indent="0" marL="0">
              <a:buNone/>
            </a:pPr>
            <a:r>
              <a:rPr lang="en-US" sz="1250" dirty="0">
                <a:solidFill>
                  <a:srgbClr val="2D2A4A"/>
                </a:solidFill>
                <a:latin typeface="Calibri" pitchFamily="34" charset="0"/>
                <a:ea typeface="Calibri" pitchFamily="34" charset="-122"/>
                <a:cs typeface="Calibri" pitchFamily="34" charset="-120"/>
              </a:rPr>
              <a:t>A fitness study only reports results from participants who completed the full 12-week program. Name this type of bias, and explain what’s being hidden</a:t>
            </a:r>
            <a:endParaRPr lang="en-US" sz="1250" dirty="0"/>
          </a:p>
        </p:txBody>
      </p:sp>
      <p:sp>
        <p:nvSpPr>
          <p:cNvPr id="17" name="Shape 14"/>
          <p:cNvSpPr/>
          <p:nvPr/>
        </p:nvSpPr>
        <p:spPr>
          <a:xfrm>
            <a:off x="822960" y="5056632"/>
            <a:ext cx="384048" cy="384048"/>
          </a:xfrm>
          <a:prstGeom prst="ellipse">
            <a:avLst/>
          </a:prstGeom>
          <a:solidFill>
            <a:srgbClr val="8B7FE8"/>
          </a:solidFill>
          <a:ln/>
        </p:spPr>
      </p:sp>
      <p:sp>
        <p:nvSpPr>
          <p:cNvPr id="18" name="Text 15"/>
          <p:cNvSpPr/>
          <p:nvPr/>
        </p:nvSpPr>
        <p:spPr>
          <a:xfrm>
            <a:off x="822960" y="5056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6"/>
          <p:cNvSpPr/>
          <p:nvPr/>
        </p:nvSpPr>
        <p:spPr>
          <a:xfrm>
            <a:off x="1435608" y="5056632"/>
            <a:ext cx="9582912" cy="384048"/>
          </a:xfrm>
          <a:prstGeom prst="rect">
            <a:avLst/>
          </a:prstGeom>
          <a:noFill/>
          <a:ln/>
        </p:spPr>
        <p:txBody>
          <a:bodyPr wrap="square" lIns="0" tIns="0" rIns="0" bIns="0" rtlCol="0" anchor="ctr"/>
          <a:lstStyle/>
          <a:p>
            <a:pPr indent="0" marL="0">
              <a:buNone/>
            </a:pPr>
            <a:r>
              <a:rPr lang="en-US" sz="1250" dirty="0">
                <a:solidFill>
                  <a:srgbClr val="2D2A4A"/>
                </a:solidFill>
                <a:latin typeface="Calibri" pitchFamily="34" charset="0"/>
                <a:ea typeface="Calibri" pitchFamily="34" charset="-122"/>
                <a:cs typeface="Calibri" pitchFamily="34" charset="-120"/>
              </a:rPr>
              <a:t>Suggest one practical way to reduce response bias in a survey about employee satisfaction with their manager</a:t>
            </a:r>
            <a:endParaRPr lang="en-US" sz="1250" dirty="0"/>
          </a:p>
        </p:txBody>
      </p:sp>
      <p:sp>
        <p:nvSpPr>
          <p:cNvPr id="20" name="Text 1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21" name="Text 1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39</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8FF"/>
        </a:solidFill>
      </p:bgPr>
    </p:bg>
    <p:spTree>
      <p:nvGrpSpPr>
        <p:cNvPr id="1" name=""/>
        <p:cNvGrpSpPr/>
        <p:nvPr/>
      </p:nvGrpSpPr>
      <p:grpSpPr>
        <a:xfrm>
          <a:off x="0" y="0"/>
          <a:ext cx="0" cy="0"/>
          <a:chOff x="0" y="0"/>
          <a:chExt cx="0" cy="0"/>
        </a:xfrm>
      </p:grpSpPr>
      <p:sp>
        <p:nvSpPr>
          <p:cNvPr id="2" name="Text 0"/>
          <p:cNvSpPr/>
          <p:nvPr/>
        </p:nvSpPr>
        <p:spPr>
          <a:xfrm>
            <a:off x="457200" y="457200"/>
            <a:ext cx="274320" cy="274320"/>
          </a:xfrm>
          <a:prstGeom prst="rect">
            <a:avLst/>
          </a:prstGeom>
          <a:noFill/>
          <a:ln/>
        </p:spPr>
        <p:txBody>
          <a:bodyPr wrap="square" lIns="0" tIns="0" rIns="0" bIns="0" rtlCol="0" anchor="ctr"/>
          <a:lstStyle/>
          <a:p>
            <a:pPr algn="ctr" indent="0" marL="0">
              <a:buNone/>
            </a:pPr>
            <a:r>
              <a:rPr lang="en-US" sz="1200" dirty="0">
                <a:solidFill>
                  <a:srgbClr val="5FD6B0"/>
                </a:solidFill>
              </a:rPr>
              <a:t>✦</a:t>
            </a:r>
            <a:endParaRPr lang="en-US" sz="1200" dirty="0"/>
          </a:p>
        </p:txBody>
      </p:sp>
      <p:sp>
        <p:nvSpPr>
          <p:cNvPr id="3" name="Text 1"/>
          <p:cNvSpPr/>
          <p:nvPr/>
        </p:nvSpPr>
        <p:spPr>
          <a:xfrm>
            <a:off x="11247120" y="548640"/>
            <a:ext cx="201168" cy="201168"/>
          </a:xfrm>
          <a:prstGeom prst="rect">
            <a:avLst/>
          </a:prstGeom>
          <a:noFill/>
          <a:ln/>
        </p:spPr>
        <p:txBody>
          <a:bodyPr wrap="square" lIns="0" tIns="0" rIns="0" bIns="0" rtlCol="0" anchor="ctr"/>
          <a:lstStyle/>
          <a:p>
            <a:pPr algn="ctr" indent="0" marL="0">
              <a:buNone/>
            </a:pPr>
            <a:r>
              <a:rPr lang="en-US" sz="880" dirty="0">
                <a:solidFill>
                  <a:srgbClr val="FFC94A"/>
                </a:solidFill>
              </a:rPr>
              <a:t>✦</a:t>
            </a:r>
            <a:endParaRPr lang="en-US" sz="880" dirty="0"/>
          </a:p>
        </p:txBody>
      </p:sp>
      <p:sp>
        <p:nvSpPr>
          <p:cNvPr id="4" name="Text 2"/>
          <p:cNvSpPr/>
          <p:nvPr/>
        </p:nvSpPr>
        <p:spPr>
          <a:xfrm>
            <a:off x="640080" y="6126480"/>
            <a:ext cx="228600" cy="228600"/>
          </a:xfrm>
          <a:prstGeom prst="rect">
            <a:avLst/>
          </a:prstGeom>
          <a:noFill/>
          <a:ln/>
        </p:spPr>
        <p:txBody>
          <a:bodyPr wrap="square" lIns="0" tIns="0" rIns="0" bIns="0" rtlCol="0" anchor="ctr"/>
          <a:lstStyle/>
          <a:p>
            <a:pPr algn="ctr" indent="0" marL="0">
              <a:buNone/>
            </a:pPr>
            <a:r>
              <a:rPr lang="en-US" sz="1000" dirty="0">
                <a:solidFill>
                  <a:srgbClr val="FF8FB3"/>
                </a:solidFill>
              </a:rPr>
              <a:t>✦</a:t>
            </a:r>
            <a:endParaRPr lang="en-US" sz="1000" dirty="0"/>
          </a:p>
        </p:txBody>
      </p:sp>
      <p:sp>
        <p:nvSpPr>
          <p:cNvPr id="5" name="Text 3"/>
          <p:cNvSpPr/>
          <p:nvPr/>
        </p:nvSpPr>
        <p:spPr>
          <a:xfrm>
            <a:off x="11338560" y="6035040"/>
            <a:ext cx="274320" cy="274320"/>
          </a:xfrm>
          <a:prstGeom prst="rect">
            <a:avLst/>
          </a:prstGeom>
          <a:noFill/>
          <a:ln/>
        </p:spPr>
        <p:txBody>
          <a:bodyPr wrap="square" lIns="0" tIns="0" rIns="0" bIns="0" rtlCol="0" anchor="ctr"/>
          <a:lstStyle/>
          <a:p>
            <a:pPr algn="ctr" indent="0" marL="0">
              <a:buNone/>
            </a:pPr>
            <a:r>
              <a:rPr lang="en-US" sz="1200" dirty="0">
                <a:solidFill>
                  <a:srgbClr val="8B7FE8"/>
                </a:solidFill>
              </a:rPr>
              <a:t>✦</a:t>
            </a:r>
            <a:endParaRPr lang="en-US" sz="1200" dirty="0"/>
          </a:p>
        </p:txBody>
      </p:sp>
      <p:sp>
        <p:nvSpPr>
          <p:cNvPr id="6" name="Shape 4"/>
          <p:cNvSpPr/>
          <p:nvPr/>
        </p:nvSpPr>
        <p:spPr>
          <a:xfrm rot="-90000">
            <a:off x="1874520" y="1325880"/>
            <a:ext cx="8805672" cy="777240"/>
          </a:xfrm>
          <a:prstGeom prst="roundRect">
            <a:avLst>
              <a:gd name="adj" fmla="val 17647"/>
            </a:avLst>
          </a:prstGeom>
          <a:solidFill>
            <a:srgbClr val="FFC94A"/>
          </a:solidFill>
          <a:ln/>
        </p:spPr>
      </p:sp>
      <p:sp>
        <p:nvSpPr>
          <p:cNvPr id="7" name="Shape 5"/>
          <p:cNvSpPr/>
          <p:nvPr/>
        </p:nvSpPr>
        <p:spPr>
          <a:xfrm>
            <a:off x="1691640" y="1188720"/>
            <a:ext cx="8805672" cy="777240"/>
          </a:xfrm>
          <a:prstGeom prst="roundRect">
            <a:avLst>
              <a:gd name="adj" fmla="val 17647"/>
            </a:avLst>
          </a:prstGeom>
          <a:solidFill>
            <a:srgbClr val="8B7FE8"/>
          </a:solidFill>
          <a:ln/>
        </p:spPr>
      </p:sp>
      <p:pic>
        <p:nvPicPr>
          <p:cNvPr id="8" name="Image 0" descr="preencoded.png">    </p:cNvPr>
          <p:cNvPicPr>
            <a:picLocks noChangeAspect="1"/>
          </p:cNvPicPr>
          <p:nvPr/>
        </p:nvPicPr>
        <p:blipFill>
          <a:blip r:embed="rId1"/>
          <a:stretch>
            <a:fillRect/>
          </a:stretch>
        </p:blipFill>
        <p:spPr>
          <a:xfrm>
            <a:off x="5870448" y="1348740"/>
            <a:ext cx="457200" cy="457200"/>
          </a:xfrm>
          <a:prstGeom prst="rect">
            <a:avLst/>
          </a:prstGeom>
        </p:spPr>
      </p:pic>
      <p:sp>
        <p:nvSpPr>
          <p:cNvPr id="9" name="Text 6"/>
          <p:cNvSpPr/>
          <p:nvPr/>
        </p:nvSpPr>
        <p:spPr>
          <a:xfrm>
            <a:off x="1691640" y="1188720"/>
            <a:ext cx="8805672" cy="777240"/>
          </a:xfrm>
          <a:prstGeom prst="rect">
            <a:avLst/>
          </a:prstGeom>
          <a:noFill/>
          <a:ln/>
        </p:spPr>
        <p:txBody>
          <a:bodyPr wrap="square" lIns="0" tIns="0" rIns="0" bIns="0" rtlCol="0" anchor="b"/>
          <a:lstStyle/>
          <a:p>
            <a:pPr algn="ctr" indent="0" marL="0">
              <a:buNone/>
            </a:pPr>
            <a:r>
              <a:rPr lang="en-US" sz="1200" b="1" spc="200" kern="0" dirty="0">
                <a:solidFill>
                  <a:srgbClr val="FFF6DC"/>
                </a:solidFill>
                <a:latin typeface="Calibri" pitchFamily="34" charset="0"/>
                <a:ea typeface="Calibri" pitchFamily="34" charset="-122"/>
                <a:cs typeface="Calibri" pitchFamily="34" charset="-120"/>
              </a:rPr>
              <a:t>PART 5</a:t>
            </a:r>
            <a:endParaRPr lang="en-US" sz="1200" dirty="0"/>
          </a:p>
        </p:txBody>
      </p:sp>
      <p:sp>
        <p:nvSpPr>
          <p:cNvPr id="10" name="Text 7"/>
          <p:cNvSpPr/>
          <p:nvPr/>
        </p:nvSpPr>
        <p:spPr>
          <a:xfrm>
            <a:off x="1097280" y="2331720"/>
            <a:ext cx="9994392" cy="1920240"/>
          </a:xfrm>
          <a:prstGeom prst="rect">
            <a:avLst/>
          </a:prstGeom>
          <a:noFill/>
          <a:ln/>
        </p:spPr>
        <p:txBody>
          <a:bodyPr wrap="square" lIns="0" tIns="0" rIns="0" bIns="0" rtlCol="0" anchor="t"/>
          <a:lstStyle/>
          <a:p>
            <a:pPr algn="ctr" indent="0" marL="0">
              <a:buNone/>
            </a:pPr>
            <a:r>
              <a:rPr lang="en-US" sz="2900" b="1" dirty="0">
                <a:solidFill>
                  <a:srgbClr val="2D2A4A"/>
                </a:solidFill>
                <a:latin typeface="Century Gothic" pitchFamily="34" charset="0"/>
                <a:ea typeface="Century Gothic" pitchFamily="34" charset="-122"/>
                <a:cs typeface="Century Gothic" pitchFamily="34" charset="-120"/>
              </a:rPr>
              <a:t>The Complete Chart &amp; Graph Catalog</a:t>
            </a:r>
            <a:endParaRPr lang="en-US" sz="2900" dirty="0"/>
          </a:p>
        </p:txBody>
      </p:sp>
      <p:sp>
        <p:nvSpPr>
          <p:cNvPr id="11" name="Text 8"/>
          <p:cNvSpPr/>
          <p:nvPr/>
        </p:nvSpPr>
        <p:spPr>
          <a:xfrm>
            <a:off x="1737360" y="4434840"/>
            <a:ext cx="8714232" cy="1097280"/>
          </a:xfrm>
          <a:prstGeom prst="rect">
            <a:avLst/>
          </a:prstGeom>
          <a:noFill/>
          <a:ln/>
        </p:spPr>
        <p:txBody>
          <a:bodyPr wrap="square" lIns="0" tIns="0" rIns="0" bIns="0" rtlCol="0" anchor="t"/>
          <a:lstStyle/>
          <a:p>
            <a:pPr algn="ctr" indent="0" marL="0">
              <a:buNone/>
            </a:pPr>
            <a:r>
              <a:rPr lang="en-US" sz="1500" dirty="0">
                <a:solidFill>
                  <a:srgbClr val="685F8F"/>
                </a:solidFill>
                <a:latin typeface="Calibri" pitchFamily="34" charset="0"/>
                <a:ea typeface="Calibri" pitchFamily="34" charset="-122"/>
                <a:cs typeface="Calibri" pitchFamily="34" charset="-120"/>
              </a:rPr>
              <a:t>A picture is only worth a thousand words if it’s the right picture — here’s how to choose one on purpose</a:t>
            </a:r>
            <a:endParaRPr lang="en-US" sz="1500" dirty="0"/>
          </a:p>
        </p:txBody>
      </p:sp>
      <p:sp>
        <p:nvSpPr>
          <p:cNvPr id="12" name="Text 9"/>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40</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Why Chart Choice Actually Matters</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54480"/>
            <a:ext cx="3657600" cy="4663440"/>
          </a:xfrm>
          <a:prstGeom prst="roundRect">
            <a:avLst>
              <a:gd name="adj" fmla="val 4500"/>
            </a:avLst>
          </a:prstGeom>
          <a:solidFill>
            <a:srgbClr val="EDE9FE"/>
          </a:solidFill>
          <a:ln w="12700">
            <a:solidFill>
              <a:srgbClr val="D8D2F5"/>
            </a:solidFill>
            <a:prstDash val="solid"/>
          </a:ln>
        </p:spPr>
      </p:sp>
      <p:sp>
        <p:nvSpPr>
          <p:cNvPr id="7" name="Shape 4"/>
          <p:cNvSpPr/>
          <p:nvPr/>
        </p:nvSpPr>
        <p:spPr>
          <a:xfrm>
            <a:off x="1508760" y="2194560"/>
            <a:ext cx="1554480" cy="155448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1746504" y="2423160"/>
            <a:ext cx="1088136" cy="1088136"/>
          </a:xfrm>
          <a:prstGeom prst="rect">
            <a:avLst/>
          </a:prstGeom>
        </p:spPr>
      </p:pic>
      <p:sp>
        <p:nvSpPr>
          <p:cNvPr id="9" name="Text 5"/>
          <p:cNvSpPr/>
          <p:nvPr/>
        </p:nvSpPr>
        <p:spPr>
          <a:xfrm>
            <a:off x="640080" y="3977640"/>
            <a:ext cx="3291840" cy="1737360"/>
          </a:xfrm>
          <a:prstGeom prst="rect">
            <a:avLst/>
          </a:prstGeom>
          <a:noFill/>
          <a:ln/>
        </p:spPr>
        <p:txBody>
          <a:bodyPr wrap="square" lIns="0" tIns="0" rIns="0" bIns="0" rtlCol="0" anchor="t"/>
          <a:lstStyle/>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The wrong</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chart</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misleads</a:t>
            </a:r>
            <a:endParaRPr lang="en-US" sz="1600" dirty="0"/>
          </a:p>
        </p:txBody>
      </p:sp>
      <p:sp>
        <p:nvSpPr>
          <p:cNvPr id="10" name="Text 6"/>
          <p:cNvSpPr/>
          <p:nvPr/>
        </p:nvSpPr>
        <p:spPr>
          <a:xfrm>
            <a:off x="4572000" y="1737360"/>
            <a:ext cx="7132320" cy="4114800"/>
          </a:xfrm>
          <a:prstGeom prst="rect">
            <a:avLst/>
          </a:prstGeom>
          <a:noFill/>
          <a:ln/>
        </p:spPr>
        <p:txBody>
          <a:bodyPr wrap="square" lIns="0" tIns="0" rIns="0" bIns="0" rtlCol="0" anchor="t"/>
          <a:lstStyle/>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Every chart makes a silent claim about your data’s type and structure — using the wrong one doesn’t just look odd, it can genuinely mislead your reader</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The right question is never "which chart looks nice" — it’s "what is this data’s type, and what relationship am I trying to show?"</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This catalog is organized around exactly that question: what your data looks like, first, then which chart fits it</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Every chart on the next several slides will be classified by three things: what it shows, when to use it, and when NOT to</a:t>
            </a:r>
            <a:endParaRPr lang="en-US" sz="1600" dirty="0"/>
          </a:p>
        </p:txBody>
      </p:sp>
      <p:sp>
        <p:nvSpPr>
          <p:cNvPr id="11" name="Text 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2" name="Text 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41</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Charts for Categorical Data</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08760"/>
            <a:ext cx="3611880" cy="4892040"/>
          </a:xfrm>
          <a:prstGeom prst="roundRect">
            <a:avLst>
              <a:gd name="adj" fmla="val 4051"/>
            </a:avLst>
          </a:prstGeom>
          <a:solidFill>
            <a:srgbClr val="EDE9FE"/>
          </a:solidFill>
          <a:ln w="12700">
            <a:solidFill>
              <a:srgbClr val="D8D2F5"/>
            </a:solidFill>
            <a:prstDash val="solid"/>
          </a:ln>
        </p:spPr>
      </p:sp>
      <p:sp>
        <p:nvSpPr>
          <p:cNvPr id="7" name="Shape 4"/>
          <p:cNvSpPr/>
          <p:nvPr/>
        </p:nvSpPr>
        <p:spPr>
          <a:xfrm>
            <a:off x="1988820" y="2093976"/>
            <a:ext cx="548640" cy="54864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2071116" y="2176272"/>
            <a:ext cx="384048" cy="384048"/>
          </a:xfrm>
          <a:prstGeom prst="rect">
            <a:avLst/>
          </a:prstGeom>
        </p:spPr>
      </p:pic>
      <p:sp>
        <p:nvSpPr>
          <p:cNvPr id="9" name="Text 5"/>
          <p:cNvSpPr/>
          <p:nvPr/>
        </p:nvSpPr>
        <p:spPr>
          <a:xfrm>
            <a:off x="548640" y="2715768"/>
            <a:ext cx="3429000"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Bar Chart</a:t>
            </a:r>
            <a:endParaRPr lang="en-US" sz="1300" dirty="0"/>
          </a:p>
        </p:txBody>
      </p:sp>
      <p:sp>
        <p:nvSpPr>
          <p:cNvPr id="10" name="Text 6"/>
          <p:cNvSpPr/>
          <p:nvPr/>
        </p:nvSpPr>
        <p:spPr>
          <a:xfrm>
            <a:off x="603504" y="3099816"/>
            <a:ext cx="3319272"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Compares counts or values across categories. Use for comparing groups. Avoid for showing change over time</a:t>
            </a:r>
            <a:endParaRPr lang="en-US" sz="1100" dirty="0"/>
          </a:p>
        </p:txBody>
      </p:sp>
      <p:sp>
        <p:nvSpPr>
          <p:cNvPr id="11" name="Shape 7"/>
          <p:cNvSpPr/>
          <p:nvPr/>
        </p:nvSpPr>
        <p:spPr>
          <a:xfrm>
            <a:off x="4288536" y="1508760"/>
            <a:ext cx="3611880" cy="4892040"/>
          </a:xfrm>
          <a:prstGeom prst="roundRect">
            <a:avLst>
              <a:gd name="adj" fmla="val 4051"/>
            </a:avLst>
          </a:prstGeom>
          <a:solidFill>
            <a:srgbClr val="FFF6DC"/>
          </a:solidFill>
          <a:ln w="12700">
            <a:solidFill>
              <a:srgbClr val="D8D2F5"/>
            </a:solidFill>
            <a:prstDash val="solid"/>
          </a:ln>
        </p:spPr>
      </p:sp>
      <p:sp>
        <p:nvSpPr>
          <p:cNvPr id="12" name="Shape 8"/>
          <p:cNvSpPr/>
          <p:nvPr/>
        </p:nvSpPr>
        <p:spPr>
          <a:xfrm>
            <a:off x="5820156" y="2093976"/>
            <a:ext cx="548640" cy="548640"/>
          </a:xfrm>
          <a:prstGeom prst="ellipse">
            <a:avLst/>
          </a:prstGeom>
          <a:solidFill>
            <a:srgbClr val="FFC94A"/>
          </a:solidFill>
          <a:ln/>
        </p:spPr>
      </p:sp>
      <p:pic>
        <p:nvPicPr>
          <p:cNvPr id="13" name="Image 2" descr="preencoded.png">    </p:cNvPr>
          <p:cNvPicPr>
            <a:picLocks noChangeAspect="1"/>
          </p:cNvPicPr>
          <p:nvPr/>
        </p:nvPicPr>
        <p:blipFill>
          <a:blip r:embed="rId3"/>
          <a:stretch>
            <a:fillRect/>
          </a:stretch>
        </p:blipFill>
        <p:spPr>
          <a:xfrm>
            <a:off x="5902452" y="2176272"/>
            <a:ext cx="384048" cy="384048"/>
          </a:xfrm>
          <a:prstGeom prst="rect">
            <a:avLst/>
          </a:prstGeom>
        </p:spPr>
      </p:pic>
      <p:sp>
        <p:nvSpPr>
          <p:cNvPr id="14" name="Text 9"/>
          <p:cNvSpPr/>
          <p:nvPr/>
        </p:nvSpPr>
        <p:spPr>
          <a:xfrm>
            <a:off x="4379976" y="2715768"/>
            <a:ext cx="3429000"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Pie Chart</a:t>
            </a:r>
            <a:endParaRPr lang="en-US" sz="1300" dirty="0"/>
          </a:p>
        </p:txBody>
      </p:sp>
      <p:sp>
        <p:nvSpPr>
          <p:cNvPr id="15" name="Text 10"/>
          <p:cNvSpPr/>
          <p:nvPr/>
        </p:nvSpPr>
        <p:spPr>
          <a:xfrm>
            <a:off x="4434840" y="3099816"/>
            <a:ext cx="3319272"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Shows parts of a whole, as a percentage. Use for 2–5 categories max. Avoid with many categories — slices become unreadable</a:t>
            </a:r>
            <a:endParaRPr lang="en-US" sz="1100" dirty="0"/>
          </a:p>
        </p:txBody>
      </p:sp>
      <p:sp>
        <p:nvSpPr>
          <p:cNvPr id="16" name="Shape 11"/>
          <p:cNvSpPr/>
          <p:nvPr/>
        </p:nvSpPr>
        <p:spPr>
          <a:xfrm>
            <a:off x="8119872" y="1508760"/>
            <a:ext cx="3611880" cy="4892040"/>
          </a:xfrm>
          <a:prstGeom prst="roundRect">
            <a:avLst>
              <a:gd name="adj" fmla="val 4051"/>
            </a:avLst>
          </a:prstGeom>
          <a:solidFill>
            <a:srgbClr val="E3FBF3"/>
          </a:solidFill>
          <a:ln w="12700">
            <a:solidFill>
              <a:srgbClr val="D8D2F5"/>
            </a:solidFill>
            <a:prstDash val="solid"/>
          </a:ln>
        </p:spPr>
      </p:sp>
      <p:sp>
        <p:nvSpPr>
          <p:cNvPr id="17" name="Shape 12"/>
          <p:cNvSpPr/>
          <p:nvPr/>
        </p:nvSpPr>
        <p:spPr>
          <a:xfrm>
            <a:off x="9651492" y="2093976"/>
            <a:ext cx="548640" cy="548640"/>
          </a:xfrm>
          <a:prstGeom prst="ellipse">
            <a:avLst/>
          </a:prstGeom>
          <a:solidFill>
            <a:srgbClr val="5FD6B0"/>
          </a:solidFill>
          <a:ln/>
        </p:spPr>
      </p:sp>
      <p:pic>
        <p:nvPicPr>
          <p:cNvPr id="18" name="Image 3" descr="preencoded.png">    </p:cNvPr>
          <p:cNvPicPr>
            <a:picLocks noChangeAspect="1"/>
          </p:cNvPicPr>
          <p:nvPr/>
        </p:nvPicPr>
        <p:blipFill>
          <a:blip r:embed="rId4"/>
          <a:stretch>
            <a:fillRect/>
          </a:stretch>
        </p:blipFill>
        <p:spPr>
          <a:xfrm>
            <a:off x="9733788" y="2176272"/>
            <a:ext cx="384048" cy="384048"/>
          </a:xfrm>
          <a:prstGeom prst="rect">
            <a:avLst/>
          </a:prstGeom>
        </p:spPr>
      </p:pic>
      <p:sp>
        <p:nvSpPr>
          <p:cNvPr id="19" name="Text 13"/>
          <p:cNvSpPr/>
          <p:nvPr/>
        </p:nvSpPr>
        <p:spPr>
          <a:xfrm>
            <a:off x="8211312" y="2715768"/>
            <a:ext cx="3429000"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Stacked Bar Chart</a:t>
            </a:r>
            <a:endParaRPr lang="en-US" sz="1300" dirty="0"/>
          </a:p>
        </p:txBody>
      </p:sp>
      <p:sp>
        <p:nvSpPr>
          <p:cNvPr id="20" name="Text 14"/>
          <p:cNvSpPr/>
          <p:nvPr/>
        </p:nvSpPr>
        <p:spPr>
          <a:xfrm>
            <a:off x="8266176" y="3099816"/>
            <a:ext cx="3319272"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Shows both category totals AND their sub-group breakdown at once. Avoid when more than 3–4 sub-groups per bar</a:t>
            </a:r>
            <a:endParaRPr lang="en-US" sz="1100" dirty="0"/>
          </a:p>
        </p:txBody>
      </p:sp>
      <p:sp>
        <p:nvSpPr>
          <p:cNvPr id="21" name="Text 15"/>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22"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42</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Charts for a Single Numerical Variable</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08760"/>
            <a:ext cx="3611880" cy="4892040"/>
          </a:xfrm>
          <a:prstGeom prst="roundRect">
            <a:avLst>
              <a:gd name="adj" fmla="val 4051"/>
            </a:avLst>
          </a:prstGeom>
          <a:solidFill>
            <a:srgbClr val="EDE9FE"/>
          </a:solidFill>
          <a:ln w="12700">
            <a:solidFill>
              <a:srgbClr val="D8D2F5"/>
            </a:solidFill>
            <a:prstDash val="solid"/>
          </a:ln>
        </p:spPr>
      </p:sp>
      <p:sp>
        <p:nvSpPr>
          <p:cNvPr id="7" name="Shape 4"/>
          <p:cNvSpPr/>
          <p:nvPr/>
        </p:nvSpPr>
        <p:spPr>
          <a:xfrm>
            <a:off x="1988820" y="2093976"/>
            <a:ext cx="548640" cy="54864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2071116" y="2176272"/>
            <a:ext cx="384048" cy="384048"/>
          </a:xfrm>
          <a:prstGeom prst="rect">
            <a:avLst/>
          </a:prstGeom>
        </p:spPr>
      </p:pic>
      <p:sp>
        <p:nvSpPr>
          <p:cNvPr id="9" name="Text 5"/>
          <p:cNvSpPr/>
          <p:nvPr/>
        </p:nvSpPr>
        <p:spPr>
          <a:xfrm>
            <a:off x="548640" y="2715768"/>
            <a:ext cx="3429000"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Histogram</a:t>
            </a:r>
            <a:endParaRPr lang="en-US" sz="1300" dirty="0"/>
          </a:p>
        </p:txBody>
      </p:sp>
      <p:sp>
        <p:nvSpPr>
          <p:cNvPr id="10" name="Text 6"/>
          <p:cNvSpPr/>
          <p:nvPr/>
        </p:nvSpPr>
        <p:spPr>
          <a:xfrm>
            <a:off x="603504" y="3099816"/>
            <a:ext cx="3319272"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Shows the distribution and shape of numerical data by grouping values into bins. Avoid on categorical data</a:t>
            </a:r>
            <a:endParaRPr lang="en-US" sz="1100" dirty="0"/>
          </a:p>
        </p:txBody>
      </p:sp>
      <p:sp>
        <p:nvSpPr>
          <p:cNvPr id="11" name="Shape 7"/>
          <p:cNvSpPr/>
          <p:nvPr/>
        </p:nvSpPr>
        <p:spPr>
          <a:xfrm>
            <a:off x="4288536" y="1508760"/>
            <a:ext cx="3611880" cy="4892040"/>
          </a:xfrm>
          <a:prstGeom prst="roundRect">
            <a:avLst>
              <a:gd name="adj" fmla="val 4051"/>
            </a:avLst>
          </a:prstGeom>
          <a:solidFill>
            <a:srgbClr val="FFF6DC"/>
          </a:solidFill>
          <a:ln w="12700">
            <a:solidFill>
              <a:srgbClr val="D8D2F5"/>
            </a:solidFill>
            <a:prstDash val="solid"/>
          </a:ln>
        </p:spPr>
      </p:sp>
      <p:sp>
        <p:nvSpPr>
          <p:cNvPr id="12" name="Shape 8"/>
          <p:cNvSpPr/>
          <p:nvPr/>
        </p:nvSpPr>
        <p:spPr>
          <a:xfrm>
            <a:off x="5820156" y="2093976"/>
            <a:ext cx="548640" cy="548640"/>
          </a:xfrm>
          <a:prstGeom prst="ellipse">
            <a:avLst/>
          </a:prstGeom>
          <a:solidFill>
            <a:srgbClr val="FFC94A"/>
          </a:solidFill>
          <a:ln/>
        </p:spPr>
      </p:sp>
      <p:pic>
        <p:nvPicPr>
          <p:cNvPr id="13" name="Image 2" descr="preencoded.png">    </p:cNvPr>
          <p:cNvPicPr>
            <a:picLocks noChangeAspect="1"/>
          </p:cNvPicPr>
          <p:nvPr/>
        </p:nvPicPr>
        <p:blipFill>
          <a:blip r:embed="rId3"/>
          <a:stretch>
            <a:fillRect/>
          </a:stretch>
        </p:blipFill>
        <p:spPr>
          <a:xfrm>
            <a:off x="5902452" y="2176272"/>
            <a:ext cx="384048" cy="384048"/>
          </a:xfrm>
          <a:prstGeom prst="rect">
            <a:avLst/>
          </a:prstGeom>
        </p:spPr>
      </p:pic>
      <p:sp>
        <p:nvSpPr>
          <p:cNvPr id="14" name="Text 9"/>
          <p:cNvSpPr/>
          <p:nvPr/>
        </p:nvSpPr>
        <p:spPr>
          <a:xfrm>
            <a:off x="4379976" y="2715768"/>
            <a:ext cx="3429000"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Box Plot</a:t>
            </a:r>
            <a:endParaRPr lang="en-US" sz="1300" dirty="0"/>
          </a:p>
        </p:txBody>
      </p:sp>
      <p:sp>
        <p:nvSpPr>
          <p:cNvPr id="15" name="Text 10"/>
          <p:cNvSpPr/>
          <p:nvPr/>
        </p:nvSpPr>
        <p:spPr>
          <a:xfrm>
            <a:off x="4434840" y="3099816"/>
            <a:ext cx="3319272"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Shows the five-number summary and flags outliers at a glance. Use to compare spread across groups</a:t>
            </a:r>
            <a:endParaRPr lang="en-US" sz="1100" dirty="0"/>
          </a:p>
        </p:txBody>
      </p:sp>
      <p:sp>
        <p:nvSpPr>
          <p:cNvPr id="16" name="Shape 11"/>
          <p:cNvSpPr/>
          <p:nvPr/>
        </p:nvSpPr>
        <p:spPr>
          <a:xfrm>
            <a:off x="8119872" y="1508760"/>
            <a:ext cx="3611880" cy="4892040"/>
          </a:xfrm>
          <a:prstGeom prst="roundRect">
            <a:avLst>
              <a:gd name="adj" fmla="val 4051"/>
            </a:avLst>
          </a:prstGeom>
          <a:solidFill>
            <a:srgbClr val="E3FBF3"/>
          </a:solidFill>
          <a:ln w="12700">
            <a:solidFill>
              <a:srgbClr val="D8D2F5"/>
            </a:solidFill>
            <a:prstDash val="solid"/>
          </a:ln>
        </p:spPr>
      </p:sp>
      <p:sp>
        <p:nvSpPr>
          <p:cNvPr id="17" name="Shape 12"/>
          <p:cNvSpPr/>
          <p:nvPr/>
        </p:nvSpPr>
        <p:spPr>
          <a:xfrm>
            <a:off x="9651492" y="2093976"/>
            <a:ext cx="548640" cy="548640"/>
          </a:xfrm>
          <a:prstGeom prst="ellipse">
            <a:avLst/>
          </a:prstGeom>
          <a:solidFill>
            <a:srgbClr val="5FD6B0"/>
          </a:solidFill>
          <a:ln/>
        </p:spPr>
      </p:sp>
      <p:pic>
        <p:nvPicPr>
          <p:cNvPr id="18" name="Image 3" descr="preencoded.png">    </p:cNvPr>
          <p:cNvPicPr>
            <a:picLocks noChangeAspect="1"/>
          </p:cNvPicPr>
          <p:nvPr/>
        </p:nvPicPr>
        <p:blipFill>
          <a:blip r:embed="rId4"/>
          <a:stretch>
            <a:fillRect/>
          </a:stretch>
        </p:blipFill>
        <p:spPr>
          <a:xfrm>
            <a:off x="9733788" y="2176272"/>
            <a:ext cx="384048" cy="384048"/>
          </a:xfrm>
          <a:prstGeom prst="rect">
            <a:avLst/>
          </a:prstGeom>
        </p:spPr>
      </p:pic>
      <p:sp>
        <p:nvSpPr>
          <p:cNvPr id="19" name="Text 13"/>
          <p:cNvSpPr/>
          <p:nvPr/>
        </p:nvSpPr>
        <p:spPr>
          <a:xfrm>
            <a:off x="8211312" y="2715768"/>
            <a:ext cx="3429000"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Violin Plot</a:t>
            </a:r>
            <a:endParaRPr lang="en-US" sz="1300" dirty="0"/>
          </a:p>
        </p:txBody>
      </p:sp>
      <p:sp>
        <p:nvSpPr>
          <p:cNvPr id="20" name="Text 14"/>
          <p:cNvSpPr/>
          <p:nvPr/>
        </p:nvSpPr>
        <p:spPr>
          <a:xfrm>
            <a:off x="8266176" y="3099816"/>
            <a:ext cx="3319272"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Like a box plot, but also shows the full distribution shape. Use when the exact shape matters, not just spread</a:t>
            </a:r>
            <a:endParaRPr lang="en-US" sz="1100" dirty="0"/>
          </a:p>
        </p:txBody>
      </p:sp>
      <p:sp>
        <p:nvSpPr>
          <p:cNvPr id="21" name="Text 15"/>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22"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43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Anatomy of a Box Plot</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1371600" y="3520440"/>
            <a:ext cx="2468880" cy="0"/>
          </a:xfrm>
          <a:prstGeom prst="line">
            <a:avLst/>
          </a:prstGeom>
          <a:noFill/>
          <a:ln w="25400">
            <a:solidFill>
              <a:srgbClr val="685F8F"/>
            </a:solidFill>
            <a:prstDash val="solid"/>
          </a:ln>
        </p:spPr>
      </p:sp>
      <p:sp>
        <p:nvSpPr>
          <p:cNvPr id="7" name="Shape 4"/>
          <p:cNvSpPr/>
          <p:nvPr/>
        </p:nvSpPr>
        <p:spPr>
          <a:xfrm>
            <a:off x="7589520" y="3520440"/>
            <a:ext cx="2743200" cy="0"/>
          </a:xfrm>
          <a:prstGeom prst="line">
            <a:avLst/>
          </a:prstGeom>
          <a:noFill/>
          <a:ln w="25400">
            <a:solidFill>
              <a:srgbClr val="685F8F"/>
            </a:solidFill>
            <a:prstDash val="solid"/>
          </a:ln>
        </p:spPr>
      </p:sp>
      <p:sp>
        <p:nvSpPr>
          <p:cNvPr id="8" name="Shape 5"/>
          <p:cNvSpPr/>
          <p:nvPr/>
        </p:nvSpPr>
        <p:spPr>
          <a:xfrm>
            <a:off x="1371600" y="3154680"/>
            <a:ext cx="0" cy="731520"/>
          </a:xfrm>
          <a:prstGeom prst="line">
            <a:avLst/>
          </a:prstGeom>
          <a:noFill/>
          <a:ln w="25400">
            <a:solidFill>
              <a:srgbClr val="685F8F"/>
            </a:solidFill>
            <a:prstDash val="solid"/>
          </a:ln>
        </p:spPr>
      </p:sp>
      <p:sp>
        <p:nvSpPr>
          <p:cNvPr id="9" name="Shape 6"/>
          <p:cNvSpPr/>
          <p:nvPr/>
        </p:nvSpPr>
        <p:spPr>
          <a:xfrm>
            <a:off x="10332720" y="3154680"/>
            <a:ext cx="0" cy="731520"/>
          </a:xfrm>
          <a:prstGeom prst="line">
            <a:avLst/>
          </a:prstGeom>
          <a:noFill/>
          <a:ln w="25400">
            <a:solidFill>
              <a:srgbClr val="685F8F"/>
            </a:solidFill>
            <a:prstDash val="solid"/>
          </a:ln>
        </p:spPr>
      </p:sp>
      <p:sp>
        <p:nvSpPr>
          <p:cNvPr id="10" name="Shape 7"/>
          <p:cNvSpPr/>
          <p:nvPr/>
        </p:nvSpPr>
        <p:spPr>
          <a:xfrm>
            <a:off x="3840480" y="3017520"/>
            <a:ext cx="3749040" cy="1005840"/>
          </a:xfrm>
          <a:prstGeom prst="roundRect">
            <a:avLst>
              <a:gd name="adj" fmla="val 3636"/>
            </a:avLst>
          </a:prstGeom>
          <a:solidFill>
            <a:srgbClr val="EDE9FE"/>
          </a:solidFill>
          <a:ln w="31750">
            <a:solidFill>
              <a:srgbClr val="8B7FE8"/>
            </a:solidFill>
            <a:prstDash val="solid"/>
          </a:ln>
        </p:spPr>
      </p:sp>
      <p:sp>
        <p:nvSpPr>
          <p:cNvPr id="11" name="Shape 8"/>
          <p:cNvSpPr/>
          <p:nvPr/>
        </p:nvSpPr>
        <p:spPr>
          <a:xfrm>
            <a:off x="5486400" y="3017520"/>
            <a:ext cx="0" cy="1005840"/>
          </a:xfrm>
          <a:prstGeom prst="line">
            <a:avLst/>
          </a:prstGeom>
          <a:noFill/>
          <a:ln w="38100">
            <a:solidFill>
              <a:srgbClr val="FF8FB3"/>
            </a:solidFill>
            <a:prstDash val="solid"/>
          </a:ln>
        </p:spPr>
      </p:sp>
      <p:sp>
        <p:nvSpPr>
          <p:cNvPr id="12" name="Shape 9"/>
          <p:cNvSpPr/>
          <p:nvPr/>
        </p:nvSpPr>
        <p:spPr>
          <a:xfrm>
            <a:off x="1371600" y="4023360"/>
            <a:ext cx="0" cy="320040"/>
          </a:xfrm>
          <a:prstGeom prst="line">
            <a:avLst/>
          </a:prstGeom>
          <a:noFill/>
          <a:ln w="15875">
            <a:solidFill>
              <a:srgbClr val="D8D2F5"/>
            </a:solidFill>
            <a:prstDash val="solid"/>
          </a:ln>
        </p:spPr>
      </p:sp>
      <p:sp>
        <p:nvSpPr>
          <p:cNvPr id="13" name="Text 10"/>
          <p:cNvSpPr/>
          <p:nvPr/>
        </p:nvSpPr>
        <p:spPr>
          <a:xfrm>
            <a:off x="731520" y="4343400"/>
            <a:ext cx="1280160" cy="274320"/>
          </a:xfrm>
          <a:prstGeom prst="rect">
            <a:avLst/>
          </a:prstGeom>
          <a:noFill/>
          <a:ln/>
        </p:spPr>
        <p:txBody>
          <a:bodyPr wrap="square" lIns="0" tIns="0" rIns="0" bIns="0" rtlCol="0" anchor="ctr"/>
          <a:lstStyle/>
          <a:p>
            <a:pPr algn="ctr" indent="0" marL="0">
              <a:buNone/>
            </a:pPr>
            <a:r>
              <a:rPr lang="en-US" sz="1200" b="1" dirty="0">
                <a:solidFill>
                  <a:srgbClr val="2D2A4A"/>
                </a:solidFill>
                <a:latin typeface="Century Gothic" pitchFamily="34" charset="0"/>
                <a:ea typeface="Century Gothic" pitchFamily="34" charset="-122"/>
                <a:cs typeface="Century Gothic" pitchFamily="34" charset="-120"/>
              </a:rPr>
              <a:t>Min</a:t>
            </a:r>
            <a:endParaRPr lang="en-US" sz="1200" dirty="0"/>
          </a:p>
        </p:txBody>
      </p:sp>
      <p:sp>
        <p:nvSpPr>
          <p:cNvPr id="14" name="Text 11"/>
          <p:cNvSpPr/>
          <p:nvPr/>
        </p:nvSpPr>
        <p:spPr>
          <a:xfrm>
            <a:off x="548640" y="4617720"/>
            <a:ext cx="1645920" cy="502920"/>
          </a:xfrm>
          <a:prstGeom prst="rect">
            <a:avLst/>
          </a:prstGeom>
          <a:noFill/>
          <a:ln/>
        </p:spPr>
        <p:txBody>
          <a:bodyPr wrap="square" lIns="0" tIns="0" rIns="0" bIns="0" rtlCol="0" anchor="t"/>
          <a:lstStyle/>
          <a:p>
            <a:pPr algn="ctr" indent="0" marL="0">
              <a:lnSpc>
                <a:spcPct val="110000"/>
              </a:lnSpc>
              <a:buNone/>
            </a:pPr>
            <a:r>
              <a:rPr lang="en-US" sz="900" dirty="0">
                <a:solidFill>
                  <a:srgbClr val="685F8F"/>
                </a:solidFill>
                <a:latin typeface="Calibri" pitchFamily="34" charset="0"/>
                <a:ea typeface="Calibri" pitchFamily="34" charset="-122"/>
                <a:cs typeface="Calibri" pitchFamily="34" charset="-120"/>
              </a:rPr>
              <a:t>smallest value</a:t>
            </a:r>
            <a:endParaRPr lang="en-US" sz="900" dirty="0"/>
          </a:p>
          <a:p>
            <a:pPr algn="ctr" indent="0" marL="0">
              <a:lnSpc>
                <a:spcPct val="110000"/>
              </a:lnSpc>
              <a:buNone/>
            </a:pPr>
            <a:r>
              <a:rPr lang="en-US" sz="900" dirty="0">
                <a:solidFill>
                  <a:srgbClr val="685F8F"/>
                </a:solidFill>
                <a:latin typeface="Calibri" pitchFamily="34" charset="0"/>
                <a:ea typeface="Calibri" pitchFamily="34" charset="-122"/>
                <a:cs typeface="Calibri" pitchFamily="34" charset="-120"/>
              </a:rPr>
              <a:t>(within 1.5×IQR)</a:t>
            </a:r>
            <a:endParaRPr lang="en-US" sz="900" dirty="0"/>
          </a:p>
        </p:txBody>
      </p:sp>
      <p:sp>
        <p:nvSpPr>
          <p:cNvPr id="15" name="Shape 12"/>
          <p:cNvSpPr/>
          <p:nvPr/>
        </p:nvSpPr>
        <p:spPr>
          <a:xfrm>
            <a:off x="3840480" y="4023360"/>
            <a:ext cx="0" cy="320040"/>
          </a:xfrm>
          <a:prstGeom prst="line">
            <a:avLst/>
          </a:prstGeom>
          <a:noFill/>
          <a:ln w="15875">
            <a:solidFill>
              <a:srgbClr val="D8D2F5"/>
            </a:solidFill>
            <a:prstDash val="solid"/>
          </a:ln>
        </p:spPr>
      </p:sp>
      <p:sp>
        <p:nvSpPr>
          <p:cNvPr id="16" name="Text 13"/>
          <p:cNvSpPr/>
          <p:nvPr/>
        </p:nvSpPr>
        <p:spPr>
          <a:xfrm>
            <a:off x="3200400" y="4343400"/>
            <a:ext cx="1280160" cy="274320"/>
          </a:xfrm>
          <a:prstGeom prst="rect">
            <a:avLst/>
          </a:prstGeom>
          <a:noFill/>
          <a:ln/>
        </p:spPr>
        <p:txBody>
          <a:bodyPr wrap="square" lIns="0" tIns="0" rIns="0" bIns="0" rtlCol="0" anchor="ctr"/>
          <a:lstStyle/>
          <a:p>
            <a:pPr algn="ctr" indent="0" marL="0">
              <a:buNone/>
            </a:pPr>
            <a:r>
              <a:rPr lang="en-US" sz="1200" b="1" dirty="0">
                <a:solidFill>
                  <a:srgbClr val="2D2A4A"/>
                </a:solidFill>
                <a:latin typeface="Century Gothic" pitchFamily="34" charset="0"/>
                <a:ea typeface="Century Gothic" pitchFamily="34" charset="-122"/>
                <a:cs typeface="Century Gothic" pitchFamily="34" charset="-120"/>
              </a:rPr>
              <a:t>Q1</a:t>
            </a:r>
            <a:endParaRPr lang="en-US" sz="1200" dirty="0"/>
          </a:p>
        </p:txBody>
      </p:sp>
      <p:sp>
        <p:nvSpPr>
          <p:cNvPr id="17" name="Text 14"/>
          <p:cNvSpPr/>
          <p:nvPr/>
        </p:nvSpPr>
        <p:spPr>
          <a:xfrm>
            <a:off x="3017520" y="4617720"/>
            <a:ext cx="1645920" cy="502920"/>
          </a:xfrm>
          <a:prstGeom prst="rect">
            <a:avLst/>
          </a:prstGeom>
          <a:noFill/>
          <a:ln/>
        </p:spPr>
        <p:txBody>
          <a:bodyPr wrap="square" lIns="0" tIns="0" rIns="0" bIns="0" rtlCol="0" anchor="t"/>
          <a:lstStyle/>
          <a:p>
            <a:pPr algn="ctr" indent="0" marL="0">
              <a:lnSpc>
                <a:spcPct val="110000"/>
              </a:lnSpc>
              <a:buNone/>
            </a:pPr>
            <a:r>
              <a:rPr lang="en-US" sz="900" dirty="0">
                <a:solidFill>
                  <a:srgbClr val="685F8F"/>
                </a:solidFill>
                <a:latin typeface="Calibri" pitchFamily="34" charset="0"/>
                <a:ea typeface="Calibri" pitchFamily="34" charset="-122"/>
                <a:cs typeface="Calibri" pitchFamily="34" charset="-120"/>
              </a:rPr>
              <a:t>25th percentile</a:t>
            </a:r>
            <a:endParaRPr lang="en-US" sz="900" dirty="0"/>
          </a:p>
        </p:txBody>
      </p:sp>
      <p:sp>
        <p:nvSpPr>
          <p:cNvPr id="18" name="Shape 15"/>
          <p:cNvSpPr/>
          <p:nvPr/>
        </p:nvSpPr>
        <p:spPr>
          <a:xfrm>
            <a:off x="5486400" y="4023360"/>
            <a:ext cx="0" cy="320040"/>
          </a:xfrm>
          <a:prstGeom prst="line">
            <a:avLst/>
          </a:prstGeom>
          <a:noFill/>
          <a:ln w="15875">
            <a:solidFill>
              <a:srgbClr val="D8D2F5"/>
            </a:solidFill>
            <a:prstDash val="solid"/>
          </a:ln>
        </p:spPr>
      </p:sp>
      <p:sp>
        <p:nvSpPr>
          <p:cNvPr id="19" name="Text 16"/>
          <p:cNvSpPr/>
          <p:nvPr/>
        </p:nvSpPr>
        <p:spPr>
          <a:xfrm>
            <a:off x="4846320" y="4343400"/>
            <a:ext cx="1280160" cy="274320"/>
          </a:xfrm>
          <a:prstGeom prst="rect">
            <a:avLst/>
          </a:prstGeom>
          <a:noFill/>
          <a:ln/>
        </p:spPr>
        <p:txBody>
          <a:bodyPr wrap="square" lIns="0" tIns="0" rIns="0" bIns="0" rtlCol="0" anchor="ctr"/>
          <a:lstStyle/>
          <a:p>
            <a:pPr algn="ctr" indent="0" marL="0">
              <a:buNone/>
            </a:pPr>
            <a:r>
              <a:rPr lang="en-US" sz="1200" b="1" dirty="0">
                <a:solidFill>
                  <a:srgbClr val="2D2A4A"/>
                </a:solidFill>
                <a:latin typeface="Century Gothic" pitchFamily="34" charset="0"/>
                <a:ea typeface="Century Gothic" pitchFamily="34" charset="-122"/>
                <a:cs typeface="Century Gothic" pitchFamily="34" charset="-120"/>
              </a:rPr>
              <a:t>Median</a:t>
            </a:r>
            <a:endParaRPr lang="en-US" sz="1200" dirty="0"/>
          </a:p>
        </p:txBody>
      </p:sp>
      <p:sp>
        <p:nvSpPr>
          <p:cNvPr id="20" name="Text 17"/>
          <p:cNvSpPr/>
          <p:nvPr/>
        </p:nvSpPr>
        <p:spPr>
          <a:xfrm>
            <a:off x="4663440" y="4617720"/>
            <a:ext cx="1645920" cy="502920"/>
          </a:xfrm>
          <a:prstGeom prst="rect">
            <a:avLst/>
          </a:prstGeom>
          <a:noFill/>
          <a:ln/>
        </p:spPr>
        <p:txBody>
          <a:bodyPr wrap="square" lIns="0" tIns="0" rIns="0" bIns="0" rtlCol="0" anchor="t"/>
          <a:lstStyle/>
          <a:p>
            <a:pPr algn="ctr" indent="0" marL="0">
              <a:lnSpc>
                <a:spcPct val="110000"/>
              </a:lnSpc>
              <a:buNone/>
            </a:pPr>
            <a:r>
              <a:rPr lang="en-US" sz="900" dirty="0">
                <a:solidFill>
                  <a:srgbClr val="685F8F"/>
                </a:solidFill>
                <a:latin typeface="Calibri" pitchFamily="34" charset="0"/>
                <a:ea typeface="Calibri" pitchFamily="34" charset="-122"/>
                <a:cs typeface="Calibri" pitchFamily="34" charset="-120"/>
              </a:rPr>
              <a:t>50th percentile</a:t>
            </a:r>
            <a:endParaRPr lang="en-US" sz="900" dirty="0"/>
          </a:p>
        </p:txBody>
      </p:sp>
      <p:sp>
        <p:nvSpPr>
          <p:cNvPr id="21" name="Shape 18"/>
          <p:cNvSpPr/>
          <p:nvPr/>
        </p:nvSpPr>
        <p:spPr>
          <a:xfrm>
            <a:off x="7589520" y="4023360"/>
            <a:ext cx="0" cy="320040"/>
          </a:xfrm>
          <a:prstGeom prst="line">
            <a:avLst/>
          </a:prstGeom>
          <a:noFill/>
          <a:ln w="15875">
            <a:solidFill>
              <a:srgbClr val="D8D2F5"/>
            </a:solidFill>
            <a:prstDash val="solid"/>
          </a:ln>
        </p:spPr>
      </p:sp>
      <p:sp>
        <p:nvSpPr>
          <p:cNvPr id="22" name="Text 19"/>
          <p:cNvSpPr/>
          <p:nvPr/>
        </p:nvSpPr>
        <p:spPr>
          <a:xfrm>
            <a:off x="6949440" y="4343400"/>
            <a:ext cx="1280160" cy="274320"/>
          </a:xfrm>
          <a:prstGeom prst="rect">
            <a:avLst/>
          </a:prstGeom>
          <a:noFill/>
          <a:ln/>
        </p:spPr>
        <p:txBody>
          <a:bodyPr wrap="square" lIns="0" tIns="0" rIns="0" bIns="0" rtlCol="0" anchor="ctr"/>
          <a:lstStyle/>
          <a:p>
            <a:pPr algn="ctr" indent="0" marL="0">
              <a:buNone/>
            </a:pPr>
            <a:r>
              <a:rPr lang="en-US" sz="1200" b="1" dirty="0">
                <a:solidFill>
                  <a:srgbClr val="2D2A4A"/>
                </a:solidFill>
                <a:latin typeface="Century Gothic" pitchFamily="34" charset="0"/>
                <a:ea typeface="Century Gothic" pitchFamily="34" charset="-122"/>
                <a:cs typeface="Century Gothic" pitchFamily="34" charset="-120"/>
              </a:rPr>
              <a:t>Q3</a:t>
            </a:r>
            <a:endParaRPr lang="en-US" sz="1200" dirty="0"/>
          </a:p>
        </p:txBody>
      </p:sp>
      <p:sp>
        <p:nvSpPr>
          <p:cNvPr id="23" name="Text 20"/>
          <p:cNvSpPr/>
          <p:nvPr/>
        </p:nvSpPr>
        <p:spPr>
          <a:xfrm>
            <a:off x="6766560" y="4617720"/>
            <a:ext cx="1645920" cy="502920"/>
          </a:xfrm>
          <a:prstGeom prst="rect">
            <a:avLst/>
          </a:prstGeom>
          <a:noFill/>
          <a:ln/>
        </p:spPr>
        <p:txBody>
          <a:bodyPr wrap="square" lIns="0" tIns="0" rIns="0" bIns="0" rtlCol="0" anchor="t"/>
          <a:lstStyle/>
          <a:p>
            <a:pPr algn="ctr" indent="0" marL="0">
              <a:lnSpc>
                <a:spcPct val="110000"/>
              </a:lnSpc>
              <a:buNone/>
            </a:pPr>
            <a:r>
              <a:rPr lang="en-US" sz="900" dirty="0">
                <a:solidFill>
                  <a:srgbClr val="685F8F"/>
                </a:solidFill>
                <a:latin typeface="Calibri" pitchFamily="34" charset="0"/>
                <a:ea typeface="Calibri" pitchFamily="34" charset="-122"/>
                <a:cs typeface="Calibri" pitchFamily="34" charset="-120"/>
              </a:rPr>
              <a:t>75th percentile</a:t>
            </a:r>
            <a:endParaRPr lang="en-US" sz="900" dirty="0"/>
          </a:p>
        </p:txBody>
      </p:sp>
      <p:sp>
        <p:nvSpPr>
          <p:cNvPr id="24" name="Shape 21"/>
          <p:cNvSpPr/>
          <p:nvPr/>
        </p:nvSpPr>
        <p:spPr>
          <a:xfrm>
            <a:off x="10332720" y="4023360"/>
            <a:ext cx="0" cy="320040"/>
          </a:xfrm>
          <a:prstGeom prst="line">
            <a:avLst/>
          </a:prstGeom>
          <a:noFill/>
          <a:ln w="15875">
            <a:solidFill>
              <a:srgbClr val="D8D2F5"/>
            </a:solidFill>
            <a:prstDash val="solid"/>
          </a:ln>
        </p:spPr>
      </p:sp>
      <p:sp>
        <p:nvSpPr>
          <p:cNvPr id="25" name="Text 22"/>
          <p:cNvSpPr/>
          <p:nvPr/>
        </p:nvSpPr>
        <p:spPr>
          <a:xfrm>
            <a:off x="9692640" y="4343400"/>
            <a:ext cx="1280160" cy="274320"/>
          </a:xfrm>
          <a:prstGeom prst="rect">
            <a:avLst/>
          </a:prstGeom>
          <a:noFill/>
          <a:ln/>
        </p:spPr>
        <p:txBody>
          <a:bodyPr wrap="square" lIns="0" tIns="0" rIns="0" bIns="0" rtlCol="0" anchor="ctr"/>
          <a:lstStyle/>
          <a:p>
            <a:pPr algn="ctr" indent="0" marL="0">
              <a:buNone/>
            </a:pPr>
            <a:r>
              <a:rPr lang="en-US" sz="1200" b="1" dirty="0">
                <a:solidFill>
                  <a:srgbClr val="2D2A4A"/>
                </a:solidFill>
                <a:latin typeface="Century Gothic" pitchFamily="34" charset="0"/>
                <a:ea typeface="Century Gothic" pitchFamily="34" charset="-122"/>
                <a:cs typeface="Century Gothic" pitchFamily="34" charset="-120"/>
              </a:rPr>
              <a:t>Max</a:t>
            </a:r>
            <a:endParaRPr lang="en-US" sz="1200" dirty="0"/>
          </a:p>
        </p:txBody>
      </p:sp>
      <p:sp>
        <p:nvSpPr>
          <p:cNvPr id="26" name="Text 23"/>
          <p:cNvSpPr/>
          <p:nvPr/>
        </p:nvSpPr>
        <p:spPr>
          <a:xfrm>
            <a:off x="9509760" y="4617720"/>
            <a:ext cx="1645920" cy="502920"/>
          </a:xfrm>
          <a:prstGeom prst="rect">
            <a:avLst/>
          </a:prstGeom>
          <a:noFill/>
          <a:ln/>
        </p:spPr>
        <p:txBody>
          <a:bodyPr wrap="square" lIns="0" tIns="0" rIns="0" bIns="0" rtlCol="0" anchor="t"/>
          <a:lstStyle/>
          <a:p>
            <a:pPr algn="ctr" indent="0" marL="0">
              <a:lnSpc>
                <a:spcPct val="110000"/>
              </a:lnSpc>
              <a:buNone/>
            </a:pPr>
            <a:r>
              <a:rPr lang="en-US" sz="900" dirty="0">
                <a:solidFill>
                  <a:srgbClr val="685F8F"/>
                </a:solidFill>
                <a:latin typeface="Calibri" pitchFamily="34" charset="0"/>
                <a:ea typeface="Calibri" pitchFamily="34" charset="-122"/>
                <a:cs typeface="Calibri" pitchFamily="34" charset="-120"/>
              </a:rPr>
              <a:t>largest value</a:t>
            </a:r>
            <a:endParaRPr lang="en-US" sz="900" dirty="0"/>
          </a:p>
          <a:p>
            <a:pPr algn="ctr" indent="0" marL="0">
              <a:lnSpc>
                <a:spcPct val="110000"/>
              </a:lnSpc>
              <a:buNone/>
            </a:pPr>
            <a:r>
              <a:rPr lang="en-US" sz="900" dirty="0">
                <a:solidFill>
                  <a:srgbClr val="685F8F"/>
                </a:solidFill>
                <a:latin typeface="Calibri" pitchFamily="34" charset="0"/>
                <a:ea typeface="Calibri" pitchFamily="34" charset="-122"/>
                <a:cs typeface="Calibri" pitchFamily="34" charset="-120"/>
              </a:rPr>
              <a:t>(within 1.5×IQR)</a:t>
            </a:r>
            <a:endParaRPr lang="en-US" sz="900" dirty="0"/>
          </a:p>
        </p:txBody>
      </p:sp>
      <p:sp>
        <p:nvSpPr>
          <p:cNvPr id="27" name="Shape 24"/>
          <p:cNvSpPr/>
          <p:nvPr/>
        </p:nvSpPr>
        <p:spPr>
          <a:xfrm>
            <a:off x="3840480" y="2560320"/>
            <a:ext cx="3749040" cy="0"/>
          </a:xfrm>
          <a:prstGeom prst="line">
            <a:avLst/>
          </a:prstGeom>
          <a:noFill/>
          <a:ln w="31750">
            <a:solidFill>
              <a:srgbClr val="FFC94A"/>
            </a:solidFill>
            <a:prstDash val="solid"/>
          </a:ln>
        </p:spPr>
      </p:sp>
      <p:sp>
        <p:nvSpPr>
          <p:cNvPr id="28" name="Shape 25"/>
          <p:cNvSpPr/>
          <p:nvPr/>
        </p:nvSpPr>
        <p:spPr>
          <a:xfrm>
            <a:off x="3840480" y="2560320"/>
            <a:ext cx="0" cy="137160"/>
          </a:xfrm>
          <a:prstGeom prst="line">
            <a:avLst/>
          </a:prstGeom>
          <a:noFill/>
          <a:ln w="31750">
            <a:solidFill>
              <a:srgbClr val="FFC94A"/>
            </a:solidFill>
            <a:prstDash val="solid"/>
          </a:ln>
        </p:spPr>
      </p:sp>
      <p:sp>
        <p:nvSpPr>
          <p:cNvPr id="29" name="Shape 26"/>
          <p:cNvSpPr/>
          <p:nvPr/>
        </p:nvSpPr>
        <p:spPr>
          <a:xfrm>
            <a:off x="7589520" y="2560320"/>
            <a:ext cx="0" cy="137160"/>
          </a:xfrm>
          <a:prstGeom prst="line">
            <a:avLst/>
          </a:prstGeom>
          <a:noFill/>
          <a:ln w="31750">
            <a:solidFill>
              <a:srgbClr val="FFC94A"/>
            </a:solidFill>
            <a:prstDash val="solid"/>
          </a:ln>
        </p:spPr>
      </p:sp>
      <p:sp>
        <p:nvSpPr>
          <p:cNvPr id="30" name="Text 27"/>
          <p:cNvSpPr/>
          <p:nvPr/>
        </p:nvSpPr>
        <p:spPr>
          <a:xfrm>
            <a:off x="3840480" y="2194560"/>
            <a:ext cx="3749040" cy="320040"/>
          </a:xfrm>
          <a:prstGeom prst="rect">
            <a:avLst/>
          </a:prstGeom>
          <a:noFill/>
          <a:ln/>
        </p:spPr>
        <p:txBody>
          <a:bodyPr wrap="square" lIns="0" tIns="0" rIns="0" bIns="0" rtlCol="0" anchor="ctr"/>
          <a:lstStyle/>
          <a:p>
            <a:pPr algn="ctr" indent="0" marL="0">
              <a:buNone/>
            </a:pPr>
            <a:r>
              <a:rPr lang="en-US" sz="1100" b="1" dirty="0">
                <a:solidFill>
                  <a:srgbClr val="6B5FD1"/>
                </a:solidFill>
                <a:latin typeface="Calibri" pitchFamily="34" charset="0"/>
                <a:ea typeface="Calibri" pitchFamily="34" charset="-122"/>
                <a:cs typeface="Calibri" pitchFamily="34" charset="-120"/>
              </a:rPr>
              <a:t>IQR = Q3 − Q1  (the middle 50% of the data)</a:t>
            </a:r>
            <a:endParaRPr lang="en-US" sz="1100" dirty="0"/>
          </a:p>
        </p:txBody>
      </p:sp>
      <p:sp>
        <p:nvSpPr>
          <p:cNvPr id="31" name="Text 28"/>
          <p:cNvSpPr/>
          <p:nvPr/>
        </p:nvSpPr>
        <p:spPr>
          <a:xfrm>
            <a:off x="731520" y="5623560"/>
            <a:ext cx="10725912" cy="548640"/>
          </a:xfrm>
          <a:prstGeom prst="rect">
            <a:avLst/>
          </a:prstGeom>
          <a:noFill/>
          <a:ln/>
        </p:spPr>
        <p:txBody>
          <a:bodyPr wrap="square" lIns="0" tIns="0" rIns="0" bIns="0" rtlCol="0" anchor="t"/>
          <a:lstStyle/>
          <a:p>
            <a:pPr algn="ctr" indent="0" marL="0">
              <a:buNone/>
            </a:pPr>
            <a:r>
              <a:rPr lang="en-US" sz="1250" i="1" dirty="0">
                <a:solidFill>
                  <a:srgbClr val="685F8F"/>
                </a:solidFill>
                <a:latin typeface="Calibri" pitchFamily="34" charset="0"/>
                <a:ea typeface="Calibri" pitchFamily="34" charset="-122"/>
                <a:cs typeface="Calibri" pitchFamily="34" charset="-120"/>
              </a:rPr>
              <a:t>Together, Min, Q1, Median, Q3, and Max make up the "five-number summary" — the box plot is simply a picture of those five numbers.</a:t>
            </a:r>
            <a:endParaRPr lang="en-US" sz="1250" dirty="0"/>
          </a:p>
        </p:txBody>
      </p:sp>
      <p:sp>
        <p:nvSpPr>
          <p:cNvPr id="32" name="Text 29"/>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33" name="Text 30"/>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44</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Charts for Relationships Between Variables</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08760"/>
            <a:ext cx="3611880" cy="4892040"/>
          </a:xfrm>
          <a:prstGeom prst="roundRect">
            <a:avLst>
              <a:gd name="adj" fmla="val 4051"/>
            </a:avLst>
          </a:prstGeom>
          <a:solidFill>
            <a:srgbClr val="EDE9FE"/>
          </a:solidFill>
          <a:ln w="12700">
            <a:solidFill>
              <a:srgbClr val="D8D2F5"/>
            </a:solidFill>
            <a:prstDash val="solid"/>
          </a:ln>
        </p:spPr>
      </p:sp>
      <p:sp>
        <p:nvSpPr>
          <p:cNvPr id="7" name="Shape 4"/>
          <p:cNvSpPr/>
          <p:nvPr/>
        </p:nvSpPr>
        <p:spPr>
          <a:xfrm>
            <a:off x="1988820" y="2093976"/>
            <a:ext cx="548640" cy="54864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2071116" y="2176272"/>
            <a:ext cx="384048" cy="384048"/>
          </a:xfrm>
          <a:prstGeom prst="rect">
            <a:avLst/>
          </a:prstGeom>
        </p:spPr>
      </p:pic>
      <p:sp>
        <p:nvSpPr>
          <p:cNvPr id="9" name="Text 5"/>
          <p:cNvSpPr/>
          <p:nvPr/>
        </p:nvSpPr>
        <p:spPr>
          <a:xfrm>
            <a:off x="548640" y="2715768"/>
            <a:ext cx="3429000"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Scatter Plot</a:t>
            </a:r>
            <a:endParaRPr lang="en-US" sz="1300" dirty="0"/>
          </a:p>
        </p:txBody>
      </p:sp>
      <p:sp>
        <p:nvSpPr>
          <p:cNvPr id="10" name="Text 6"/>
          <p:cNvSpPr/>
          <p:nvPr/>
        </p:nvSpPr>
        <p:spPr>
          <a:xfrm>
            <a:off x="603504" y="3099816"/>
            <a:ext cx="3319272"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Shows the relationship between two numerical variables. The foundation for spotting correlation</a:t>
            </a:r>
            <a:endParaRPr lang="en-US" sz="1100" dirty="0"/>
          </a:p>
        </p:txBody>
      </p:sp>
      <p:sp>
        <p:nvSpPr>
          <p:cNvPr id="11" name="Shape 7"/>
          <p:cNvSpPr/>
          <p:nvPr/>
        </p:nvSpPr>
        <p:spPr>
          <a:xfrm>
            <a:off x="4288536" y="1508760"/>
            <a:ext cx="3611880" cy="4892040"/>
          </a:xfrm>
          <a:prstGeom prst="roundRect">
            <a:avLst>
              <a:gd name="adj" fmla="val 4051"/>
            </a:avLst>
          </a:prstGeom>
          <a:solidFill>
            <a:srgbClr val="FFF6DC"/>
          </a:solidFill>
          <a:ln w="12700">
            <a:solidFill>
              <a:srgbClr val="D8D2F5"/>
            </a:solidFill>
            <a:prstDash val="solid"/>
          </a:ln>
        </p:spPr>
      </p:sp>
      <p:sp>
        <p:nvSpPr>
          <p:cNvPr id="12" name="Shape 8"/>
          <p:cNvSpPr/>
          <p:nvPr/>
        </p:nvSpPr>
        <p:spPr>
          <a:xfrm>
            <a:off x="5820156" y="2093976"/>
            <a:ext cx="548640" cy="548640"/>
          </a:xfrm>
          <a:prstGeom prst="ellipse">
            <a:avLst/>
          </a:prstGeom>
          <a:solidFill>
            <a:srgbClr val="FFC94A"/>
          </a:solidFill>
          <a:ln/>
        </p:spPr>
      </p:sp>
      <p:pic>
        <p:nvPicPr>
          <p:cNvPr id="13" name="Image 2" descr="preencoded.png">    </p:cNvPr>
          <p:cNvPicPr>
            <a:picLocks noChangeAspect="1"/>
          </p:cNvPicPr>
          <p:nvPr/>
        </p:nvPicPr>
        <p:blipFill>
          <a:blip r:embed="rId3"/>
          <a:stretch>
            <a:fillRect/>
          </a:stretch>
        </p:blipFill>
        <p:spPr>
          <a:xfrm>
            <a:off x="5902452" y="2176272"/>
            <a:ext cx="384048" cy="384048"/>
          </a:xfrm>
          <a:prstGeom prst="rect">
            <a:avLst/>
          </a:prstGeom>
        </p:spPr>
      </p:pic>
      <p:sp>
        <p:nvSpPr>
          <p:cNvPr id="14" name="Text 9"/>
          <p:cNvSpPr/>
          <p:nvPr/>
        </p:nvSpPr>
        <p:spPr>
          <a:xfrm>
            <a:off x="4379976" y="2715768"/>
            <a:ext cx="3429000"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Line Plot</a:t>
            </a:r>
            <a:endParaRPr lang="en-US" sz="1300" dirty="0"/>
          </a:p>
        </p:txBody>
      </p:sp>
      <p:sp>
        <p:nvSpPr>
          <p:cNvPr id="15" name="Text 10"/>
          <p:cNvSpPr/>
          <p:nvPr/>
        </p:nvSpPr>
        <p:spPr>
          <a:xfrm>
            <a:off x="4434840" y="3099816"/>
            <a:ext cx="3319272"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Shows change over a continuous sequence, almost always time. Avoid using it for non-sequential categories</a:t>
            </a:r>
            <a:endParaRPr lang="en-US" sz="1100" dirty="0"/>
          </a:p>
        </p:txBody>
      </p:sp>
      <p:sp>
        <p:nvSpPr>
          <p:cNvPr id="16" name="Shape 11"/>
          <p:cNvSpPr/>
          <p:nvPr/>
        </p:nvSpPr>
        <p:spPr>
          <a:xfrm>
            <a:off x="8119872" y="1508760"/>
            <a:ext cx="3611880" cy="4892040"/>
          </a:xfrm>
          <a:prstGeom prst="roundRect">
            <a:avLst>
              <a:gd name="adj" fmla="val 4051"/>
            </a:avLst>
          </a:prstGeom>
          <a:solidFill>
            <a:srgbClr val="E3FBF3"/>
          </a:solidFill>
          <a:ln w="12700">
            <a:solidFill>
              <a:srgbClr val="D8D2F5"/>
            </a:solidFill>
            <a:prstDash val="solid"/>
          </a:ln>
        </p:spPr>
      </p:sp>
      <p:sp>
        <p:nvSpPr>
          <p:cNvPr id="17" name="Shape 12"/>
          <p:cNvSpPr/>
          <p:nvPr/>
        </p:nvSpPr>
        <p:spPr>
          <a:xfrm>
            <a:off x="9651492" y="2093976"/>
            <a:ext cx="548640" cy="548640"/>
          </a:xfrm>
          <a:prstGeom prst="ellipse">
            <a:avLst/>
          </a:prstGeom>
          <a:solidFill>
            <a:srgbClr val="5FD6B0"/>
          </a:solidFill>
          <a:ln/>
        </p:spPr>
      </p:sp>
      <p:pic>
        <p:nvPicPr>
          <p:cNvPr id="18" name="Image 3" descr="preencoded.png">    </p:cNvPr>
          <p:cNvPicPr>
            <a:picLocks noChangeAspect="1"/>
          </p:cNvPicPr>
          <p:nvPr/>
        </p:nvPicPr>
        <p:blipFill>
          <a:blip r:embed="rId4"/>
          <a:stretch>
            <a:fillRect/>
          </a:stretch>
        </p:blipFill>
        <p:spPr>
          <a:xfrm>
            <a:off x="9733788" y="2176272"/>
            <a:ext cx="384048" cy="384048"/>
          </a:xfrm>
          <a:prstGeom prst="rect">
            <a:avLst/>
          </a:prstGeom>
        </p:spPr>
      </p:pic>
      <p:sp>
        <p:nvSpPr>
          <p:cNvPr id="19" name="Text 13"/>
          <p:cNvSpPr/>
          <p:nvPr/>
        </p:nvSpPr>
        <p:spPr>
          <a:xfrm>
            <a:off x="8211312" y="2715768"/>
            <a:ext cx="3429000"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Bubble Chart</a:t>
            </a:r>
            <a:endParaRPr lang="en-US" sz="1300" dirty="0"/>
          </a:p>
        </p:txBody>
      </p:sp>
      <p:sp>
        <p:nvSpPr>
          <p:cNvPr id="20" name="Text 14"/>
          <p:cNvSpPr/>
          <p:nvPr/>
        </p:nvSpPr>
        <p:spPr>
          <a:xfrm>
            <a:off x="8266176" y="3099816"/>
            <a:ext cx="3319272"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A scatter plot with a third variable shown as bubble size. Avoid when size differences are hard to judge precisely</a:t>
            </a:r>
            <a:endParaRPr lang="en-US" sz="1100" dirty="0"/>
          </a:p>
        </p:txBody>
      </p:sp>
      <p:sp>
        <p:nvSpPr>
          <p:cNvPr id="21" name="Text 15"/>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22"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45</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Heatmaps &amp; Correlation Matrices</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54480"/>
            <a:ext cx="3657600" cy="4663440"/>
          </a:xfrm>
          <a:prstGeom prst="roundRect">
            <a:avLst>
              <a:gd name="adj" fmla="val 4500"/>
            </a:avLst>
          </a:prstGeom>
          <a:solidFill>
            <a:srgbClr val="EDE9FE"/>
          </a:solidFill>
          <a:ln w="12700">
            <a:solidFill>
              <a:srgbClr val="D8D2F5"/>
            </a:solidFill>
            <a:prstDash val="solid"/>
          </a:ln>
        </p:spPr>
      </p:sp>
      <p:sp>
        <p:nvSpPr>
          <p:cNvPr id="7" name="Shape 4"/>
          <p:cNvSpPr/>
          <p:nvPr/>
        </p:nvSpPr>
        <p:spPr>
          <a:xfrm>
            <a:off x="1508760" y="2194560"/>
            <a:ext cx="1554480" cy="155448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1746504" y="2423160"/>
            <a:ext cx="1088136" cy="1088136"/>
          </a:xfrm>
          <a:prstGeom prst="rect">
            <a:avLst/>
          </a:prstGeom>
        </p:spPr>
      </p:pic>
      <p:sp>
        <p:nvSpPr>
          <p:cNvPr id="9" name="Text 5"/>
          <p:cNvSpPr/>
          <p:nvPr/>
        </p:nvSpPr>
        <p:spPr>
          <a:xfrm>
            <a:off x="640080" y="3977640"/>
            <a:ext cx="3291840" cy="1737360"/>
          </a:xfrm>
          <a:prstGeom prst="rect">
            <a:avLst/>
          </a:prstGeom>
          <a:noFill/>
          <a:ln/>
        </p:spPr>
        <p:txBody>
          <a:bodyPr wrap="square" lIns="0" tIns="0" rIns="0" bIns="0" rtlCol="0" anchor="t"/>
          <a:lstStyle/>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Color as</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a stand-in</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for numbers</a:t>
            </a:r>
            <a:endParaRPr lang="en-US" sz="1600" dirty="0"/>
          </a:p>
        </p:txBody>
      </p:sp>
      <p:sp>
        <p:nvSpPr>
          <p:cNvPr id="10" name="Text 6"/>
          <p:cNvSpPr/>
          <p:nvPr/>
        </p:nvSpPr>
        <p:spPr>
          <a:xfrm>
            <a:off x="4572000" y="1737360"/>
            <a:ext cx="7132320" cy="4114800"/>
          </a:xfrm>
          <a:prstGeom prst="rect">
            <a:avLst/>
          </a:prstGeom>
          <a:noFill/>
          <a:ln/>
        </p:spPr>
        <p:txBody>
          <a:bodyPr wrap="square" lIns="0" tIns="0" rIns="0" bIns="0" rtlCol="0" anchor="t"/>
          <a:lstStyle/>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A heatmap uses color intensity instead of length or position to represent values — useful whenever you have a full grid of numbers to compare at once</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A correlation matrix is the most common heatmap you’ll build in data science — it shows how strongly every numerical variable relates to every other one, all at once</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Use it to quickly scan for strong relationships across many variables before deciding which pairs deserve a closer look with a scatter plot</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Avoid it when you only have two or three variables — at that point, a simple scatter plot communicates the same thing far more precisely</a:t>
            </a:r>
            <a:endParaRPr lang="en-US" sz="1600" dirty="0"/>
          </a:p>
        </p:txBody>
      </p:sp>
      <p:sp>
        <p:nvSpPr>
          <p:cNvPr id="11" name="Text 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2" name="Text 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46</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Reading a Correlation Heatmap</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Text 3"/>
          <p:cNvSpPr/>
          <p:nvPr/>
        </p:nvSpPr>
        <p:spPr>
          <a:xfrm>
            <a:off x="3931920" y="1371600"/>
            <a:ext cx="960120" cy="365760"/>
          </a:xfrm>
          <a:prstGeom prst="rect">
            <a:avLst/>
          </a:prstGeom>
          <a:noFill/>
          <a:ln/>
        </p:spPr>
        <p:txBody>
          <a:bodyPr wrap="square" lIns="0" tIns="0" rIns="0" bIns="0" rtlCol="0" anchor="ctr"/>
          <a:lstStyle/>
          <a:p>
            <a:pPr algn="ctr" indent="0" marL="0">
              <a:buNone/>
            </a:pPr>
            <a:r>
              <a:rPr lang="en-US" sz="1100" b="1" dirty="0">
                <a:solidFill>
                  <a:srgbClr val="2D2A4A"/>
                </a:solidFill>
                <a:latin typeface="Calibri" pitchFamily="34" charset="0"/>
                <a:ea typeface="Calibri" pitchFamily="34" charset="-122"/>
                <a:cs typeface="Calibri" pitchFamily="34" charset="-120"/>
              </a:rPr>
              <a:t>Age</a:t>
            </a:r>
            <a:endParaRPr lang="en-US" sz="1100" dirty="0"/>
          </a:p>
        </p:txBody>
      </p:sp>
      <p:sp>
        <p:nvSpPr>
          <p:cNvPr id="7" name="Text 4"/>
          <p:cNvSpPr/>
          <p:nvPr/>
        </p:nvSpPr>
        <p:spPr>
          <a:xfrm>
            <a:off x="4892040" y="1371600"/>
            <a:ext cx="960120" cy="365760"/>
          </a:xfrm>
          <a:prstGeom prst="rect">
            <a:avLst/>
          </a:prstGeom>
          <a:noFill/>
          <a:ln/>
        </p:spPr>
        <p:txBody>
          <a:bodyPr wrap="square" lIns="0" tIns="0" rIns="0" bIns="0" rtlCol="0" anchor="ctr"/>
          <a:lstStyle/>
          <a:p>
            <a:pPr algn="ctr" indent="0" marL="0">
              <a:buNone/>
            </a:pPr>
            <a:r>
              <a:rPr lang="en-US" sz="1100" b="1" dirty="0">
                <a:solidFill>
                  <a:srgbClr val="2D2A4A"/>
                </a:solidFill>
                <a:latin typeface="Calibri" pitchFamily="34" charset="0"/>
                <a:ea typeface="Calibri" pitchFamily="34" charset="-122"/>
                <a:cs typeface="Calibri" pitchFamily="34" charset="-120"/>
              </a:rPr>
              <a:t>Income</a:t>
            </a:r>
            <a:endParaRPr lang="en-US" sz="1100" dirty="0"/>
          </a:p>
        </p:txBody>
      </p:sp>
      <p:sp>
        <p:nvSpPr>
          <p:cNvPr id="8" name="Text 5"/>
          <p:cNvSpPr/>
          <p:nvPr/>
        </p:nvSpPr>
        <p:spPr>
          <a:xfrm>
            <a:off x="5852160" y="1371600"/>
            <a:ext cx="960120" cy="365760"/>
          </a:xfrm>
          <a:prstGeom prst="rect">
            <a:avLst/>
          </a:prstGeom>
          <a:noFill/>
          <a:ln/>
        </p:spPr>
        <p:txBody>
          <a:bodyPr wrap="square" lIns="0" tIns="0" rIns="0" bIns="0" rtlCol="0" anchor="ctr"/>
          <a:lstStyle/>
          <a:p>
            <a:pPr algn="ctr" indent="0" marL="0">
              <a:buNone/>
            </a:pPr>
            <a:r>
              <a:rPr lang="en-US" sz="1100" b="1" dirty="0">
                <a:solidFill>
                  <a:srgbClr val="2D2A4A"/>
                </a:solidFill>
                <a:latin typeface="Calibri" pitchFamily="34" charset="0"/>
                <a:ea typeface="Calibri" pitchFamily="34" charset="-122"/>
                <a:cs typeface="Calibri" pitchFamily="34" charset="-120"/>
              </a:rPr>
              <a:t>Spend</a:t>
            </a:r>
            <a:endParaRPr lang="en-US" sz="1100" dirty="0"/>
          </a:p>
        </p:txBody>
      </p:sp>
      <p:sp>
        <p:nvSpPr>
          <p:cNvPr id="9" name="Text 6"/>
          <p:cNvSpPr/>
          <p:nvPr/>
        </p:nvSpPr>
        <p:spPr>
          <a:xfrm>
            <a:off x="6812280" y="1371600"/>
            <a:ext cx="960120" cy="365760"/>
          </a:xfrm>
          <a:prstGeom prst="rect">
            <a:avLst/>
          </a:prstGeom>
          <a:noFill/>
          <a:ln/>
        </p:spPr>
        <p:txBody>
          <a:bodyPr wrap="square" lIns="0" tIns="0" rIns="0" bIns="0" rtlCol="0" anchor="ctr"/>
          <a:lstStyle/>
          <a:p>
            <a:pPr algn="ctr" indent="0" marL="0">
              <a:buNone/>
            </a:pPr>
            <a:r>
              <a:rPr lang="en-US" sz="1100" b="1" dirty="0">
                <a:solidFill>
                  <a:srgbClr val="2D2A4A"/>
                </a:solidFill>
                <a:latin typeface="Calibri" pitchFamily="34" charset="0"/>
                <a:ea typeface="Calibri" pitchFamily="34" charset="-122"/>
                <a:cs typeface="Calibri" pitchFamily="34" charset="-120"/>
              </a:rPr>
              <a:t>Rating</a:t>
            </a:r>
            <a:endParaRPr lang="en-US" sz="1100" dirty="0"/>
          </a:p>
        </p:txBody>
      </p:sp>
      <p:sp>
        <p:nvSpPr>
          <p:cNvPr id="10" name="Text 7"/>
          <p:cNvSpPr/>
          <p:nvPr/>
        </p:nvSpPr>
        <p:spPr>
          <a:xfrm>
            <a:off x="2560320" y="1828800"/>
            <a:ext cx="1280160" cy="960120"/>
          </a:xfrm>
          <a:prstGeom prst="rect">
            <a:avLst/>
          </a:prstGeom>
          <a:noFill/>
          <a:ln/>
        </p:spPr>
        <p:txBody>
          <a:bodyPr wrap="square" lIns="0" tIns="0" rIns="0" bIns="0" rtlCol="0" anchor="ctr"/>
          <a:lstStyle/>
          <a:p>
            <a:pPr algn="r" indent="0" marL="0">
              <a:buNone/>
            </a:pPr>
            <a:r>
              <a:rPr lang="en-US" sz="1100" b="1" dirty="0">
                <a:solidFill>
                  <a:srgbClr val="2D2A4A"/>
                </a:solidFill>
                <a:latin typeface="Calibri" pitchFamily="34" charset="0"/>
                <a:ea typeface="Calibri" pitchFamily="34" charset="-122"/>
                <a:cs typeface="Calibri" pitchFamily="34" charset="-120"/>
              </a:rPr>
              <a:t>Age</a:t>
            </a:r>
            <a:endParaRPr lang="en-US" sz="1100" dirty="0"/>
          </a:p>
        </p:txBody>
      </p:sp>
      <p:sp>
        <p:nvSpPr>
          <p:cNvPr id="11" name="Shape 8"/>
          <p:cNvSpPr/>
          <p:nvPr/>
        </p:nvSpPr>
        <p:spPr>
          <a:xfrm>
            <a:off x="3931920" y="1828800"/>
            <a:ext cx="960120" cy="960120"/>
          </a:xfrm>
          <a:prstGeom prst="rect">
            <a:avLst/>
          </a:prstGeom>
          <a:solidFill>
            <a:srgbClr val="6B5FD1"/>
          </a:solidFill>
          <a:ln w="12700">
            <a:solidFill>
              <a:srgbClr val="D8D2F5"/>
            </a:solidFill>
            <a:prstDash val="solid"/>
          </a:ln>
        </p:spPr>
      </p:sp>
      <p:sp>
        <p:nvSpPr>
          <p:cNvPr id="12" name="Text 9"/>
          <p:cNvSpPr/>
          <p:nvPr/>
        </p:nvSpPr>
        <p:spPr>
          <a:xfrm>
            <a:off x="3931920" y="1828800"/>
            <a:ext cx="960120"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1.00</a:t>
            </a:r>
            <a:endParaRPr lang="en-US" sz="1200" dirty="0"/>
          </a:p>
        </p:txBody>
      </p:sp>
      <p:sp>
        <p:nvSpPr>
          <p:cNvPr id="13" name="Shape 10"/>
          <p:cNvSpPr/>
          <p:nvPr/>
        </p:nvSpPr>
        <p:spPr>
          <a:xfrm>
            <a:off x="4892040" y="1828800"/>
            <a:ext cx="960120" cy="960120"/>
          </a:xfrm>
          <a:prstGeom prst="rect">
            <a:avLst/>
          </a:prstGeom>
          <a:solidFill>
            <a:srgbClr val="8B7FE8"/>
          </a:solidFill>
          <a:ln w="12700">
            <a:solidFill>
              <a:srgbClr val="D8D2F5"/>
            </a:solidFill>
            <a:prstDash val="solid"/>
          </a:ln>
        </p:spPr>
      </p:sp>
      <p:sp>
        <p:nvSpPr>
          <p:cNvPr id="14" name="Text 11"/>
          <p:cNvSpPr/>
          <p:nvPr/>
        </p:nvSpPr>
        <p:spPr>
          <a:xfrm>
            <a:off x="4892040" y="1828800"/>
            <a:ext cx="960120"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0.62</a:t>
            </a:r>
            <a:endParaRPr lang="en-US" sz="1200" dirty="0"/>
          </a:p>
        </p:txBody>
      </p:sp>
      <p:sp>
        <p:nvSpPr>
          <p:cNvPr id="15" name="Shape 12"/>
          <p:cNvSpPr/>
          <p:nvPr/>
        </p:nvSpPr>
        <p:spPr>
          <a:xfrm>
            <a:off x="5852160" y="1828800"/>
            <a:ext cx="960120" cy="960120"/>
          </a:xfrm>
          <a:prstGeom prst="rect">
            <a:avLst/>
          </a:prstGeom>
          <a:solidFill>
            <a:srgbClr val="FF8FB3"/>
          </a:solidFill>
          <a:ln w="12700">
            <a:solidFill>
              <a:srgbClr val="D8D2F5"/>
            </a:solidFill>
            <a:prstDash val="solid"/>
          </a:ln>
        </p:spPr>
      </p:sp>
      <p:sp>
        <p:nvSpPr>
          <p:cNvPr id="16" name="Text 13"/>
          <p:cNvSpPr/>
          <p:nvPr/>
        </p:nvSpPr>
        <p:spPr>
          <a:xfrm>
            <a:off x="5852160" y="1828800"/>
            <a:ext cx="960120" cy="960120"/>
          </a:xfrm>
          <a:prstGeom prst="rect">
            <a:avLst/>
          </a:prstGeom>
          <a:noFill/>
          <a:ln/>
        </p:spPr>
        <p:txBody>
          <a:bodyPr wrap="square" lIns="0" tIns="0" rIns="0" bIns="0" rtlCol="0" anchor="ctr"/>
          <a:lstStyle/>
          <a:p>
            <a:pPr algn="ctr" indent="0" marL="0">
              <a:buNone/>
            </a:pPr>
            <a:r>
              <a:rPr lang="en-US" sz="1200" b="1" dirty="0">
                <a:solidFill>
                  <a:srgbClr val="2D2A4A"/>
                </a:solidFill>
                <a:latin typeface="Consolas" pitchFamily="34" charset="0"/>
                <a:ea typeface="Consolas" pitchFamily="34" charset="-122"/>
                <a:cs typeface="Consolas" pitchFamily="34" charset="-120"/>
              </a:rPr>
              <a:t>-0.18</a:t>
            </a:r>
            <a:endParaRPr lang="en-US" sz="1200" dirty="0"/>
          </a:p>
        </p:txBody>
      </p:sp>
      <p:sp>
        <p:nvSpPr>
          <p:cNvPr id="17" name="Shape 14"/>
          <p:cNvSpPr/>
          <p:nvPr/>
        </p:nvSpPr>
        <p:spPr>
          <a:xfrm>
            <a:off x="6812280" y="1828800"/>
            <a:ext cx="960120" cy="960120"/>
          </a:xfrm>
          <a:prstGeom prst="rect">
            <a:avLst/>
          </a:prstGeom>
          <a:solidFill>
            <a:srgbClr val="FFFFFF"/>
          </a:solidFill>
          <a:ln w="12700">
            <a:solidFill>
              <a:srgbClr val="D8D2F5"/>
            </a:solidFill>
            <a:prstDash val="solid"/>
          </a:ln>
        </p:spPr>
      </p:sp>
      <p:sp>
        <p:nvSpPr>
          <p:cNvPr id="18" name="Text 15"/>
          <p:cNvSpPr/>
          <p:nvPr/>
        </p:nvSpPr>
        <p:spPr>
          <a:xfrm>
            <a:off x="6812280" y="1828800"/>
            <a:ext cx="960120" cy="960120"/>
          </a:xfrm>
          <a:prstGeom prst="rect">
            <a:avLst/>
          </a:prstGeom>
          <a:noFill/>
          <a:ln/>
        </p:spPr>
        <p:txBody>
          <a:bodyPr wrap="square" lIns="0" tIns="0" rIns="0" bIns="0" rtlCol="0" anchor="ctr"/>
          <a:lstStyle/>
          <a:p>
            <a:pPr algn="ctr" indent="0" marL="0">
              <a:buNone/>
            </a:pPr>
            <a:r>
              <a:rPr lang="en-US" sz="1200" b="1" dirty="0">
                <a:solidFill>
                  <a:srgbClr val="2D2A4A"/>
                </a:solidFill>
                <a:latin typeface="Consolas" pitchFamily="34" charset="0"/>
                <a:ea typeface="Consolas" pitchFamily="34" charset="-122"/>
                <a:cs typeface="Consolas" pitchFamily="34" charset="-120"/>
              </a:rPr>
              <a:t>0.05</a:t>
            </a:r>
            <a:endParaRPr lang="en-US" sz="1200" dirty="0"/>
          </a:p>
        </p:txBody>
      </p:sp>
      <p:sp>
        <p:nvSpPr>
          <p:cNvPr id="19" name="Text 16"/>
          <p:cNvSpPr/>
          <p:nvPr/>
        </p:nvSpPr>
        <p:spPr>
          <a:xfrm>
            <a:off x="2560320" y="2788920"/>
            <a:ext cx="1280160" cy="960120"/>
          </a:xfrm>
          <a:prstGeom prst="rect">
            <a:avLst/>
          </a:prstGeom>
          <a:noFill/>
          <a:ln/>
        </p:spPr>
        <p:txBody>
          <a:bodyPr wrap="square" lIns="0" tIns="0" rIns="0" bIns="0" rtlCol="0" anchor="ctr"/>
          <a:lstStyle/>
          <a:p>
            <a:pPr algn="r" indent="0" marL="0">
              <a:buNone/>
            </a:pPr>
            <a:r>
              <a:rPr lang="en-US" sz="1100" b="1" dirty="0">
                <a:solidFill>
                  <a:srgbClr val="2D2A4A"/>
                </a:solidFill>
                <a:latin typeface="Calibri" pitchFamily="34" charset="0"/>
                <a:ea typeface="Calibri" pitchFamily="34" charset="-122"/>
                <a:cs typeface="Calibri" pitchFamily="34" charset="-120"/>
              </a:rPr>
              <a:t>Income</a:t>
            </a:r>
            <a:endParaRPr lang="en-US" sz="1100" dirty="0"/>
          </a:p>
        </p:txBody>
      </p:sp>
      <p:sp>
        <p:nvSpPr>
          <p:cNvPr id="20" name="Shape 17"/>
          <p:cNvSpPr/>
          <p:nvPr/>
        </p:nvSpPr>
        <p:spPr>
          <a:xfrm>
            <a:off x="3931920" y="2788920"/>
            <a:ext cx="960120" cy="960120"/>
          </a:xfrm>
          <a:prstGeom prst="rect">
            <a:avLst/>
          </a:prstGeom>
          <a:solidFill>
            <a:srgbClr val="8B7FE8"/>
          </a:solidFill>
          <a:ln w="12700">
            <a:solidFill>
              <a:srgbClr val="D8D2F5"/>
            </a:solidFill>
            <a:prstDash val="solid"/>
          </a:ln>
        </p:spPr>
      </p:sp>
      <p:sp>
        <p:nvSpPr>
          <p:cNvPr id="21" name="Text 18"/>
          <p:cNvSpPr/>
          <p:nvPr/>
        </p:nvSpPr>
        <p:spPr>
          <a:xfrm>
            <a:off x="3931920" y="2788920"/>
            <a:ext cx="960120"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0.62</a:t>
            </a:r>
            <a:endParaRPr lang="en-US" sz="1200" dirty="0"/>
          </a:p>
        </p:txBody>
      </p:sp>
      <p:sp>
        <p:nvSpPr>
          <p:cNvPr id="22" name="Shape 19"/>
          <p:cNvSpPr/>
          <p:nvPr/>
        </p:nvSpPr>
        <p:spPr>
          <a:xfrm>
            <a:off x="4892040" y="2788920"/>
            <a:ext cx="960120" cy="960120"/>
          </a:xfrm>
          <a:prstGeom prst="rect">
            <a:avLst/>
          </a:prstGeom>
          <a:solidFill>
            <a:srgbClr val="6B5FD1"/>
          </a:solidFill>
          <a:ln w="12700">
            <a:solidFill>
              <a:srgbClr val="D8D2F5"/>
            </a:solidFill>
            <a:prstDash val="solid"/>
          </a:ln>
        </p:spPr>
      </p:sp>
      <p:sp>
        <p:nvSpPr>
          <p:cNvPr id="23" name="Text 20"/>
          <p:cNvSpPr/>
          <p:nvPr/>
        </p:nvSpPr>
        <p:spPr>
          <a:xfrm>
            <a:off x="4892040" y="2788920"/>
            <a:ext cx="960120"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1.00</a:t>
            </a:r>
            <a:endParaRPr lang="en-US" sz="1200" dirty="0"/>
          </a:p>
        </p:txBody>
      </p:sp>
      <p:sp>
        <p:nvSpPr>
          <p:cNvPr id="24" name="Shape 21"/>
          <p:cNvSpPr/>
          <p:nvPr/>
        </p:nvSpPr>
        <p:spPr>
          <a:xfrm>
            <a:off x="5852160" y="2788920"/>
            <a:ext cx="960120" cy="960120"/>
          </a:xfrm>
          <a:prstGeom prst="rect">
            <a:avLst/>
          </a:prstGeom>
          <a:solidFill>
            <a:srgbClr val="8B7FE8"/>
          </a:solidFill>
          <a:ln w="12700">
            <a:solidFill>
              <a:srgbClr val="D8D2F5"/>
            </a:solidFill>
            <a:prstDash val="solid"/>
          </a:ln>
        </p:spPr>
      </p:sp>
      <p:sp>
        <p:nvSpPr>
          <p:cNvPr id="25" name="Text 22"/>
          <p:cNvSpPr/>
          <p:nvPr/>
        </p:nvSpPr>
        <p:spPr>
          <a:xfrm>
            <a:off x="5852160" y="2788920"/>
            <a:ext cx="960120"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0.71</a:t>
            </a:r>
            <a:endParaRPr lang="en-US" sz="1200" dirty="0"/>
          </a:p>
        </p:txBody>
      </p:sp>
      <p:sp>
        <p:nvSpPr>
          <p:cNvPr id="26" name="Shape 23"/>
          <p:cNvSpPr/>
          <p:nvPr/>
        </p:nvSpPr>
        <p:spPr>
          <a:xfrm>
            <a:off x="6812280" y="2788920"/>
            <a:ext cx="960120" cy="960120"/>
          </a:xfrm>
          <a:prstGeom prst="rect">
            <a:avLst/>
          </a:prstGeom>
          <a:solidFill>
            <a:srgbClr val="FFFFFF"/>
          </a:solidFill>
          <a:ln w="12700">
            <a:solidFill>
              <a:srgbClr val="D8D2F5"/>
            </a:solidFill>
            <a:prstDash val="solid"/>
          </a:ln>
        </p:spPr>
      </p:sp>
      <p:sp>
        <p:nvSpPr>
          <p:cNvPr id="27" name="Text 24"/>
          <p:cNvSpPr/>
          <p:nvPr/>
        </p:nvSpPr>
        <p:spPr>
          <a:xfrm>
            <a:off x="6812280" y="2788920"/>
            <a:ext cx="960120" cy="960120"/>
          </a:xfrm>
          <a:prstGeom prst="rect">
            <a:avLst/>
          </a:prstGeom>
          <a:noFill/>
          <a:ln/>
        </p:spPr>
        <p:txBody>
          <a:bodyPr wrap="square" lIns="0" tIns="0" rIns="0" bIns="0" rtlCol="0" anchor="ctr"/>
          <a:lstStyle/>
          <a:p>
            <a:pPr algn="ctr" indent="0" marL="0">
              <a:buNone/>
            </a:pPr>
            <a:r>
              <a:rPr lang="en-US" sz="1200" b="1" dirty="0">
                <a:solidFill>
                  <a:srgbClr val="2D2A4A"/>
                </a:solidFill>
                <a:latin typeface="Consolas" pitchFamily="34" charset="0"/>
                <a:ea typeface="Consolas" pitchFamily="34" charset="-122"/>
                <a:cs typeface="Consolas" pitchFamily="34" charset="-120"/>
              </a:rPr>
              <a:t>-0.10</a:t>
            </a:r>
            <a:endParaRPr lang="en-US" sz="1200" dirty="0"/>
          </a:p>
        </p:txBody>
      </p:sp>
      <p:sp>
        <p:nvSpPr>
          <p:cNvPr id="28" name="Text 25"/>
          <p:cNvSpPr/>
          <p:nvPr/>
        </p:nvSpPr>
        <p:spPr>
          <a:xfrm>
            <a:off x="2560320" y="3749040"/>
            <a:ext cx="1280160" cy="960120"/>
          </a:xfrm>
          <a:prstGeom prst="rect">
            <a:avLst/>
          </a:prstGeom>
          <a:noFill/>
          <a:ln/>
        </p:spPr>
        <p:txBody>
          <a:bodyPr wrap="square" lIns="0" tIns="0" rIns="0" bIns="0" rtlCol="0" anchor="ctr"/>
          <a:lstStyle/>
          <a:p>
            <a:pPr algn="r" indent="0" marL="0">
              <a:buNone/>
            </a:pPr>
            <a:r>
              <a:rPr lang="en-US" sz="1100" b="1" dirty="0">
                <a:solidFill>
                  <a:srgbClr val="2D2A4A"/>
                </a:solidFill>
                <a:latin typeface="Calibri" pitchFamily="34" charset="0"/>
                <a:ea typeface="Calibri" pitchFamily="34" charset="-122"/>
                <a:cs typeface="Calibri" pitchFamily="34" charset="-120"/>
              </a:rPr>
              <a:t>Spend</a:t>
            </a:r>
            <a:endParaRPr lang="en-US" sz="1100" dirty="0"/>
          </a:p>
        </p:txBody>
      </p:sp>
      <p:sp>
        <p:nvSpPr>
          <p:cNvPr id="29" name="Shape 26"/>
          <p:cNvSpPr/>
          <p:nvPr/>
        </p:nvSpPr>
        <p:spPr>
          <a:xfrm>
            <a:off x="3931920" y="3749040"/>
            <a:ext cx="960120" cy="960120"/>
          </a:xfrm>
          <a:prstGeom prst="rect">
            <a:avLst/>
          </a:prstGeom>
          <a:solidFill>
            <a:srgbClr val="FF8FB3"/>
          </a:solidFill>
          <a:ln w="12700">
            <a:solidFill>
              <a:srgbClr val="D8D2F5"/>
            </a:solidFill>
            <a:prstDash val="solid"/>
          </a:ln>
        </p:spPr>
      </p:sp>
      <p:sp>
        <p:nvSpPr>
          <p:cNvPr id="30" name="Text 27"/>
          <p:cNvSpPr/>
          <p:nvPr/>
        </p:nvSpPr>
        <p:spPr>
          <a:xfrm>
            <a:off x="3931920" y="3749040"/>
            <a:ext cx="960120" cy="960120"/>
          </a:xfrm>
          <a:prstGeom prst="rect">
            <a:avLst/>
          </a:prstGeom>
          <a:noFill/>
          <a:ln/>
        </p:spPr>
        <p:txBody>
          <a:bodyPr wrap="square" lIns="0" tIns="0" rIns="0" bIns="0" rtlCol="0" anchor="ctr"/>
          <a:lstStyle/>
          <a:p>
            <a:pPr algn="ctr" indent="0" marL="0">
              <a:buNone/>
            </a:pPr>
            <a:r>
              <a:rPr lang="en-US" sz="1200" b="1" dirty="0">
                <a:solidFill>
                  <a:srgbClr val="2D2A4A"/>
                </a:solidFill>
                <a:latin typeface="Consolas" pitchFamily="34" charset="0"/>
                <a:ea typeface="Consolas" pitchFamily="34" charset="-122"/>
                <a:cs typeface="Consolas" pitchFamily="34" charset="-120"/>
              </a:rPr>
              <a:t>-0.18</a:t>
            </a:r>
            <a:endParaRPr lang="en-US" sz="1200" dirty="0"/>
          </a:p>
        </p:txBody>
      </p:sp>
      <p:sp>
        <p:nvSpPr>
          <p:cNvPr id="31" name="Shape 28"/>
          <p:cNvSpPr/>
          <p:nvPr/>
        </p:nvSpPr>
        <p:spPr>
          <a:xfrm>
            <a:off x="4892040" y="3749040"/>
            <a:ext cx="960120" cy="960120"/>
          </a:xfrm>
          <a:prstGeom prst="rect">
            <a:avLst/>
          </a:prstGeom>
          <a:solidFill>
            <a:srgbClr val="8B7FE8"/>
          </a:solidFill>
          <a:ln w="12700">
            <a:solidFill>
              <a:srgbClr val="D8D2F5"/>
            </a:solidFill>
            <a:prstDash val="solid"/>
          </a:ln>
        </p:spPr>
      </p:sp>
      <p:sp>
        <p:nvSpPr>
          <p:cNvPr id="32" name="Text 29"/>
          <p:cNvSpPr/>
          <p:nvPr/>
        </p:nvSpPr>
        <p:spPr>
          <a:xfrm>
            <a:off x="4892040" y="3749040"/>
            <a:ext cx="960120"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0.71</a:t>
            </a:r>
            <a:endParaRPr lang="en-US" sz="1200" dirty="0"/>
          </a:p>
        </p:txBody>
      </p:sp>
      <p:sp>
        <p:nvSpPr>
          <p:cNvPr id="33" name="Shape 30"/>
          <p:cNvSpPr/>
          <p:nvPr/>
        </p:nvSpPr>
        <p:spPr>
          <a:xfrm>
            <a:off x="5852160" y="3749040"/>
            <a:ext cx="960120" cy="960120"/>
          </a:xfrm>
          <a:prstGeom prst="rect">
            <a:avLst/>
          </a:prstGeom>
          <a:solidFill>
            <a:srgbClr val="6B5FD1"/>
          </a:solidFill>
          <a:ln w="12700">
            <a:solidFill>
              <a:srgbClr val="D8D2F5"/>
            </a:solidFill>
            <a:prstDash val="solid"/>
          </a:ln>
        </p:spPr>
      </p:sp>
      <p:sp>
        <p:nvSpPr>
          <p:cNvPr id="34" name="Text 31"/>
          <p:cNvSpPr/>
          <p:nvPr/>
        </p:nvSpPr>
        <p:spPr>
          <a:xfrm>
            <a:off x="5852160" y="3749040"/>
            <a:ext cx="960120"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1.00</a:t>
            </a:r>
            <a:endParaRPr lang="en-US" sz="1200" dirty="0"/>
          </a:p>
        </p:txBody>
      </p:sp>
      <p:sp>
        <p:nvSpPr>
          <p:cNvPr id="35" name="Shape 32"/>
          <p:cNvSpPr/>
          <p:nvPr/>
        </p:nvSpPr>
        <p:spPr>
          <a:xfrm>
            <a:off x="6812280" y="3749040"/>
            <a:ext cx="960120" cy="960120"/>
          </a:xfrm>
          <a:prstGeom prst="rect">
            <a:avLst/>
          </a:prstGeom>
          <a:solidFill>
            <a:srgbClr val="EDE9FE"/>
          </a:solidFill>
          <a:ln w="12700">
            <a:solidFill>
              <a:srgbClr val="D8D2F5"/>
            </a:solidFill>
            <a:prstDash val="solid"/>
          </a:ln>
        </p:spPr>
      </p:sp>
      <p:sp>
        <p:nvSpPr>
          <p:cNvPr id="36" name="Text 33"/>
          <p:cNvSpPr/>
          <p:nvPr/>
        </p:nvSpPr>
        <p:spPr>
          <a:xfrm>
            <a:off x="6812280" y="3749040"/>
            <a:ext cx="960120" cy="960120"/>
          </a:xfrm>
          <a:prstGeom prst="rect">
            <a:avLst/>
          </a:prstGeom>
          <a:noFill/>
          <a:ln/>
        </p:spPr>
        <p:txBody>
          <a:bodyPr wrap="square" lIns="0" tIns="0" rIns="0" bIns="0" rtlCol="0" anchor="ctr"/>
          <a:lstStyle/>
          <a:p>
            <a:pPr algn="ctr" indent="0" marL="0">
              <a:buNone/>
            </a:pPr>
            <a:r>
              <a:rPr lang="en-US" sz="1200" b="1" dirty="0">
                <a:solidFill>
                  <a:srgbClr val="2D2A4A"/>
                </a:solidFill>
                <a:latin typeface="Consolas" pitchFamily="34" charset="0"/>
                <a:ea typeface="Consolas" pitchFamily="34" charset="-122"/>
                <a:cs typeface="Consolas" pitchFamily="34" charset="-120"/>
              </a:rPr>
              <a:t>0.34</a:t>
            </a:r>
            <a:endParaRPr lang="en-US" sz="1200" dirty="0"/>
          </a:p>
        </p:txBody>
      </p:sp>
      <p:sp>
        <p:nvSpPr>
          <p:cNvPr id="37" name="Text 34"/>
          <p:cNvSpPr/>
          <p:nvPr/>
        </p:nvSpPr>
        <p:spPr>
          <a:xfrm>
            <a:off x="2560320" y="4709160"/>
            <a:ext cx="1280160" cy="960120"/>
          </a:xfrm>
          <a:prstGeom prst="rect">
            <a:avLst/>
          </a:prstGeom>
          <a:noFill/>
          <a:ln/>
        </p:spPr>
        <p:txBody>
          <a:bodyPr wrap="square" lIns="0" tIns="0" rIns="0" bIns="0" rtlCol="0" anchor="ctr"/>
          <a:lstStyle/>
          <a:p>
            <a:pPr algn="r" indent="0" marL="0">
              <a:buNone/>
            </a:pPr>
            <a:r>
              <a:rPr lang="en-US" sz="1100" b="1" dirty="0">
                <a:solidFill>
                  <a:srgbClr val="2D2A4A"/>
                </a:solidFill>
                <a:latin typeface="Calibri" pitchFamily="34" charset="0"/>
                <a:ea typeface="Calibri" pitchFamily="34" charset="-122"/>
                <a:cs typeface="Calibri" pitchFamily="34" charset="-120"/>
              </a:rPr>
              <a:t>Rating</a:t>
            </a:r>
            <a:endParaRPr lang="en-US" sz="1100" dirty="0"/>
          </a:p>
        </p:txBody>
      </p:sp>
      <p:sp>
        <p:nvSpPr>
          <p:cNvPr id="38" name="Shape 35"/>
          <p:cNvSpPr/>
          <p:nvPr/>
        </p:nvSpPr>
        <p:spPr>
          <a:xfrm>
            <a:off x="3931920" y="4709160"/>
            <a:ext cx="960120" cy="960120"/>
          </a:xfrm>
          <a:prstGeom prst="rect">
            <a:avLst/>
          </a:prstGeom>
          <a:solidFill>
            <a:srgbClr val="FFFFFF"/>
          </a:solidFill>
          <a:ln w="12700">
            <a:solidFill>
              <a:srgbClr val="D8D2F5"/>
            </a:solidFill>
            <a:prstDash val="solid"/>
          </a:ln>
        </p:spPr>
      </p:sp>
      <p:sp>
        <p:nvSpPr>
          <p:cNvPr id="39" name="Text 36"/>
          <p:cNvSpPr/>
          <p:nvPr/>
        </p:nvSpPr>
        <p:spPr>
          <a:xfrm>
            <a:off x="3931920" y="4709160"/>
            <a:ext cx="960120" cy="960120"/>
          </a:xfrm>
          <a:prstGeom prst="rect">
            <a:avLst/>
          </a:prstGeom>
          <a:noFill/>
          <a:ln/>
        </p:spPr>
        <p:txBody>
          <a:bodyPr wrap="square" lIns="0" tIns="0" rIns="0" bIns="0" rtlCol="0" anchor="ctr"/>
          <a:lstStyle/>
          <a:p>
            <a:pPr algn="ctr" indent="0" marL="0">
              <a:buNone/>
            </a:pPr>
            <a:r>
              <a:rPr lang="en-US" sz="1200" b="1" dirty="0">
                <a:solidFill>
                  <a:srgbClr val="2D2A4A"/>
                </a:solidFill>
                <a:latin typeface="Consolas" pitchFamily="34" charset="0"/>
                <a:ea typeface="Consolas" pitchFamily="34" charset="-122"/>
                <a:cs typeface="Consolas" pitchFamily="34" charset="-120"/>
              </a:rPr>
              <a:t>0.05</a:t>
            </a:r>
            <a:endParaRPr lang="en-US" sz="1200" dirty="0"/>
          </a:p>
        </p:txBody>
      </p:sp>
      <p:sp>
        <p:nvSpPr>
          <p:cNvPr id="40" name="Shape 37"/>
          <p:cNvSpPr/>
          <p:nvPr/>
        </p:nvSpPr>
        <p:spPr>
          <a:xfrm>
            <a:off x="4892040" y="4709160"/>
            <a:ext cx="960120" cy="960120"/>
          </a:xfrm>
          <a:prstGeom prst="rect">
            <a:avLst/>
          </a:prstGeom>
          <a:solidFill>
            <a:srgbClr val="FFFFFF"/>
          </a:solidFill>
          <a:ln w="12700">
            <a:solidFill>
              <a:srgbClr val="D8D2F5"/>
            </a:solidFill>
            <a:prstDash val="solid"/>
          </a:ln>
        </p:spPr>
      </p:sp>
      <p:sp>
        <p:nvSpPr>
          <p:cNvPr id="41" name="Text 38"/>
          <p:cNvSpPr/>
          <p:nvPr/>
        </p:nvSpPr>
        <p:spPr>
          <a:xfrm>
            <a:off x="4892040" y="4709160"/>
            <a:ext cx="960120" cy="960120"/>
          </a:xfrm>
          <a:prstGeom prst="rect">
            <a:avLst/>
          </a:prstGeom>
          <a:noFill/>
          <a:ln/>
        </p:spPr>
        <p:txBody>
          <a:bodyPr wrap="square" lIns="0" tIns="0" rIns="0" bIns="0" rtlCol="0" anchor="ctr"/>
          <a:lstStyle/>
          <a:p>
            <a:pPr algn="ctr" indent="0" marL="0">
              <a:buNone/>
            </a:pPr>
            <a:r>
              <a:rPr lang="en-US" sz="1200" b="1" dirty="0">
                <a:solidFill>
                  <a:srgbClr val="2D2A4A"/>
                </a:solidFill>
                <a:latin typeface="Consolas" pitchFamily="34" charset="0"/>
                <a:ea typeface="Consolas" pitchFamily="34" charset="-122"/>
                <a:cs typeface="Consolas" pitchFamily="34" charset="-120"/>
              </a:rPr>
              <a:t>-0.10</a:t>
            </a:r>
            <a:endParaRPr lang="en-US" sz="1200" dirty="0"/>
          </a:p>
        </p:txBody>
      </p:sp>
      <p:sp>
        <p:nvSpPr>
          <p:cNvPr id="42" name="Shape 39"/>
          <p:cNvSpPr/>
          <p:nvPr/>
        </p:nvSpPr>
        <p:spPr>
          <a:xfrm>
            <a:off x="5852160" y="4709160"/>
            <a:ext cx="960120" cy="960120"/>
          </a:xfrm>
          <a:prstGeom prst="rect">
            <a:avLst/>
          </a:prstGeom>
          <a:solidFill>
            <a:srgbClr val="EDE9FE"/>
          </a:solidFill>
          <a:ln w="12700">
            <a:solidFill>
              <a:srgbClr val="D8D2F5"/>
            </a:solidFill>
            <a:prstDash val="solid"/>
          </a:ln>
        </p:spPr>
      </p:sp>
      <p:sp>
        <p:nvSpPr>
          <p:cNvPr id="43" name="Text 40"/>
          <p:cNvSpPr/>
          <p:nvPr/>
        </p:nvSpPr>
        <p:spPr>
          <a:xfrm>
            <a:off x="5852160" y="4709160"/>
            <a:ext cx="960120" cy="960120"/>
          </a:xfrm>
          <a:prstGeom prst="rect">
            <a:avLst/>
          </a:prstGeom>
          <a:noFill/>
          <a:ln/>
        </p:spPr>
        <p:txBody>
          <a:bodyPr wrap="square" lIns="0" tIns="0" rIns="0" bIns="0" rtlCol="0" anchor="ctr"/>
          <a:lstStyle/>
          <a:p>
            <a:pPr algn="ctr" indent="0" marL="0">
              <a:buNone/>
            </a:pPr>
            <a:r>
              <a:rPr lang="en-US" sz="1200" b="1" dirty="0">
                <a:solidFill>
                  <a:srgbClr val="2D2A4A"/>
                </a:solidFill>
                <a:latin typeface="Consolas" pitchFamily="34" charset="0"/>
                <a:ea typeface="Consolas" pitchFamily="34" charset="-122"/>
                <a:cs typeface="Consolas" pitchFamily="34" charset="-120"/>
              </a:rPr>
              <a:t>0.34</a:t>
            </a:r>
            <a:endParaRPr lang="en-US" sz="1200" dirty="0"/>
          </a:p>
        </p:txBody>
      </p:sp>
      <p:sp>
        <p:nvSpPr>
          <p:cNvPr id="44" name="Shape 41"/>
          <p:cNvSpPr/>
          <p:nvPr/>
        </p:nvSpPr>
        <p:spPr>
          <a:xfrm>
            <a:off x="6812280" y="4709160"/>
            <a:ext cx="960120" cy="960120"/>
          </a:xfrm>
          <a:prstGeom prst="rect">
            <a:avLst/>
          </a:prstGeom>
          <a:solidFill>
            <a:srgbClr val="6B5FD1"/>
          </a:solidFill>
          <a:ln w="12700">
            <a:solidFill>
              <a:srgbClr val="D8D2F5"/>
            </a:solidFill>
            <a:prstDash val="solid"/>
          </a:ln>
        </p:spPr>
      </p:sp>
      <p:sp>
        <p:nvSpPr>
          <p:cNvPr id="45" name="Text 42"/>
          <p:cNvSpPr/>
          <p:nvPr/>
        </p:nvSpPr>
        <p:spPr>
          <a:xfrm>
            <a:off x="6812280" y="4709160"/>
            <a:ext cx="960120"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1.00</a:t>
            </a:r>
            <a:endParaRPr lang="en-US" sz="1200" dirty="0"/>
          </a:p>
        </p:txBody>
      </p:sp>
      <p:sp>
        <p:nvSpPr>
          <p:cNvPr id="46" name="Shape 43"/>
          <p:cNvSpPr/>
          <p:nvPr/>
        </p:nvSpPr>
        <p:spPr>
          <a:xfrm>
            <a:off x="914400" y="6126480"/>
            <a:ext cx="320040" cy="320040"/>
          </a:xfrm>
          <a:prstGeom prst="rect">
            <a:avLst/>
          </a:prstGeom>
          <a:solidFill>
            <a:srgbClr val="FF8FB3"/>
          </a:solidFill>
          <a:ln w="12700">
            <a:solidFill>
              <a:srgbClr val="D8D2F5"/>
            </a:solidFill>
            <a:prstDash val="solid"/>
          </a:ln>
        </p:spPr>
      </p:sp>
      <p:sp>
        <p:nvSpPr>
          <p:cNvPr id="47" name="Text 44"/>
          <p:cNvSpPr/>
          <p:nvPr/>
        </p:nvSpPr>
        <p:spPr>
          <a:xfrm>
            <a:off x="1325880" y="6126480"/>
            <a:ext cx="2148840" cy="32004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Near −1: strong negative</a:t>
            </a:r>
            <a:endParaRPr lang="en-US" sz="950" dirty="0"/>
          </a:p>
        </p:txBody>
      </p:sp>
      <p:sp>
        <p:nvSpPr>
          <p:cNvPr id="48" name="Shape 45"/>
          <p:cNvSpPr/>
          <p:nvPr/>
        </p:nvSpPr>
        <p:spPr>
          <a:xfrm>
            <a:off x="3566160" y="6126480"/>
            <a:ext cx="320040" cy="320040"/>
          </a:xfrm>
          <a:prstGeom prst="rect">
            <a:avLst/>
          </a:prstGeom>
          <a:solidFill>
            <a:srgbClr val="FFFFFF"/>
          </a:solidFill>
          <a:ln w="12700">
            <a:solidFill>
              <a:srgbClr val="D8D2F5"/>
            </a:solidFill>
            <a:prstDash val="solid"/>
          </a:ln>
        </p:spPr>
      </p:sp>
      <p:sp>
        <p:nvSpPr>
          <p:cNvPr id="49" name="Text 46"/>
          <p:cNvSpPr/>
          <p:nvPr/>
        </p:nvSpPr>
        <p:spPr>
          <a:xfrm>
            <a:off x="3977640" y="6126480"/>
            <a:ext cx="2148840" cy="32004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Near 0: little to no relationship</a:t>
            </a:r>
            <a:endParaRPr lang="en-US" sz="950" dirty="0"/>
          </a:p>
        </p:txBody>
      </p:sp>
      <p:sp>
        <p:nvSpPr>
          <p:cNvPr id="50" name="Shape 47"/>
          <p:cNvSpPr/>
          <p:nvPr/>
        </p:nvSpPr>
        <p:spPr>
          <a:xfrm>
            <a:off x="6217920" y="6126480"/>
            <a:ext cx="320040" cy="320040"/>
          </a:xfrm>
          <a:prstGeom prst="rect">
            <a:avLst/>
          </a:prstGeom>
          <a:solidFill>
            <a:srgbClr val="8B7FE8"/>
          </a:solidFill>
          <a:ln w="12700">
            <a:solidFill>
              <a:srgbClr val="D8D2F5"/>
            </a:solidFill>
            <a:prstDash val="solid"/>
          </a:ln>
        </p:spPr>
      </p:sp>
      <p:sp>
        <p:nvSpPr>
          <p:cNvPr id="51" name="Text 48"/>
          <p:cNvSpPr/>
          <p:nvPr/>
        </p:nvSpPr>
        <p:spPr>
          <a:xfrm>
            <a:off x="6629400" y="6126480"/>
            <a:ext cx="2148840" cy="32004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Near +1: strong positive</a:t>
            </a:r>
            <a:endParaRPr lang="en-US" sz="950" dirty="0"/>
          </a:p>
        </p:txBody>
      </p:sp>
      <p:sp>
        <p:nvSpPr>
          <p:cNvPr id="52" name="Shape 49"/>
          <p:cNvSpPr/>
          <p:nvPr/>
        </p:nvSpPr>
        <p:spPr>
          <a:xfrm>
            <a:off x="8869680" y="6126480"/>
            <a:ext cx="320040" cy="320040"/>
          </a:xfrm>
          <a:prstGeom prst="rect">
            <a:avLst/>
          </a:prstGeom>
          <a:solidFill>
            <a:srgbClr val="6B5FD1"/>
          </a:solidFill>
          <a:ln w="12700">
            <a:solidFill>
              <a:srgbClr val="D8D2F5"/>
            </a:solidFill>
            <a:prstDash val="solid"/>
          </a:ln>
        </p:spPr>
      </p:sp>
      <p:sp>
        <p:nvSpPr>
          <p:cNvPr id="53" name="Text 50"/>
          <p:cNvSpPr/>
          <p:nvPr/>
        </p:nvSpPr>
        <p:spPr>
          <a:xfrm>
            <a:off x="9281160" y="6126480"/>
            <a:ext cx="2148840" cy="32004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1.00: a variable with itself</a:t>
            </a:r>
            <a:endParaRPr lang="en-US" sz="950" dirty="0"/>
          </a:p>
        </p:txBody>
      </p:sp>
      <p:sp>
        <p:nvSpPr>
          <p:cNvPr id="54" name="Text 51"/>
          <p:cNvSpPr/>
          <p:nvPr/>
        </p:nvSpPr>
        <p:spPr>
          <a:xfrm>
            <a:off x="731520" y="6629400"/>
            <a:ext cx="10725912" cy="457200"/>
          </a:xfrm>
          <a:prstGeom prst="rect">
            <a:avLst/>
          </a:prstGeom>
          <a:noFill/>
          <a:ln/>
        </p:spPr>
        <p:txBody>
          <a:bodyPr wrap="square" lIns="0" tIns="0" rIns="0" bIns="0" rtlCol="0" anchor="t"/>
          <a:lstStyle/>
          <a:p>
            <a:pPr algn="ctr" indent="0" marL="0">
              <a:buNone/>
            </a:pPr>
            <a:r>
              <a:rPr lang="en-US" sz="1200" i="1" dirty="0">
                <a:solidFill>
                  <a:srgbClr val="685F8F"/>
                </a:solidFill>
                <a:latin typeface="Calibri" pitchFamily="34" charset="0"/>
                <a:ea typeface="Calibri" pitchFamily="34" charset="-122"/>
                <a:cs typeface="Calibri" pitchFamily="34" charset="-120"/>
              </a:rPr>
              <a:t>The diagonal is always 1.00 — every variable correlates perfectly with itself. Everything else shows how strongly two variables move together.</a:t>
            </a:r>
            <a:endParaRPr lang="en-US" sz="1200" dirty="0"/>
          </a:p>
        </p:txBody>
      </p:sp>
      <p:sp>
        <p:nvSpPr>
          <p:cNvPr id="55" name="Text 52"/>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56" name="Text 53"/>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47</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Regression Plot — A Scatter Plot Plus a Fitted Line</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54480"/>
            <a:ext cx="3657600" cy="4663440"/>
          </a:xfrm>
          <a:prstGeom prst="roundRect">
            <a:avLst>
              <a:gd name="adj" fmla="val 4500"/>
            </a:avLst>
          </a:prstGeom>
          <a:solidFill>
            <a:srgbClr val="EDE9FE"/>
          </a:solidFill>
          <a:ln w="12700">
            <a:solidFill>
              <a:srgbClr val="D8D2F5"/>
            </a:solidFill>
            <a:prstDash val="solid"/>
          </a:ln>
        </p:spPr>
      </p:sp>
      <p:sp>
        <p:nvSpPr>
          <p:cNvPr id="7" name="Shape 4"/>
          <p:cNvSpPr/>
          <p:nvPr/>
        </p:nvSpPr>
        <p:spPr>
          <a:xfrm>
            <a:off x="1508760" y="2194560"/>
            <a:ext cx="1554480" cy="155448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1746504" y="2423160"/>
            <a:ext cx="1088136" cy="1088136"/>
          </a:xfrm>
          <a:prstGeom prst="rect">
            <a:avLst/>
          </a:prstGeom>
        </p:spPr>
      </p:pic>
      <p:sp>
        <p:nvSpPr>
          <p:cNvPr id="9" name="Text 5"/>
          <p:cNvSpPr/>
          <p:nvPr/>
        </p:nvSpPr>
        <p:spPr>
          <a:xfrm>
            <a:off x="640080" y="3977640"/>
            <a:ext cx="3291840" cy="1737360"/>
          </a:xfrm>
          <a:prstGeom prst="rect">
            <a:avLst/>
          </a:prstGeom>
          <a:noFill/>
          <a:ln/>
        </p:spPr>
        <p:txBody>
          <a:bodyPr wrap="square" lIns="0" tIns="0" rIns="0" bIns="0" rtlCol="0" anchor="t"/>
          <a:lstStyle/>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The trend,</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drawn</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through it</a:t>
            </a:r>
            <a:endParaRPr lang="en-US" sz="1600" dirty="0"/>
          </a:p>
        </p:txBody>
      </p:sp>
      <p:sp>
        <p:nvSpPr>
          <p:cNvPr id="10" name="Text 6"/>
          <p:cNvSpPr/>
          <p:nvPr/>
        </p:nvSpPr>
        <p:spPr>
          <a:xfrm>
            <a:off x="4572000" y="1737360"/>
            <a:ext cx="7132320" cy="4114800"/>
          </a:xfrm>
          <a:prstGeom prst="rect">
            <a:avLst/>
          </a:prstGeom>
          <a:noFill/>
          <a:ln/>
        </p:spPr>
        <p:txBody>
          <a:bodyPr wrap="square" lIns="0" tIns="0" rIns="0" bIns="0" rtlCol="0" anchor="t"/>
          <a:lstStyle/>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A regression plot starts as an ordinary scatter plot, then adds a fitted line showing the overall trend running through the data</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That line lets you make an approximate prediction — "based on this trend, what value would we expect at this point?"</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Use it once you’ve confirmed a relationship exists (often with a scatter plot or correlation first) and want to describe or predict it more precisely</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Avoid it when the relationship clearly isn’t a straight line — forcing a straight trend line through a curved relationship is actively misleading</a:t>
            </a:r>
            <a:endParaRPr lang="en-US" sz="1600" dirty="0"/>
          </a:p>
        </p:txBody>
      </p:sp>
      <p:sp>
        <p:nvSpPr>
          <p:cNvPr id="11" name="Text 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2" name="Text 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48</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A Few More Specialized Charts</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08760"/>
            <a:ext cx="5527548" cy="4892040"/>
          </a:xfrm>
          <a:prstGeom prst="roundRect">
            <a:avLst>
              <a:gd name="adj" fmla="val 2991"/>
            </a:avLst>
          </a:prstGeom>
          <a:solidFill>
            <a:srgbClr val="EDE9FE"/>
          </a:solidFill>
          <a:ln w="12700">
            <a:solidFill>
              <a:srgbClr val="D8D2F5"/>
            </a:solidFill>
            <a:prstDash val="solid"/>
          </a:ln>
        </p:spPr>
      </p:sp>
      <p:sp>
        <p:nvSpPr>
          <p:cNvPr id="7" name="Shape 4"/>
          <p:cNvSpPr/>
          <p:nvPr/>
        </p:nvSpPr>
        <p:spPr>
          <a:xfrm>
            <a:off x="2946654" y="2093976"/>
            <a:ext cx="548640" cy="54864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3028950" y="2176272"/>
            <a:ext cx="384048" cy="384048"/>
          </a:xfrm>
          <a:prstGeom prst="rect">
            <a:avLst/>
          </a:prstGeom>
        </p:spPr>
      </p:pic>
      <p:sp>
        <p:nvSpPr>
          <p:cNvPr id="9" name="Text 5"/>
          <p:cNvSpPr/>
          <p:nvPr/>
        </p:nvSpPr>
        <p:spPr>
          <a:xfrm>
            <a:off x="548640" y="2715768"/>
            <a:ext cx="5344668"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Pair Plot</a:t>
            </a:r>
            <a:endParaRPr lang="en-US" sz="1300" dirty="0"/>
          </a:p>
        </p:txBody>
      </p:sp>
      <p:sp>
        <p:nvSpPr>
          <p:cNvPr id="10" name="Text 6"/>
          <p:cNvSpPr/>
          <p:nvPr/>
        </p:nvSpPr>
        <p:spPr>
          <a:xfrm>
            <a:off x="603504" y="3099816"/>
            <a:ext cx="5234940"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A grid of scatter plots for every pair of numerical variables at once — a fast first look across an entire dataset</a:t>
            </a:r>
            <a:endParaRPr lang="en-US" sz="1100" dirty="0"/>
          </a:p>
        </p:txBody>
      </p:sp>
      <p:sp>
        <p:nvSpPr>
          <p:cNvPr id="11" name="Shape 7"/>
          <p:cNvSpPr/>
          <p:nvPr/>
        </p:nvSpPr>
        <p:spPr>
          <a:xfrm>
            <a:off x="6204204" y="1508760"/>
            <a:ext cx="5527548" cy="4892040"/>
          </a:xfrm>
          <a:prstGeom prst="roundRect">
            <a:avLst>
              <a:gd name="adj" fmla="val 2991"/>
            </a:avLst>
          </a:prstGeom>
          <a:solidFill>
            <a:srgbClr val="FFF6DC"/>
          </a:solidFill>
          <a:ln w="12700">
            <a:solidFill>
              <a:srgbClr val="D8D2F5"/>
            </a:solidFill>
            <a:prstDash val="solid"/>
          </a:ln>
        </p:spPr>
      </p:sp>
      <p:sp>
        <p:nvSpPr>
          <p:cNvPr id="12" name="Shape 8"/>
          <p:cNvSpPr/>
          <p:nvPr/>
        </p:nvSpPr>
        <p:spPr>
          <a:xfrm>
            <a:off x="8693658" y="2093976"/>
            <a:ext cx="548640" cy="548640"/>
          </a:xfrm>
          <a:prstGeom prst="ellipse">
            <a:avLst/>
          </a:prstGeom>
          <a:solidFill>
            <a:srgbClr val="FFC94A"/>
          </a:solidFill>
          <a:ln/>
        </p:spPr>
      </p:sp>
      <p:pic>
        <p:nvPicPr>
          <p:cNvPr id="13" name="Image 2" descr="preencoded.png">    </p:cNvPr>
          <p:cNvPicPr>
            <a:picLocks noChangeAspect="1"/>
          </p:cNvPicPr>
          <p:nvPr/>
        </p:nvPicPr>
        <p:blipFill>
          <a:blip r:embed="rId3"/>
          <a:stretch>
            <a:fillRect/>
          </a:stretch>
        </p:blipFill>
        <p:spPr>
          <a:xfrm>
            <a:off x="8775954" y="2176272"/>
            <a:ext cx="384048" cy="384048"/>
          </a:xfrm>
          <a:prstGeom prst="rect">
            <a:avLst/>
          </a:prstGeom>
        </p:spPr>
      </p:pic>
      <p:sp>
        <p:nvSpPr>
          <p:cNvPr id="14" name="Text 9"/>
          <p:cNvSpPr/>
          <p:nvPr/>
        </p:nvSpPr>
        <p:spPr>
          <a:xfrm>
            <a:off x="6295644" y="2715768"/>
            <a:ext cx="5344668" cy="365760"/>
          </a:xfrm>
          <a:prstGeom prst="rect">
            <a:avLst/>
          </a:prstGeom>
          <a:noFill/>
          <a:ln/>
        </p:spPr>
        <p:txBody>
          <a:bodyPr wrap="square" lIns="0" tIns="0" rIns="0" bIns="0" rtlCol="0" anchor="t"/>
          <a:lstStyle/>
          <a:p>
            <a:pPr algn="ctr" indent="0" marL="0">
              <a:buNone/>
            </a:pPr>
            <a:r>
              <a:rPr lang="en-US" sz="1300" b="1" dirty="0">
                <a:solidFill>
                  <a:srgbClr val="2D2A4A"/>
                </a:solidFill>
                <a:latin typeface="Century Gothic" pitchFamily="34" charset="0"/>
                <a:ea typeface="Century Gothic" pitchFamily="34" charset="-122"/>
                <a:cs typeface="Century Gothic" pitchFamily="34" charset="-120"/>
              </a:rPr>
              <a:t>Area Chart</a:t>
            </a:r>
            <a:endParaRPr lang="en-US" sz="1300" dirty="0"/>
          </a:p>
        </p:txBody>
      </p:sp>
      <p:sp>
        <p:nvSpPr>
          <p:cNvPr id="15" name="Text 10"/>
          <p:cNvSpPr/>
          <p:nvPr/>
        </p:nvSpPr>
        <p:spPr>
          <a:xfrm>
            <a:off x="6350508" y="3099816"/>
            <a:ext cx="5234940" cy="3154680"/>
          </a:xfrm>
          <a:prstGeom prst="rect">
            <a:avLst/>
          </a:prstGeom>
          <a:noFill/>
          <a:ln/>
        </p:spPr>
        <p:txBody>
          <a:bodyPr wrap="square" lIns="0" tIns="0" rIns="0" bIns="0" rtlCol="0" anchor="t"/>
          <a:lstStyle/>
          <a:p>
            <a:pPr algn="ctr" indent="0" marL="0">
              <a:lnSpc>
                <a:spcPct val="115000"/>
              </a:lnSpc>
              <a:buNone/>
            </a:pPr>
            <a:r>
              <a:rPr lang="en-US" sz="1100" dirty="0">
                <a:solidFill>
                  <a:srgbClr val="685F8F"/>
                </a:solidFill>
                <a:latin typeface="Calibri" pitchFamily="34" charset="0"/>
                <a:ea typeface="Calibri" pitchFamily="34" charset="-122"/>
                <a:cs typeface="Calibri" pitchFamily="34" charset="-120"/>
              </a:rPr>
              <a:t>Like a line plot, with the area beneath it filled in — emphasizes cumulative volume alongside the trend</a:t>
            </a:r>
            <a:endParaRPr lang="en-US" sz="1100" dirty="0"/>
          </a:p>
        </p:txBody>
      </p:sp>
      <p:sp>
        <p:nvSpPr>
          <p:cNvPr id="16" name="Text 11"/>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7" name="Text 12"/>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49</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Common Chart Mistakes to Avoid</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645920"/>
            <a:ext cx="5349240" cy="4480560"/>
          </a:xfrm>
          <a:prstGeom prst="roundRect">
            <a:avLst>
              <a:gd name="adj" fmla="val 3265"/>
            </a:avLst>
          </a:prstGeom>
          <a:solidFill>
            <a:srgbClr val="EDE9FE"/>
          </a:solidFill>
          <a:ln w="12700">
            <a:solidFill>
              <a:srgbClr val="D8D2F5"/>
            </a:solidFill>
            <a:prstDash val="solid"/>
          </a:ln>
        </p:spPr>
      </p:sp>
      <p:sp>
        <p:nvSpPr>
          <p:cNvPr id="7" name="Shape 4"/>
          <p:cNvSpPr/>
          <p:nvPr/>
        </p:nvSpPr>
        <p:spPr>
          <a:xfrm>
            <a:off x="731520" y="1874520"/>
            <a:ext cx="457200" cy="45720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804672" y="1938528"/>
            <a:ext cx="320040" cy="320040"/>
          </a:xfrm>
          <a:prstGeom prst="rect">
            <a:avLst/>
          </a:prstGeom>
        </p:spPr>
      </p:pic>
      <p:sp>
        <p:nvSpPr>
          <p:cNvPr id="9" name="Text 5"/>
          <p:cNvSpPr/>
          <p:nvPr/>
        </p:nvSpPr>
        <p:spPr>
          <a:xfrm>
            <a:off x="1325880" y="1874520"/>
            <a:ext cx="4343400" cy="457200"/>
          </a:xfrm>
          <a:prstGeom prst="rect">
            <a:avLst/>
          </a:prstGeom>
          <a:noFill/>
          <a:ln/>
        </p:spPr>
        <p:txBody>
          <a:bodyPr wrap="square" lIns="0" tIns="0" rIns="0" bIns="0" rtlCol="0" anchor="ctr"/>
          <a:lstStyle/>
          <a:p>
            <a:pPr indent="0" marL="0">
              <a:buNone/>
            </a:pPr>
            <a:r>
              <a:rPr lang="en-US" sz="1700" b="1" dirty="0">
                <a:solidFill>
                  <a:srgbClr val="2D2A4A"/>
                </a:solidFill>
                <a:latin typeface="Century Gothic" pitchFamily="34" charset="0"/>
                <a:ea typeface="Century Gothic" pitchFamily="34" charset="-122"/>
                <a:cs typeface="Century Gothic" pitchFamily="34" charset="-120"/>
              </a:rPr>
              <a:t>Misleading by Design</a:t>
            </a:r>
            <a:endParaRPr lang="en-US" sz="1700" dirty="0"/>
          </a:p>
        </p:txBody>
      </p:sp>
      <p:sp>
        <p:nvSpPr>
          <p:cNvPr id="10" name="Text 6"/>
          <p:cNvSpPr/>
          <p:nvPr/>
        </p:nvSpPr>
        <p:spPr>
          <a:xfrm>
            <a:off x="731520" y="2514600"/>
            <a:ext cx="4800600" cy="3383280"/>
          </a:xfrm>
          <a:prstGeom prst="rect">
            <a:avLst/>
          </a:prstGeom>
          <a:noFill/>
          <a:ln/>
        </p:spPr>
        <p:txBody>
          <a:bodyPr wrap="square" lIns="0" tIns="0" rIns="0" bIns="0" rtlCol="0" anchor="t"/>
          <a:lstStyle/>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A pie chart with 12+ tiny slices — nobody can compare them accurately</a:t>
            </a:r>
            <a:endParaRPr lang="en-US" sz="1350" dirty="0"/>
          </a:p>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A bar chart whose y-axis doesn’t start at zero — exaggerates small differences dramatically</a:t>
            </a:r>
            <a:endParaRPr lang="en-US" sz="1350" dirty="0"/>
          </a:p>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A 3D chart adding visual flair but no real information — actively harder to read accurately</a:t>
            </a:r>
            <a:endParaRPr lang="en-US" sz="1350" dirty="0"/>
          </a:p>
        </p:txBody>
      </p:sp>
      <p:sp>
        <p:nvSpPr>
          <p:cNvPr id="11" name="Shape 7"/>
          <p:cNvSpPr/>
          <p:nvPr/>
        </p:nvSpPr>
        <p:spPr>
          <a:xfrm>
            <a:off x="6172200" y="1645920"/>
            <a:ext cx="5349240" cy="4480560"/>
          </a:xfrm>
          <a:prstGeom prst="roundRect">
            <a:avLst>
              <a:gd name="adj" fmla="val 3265"/>
            </a:avLst>
          </a:prstGeom>
          <a:solidFill>
            <a:srgbClr val="FFF6DC"/>
          </a:solidFill>
          <a:ln w="12700">
            <a:solidFill>
              <a:srgbClr val="D8D2F5"/>
            </a:solidFill>
            <a:prstDash val="solid"/>
          </a:ln>
        </p:spPr>
      </p:sp>
      <p:sp>
        <p:nvSpPr>
          <p:cNvPr id="12" name="Shape 8"/>
          <p:cNvSpPr/>
          <p:nvPr/>
        </p:nvSpPr>
        <p:spPr>
          <a:xfrm>
            <a:off x="6446520" y="1874520"/>
            <a:ext cx="457200" cy="457200"/>
          </a:xfrm>
          <a:prstGeom prst="ellipse">
            <a:avLst/>
          </a:prstGeom>
          <a:solidFill>
            <a:srgbClr val="FFC94A"/>
          </a:solidFill>
          <a:ln/>
        </p:spPr>
      </p:sp>
      <p:pic>
        <p:nvPicPr>
          <p:cNvPr id="13" name="Image 2" descr="preencoded.png">    </p:cNvPr>
          <p:cNvPicPr>
            <a:picLocks noChangeAspect="1"/>
          </p:cNvPicPr>
          <p:nvPr/>
        </p:nvPicPr>
        <p:blipFill>
          <a:blip r:embed="rId3"/>
          <a:stretch>
            <a:fillRect/>
          </a:stretch>
        </p:blipFill>
        <p:spPr>
          <a:xfrm>
            <a:off x="6519672" y="1938528"/>
            <a:ext cx="320040" cy="320040"/>
          </a:xfrm>
          <a:prstGeom prst="rect">
            <a:avLst/>
          </a:prstGeom>
        </p:spPr>
      </p:pic>
      <p:sp>
        <p:nvSpPr>
          <p:cNvPr id="14" name="Text 9"/>
          <p:cNvSpPr/>
          <p:nvPr/>
        </p:nvSpPr>
        <p:spPr>
          <a:xfrm>
            <a:off x="7040880" y="1874520"/>
            <a:ext cx="4343400" cy="457200"/>
          </a:xfrm>
          <a:prstGeom prst="rect">
            <a:avLst/>
          </a:prstGeom>
          <a:noFill/>
          <a:ln/>
        </p:spPr>
        <p:txBody>
          <a:bodyPr wrap="square" lIns="0" tIns="0" rIns="0" bIns="0" rtlCol="0" anchor="ctr"/>
          <a:lstStyle/>
          <a:p>
            <a:pPr indent="0" marL="0">
              <a:buNone/>
            </a:pPr>
            <a:r>
              <a:rPr lang="en-US" sz="1700" b="1" dirty="0">
                <a:solidFill>
                  <a:srgbClr val="2D2A4A"/>
                </a:solidFill>
                <a:latin typeface="Century Gothic" pitchFamily="34" charset="0"/>
                <a:ea typeface="Century Gothic" pitchFamily="34" charset="-122"/>
                <a:cs typeface="Century Gothic" pitchFamily="34" charset="-120"/>
              </a:rPr>
              <a:t>Wrong Chart for the Data</a:t>
            </a:r>
            <a:endParaRPr lang="en-US" sz="1700" dirty="0"/>
          </a:p>
        </p:txBody>
      </p:sp>
      <p:sp>
        <p:nvSpPr>
          <p:cNvPr id="15" name="Text 10"/>
          <p:cNvSpPr/>
          <p:nvPr/>
        </p:nvSpPr>
        <p:spPr>
          <a:xfrm>
            <a:off x="6446520" y="2514600"/>
            <a:ext cx="4800600" cy="3383280"/>
          </a:xfrm>
          <a:prstGeom prst="rect">
            <a:avLst/>
          </a:prstGeom>
          <a:noFill/>
          <a:ln/>
        </p:spPr>
        <p:txBody>
          <a:bodyPr wrap="square" lIns="0" tIns="0" rIns="0" bIns="0" rtlCol="0" anchor="t"/>
          <a:lstStyle/>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A line plot connecting unrelated categories — implies a trend that doesn’t exist</a:t>
            </a:r>
            <a:endParaRPr lang="en-US" sz="1350" dirty="0"/>
          </a:p>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A regression line forced through an obviously curved relationship</a:t>
            </a:r>
            <a:endParaRPr lang="en-US" sz="1350" dirty="0"/>
          </a:p>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Choosing a chart because it "looks impressive," rather than because it’s genuinely the clearest way to show this specific data</a:t>
            </a:r>
            <a:endParaRPr lang="en-US" sz="1350" dirty="0"/>
          </a:p>
        </p:txBody>
      </p:sp>
      <p:sp>
        <p:nvSpPr>
          <p:cNvPr id="16" name="Text 11"/>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7" name="Text 12"/>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50</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Practice Set — Choosing the Right Chart</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600200"/>
            <a:ext cx="11274552" cy="4480560"/>
          </a:xfrm>
          <a:prstGeom prst="roundRect">
            <a:avLst>
              <a:gd name="adj" fmla="val 3673"/>
            </a:avLst>
          </a:prstGeom>
          <a:solidFill>
            <a:srgbClr val="EDE9FE"/>
          </a:solidFill>
          <a:ln w="12700">
            <a:solidFill>
              <a:srgbClr val="D8D2F5"/>
            </a:solidFill>
            <a:prstDash val="solid"/>
          </a:ln>
        </p:spPr>
      </p:sp>
      <p:sp>
        <p:nvSpPr>
          <p:cNvPr id="7" name="Text 4"/>
          <p:cNvSpPr/>
          <p:nvPr/>
        </p:nvSpPr>
        <p:spPr>
          <a:xfrm>
            <a:off x="822960" y="1828800"/>
            <a:ext cx="10515600" cy="457200"/>
          </a:xfrm>
          <a:prstGeom prst="rect">
            <a:avLst/>
          </a:prstGeom>
          <a:noFill/>
          <a:ln/>
        </p:spPr>
        <p:txBody>
          <a:bodyPr wrap="square" lIns="0" tIns="0" rIns="0" bIns="0" rtlCol="0" anchor="ctr"/>
          <a:lstStyle/>
          <a:p>
            <a:pPr indent="0" marL="0">
              <a:buNone/>
            </a:pPr>
            <a:r>
              <a:rPr lang="en-US" sz="1500" b="1" dirty="0">
                <a:solidFill>
                  <a:srgbClr val="2D2A4A"/>
                </a:solidFill>
                <a:latin typeface="Century Gothic" pitchFamily="34" charset="0"/>
                <a:ea typeface="Century Gothic" pitchFamily="34" charset="-122"/>
                <a:cs typeface="Century Gothic" pitchFamily="34" charset="-120"/>
              </a:rPr>
              <a:t>Try these yourself first — that's the point</a:t>
            </a:r>
            <a:endParaRPr lang="en-US" sz="1500" dirty="0"/>
          </a:p>
        </p:txBody>
      </p:sp>
      <p:sp>
        <p:nvSpPr>
          <p:cNvPr id="8" name="Shape 5"/>
          <p:cNvSpPr/>
          <p:nvPr/>
        </p:nvSpPr>
        <p:spPr>
          <a:xfrm>
            <a:off x="822960" y="2423160"/>
            <a:ext cx="384048" cy="384048"/>
          </a:xfrm>
          <a:prstGeom prst="ellipse">
            <a:avLst/>
          </a:prstGeom>
          <a:solidFill>
            <a:srgbClr val="8B7FE8"/>
          </a:solidFill>
          <a:ln/>
        </p:spPr>
      </p:sp>
      <p:sp>
        <p:nvSpPr>
          <p:cNvPr id="9" name="Text 6"/>
          <p:cNvSpPr/>
          <p:nvPr/>
        </p:nvSpPr>
        <p:spPr>
          <a:xfrm>
            <a:off x="822960" y="2423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p:nvPr/>
        </p:nvSpPr>
        <p:spPr>
          <a:xfrm>
            <a:off x="1435608" y="2423160"/>
            <a:ext cx="9582912" cy="384048"/>
          </a:xfrm>
          <a:prstGeom prst="rect">
            <a:avLst/>
          </a:prstGeom>
          <a:noFill/>
          <a:ln/>
        </p:spPr>
        <p:txBody>
          <a:bodyPr wrap="square" lIns="0" tIns="0" rIns="0" bIns="0" rtlCol="0" anchor="ctr"/>
          <a:lstStyle/>
          <a:p>
            <a:pPr indent="0" marL="0">
              <a:buNone/>
            </a:pPr>
            <a:r>
              <a:rPr lang="en-US" sz="1250" dirty="0">
                <a:solidFill>
                  <a:srgbClr val="2D2A4A"/>
                </a:solidFill>
                <a:latin typeface="Calibri" pitchFamily="34" charset="0"/>
                <a:ea typeface="Calibri" pitchFamily="34" charset="-122"/>
                <a:cs typeface="Calibri" pitchFamily="34" charset="-120"/>
              </a:rPr>
              <a:t>For monthly sales over the last two years, name the best chart and explain why</a:t>
            </a:r>
            <a:endParaRPr lang="en-US" sz="1250" dirty="0"/>
          </a:p>
        </p:txBody>
      </p:sp>
      <p:sp>
        <p:nvSpPr>
          <p:cNvPr id="11" name="Shape 8"/>
          <p:cNvSpPr/>
          <p:nvPr/>
        </p:nvSpPr>
        <p:spPr>
          <a:xfrm>
            <a:off x="822960" y="3300984"/>
            <a:ext cx="384048" cy="384048"/>
          </a:xfrm>
          <a:prstGeom prst="ellipse">
            <a:avLst/>
          </a:prstGeom>
          <a:solidFill>
            <a:srgbClr val="8B7FE8"/>
          </a:solidFill>
          <a:ln/>
        </p:spPr>
      </p:sp>
      <p:sp>
        <p:nvSpPr>
          <p:cNvPr id="12" name="Text 9"/>
          <p:cNvSpPr/>
          <p:nvPr/>
        </p:nvSpPr>
        <p:spPr>
          <a:xfrm>
            <a:off x="822960" y="3300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435608" y="3300984"/>
            <a:ext cx="9582912" cy="384048"/>
          </a:xfrm>
          <a:prstGeom prst="rect">
            <a:avLst/>
          </a:prstGeom>
          <a:noFill/>
          <a:ln/>
        </p:spPr>
        <p:txBody>
          <a:bodyPr wrap="square" lIns="0" tIns="0" rIns="0" bIns="0" rtlCol="0" anchor="ctr"/>
          <a:lstStyle/>
          <a:p>
            <a:pPr indent="0" marL="0">
              <a:buNone/>
            </a:pPr>
            <a:r>
              <a:rPr lang="en-US" sz="1250" dirty="0">
                <a:solidFill>
                  <a:srgbClr val="2D2A4A"/>
                </a:solidFill>
                <a:latin typeface="Calibri" pitchFamily="34" charset="0"/>
                <a:ea typeface="Calibri" pitchFamily="34" charset="-122"/>
                <a:cs typeface="Calibri" pitchFamily="34" charset="-120"/>
              </a:rPr>
              <a:t>For comparing the market share of 3 competing products, choose between a pie chart and a bar chart, and justify it</a:t>
            </a:r>
            <a:endParaRPr lang="en-US" sz="1250" dirty="0"/>
          </a:p>
        </p:txBody>
      </p:sp>
      <p:sp>
        <p:nvSpPr>
          <p:cNvPr id="14" name="Shape 11"/>
          <p:cNvSpPr/>
          <p:nvPr/>
        </p:nvSpPr>
        <p:spPr>
          <a:xfrm>
            <a:off x="822960" y="4178808"/>
            <a:ext cx="384048" cy="384048"/>
          </a:xfrm>
          <a:prstGeom prst="ellipse">
            <a:avLst/>
          </a:prstGeom>
          <a:solidFill>
            <a:srgbClr val="8B7FE8"/>
          </a:solidFill>
          <a:ln/>
        </p:spPr>
      </p:sp>
      <p:sp>
        <p:nvSpPr>
          <p:cNvPr id="15" name="Text 12"/>
          <p:cNvSpPr/>
          <p:nvPr/>
        </p:nvSpPr>
        <p:spPr>
          <a:xfrm>
            <a:off x="822960" y="4178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3"/>
          <p:cNvSpPr/>
          <p:nvPr/>
        </p:nvSpPr>
        <p:spPr>
          <a:xfrm>
            <a:off x="1435608" y="4178808"/>
            <a:ext cx="9582912" cy="384048"/>
          </a:xfrm>
          <a:prstGeom prst="rect">
            <a:avLst/>
          </a:prstGeom>
          <a:noFill/>
          <a:ln/>
        </p:spPr>
        <p:txBody>
          <a:bodyPr wrap="square" lIns="0" tIns="0" rIns="0" bIns="0" rtlCol="0" anchor="ctr"/>
          <a:lstStyle/>
          <a:p>
            <a:pPr indent="0" marL="0">
              <a:buNone/>
            </a:pPr>
            <a:r>
              <a:rPr lang="en-US" sz="1250" dirty="0">
                <a:solidFill>
                  <a:srgbClr val="2D2A4A"/>
                </a:solidFill>
                <a:latin typeface="Calibri" pitchFamily="34" charset="0"/>
                <a:ea typeface="Calibri" pitchFamily="34" charset="-122"/>
                <a:cs typeface="Calibri" pitchFamily="34" charset="-120"/>
              </a:rPr>
              <a:t>For checking whether study hours and exam scores are related, name the chart you’d reach for first</a:t>
            </a:r>
            <a:endParaRPr lang="en-US" sz="1250" dirty="0"/>
          </a:p>
        </p:txBody>
      </p:sp>
      <p:sp>
        <p:nvSpPr>
          <p:cNvPr id="17" name="Shape 14"/>
          <p:cNvSpPr/>
          <p:nvPr/>
        </p:nvSpPr>
        <p:spPr>
          <a:xfrm>
            <a:off x="822960" y="5056632"/>
            <a:ext cx="384048" cy="384048"/>
          </a:xfrm>
          <a:prstGeom prst="ellipse">
            <a:avLst/>
          </a:prstGeom>
          <a:solidFill>
            <a:srgbClr val="8B7FE8"/>
          </a:solidFill>
          <a:ln/>
        </p:spPr>
      </p:sp>
      <p:sp>
        <p:nvSpPr>
          <p:cNvPr id="18" name="Text 15"/>
          <p:cNvSpPr/>
          <p:nvPr/>
        </p:nvSpPr>
        <p:spPr>
          <a:xfrm>
            <a:off x="822960" y="5056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6"/>
          <p:cNvSpPr/>
          <p:nvPr/>
        </p:nvSpPr>
        <p:spPr>
          <a:xfrm>
            <a:off x="1435608" y="5056632"/>
            <a:ext cx="9582912" cy="384048"/>
          </a:xfrm>
          <a:prstGeom prst="rect">
            <a:avLst/>
          </a:prstGeom>
          <a:noFill/>
          <a:ln/>
        </p:spPr>
        <p:txBody>
          <a:bodyPr wrap="square" lIns="0" tIns="0" rIns="0" bIns="0" rtlCol="0" anchor="ctr"/>
          <a:lstStyle/>
          <a:p>
            <a:pPr indent="0" marL="0">
              <a:buNone/>
            </a:pPr>
            <a:r>
              <a:rPr lang="en-US" sz="1250" dirty="0">
                <a:solidFill>
                  <a:srgbClr val="2D2A4A"/>
                </a:solidFill>
                <a:latin typeface="Calibri" pitchFamily="34" charset="0"/>
                <a:ea typeface="Calibri" pitchFamily="34" charset="-122"/>
                <a:cs typeface="Calibri" pitchFamily="34" charset="-120"/>
              </a:rPr>
              <a:t>Explain what specifically is misleading about a bar chart whose y-axis starts at 80 instead of 0</a:t>
            </a:r>
            <a:endParaRPr lang="en-US" sz="1250" dirty="0"/>
          </a:p>
        </p:txBody>
      </p:sp>
      <p:sp>
        <p:nvSpPr>
          <p:cNvPr id="20" name="Text 1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21" name="Text 1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51</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AF8FF"/>
        </a:solidFill>
      </p:bgPr>
    </p:bg>
    <p:spTree>
      <p:nvGrpSpPr>
        <p:cNvPr id="1" name=""/>
        <p:cNvGrpSpPr/>
        <p:nvPr/>
      </p:nvGrpSpPr>
      <p:grpSpPr>
        <a:xfrm>
          <a:off x="0" y="0"/>
          <a:ext cx="0" cy="0"/>
          <a:chOff x="0" y="0"/>
          <a:chExt cx="0" cy="0"/>
        </a:xfrm>
      </p:grpSpPr>
      <p:sp>
        <p:nvSpPr>
          <p:cNvPr id="2" name="Text 0"/>
          <p:cNvSpPr/>
          <p:nvPr/>
        </p:nvSpPr>
        <p:spPr>
          <a:xfrm>
            <a:off x="457200" y="457200"/>
            <a:ext cx="274320" cy="274320"/>
          </a:xfrm>
          <a:prstGeom prst="rect">
            <a:avLst/>
          </a:prstGeom>
          <a:noFill/>
          <a:ln/>
        </p:spPr>
        <p:txBody>
          <a:bodyPr wrap="square" lIns="0" tIns="0" rIns="0" bIns="0" rtlCol="0" anchor="ctr"/>
          <a:lstStyle/>
          <a:p>
            <a:pPr algn="ctr" indent="0" marL="0">
              <a:buNone/>
            </a:pPr>
            <a:r>
              <a:rPr lang="en-US" sz="1200" dirty="0">
                <a:solidFill>
                  <a:srgbClr val="5FD6B0"/>
                </a:solidFill>
              </a:rPr>
              <a:t>✦</a:t>
            </a:r>
            <a:endParaRPr lang="en-US" sz="1200" dirty="0"/>
          </a:p>
        </p:txBody>
      </p:sp>
      <p:sp>
        <p:nvSpPr>
          <p:cNvPr id="3" name="Text 1"/>
          <p:cNvSpPr/>
          <p:nvPr/>
        </p:nvSpPr>
        <p:spPr>
          <a:xfrm>
            <a:off x="11247120" y="548640"/>
            <a:ext cx="201168" cy="201168"/>
          </a:xfrm>
          <a:prstGeom prst="rect">
            <a:avLst/>
          </a:prstGeom>
          <a:noFill/>
          <a:ln/>
        </p:spPr>
        <p:txBody>
          <a:bodyPr wrap="square" lIns="0" tIns="0" rIns="0" bIns="0" rtlCol="0" anchor="ctr"/>
          <a:lstStyle/>
          <a:p>
            <a:pPr algn="ctr" indent="0" marL="0">
              <a:buNone/>
            </a:pPr>
            <a:r>
              <a:rPr lang="en-US" sz="880" dirty="0">
                <a:solidFill>
                  <a:srgbClr val="FFC94A"/>
                </a:solidFill>
              </a:rPr>
              <a:t>✦</a:t>
            </a:r>
            <a:endParaRPr lang="en-US" sz="880" dirty="0"/>
          </a:p>
        </p:txBody>
      </p:sp>
      <p:sp>
        <p:nvSpPr>
          <p:cNvPr id="4" name="Text 2"/>
          <p:cNvSpPr/>
          <p:nvPr/>
        </p:nvSpPr>
        <p:spPr>
          <a:xfrm>
            <a:off x="640080" y="6126480"/>
            <a:ext cx="228600" cy="228600"/>
          </a:xfrm>
          <a:prstGeom prst="rect">
            <a:avLst/>
          </a:prstGeom>
          <a:noFill/>
          <a:ln/>
        </p:spPr>
        <p:txBody>
          <a:bodyPr wrap="square" lIns="0" tIns="0" rIns="0" bIns="0" rtlCol="0" anchor="ctr"/>
          <a:lstStyle/>
          <a:p>
            <a:pPr algn="ctr" indent="0" marL="0">
              <a:buNone/>
            </a:pPr>
            <a:r>
              <a:rPr lang="en-US" sz="1000" dirty="0">
                <a:solidFill>
                  <a:srgbClr val="FF8FB3"/>
                </a:solidFill>
              </a:rPr>
              <a:t>✦</a:t>
            </a:r>
            <a:endParaRPr lang="en-US" sz="1000" dirty="0"/>
          </a:p>
        </p:txBody>
      </p:sp>
      <p:sp>
        <p:nvSpPr>
          <p:cNvPr id="5" name="Text 3"/>
          <p:cNvSpPr/>
          <p:nvPr/>
        </p:nvSpPr>
        <p:spPr>
          <a:xfrm>
            <a:off x="11338560" y="6035040"/>
            <a:ext cx="274320" cy="274320"/>
          </a:xfrm>
          <a:prstGeom prst="rect">
            <a:avLst/>
          </a:prstGeom>
          <a:noFill/>
          <a:ln/>
        </p:spPr>
        <p:txBody>
          <a:bodyPr wrap="square" lIns="0" tIns="0" rIns="0" bIns="0" rtlCol="0" anchor="ctr"/>
          <a:lstStyle/>
          <a:p>
            <a:pPr algn="ctr" indent="0" marL="0">
              <a:buNone/>
            </a:pPr>
            <a:r>
              <a:rPr lang="en-US" sz="1200" dirty="0">
                <a:solidFill>
                  <a:srgbClr val="8B7FE8"/>
                </a:solidFill>
              </a:rPr>
              <a:t>✦</a:t>
            </a:r>
            <a:endParaRPr lang="en-US" sz="1200" dirty="0"/>
          </a:p>
        </p:txBody>
      </p:sp>
      <p:sp>
        <p:nvSpPr>
          <p:cNvPr id="6" name="Shape 4"/>
          <p:cNvSpPr/>
          <p:nvPr/>
        </p:nvSpPr>
        <p:spPr>
          <a:xfrm rot="-90000">
            <a:off x="1874520" y="1325880"/>
            <a:ext cx="8805672" cy="777240"/>
          </a:xfrm>
          <a:prstGeom prst="roundRect">
            <a:avLst>
              <a:gd name="adj" fmla="val 17647"/>
            </a:avLst>
          </a:prstGeom>
          <a:solidFill>
            <a:srgbClr val="FFC94A"/>
          </a:solidFill>
          <a:ln/>
        </p:spPr>
      </p:sp>
      <p:sp>
        <p:nvSpPr>
          <p:cNvPr id="7" name="Shape 5"/>
          <p:cNvSpPr/>
          <p:nvPr/>
        </p:nvSpPr>
        <p:spPr>
          <a:xfrm>
            <a:off x="1691640" y="1188720"/>
            <a:ext cx="8805672" cy="777240"/>
          </a:xfrm>
          <a:prstGeom prst="roundRect">
            <a:avLst>
              <a:gd name="adj" fmla="val 17647"/>
            </a:avLst>
          </a:prstGeom>
          <a:solidFill>
            <a:srgbClr val="8B7FE8"/>
          </a:solidFill>
          <a:ln/>
        </p:spPr>
      </p:sp>
      <p:pic>
        <p:nvPicPr>
          <p:cNvPr id="8" name="Image 0" descr="preencoded.png">    </p:cNvPr>
          <p:cNvPicPr>
            <a:picLocks noChangeAspect="1"/>
          </p:cNvPicPr>
          <p:nvPr/>
        </p:nvPicPr>
        <p:blipFill>
          <a:blip r:embed="rId1"/>
          <a:stretch>
            <a:fillRect/>
          </a:stretch>
        </p:blipFill>
        <p:spPr>
          <a:xfrm>
            <a:off x="5870448" y="1348740"/>
            <a:ext cx="457200" cy="457200"/>
          </a:xfrm>
          <a:prstGeom prst="rect">
            <a:avLst/>
          </a:prstGeom>
        </p:spPr>
      </p:pic>
      <p:sp>
        <p:nvSpPr>
          <p:cNvPr id="9" name="Text 6"/>
          <p:cNvSpPr/>
          <p:nvPr/>
        </p:nvSpPr>
        <p:spPr>
          <a:xfrm>
            <a:off x="1691640" y="1188720"/>
            <a:ext cx="8805672" cy="777240"/>
          </a:xfrm>
          <a:prstGeom prst="rect">
            <a:avLst/>
          </a:prstGeom>
          <a:noFill/>
          <a:ln/>
        </p:spPr>
        <p:txBody>
          <a:bodyPr wrap="square" lIns="0" tIns="0" rIns="0" bIns="0" rtlCol="0" anchor="b"/>
          <a:lstStyle/>
          <a:p>
            <a:pPr algn="ctr" indent="0" marL="0">
              <a:buNone/>
            </a:pPr>
            <a:r>
              <a:rPr lang="en-US" sz="1200" b="1" spc="200" kern="0" dirty="0">
                <a:solidFill>
                  <a:srgbClr val="FFF6DC"/>
                </a:solidFill>
                <a:latin typeface="Calibri" pitchFamily="34" charset="0"/>
                <a:ea typeface="Calibri" pitchFamily="34" charset="-122"/>
                <a:cs typeface="Calibri" pitchFamily="34" charset="-120"/>
              </a:rPr>
              <a:t>PART 6</a:t>
            </a:r>
            <a:endParaRPr lang="en-US" sz="1200" dirty="0"/>
          </a:p>
        </p:txBody>
      </p:sp>
      <p:sp>
        <p:nvSpPr>
          <p:cNvPr id="10" name="Text 7"/>
          <p:cNvSpPr/>
          <p:nvPr/>
        </p:nvSpPr>
        <p:spPr>
          <a:xfrm>
            <a:off x="1097280" y="2331720"/>
            <a:ext cx="9994392" cy="1920240"/>
          </a:xfrm>
          <a:prstGeom prst="rect">
            <a:avLst/>
          </a:prstGeom>
          <a:noFill/>
          <a:ln/>
        </p:spPr>
        <p:txBody>
          <a:bodyPr wrap="square" lIns="0" tIns="0" rIns="0" bIns="0" rtlCol="0" anchor="t"/>
          <a:lstStyle/>
          <a:p>
            <a:pPr algn="ctr" indent="0" marL="0">
              <a:buNone/>
            </a:pPr>
            <a:r>
              <a:rPr lang="en-US" sz="2900" b="1" dirty="0">
                <a:solidFill>
                  <a:srgbClr val="2D2A4A"/>
                </a:solidFill>
                <a:latin typeface="Century Gothic" pitchFamily="34" charset="0"/>
                <a:ea typeface="Century Gothic" pitchFamily="34" charset="-122"/>
                <a:cs typeface="Century Gothic" pitchFamily="34" charset="-120"/>
              </a:rPr>
              <a:t>Measures of Central Tendency</a:t>
            </a:r>
            <a:endParaRPr lang="en-US" sz="2900" dirty="0"/>
          </a:p>
        </p:txBody>
      </p:sp>
      <p:sp>
        <p:nvSpPr>
          <p:cNvPr id="11" name="Text 8"/>
          <p:cNvSpPr/>
          <p:nvPr/>
        </p:nvSpPr>
        <p:spPr>
          <a:xfrm>
            <a:off x="1737360" y="4434840"/>
            <a:ext cx="8714232" cy="1097280"/>
          </a:xfrm>
          <a:prstGeom prst="rect">
            <a:avLst/>
          </a:prstGeom>
          <a:noFill/>
          <a:ln/>
        </p:spPr>
        <p:txBody>
          <a:bodyPr wrap="square" lIns="0" tIns="0" rIns="0" bIns="0" rtlCol="0" anchor="t"/>
          <a:lstStyle/>
          <a:p>
            <a:pPr algn="ctr" indent="0" marL="0">
              <a:buNone/>
            </a:pPr>
            <a:r>
              <a:rPr lang="en-US" sz="1500" dirty="0">
                <a:solidFill>
                  <a:srgbClr val="685F8F"/>
                </a:solidFill>
                <a:latin typeface="Calibri" pitchFamily="34" charset="0"/>
                <a:ea typeface="Calibri" pitchFamily="34" charset="-122"/>
                <a:cs typeface="Calibri" pitchFamily="34" charset="-120"/>
              </a:rPr>
              <a:t>The single number that tries to represent an entire dataset — and the three different ways to pick one</a:t>
            </a:r>
            <a:endParaRPr lang="en-US" sz="1500" dirty="0"/>
          </a:p>
        </p:txBody>
      </p:sp>
      <p:sp>
        <p:nvSpPr>
          <p:cNvPr id="12" name="Text 9"/>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52</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What Is Central Tendency?</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54480"/>
            <a:ext cx="3657600" cy="4663440"/>
          </a:xfrm>
          <a:prstGeom prst="roundRect">
            <a:avLst>
              <a:gd name="adj" fmla="val 4500"/>
            </a:avLst>
          </a:prstGeom>
          <a:solidFill>
            <a:srgbClr val="EDE9FE"/>
          </a:solidFill>
          <a:ln w="12700">
            <a:solidFill>
              <a:srgbClr val="D8D2F5"/>
            </a:solidFill>
            <a:prstDash val="solid"/>
          </a:ln>
        </p:spPr>
      </p:sp>
      <p:sp>
        <p:nvSpPr>
          <p:cNvPr id="7" name="Shape 4"/>
          <p:cNvSpPr/>
          <p:nvPr/>
        </p:nvSpPr>
        <p:spPr>
          <a:xfrm>
            <a:off x="1508760" y="2194560"/>
            <a:ext cx="1554480" cy="155448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1746504" y="2423160"/>
            <a:ext cx="1088136" cy="1088136"/>
          </a:xfrm>
          <a:prstGeom prst="rect">
            <a:avLst/>
          </a:prstGeom>
        </p:spPr>
      </p:pic>
      <p:sp>
        <p:nvSpPr>
          <p:cNvPr id="9" name="Text 5"/>
          <p:cNvSpPr/>
          <p:nvPr/>
        </p:nvSpPr>
        <p:spPr>
          <a:xfrm>
            <a:off x="640080" y="3977640"/>
            <a:ext cx="3291840" cy="1737360"/>
          </a:xfrm>
          <a:prstGeom prst="rect">
            <a:avLst/>
          </a:prstGeom>
          <a:noFill/>
          <a:ln/>
        </p:spPr>
        <p:txBody>
          <a:bodyPr wrap="square" lIns="0" tIns="0" rIns="0" bIns="0" rtlCol="0" anchor="t"/>
          <a:lstStyle/>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One number,</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standing in</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for all</a:t>
            </a:r>
            <a:endParaRPr lang="en-US" sz="1600" dirty="0"/>
          </a:p>
        </p:txBody>
      </p:sp>
      <p:sp>
        <p:nvSpPr>
          <p:cNvPr id="10" name="Text 6"/>
          <p:cNvSpPr/>
          <p:nvPr/>
        </p:nvSpPr>
        <p:spPr>
          <a:xfrm>
            <a:off x="4572000" y="1737360"/>
            <a:ext cx="7132320" cy="4114800"/>
          </a:xfrm>
          <a:prstGeom prst="rect">
            <a:avLst/>
          </a:prstGeom>
          <a:noFill/>
          <a:ln/>
        </p:spPr>
        <p:txBody>
          <a:bodyPr wrap="square" lIns="0" tIns="0" rIns="0" bIns="0" rtlCol="0" anchor="t"/>
          <a:lstStyle/>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Central tendency is the general idea of finding a single, typical value that represents an entire dataset</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There isn’t one universally "correct" way to do this — mean, median, and mode each answer a slightly different question</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Choosing the right one isn’t a technicality — the wrong choice can genuinely misrepresent what your data actually looks like</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This choice depends directly on the measurement scale and shape of your data — exactly what the last two parts of this session set up</a:t>
            </a:r>
            <a:endParaRPr lang="en-US" sz="1600" dirty="0"/>
          </a:p>
        </p:txBody>
      </p:sp>
      <p:sp>
        <p:nvSpPr>
          <p:cNvPr id="11" name="Text 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2" name="Text 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53</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The Mean — The Arithmetic Average</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Text 3"/>
          <p:cNvSpPr/>
          <p:nvPr/>
        </p:nvSpPr>
        <p:spPr>
          <a:xfrm>
            <a:off x="548640" y="1828800"/>
            <a:ext cx="4754880" cy="4023360"/>
          </a:xfrm>
          <a:prstGeom prst="rect">
            <a:avLst/>
          </a:prstGeom>
          <a:noFill/>
          <a:ln/>
        </p:spPr>
        <p:txBody>
          <a:bodyPr wrap="square" lIns="0" tIns="0" rIns="0" bIns="0" rtlCol="0" anchor="t"/>
          <a:lstStyle/>
          <a:p>
            <a:pPr marL="203200" indent="-203200">
              <a:lnSpc>
                <a:spcPct val="120000"/>
              </a:lnSpc>
              <a:spcAft>
                <a:spcPts val="1200"/>
              </a:spcAft>
              <a:buSzPct val="100000"/>
              <a:buChar char="•"/>
            </a:pPr>
            <a:r>
              <a:rPr lang="en-US" sz="1350" dirty="0">
                <a:solidFill>
                  <a:srgbClr val="2D2A4A"/>
                </a:solidFill>
                <a:latin typeface="Calibri" pitchFamily="34" charset="0"/>
                <a:ea typeface="Calibri" pitchFamily="34" charset="-122"/>
                <a:cs typeface="Calibri" pitchFamily="34" charset="-120"/>
              </a:rPr>
              <a:t>The mean adds up every value and divides by how many values there are — the formula from last session’s notation lesson, in action</a:t>
            </a:r>
            <a:endParaRPr lang="en-US" sz="1350" dirty="0"/>
          </a:p>
          <a:p>
            <a:pPr marL="203200" indent="-203200">
              <a:lnSpc>
                <a:spcPct val="120000"/>
              </a:lnSpc>
              <a:spcAft>
                <a:spcPts val="1200"/>
              </a:spcAft>
              <a:buSzPct val="100000"/>
              <a:buChar char="•"/>
            </a:pPr>
            <a:r>
              <a:rPr lang="en-US" sz="1350" dirty="0">
                <a:solidFill>
                  <a:srgbClr val="2D2A4A"/>
                </a:solidFill>
                <a:latin typeface="Calibri" pitchFamily="34" charset="0"/>
                <a:ea typeface="Calibri" pitchFamily="34" charset="-122"/>
                <a:cs typeface="Calibri" pitchFamily="34" charset="-120"/>
              </a:rPr>
              <a:t>It uses every single value in the calculation, which makes it sensitive — one extreme value can shift it substantially</a:t>
            </a:r>
            <a:endParaRPr lang="en-US" sz="1350" dirty="0"/>
          </a:p>
          <a:p>
            <a:pPr marL="203200" indent="-203200">
              <a:lnSpc>
                <a:spcPct val="120000"/>
              </a:lnSpc>
              <a:spcAft>
                <a:spcPts val="1200"/>
              </a:spcAft>
              <a:buSzPct val="100000"/>
              <a:buChar char="•"/>
            </a:pPr>
            <a:r>
              <a:rPr lang="en-US" sz="1350" dirty="0">
                <a:solidFill>
                  <a:srgbClr val="2D2A4A"/>
                </a:solidFill>
                <a:latin typeface="Calibri" pitchFamily="34" charset="0"/>
                <a:ea typeface="Calibri" pitchFamily="34" charset="-122"/>
                <a:cs typeface="Calibri" pitchFamily="34" charset="-120"/>
              </a:rPr>
              <a:t>Only meaningful on interval or ratio data — calculating a "mean" of nominal categories makes no sense at all</a:t>
            </a:r>
            <a:endParaRPr lang="en-US" sz="1350" dirty="0"/>
          </a:p>
        </p:txBody>
      </p:sp>
      <p:sp>
        <p:nvSpPr>
          <p:cNvPr id="7" name="Shape 4"/>
          <p:cNvSpPr/>
          <p:nvPr/>
        </p:nvSpPr>
        <p:spPr>
          <a:xfrm>
            <a:off x="5486400" y="1691640"/>
            <a:ext cx="6217920" cy="4343400"/>
          </a:xfrm>
          <a:prstGeom prst="roundRect">
            <a:avLst>
              <a:gd name="adj" fmla="val 3368"/>
            </a:avLst>
          </a:prstGeom>
          <a:solidFill>
            <a:srgbClr val="E3FBF3"/>
          </a:solidFill>
          <a:ln w="19050">
            <a:solidFill>
              <a:srgbClr val="5FD6B0"/>
            </a:solidFill>
            <a:prstDash val="solid"/>
          </a:ln>
        </p:spPr>
      </p:sp>
      <p:sp>
        <p:nvSpPr>
          <p:cNvPr id="8" name="Text 5"/>
          <p:cNvSpPr/>
          <p:nvPr/>
        </p:nvSpPr>
        <p:spPr>
          <a:xfrm>
            <a:off x="5806440" y="1965960"/>
            <a:ext cx="5577840" cy="3794760"/>
          </a:xfrm>
          <a:prstGeom prst="rect">
            <a:avLst/>
          </a:prstGeom>
          <a:noFill/>
          <a:ln/>
        </p:spPr>
        <p:txBody>
          <a:bodyPr wrap="square" lIns="0" tIns="0" rIns="0" bIns="0" rtlCol="0" anchor="t"/>
          <a:lstStyle/>
          <a:p>
            <a:pPr indent="0" marL="0">
              <a:lnSpc>
                <a:spcPct val="135000"/>
              </a:lnSpc>
              <a:buNone/>
            </a:pPr>
            <a:r>
              <a:rPr lang="en-US" sz="1350" dirty="0">
                <a:solidFill>
                  <a:srgbClr val="6B5FD1"/>
                </a:solidFill>
                <a:latin typeface="Consolas" pitchFamily="34" charset="0"/>
                <a:ea typeface="Consolas" pitchFamily="34" charset="-122"/>
                <a:cs typeface="Consolas" pitchFamily="34" charset="-120"/>
              </a:rPr>
              <a:t>          n</a:t>
            </a:r>
            <a:endParaRPr lang="en-US" sz="1350" dirty="0"/>
          </a:p>
          <a:p>
            <a:pPr indent="0" marL="0">
              <a:lnSpc>
                <a:spcPct val="135000"/>
              </a:lnSpc>
              <a:buNone/>
            </a:pPr>
            <a:r>
              <a:rPr lang="en-US" sz="1350" dirty="0">
                <a:solidFill>
                  <a:srgbClr val="6B5FD1"/>
                </a:solidFill>
                <a:latin typeface="Consolas" pitchFamily="34" charset="0"/>
                <a:ea typeface="Consolas" pitchFamily="34" charset="-122"/>
                <a:cs typeface="Consolas" pitchFamily="34" charset="-120"/>
              </a:rPr>
              <a:t>x̄  =  1/n Σ  xᵢ</a:t>
            </a:r>
            <a:endParaRPr lang="en-US" sz="1350" dirty="0"/>
          </a:p>
          <a:p>
            <a:pPr indent="0" marL="0">
              <a:lnSpc>
                <a:spcPct val="135000"/>
              </a:lnSpc>
              <a:buNone/>
            </a:pPr>
            <a:r>
              <a:rPr lang="en-US" sz="1350" dirty="0">
                <a:solidFill>
                  <a:srgbClr val="6B5FD1"/>
                </a:solidFill>
                <a:latin typeface="Consolas" pitchFamily="34" charset="0"/>
                <a:ea typeface="Consolas" pitchFamily="34" charset="-122"/>
                <a:cs typeface="Consolas" pitchFamily="34" charset="-120"/>
              </a:rPr>
              <a:t>         i=1</a:t>
            </a:r>
            <a:endParaRPr lang="en-US" sz="1350" dirty="0"/>
          </a:p>
          <a:p>
            <a:pPr indent="0" marL="0">
              <a:lnSpc>
                <a:spcPct val="135000"/>
              </a:lnSpc>
              <a:buNone/>
            </a:pPr>
            <a:r>
              <a:rPr lang="en-US" sz="1350" dirty="0">
                <a:solidFill>
                  <a:srgbClr val="6B5FD1"/>
                </a:solidFill>
                <a:latin typeface="Consolas" pitchFamily="34" charset="0"/>
                <a:ea typeface="Consolas" pitchFamily="34" charset="-122"/>
                <a:cs typeface="Consolas" pitchFamily="34" charset="-120"/>
              </a:rPr>
              <a:t> </a:t>
            </a:r>
            <a:endParaRPr lang="en-US" sz="1350" dirty="0"/>
          </a:p>
          <a:p>
            <a:pPr indent="0" marL="0">
              <a:lnSpc>
                <a:spcPct val="135000"/>
              </a:lnSpc>
              <a:buNone/>
            </a:pPr>
            <a:r>
              <a:rPr lang="en-US" sz="1350" i="1" dirty="0">
                <a:solidFill>
                  <a:srgbClr val="685F8F"/>
                </a:solidFill>
                <a:latin typeface="Consolas" pitchFamily="34" charset="0"/>
                <a:ea typeface="Consolas" pitchFamily="34" charset="-122"/>
                <a:cs typeface="Consolas" pitchFamily="34" charset="-120"/>
              </a:rPr>
              <a:t># Example: [4, 8, 6, 10, 2]</a:t>
            </a:r>
            <a:endParaRPr lang="en-US" sz="1350" dirty="0"/>
          </a:p>
          <a:p>
            <a:pPr indent="0" marL="0">
              <a:lnSpc>
                <a:spcPct val="135000"/>
              </a:lnSpc>
              <a:buNone/>
            </a:pPr>
            <a:r>
              <a:rPr lang="en-US" sz="1350" dirty="0">
                <a:solidFill>
                  <a:srgbClr val="6B5FD1"/>
                </a:solidFill>
                <a:latin typeface="Consolas" pitchFamily="34" charset="0"/>
                <a:ea typeface="Consolas" pitchFamily="34" charset="-122"/>
                <a:cs typeface="Consolas" pitchFamily="34" charset="-120"/>
              </a:rPr>
              <a:t>mean = (4 + 8 + 6 + 10 + 2) / 5</a:t>
            </a:r>
            <a:endParaRPr lang="en-US" sz="1350" dirty="0"/>
          </a:p>
          <a:p>
            <a:pPr indent="0" marL="0">
              <a:lnSpc>
                <a:spcPct val="135000"/>
              </a:lnSpc>
              <a:buNone/>
            </a:pPr>
            <a:r>
              <a:rPr lang="en-US" sz="1350" dirty="0">
                <a:solidFill>
                  <a:srgbClr val="6B5FD1"/>
                </a:solidFill>
                <a:latin typeface="Consolas" pitchFamily="34" charset="0"/>
                <a:ea typeface="Consolas" pitchFamily="34" charset="-122"/>
                <a:cs typeface="Consolas" pitchFamily="34" charset="-120"/>
              </a:rPr>
              <a:t>     = 30 / 5</a:t>
            </a:r>
            <a:endParaRPr lang="en-US" sz="1350" dirty="0"/>
          </a:p>
          <a:p>
            <a:pPr indent="0" marL="0">
              <a:lnSpc>
                <a:spcPct val="135000"/>
              </a:lnSpc>
              <a:buNone/>
            </a:pPr>
            <a:r>
              <a:rPr lang="en-US" sz="1350" dirty="0">
                <a:solidFill>
                  <a:srgbClr val="6B5FD1"/>
                </a:solidFill>
                <a:latin typeface="Consolas" pitchFamily="34" charset="0"/>
                <a:ea typeface="Consolas" pitchFamily="34" charset="-122"/>
                <a:cs typeface="Consolas" pitchFamily="34" charset="-120"/>
              </a:rPr>
              <a:t>     = 6</a:t>
            </a:r>
            <a:endParaRPr lang="en-US" sz="1350" dirty="0"/>
          </a:p>
        </p:txBody>
      </p:sp>
      <p:sp>
        <p:nvSpPr>
          <p:cNvPr id="9" name="Text 6"/>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0" name="Text 7"/>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54</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The Median — The True Middle Value</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Text 3"/>
          <p:cNvSpPr/>
          <p:nvPr/>
        </p:nvSpPr>
        <p:spPr>
          <a:xfrm>
            <a:off x="548640" y="1828800"/>
            <a:ext cx="4754880" cy="4023360"/>
          </a:xfrm>
          <a:prstGeom prst="rect">
            <a:avLst/>
          </a:prstGeom>
          <a:noFill/>
          <a:ln/>
        </p:spPr>
        <p:txBody>
          <a:bodyPr wrap="square" lIns="0" tIns="0" rIns="0" bIns="0" rtlCol="0" anchor="t"/>
          <a:lstStyle/>
          <a:p>
            <a:pPr marL="203200" indent="-203200">
              <a:lnSpc>
                <a:spcPct val="120000"/>
              </a:lnSpc>
              <a:spcAft>
                <a:spcPts val="1200"/>
              </a:spcAft>
              <a:buSzPct val="100000"/>
              <a:buChar char="•"/>
            </a:pPr>
            <a:r>
              <a:rPr lang="en-US" sz="1350" dirty="0">
                <a:solidFill>
                  <a:srgbClr val="2D2A4A"/>
                </a:solidFill>
                <a:latin typeface="Calibri" pitchFamily="34" charset="0"/>
                <a:ea typeface="Calibri" pitchFamily="34" charset="-122"/>
                <a:cs typeface="Calibri" pitchFamily="34" charset="-120"/>
              </a:rPr>
              <a:t>The median is the exact middle value once all your data is sorted — half the values fall below it, half above</a:t>
            </a:r>
            <a:endParaRPr lang="en-US" sz="1350" dirty="0"/>
          </a:p>
          <a:p>
            <a:pPr marL="203200" indent="-203200">
              <a:lnSpc>
                <a:spcPct val="120000"/>
              </a:lnSpc>
              <a:spcAft>
                <a:spcPts val="1200"/>
              </a:spcAft>
              <a:buSzPct val="100000"/>
              <a:buChar char="•"/>
            </a:pPr>
            <a:r>
              <a:rPr lang="en-US" sz="1350" dirty="0">
                <a:solidFill>
                  <a:srgbClr val="2D2A4A"/>
                </a:solidFill>
                <a:latin typeface="Calibri" pitchFamily="34" charset="0"/>
                <a:ea typeface="Calibri" pitchFamily="34" charset="-122"/>
                <a:cs typeface="Calibri" pitchFamily="34" charset="-120"/>
              </a:rPr>
              <a:t>For an even number of values, it’s the average of the two middle numbers</a:t>
            </a:r>
            <a:endParaRPr lang="en-US" sz="1350" dirty="0"/>
          </a:p>
          <a:p>
            <a:pPr marL="203200" indent="-203200">
              <a:lnSpc>
                <a:spcPct val="120000"/>
              </a:lnSpc>
              <a:spcAft>
                <a:spcPts val="1200"/>
              </a:spcAft>
              <a:buSzPct val="100000"/>
              <a:buChar char="•"/>
            </a:pPr>
            <a:r>
              <a:rPr lang="en-US" sz="1350" dirty="0">
                <a:solidFill>
                  <a:srgbClr val="2D2A4A"/>
                </a:solidFill>
                <a:latin typeface="Calibri" pitchFamily="34" charset="0"/>
                <a:ea typeface="Calibri" pitchFamily="34" charset="-122"/>
                <a:cs typeface="Calibri" pitchFamily="34" charset="-120"/>
              </a:rPr>
              <a:t>It ignores how extreme the highest and lowest values are — this is exactly why it resists outliers so much better than the mean</a:t>
            </a:r>
            <a:endParaRPr lang="en-US" sz="1350" dirty="0"/>
          </a:p>
        </p:txBody>
      </p:sp>
      <p:sp>
        <p:nvSpPr>
          <p:cNvPr id="7" name="Shape 4"/>
          <p:cNvSpPr/>
          <p:nvPr/>
        </p:nvSpPr>
        <p:spPr>
          <a:xfrm>
            <a:off x="5486400" y="1691640"/>
            <a:ext cx="6217920" cy="4343400"/>
          </a:xfrm>
          <a:prstGeom prst="roundRect">
            <a:avLst>
              <a:gd name="adj" fmla="val 3368"/>
            </a:avLst>
          </a:prstGeom>
          <a:solidFill>
            <a:srgbClr val="E3FBF3"/>
          </a:solidFill>
          <a:ln w="19050">
            <a:solidFill>
              <a:srgbClr val="5FD6B0"/>
            </a:solidFill>
            <a:prstDash val="solid"/>
          </a:ln>
        </p:spPr>
      </p:sp>
      <p:sp>
        <p:nvSpPr>
          <p:cNvPr id="8" name="Text 5"/>
          <p:cNvSpPr/>
          <p:nvPr/>
        </p:nvSpPr>
        <p:spPr>
          <a:xfrm>
            <a:off x="5806440" y="1965960"/>
            <a:ext cx="5577840" cy="3794760"/>
          </a:xfrm>
          <a:prstGeom prst="rect">
            <a:avLst/>
          </a:prstGeom>
          <a:noFill/>
          <a:ln/>
        </p:spPr>
        <p:txBody>
          <a:bodyPr wrap="square" lIns="0" tIns="0" rIns="0" bIns="0" rtlCol="0" anchor="t"/>
          <a:lstStyle/>
          <a:p>
            <a:pPr indent="0" marL="0">
              <a:lnSpc>
                <a:spcPct val="135000"/>
              </a:lnSpc>
              <a:buNone/>
            </a:pPr>
            <a:r>
              <a:rPr lang="en-US" sz="1350" i="1" dirty="0">
                <a:solidFill>
                  <a:srgbClr val="685F8F"/>
                </a:solidFill>
                <a:latin typeface="Consolas" pitchFamily="34" charset="0"/>
                <a:ea typeface="Consolas" pitchFamily="34" charset="-122"/>
                <a:cs typeface="Consolas" pitchFamily="34" charset="-120"/>
              </a:rPr>
              <a:t># Odd count: sort, take the exact middle</a:t>
            </a:r>
            <a:endParaRPr lang="en-US" sz="1350" dirty="0"/>
          </a:p>
          <a:p>
            <a:pPr indent="0" marL="0">
              <a:lnSpc>
                <a:spcPct val="135000"/>
              </a:lnSpc>
              <a:buNone/>
            </a:pPr>
            <a:r>
              <a:rPr lang="en-US" sz="1350" dirty="0">
                <a:solidFill>
                  <a:srgbClr val="6B5FD1"/>
                </a:solidFill>
                <a:latin typeface="Consolas" pitchFamily="34" charset="0"/>
                <a:ea typeface="Consolas" pitchFamily="34" charset="-122"/>
                <a:cs typeface="Consolas" pitchFamily="34" charset="-120"/>
              </a:rPr>
              <a:t>[2, 4, 6, 8, 10]  →  median = 6</a:t>
            </a:r>
            <a:endParaRPr lang="en-US" sz="1350" dirty="0"/>
          </a:p>
          <a:p>
            <a:pPr indent="0" marL="0">
              <a:lnSpc>
                <a:spcPct val="135000"/>
              </a:lnSpc>
              <a:buNone/>
            </a:pPr>
            <a:r>
              <a:rPr lang="en-US" sz="1350" dirty="0">
                <a:solidFill>
                  <a:srgbClr val="6B5FD1"/>
                </a:solidFill>
                <a:latin typeface="Consolas" pitchFamily="34" charset="0"/>
                <a:ea typeface="Consolas" pitchFamily="34" charset="-122"/>
                <a:cs typeface="Consolas" pitchFamily="34" charset="-120"/>
              </a:rPr>
              <a:t> </a:t>
            </a:r>
            <a:endParaRPr lang="en-US" sz="1350" dirty="0"/>
          </a:p>
          <a:p>
            <a:pPr indent="0" marL="0">
              <a:lnSpc>
                <a:spcPct val="135000"/>
              </a:lnSpc>
              <a:buNone/>
            </a:pPr>
            <a:r>
              <a:rPr lang="en-US" sz="1350" i="1" dirty="0">
                <a:solidFill>
                  <a:srgbClr val="685F8F"/>
                </a:solidFill>
                <a:latin typeface="Consolas" pitchFamily="34" charset="0"/>
                <a:ea typeface="Consolas" pitchFamily="34" charset="-122"/>
                <a:cs typeface="Consolas" pitchFamily="34" charset="-120"/>
              </a:rPr>
              <a:t># Even count: average the two middle values</a:t>
            </a:r>
            <a:endParaRPr lang="en-US" sz="1350" dirty="0"/>
          </a:p>
          <a:p>
            <a:pPr indent="0" marL="0">
              <a:lnSpc>
                <a:spcPct val="135000"/>
              </a:lnSpc>
              <a:buNone/>
            </a:pPr>
            <a:r>
              <a:rPr lang="en-US" sz="1350" dirty="0">
                <a:solidFill>
                  <a:srgbClr val="6B5FD1"/>
                </a:solidFill>
                <a:latin typeface="Consolas" pitchFamily="34" charset="0"/>
                <a:ea typeface="Consolas" pitchFamily="34" charset="-122"/>
                <a:cs typeface="Consolas" pitchFamily="34" charset="-120"/>
              </a:rPr>
              <a:t>[2, 4, 6, 8]      →  median = (4 + 6) / 2 = 5</a:t>
            </a:r>
            <a:endParaRPr lang="en-US" sz="1350" dirty="0"/>
          </a:p>
          <a:p>
            <a:pPr indent="0" marL="0">
              <a:lnSpc>
                <a:spcPct val="135000"/>
              </a:lnSpc>
              <a:buNone/>
            </a:pPr>
            <a:r>
              <a:rPr lang="en-US" sz="1350" dirty="0">
                <a:solidFill>
                  <a:srgbClr val="6B5FD1"/>
                </a:solidFill>
                <a:latin typeface="Consolas" pitchFamily="34" charset="0"/>
                <a:ea typeface="Consolas" pitchFamily="34" charset="-122"/>
                <a:cs typeface="Consolas" pitchFamily="34" charset="-120"/>
              </a:rPr>
              <a:t> </a:t>
            </a:r>
            <a:endParaRPr lang="en-US" sz="1350" dirty="0"/>
          </a:p>
          <a:p>
            <a:pPr indent="0" marL="0">
              <a:lnSpc>
                <a:spcPct val="135000"/>
              </a:lnSpc>
              <a:buNone/>
            </a:pPr>
            <a:r>
              <a:rPr lang="en-US" sz="1350" i="1" dirty="0">
                <a:solidFill>
                  <a:srgbClr val="685F8F"/>
                </a:solidFill>
                <a:latin typeface="Consolas" pitchFamily="34" charset="0"/>
                <a:ea typeface="Consolas" pitchFamily="34" charset="-122"/>
                <a:cs typeface="Consolas" pitchFamily="34" charset="-120"/>
              </a:rPr>
              <a:t># Works even on ordinal data (e.g. star ratings)</a:t>
            </a:r>
            <a:endParaRPr lang="en-US" sz="1350" dirty="0"/>
          </a:p>
        </p:txBody>
      </p:sp>
      <p:sp>
        <p:nvSpPr>
          <p:cNvPr id="9" name="Text 6"/>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0" name="Text 7"/>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55</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The Mode — The Most Frequent Value</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Text 3"/>
          <p:cNvSpPr/>
          <p:nvPr/>
        </p:nvSpPr>
        <p:spPr>
          <a:xfrm>
            <a:off x="548640" y="1828800"/>
            <a:ext cx="4754880" cy="4023360"/>
          </a:xfrm>
          <a:prstGeom prst="rect">
            <a:avLst/>
          </a:prstGeom>
          <a:noFill/>
          <a:ln/>
        </p:spPr>
        <p:txBody>
          <a:bodyPr wrap="square" lIns="0" tIns="0" rIns="0" bIns="0" rtlCol="0" anchor="t"/>
          <a:lstStyle/>
          <a:p>
            <a:pPr marL="203200" indent="-203200">
              <a:lnSpc>
                <a:spcPct val="120000"/>
              </a:lnSpc>
              <a:spcAft>
                <a:spcPts val="1200"/>
              </a:spcAft>
              <a:buSzPct val="100000"/>
              <a:buChar char="•"/>
            </a:pPr>
            <a:r>
              <a:rPr lang="en-US" sz="1350" dirty="0">
                <a:solidFill>
                  <a:srgbClr val="2D2A4A"/>
                </a:solidFill>
                <a:latin typeface="Calibri" pitchFamily="34" charset="0"/>
                <a:ea typeface="Calibri" pitchFamily="34" charset="-122"/>
                <a:cs typeface="Calibri" pitchFamily="34" charset="-120"/>
              </a:rPr>
              <a:t>The mode is simply whichever value appears most often in the dataset</a:t>
            </a:r>
            <a:endParaRPr lang="en-US" sz="1350" dirty="0"/>
          </a:p>
          <a:p>
            <a:pPr marL="203200" indent="-203200">
              <a:lnSpc>
                <a:spcPct val="120000"/>
              </a:lnSpc>
              <a:spcAft>
                <a:spcPts val="1200"/>
              </a:spcAft>
              <a:buSzPct val="100000"/>
              <a:buChar char="•"/>
            </a:pPr>
            <a:r>
              <a:rPr lang="en-US" sz="1350" dirty="0">
                <a:solidFill>
                  <a:srgbClr val="2D2A4A"/>
                </a:solidFill>
                <a:latin typeface="Calibri" pitchFamily="34" charset="0"/>
                <a:ea typeface="Calibri" pitchFamily="34" charset="-122"/>
                <a:cs typeface="Calibri" pitchFamily="34" charset="-120"/>
              </a:rPr>
              <a:t>It’s the only measure of central tendency that works on nominal (category) data — mean and median don’t apply there at all</a:t>
            </a:r>
            <a:endParaRPr lang="en-US" sz="1350" dirty="0"/>
          </a:p>
          <a:p>
            <a:pPr marL="203200" indent="-203200">
              <a:lnSpc>
                <a:spcPct val="120000"/>
              </a:lnSpc>
              <a:spcAft>
                <a:spcPts val="1200"/>
              </a:spcAft>
              <a:buSzPct val="100000"/>
              <a:buChar char="•"/>
            </a:pPr>
            <a:r>
              <a:rPr lang="en-US" sz="1350" dirty="0">
                <a:solidFill>
                  <a:srgbClr val="2D2A4A"/>
                </a:solidFill>
                <a:latin typeface="Calibri" pitchFamily="34" charset="0"/>
                <a:ea typeface="Calibri" pitchFamily="34" charset="-122"/>
                <a:cs typeface="Calibri" pitchFamily="34" charset="-120"/>
              </a:rPr>
              <a:t>A dataset can have one mode, several (multimodal), or none at all if every value appears equally often</a:t>
            </a:r>
            <a:endParaRPr lang="en-US" sz="1350" dirty="0"/>
          </a:p>
        </p:txBody>
      </p:sp>
      <p:sp>
        <p:nvSpPr>
          <p:cNvPr id="7" name="Shape 4"/>
          <p:cNvSpPr/>
          <p:nvPr/>
        </p:nvSpPr>
        <p:spPr>
          <a:xfrm>
            <a:off x="5486400" y="1691640"/>
            <a:ext cx="6217920" cy="4343400"/>
          </a:xfrm>
          <a:prstGeom prst="roundRect">
            <a:avLst>
              <a:gd name="adj" fmla="val 3368"/>
            </a:avLst>
          </a:prstGeom>
          <a:solidFill>
            <a:srgbClr val="E3FBF3"/>
          </a:solidFill>
          <a:ln w="19050">
            <a:solidFill>
              <a:srgbClr val="5FD6B0"/>
            </a:solidFill>
            <a:prstDash val="solid"/>
          </a:ln>
        </p:spPr>
      </p:sp>
      <p:sp>
        <p:nvSpPr>
          <p:cNvPr id="8" name="Text 5"/>
          <p:cNvSpPr/>
          <p:nvPr/>
        </p:nvSpPr>
        <p:spPr>
          <a:xfrm>
            <a:off x="5806440" y="1965960"/>
            <a:ext cx="5577840" cy="3794760"/>
          </a:xfrm>
          <a:prstGeom prst="rect">
            <a:avLst/>
          </a:prstGeom>
          <a:noFill/>
          <a:ln/>
        </p:spPr>
        <p:txBody>
          <a:bodyPr wrap="square" lIns="0" tIns="0" rIns="0" bIns="0" rtlCol="0" anchor="t"/>
          <a:lstStyle/>
          <a:p>
            <a:pPr indent="0" marL="0">
              <a:lnSpc>
                <a:spcPct val="135000"/>
              </a:lnSpc>
              <a:buNone/>
            </a:pPr>
            <a:r>
              <a:rPr lang="en-US" sz="1350" i="1" dirty="0">
                <a:solidFill>
                  <a:srgbClr val="685F8F"/>
                </a:solidFill>
                <a:latin typeface="Consolas" pitchFamily="34" charset="0"/>
                <a:ea typeface="Consolas" pitchFamily="34" charset="-122"/>
                <a:cs typeface="Consolas" pitchFamily="34" charset="-120"/>
              </a:rPr>
              <a:t># [2, 4, 4, 6, 8]  →  mode = 4  (appears twice)</a:t>
            </a:r>
            <a:endParaRPr lang="en-US" sz="1350" dirty="0"/>
          </a:p>
          <a:p>
            <a:pPr indent="0" marL="0">
              <a:lnSpc>
                <a:spcPct val="135000"/>
              </a:lnSpc>
              <a:buNone/>
            </a:pPr>
            <a:r>
              <a:rPr lang="en-US" sz="1350" dirty="0">
                <a:solidFill>
                  <a:srgbClr val="6B5FD1"/>
                </a:solidFill>
                <a:latin typeface="Consolas" pitchFamily="34" charset="0"/>
                <a:ea typeface="Consolas" pitchFamily="34" charset="-122"/>
                <a:cs typeface="Consolas" pitchFamily="34" charset="-120"/>
              </a:rPr>
              <a:t> </a:t>
            </a:r>
            <a:endParaRPr lang="en-US" sz="1350" dirty="0"/>
          </a:p>
          <a:p>
            <a:pPr indent="0" marL="0">
              <a:lnSpc>
                <a:spcPct val="135000"/>
              </a:lnSpc>
              <a:buNone/>
            </a:pPr>
            <a:r>
              <a:rPr lang="en-US" sz="1350" i="1" dirty="0">
                <a:solidFill>
                  <a:srgbClr val="685F8F"/>
                </a:solidFill>
                <a:latin typeface="Consolas" pitchFamily="34" charset="0"/>
                <a:ea typeface="Consolas" pitchFamily="34" charset="-122"/>
                <a:cs typeface="Consolas" pitchFamily="34" charset="-120"/>
              </a:rPr>
              <a:t># ['red', 'blue', 'red', 'green', 'red']</a:t>
            </a:r>
            <a:endParaRPr lang="en-US" sz="1350" dirty="0"/>
          </a:p>
          <a:p>
            <a:pPr indent="0" marL="0">
              <a:lnSpc>
                <a:spcPct val="135000"/>
              </a:lnSpc>
              <a:buNone/>
            </a:pPr>
            <a:r>
              <a:rPr lang="en-US" sz="1350" i="1" dirty="0">
                <a:solidFill>
                  <a:srgbClr val="685F8F"/>
                </a:solidFill>
                <a:latin typeface="Consolas" pitchFamily="34" charset="0"/>
                <a:ea typeface="Consolas" pitchFamily="34" charset="-122"/>
                <a:cs typeface="Consolas" pitchFamily="34" charset="-120"/>
              </a:rPr>
              <a:t>#  →  mode = 'red'</a:t>
            </a:r>
            <a:endParaRPr lang="en-US" sz="1350" dirty="0"/>
          </a:p>
          <a:p>
            <a:pPr indent="0" marL="0">
              <a:lnSpc>
                <a:spcPct val="135000"/>
              </a:lnSpc>
              <a:buNone/>
            </a:pPr>
            <a:r>
              <a:rPr lang="en-US" sz="1350" dirty="0">
                <a:solidFill>
                  <a:srgbClr val="6B5FD1"/>
                </a:solidFill>
                <a:latin typeface="Consolas" pitchFamily="34" charset="0"/>
                <a:ea typeface="Consolas" pitchFamily="34" charset="-122"/>
                <a:cs typeface="Consolas" pitchFamily="34" charset="-120"/>
              </a:rPr>
              <a:t> </a:t>
            </a:r>
            <a:endParaRPr lang="en-US" sz="1350" dirty="0"/>
          </a:p>
          <a:p>
            <a:pPr indent="0" marL="0">
              <a:lnSpc>
                <a:spcPct val="135000"/>
              </a:lnSpc>
              <a:buNone/>
            </a:pPr>
            <a:r>
              <a:rPr lang="en-US" sz="1350" i="1" dirty="0">
                <a:solidFill>
                  <a:srgbClr val="685F8F"/>
                </a:solidFill>
                <a:latin typeface="Consolas" pitchFamily="34" charset="0"/>
                <a:ea typeface="Consolas" pitchFamily="34" charset="-122"/>
                <a:cs typeface="Consolas" pitchFamily="34" charset="-120"/>
              </a:rPr>
              <a:t># [1, 2, 3, 4]  →  no mode — every value appears once</a:t>
            </a:r>
            <a:endParaRPr lang="en-US" sz="1350" dirty="0"/>
          </a:p>
        </p:txBody>
      </p:sp>
      <p:sp>
        <p:nvSpPr>
          <p:cNvPr id="9" name="Text 6"/>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0" name="Text 7"/>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56</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When the Mean Lies to You</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645920"/>
            <a:ext cx="5349240" cy="4480560"/>
          </a:xfrm>
          <a:prstGeom prst="roundRect">
            <a:avLst>
              <a:gd name="adj" fmla="val 3265"/>
            </a:avLst>
          </a:prstGeom>
          <a:solidFill>
            <a:srgbClr val="EDE9FE"/>
          </a:solidFill>
          <a:ln w="12700">
            <a:solidFill>
              <a:srgbClr val="D8D2F5"/>
            </a:solidFill>
            <a:prstDash val="solid"/>
          </a:ln>
        </p:spPr>
      </p:sp>
      <p:sp>
        <p:nvSpPr>
          <p:cNvPr id="7" name="Shape 4"/>
          <p:cNvSpPr/>
          <p:nvPr/>
        </p:nvSpPr>
        <p:spPr>
          <a:xfrm>
            <a:off x="731520" y="1874520"/>
            <a:ext cx="457200" cy="45720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804672" y="1938528"/>
            <a:ext cx="320040" cy="320040"/>
          </a:xfrm>
          <a:prstGeom prst="rect">
            <a:avLst/>
          </a:prstGeom>
        </p:spPr>
      </p:pic>
      <p:sp>
        <p:nvSpPr>
          <p:cNvPr id="9" name="Text 5"/>
          <p:cNvSpPr/>
          <p:nvPr/>
        </p:nvSpPr>
        <p:spPr>
          <a:xfrm>
            <a:off x="1325880" y="1874520"/>
            <a:ext cx="4343400" cy="457200"/>
          </a:xfrm>
          <a:prstGeom prst="rect">
            <a:avLst/>
          </a:prstGeom>
          <a:noFill/>
          <a:ln/>
        </p:spPr>
        <p:txBody>
          <a:bodyPr wrap="square" lIns="0" tIns="0" rIns="0" bIns="0" rtlCol="0" anchor="ctr"/>
          <a:lstStyle/>
          <a:p>
            <a:pPr indent="0" marL="0">
              <a:buNone/>
            </a:pPr>
            <a:r>
              <a:rPr lang="en-US" sz="1700" b="1" dirty="0">
                <a:solidFill>
                  <a:srgbClr val="2D2A4A"/>
                </a:solidFill>
                <a:latin typeface="Century Gothic" pitchFamily="34" charset="0"/>
                <a:ea typeface="Century Gothic" pitchFamily="34" charset="-122"/>
                <a:cs typeface="Century Gothic" pitchFamily="34" charset="-120"/>
              </a:rPr>
              <a:t>The Classic Example</a:t>
            </a:r>
            <a:endParaRPr lang="en-US" sz="1700" dirty="0"/>
          </a:p>
        </p:txBody>
      </p:sp>
      <p:sp>
        <p:nvSpPr>
          <p:cNvPr id="10" name="Text 6"/>
          <p:cNvSpPr/>
          <p:nvPr/>
        </p:nvSpPr>
        <p:spPr>
          <a:xfrm>
            <a:off x="731520" y="2514600"/>
            <a:ext cx="4800600" cy="3383280"/>
          </a:xfrm>
          <a:prstGeom prst="rect">
            <a:avLst/>
          </a:prstGeom>
          <a:noFill/>
          <a:ln/>
        </p:spPr>
        <p:txBody>
          <a:bodyPr wrap="square" lIns="0" tIns="0" rIns="0" bIns="0" rtlCol="0" anchor="t"/>
          <a:lstStyle/>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Salaries at a small company: $40k, $42k, $45k, $48k, $500k (the owner)</a:t>
            </a:r>
            <a:endParaRPr lang="en-US" sz="1350" dirty="0"/>
          </a:p>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Mean = $135k — technically correct, but describes almost NOBODY’S actual salary</a:t>
            </a:r>
            <a:endParaRPr lang="en-US" sz="1350" dirty="0"/>
          </a:p>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Median = $45k — this is what a "typical" employee genuinely earns</a:t>
            </a:r>
            <a:endParaRPr lang="en-US" sz="1350" dirty="0"/>
          </a:p>
        </p:txBody>
      </p:sp>
      <p:sp>
        <p:nvSpPr>
          <p:cNvPr id="11" name="Shape 7"/>
          <p:cNvSpPr/>
          <p:nvPr/>
        </p:nvSpPr>
        <p:spPr>
          <a:xfrm>
            <a:off x="6172200" y="1645920"/>
            <a:ext cx="5349240" cy="4480560"/>
          </a:xfrm>
          <a:prstGeom prst="roundRect">
            <a:avLst>
              <a:gd name="adj" fmla="val 3265"/>
            </a:avLst>
          </a:prstGeom>
          <a:solidFill>
            <a:srgbClr val="FFF6DC"/>
          </a:solidFill>
          <a:ln w="12700">
            <a:solidFill>
              <a:srgbClr val="D8D2F5"/>
            </a:solidFill>
            <a:prstDash val="solid"/>
          </a:ln>
        </p:spPr>
      </p:sp>
      <p:sp>
        <p:nvSpPr>
          <p:cNvPr id="12" name="Shape 8"/>
          <p:cNvSpPr/>
          <p:nvPr/>
        </p:nvSpPr>
        <p:spPr>
          <a:xfrm>
            <a:off x="6446520" y="1874520"/>
            <a:ext cx="457200" cy="457200"/>
          </a:xfrm>
          <a:prstGeom prst="ellipse">
            <a:avLst/>
          </a:prstGeom>
          <a:solidFill>
            <a:srgbClr val="FFC94A"/>
          </a:solidFill>
          <a:ln/>
        </p:spPr>
      </p:sp>
      <p:pic>
        <p:nvPicPr>
          <p:cNvPr id="13" name="Image 2" descr="preencoded.png">    </p:cNvPr>
          <p:cNvPicPr>
            <a:picLocks noChangeAspect="1"/>
          </p:cNvPicPr>
          <p:nvPr/>
        </p:nvPicPr>
        <p:blipFill>
          <a:blip r:embed="rId3"/>
          <a:stretch>
            <a:fillRect/>
          </a:stretch>
        </p:blipFill>
        <p:spPr>
          <a:xfrm>
            <a:off x="6519672" y="1938528"/>
            <a:ext cx="320040" cy="320040"/>
          </a:xfrm>
          <a:prstGeom prst="rect">
            <a:avLst/>
          </a:prstGeom>
        </p:spPr>
      </p:pic>
      <p:sp>
        <p:nvSpPr>
          <p:cNvPr id="14" name="Text 9"/>
          <p:cNvSpPr/>
          <p:nvPr/>
        </p:nvSpPr>
        <p:spPr>
          <a:xfrm>
            <a:off x="7040880" y="1874520"/>
            <a:ext cx="4343400" cy="457200"/>
          </a:xfrm>
          <a:prstGeom prst="rect">
            <a:avLst/>
          </a:prstGeom>
          <a:noFill/>
          <a:ln/>
        </p:spPr>
        <p:txBody>
          <a:bodyPr wrap="square" lIns="0" tIns="0" rIns="0" bIns="0" rtlCol="0" anchor="ctr"/>
          <a:lstStyle/>
          <a:p>
            <a:pPr indent="0" marL="0">
              <a:buNone/>
            </a:pPr>
            <a:r>
              <a:rPr lang="en-US" sz="1700" b="1" dirty="0">
                <a:solidFill>
                  <a:srgbClr val="2D2A4A"/>
                </a:solidFill>
                <a:latin typeface="Century Gothic" pitchFamily="34" charset="0"/>
                <a:ea typeface="Century Gothic" pitchFamily="34" charset="-122"/>
                <a:cs typeface="Century Gothic" pitchFamily="34" charset="-120"/>
              </a:rPr>
              <a:t>The Rule of Thumb</a:t>
            </a:r>
            <a:endParaRPr lang="en-US" sz="1700" dirty="0"/>
          </a:p>
        </p:txBody>
      </p:sp>
      <p:sp>
        <p:nvSpPr>
          <p:cNvPr id="15" name="Text 10"/>
          <p:cNvSpPr/>
          <p:nvPr/>
        </p:nvSpPr>
        <p:spPr>
          <a:xfrm>
            <a:off x="6446520" y="2514600"/>
            <a:ext cx="4800600" cy="3383280"/>
          </a:xfrm>
          <a:prstGeom prst="rect">
            <a:avLst/>
          </a:prstGeom>
          <a:noFill/>
          <a:ln/>
        </p:spPr>
        <p:txBody>
          <a:bodyPr wrap="square" lIns="0" tIns="0" rIns="0" bIns="0" rtlCol="0" anchor="t"/>
          <a:lstStyle/>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When data is skewed or has extreme outliers, prefer the median</a:t>
            </a:r>
            <a:endParaRPr lang="en-US" sz="1350" dirty="0"/>
          </a:p>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When data is roughly symmetric with no extreme values, the mean is fine, and uses more information</a:t>
            </a:r>
            <a:endParaRPr lang="en-US" sz="1350" dirty="0"/>
          </a:p>
          <a:p>
            <a:pPr marL="203200" indent="-203200">
              <a:lnSpc>
                <a:spcPct val="115000"/>
              </a:lnSpc>
              <a:spcAft>
                <a:spcPts val="1000"/>
              </a:spcAft>
              <a:buSzPct val="100000"/>
              <a:buChar char="•"/>
            </a:pPr>
            <a:r>
              <a:rPr lang="en-US" sz="1350" dirty="0">
                <a:solidFill>
                  <a:srgbClr val="2D2A4A"/>
                </a:solidFill>
                <a:latin typeface="Calibri" pitchFamily="34" charset="0"/>
                <a:ea typeface="Calibri" pitchFamily="34" charset="-122"/>
                <a:cs typeface="Calibri" pitchFamily="34" charset="-120"/>
              </a:rPr>
              <a:t>This is exactly why income, house prices, and similar data are almost always reported as medians in the news</a:t>
            </a:r>
            <a:endParaRPr lang="en-US" sz="1350" dirty="0"/>
          </a:p>
        </p:txBody>
      </p:sp>
      <p:sp>
        <p:nvSpPr>
          <p:cNvPr id="16" name="Text 11"/>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7" name="Text 12"/>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57</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Practice Set — Central Tendency</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600200"/>
            <a:ext cx="11274552" cy="4480560"/>
          </a:xfrm>
          <a:prstGeom prst="roundRect">
            <a:avLst>
              <a:gd name="adj" fmla="val 3673"/>
            </a:avLst>
          </a:prstGeom>
          <a:solidFill>
            <a:srgbClr val="EDE9FE"/>
          </a:solidFill>
          <a:ln w="12700">
            <a:solidFill>
              <a:srgbClr val="D8D2F5"/>
            </a:solidFill>
            <a:prstDash val="solid"/>
          </a:ln>
        </p:spPr>
      </p:sp>
      <p:sp>
        <p:nvSpPr>
          <p:cNvPr id="7" name="Text 4"/>
          <p:cNvSpPr/>
          <p:nvPr/>
        </p:nvSpPr>
        <p:spPr>
          <a:xfrm>
            <a:off x="822960" y="1828800"/>
            <a:ext cx="10515600" cy="457200"/>
          </a:xfrm>
          <a:prstGeom prst="rect">
            <a:avLst/>
          </a:prstGeom>
          <a:noFill/>
          <a:ln/>
        </p:spPr>
        <p:txBody>
          <a:bodyPr wrap="square" lIns="0" tIns="0" rIns="0" bIns="0" rtlCol="0" anchor="ctr"/>
          <a:lstStyle/>
          <a:p>
            <a:pPr indent="0" marL="0">
              <a:buNone/>
            </a:pPr>
            <a:r>
              <a:rPr lang="en-US" sz="1500" b="1" dirty="0">
                <a:solidFill>
                  <a:srgbClr val="2D2A4A"/>
                </a:solidFill>
                <a:latin typeface="Century Gothic" pitchFamily="34" charset="0"/>
                <a:ea typeface="Century Gothic" pitchFamily="34" charset="-122"/>
                <a:cs typeface="Century Gothic" pitchFamily="34" charset="-120"/>
              </a:rPr>
              <a:t>Try these yourself first — that's the point</a:t>
            </a:r>
            <a:endParaRPr lang="en-US" sz="1500" dirty="0"/>
          </a:p>
        </p:txBody>
      </p:sp>
      <p:sp>
        <p:nvSpPr>
          <p:cNvPr id="8" name="Shape 5"/>
          <p:cNvSpPr/>
          <p:nvPr/>
        </p:nvSpPr>
        <p:spPr>
          <a:xfrm>
            <a:off x="822960" y="2423160"/>
            <a:ext cx="384048" cy="384048"/>
          </a:xfrm>
          <a:prstGeom prst="ellipse">
            <a:avLst/>
          </a:prstGeom>
          <a:solidFill>
            <a:srgbClr val="8B7FE8"/>
          </a:solidFill>
          <a:ln/>
        </p:spPr>
      </p:sp>
      <p:sp>
        <p:nvSpPr>
          <p:cNvPr id="9" name="Text 6"/>
          <p:cNvSpPr/>
          <p:nvPr/>
        </p:nvSpPr>
        <p:spPr>
          <a:xfrm>
            <a:off x="822960" y="2423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p:nvPr/>
        </p:nvSpPr>
        <p:spPr>
          <a:xfrm>
            <a:off x="1435608" y="2423160"/>
            <a:ext cx="9582912" cy="384048"/>
          </a:xfrm>
          <a:prstGeom prst="rect">
            <a:avLst/>
          </a:prstGeom>
          <a:noFill/>
          <a:ln/>
        </p:spPr>
        <p:txBody>
          <a:bodyPr wrap="square" lIns="0" tIns="0" rIns="0" bIns="0" rtlCol="0" anchor="ctr"/>
          <a:lstStyle/>
          <a:p>
            <a:pPr indent="0" marL="0">
              <a:buNone/>
            </a:pPr>
            <a:r>
              <a:rPr lang="en-US" sz="1250" dirty="0">
                <a:solidFill>
                  <a:srgbClr val="2D2A4A"/>
                </a:solidFill>
                <a:latin typeface="Calibri" pitchFamily="34" charset="0"/>
                <a:ea typeface="Calibri" pitchFamily="34" charset="-122"/>
                <a:cs typeface="Calibri" pitchFamily="34" charset="-120"/>
              </a:rPr>
              <a:t>Calculate the mean, median, and mode of [5, 7, 7, 9, 100] by hand</a:t>
            </a:r>
            <a:endParaRPr lang="en-US" sz="1250" dirty="0"/>
          </a:p>
        </p:txBody>
      </p:sp>
      <p:sp>
        <p:nvSpPr>
          <p:cNvPr id="11" name="Shape 8"/>
          <p:cNvSpPr/>
          <p:nvPr/>
        </p:nvSpPr>
        <p:spPr>
          <a:xfrm>
            <a:off x="822960" y="3300984"/>
            <a:ext cx="384048" cy="384048"/>
          </a:xfrm>
          <a:prstGeom prst="ellipse">
            <a:avLst/>
          </a:prstGeom>
          <a:solidFill>
            <a:srgbClr val="8B7FE8"/>
          </a:solidFill>
          <a:ln/>
        </p:spPr>
      </p:sp>
      <p:sp>
        <p:nvSpPr>
          <p:cNvPr id="12" name="Text 9"/>
          <p:cNvSpPr/>
          <p:nvPr/>
        </p:nvSpPr>
        <p:spPr>
          <a:xfrm>
            <a:off x="822960" y="3300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435608" y="3300984"/>
            <a:ext cx="9582912" cy="384048"/>
          </a:xfrm>
          <a:prstGeom prst="rect">
            <a:avLst/>
          </a:prstGeom>
          <a:noFill/>
          <a:ln/>
        </p:spPr>
        <p:txBody>
          <a:bodyPr wrap="square" lIns="0" tIns="0" rIns="0" bIns="0" rtlCol="0" anchor="ctr"/>
          <a:lstStyle/>
          <a:p>
            <a:pPr indent="0" marL="0">
              <a:buNone/>
            </a:pPr>
            <a:r>
              <a:rPr lang="en-US" sz="1250" dirty="0">
                <a:solidFill>
                  <a:srgbClr val="2D2A4A"/>
                </a:solidFill>
                <a:latin typeface="Calibri" pitchFamily="34" charset="0"/>
                <a:ea typeface="Calibri" pitchFamily="34" charset="-122"/>
                <a:cs typeface="Calibri" pitchFamily="34" charset="-120"/>
              </a:rPr>
              <a:t>Explain which measure best represents that dataset’s "typical" value, and why</a:t>
            </a:r>
            <a:endParaRPr lang="en-US" sz="1250" dirty="0"/>
          </a:p>
        </p:txBody>
      </p:sp>
      <p:sp>
        <p:nvSpPr>
          <p:cNvPr id="14" name="Shape 11"/>
          <p:cNvSpPr/>
          <p:nvPr/>
        </p:nvSpPr>
        <p:spPr>
          <a:xfrm>
            <a:off x="822960" y="4178808"/>
            <a:ext cx="384048" cy="384048"/>
          </a:xfrm>
          <a:prstGeom prst="ellipse">
            <a:avLst/>
          </a:prstGeom>
          <a:solidFill>
            <a:srgbClr val="8B7FE8"/>
          </a:solidFill>
          <a:ln/>
        </p:spPr>
      </p:sp>
      <p:sp>
        <p:nvSpPr>
          <p:cNvPr id="15" name="Text 12"/>
          <p:cNvSpPr/>
          <p:nvPr/>
        </p:nvSpPr>
        <p:spPr>
          <a:xfrm>
            <a:off x="822960" y="4178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3"/>
          <p:cNvSpPr/>
          <p:nvPr/>
        </p:nvSpPr>
        <p:spPr>
          <a:xfrm>
            <a:off x="1435608" y="4178808"/>
            <a:ext cx="9582912" cy="384048"/>
          </a:xfrm>
          <a:prstGeom prst="rect">
            <a:avLst/>
          </a:prstGeom>
          <a:noFill/>
          <a:ln/>
        </p:spPr>
        <p:txBody>
          <a:bodyPr wrap="square" lIns="0" tIns="0" rIns="0" bIns="0" rtlCol="0" anchor="ctr"/>
          <a:lstStyle/>
          <a:p>
            <a:pPr indent="0" marL="0">
              <a:buNone/>
            </a:pPr>
            <a:r>
              <a:rPr lang="en-US" sz="1250" dirty="0">
                <a:solidFill>
                  <a:srgbClr val="2D2A4A"/>
                </a:solidFill>
                <a:latin typeface="Calibri" pitchFamily="34" charset="0"/>
                <a:ea typeface="Calibri" pitchFamily="34" charset="-122"/>
                <a:cs typeface="Calibri" pitchFamily="34" charset="-120"/>
              </a:rPr>
              <a:t>For a dataset of shoe sizes sold in a store, explain which measure of central tendency is most useful for restocking decisions</a:t>
            </a:r>
            <a:endParaRPr lang="en-US" sz="1250" dirty="0"/>
          </a:p>
        </p:txBody>
      </p:sp>
      <p:sp>
        <p:nvSpPr>
          <p:cNvPr id="17" name="Shape 14"/>
          <p:cNvSpPr/>
          <p:nvPr/>
        </p:nvSpPr>
        <p:spPr>
          <a:xfrm>
            <a:off x="822960" y="5056632"/>
            <a:ext cx="384048" cy="384048"/>
          </a:xfrm>
          <a:prstGeom prst="ellipse">
            <a:avLst/>
          </a:prstGeom>
          <a:solidFill>
            <a:srgbClr val="8B7FE8"/>
          </a:solidFill>
          <a:ln/>
        </p:spPr>
      </p:sp>
      <p:sp>
        <p:nvSpPr>
          <p:cNvPr id="18" name="Text 15"/>
          <p:cNvSpPr/>
          <p:nvPr/>
        </p:nvSpPr>
        <p:spPr>
          <a:xfrm>
            <a:off x="822960" y="5056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6"/>
          <p:cNvSpPr/>
          <p:nvPr/>
        </p:nvSpPr>
        <p:spPr>
          <a:xfrm>
            <a:off x="1435608" y="5056632"/>
            <a:ext cx="9582912" cy="384048"/>
          </a:xfrm>
          <a:prstGeom prst="rect">
            <a:avLst/>
          </a:prstGeom>
          <a:noFill/>
          <a:ln/>
        </p:spPr>
        <p:txBody>
          <a:bodyPr wrap="square" lIns="0" tIns="0" rIns="0" bIns="0" rtlCol="0" anchor="ctr"/>
          <a:lstStyle/>
          <a:p>
            <a:pPr indent="0" marL="0">
              <a:buNone/>
            </a:pPr>
            <a:r>
              <a:rPr lang="en-US" sz="1250" dirty="0">
                <a:solidFill>
                  <a:srgbClr val="2D2A4A"/>
                </a:solidFill>
                <a:latin typeface="Calibri" pitchFamily="34" charset="0"/>
                <a:ea typeface="Calibri" pitchFamily="34" charset="-122"/>
                <a:cs typeface="Calibri" pitchFamily="34" charset="-120"/>
              </a:rPr>
              <a:t>Find one real, published statistic that uses the median instead of the mean, and explain why that was likely the right choice</a:t>
            </a:r>
            <a:endParaRPr lang="en-US" sz="1250" dirty="0"/>
          </a:p>
        </p:txBody>
      </p:sp>
      <p:sp>
        <p:nvSpPr>
          <p:cNvPr id="20" name="Text 1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21" name="Text 1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58</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AF8FF"/>
        </a:solidFill>
      </p:bgPr>
    </p:bg>
    <p:spTree>
      <p:nvGrpSpPr>
        <p:cNvPr id="1" name=""/>
        <p:cNvGrpSpPr/>
        <p:nvPr/>
      </p:nvGrpSpPr>
      <p:grpSpPr>
        <a:xfrm>
          <a:off x="0" y="0"/>
          <a:ext cx="0" cy="0"/>
          <a:chOff x="0" y="0"/>
          <a:chExt cx="0" cy="0"/>
        </a:xfrm>
      </p:grpSpPr>
      <p:sp>
        <p:nvSpPr>
          <p:cNvPr id="2" name="Text 0"/>
          <p:cNvSpPr/>
          <p:nvPr/>
        </p:nvSpPr>
        <p:spPr>
          <a:xfrm>
            <a:off x="457200" y="457200"/>
            <a:ext cx="274320" cy="274320"/>
          </a:xfrm>
          <a:prstGeom prst="rect">
            <a:avLst/>
          </a:prstGeom>
          <a:noFill/>
          <a:ln/>
        </p:spPr>
        <p:txBody>
          <a:bodyPr wrap="square" lIns="0" tIns="0" rIns="0" bIns="0" rtlCol="0" anchor="ctr"/>
          <a:lstStyle/>
          <a:p>
            <a:pPr algn="ctr" indent="0" marL="0">
              <a:buNone/>
            </a:pPr>
            <a:r>
              <a:rPr lang="en-US" sz="1200" dirty="0">
                <a:solidFill>
                  <a:srgbClr val="5FD6B0"/>
                </a:solidFill>
              </a:rPr>
              <a:t>✦</a:t>
            </a:r>
            <a:endParaRPr lang="en-US" sz="1200" dirty="0"/>
          </a:p>
        </p:txBody>
      </p:sp>
      <p:sp>
        <p:nvSpPr>
          <p:cNvPr id="3" name="Text 1"/>
          <p:cNvSpPr/>
          <p:nvPr/>
        </p:nvSpPr>
        <p:spPr>
          <a:xfrm>
            <a:off x="11247120" y="548640"/>
            <a:ext cx="201168" cy="201168"/>
          </a:xfrm>
          <a:prstGeom prst="rect">
            <a:avLst/>
          </a:prstGeom>
          <a:noFill/>
          <a:ln/>
        </p:spPr>
        <p:txBody>
          <a:bodyPr wrap="square" lIns="0" tIns="0" rIns="0" bIns="0" rtlCol="0" anchor="ctr"/>
          <a:lstStyle/>
          <a:p>
            <a:pPr algn="ctr" indent="0" marL="0">
              <a:buNone/>
            </a:pPr>
            <a:r>
              <a:rPr lang="en-US" sz="880" dirty="0">
                <a:solidFill>
                  <a:srgbClr val="FFC94A"/>
                </a:solidFill>
              </a:rPr>
              <a:t>✦</a:t>
            </a:r>
            <a:endParaRPr lang="en-US" sz="880" dirty="0"/>
          </a:p>
        </p:txBody>
      </p:sp>
      <p:sp>
        <p:nvSpPr>
          <p:cNvPr id="4" name="Text 2"/>
          <p:cNvSpPr/>
          <p:nvPr/>
        </p:nvSpPr>
        <p:spPr>
          <a:xfrm>
            <a:off x="640080" y="6126480"/>
            <a:ext cx="228600" cy="228600"/>
          </a:xfrm>
          <a:prstGeom prst="rect">
            <a:avLst/>
          </a:prstGeom>
          <a:noFill/>
          <a:ln/>
        </p:spPr>
        <p:txBody>
          <a:bodyPr wrap="square" lIns="0" tIns="0" rIns="0" bIns="0" rtlCol="0" anchor="ctr"/>
          <a:lstStyle/>
          <a:p>
            <a:pPr algn="ctr" indent="0" marL="0">
              <a:buNone/>
            </a:pPr>
            <a:r>
              <a:rPr lang="en-US" sz="1000" dirty="0">
                <a:solidFill>
                  <a:srgbClr val="FF8FB3"/>
                </a:solidFill>
              </a:rPr>
              <a:t>✦</a:t>
            </a:r>
            <a:endParaRPr lang="en-US" sz="1000" dirty="0"/>
          </a:p>
        </p:txBody>
      </p:sp>
      <p:sp>
        <p:nvSpPr>
          <p:cNvPr id="5" name="Text 3"/>
          <p:cNvSpPr/>
          <p:nvPr/>
        </p:nvSpPr>
        <p:spPr>
          <a:xfrm>
            <a:off x="11338560" y="6035040"/>
            <a:ext cx="274320" cy="274320"/>
          </a:xfrm>
          <a:prstGeom prst="rect">
            <a:avLst/>
          </a:prstGeom>
          <a:noFill/>
          <a:ln/>
        </p:spPr>
        <p:txBody>
          <a:bodyPr wrap="square" lIns="0" tIns="0" rIns="0" bIns="0" rtlCol="0" anchor="ctr"/>
          <a:lstStyle/>
          <a:p>
            <a:pPr algn="ctr" indent="0" marL="0">
              <a:buNone/>
            </a:pPr>
            <a:r>
              <a:rPr lang="en-US" sz="1200" dirty="0">
                <a:solidFill>
                  <a:srgbClr val="8B7FE8"/>
                </a:solidFill>
              </a:rPr>
              <a:t>✦</a:t>
            </a:r>
            <a:endParaRPr lang="en-US" sz="1200" dirty="0"/>
          </a:p>
        </p:txBody>
      </p:sp>
      <p:sp>
        <p:nvSpPr>
          <p:cNvPr id="6" name="Shape 4"/>
          <p:cNvSpPr/>
          <p:nvPr/>
        </p:nvSpPr>
        <p:spPr>
          <a:xfrm rot="-90000">
            <a:off x="1874520" y="1325880"/>
            <a:ext cx="8805672" cy="777240"/>
          </a:xfrm>
          <a:prstGeom prst="roundRect">
            <a:avLst>
              <a:gd name="adj" fmla="val 17647"/>
            </a:avLst>
          </a:prstGeom>
          <a:solidFill>
            <a:srgbClr val="FFC94A"/>
          </a:solidFill>
          <a:ln/>
        </p:spPr>
      </p:sp>
      <p:sp>
        <p:nvSpPr>
          <p:cNvPr id="7" name="Shape 5"/>
          <p:cNvSpPr/>
          <p:nvPr/>
        </p:nvSpPr>
        <p:spPr>
          <a:xfrm>
            <a:off x="1691640" y="1188720"/>
            <a:ext cx="8805672" cy="777240"/>
          </a:xfrm>
          <a:prstGeom prst="roundRect">
            <a:avLst>
              <a:gd name="adj" fmla="val 17647"/>
            </a:avLst>
          </a:prstGeom>
          <a:solidFill>
            <a:srgbClr val="8B7FE8"/>
          </a:solidFill>
          <a:ln/>
        </p:spPr>
      </p:sp>
      <p:pic>
        <p:nvPicPr>
          <p:cNvPr id="8" name="Image 0" descr="preencoded.png">    </p:cNvPr>
          <p:cNvPicPr>
            <a:picLocks noChangeAspect="1"/>
          </p:cNvPicPr>
          <p:nvPr/>
        </p:nvPicPr>
        <p:blipFill>
          <a:blip r:embed="rId1"/>
          <a:stretch>
            <a:fillRect/>
          </a:stretch>
        </p:blipFill>
        <p:spPr>
          <a:xfrm>
            <a:off x="5870448" y="1348740"/>
            <a:ext cx="457200" cy="457200"/>
          </a:xfrm>
          <a:prstGeom prst="rect">
            <a:avLst/>
          </a:prstGeom>
        </p:spPr>
      </p:pic>
      <p:sp>
        <p:nvSpPr>
          <p:cNvPr id="9" name="Text 6"/>
          <p:cNvSpPr/>
          <p:nvPr/>
        </p:nvSpPr>
        <p:spPr>
          <a:xfrm>
            <a:off x="1691640" y="1188720"/>
            <a:ext cx="8805672" cy="777240"/>
          </a:xfrm>
          <a:prstGeom prst="rect">
            <a:avLst/>
          </a:prstGeom>
          <a:noFill/>
          <a:ln/>
        </p:spPr>
        <p:txBody>
          <a:bodyPr wrap="square" lIns="0" tIns="0" rIns="0" bIns="0" rtlCol="0" anchor="b"/>
          <a:lstStyle/>
          <a:p>
            <a:pPr algn="ctr" indent="0" marL="0">
              <a:buNone/>
            </a:pPr>
            <a:r>
              <a:rPr lang="en-US" sz="1200" b="1" spc="200" kern="0" dirty="0">
                <a:solidFill>
                  <a:srgbClr val="FFF6DC"/>
                </a:solidFill>
                <a:latin typeface="Calibri" pitchFamily="34" charset="0"/>
                <a:ea typeface="Calibri" pitchFamily="34" charset="-122"/>
                <a:cs typeface="Calibri" pitchFamily="34" charset="-120"/>
              </a:rPr>
              <a:t>INDUSTRY-STYLE TASKS</a:t>
            </a:r>
            <a:endParaRPr lang="en-US" sz="1200" dirty="0"/>
          </a:p>
        </p:txBody>
      </p:sp>
      <p:sp>
        <p:nvSpPr>
          <p:cNvPr id="10" name="Text 7"/>
          <p:cNvSpPr/>
          <p:nvPr/>
        </p:nvSpPr>
        <p:spPr>
          <a:xfrm>
            <a:off x="1097280" y="2331720"/>
            <a:ext cx="9994392" cy="1920240"/>
          </a:xfrm>
          <a:prstGeom prst="rect">
            <a:avLst/>
          </a:prstGeom>
          <a:noFill/>
          <a:ln/>
        </p:spPr>
        <p:txBody>
          <a:bodyPr wrap="square" lIns="0" tIns="0" rIns="0" bIns="0" rtlCol="0" anchor="t"/>
          <a:lstStyle/>
          <a:p>
            <a:pPr algn="ctr" indent="0" marL="0">
              <a:buNone/>
            </a:pPr>
            <a:r>
              <a:rPr lang="en-US" sz="2900" b="1" dirty="0">
                <a:solidFill>
                  <a:srgbClr val="2D2A4A"/>
                </a:solidFill>
                <a:latin typeface="Century Gothic" pitchFamily="34" charset="0"/>
                <a:ea typeface="Century Gothic" pitchFamily="34" charset="-122"/>
                <a:cs typeface="Century Gothic" pitchFamily="34" charset="-120"/>
              </a:rPr>
              <a:t>Build the Judgment Every Real Analysis Depends On</a:t>
            </a:r>
            <a:endParaRPr lang="en-US" sz="2900" dirty="0"/>
          </a:p>
        </p:txBody>
      </p:sp>
      <p:sp>
        <p:nvSpPr>
          <p:cNvPr id="11" name="Text 8"/>
          <p:cNvSpPr/>
          <p:nvPr/>
        </p:nvSpPr>
        <p:spPr>
          <a:xfrm>
            <a:off x="1737360" y="4434840"/>
            <a:ext cx="8714232" cy="1097280"/>
          </a:xfrm>
          <a:prstGeom prst="rect">
            <a:avLst/>
          </a:prstGeom>
          <a:noFill/>
          <a:ln/>
        </p:spPr>
        <p:txBody>
          <a:bodyPr wrap="square" lIns="0" tIns="0" rIns="0" bIns="0" rtlCol="0" anchor="t"/>
          <a:lstStyle/>
          <a:p>
            <a:pPr algn="ctr" indent="0" marL="0">
              <a:buNone/>
            </a:pPr>
            <a:r>
              <a:rPr lang="en-US" sz="1500" dirty="0">
                <a:solidFill>
                  <a:srgbClr val="685F8F"/>
                </a:solidFill>
                <a:latin typeface="Calibri" pitchFamily="34" charset="0"/>
                <a:ea typeface="Calibri" pitchFamily="34" charset="-122"/>
                <a:cs typeface="Calibri" pitchFamily="34" charset="-120"/>
              </a:rPr>
              <a:t>Not abstract classification drills — choosing the right scale, chart, and average is what separates a clear analysis from a misleading one</a:t>
            </a:r>
            <a:endParaRPr lang="en-US" sz="1500" dirty="0"/>
          </a:p>
        </p:txBody>
      </p:sp>
      <p:sp>
        <p:nvSpPr>
          <p:cNvPr id="12" name="Text 9"/>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59</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Today's Tasks — Part A: Statistics Basics &amp; Variables</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600200"/>
            <a:ext cx="11274552" cy="4480560"/>
          </a:xfrm>
          <a:prstGeom prst="roundRect">
            <a:avLst>
              <a:gd name="adj" fmla="val 3673"/>
            </a:avLst>
          </a:prstGeom>
          <a:solidFill>
            <a:srgbClr val="FFF6DC"/>
          </a:solidFill>
          <a:ln w="12700">
            <a:solidFill>
              <a:srgbClr val="D8D2F5"/>
            </a:solidFill>
            <a:prstDash val="solid"/>
          </a:ln>
        </p:spPr>
      </p:sp>
      <p:sp>
        <p:nvSpPr>
          <p:cNvPr id="7" name="Text 4"/>
          <p:cNvSpPr/>
          <p:nvPr/>
        </p:nvSpPr>
        <p:spPr>
          <a:xfrm>
            <a:off x="822960" y="1828800"/>
            <a:ext cx="10515600" cy="457200"/>
          </a:xfrm>
          <a:prstGeom prst="rect">
            <a:avLst/>
          </a:prstGeom>
          <a:noFill/>
          <a:ln/>
        </p:spPr>
        <p:txBody>
          <a:bodyPr wrap="square" lIns="0" tIns="0" rIns="0" bIns="0" rtlCol="0" anchor="ctr"/>
          <a:lstStyle/>
          <a:p>
            <a:pPr indent="0" marL="0">
              <a:buNone/>
            </a:pPr>
            <a:r>
              <a:rPr lang="en-US" sz="1600" b="1" dirty="0">
                <a:solidFill>
                  <a:srgbClr val="2D2A4A"/>
                </a:solidFill>
                <a:latin typeface="Century Gothic" pitchFamily="34" charset="0"/>
                <a:ea typeface="Century Gothic" pitchFamily="34" charset="-122"/>
                <a:cs typeface="Century Gothic" pitchFamily="34" charset="-120"/>
              </a:rPr>
              <a:t>Small tasks — do them in order</a:t>
            </a:r>
            <a:endParaRPr lang="en-US" sz="1600" dirty="0"/>
          </a:p>
        </p:txBody>
      </p:sp>
      <p:sp>
        <p:nvSpPr>
          <p:cNvPr id="8" name="Shape 5"/>
          <p:cNvSpPr/>
          <p:nvPr/>
        </p:nvSpPr>
        <p:spPr>
          <a:xfrm>
            <a:off x="822960" y="2423160"/>
            <a:ext cx="402336" cy="402336"/>
          </a:xfrm>
          <a:prstGeom prst="ellipse">
            <a:avLst/>
          </a:prstGeom>
          <a:solidFill>
            <a:srgbClr val="8B7FE8"/>
          </a:solidFill>
          <a:ln/>
        </p:spPr>
      </p:sp>
      <p:pic>
        <p:nvPicPr>
          <p:cNvPr id="9" name="Image 1" descr="preencoded.png">    </p:cNvPr>
          <p:cNvPicPr>
            <a:picLocks noChangeAspect="1"/>
          </p:cNvPicPr>
          <p:nvPr/>
        </p:nvPicPr>
        <p:blipFill>
          <a:blip r:embed="rId2"/>
          <a:stretch>
            <a:fillRect/>
          </a:stretch>
        </p:blipFill>
        <p:spPr>
          <a:xfrm>
            <a:off x="886968" y="2487168"/>
            <a:ext cx="283464" cy="283464"/>
          </a:xfrm>
          <a:prstGeom prst="rect">
            <a:avLst/>
          </a:prstGeom>
        </p:spPr>
      </p:pic>
      <p:sp>
        <p:nvSpPr>
          <p:cNvPr id="10" name="Shape 6"/>
          <p:cNvSpPr/>
          <p:nvPr/>
        </p:nvSpPr>
        <p:spPr>
          <a:xfrm>
            <a:off x="1371600" y="2441448"/>
            <a:ext cx="402336" cy="365760"/>
          </a:xfrm>
          <a:prstGeom prst="roundRect">
            <a:avLst>
              <a:gd name="adj" fmla="val 20000"/>
            </a:avLst>
          </a:prstGeom>
          <a:solidFill>
            <a:srgbClr val="FFFFFF"/>
          </a:solidFill>
          <a:ln w="12700">
            <a:solidFill>
              <a:srgbClr val="D8D2F5"/>
            </a:solidFill>
            <a:prstDash val="solid"/>
          </a:ln>
        </p:spPr>
      </p:sp>
      <p:sp>
        <p:nvSpPr>
          <p:cNvPr id="11" name="Text 7"/>
          <p:cNvSpPr/>
          <p:nvPr/>
        </p:nvSpPr>
        <p:spPr>
          <a:xfrm>
            <a:off x="1371600" y="2441448"/>
            <a:ext cx="402336" cy="365760"/>
          </a:xfrm>
          <a:prstGeom prst="rect">
            <a:avLst/>
          </a:prstGeom>
          <a:noFill/>
          <a:ln/>
        </p:spPr>
        <p:txBody>
          <a:bodyPr wrap="square" lIns="0" tIns="0" rIns="0" bIns="0" rtlCol="0" anchor="ctr"/>
          <a:lstStyle/>
          <a:p>
            <a:pPr algn="ctr" indent="0" marL="0">
              <a:buNone/>
            </a:pPr>
            <a:r>
              <a:rPr lang="en-US" sz="1300" b="1" dirty="0">
                <a:solidFill>
                  <a:srgbClr val="6B5FD1"/>
                </a:solidFill>
                <a:latin typeface="Calibri" pitchFamily="34" charset="0"/>
                <a:ea typeface="Calibri" pitchFamily="34" charset="-122"/>
                <a:cs typeface="Calibri" pitchFamily="34" charset="-120"/>
              </a:rPr>
              <a:t>1</a:t>
            </a:r>
            <a:endParaRPr lang="en-US" sz="1300" dirty="0"/>
          </a:p>
        </p:txBody>
      </p:sp>
      <p:sp>
        <p:nvSpPr>
          <p:cNvPr id="12" name="Text 8"/>
          <p:cNvSpPr/>
          <p:nvPr/>
        </p:nvSpPr>
        <p:spPr>
          <a:xfrm>
            <a:off x="1920240" y="2423160"/>
            <a:ext cx="9509760" cy="1005840"/>
          </a:xfrm>
          <a:prstGeom prst="rect">
            <a:avLst/>
          </a:prstGeom>
          <a:noFill/>
          <a:ln/>
        </p:spPr>
        <p:txBody>
          <a:bodyPr wrap="square" lIns="0" tIns="0" rIns="0" bIns="0" rtlCol="0" anchor="t"/>
          <a:lstStyle/>
          <a:p>
            <a:pPr indent="0" marL="0">
              <a:lnSpc>
                <a:spcPct val="110000"/>
              </a:lnSpc>
              <a:buNone/>
            </a:pPr>
            <a:r>
              <a:rPr lang="en-US" sz="1200" dirty="0">
                <a:solidFill>
                  <a:srgbClr val="2D2A4A"/>
                </a:solidFill>
                <a:latin typeface="Calibri" pitchFamily="34" charset="0"/>
                <a:ea typeface="Calibri" pitchFamily="34" charset="-122"/>
                <a:cs typeface="Calibri" pitchFamily="34" charset="-120"/>
              </a:rPr>
              <a:t>Write a two-sentence explanation, for a non-technical friend, of the difference between descriptive and inferential statistics, using your own example for each.</a:t>
            </a:r>
            <a:endParaRPr lang="en-US" sz="1200" dirty="0"/>
          </a:p>
        </p:txBody>
      </p:sp>
      <p:sp>
        <p:nvSpPr>
          <p:cNvPr id="13" name="Shape 9"/>
          <p:cNvSpPr/>
          <p:nvPr/>
        </p:nvSpPr>
        <p:spPr>
          <a:xfrm>
            <a:off x="822960" y="3593592"/>
            <a:ext cx="402336" cy="402336"/>
          </a:xfrm>
          <a:prstGeom prst="ellipse">
            <a:avLst/>
          </a:prstGeom>
          <a:solidFill>
            <a:srgbClr val="8B7FE8"/>
          </a:solidFill>
          <a:ln/>
        </p:spPr>
      </p:sp>
      <p:pic>
        <p:nvPicPr>
          <p:cNvPr id="14" name="Image 2" descr="preencoded.png">    </p:cNvPr>
          <p:cNvPicPr>
            <a:picLocks noChangeAspect="1"/>
          </p:cNvPicPr>
          <p:nvPr/>
        </p:nvPicPr>
        <p:blipFill>
          <a:blip r:embed="rId3"/>
          <a:stretch>
            <a:fillRect/>
          </a:stretch>
        </p:blipFill>
        <p:spPr>
          <a:xfrm>
            <a:off x="886968" y="3657600"/>
            <a:ext cx="283464" cy="283464"/>
          </a:xfrm>
          <a:prstGeom prst="rect">
            <a:avLst/>
          </a:prstGeom>
        </p:spPr>
      </p:pic>
      <p:sp>
        <p:nvSpPr>
          <p:cNvPr id="15" name="Shape 10"/>
          <p:cNvSpPr/>
          <p:nvPr/>
        </p:nvSpPr>
        <p:spPr>
          <a:xfrm>
            <a:off x="1371600" y="3611880"/>
            <a:ext cx="402336" cy="365760"/>
          </a:xfrm>
          <a:prstGeom prst="roundRect">
            <a:avLst>
              <a:gd name="adj" fmla="val 20000"/>
            </a:avLst>
          </a:prstGeom>
          <a:solidFill>
            <a:srgbClr val="FFFFFF"/>
          </a:solidFill>
          <a:ln w="12700">
            <a:solidFill>
              <a:srgbClr val="D8D2F5"/>
            </a:solidFill>
            <a:prstDash val="solid"/>
          </a:ln>
        </p:spPr>
      </p:sp>
      <p:sp>
        <p:nvSpPr>
          <p:cNvPr id="16" name="Text 11"/>
          <p:cNvSpPr/>
          <p:nvPr/>
        </p:nvSpPr>
        <p:spPr>
          <a:xfrm>
            <a:off x="1371600" y="3611880"/>
            <a:ext cx="402336" cy="365760"/>
          </a:xfrm>
          <a:prstGeom prst="rect">
            <a:avLst/>
          </a:prstGeom>
          <a:noFill/>
          <a:ln/>
        </p:spPr>
        <p:txBody>
          <a:bodyPr wrap="square" lIns="0" tIns="0" rIns="0" bIns="0" rtlCol="0" anchor="ctr"/>
          <a:lstStyle/>
          <a:p>
            <a:pPr algn="ctr" indent="0" marL="0">
              <a:buNone/>
            </a:pPr>
            <a:r>
              <a:rPr lang="en-US" sz="1300" b="1" dirty="0">
                <a:solidFill>
                  <a:srgbClr val="6B5FD1"/>
                </a:solidFill>
                <a:latin typeface="Calibri" pitchFamily="34" charset="0"/>
                <a:ea typeface="Calibri" pitchFamily="34" charset="-122"/>
                <a:cs typeface="Calibri" pitchFamily="34" charset="-120"/>
              </a:rPr>
              <a:t>2</a:t>
            </a:r>
            <a:endParaRPr lang="en-US" sz="1300" dirty="0"/>
          </a:p>
        </p:txBody>
      </p:sp>
      <p:sp>
        <p:nvSpPr>
          <p:cNvPr id="17" name="Text 12"/>
          <p:cNvSpPr/>
          <p:nvPr/>
        </p:nvSpPr>
        <p:spPr>
          <a:xfrm>
            <a:off x="1920240" y="3593592"/>
            <a:ext cx="9509760" cy="1005840"/>
          </a:xfrm>
          <a:prstGeom prst="rect">
            <a:avLst/>
          </a:prstGeom>
          <a:noFill/>
          <a:ln/>
        </p:spPr>
        <p:txBody>
          <a:bodyPr wrap="square" lIns="0" tIns="0" rIns="0" bIns="0" rtlCol="0" anchor="t"/>
          <a:lstStyle/>
          <a:p>
            <a:pPr indent="0" marL="0">
              <a:lnSpc>
                <a:spcPct val="110000"/>
              </a:lnSpc>
              <a:buNone/>
            </a:pPr>
            <a:r>
              <a:rPr lang="en-US" sz="1200" dirty="0">
                <a:solidFill>
                  <a:srgbClr val="2D2A4A"/>
                </a:solidFill>
                <a:latin typeface="Calibri" pitchFamily="34" charset="0"/>
                <a:ea typeface="Calibri" pitchFamily="34" charset="-122"/>
                <a:cs typeface="Calibri" pitchFamily="34" charset="-120"/>
              </a:rPr>
              <a:t>For a study on "does sleep duration affect reaction time," identify the population, a reasonable sample, and the independent and dependent variables.</a:t>
            </a:r>
            <a:endParaRPr lang="en-US" sz="1200" dirty="0"/>
          </a:p>
        </p:txBody>
      </p:sp>
      <p:sp>
        <p:nvSpPr>
          <p:cNvPr id="18" name="Shape 13"/>
          <p:cNvSpPr/>
          <p:nvPr/>
        </p:nvSpPr>
        <p:spPr>
          <a:xfrm>
            <a:off x="822960" y="4764024"/>
            <a:ext cx="402336" cy="402336"/>
          </a:xfrm>
          <a:prstGeom prst="ellipse">
            <a:avLst/>
          </a:prstGeom>
          <a:solidFill>
            <a:srgbClr val="8B7FE8"/>
          </a:solidFill>
          <a:ln/>
        </p:spPr>
      </p:sp>
      <p:pic>
        <p:nvPicPr>
          <p:cNvPr id="19" name="Image 3" descr="preencoded.png">    </p:cNvPr>
          <p:cNvPicPr>
            <a:picLocks noChangeAspect="1"/>
          </p:cNvPicPr>
          <p:nvPr/>
        </p:nvPicPr>
        <p:blipFill>
          <a:blip r:embed="rId4"/>
          <a:stretch>
            <a:fillRect/>
          </a:stretch>
        </p:blipFill>
        <p:spPr>
          <a:xfrm>
            <a:off x="886968" y="4828032"/>
            <a:ext cx="283464" cy="283464"/>
          </a:xfrm>
          <a:prstGeom prst="rect">
            <a:avLst/>
          </a:prstGeom>
        </p:spPr>
      </p:pic>
      <p:sp>
        <p:nvSpPr>
          <p:cNvPr id="20" name="Shape 14"/>
          <p:cNvSpPr/>
          <p:nvPr/>
        </p:nvSpPr>
        <p:spPr>
          <a:xfrm>
            <a:off x="1371600" y="4782312"/>
            <a:ext cx="402336" cy="365760"/>
          </a:xfrm>
          <a:prstGeom prst="roundRect">
            <a:avLst>
              <a:gd name="adj" fmla="val 20000"/>
            </a:avLst>
          </a:prstGeom>
          <a:solidFill>
            <a:srgbClr val="FFFFFF"/>
          </a:solidFill>
          <a:ln w="12700">
            <a:solidFill>
              <a:srgbClr val="D8D2F5"/>
            </a:solidFill>
            <a:prstDash val="solid"/>
          </a:ln>
        </p:spPr>
      </p:sp>
      <p:sp>
        <p:nvSpPr>
          <p:cNvPr id="21" name="Text 15"/>
          <p:cNvSpPr/>
          <p:nvPr/>
        </p:nvSpPr>
        <p:spPr>
          <a:xfrm>
            <a:off x="1371600" y="4782312"/>
            <a:ext cx="402336" cy="365760"/>
          </a:xfrm>
          <a:prstGeom prst="rect">
            <a:avLst/>
          </a:prstGeom>
          <a:noFill/>
          <a:ln/>
        </p:spPr>
        <p:txBody>
          <a:bodyPr wrap="square" lIns="0" tIns="0" rIns="0" bIns="0" rtlCol="0" anchor="ctr"/>
          <a:lstStyle/>
          <a:p>
            <a:pPr algn="ctr" indent="0" marL="0">
              <a:buNone/>
            </a:pPr>
            <a:r>
              <a:rPr lang="en-US" sz="1300" b="1" dirty="0">
                <a:solidFill>
                  <a:srgbClr val="6B5FD1"/>
                </a:solidFill>
                <a:latin typeface="Calibri" pitchFamily="34" charset="0"/>
                <a:ea typeface="Calibri" pitchFamily="34" charset="-122"/>
                <a:cs typeface="Calibri" pitchFamily="34" charset="-120"/>
              </a:rPr>
              <a:t>3</a:t>
            </a:r>
            <a:endParaRPr lang="en-US" sz="1300" dirty="0"/>
          </a:p>
        </p:txBody>
      </p:sp>
      <p:sp>
        <p:nvSpPr>
          <p:cNvPr id="22" name="Text 16"/>
          <p:cNvSpPr/>
          <p:nvPr/>
        </p:nvSpPr>
        <p:spPr>
          <a:xfrm>
            <a:off x="1920240" y="4764024"/>
            <a:ext cx="9509760" cy="1005840"/>
          </a:xfrm>
          <a:prstGeom prst="rect">
            <a:avLst/>
          </a:prstGeom>
          <a:noFill/>
          <a:ln/>
        </p:spPr>
        <p:txBody>
          <a:bodyPr wrap="square" lIns="0" tIns="0" rIns="0" bIns="0" rtlCol="0" anchor="t"/>
          <a:lstStyle/>
          <a:p>
            <a:pPr indent="0" marL="0">
              <a:lnSpc>
                <a:spcPct val="110000"/>
              </a:lnSpc>
              <a:buNone/>
            </a:pPr>
            <a:r>
              <a:rPr lang="en-US" sz="1200" dirty="0">
                <a:solidFill>
                  <a:srgbClr val="2D2A4A"/>
                </a:solidFill>
                <a:latin typeface="Calibri" pitchFamily="34" charset="0"/>
                <a:ea typeface="Calibri" pitchFamily="34" charset="-122"/>
                <a:cs typeface="Calibri" pitchFamily="34" charset="-120"/>
              </a:rPr>
              <a:t>Explain why almost all real-world data science analysis works with a sample rather than a full population, using a concrete example.</a:t>
            </a:r>
            <a:endParaRPr lang="en-US" sz="1200" dirty="0"/>
          </a:p>
        </p:txBody>
      </p:sp>
      <p:sp>
        <p:nvSpPr>
          <p:cNvPr id="23" name="Text 1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24" name="Text 1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60</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Today's Tasks — Part B: Data Collection &amp; Measurement Quality</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600200"/>
            <a:ext cx="11274552" cy="4480560"/>
          </a:xfrm>
          <a:prstGeom prst="roundRect">
            <a:avLst>
              <a:gd name="adj" fmla="val 3673"/>
            </a:avLst>
          </a:prstGeom>
          <a:solidFill>
            <a:srgbClr val="FFF6DC"/>
          </a:solidFill>
          <a:ln w="12700">
            <a:solidFill>
              <a:srgbClr val="D8D2F5"/>
            </a:solidFill>
            <a:prstDash val="solid"/>
          </a:ln>
        </p:spPr>
      </p:sp>
      <p:sp>
        <p:nvSpPr>
          <p:cNvPr id="7" name="Text 4"/>
          <p:cNvSpPr/>
          <p:nvPr/>
        </p:nvSpPr>
        <p:spPr>
          <a:xfrm>
            <a:off x="822960" y="1828800"/>
            <a:ext cx="10515600" cy="457200"/>
          </a:xfrm>
          <a:prstGeom prst="rect">
            <a:avLst/>
          </a:prstGeom>
          <a:noFill/>
          <a:ln/>
        </p:spPr>
        <p:txBody>
          <a:bodyPr wrap="square" lIns="0" tIns="0" rIns="0" bIns="0" rtlCol="0" anchor="ctr"/>
          <a:lstStyle/>
          <a:p>
            <a:pPr indent="0" marL="0">
              <a:buNone/>
            </a:pPr>
            <a:r>
              <a:rPr lang="en-US" sz="1600" b="1" dirty="0">
                <a:solidFill>
                  <a:srgbClr val="2D2A4A"/>
                </a:solidFill>
                <a:latin typeface="Century Gothic" pitchFamily="34" charset="0"/>
                <a:ea typeface="Century Gothic" pitchFamily="34" charset="-122"/>
                <a:cs typeface="Century Gothic" pitchFamily="34" charset="-120"/>
              </a:rPr>
              <a:t>Small tasks — do them in order</a:t>
            </a:r>
            <a:endParaRPr lang="en-US" sz="1600" dirty="0"/>
          </a:p>
        </p:txBody>
      </p:sp>
      <p:sp>
        <p:nvSpPr>
          <p:cNvPr id="8" name="Shape 5"/>
          <p:cNvSpPr/>
          <p:nvPr/>
        </p:nvSpPr>
        <p:spPr>
          <a:xfrm>
            <a:off x="822960" y="2423160"/>
            <a:ext cx="402336" cy="402336"/>
          </a:xfrm>
          <a:prstGeom prst="ellipse">
            <a:avLst/>
          </a:prstGeom>
          <a:solidFill>
            <a:srgbClr val="8B7FE8"/>
          </a:solidFill>
          <a:ln/>
        </p:spPr>
      </p:sp>
      <p:pic>
        <p:nvPicPr>
          <p:cNvPr id="9" name="Image 1" descr="preencoded.png">    </p:cNvPr>
          <p:cNvPicPr>
            <a:picLocks noChangeAspect="1"/>
          </p:cNvPicPr>
          <p:nvPr/>
        </p:nvPicPr>
        <p:blipFill>
          <a:blip r:embed="rId2"/>
          <a:stretch>
            <a:fillRect/>
          </a:stretch>
        </p:blipFill>
        <p:spPr>
          <a:xfrm>
            <a:off x="886968" y="2487168"/>
            <a:ext cx="283464" cy="283464"/>
          </a:xfrm>
          <a:prstGeom prst="rect">
            <a:avLst/>
          </a:prstGeom>
        </p:spPr>
      </p:pic>
      <p:sp>
        <p:nvSpPr>
          <p:cNvPr id="10" name="Shape 6"/>
          <p:cNvSpPr/>
          <p:nvPr/>
        </p:nvSpPr>
        <p:spPr>
          <a:xfrm>
            <a:off x="1371600" y="2441448"/>
            <a:ext cx="402336" cy="365760"/>
          </a:xfrm>
          <a:prstGeom prst="roundRect">
            <a:avLst>
              <a:gd name="adj" fmla="val 20000"/>
            </a:avLst>
          </a:prstGeom>
          <a:solidFill>
            <a:srgbClr val="FFFFFF"/>
          </a:solidFill>
          <a:ln w="12700">
            <a:solidFill>
              <a:srgbClr val="D8D2F5"/>
            </a:solidFill>
            <a:prstDash val="solid"/>
          </a:ln>
        </p:spPr>
      </p:sp>
      <p:sp>
        <p:nvSpPr>
          <p:cNvPr id="11" name="Text 7"/>
          <p:cNvSpPr/>
          <p:nvPr/>
        </p:nvSpPr>
        <p:spPr>
          <a:xfrm>
            <a:off x="1371600" y="2441448"/>
            <a:ext cx="402336" cy="365760"/>
          </a:xfrm>
          <a:prstGeom prst="rect">
            <a:avLst/>
          </a:prstGeom>
          <a:noFill/>
          <a:ln/>
        </p:spPr>
        <p:txBody>
          <a:bodyPr wrap="square" lIns="0" tIns="0" rIns="0" bIns="0" rtlCol="0" anchor="ctr"/>
          <a:lstStyle/>
          <a:p>
            <a:pPr algn="ctr" indent="0" marL="0">
              <a:buNone/>
            </a:pPr>
            <a:r>
              <a:rPr lang="en-US" sz="1300" b="1" dirty="0">
                <a:solidFill>
                  <a:srgbClr val="6B5FD1"/>
                </a:solidFill>
                <a:latin typeface="Calibri" pitchFamily="34" charset="0"/>
                <a:ea typeface="Calibri" pitchFamily="34" charset="-122"/>
                <a:cs typeface="Calibri" pitchFamily="34" charset="-120"/>
              </a:rPr>
              <a:t>1</a:t>
            </a:r>
            <a:endParaRPr lang="en-US" sz="1300" dirty="0"/>
          </a:p>
        </p:txBody>
      </p:sp>
      <p:sp>
        <p:nvSpPr>
          <p:cNvPr id="12" name="Text 8"/>
          <p:cNvSpPr/>
          <p:nvPr/>
        </p:nvSpPr>
        <p:spPr>
          <a:xfrm>
            <a:off x="1920240" y="2423160"/>
            <a:ext cx="9509760" cy="1005840"/>
          </a:xfrm>
          <a:prstGeom prst="rect">
            <a:avLst/>
          </a:prstGeom>
          <a:noFill/>
          <a:ln/>
        </p:spPr>
        <p:txBody>
          <a:bodyPr wrap="square" lIns="0" tIns="0" rIns="0" bIns="0" rtlCol="0" anchor="t"/>
          <a:lstStyle/>
          <a:p>
            <a:pPr indent="0" marL="0">
              <a:lnSpc>
                <a:spcPct val="110000"/>
              </a:lnSpc>
              <a:buNone/>
            </a:pPr>
            <a:r>
              <a:rPr lang="en-US" sz="1200" dirty="0">
                <a:solidFill>
                  <a:srgbClr val="2D2A4A"/>
                </a:solidFill>
                <a:latin typeface="Calibri" pitchFamily="34" charset="0"/>
                <a:ea typeface="Calibri" pitchFamily="34" charset="-122"/>
                <a:cs typeface="Calibri" pitchFamily="34" charset="-120"/>
              </a:rPr>
              <a:t>For your own final project idea, decide whether you’d use primary or secondary data, and design a probability-based sampling plan to collect it.</a:t>
            </a:r>
            <a:endParaRPr lang="en-US" sz="1200" dirty="0"/>
          </a:p>
        </p:txBody>
      </p:sp>
      <p:sp>
        <p:nvSpPr>
          <p:cNvPr id="13" name="Shape 9"/>
          <p:cNvSpPr/>
          <p:nvPr/>
        </p:nvSpPr>
        <p:spPr>
          <a:xfrm>
            <a:off x="822960" y="3593592"/>
            <a:ext cx="402336" cy="402336"/>
          </a:xfrm>
          <a:prstGeom prst="ellipse">
            <a:avLst/>
          </a:prstGeom>
          <a:solidFill>
            <a:srgbClr val="8B7FE8"/>
          </a:solidFill>
          <a:ln/>
        </p:spPr>
      </p:sp>
      <p:pic>
        <p:nvPicPr>
          <p:cNvPr id="14" name="Image 2" descr="preencoded.png">    </p:cNvPr>
          <p:cNvPicPr>
            <a:picLocks noChangeAspect="1"/>
          </p:cNvPicPr>
          <p:nvPr/>
        </p:nvPicPr>
        <p:blipFill>
          <a:blip r:embed="rId3"/>
          <a:stretch>
            <a:fillRect/>
          </a:stretch>
        </p:blipFill>
        <p:spPr>
          <a:xfrm>
            <a:off x="886968" y="3657600"/>
            <a:ext cx="283464" cy="283464"/>
          </a:xfrm>
          <a:prstGeom prst="rect">
            <a:avLst/>
          </a:prstGeom>
        </p:spPr>
      </p:pic>
      <p:sp>
        <p:nvSpPr>
          <p:cNvPr id="15" name="Shape 10"/>
          <p:cNvSpPr/>
          <p:nvPr/>
        </p:nvSpPr>
        <p:spPr>
          <a:xfrm>
            <a:off x="1371600" y="3611880"/>
            <a:ext cx="402336" cy="365760"/>
          </a:xfrm>
          <a:prstGeom prst="roundRect">
            <a:avLst>
              <a:gd name="adj" fmla="val 20000"/>
            </a:avLst>
          </a:prstGeom>
          <a:solidFill>
            <a:srgbClr val="FFFFFF"/>
          </a:solidFill>
          <a:ln w="12700">
            <a:solidFill>
              <a:srgbClr val="D8D2F5"/>
            </a:solidFill>
            <a:prstDash val="solid"/>
          </a:ln>
        </p:spPr>
      </p:sp>
      <p:sp>
        <p:nvSpPr>
          <p:cNvPr id="16" name="Text 11"/>
          <p:cNvSpPr/>
          <p:nvPr/>
        </p:nvSpPr>
        <p:spPr>
          <a:xfrm>
            <a:off x="1371600" y="3611880"/>
            <a:ext cx="402336" cy="365760"/>
          </a:xfrm>
          <a:prstGeom prst="rect">
            <a:avLst/>
          </a:prstGeom>
          <a:noFill/>
          <a:ln/>
        </p:spPr>
        <p:txBody>
          <a:bodyPr wrap="square" lIns="0" tIns="0" rIns="0" bIns="0" rtlCol="0" anchor="ctr"/>
          <a:lstStyle/>
          <a:p>
            <a:pPr algn="ctr" indent="0" marL="0">
              <a:buNone/>
            </a:pPr>
            <a:r>
              <a:rPr lang="en-US" sz="1300" b="1" dirty="0">
                <a:solidFill>
                  <a:srgbClr val="6B5FD1"/>
                </a:solidFill>
                <a:latin typeface="Calibri" pitchFamily="34" charset="0"/>
                <a:ea typeface="Calibri" pitchFamily="34" charset="-122"/>
                <a:cs typeface="Calibri" pitchFamily="34" charset="-120"/>
              </a:rPr>
              <a:t>2</a:t>
            </a:r>
            <a:endParaRPr lang="en-US" sz="1300" dirty="0"/>
          </a:p>
        </p:txBody>
      </p:sp>
      <p:sp>
        <p:nvSpPr>
          <p:cNvPr id="17" name="Text 12"/>
          <p:cNvSpPr/>
          <p:nvPr/>
        </p:nvSpPr>
        <p:spPr>
          <a:xfrm>
            <a:off x="1920240" y="3593592"/>
            <a:ext cx="9509760" cy="1005840"/>
          </a:xfrm>
          <a:prstGeom prst="rect">
            <a:avLst/>
          </a:prstGeom>
          <a:noFill/>
          <a:ln/>
        </p:spPr>
        <p:txBody>
          <a:bodyPr wrap="square" lIns="0" tIns="0" rIns="0" bIns="0" rtlCol="0" anchor="t"/>
          <a:lstStyle/>
          <a:p>
            <a:pPr indent="0" marL="0">
              <a:lnSpc>
                <a:spcPct val="110000"/>
              </a:lnSpc>
              <a:buNone/>
            </a:pPr>
            <a:r>
              <a:rPr lang="en-US" sz="1200" dirty="0">
                <a:solidFill>
                  <a:srgbClr val="2D2A4A"/>
                </a:solidFill>
                <a:latin typeface="Calibri" pitchFamily="34" charset="0"/>
                <a:ea typeface="Calibri" pitchFamily="34" charset="-122"/>
                <a:cs typeface="Calibri" pitchFamily="34" charset="-120"/>
              </a:rPr>
              <a:t>Propose an operationalization with a measurable proxy for an abstract concept of your choice (e.g. "brand trust," "team morale").</a:t>
            </a:r>
            <a:endParaRPr lang="en-US" sz="1200" dirty="0"/>
          </a:p>
        </p:txBody>
      </p:sp>
      <p:sp>
        <p:nvSpPr>
          <p:cNvPr id="18" name="Shape 13"/>
          <p:cNvSpPr/>
          <p:nvPr/>
        </p:nvSpPr>
        <p:spPr>
          <a:xfrm>
            <a:off x="822960" y="4764024"/>
            <a:ext cx="402336" cy="402336"/>
          </a:xfrm>
          <a:prstGeom prst="ellipse">
            <a:avLst/>
          </a:prstGeom>
          <a:solidFill>
            <a:srgbClr val="8B7FE8"/>
          </a:solidFill>
          <a:ln/>
        </p:spPr>
      </p:sp>
      <p:pic>
        <p:nvPicPr>
          <p:cNvPr id="19" name="Image 3" descr="preencoded.png">    </p:cNvPr>
          <p:cNvPicPr>
            <a:picLocks noChangeAspect="1"/>
          </p:cNvPicPr>
          <p:nvPr/>
        </p:nvPicPr>
        <p:blipFill>
          <a:blip r:embed="rId4"/>
          <a:stretch>
            <a:fillRect/>
          </a:stretch>
        </p:blipFill>
        <p:spPr>
          <a:xfrm>
            <a:off x="886968" y="4828032"/>
            <a:ext cx="283464" cy="283464"/>
          </a:xfrm>
          <a:prstGeom prst="rect">
            <a:avLst/>
          </a:prstGeom>
        </p:spPr>
      </p:pic>
      <p:sp>
        <p:nvSpPr>
          <p:cNvPr id="20" name="Shape 14"/>
          <p:cNvSpPr/>
          <p:nvPr/>
        </p:nvSpPr>
        <p:spPr>
          <a:xfrm>
            <a:off x="1371600" y="4782312"/>
            <a:ext cx="402336" cy="365760"/>
          </a:xfrm>
          <a:prstGeom prst="roundRect">
            <a:avLst>
              <a:gd name="adj" fmla="val 20000"/>
            </a:avLst>
          </a:prstGeom>
          <a:solidFill>
            <a:srgbClr val="FFFFFF"/>
          </a:solidFill>
          <a:ln w="12700">
            <a:solidFill>
              <a:srgbClr val="D8D2F5"/>
            </a:solidFill>
            <a:prstDash val="solid"/>
          </a:ln>
        </p:spPr>
      </p:sp>
      <p:sp>
        <p:nvSpPr>
          <p:cNvPr id="21" name="Text 15"/>
          <p:cNvSpPr/>
          <p:nvPr/>
        </p:nvSpPr>
        <p:spPr>
          <a:xfrm>
            <a:off x="1371600" y="4782312"/>
            <a:ext cx="402336" cy="365760"/>
          </a:xfrm>
          <a:prstGeom prst="rect">
            <a:avLst/>
          </a:prstGeom>
          <a:noFill/>
          <a:ln/>
        </p:spPr>
        <p:txBody>
          <a:bodyPr wrap="square" lIns="0" tIns="0" rIns="0" bIns="0" rtlCol="0" anchor="ctr"/>
          <a:lstStyle/>
          <a:p>
            <a:pPr algn="ctr" indent="0" marL="0">
              <a:buNone/>
            </a:pPr>
            <a:r>
              <a:rPr lang="en-US" sz="1300" b="1" dirty="0">
                <a:solidFill>
                  <a:srgbClr val="6B5FD1"/>
                </a:solidFill>
                <a:latin typeface="Calibri" pitchFamily="34" charset="0"/>
                <a:ea typeface="Calibri" pitchFamily="34" charset="-122"/>
                <a:cs typeface="Calibri" pitchFamily="34" charset="-120"/>
              </a:rPr>
              <a:t>3</a:t>
            </a:r>
            <a:endParaRPr lang="en-US" sz="1300" dirty="0"/>
          </a:p>
        </p:txBody>
      </p:sp>
      <p:sp>
        <p:nvSpPr>
          <p:cNvPr id="22" name="Text 16"/>
          <p:cNvSpPr/>
          <p:nvPr/>
        </p:nvSpPr>
        <p:spPr>
          <a:xfrm>
            <a:off x="1920240" y="4764024"/>
            <a:ext cx="9509760" cy="1005840"/>
          </a:xfrm>
          <a:prstGeom prst="rect">
            <a:avLst/>
          </a:prstGeom>
          <a:noFill/>
          <a:ln/>
        </p:spPr>
        <p:txBody>
          <a:bodyPr wrap="square" lIns="0" tIns="0" rIns="0" bIns="0" rtlCol="0" anchor="t"/>
          <a:lstStyle/>
          <a:p>
            <a:pPr indent="0" marL="0">
              <a:lnSpc>
                <a:spcPct val="110000"/>
              </a:lnSpc>
              <a:buNone/>
            </a:pPr>
            <a:r>
              <a:rPr lang="en-US" sz="1200" dirty="0">
                <a:solidFill>
                  <a:srgbClr val="2D2A4A"/>
                </a:solidFill>
                <a:latin typeface="Calibri" pitchFamily="34" charset="0"/>
                <a:ea typeface="Calibri" pitchFamily="34" charset="-122"/>
                <a:cs typeface="Calibri" pitchFamily="34" charset="-120"/>
              </a:rPr>
              <a:t>Describe a realistic measurement tool or process, and evaluate it separately for reliability and for validity, explaining your reasoning for each.</a:t>
            </a:r>
            <a:endParaRPr lang="en-US" sz="1200" dirty="0"/>
          </a:p>
        </p:txBody>
      </p:sp>
      <p:sp>
        <p:nvSpPr>
          <p:cNvPr id="23" name="Text 1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24" name="Text 1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61</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Today's Tasks — Part C: Data Types &amp; Measurement Scales</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600200"/>
            <a:ext cx="11274552" cy="4480560"/>
          </a:xfrm>
          <a:prstGeom prst="roundRect">
            <a:avLst>
              <a:gd name="adj" fmla="val 3673"/>
            </a:avLst>
          </a:prstGeom>
          <a:solidFill>
            <a:srgbClr val="FFF6DC"/>
          </a:solidFill>
          <a:ln w="12700">
            <a:solidFill>
              <a:srgbClr val="D8D2F5"/>
            </a:solidFill>
            <a:prstDash val="solid"/>
          </a:ln>
        </p:spPr>
      </p:sp>
      <p:sp>
        <p:nvSpPr>
          <p:cNvPr id="7" name="Text 4"/>
          <p:cNvSpPr/>
          <p:nvPr/>
        </p:nvSpPr>
        <p:spPr>
          <a:xfrm>
            <a:off x="822960" y="1828800"/>
            <a:ext cx="10515600" cy="457200"/>
          </a:xfrm>
          <a:prstGeom prst="rect">
            <a:avLst/>
          </a:prstGeom>
          <a:noFill/>
          <a:ln/>
        </p:spPr>
        <p:txBody>
          <a:bodyPr wrap="square" lIns="0" tIns="0" rIns="0" bIns="0" rtlCol="0" anchor="ctr"/>
          <a:lstStyle/>
          <a:p>
            <a:pPr indent="0" marL="0">
              <a:buNone/>
            </a:pPr>
            <a:r>
              <a:rPr lang="en-US" sz="1600" b="1" dirty="0">
                <a:solidFill>
                  <a:srgbClr val="2D2A4A"/>
                </a:solidFill>
                <a:latin typeface="Century Gothic" pitchFamily="34" charset="0"/>
                <a:ea typeface="Century Gothic" pitchFamily="34" charset="-122"/>
                <a:cs typeface="Century Gothic" pitchFamily="34" charset="-120"/>
              </a:rPr>
              <a:t>Small tasks — do them in order</a:t>
            </a:r>
            <a:endParaRPr lang="en-US" sz="1600" dirty="0"/>
          </a:p>
        </p:txBody>
      </p:sp>
      <p:sp>
        <p:nvSpPr>
          <p:cNvPr id="8" name="Shape 5"/>
          <p:cNvSpPr/>
          <p:nvPr/>
        </p:nvSpPr>
        <p:spPr>
          <a:xfrm>
            <a:off x="822960" y="2423160"/>
            <a:ext cx="402336" cy="402336"/>
          </a:xfrm>
          <a:prstGeom prst="ellipse">
            <a:avLst/>
          </a:prstGeom>
          <a:solidFill>
            <a:srgbClr val="8B7FE8"/>
          </a:solidFill>
          <a:ln/>
        </p:spPr>
      </p:sp>
      <p:pic>
        <p:nvPicPr>
          <p:cNvPr id="9" name="Image 1" descr="preencoded.png">    </p:cNvPr>
          <p:cNvPicPr>
            <a:picLocks noChangeAspect="1"/>
          </p:cNvPicPr>
          <p:nvPr/>
        </p:nvPicPr>
        <p:blipFill>
          <a:blip r:embed="rId2"/>
          <a:stretch>
            <a:fillRect/>
          </a:stretch>
        </p:blipFill>
        <p:spPr>
          <a:xfrm>
            <a:off x="886968" y="2487168"/>
            <a:ext cx="283464" cy="283464"/>
          </a:xfrm>
          <a:prstGeom prst="rect">
            <a:avLst/>
          </a:prstGeom>
        </p:spPr>
      </p:pic>
      <p:sp>
        <p:nvSpPr>
          <p:cNvPr id="10" name="Shape 6"/>
          <p:cNvSpPr/>
          <p:nvPr/>
        </p:nvSpPr>
        <p:spPr>
          <a:xfrm>
            <a:off x="1371600" y="2441448"/>
            <a:ext cx="402336" cy="365760"/>
          </a:xfrm>
          <a:prstGeom prst="roundRect">
            <a:avLst>
              <a:gd name="adj" fmla="val 20000"/>
            </a:avLst>
          </a:prstGeom>
          <a:solidFill>
            <a:srgbClr val="FFFFFF"/>
          </a:solidFill>
          <a:ln w="12700">
            <a:solidFill>
              <a:srgbClr val="D8D2F5"/>
            </a:solidFill>
            <a:prstDash val="solid"/>
          </a:ln>
        </p:spPr>
      </p:sp>
      <p:sp>
        <p:nvSpPr>
          <p:cNvPr id="11" name="Text 7"/>
          <p:cNvSpPr/>
          <p:nvPr/>
        </p:nvSpPr>
        <p:spPr>
          <a:xfrm>
            <a:off x="1371600" y="2441448"/>
            <a:ext cx="402336" cy="365760"/>
          </a:xfrm>
          <a:prstGeom prst="rect">
            <a:avLst/>
          </a:prstGeom>
          <a:noFill/>
          <a:ln/>
        </p:spPr>
        <p:txBody>
          <a:bodyPr wrap="square" lIns="0" tIns="0" rIns="0" bIns="0" rtlCol="0" anchor="ctr"/>
          <a:lstStyle/>
          <a:p>
            <a:pPr algn="ctr" indent="0" marL="0">
              <a:buNone/>
            </a:pPr>
            <a:r>
              <a:rPr lang="en-US" sz="1300" b="1" dirty="0">
                <a:solidFill>
                  <a:srgbClr val="6B5FD1"/>
                </a:solidFill>
                <a:latin typeface="Calibri" pitchFamily="34" charset="0"/>
                <a:ea typeface="Calibri" pitchFamily="34" charset="-122"/>
                <a:cs typeface="Calibri" pitchFamily="34" charset="-120"/>
              </a:rPr>
              <a:t>1</a:t>
            </a:r>
            <a:endParaRPr lang="en-US" sz="1300" dirty="0"/>
          </a:p>
        </p:txBody>
      </p:sp>
      <p:sp>
        <p:nvSpPr>
          <p:cNvPr id="12" name="Text 8"/>
          <p:cNvSpPr/>
          <p:nvPr/>
        </p:nvSpPr>
        <p:spPr>
          <a:xfrm>
            <a:off x="1920240" y="2423160"/>
            <a:ext cx="9509760" cy="1005840"/>
          </a:xfrm>
          <a:prstGeom prst="rect">
            <a:avLst/>
          </a:prstGeom>
          <a:noFill/>
          <a:ln/>
        </p:spPr>
        <p:txBody>
          <a:bodyPr wrap="square" lIns="0" tIns="0" rIns="0" bIns="0" rtlCol="0" anchor="t"/>
          <a:lstStyle/>
          <a:p>
            <a:pPr indent="0" marL="0">
              <a:lnSpc>
                <a:spcPct val="110000"/>
              </a:lnSpc>
              <a:buNone/>
            </a:pPr>
            <a:r>
              <a:rPr lang="en-US" sz="1200" dirty="0">
                <a:solidFill>
                  <a:srgbClr val="2D2A4A"/>
                </a:solidFill>
                <a:latin typeface="Calibri" pitchFamily="34" charset="0"/>
                <a:ea typeface="Calibri" pitchFamily="34" charset="-122"/>
                <a:cs typeface="Calibri" pitchFamily="34" charset="-120"/>
              </a:rPr>
              <a:t>Take any real dataset (or a provided one) and classify every single column by its measurement scale — nominal, ordinal, interval, or ratio.</a:t>
            </a:r>
            <a:endParaRPr lang="en-US" sz="1200" dirty="0"/>
          </a:p>
        </p:txBody>
      </p:sp>
      <p:sp>
        <p:nvSpPr>
          <p:cNvPr id="13" name="Shape 9"/>
          <p:cNvSpPr/>
          <p:nvPr/>
        </p:nvSpPr>
        <p:spPr>
          <a:xfrm>
            <a:off x="822960" y="3593592"/>
            <a:ext cx="402336" cy="402336"/>
          </a:xfrm>
          <a:prstGeom prst="ellipse">
            <a:avLst/>
          </a:prstGeom>
          <a:solidFill>
            <a:srgbClr val="8B7FE8"/>
          </a:solidFill>
          <a:ln/>
        </p:spPr>
      </p:sp>
      <p:pic>
        <p:nvPicPr>
          <p:cNvPr id="14" name="Image 2" descr="preencoded.png">    </p:cNvPr>
          <p:cNvPicPr>
            <a:picLocks noChangeAspect="1"/>
          </p:cNvPicPr>
          <p:nvPr/>
        </p:nvPicPr>
        <p:blipFill>
          <a:blip r:embed="rId3"/>
          <a:stretch>
            <a:fillRect/>
          </a:stretch>
        </p:blipFill>
        <p:spPr>
          <a:xfrm>
            <a:off x="886968" y="3657600"/>
            <a:ext cx="283464" cy="283464"/>
          </a:xfrm>
          <a:prstGeom prst="rect">
            <a:avLst/>
          </a:prstGeom>
        </p:spPr>
      </p:pic>
      <p:sp>
        <p:nvSpPr>
          <p:cNvPr id="15" name="Shape 10"/>
          <p:cNvSpPr/>
          <p:nvPr/>
        </p:nvSpPr>
        <p:spPr>
          <a:xfrm>
            <a:off x="1371600" y="3611880"/>
            <a:ext cx="402336" cy="365760"/>
          </a:xfrm>
          <a:prstGeom prst="roundRect">
            <a:avLst>
              <a:gd name="adj" fmla="val 20000"/>
            </a:avLst>
          </a:prstGeom>
          <a:solidFill>
            <a:srgbClr val="FFFFFF"/>
          </a:solidFill>
          <a:ln w="12700">
            <a:solidFill>
              <a:srgbClr val="D8D2F5"/>
            </a:solidFill>
            <a:prstDash val="solid"/>
          </a:ln>
        </p:spPr>
      </p:sp>
      <p:sp>
        <p:nvSpPr>
          <p:cNvPr id="16" name="Text 11"/>
          <p:cNvSpPr/>
          <p:nvPr/>
        </p:nvSpPr>
        <p:spPr>
          <a:xfrm>
            <a:off x="1371600" y="3611880"/>
            <a:ext cx="402336" cy="365760"/>
          </a:xfrm>
          <a:prstGeom prst="rect">
            <a:avLst/>
          </a:prstGeom>
          <a:noFill/>
          <a:ln/>
        </p:spPr>
        <p:txBody>
          <a:bodyPr wrap="square" lIns="0" tIns="0" rIns="0" bIns="0" rtlCol="0" anchor="ctr"/>
          <a:lstStyle/>
          <a:p>
            <a:pPr algn="ctr" indent="0" marL="0">
              <a:buNone/>
            </a:pPr>
            <a:r>
              <a:rPr lang="en-US" sz="1300" b="1" dirty="0">
                <a:solidFill>
                  <a:srgbClr val="6B5FD1"/>
                </a:solidFill>
                <a:latin typeface="Calibri" pitchFamily="34" charset="0"/>
                <a:ea typeface="Calibri" pitchFamily="34" charset="-122"/>
                <a:cs typeface="Calibri" pitchFamily="34" charset="-120"/>
              </a:rPr>
              <a:t>2</a:t>
            </a:r>
            <a:endParaRPr lang="en-US" sz="1300" dirty="0"/>
          </a:p>
        </p:txBody>
      </p:sp>
      <p:sp>
        <p:nvSpPr>
          <p:cNvPr id="17" name="Text 12"/>
          <p:cNvSpPr/>
          <p:nvPr/>
        </p:nvSpPr>
        <p:spPr>
          <a:xfrm>
            <a:off x="1920240" y="3593592"/>
            <a:ext cx="9509760" cy="1005840"/>
          </a:xfrm>
          <a:prstGeom prst="rect">
            <a:avLst/>
          </a:prstGeom>
          <a:noFill/>
          <a:ln/>
        </p:spPr>
        <p:txBody>
          <a:bodyPr wrap="square" lIns="0" tIns="0" rIns="0" bIns="0" rtlCol="0" anchor="t"/>
          <a:lstStyle/>
          <a:p>
            <a:pPr indent="0" marL="0">
              <a:lnSpc>
                <a:spcPct val="110000"/>
              </a:lnSpc>
              <a:buNone/>
            </a:pPr>
            <a:r>
              <a:rPr lang="en-US" sz="1200" dirty="0">
                <a:solidFill>
                  <a:srgbClr val="2D2A4A"/>
                </a:solidFill>
                <a:latin typeface="Calibri" pitchFamily="34" charset="0"/>
                <a:ea typeface="Calibri" pitchFamily="34" charset="-122"/>
                <a:cs typeface="Calibri" pitchFamily="34" charset="-120"/>
              </a:rPr>
              <a:t>For each ordinal column found, explain specifically why averaging it directly would be mathematically imprecise.</a:t>
            </a:r>
            <a:endParaRPr lang="en-US" sz="1200" dirty="0"/>
          </a:p>
        </p:txBody>
      </p:sp>
      <p:sp>
        <p:nvSpPr>
          <p:cNvPr id="18" name="Shape 13"/>
          <p:cNvSpPr/>
          <p:nvPr/>
        </p:nvSpPr>
        <p:spPr>
          <a:xfrm>
            <a:off x="822960" y="4764024"/>
            <a:ext cx="402336" cy="402336"/>
          </a:xfrm>
          <a:prstGeom prst="ellipse">
            <a:avLst/>
          </a:prstGeom>
          <a:solidFill>
            <a:srgbClr val="8B7FE8"/>
          </a:solidFill>
          <a:ln/>
        </p:spPr>
      </p:sp>
      <p:pic>
        <p:nvPicPr>
          <p:cNvPr id="19" name="Image 3" descr="preencoded.png">    </p:cNvPr>
          <p:cNvPicPr>
            <a:picLocks noChangeAspect="1"/>
          </p:cNvPicPr>
          <p:nvPr/>
        </p:nvPicPr>
        <p:blipFill>
          <a:blip r:embed="rId4"/>
          <a:stretch>
            <a:fillRect/>
          </a:stretch>
        </p:blipFill>
        <p:spPr>
          <a:xfrm>
            <a:off x="886968" y="4828032"/>
            <a:ext cx="283464" cy="283464"/>
          </a:xfrm>
          <a:prstGeom prst="rect">
            <a:avLst/>
          </a:prstGeom>
        </p:spPr>
      </p:pic>
      <p:sp>
        <p:nvSpPr>
          <p:cNvPr id="20" name="Shape 14"/>
          <p:cNvSpPr/>
          <p:nvPr/>
        </p:nvSpPr>
        <p:spPr>
          <a:xfrm>
            <a:off x="1371600" y="4782312"/>
            <a:ext cx="402336" cy="365760"/>
          </a:xfrm>
          <a:prstGeom prst="roundRect">
            <a:avLst>
              <a:gd name="adj" fmla="val 20000"/>
            </a:avLst>
          </a:prstGeom>
          <a:solidFill>
            <a:srgbClr val="FFFFFF"/>
          </a:solidFill>
          <a:ln w="12700">
            <a:solidFill>
              <a:srgbClr val="D8D2F5"/>
            </a:solidFill>
            <a:prstDash val="solid"/>
          </a:ln>
        </p:spPr>
      </p:sp>
      <p:sp>
        <p:nvSpPr>
          <p:cNvPr id="21" name="Text 15"/>
          <p:cNvSpPr/>
          <p:nvPr/>
        </p:nvSpPr>
        <p:spPr>
          <a:xfrm>
            <a:off x="1371600" y="4782312"/>
            <a:ext cx="402336" cy="365760"/>
          </a:xfrm>
          <a:prstGeom prst="rect">
            <a:avLst/>
          </a:prstGeom>
          <a:noFill/>
          <a:ln/>
        </p:spPr>
        <p:txBody>
          <a:bodyPr wrap="square" lIns="0" tIns="0" rIns="0" bIns="0" rtlCol="0" anchor="ctr"/>
          <a:lstStyle/>
          <a:p>
            <a:pPr algn="ctr" indent="0" marL="0">
              <a:buNone/>
            </a:pPr>
            <a:r>
              <a:rPr lang="en-US" sz="1300" b="1" dirty="0">
                <a:solidFill>
                  <a:srgbClr val="6B5FD1"/>
                </a:solidFill>
                <a:latin typeface="Calibri" pitchFamily="34" charset="0"/>
                <a:ea typeface="Calibri" pitchFamily="34" charset="-122"/>
                <a:cs typeface="Calibri" pitchFamily="34" charset="-120"/>
              </a:rPr>
              <a:t>3</a:t>
            </a:r>
            <a:endParaRPr lang="en-US" sz="1300" dirty="0"/>
          </a:p>
        </p:txBody>
      </p:sp>
      <p:sp>
        <p:nvSpPr>
          <p:cNvPr id="22" name="Text 16"/>
          <p:cNvSpPr/>
          <p:nvPr/>
        </p:nvSpPr>
        <p:spPr>
          <a:xfrm>
            <a:off x="1920240" y="4764024"/>
            <a:ext cx="9509760" cy="1005840"/>
          </a:xfrm>
          <a:prstGeom prst="rect">
            <a:avLst/>
          </a:prstGeom>
          <a:noFill/>
          <a:ln/>
        </p:spPr>
        <p:txBody>
          <a:bodyPr wrap="square" lIns="0" tIns="0" rIns="0" bIns="0" rtlCol="0" anchor="t"/>
          <a:lstStyle/>
          <a:p>
            <a:pPr indent="0" marL="0">
              <a:lnSpc>
                <a:spcPct val="110000"/>
              </a:lnSpc>
              <a:buNone/>
            </a:pPr>
            <a:r>
              <a:rPr lang="en-US" sz="1200" dirty="0">
                <a:solidFill>
                  <a:srgbClr val="2D2A4A"/>
                </a:solidFill>
                <a:latin typeface="Calibri" pitchFamily="34" charset="0"/>
                <a:ea typeface="Calibri" pitchFamily="34" charset="-122"/>
                <a:cs typeface="Calibri" pitchFamily="34" charset="-120"/>
              </a:rPr>
              <a:t>Write a one-paragraph explanation, for a non-technical reader, of why a "true zero" matters so much for ratio data.</a:t>
            </a:r>
            <a:endParaRPr lang="en-US" sz="1200" dirty="0"/>
          </a:p>
        </p:txBody>
      </p:sp>
      <p:sp>
        <p:nvSpPr>
          <p:cNvPr id="23" name="Text 1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24" name="Text 1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62</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Today's Tasks — Part D: Errors, Bias &amp; Chart Selection</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600200"/>
            <a:ext cx="11274552" cy="4480560"/>
          </a:xfrm>
          <a:prstGeom prst="roundRect">
            <a:avLst>
              <a:gd name="adj" fmla="val 3673"/>
            </a:avLst>
          </a:prstGeom>
          <a:solidFill>
            <a:srgbClr val="FFF6DC"/>
          </a:solidFill>
          <a:ln w="12700">
            <a:solidFill>
              <a:srgbClr val="D8D2F5"/>
            </a:solidFill>
            <a:prstDash val="solid"/>
          </a:ln>
        </p:spPr>
      </p:sp>
      <p:sp>
        <p:nvSpPr>
          <p:cNvPr id="7" name="Text 4"/>
          <p:cNvSpPr/>
          <p:nvPr/>
        </p:nvSpPr>
        <p:spPr>
          <a:xfrm>
            <a:off x="822960" y="1828800"/>
            <a:ext cx="10515600" cy="457200"/>
          </a:xfrm>
          <a:prstGeom prst="rect">
            <a:avLst/>
          </a:prstGeom>
          <a:noFill/>
          <a:ln/>
        </p:spPr>
        <p:txBody>
          <a:bodyPr wrap="square" lIns="0" tIns="0" rIns="0" bIns="0" rtlCol="0" anchor="ctr"/>
          <a:lstStyle/>
          <a:p>
            <a:pPr indent="0" marL="0">
              <a:buNone/>
            </a:pPr>
            <a:r>
              <a:rPr lang="en-US" sz="1600" b="1" dirty="0">
                <a:solidFill>
                  <a:srgbClr val="2D2A4A"/>
                </a:solidFill>
                <a:latin typeface="Century Gothic" pitchFamily="34" charset="0"/>
                <a:ea typeface="Century Gothic" pitchFamily="34" charset="-122"/>
                <a:cs typeface="Century Gothic" pitchFamily="34" charset="-120"/>
              </a:rPr>
              <a:t>Small tasks — do them in order</a:t>
            </a:r>
            <a:endParaRPr lang="en-US" sz="1600" dirty="0"/>
          </a:p>
        </p:txBody>
      </p:sp>
      <p:sp>
        <p:nvSpPr>
          <p:cNvPr id="8" name="Shape 5"/>
          <p:cNvSpPr/>
          <p:nvPr/>
        </p:nvSpPr>
        <p:spPr>
          <a:xfrm>
            <a:off x="822960" y="2423160"/>
            <a:ext cx="402336" cy="402336"/>
          </a:xfrm>
          <a:prstGeom prst="ellipse">
            <a:avLst/>
          </a:prstGeom>
          <a:solidFill>
            <a:srgbClr val="8B7FE8"/>
          </a:solidFill>
          <a:ln/>
        </p:spPr>
      </p:sp>
      <p:pic>
        <p:nvPicPr>
          <p:cNvPr id="9" name="Image 1" descr="preencoded.png">    </p:cNvPr>
          <p:cNvPicPr>
            <a:picLocks noChangeAspect="1"/>
          </p:cNvPicPr>
          <p:nvPr/>
        </p:nvPicPr>
        <p:blipFill>
          <a:blip r:embed="rId2"/>
          <a:stretch>
            <a:fillRect/>
          </a:stretch>
        </p:blipFill>
        <p:spPr>
          <a:xfrm>
            <a:off x="886968" y="2487168"/>
            <a:ext cx="283464" cy="283464"/>
          </a:xfrm>
          <a:prstGeom prst="rect">
            <a:avLst/>
          </a:prstGeom>
        </p:spPr>
      </p:pic>
      <p:sp>
        <p:nvSpPr>
          <p:cNvPr id="10" name="Shape 6"/>
          <p:cNvSpPr/>
          <p:nvPr/>
        </p:nvSpPr>
        <p:spPr>
          <a:xfrm>
            <a:off x="1371600" y="2441448"/>
            <a:ext cx="402336" cy="365760"/>
          </a:xfrm>
          <a:prstGeom prst="roundRect">
            <a:avLst>
              <a:gd name="adj" fmla="val 20000"/>
            </a:avLst>
          </a:prstGeom>
          <a:solidFill>
            <a:srgbClr val="FFFFFF"/>
          </a:solidFill>
          <a:ln w="12700">
            <a:solidFill>
              <a:srgbClr val="D8D2F5"/>
            </a:solidFill>
            <a:prstDash val="solid"/>
          </a:ln>
        </p:spPr>
      </p:sp>
      <p:sp>
        <p:nvSpPr>
          <p:cNvPr id="11" name="Text 7"/>
          <p:cNvSpPr/>
          <p:nvPr/>
        </p:nvSpPr>
        <p:spPr>
          <a:xfrm>
            <a:off x="1371600" y="2441448"/>
            <a:ext cx="402336" cy="365760"/>
          </a:xfrm>
          <a:prstGeom prst="rect">
            <a:avLst/>
          </a:prstGeom>
          <a:noFill/>
          <a:ln/>
        </p:spPr>
        <p:txBody>
          <a:bodyPr wrap="square" lIns="0" tIns="0" rIns="0" bIns="0" rtlCol="0" anchor="ctr"/>
          <a:lstStyle/>
          <a:p>
            <a:pPr algn="ctr" indent="0" marL="0">
              <a:buNone/>
            </a:pPr>
            <a:r>
              <a:rPr lang="en-US" sz="1300" b="1" dirty="0">
                <a:solidFill>
                  <a:srgbClr val="6B5FD1"/>
                </a:solidFill>
                <a:latin typeface="Calibri" pitchFamily="34" charset="0"/>
                <a:ea typeface="Calibri" pitchFamily="34" charset="-122"/>
                <a:cs typeface="Calibri" pitchFamily="34" charset="-120"/>
              </a:rPr>
              <a:t>1</a:t>
            </a:r>
            <a:endParaRPr lang="en-US" sz="1300" dirty="0"/>
          </a:p>
        </p:txBody>
      </p:sp>
      <p:sp>
        <p:nvSpPr>
          <p:cNvPr id="12" name="Text 8"/>
          <p:cNvSpPr/>
          <p:nvPr/>
        </p:nvSpPr>
        <p:spPr>
          <a:xfrm>
            <a:off x="1920240" y="2423160"/>
            <a:ext cx="9509760" cy="1005840"/>
          </a:xfrm>
          <a:prstGeom prst="rect">
            <a:avLst/>
          </a:prstGeom>
          <a:noFill/>
          <a:ln/>
        </p:spPr>
        <p:txBody>
          <a:bodyPr wrap="square" lIns="0" tIns="0" rIns="0" bIns="0" rtlCol="0" anchor="t"/>
          <a:lstStyle/>
          <a:p>
            <a:pPr indent="0" marL="0">
              <a:lnSpc>
                <a:spcPct val="110000"/>
              </a:lnSpc>
              <a:buNone/>
            </a:pPr>
            <a:r>
              <a:rPr lang="en-US" sz="1200" dirty="0">
                <a:solidFill>
                  <a:srgbClr val="2D2A4A"/>
                </a:solidFill>
                <a:latin typeface="Calibri" pitchFamily="34" charset="0"/>
                <a:ea typeface="Calibri" pitchFamily="34" charset="-122"/>
                <a:cs typeface="Calibri" pitchFamily="34" charset="-120"/>
              </a:rPr>
              <a:t>Describe a realistic data collection scenario for your own final project idea, and identify one likely source of random error and one of systematic bias.</a:t>
            </a:r>
            <a:endParaRPr lang="en-US" sz="1200" dirty="0"/>
          </a:p>
        </p:txBody>
      </p:sp>
      <p:sp>
        <p:nvSpPr>
          <p:cNvPr id="13" name="Shape 9"/>
          <p:cNvSpPr/>
          <p:nvPr/>
        </p:nvSpPr>
        <p:spPr>
          <a:xfrm>
            <a:off x="822960" y="3593592"/>
            <a:ext cx="402336" cy="402336"/>
          </a:xfrm>
          <a:prstGeom prst="ellipse">
            <a:avLst/>
          </a:prstGeom>
          <a:solidFill>
            <a:srgbClr val="8B7FE8"/>
          </a:solidFill>
          <a:ln/>
        </p:spPr>
      </p:sp>
      <p:pic>
        <p:nvPicPr>
          <p:cNvPr id="14" name="Image 2" descr="preencoded.png">    </p:cNvPr>
          <p:cNvPicPr>
            <a:picLocks noChangeAspect="1"/>
          </p:cNvPicPr>
          <p:nvPr/>
        </p:nvPicPr>
        <p:blipFill>
          <a:blip r:embed="rId3"/>
          <a:stretch>
            <a:fillRect/>
          </a:stretch>
        </p:blipFill>
        <p:spPr>
          <a:xfrm>
            <a:off x="886968" y="3657600"/>
            <a:ext cx="283464" cy="283464"/>
          </a:xfrm>
          <a:prstGeom prst="rect">
            <a:avLst/>
          </a:prstGeom>
        </p:spPr>
      </p:pic>
      <p:sp>
        <p:nvSpPr>
          <p:cNvPr id="15" name="Shape 10"/>
          <p:cNvSpPr/>
          <p:nvPr/>
        </p:nvSpPr>
        <p:spPr>
          <a:xfrm>
            <a:off x="1371600" y="3611880"/>
            <a:ext cx="402336" cy="365760"/>
          </a:xfrm>
          <a:prstGeom prst="roundRect">
            <a:avLst>
              <a:gd name="adj" fmla="val 20000"/>
            </a:avLst>
          </a:prstGeom>
          <a:solidFill>
            <a:srgbClr val="FFFFFF"/>
          </a:solidFill>
          <a:ln w="12700">
            <a:solidFill>
              <a:srgbClr val="D8D2F5"/>
            </a:solidFill>
            <a:prstDash val="solid"/>
          </a:ln>
        </p:spPr>
      </p:sp>
      <p:sp>
        <p:nvSpPr>
          <p:cNvPr id="16" name="Text 11"/>
          <p:cNvSpPr/>
          <p:nvPr/>
        </p:nvSpPr>
        <p:spPr>
          <a:xfrm>
            <a:off x="1371600" y="3611880"/>
            <a:ext cx="402336" cy="365760"/>
          </a:xfrm>
          <a:prstGeom prst="rect">
            <a:avLst/>
          </a:prstGeom>
          <a:noFill/>
          <a:ln/>
        </p:spPr>
        <p:txBody>
          <a:bodyPr wrap="square" lIns="0" tIns="0" rIns="0" bIns="0" rtlCol="0" anchor="ctr"/>
          <a:lstStyle/>
          <a:p>
            <a:pPr algn="ctr" indent="0" marL="0">
              <a:buNone/>
            </a:pPr>
            <a:r>
              <a:rPr lang="en-US" sz="1300" b="1" dirty="0">
                <a:solidFill>
                  <a:srgbClr val="6B5FD1"/>
                </a:solidFill>
                <a:latin typeface="Calibri" pitchFamily="34" charset="0"/>
                <a:ea typeface="Calibri" pitchFamily="34" charset="-122"/>
                <a:cs typeface="Calibri" pitchFamily="34" charset="-120"/>
              </a:rPr>
              <a:t>2</a:t>
            </a:r>
            <a:endParaRPr lang="en-US" sz="1300" dirty="0"/>
          </a:p>
        </p:txBody>
      </p:sp>
      <p:sp>
        <p:nvSpPr>
          <p:cNvPr id="17" name="Text 12"/>
          <p:cNvSpPr/>
          <p:nvPr/>
        </p:nvSpPr>
        <p:spPr>
          <a:xfrm>
            <a:off x="1920240" y="3593592"/>
            <a:ext cx="9509760" cy="1005840"/>
          </a:xfrm>
          <a:prstGeom prst="rect">
            <a:avLst/>
          </a:prstGeom>
          <a:noFill/>
          <a:ln/>
        </p:spPr>
        <p:txBody>
          <a:bodyPr wrap="square" lIns="0" tIns="0" rIns="0" bIns="0" rtlCol="0" anchor="t"/>
          <a:lstStyle/>
          <a:p>
            <a:pPr indent="0" marL="0">
              <a:lnSpc>
                <a:spcPct val="110000"/>
              </a:lnSpc>
              <a:buNone/>
            </a:pPr>
            <a:r>
              <a:rPr lang="en-US" sz="1200" dirty="0">
                <a:solidFill>
                  <a:srgbClr val="2D2A4A"/>
                </a:solidFill>
                <a:latin typeface="Calibri" pitchFamily="34" charset="0"/>
                <a:ea typeface="Calibri" pitchFamily="34" charset="-122"/>
                <a:cs typeface="Calibri" pitchFamily="34" charset="-120"/>
              </a:rPr>
              <a:t>Given a dataset with 3 numerical columns, choose and justify one appropriate chart for each column individually, and one for showing their relationships together.</a:t>
            </a:r>
            <a:endParaRPr lang="en-US" sz="1200" dirty="0"/>
          </a:p>
        </p:txBody>
      </p:sp>
      <p:sp>
        <p:nvSpPr>
          <p:cNvPr id="18" name="Shape 13"/>
          <p:cNvSpPr/>
          <p:nvPr/>
        </p:nvSpPr>
        <p:spPr>
          <a:xfrm>
            <a:off x="822960" y="4764024"/>
            <a:ext cx="402336" cy="402336"/>
          </a:xfrm>
          <a:prstGeom prst="ellipse">
            <a:avLst/>
          </a:prstGeom>
          <a:solidFill>
            <a:srgbClr val="8B7FE8"/>
          </a:solidFill>
          <a:ln/>
        </p:spPr>
      </p:sp>
      <p:pic>
        <p:nvPicPr>
          <p:cNvPr id="19" name="Image 3" descr="preencoded.png">    </p:cNvPr>
          <p:cNvPicPr>
            <a:picLocks noChangeAspect="1"/>
          </p:cNvPicPr>
          <p:nvPr/>
        </p:nvPicPr>
        <p:blipFill>
          <a:blip r:embed="rId4"/>
          <a:stretch>
            <a:fillRect/>
          </a:stretch>
        </p:blipFill>
        <p:spPr>
          <a:xfrm>
            <a:off x="886968" y="4828032"/>
            <a:ext cx="283464" cy="283464"/>
          </a:xfrm>
          <a:prstGeom prst="rect">
            <a:avLst/>
          </a:prstGeom>
        </p:spPr>
      </p:pic>
      <p:sp>
        <p:nvSpPr>
          <p:cNvPr id="20" name="Shape 14"/>
          <p:cNvSpPr/>
          <p:nvPr/>
        </p:nvSpPr>
        <p:spPr>
          <a:xfrm>
            <a:off x="1371600" y="4782312"/>
            <a:ext cx="402336" cy="365760"/>
          </a:xfrm>
          <a:prstGeom prst="roundRect">
            <a:avLst>
              <a:gd name="adj" fmla="val 20000"/>
            </a:avLst>
          </a:prstGeom>
          <a:solidFill>
            <a:srgbClr val="FFFFFF"/>
          </a:solidFill>
          <a:ln w="12700">
            <a:solidFill>
              <a:srgbClr val="D8D2F5"/>
            </a:solidFill>
            <a:prstDash val="solid"/>
          </a:ln>
        </p:spPr>
      </p:sp>
      <p:sp>
        <p:nvSpPr>
          <p:cNvPr id="21" name="Text 15"/>
          <p:cNvSpPr/>
          <p:nvPr/>
        </p:nvSpPr>
        <p:spPr>
          <a:xfrm>
            <a:off x="1371600" y="4782312"/>
            <a:ext cx="402336" cy="365760"/>
          </a:xfrm>
          <a:prstGeom prst="rect">
            <a:avLst/>
          </a:prstGeom>
          <a:noFill/>
          <a:ln/>
        </p:spPr>
        <p:txBody>
          <a:bodyPr wrap="square" lIns="0" tIns="0" rIns="0" bIns="0" rtlCol="0" anchor="ctr"/>
          <a:lstStyle/>
          <a:p>
            <a:pPr algn="ctr" indent="0" marL="0">
              <a:buNone/>
            </a:pPr>
            <a:r>
              <a:rPr lang="en-US" sz="1300" b="1" dirty="0">
                <a:solidFill>
                  <a:srgbClr val="6B5FD1"/>
                </a:solidFill>
                <a:latin typeface="Calibri" pitchFamily="34" charset="0"/>
                <a:ea typeface="Calibri" pitchFamily="34" charset="-122"/>
                <a:cs typeface="Calibri" pitchFamily="34" charset="-120"/>
              </a:rPr>
              <a:t>3</a:t>
            </a:r>
            <a:endParaRPr lang="en-US" sz="1300" dirty="0"/>
          </a:p>
        </p:txBody>
      </p:sp>
      <p:sp>
        <p:nvSpPr>
          <p:cNvPr id="22" name="Text 16"/>
          <p:cNvSpPr/>
          <p:nvPr/>
        </p:nvSpPr>
        <p:spPr>
          <a:xfrm>
            <a:off x="1920240" y="4764024"/>
            <a:ext cx="9509760" cy="1005840"/>
          </a:xfrm>
          <a:prstGeom prst="rect">
            <a:avLst/>
          </a:prstGeom>
          <a:noFill/>
          <a:ln/>
        </p:spPr>
        <p:txBody>
          <a:bodyPr wrap="square" lIns="0" tIns="0" rIns="0" bIns="0" rtlCol="0" anchor="t"/>
          <a:lstStyle/>
          <a:p>
            <a:pPr indent="0" marL="0">
              <a:lnSpc>
                <a:spcPct val="110000"/>
              </a:lnSpc>
              <a:buNone/>
            </a:pPr>
            <a:r>
              <a:rPr lang="en-US" sz="1200" dirty="0">
                <a:solidFill>
                  <a:srgbClr val="2D2A4A"/>
                </a:solidFill>
                <a:latin typeface="Calibri" pitchFamily="34" charset="0"/>
                <a:ea typeface="Calibri" pitchFamily="34" charset="-122"/>
                <a:cs typeface="Calibri" pitchFamily="34" charset="-120"/>
              </a:rPr>
              <a:t>Find one real published chart (news article or report) that violates a "when NOT to use" rule from today, and explain specifically what’s misleading about it.</a:t>
            </a:r>
            <a:endParaRPr lang="en-US" sz="1200" dirty="0"/>
          </a:p>
        </p:txBody>
      </p:sp>
      <p:sp>
        <p:nvSpPr>
          <p:cNvPr id="23" name="Text 1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24" name="Text 1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63</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Today's Tasks — Part E: Central Tendency</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600200"/>
            <a:ext cx="11274552" cy="4480560"/>
          </a:xfrm>
          <a:prstGeom prst="roundRect">
            <a:avLst>
              <a:gd name="adj" fmla="val 3673"/>
            </a:avLst>
          </a:prstGeom>
          <a:solidFill>
            <a:srgbClr val="FFF6DC"/>
          </a:solidFill>
          <a:ln w="12700">
            <a:solidFill>
              <a:srgbClr val="D8D2F5"/>
            </a:solidFill>
            <a:prstDash val="solid"/>
          </a:ln>
        </p:spPr>
      </p:sp>
      <p:sp>
        <p:nvSpPr>
          <p:cNvPr id="7" name="Text 4"/>
          <p:cNvSpPr/>
          <p:nvPr/>
        </p:nvSpPr>
        <p:spPr>
          <a:xfrm>
            <a:off x="822960" y="1828800"/>
            <a:ext cx="10515600" cy="457200"/>
          </a:xfrm>
          <a:prstGeom prst="rect">
            <a:avLst/>
          </a:prstGeom>
          <a:noFill/>
          <a:ln/>
        </p:spPr>
        <p:txBody>
          <a:bodyPr wrap="square" lIns="0" tIns="0" rIns="0" bIns="0" rtlCol="0" anchor="ctr"/>
          <a:lstStyle/>
          <a:p>
            <a:pPr indent="0" marL="0">
              <a:buNone/>
            </a:pPr>
            <a:r>
              <a:rPr lang="en-US" sz="1600" b="1" dirty="0">
                <a:solidFill>
                  <a:srgbClr val="2D2A4A"/>
                </a:solidFill>
                <a:latin typeface="Century Gothic" pitchFamily="34" charset="0"/>
                <a:ea typeface="Century Gothic" pitchFamily="34" charset="-122"/>
                <a:cs typeface="Century Gothic" pitchFamily="34" charset="-120"/>
              </a:rPr>
              <a:t>Small tasks — do them in order</a:t>
            </a:r>
            <a:endParaRPr lang="en-US" sz="1600" dirty="0"/>
          </a:p>
        </p:txBody>
      </p:sp>
      <p:sp>
        <p:nvSpPr>
          <p:cNvPr id="8" name="Shape 5"/>
          <p:cNvSpPr/>
          <p:nvPr/>
        </p:nvSpPr>
        <p:spPr>
          <a:xfrm>
            <a:off x="822960" y="2423160"/>
            <a:ext cx="402336" cy="402336"/>
          </a:xfrm>
          <a:prstGeom prst="ellipse">
            <a:avLst/>
          </a:prstGeom>
          <a:solidFill>
            <a:srgbClr val="8B7FE8"/>
          </a:solidFill>
          <a:ln/>
        </p:spPr>
      </p:sp>
      <p:pic>
        <p:nvPicPr>
          <p:cNvPr id="9" name="Image 1" descr="preencoded.png">    </p:cNvPr>
          <p:cNvPicPr>
            <a:picLocks noChangeAspect="1"/>
          </p:cNvPicPr>
          <p:nvPr/>
        </p:nvPicPr>
        <p:blipFill>
          <a:blip r:embed="rId2"/>
          <a:stretch>
            <a:fillRect/>
          </a:stretch>
        </p:blipFill>
        <p:spPr>
          <a:xfrm>
            <a:off x="886968" y="2487168"/>
            <a:ext cx="283464" cy="283464"/>
          </a:xfrm>
          <a:prstGeom prst="rect">
            <a:avLst/>
          </a:prstGeom>
        </p:spPr>
      </p:pic>
      <p:sp>
        <p:nvSpPr>
          <p:cNvPr id="10" name="Shape 6"/>
          <p:cNvSpPr/>
          <p:nvPr/>
        </p:nvSpPr>
        <p:spPr>
          <a:xfrm>
            <a:off x="1371600" y="2441448"/>
            <a:ext cx="402336" cy="365760"/>
          </a:xfrm>
          <a:prstGeom prst="roundRect">
            <a:avLst>
              <a:gd name="adj" fmla="val 20000"/>
            </a:avLst>
          </a:prstGeom>
          <a:solidFill>
            <a:srgbClr val="FFFFFF"/>
          </a:solidFill>
          <a:ln w="12700">
            <a:solidFill>
              <a:srgbClr val="D8D2F5"/>
            </a:solidFill>
            <a:prstDash val="solid"/>
          </a:ln>
        </p:spPr>
      </p:sp>
      <p:sp>
        <p:nvSpPr>
          <p:cNvPr id="11" name="Text 7"/>
          <p:cNvSpPr/>
          <p:nvPr/>
        </p:nvSpPr>
        <p:spPr>
          <a:xfrm>
            <a:off x="1371600" y="2441448"/>
            <a:ext cx="402336" cy="365760"/>
          </a:xfrm>
          <a:prstGeom prst="rect">
            <a:avLst/>
          </a:prstGeom>
          <a:noFill/>
          <a:ln/>
        </p:spPr>
        <p:txBody>
          <a:bodyPr wrap="square" lIns="0" tIns="0" rIns="0" bIns="0" rtlCol="0" anchor="ctr"/>
          <a:lstStyle/>
          <a:p>
            <a:pPr algn="ctr" indent="0" marL="0">
              <a:buNone/>
            </a:pPr>
            <a:r>
              <a:rPr lang="en-US" sz="1300" b="1" dirty="0">
                <a:solidFill>
                  <a:srgbClr val="6B5FD1"/>
                </a:solidFill>
                <a:latin typeface="Calibri" pitchFamily="34" charset="0"/>
                <a:ea typeface="Calibri" pitchFamily="34" charset="-122"/>
                <a:cs typeface="Calibri" pitchFamily="34" charset="-120"/>
              </a:rPr>
              <a:t>1</a:t>
            </a:r>
            <a:endParaRPr lang="en-US" sz="1300" dirty="0"/>
          </a:p>
        </p:txBody>
      </p:sp>
      <p:sp>
        <p:nvSpPr>
          <p:cNvPr id="12" name="Text 8"/>
          <p:cNvSpPr/>
          <p:nvPr/>
        </p:nvSpPr>
        <p:spPr>
          <a:xfrm>
            <a:off x="1920240" y="2423160"/>
            <a:ext cx="9509760" cy="1005840"/>
          </a:xfrm>
          <a:prstGeom prst="rect">
            <a:avLst/>
          </a:prstGeom>
          <a:noFill/>
          <a:ln/>
        </p:spPr>
        <p:txBody>
          <a:bodyPr wrap="square" lIns="0" tIns="0" rIns="0" bIns="0" rtlCol="0" anchor="t"/>
          <a:lstStyle/>
          <a:p>
            <a:pPr indent="0" marL="0">
              <a:lnSpc>
                <a:spcPct val="110000"/>
              </a:lnSpc>
              <a:buNone/>
            </a:pPr>
            <a:r>
              <a:rPr lang="en-US" sz="1200" dirty="0">
                <a:solidFill>
                  <a:srgbClr val="2D2A4A"/>
                </a:solidFill>
                <a:latin typeface="Calibri" pitchFamily="34" charset="0"/>
                <a:ea typeface="Calibri" pitchFamily="34" charset="-122"/>
                <a:cs typeface="Calibri" pitchFamily="34" charset="-120"/>
              </a:rPr>
              <a:t>Calculate the mean, median, and mode of a real numerical column from a dataset of your choice, by hand or with simple code.</a:t>
            </a:r>
            <a:endParaRPr lang="en-US" sz="1200" dirty="0"/>
          </a:p>
        </p:txBody>
      </p:sp>
      <p:sp>
        <p:nvSpPr>
          <p:cNvPr id="13" name="Shape 9"/>
          <p:cNvSpPr/>
          <p:nvPr/>
        </p:nvSpPr>
        <p:spPr>
          <a:xfrm>
            <a:off x="822960" y="3593592"/>
            <a:ext cx="402336" cy="402336"/>
          </a:xfrm>
          <a:prstGeom prst="ellipse">
            <a:avLst/>
          </a:prstGeom>
          <a:solidFill>
            <a:srgbClr val="8B7FE8"/>
          </a:solidFill>
          <a:ln/>
        </p:spPr>
      </p:sp>
      <p:pic>
        <p:nvPicPr>
          <p:cNvPr id="14" name="Image 2" descr="preencoded.png">    </p:cNvPr>
          <p:cNvPicPr>
            <a:picLocks noChangeAspect="1"/>
          </p:cNvPicPr>
          <p:nvPr/>
        </p:nvPicPr>
        <p:blipFill>
          <a:blip r:embed="rId3"/>
          <a:stretch>
            <a:fillRect/>
          </a:stretch>
        </p:blipFill>
        <p:spPr>
          <a:xfrm>
            <a:off x="886968" y="3657600"/>
            <a:ext cx="283464" cy="283464"/>
          </a:xfrm>
          <a:prstGeom prst="rect">
            <a:avLst/>
          </a:prstGeom>
        </p:spPr>
      </p:pic>
      <p:sp>
        <p:nvSpPr>
          <p:cNvPr id="15" name="Shape 10"/>
          <p:cNvSpPr/>
          <p:nvPr/>
        </p:nvSpPr>
        <p:spPr>
          <a:xfrm>
            <a:off x="1371600" y="3611880"/>
            <a:ext cx="402336" cy="365760"/>
          </a:xfrm>
          <a:prstGeom prst="roundRect">
            <a:avLst>
              <a:gd name="adj" fmla="val 20000"/>
            </a:avLst>
          </a:prstGeom>
          <a:solidFill>
            <a:srgbClr val="FFFFFF"/>
          </a:solidFill>
          <a:ln w="12700">
            <a:solidFill>
              <a:srgbClr val="D8D2F5"/>
            </a:solidFill>
            <a:prstDash val="solid"/>
          </a:ln>
        </p:spPr>
      </p:sp>
      <p:sp>
        <p:nvSpPr>
          <p:cNvPr id="16" name="Text 11"/>
          <p:cNvSpPr/>
          <p:nvPr/>
        </p:nvSpPr>
        <p:spPr>
          <a:xfrm>
            <a:off x="1371600" y="3611880"/>
            <a:ext cx="402336" cy="365760"/>
          </a:xfrm>
          <a:prstGeom prst="rect">
            <a:avLst/>
          </a:prstGeom>
          <a:noFill/>
          <a:ln/>
        </p:spPr>
        <p:txBody>
          <a:bodyPr wrap="square" lIns="0" tIns="0" rIns="0" bIns="0" rtlCol="0" anchor="ctr"/>
          <a:lstStyle/>
          <a:p>
            <a:pPr algn="ctr" indent="0" marL="0">
              <a:buNone/>
            </a:pPr>
            <a:r>
              <a:rPr lang="en-US" sz="1300" b="1" dirty="0">
                <a:solidFill>
                  <a:srgbClr val="6B5FD1"/>
                </a:solidFill>
                <a:latin typeface="Calibri" pitchFamily="34" charset="0"/>
                <a:ea typeface="Calibri" pitchFamily="34" charset="-122"/>
                <a:cs typeface="Calibri" pitchFamily="34" charset="-120"/>
              </a:rPr>
              <a:t>2</a:t>
            </a:r>
            <a:endParaRPr lang="en-US" sz="1300" dirty="0"/>
          </a:p>
        </p:txBody>
      </p:sp>
      <p:sp>
        <p:nvSpPr>
          <p:cNvPr id="17" name="Text 12"/>
          <p:cNvSpPr/>
          <p:nvPr/>
        </p:nvSpPr>
        <p:spPr>
          <a:xfrm>
            <a:off x="1920240" y="3593592"/>
            <a:ext cx="9509760" cy="1005840"/>
          </a:xfrm>
          <a:prstGeom prst="rect">
            <a:avLst/>
          </a:prstGeom>
          <a:noFill/>
          <a:ln/>
        </p:spPr>
        <p:txBody>
          <a:bodyPr wrap="square" lIns="0" tIns="0" rIns="0" bIns="0" rtlCol="0" anchor="t"/>
          <a:lstStyle/>
          <a:p>
            <a:pPr indent="0" marL="0">
              <a:lnSpc>
                <a:spcPct val="110000"/>
              </a:lnSpc>
              <a:buNone/>
            </a:pPr>
            <a:r>
              <a:rPr lang="en-US" sz="1200" dirty="0">
                <a:solidFill>
                  <a:srgbClr val="2D2A4A"/>
                </a:solidFill>
                <a:latin typeface="Calibri" pitchFamily="34" charset="0"/>
                <a:ea typeface="Calibri" pitchFamily="34" charset="-122"/>
                <a:cs typeface="Calibri" pitchFamily="34" charset="-120"/>
              </a:rPr>
              <a:t>Identify whether that column is skewed by extreme values, and explain which measure most honestly represents it.</a:t>
            </a:r>
            <a:endParaRPr lang="en-US" sz="1200" dirty="0"/>
          </a:p>
        </p:txBody>
      </p:sp>
      <p:sp>
        <p:nvSpPr>
          <p:cNvPr id="18" name="Shape 13"/>
          <p:cNvSpPr/>
          <p:nvPr/>
        </p:nvSpPr>
        <p:spPr>
          <a:xfrm>
            <a:off x="822960" y="4764024"/>
            <a:ext cx="402336" cy="402336"/>
          </a:xfrm>
          <a:prstGeom prst="ellipse">
            <a:avLst/>
          </a:prstGeom>
          <a:solidFill>
            <a:srgbClr val="8B7FE8"/>
          </a:solidFill>
          <a:ln/>
        </p:spPr>
      </p:sp>
      <p:pic>
        <p:nvPicPr>
          <p:cNvPr id="19" name="Image 3" descr="preencoded.png">    </p:cNvPr>
          <p:cNvPicPr>
            <a:picLocks noChangeAspect="1"/>
          </p:cNvPicPr>
          <p:nvPr/>
        </p:nvPicPr>
        <p:blipFill>
          <a:blip r:embed="rId4"/>
          <a:stretch>
            <a:fillRect/>
          </a:stretch>
        </p:blipFill>
        <p:spPr>
          <a:xfrm>
            <a:off x="886968" y="4828032"/>
            <a:ext cx="283464" cy="283464"/>
          </a:xfrm>
          <a:prstGeom prst="rect">
            <a:avLst/>
          </a:prstGeom>
        </p:spPr>
      </p:pic>
      <p:sp>
        <p:nvSpPr>
          <p:cNvPr id="20" name="Shape 14"/>
          <p:cNvSpPr/>
          <p:nvPr/>
        </p:nvSpPr>
        <p:spPr>
          <a:xfrm>
            <a:off x="1371600" y="4782312"/>
            <a:ext cx="402336" cy="365760"/>
          </a:xfrm>
          <a:prstGeom prst="roundRect">
            <a:avLst>
              <a:gd name="adj" fmla="val 20000"/>
            </a:avLst>
          </a:prstGeom>
          <a:solidFill>
            <a:srgbClr val="FFFFFF"/>
          </a:solidFill>
          <a:ln w="12700">
            <a:solidFill>
              <a:srgbClr val="D8D2F5"/>
            </a:solidFill>
            <a:prstDash val="solid"/>
          </a:ln>
        </p:spPr>
      </p:sp>
      <p:sp>
        <p:nvSpPr>
          <p:cNvPr id="21" name="Text 15"/>
          <p:cNvSpPr/>
          <p:nvPr/>
        </p:nvSpPr>
        <p:spPr>
          <a:xfrm>
            <a:off x="1371600" y="4782312"/>
            <a:ext cx="402336" cy="365760"/>
          </a:xfrm>
          <a:prstGeom prst="rect">
            <a:avLst/>
          </a:prstGeom>
          <a:noFill/>
          <a:ln/>
        </p:spPr>
        <p:txBody>
          <a:bodyPr wrap="square" lIns="0" tIns="0" rIns="0" bIns="0" rtlCol="0" anchor="ctr"/>
          <a:lstStyle/>
          <a:p>
            <a:pPr algn="ctr" indent="0" marL="0">
              <a:buNone/>
            </a:pPr>
            <a:r>
              <a:rPr lang="en-US" sz="1300" b="1" dirty="0">
                <a:solidFill>
                  <a:srgbClr val="6B5FD1"/>
                </a:solidFill>
                <a:latin typeface="Calibri" pitchFamily="34" charset="0"/>
                <a:ea typeface="Calibri" pitchFamily="34" charset="-122"/>
                <a:cs typeface="Calibri" pitchFamily="34" charset="-120"/>
              </a:rPr>
              <a:t>3</a:t>
            </a:r>
            <a:endParaRPr lang="en-US" sz="1300" dirty="0"/>
          </a:p>
        </p:txBody>
      </p:sp>
      <p:sp>
        <p:nvSpPr>
          <p:cNvPr id="22" name="Text 16"/>
          <p:cNvSpPr/>
          <p:nvPr/>
        </p:nvSpPr>
        <p:spPr>
          <a:xfrm>
            <a:off x="1920240" y="4764024"/>
            <a:ext cx="9509760" cy="1005840"/>
          </a:xfrm>
          <a:prstGeom prst="rect">
            <a:avLst/>
          </a:prstGeom>
          <a:noFill/>
          <a:ln/>
        </p:spPr>
        <p:txBody>
          <a:bodyPr wrap="square" lIns="0" tIns="0" rIns="0" bIns="0" rtlCol="0" anchor="t"/>
          <a:lstStyle/>
          <a:p>
            <a:pPr indent="0" marL="0">
              <a:lnSpc>
                <a:spcPct val="110000"/>
              </a:lnSpc>
              <a:buNone/>
            </a:pPr>
            <a:r>
              <a:rPr lang="en-US" sz="1200" dirty="0">
                <a:solidFill>
                  <a:srgbClr val="2D2A4A"/>
                </a:solidFill>
                <a:latin typeface="Calibri" pitchFamily="34" charset="0"/>
                <a:ea typeface="Calibri" pitchFamily="34" charset="-122"/>
                <a:cs typeface="Calibri" pitchFamily="34" charset="-120"/>
              </a:rPr>
              <a:t>Write a two-sentence summary of that column’s "typical value," suitable for someone who has never seen the raw data.</a:t>
            </a:r>
            <a:endParaRPr lang="en-US" sz="1200" dirty="0"/>
          </a:p>
        </p:txBody>
      </p:sp>
      <p:sp>
        <p:nvSpPr>
          <p:cNvPr id="23" name="Text 1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24" name="Text 1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64</a:t>
            </a: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AF8FF"/>
        </a:solidFill>
      </p:bgPr>
    </p:bg>
    <p:spTree>
      <p:nvGrpSpPr>
        <p:cNvPr id="1" name=""/>
        <p:cNvGrpSpPr/>
        <p:nvPr/>
      </p:nvGrpSpPr>
      <p:grpSpPr>
        <a:xfrm>
          <a:off x="0" y="0"/>
          <a:ext cx="0" cy="0"/>
          <a:chOff x="0" y="0"/>
          <a:chExt cx="0" cy="0"/>
        </a:xfrm>
      </p:grpSpPr>
      <p:sp>
        <p:nvSpPr>
          <p:cNvPr id="2" name="Text 0"/>
          <p:cNvSpPr/>
          <p:nvPr/>
        </p:nvSpPr>
        <p:spPr>
          <a:xfrm>
            <a:off x="457200" y="457200"/>
            <a:ext cx="274320" cy="274320"/>
          </a:xfrm>
          <a:prstGeom prst="rect">
            <a:avLst/>
          </a:prstGeom>
          <a:noFill/>
          <a:ln/>
        </p:spPr>
        <p:txBody>
          <a:bodyPr wrap="square" lIns="0" tIns="0" rIns="0" bIns="0" rtlCol="0" anchor="ctr"/>
          <a:lstStyle/>
          <a:p>
            <a:pPr algn="ctr" indent="0" marL="0">
              <a:buNone/>
            </a:pPr>
            <a:r>
              <a:rPr lang="en-US" sz="1200" dirty="0">
                <a:solidFill>
                  <a:srgbClr val="5FD6B0"/>
                </a:solidFill>
              </a:rPr>
              <a:t>✦</a:t>
            </a:r>
            <a:endParaRPr lang="en-US" sz="1200" dirty="0"/>
          </a:p>
        </p:txBody>
      </p:sp>
      <p:sp>
        <p:nvSpPr>
          <p:cNvPr id="3" name="Text 1"/>
          <p:cNvSpPr/>
          <p:nvPr/>
        </p:nvSpPr>
        <p:spPr>
          <a:xfrm>
            <a:off x="11247120" y="548640"/>
            <a:ext cx="201168" cy="201168"/>
          </a:xfrm>
          <a:prstGeom prst="rect">
            <a:avLst/>
          </a:prstGeom>
          <a:noFill/>
          <a:ln/>
        </p:spPr>
        <p:txBody>
          <a:bodyPr wrap="square" lIns="0" tIns="0" rIns="0" bIns="0" rtlCol="0" anchor="ctr"/>
          <a:lstStyle/>
          <a:p>
            <a:pPr algn="ctr" indent="0" marL="0">
              <a:buNone/>
            </a:pPr>
            <a:r>
              <a:rPr lang="en-US" sz="880" dirty="0">
                <a:solidFill>
                  <a:srgbClr val="FFC94A"/>
                </a:solidFill>
              </a:rPr>
              <a:t>✦</a:t>
            </a:r>
            <a:endParaRPr lang="en-US" sz="880" dirty="0"/>
          </a:p>
        </p:txBody>
      </p:sp>
      <p:sp>
        <p:nvSpPr>
          <p:cNvPr id="4" name="Text 2"/>
          <p:cNvSpPr/>
          <p:nvPr/>
        </p:nvSpPr>
        <p:spPr>
          <a:xfrm>
            <a:off x="640080" y="6126480"/>
            <a:ext cx="228600" cy="228600"/>
          </a:xfrm>
          <a:prstGeom prst="rect">
            <a:avLst/>
          </a:prstGeom>
          <a:noFill/>
          <a:ln/>
        </p:spPr>
        <p:txBody>
          <a:bodyPr wrap="square" lIns="0" tIns="0" rIns="0" bIns="0" rtlCol="0" anchor="ctr"/>
          <a:lstStyle/>
          <a:p>
            <a:pPr algn="ctr" indent="0" marL="0">
              <a:buNone/>
            </a:pPr>
            <a:r>
              <a:rPr lang="en-US" sz="1000" dirty="0">
                <a:solidFill>
                  <a:srgbClr val="FF8FB3"/>
                </a:solidFill>
              </a:rPr>
              <a:t>✦</a:t>
            </a:r>
            <a:endParaRPr lang="en-US" sz="1000" dirty="0"/>
          </a:p>
        </p:txBody>
      </p:sp>
      <p:sp>
        <p:nvSpPr>
          <p:cNvPr id="5" name="Text 3"/>
          <p:cNvSpPr/>
          <p:nvPr/>
        </p:nvSpPr>
        <p:spPr>
          <a:xfrm>
            <a:off x="11338560" y="6035040"/>
            <a:ext cx="274320" cy="274320"/>
          </a:xfrm>
          <a:prstGeom prst="rect">
            <a:avLst/>
          </a:prstGeom>
          <a:noFill/>
          <a:ln/>
        </p:spPr>
        <p:txBody>
          <a:bodyPr wrap="square" lIns="0" tIns="0" rIns="0" bIns="0" rtlCol="0" anchor="ctr"/>
          <a:lstStyle/>
          <a:p>
            <a:pPr algn="ctr" indent="0" marL="0">
              <a:buNone/>
            </a:pPr>
            <a:r>
              <a:rPr lang="en-US" sz="1200" dirty="0">
                <a:solidFill>
                  <a:srgbClr val="8B7FE8"/>
                </a:solidFill>
              </a:rPr>
              <a:t>✦</a:t>
            </a:r>
            <a:endParaRPr lang="en-US" sz="1200" dirty="0"/>
          </a:p>
        </p:txBody>
      </p:sp>
      <p:sp>
        <p:nvSpPr>
          <p:cNvPr id="6" name="Shape 4"/>
          <p:cNvSpPr/>
          <p:nvPr/>
        </p:nvSpPr>
        <p:spPr>
          <a:xfrm rot="-90000">
            <a:off x="1874520" y="1325880"/>
            <a:ext cx="8805672" cy="777240"/>
          </a:xfrm>
          <a:prstGeom prst="roundRect">
            <a:avLst>
              <a:gd name="adj" fmla="val 17647"/>
            </a:avLst>
          </a:prstGeom>
          <a:solidFill>
            <a:srgbClr val="FFC94A"/>
          </a:solidFill>
          <a:ln/>
        </p:spPr>
      </p:sp>
      <p:sp>
        <p:nvSpPr>
          <p:cNvPr id="7" name="Shape 5"/>
          <p:cNvSpPr/>
          <p:nvPr/>
        </p:nvSpPr>
        <p:spPr>
          <a:xfrm>
            <a:off x="1691640" y="1188720"/>
            <a:ext cx="8805672" cy="777240"/>
          </a:xfrm>
          <a:prstGeom prst="roundRect">
            <a:avLst>
              <a:gd name="adj" fmla="val 17647"/>
            </a:avLst>
          </a:prstGeom>
          <a:solidFill>
            <a:srgbClr val="8B7FE8"/>
          </a:solidFill>
          <a:ln/>
        </p:spPr>
      </p:sp>
      <p:pic>
        <p:nvPicPr>
          <p:cNvPr id="8" name="Image 0" descr="preencoded.png">    </p:cNvPr>
          <p:cNvPicPr>
            <a:picLocks noChangeAspect="1"/>
          </p:cNvPicPr>
          <p:nvPr/>
        </p:nvPicPr>
        <p:blipFill>
          <a:blip r:embed="rId1"/>
          <a:stretch>
            <a:fillRect/>
          </a:stretch>
        </p:blipFill>
        <p:spPr>
          <a:xfrm>
            <a:off x="5870448" y="1348740"/>
            <a:ext cx="457200" cy="457200"/>
          </a:xfrm>
          <a:prstGeom prst="rect">
            <a:avLst/>
          </a:prstGeom>
        </p:spPr>
      </p:pic>
      <p:sp>
        <p:nvSpPr>
          <p:cNvPr id="9" name="Text 6"/>
          <p:cNvSpPr/>
          <p:nvPr/>
        </p:nvSpPr>
        <p:spPr>
          <a:xfrm>
            <a:off x="1691640" y="1188720"/>
            <a:ext cx="8805672" cy="777240"/>
          </a:xfrm>
          <a:prstGeom prst="rect">
            <a:avLst/>
          </a:prstGeom>
          <a:noFill/>
          <a:ln/>
        </p:spPr>
        <p:txBody>
          <a:bodyPr wrap="square" lIns="0" tIns="0" rIns="0" bIns="0" rtlCol="0" anchor="b"/>
          <a:lstStyle/>
          <a:p>
            <a:pPr algn="ctr" indent="0" marL="0">
              <a:buNone/>
            </a:pPr>
            <a:r>
              <a:rPr lang="en-US" sz="1200" b="1" spc="200" kern="0" dirty="0">
                <a:solidFill>
                  <a:srgbClr val="FFF6DC"/>
                </a:solidFill>
                <a:latin typeface="Calibri" pitchFamily="34" charset="0"/>
                <a:ea typeface="Calibri" pitchFamily="34" charset="-122"/>
                <a:cs typeface="Calibri" pitchFamily="34" charset="-120"/>
              </a:rPr>
              <a:t>MINI PROJECT</a:t>
            </a:r>
            <a:endParaRPr lang="en-US" sz="1200" dirty="0"/>
          </a:p>
        </p:txBody>
      </p:sp>
      <p:sp>
        <p:nvSpPr>
          <p:cNvPr id="10" name="Text 7"/>
          <p:cNvSpPr/>
          <p:nvPr/>
        </p:nvSpPr>
        <p:spPr>
          <a:xfrm>
            <a:off x="1097280" y="2331720"/>
            <a:ext cx="9994392" cy="1920240"/>
          </a:xfrm>
          <a:prstGeom prst="rect">
            <a:avLst/>
          </a:prstGeom>
          <a:noFill/>
          <a:ln/>
        </p:spPr>
        <p:txBody>
          <a:bodyPr wrap="square" lIns="0" tIns="0" rIns="0" bIns="0" rtlCol="0" anchor="t"/>
          <a:lstStyle/>
          <a:p>
            <a:pPr algn="ctr" indent="0" marL="0">
              <a:buNone/>
            </a:pPr>
            <a:r>
              <a:rPr lang="en-US" sz="2900" b="1" dirty="0">
                <a:solidFill>
                  <a:srgbClr val="2D2A4A"/>
                </a:solidFill>
                <a:latin typeface="Century Gothic" pitchFamily="34" charset="0"/>
                <a:ea typeface="Century Gothic" pitchFamily="34" charset="-122"/>
                <a:cs typeface="Century Gothic" pitchFamily="34" charset="-120"/>
              </a:rPr>
              <a:t>Put It All Together</a:t>
            </a:r>
            <a:endParaRPr lang="en-US" sz="2900" dirty="0"/>
          </a:p>
        </p:txBody>
      </p:sp>
      <p:sp>
        <p:nvSpPr>
          <p:cNvPr id="11" name="Text 8"/>
          <p:cNvSpPr/>
          <p:nvPr/>
        </p:nvSpPr>
        <p:spPr>
          <a:xfrm>
            <a:off x="1737360" y="4434840"/>
            <a:ext cx="8714232" cy="1097280"/>
          </a:xfrm>
          <a:prstGeom prst="rect">
            <a:avLst/>
          </a:prstGeom>
          <a:noFill/>
          <a:ln/>
        </p:spPr>
        <p:txBody>
          <a:bodyPr wrap="square" lIns="0" tIns="0" rIns="0" bIns="0" rtlCol="0" anchor="t"/>
          <a:lstStyle/>
          <a:p>
            <a:pPr algn="ctr" indent="0" marL="0">
              <a:buNone/>
            </a:pPr>
            <a:r>
              <a:rPr lang="en-US" sz="1500" dirty="0">
                <a:solidFill>
                  <a:srgbClr val="685F8F"/>
                </a:solidFill>
                <a:latin typeface="Calibri" pitchFamily="34" charset="0"/>
                <a:ea typeface="Calibri" pitchFamily="34" charset="-122"/>
                <a:cs typeface="Calibri" pitchFamily="34" charset="-120"/>
              </a:rPr>
              <a:t>Profile a real dataset from the ground up, using every skill from this session</a:t>
            </a:r>
            <a:endParaRPr lang="en-US" sz="1500" dirty="0"/>
          </a:p>
        </p:txBody>
      </p:sp>
      <p:sp>
        <p:nvSpPr>
          <p:cNvPr id="12" name="Text 9"/>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65</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AF8FF"/>
        </a:solidFill>
      </p:bgPr>
    </p:bg>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rgbClr val="8B7FE8"/>
          </a:solidFill>
          <a:ln/>
        </p:spPr>
      </p:sp>
      <p:pic>
        <p:nvPicPr>
          <p:cNvPr id="3" name="Image 0" descr="preencoded.png">    </p:cNvPr>
          <p:cNvPicPr>
            <a:picLocks noChangeAspect="1"/>
          </p:cNvPicPr>
          <p:nvPr/>
        </p:nvPicPr>
        <p:blipFill>
          <a:blip r:embed="rId1"/>
          <a:stretch>
            <a:fillRect/>
          </a:stretch>
        </p:blipFill>
        <p:spPr>
          <a:xfrm>
            <a:off x="548640" y="548640"/>
            <a:ext cx="448056" cy="448056"/>
          </a:xfrm>
          <a:prstGeom prst="rect">
            <a:avLst/>
          </a:prstGeom>
        </p:spPr>
      </p:pic>
      <p:sp>
        <p:nvSpPr>
          <p:cNvPr id="4" name="Text 1"/>
          <p:cNvSpPr/>
          <p:nvPr/>
        </p:nvSpPr>
        <p:spPr>
          <a:xfrm>
            <a:off x="1280160" y="457200"/>
            <a:ext cx="10424160" cy="640080"/>
          </a:xfrm>
          <a:prstGeom prst="rect">
            <a:avLst/>
          </a:prstGeom>
          <a:noFill/>
          <a:ln/>
        </p:spPr>
        <p:txBody>
          <a:bodyPr wrap="square" lIns="0" tIns="0" rIns="0" bIns="0" rtlCol="0" anchor="ctr"/>
          <a:lstStyle/>
          <a:p>
            <a:pPr indent="0" marL="0">
              <a:buNone/>
            </a:pPr>
            <a:r>
              <a:rPr lang="en-US" sz="2400" b="1" dirty="0">
                <a:solidFill>
                  <a:srgbClr val="2D2A4A"/>
                </a:solidFill>
                <a:latin typeface="Century Gothic" pitchFamily="34" charset="0"/>
                <a:ea typeface="Century Gothic" pitchFamily="34" charset="-122"/>
                <a:cs typeface="Century Gothic" pitchFamily="34" charset="-120"/>
              </a:rPr>
              <a:t>Mini Project: Profile a Real Dataset</a:t>
            </a:r>
            <a:endParaRPr lang="en-US" sz="2400" dirty="0"/>
          </a:p>
        </p:txBody>
      </p:sp>
      <p:sp>
        <p:nvSpPr>
          <p:cNvPr id="5" name="Shape 2"/>
          <p:cNvSpPr/>
          <p:nvPr/>
        </p:nvSpPr>
        <p:spPr>
          <a:xfrm>
            <a:off x="457200" y="1207008"/>
            <a:ext cx="11274552" cy="0"/>
          </a:xfrm>
          <a:prstGeom prst="line">
            <a:avLst/>
          </a:prstGeom>
          <a:noFill/>
          <a:ln w="19050">
            <a:solidFill>
              <a:srgbClr val="D8D2F5"/>
            </a:solidFill>
            <a:prstDash val="solid"/>
          </a:ln>
        </p:spPr>
      </p:sp>
      <p:sp>
        <p:nvSpPr>
          <p:cNvPr id="6" name="Shape 3"/>
          <p:cNvSpPr/>
          <p:nvPr/>
        </p:nvSpPr>
        <p:spPr>
          <a:xfrm>
            <a:off x="457200" y="1554480"/>
            <a:ext cx="3657600" cy="4663440"/>
          </a:xfrm>
          <a:prstGeom prst="roundRect">
            <a:avLst>
              <a:gd name="adj" fmla="val 4500"/>
            </a:avLst>
          </a:prstGeom>
          <a:solidFill>
            <a:srgbClr val="EDE9FE"/>
          </a:solidFill>
          <a:ln w="12700">
            <a:solidFill>
              <a:srgbClr val="D8D2F5"/>
            </a:solidFill>
            <a:prstDash val="solid"/>
          </a:ln>
        </p:spPr>
      </p:sp>
      <p:sp>
        <p:nvSpPr>
          <p:cNvPr id="7" name="Shape 4"/>
          <p:cNvSpPr/>
          <p:nvPr/>
        </p:nvSpPr>
        <p:spPr>
          <a:xfrm>
            <a:off x="1508760" y="2194560"/>
            <a:ext cx="1554480" cy="1554480"/>
          </a:xfrm>
          <a:prstGeom prst="ellipse">
            <a:avLst/>
          </a:prstGeom>
          <a:solidFill>
            <a:srgbClr val="8B7FE8"/>
          </a:solidFill>
          <a:ln/>
        </p:spPr>
      </p:sp>
      <p:pic>
        <p:nvPicPr>
          <p:cNvPr id="8" name="Image 1" descr="preencoded.png">    </p:cNvPr>
          <p:cNvPicPr>
            <a:picLocks noChangeAspect="1"/>
          </p:cNvPicPr>
          <p:nvPr/>
        </p:nvPicPr>
        <p:blipFill>
          <a:blip r:embed="rId2"/>
          <a:stretch>
            <a:fillRect/>
          </a:stretch>
        </p:blipFill>
        <p:spPr>
          <a:xfrm>
            <a:off x="1746504" y="2423160"/>
            <a:ext cx="1088136" cy="1088136"/>
          </a:xfrm>
          <a:prstGeom prst="rect">
            <a:avLst/>
          </a:prstGeom>
        </p:spPr>
      </p:pic>
      <p:sp>
        <p:nvSpPr>
          <p:cNvPr id="9" name="Text 5"/>
          <p:cNvSpPr/>
          <p:nvPr/>
        </p:nvSpPr>
        <p:spPr>
          <a:xfrm>
            <a:off x="640080" y="3977640"/>
            <a:ext cx="3291840" cy="1737360"/>
          </a:xfrm>
          <a:prstGeom prst="rect">
            <a:avLst/>
          </a:prstGeom>
          <a:noFill/>
          <a:ln/>
        </p:spPr>
        <p:txBody>
          <a:bodyPr wrap="square" lIns="0" tIns="0" rIns="0" bIns="0" rtlCol="0" anchor="t"/>
          <a:lstStyle/>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Every skill</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from today,</a:t>
            </a:r>
            <a:endParaRPr lang="en-US" sz="1600" dirty="0"/>
          </a:p>
          <a:p>
            <a:pPr algn="ctr" indent="0" marL="0">
              <a:buNone/>
            </a:pPr>
            <a:r>
              <a:rPr lang="en-US" sz="1600" b="1" dirty="0">
                <a:solidFill>
                  <a:srgbClr val="2D2A4A"/>
                </a:solidFill>
                <a:latin typeface="Century Gothic" pitchFamily="34" charset="0"/>
                <a:ea typeface="Century Gothic" pitchFamily="34" charset="-122"/>
                <a:cs typeface="Century Gothic" pitchFamily="34" charset="-120"/>
              </a:rPr>
              <a:t>combined</a:t>
            </a:r>
            <a:endParaRPr lang="en-US" sz="1600" dirty="0"/>
          </a:p>
        </p:txBody>
      </p:sp>
      <p:sp>
        <p:nvSpPr>
          <p:cNvPr id="10" name="Text 6"/>
          <p:cNvSpPr/>
          <p:nvPr/>
        </p:nvSpPr>
        <p:spPr>
          <a:xfrm>
            <a:off x="4572000" y="1737360"/>
            <a:ext cx="7132320" cy="4114800"/>
          </a:xfrm>
          <a:prstGeom prst="rect">
            <a:avLst/>
          </a:prstGeom>
          <a:noFill/>
          <a:ln/>
        </p:spPr>
        <p:txBody>
          <a:bodyPr wrap="square" lIns="0" tIns="0" rIns="0" bIns="0" rtlCol="0" anchor="t"/>
          <a:lstStyle/>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Choose any small, real dataset (or a provided one), and classify every column by data type and measurement scale</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State whether the data is primary or secondary, and identify a plausible source of both random error and systematic bias in how it might have been collected</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For three different columns, choose and justify an appropriate chart — one categorical, one numerical distribution, and one relationship between two variables</a:t>
            </a:r>
            <a:endParaRPr lang="en-US" sz="1600" dirty="0"/>
          </a:p>
          <a:p>
            <a:pPr marL="228600" indent="-228600">
              <a:lnSpc>
                <a:spcPct val="120000"/>
              </a:lnSpc>
              <a:spcAft>
                <a:spcPts val="1400"/>
              </a:spcAft>
              <a:buSzPct val="100000"/>
              <a:buChar char="•"/>
            </a:pPr>
            <a:r>
              <a:rPr lang="en-US" sz="1600" dirty="0">
                <a:solidFill>
                  <a:srgbClr val="2D2A4A"/>
                </a:solidFill>
                <a:latin typeface="Calibri" pitchFamily="34" charset="0"/>
                <a:ea typeface="Calibri" pitchFamily="34" charset="-122"/>
                <a:cs typeface="Calibri" pitchFamily="34" charset="-120"/>
              </a:rPr>
              <a:t>Calculate mean, median, and mode for the key numerical column, and write a short, honest summary of what "typical" looks like in this dataset</a:t>
            </a:r>
            <a:endParaRPr lang="en-US" sz="1600" dirty="0"/>
          </a:p>
        </p:txBody>
      </p:sp>
      <p:sp>
        <p:nvSpPr>
          <p:cNvPr id="11" name="Text 7"/>
          <p:cNvSpPr/>
          <p:nvPr/>
        </p:nvSpPr>
        <p:spPr>
          <a:xfrm>
            <a:off x="457200" y="6446520"/>
            <a:ext cx="8686800" cy="274320"/>
          </a:xfrm>
          <a:prstGeom prst="rect">
            <a:avLst/>
          </a:prstGeom>
          <a:noFill/>
          <a:ln/>
        </p:spPr>
        <p:txBody>
          <a:bodyPr wrap="square" lIns="0" tIns="0" rIns="0" bIns="0" rtlCol="0" anchor="ctr"/>
          <a:lstStyle/>
          <a:p>
            <a:pPr indent="0" marL="0">
              <a:buNone/>
            </a:pPr>
            <a:r>
              <a:rPr lang="en-US" sz="950" dirty="0">
                <a:solidFill>
                  <a:srgbClr val="685F8F"/>
                </a:solidFill>
                <a:latin typeface="Calibri" pitchFamily="34" charset="0"/>
                <a:ea typeface="Calibri" pitchFamily="34" charset="-122"/>
                <a:cs typeface="Calibri" pitchFamily="34" charset="-120"/>
              </a:rPr>
              <a:t>CodeByPaxto: The AI &amp; ML Playground  ·  Hafiz Waseem Ahmed (Paxto)</a:t>
            </a:r>
            <a:endParaRPr lang="en-US" sz="950" dirty="0"/>
          </a:p>
        </p:txBody>
      </p:sp>
      <p:sp>
        <p:nvSpPr>
          <p:cNvPr id="12" name="Text 8"/>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66</a:t>
            </a: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AF8FF"/>
        </a:solidFill>
      </p:bgPr>
    </p:bg>
    <p:spTree>
      <p:nvGrpSpPr>
        <p:cNvPr id="1" name=""/>
        <p:cNvGrpSpPr/>
        <p:nvPr/>
      </p:nvGrpSpPr>
      <p:grpSpPr>
        <a:xfrm>
          <a:off x="0" y="0"/>
          <a:ext cx="0" cy="0"/>
          <a:chOff x="0" y="0"/>
          <a:chExt cx="0" cy="0"/>
        </a:xfrm>
      </p:grpSpPr>
      <p:sp>
        <p:nvSpPr>
          <p:cNvPr id="2" name="Text 0"/>
          <p:cNvSpPr/>
          <p:nvPr/>
        </p:nvSpPr>
        <p:spPr>
          <a:xfrm>
            <a:off x="457200" y="457200"/>
            <a:ext cx="274320" cy="274320"/>
          </a:xfrm>
          <a:prstGeom prst="rect">
            <a:avLst/>
          </a:prstGeom>
          <a:noFill/>
          <a:ln/>
        </p:spPr>
        <p:txBody>
          <a:bodyPr wrap="square" lIns="0" tIns="0" rIns="0" bIns="0" rtlCol="0" anchor="ctr"/>
          <a:lstStyle/>
          <a:p>
            <a:pPr algn="ctr" indent="0" marL="0">
              <a:buNone/>
            </a:pPr>
            <a:r>
              <a:rPr lang="en-US" sz="1200" dirty="0">
                <a:solidFill>
                  <a:srgbClr val="5FD6B0"/>
                </a:solidFill>
              </a:rPr>
              <a:t>✦</a:t>
            </a:r>
            <a:endParaRPr lang="en-US" sz="1200" dirty="0"/>
          </a:p>
        </p:txBody>
      </p:sp>
      <p:sp>
        <p:nvSpPr>
          <p:cNvPr id="3" name="Text 1"/>
          <p:cNvSpPr/>
          <p:nvPr/>
        </p:nvSpPr>
        <p:spPr>
          <a:xfrm>
            <a:off x="11247120" y="548640"/>
            <a:ext cx="201168" cy="201168"/>
          </a:xfrm>
          <a:prstGeom prst="rect">
            <a:avLst/>
          </a:prstGeom>
          <a:noFill/>
          <a:ln/>
        </p:spPr>
        <p:txBody>
          <a:bodyPr wrap="square" lIns="0" tIns="0" rIns="0" bIns="0" rtlCol="0" anchor="ctr"/>
          <a:lstStyle/>
          <a:p>
            <a:pPr algn="ctr" indent="0" marL="0">
              <a:buNone/>
            </a:pPr>
            <a:r>
              <a:rPr lang="en-US" sz="880" dirty="0">
                <a:solidFill>
                  <a:srgbClr val="FFC94A"/>
                </a:solidFill>
              </a:rPr>
              <a:t>✦</a:t>
            </a:r>
            <a:endParaRPr lang="en-US" sz="880" dirty="0"/>
          </a:p>
        </p:txBody>
      </p:sp>
      <p:sp>
        <p:nvSpPr>
          <p:cNvPr id="4" name="Text 2"/>
          <p:cNvSpPr/>
          <p:nvPr/>
        </p:nvSpPr>
        <p:spPr>
          <a:xfrm>
            <a:off x="640080" y="6126480"/>
            <a:ext cx="228600" cy="228600"/>
          </a:xfrm>
          <a:prstGeom prst="rect">
            <a:avLst/>
          </a:prstGeom>
          <a:noFill/>
          <a:ln/>
        </p:spPr>
        <p:txBody>
          <a:bodyPr wrap="square" lIns="0" tIns="0" rIns="0" bIns="0" rtlCol="0" anchor="ctr"/>
          <a:lstStyle/>
          <a:p>
            <a:pPr algn="ctr" indent="0" marL="0">
              <a:buNone/>
            </a:pPr>
            <a:r>
              <a:rPr lang="en-US" sz="1000" dirty="0">
                <a:solidFill>
                  <a:srgbClr val="FF8FB3"/>
                </a:solidFill>
              </a:rPr>
              <a:t>✦</a:t>
            </a:r>
            <a:endParaRPr lang="en-US" sz="1000" dirty="0"/>
          </a:p>
        </p:txBody>
      </p:sp>
      <p:sp>
        <p:nvSpPr>
          <p:cNvPr id="5" name="Text 3"/>
          <p:cNvSpPr/>
          <p:nvPr/>
        </p:nvSpPr>
        <p:spPr>
          <a:xfrm>
            <a:off x="11338560" y="6035040"/>
            <a:ext cx="274320" cy="274320"/>
          </a:xfrm>
          <a:prstGeom prst="rect">
            <a:avLst/>
          </a:prstGeom>
          <a:noFill/>
          <a:ln/>
        </p:spPr>
        <p:txBody>
          <a:bodyPr wrap="square" lIns="0" tIns="0" rIns="0" bIns="0" rtlCol="0" anchor="ctr"/>
          <a:lstStyle/>
          <a:p>
            <a:pPr algn="ctr" indent="0" marL="0">
              <a:buNone/>
            </a:pPr>
            <a:r>
              <a:rPr lang="en-US" sz="1200" dirty="0">
                <a:solidFill>
                  <a:srgbClr val="8B7FE8"/>
                </a:solidFill>
              </a:rPr>
              <a:t>✦</a:t>
            </a:r>
            <a:endParaRPr lang="en-US" sz="1200" dirty="0"/>
          </a:p>
        </p:txBody>
      </p:sp>
      <p:sp>
        <p:nvSpPr>
          <p:cNvPr id="6" name="Shape 4"/>
          <p:cNvSpPr/>
          <p:nvPr/>
        </p:nvSpPr>
        <p:spPr>
          <a:xfrm rot="-90000">
            <a:off x="1874520" y="1325880"/>
            <a:ext cx="8805672" cy="777240"/>
          </a:xfrm>
          <a:prstGeom prst="roundRect">
            <a:avLst>
              <a:gd name="adj" fmla="val 17647"/>
            </a:avLst>
          </a:prstGeom>
          <a:solidFill>
            <a:srgbClr val="FFC94A"/>
          </a:solidFill>
          <a:ln/>
        </p:spPr>
      </p:sp>
      <p:sp>
        <p:nvSpPr>
          <p:cNvPr id="7" name="Shape 5"/>
          <p:cNvSpPr/>
          <p:nvPr/>
        </p:nvSpPr>
        <p:spPr>
          <a:xfrm>
            <a:off x="1691640" y="1188720"/>
            <a:ext cx="8805672" cy="777240"/>
          </a:xfrm>
          <a:prstGeom prst="roundRect">
            <a:avLst>
              <a:gd name="adj" fmla="val 17647"/>
            </a:avLst>
          </a:prstGeom>
          <a:solidFill>
            <a:srgbClr val="8B7FE8"/>
          </a:solidFill>
          <a:ln/>
        </p:spPr>
      </p:sp>
      <p:pic>
        <p:nvPicPr>
          <p:cNvPr id="8" name="Image 0" descr="preencoded.png">    </p:cNvPr>
          <p:cNvPicPr>
            <a:picLocks noChangeAspect="1"/>
          </p:cNvPicPr>
          <p:nvPr/>
        </p:nvPicPr>
        <p:blipFill>
          <a:blip r:embed="rId1"/>
          <a:stretch>
            <a:fillRect/>
          </a:stretch>
        </p:blipFill>
        <p:spPr>
          <a:xfrm>
            <a:off x="5870448" y="1348740"/>
            <a:ext cx="457200" cy="457200"/>
          </a:xfrm>
          <a:prstGeom prst="rect">
            <a:avLst/>
          </a:prstGeom>
        </p:spPr>
      </p:pic>
      <p:sp>
        <p:nvSpPr>
          <p:cNvPr id="9" name="Text 6"/>
          <p:cNvSpPr/>
          <p:nvPr/>
        </p:nvSpPr>
        <p:spPr>
          <a:xfrm>
            <a:off x="1691640" y="1188720"/>
            <a:ext cx="8805672" cy="777240"/>
          </a:xfrm>
          <a:prstGeom prst="rect">
            <a:avLst/>
          </a:prstGeom>
          <a:noFill/>
          <a:ln/>
        </p:spPr>
        <p:txBody>
          <a:bodyPr wrap="square" lIns="0" tIns="0" rIns="0" bIns="0" rtlCol="0" anchor="b"/>
          <a:lstStyle/>
          <a:p>
            <a:pPr algn="ctr" indent="0" marL="0">
              <a:buNone/>
            </a:pPr>
            <a:r>
              <a:rPr lang="en-US" sz="1200" b="1" spc="200" kern="0" dirty="0">
                <a:solidFill>
                  <a:srgbClr val="FFF6DC"/>
                </a:solidFill>
                <a:latin typeface="Calibri" pitchFamily="34" charset="0"/>
                <a:ea typeface="Calibri" pitchFamily="34" charset="-122"/>
                <a:cs typeface="Calibri" pitchFamily="34" charset="-120"/>
              </a:rPr>
              <a:t>RECAP</a:t>
            </a:r>
            <a:endParaRPr lang="en-US" sz="1200" dirty="0"/>
          </a:p>
        </p:txBody>
      </p:sp>
      <p:sp>
        <p:nvSpPr>
          <p:cNvPr id="10" name="Text 7"/>
          <p:cNvSpPr/>
          <p:nvPr/>
        </p:nvSpPr>
        <p:spPr>
          <a:xfrm>
            <a:off x="1097280" y="2331720"/>
            <a:ext cx="9994392" cy="1920240"/>
          </a:xfrm>
          <a:prstGeom prst="rect">
            <a:avLst/>
          </a:prstGeom>
          <a:noFill/>
          <a:ln/>
        </p:spPr>
        <p:txBody>
          <a:bodyPr wrap="square" lIns="0" tIns="0" rIns="0" bIns="0" rtlCol="0" anchor="t"/>
          <a:lstStyle/>
          <a:p>
            <a:pPr algn="ctr" indent="0" marL="0">
              <a:buNone/>
            </a:pPr>
            <a:r>
              <a:rPr lang="en-US" sz="2900" b="1" dirty="0">
                <a:solidFill>
                  <a:srgbClr val="2D2A4A"/>
                </a:solidFill>
                <a:latin typeface="Century Gothic" pitchFamily="34" charset="0"/>
                <a:ea typeface="Century Gothic" pitchFamily="34" charset="-122"/>
                <a:cs typeface="Century Gothic" pitchFamily="34" charset="-120"/>
              </a:rPr>
              <a:t>Before any statistic means anything, you need to know your data’s type, where it could have gone wrong, and the right picture to show it with.</a:t>
            </a:r>
            <a:endParaRPr lang="en-US" sz="2900" dirty="0"/>
          </a:p>
        </p:txBody>
      </p:sp>
      <p:sp>
        <p:nvSpPr>
          <p:cNvPr id="11" name="Text 8"/>
          <p:cNvSpPr/>
          <p:nvPr/>
        </p:nvSpPr>
        <p:spPr>
          <a:xfrm>
            <a:off x="1737360" y="4434840"/>
            <a:ext cx="8714232" cy="1097280"/>
          </a:xfrm>
          <a:prstGeom prst="rect">
            <a:avLst/>
          </a:prstGeom>
          <a:noFill/>
          <a:ln/>
        </p:spPr>
        <p:txBody>
          <a:bodyPr wrap="square" lIns="0" tIns="0" rIns="0" bIns="0" rtlCol="0" anchor="t"/>
          <a:lstStyle/>
          <a:p>
            <a:pPr algn="ctr" indent="0" marL="0">
              <a:buNone/>
            </a:pPr>
            <a:r>
              <a:rPr lang="en-US" sz="1500" dirty="0">
                <a:solidFill>
                  <a:srgbClr val="685F8F"/>
                </a:solidFill>
                <a:latin typeface="Calibri" pitchFamily="34" charset="0"/>
                <a:ea typeface="Calibri" pitchFamily="34" charset="-122"/>
                <a:cs typeface="Calibri" pitchFamily="34" charset="-120"/>
              </a:rPr>
              <a:t>Next session: Descriptive Statistics II — measures of spread, distribution shape, and correlation</a:t>
            </a:r>
            <a:endParaRPr lang="en-US" sz="1500" dirty="0"/>
          </a:p>
        </p:txBody>
      </p:sp>
      <p:sp>
        <p:nvSpPr>
          <p:cNvPr id="12" name="Text 9"/>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85F8F"/>
                </a:solidFill>
                <a:latin typeface="Calibri" pitchFamily="34" charset="0"/>
                <a:ea typeface="Calibri" pitchFamily="34" charset="-122"/>
                <a:cs typeface="Calibri" pitchFamily="34" charset="-120"/>
              </a:rPr>
              <a:t>67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2026-08-23T07:16:31Z</dcterms:created>
  <dcterms:modified xsi:type="dcterms:W3CDTF">2026-08-23T07:16:31Z</dcterms:modified>
</cp:coreProperties>
</file>