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12192000" cy="6858000"/>
  <p:notesSz cx="6858000" cy="12192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C1C8C0-DB86-450E-BF46-F11E5D81E819}" v="1" dt="2026-08-21T15:51:52.0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fiz Waseem Ahmed" userId="8a6b23c944322495" providerId="LiveId" clId="{E7CEC0E6-1526-4834-A6B2-B1E975D7A869}"/>
    <pc:docChg chg="modSld">
      <pc:chgData name="Hafiz Waseem Ahmed" userId="8a6b23c944322495" providerId="LiveId" clId="{E7CEC0E6-1526-4834-A6B2-B1E975D7A869}" dt="2026-08-21T16:12:58.588" v="65" actId="403"/>
      <pc:docMkLst>
        <pc:docMk/>
      </pc:docMkLst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56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57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5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59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0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1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2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3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4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5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6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7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69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0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1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2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3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4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5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6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7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79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0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1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2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3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4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5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6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7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89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0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1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2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3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4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5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6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7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299"/>
        </pc:sldMkLst>
      </pc:sldChg>
      <pc:sldChg chg="modSp mod modTransition">
        <pc:chgData name="Hafiz Waseem Ahmed" userId="8a6b23c944322495" providerId="LiveId" clId="{E7CEC0E6-1526-4834-A6B2-B1E975D7A869}" dt="2026-08-21T15:56:09.544" v="49" actId="20577"/>
        <pc:sldMkLst>
          <pc:docMk/>
          <pc:sldMk cId="0" sldId="300"/>
        </pc:sldMkLst>
        <pc:spChg chg="mod">
          <ac:chgData name="Hafiz Waseem Ahmed" userId="8a6b23c944322495" providerId="LiveId" clId="{E7CEC0E6-1526-4834-A6B2-B1E975D7A869}" dt="2026-08-21T15:56:09.544" v="49" actId="20577"/>
          <ac:spMkLst>
            <pc:docMk/>
            <pc:sldMk cId="0" sldId="300"/>
            <ac:spMk id="541" creationId="{00000000-0000-0000-0000-000000000000}"/>
          </ac:spMkLst>
        </pc:spChg>
      </pc:sldChg>
      <pc:sldChg chg="modSp mod modTransition">
        <pc:chgData name="Hafiz Waseem Ahmed" userId="8a6b23c944322495" providerId="LiveId" clId="{E7CEC0E6-1526-4834-A6B2-B1E975D7A869}" dt="2026-08-21T16:12:08.006" v="55" actId="403"/>
        <pc:sldMkLst>
          <pc:docMk/>
          <pc:sldMk cId="0" sldId="301"/>
        </pc:sldMkLst>
        <pc:spChg chg="mod">
          <ac:chgData name="Hafiz Waseem Ahmed" userId="8a6b23c944322495" providerId="LiveId" clId="{E7CEC0E6-1526-4834-A6B2-B1E975D7A869}" dt="2026-08-21T16:11:09.297" v="54" actId="403"/>
          <ac:spMkLst>
            <pc:docMk/>
            <pc:sldMk cId="0" sldId="301"/>
            <ac:spMk id="551" creationId="{00000000-0000-0000-0000-000000000000}"/>
          </ac:spMkLst>
        </pc:spChg>
        <pc:spChg chg="mod">
          <ac:chgData name="Hafiz Waseem Ahmed" userId="8a6b23c944322495" providerId="LiveId" clId="{E7CEC0E6-1526-4834-A6B2-B1E975D7A869}" dt="2026-08-21T16:12:08.006" v="55" actId="403"/>
          <ac:spMkLst>
            <pc:docMk/>
            <pc:sldMk cId="0" sldId="301"/>
            <ac:spMk id="553" creationId="{00000000-0000-0000-0000-000000000000}"/>
          </ac:spMkLst>
        </pc:spChg>
      </pc:sldChg>
      <pc:sldChg chg="modSp mod modTransition">
        <pc:chgData name="Hafiz Waseem Ahmed" userId="8a6b23c944322495" providerId="LiveId" clId="{E7CEC0E6-1526-4834-A6B2-B1E975D7A869}" dt="2026-08-21T16:12:58.588" v="65" actId="403"/>
        <pc:sldMkLst>
          <pc:docMk/>
          <pc:sldMk cId="0" sldId="302"/>
        </pc:sldMkLst>
        <pc:spChg chg="mod">
          <ac:chgData name="Hafiz Waseem Ahmed" userId="8a6b23c944322495" providerId="LiveId" clId="{E7CEC0E6-1526-4834-A6B2-B1E975D7A869}" dt="2026-08-21T16:12:58.588" v="65" actId="403"/>
          <ac:spMkLst>
            <pc:docMk/>
            <pc:sldMk cId="0" sldId="302"/>
            <ac:spMk id="560" creationId="{00000000-0000-0000-0000-000000000000}"/>
          </ac:spMkLst>
        </pc:spChg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3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4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5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6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7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8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09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10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11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12"/>
        </pc:sldMkLst>
      </pc:sldChg>
      <pc:sldChg chg="modTransition">
        <pc:chgData name="Hafiz Waseem Ahmed" userId="8a6b23c944322495" providerId="LiveId" clId="{E7CEC0E6-1526-4834-A6B2-B1E975D7A869}" dt="2026-08-21T15:51:52.089" v="0"/>
        <pc:sldMkLst>
          <pc:docMk/>
          <pc:sldMk cId="0" sldId="31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B8C9599-30D0-4B76-BF4B-025CA2CD5E7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slide. This is a dense, industry-focused session — pace accordingly, likely needs 2 sittings.</a:t>
            </a:r>
          </a:p>
        </p:txBody>
      </p:sp>
      <p:sp>
        <p:nvSpPr>
          <p:cNvPr id="72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DD80C64-06C9-448B-A9DB-79307A65AC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F45DDFA-CAB2-492D-A74E-FBC96B373E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D4A0C1E-B711-4DA3-BEE2-045ACCCA57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B41427F-6AD2-43B0-922A-FF9D6039BE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grid is the pitch for the whole topic — dictionaries are not an abstract exercise, they are the real shape of real data.</a:t>
            </a:r>
          </a:p>
        </p:txBody>
      </p:sp>
      <p:sp>
        <p:nvSpPr>
          <p:cNvPr id="73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7D460D-B3F9-4CB5-8F7D-F907373C7A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F849783-7064-4093-8481-E2B5A9EB219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5D826AD-E818-4219-9728-4A8A2A59EF8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exact pattern — .get() with a fallback — is what real code uses when reading data from an API that might be missing fields.</a:t>
            </a:r>
          </a:p>
        </p:txBody>
      </p:sp>
      <p:sp>
        <p:nvSpPr>
          <p:cNvPr id="74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4522C23-F0AD-4EB6-ADD8-4394DA7FEA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8F229F2-7C95-48F0-85D2-A925C28D05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1DB1E17-7FF9-437D-A3DC-54B26B07090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emphasizing: in checks keys by default, a common early misunderstanding.</a:t>
            </a:r>
          </a:p>
        </p:txBody>
      </p:sp>
      <p:sp>
        <p:nvSpPr>
          <p:cNvPr id="75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B727FBB-7795-45D8-9755-430F8C8D9FD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9C8B2DA-EB28-4640-96F7-6B4D281FC70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payoff from the Loops session — this pattern shows up constantly in real code.</a:t>
            </a:r>
          </a:p>
        </p:txBody>
      </p:sp>
      <p:sp>
        <p:nvSpPr>
          <p:cNvPr id="76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A5ED7BC-2D49-4520-B300-3340E82741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precisely what Python's collections.Counter automates — worth mentioning that shortcut exists.</a:t>
            </a:r>
          </a:p>
        </p:txBody>
      </p:sp>
      <p:sp>
        <p:nvSpPr>
          <p:cNvPr id="76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7150EAF-0D54-49F2-BF91-6A1F2B3628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DA0C0B-8DC2-4D38-B048-E5E0E143DE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this out explicitly: this IS what real datasets look like before pandas simplifies working with them.</a:t>
            </a:r>
          </a:p>
        </p:txBody>
      </p:sp>
      <p:sp>
        <p:nvSpPr>
          <p:cNvPr id="77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C011B59-FC4C-49EE-88A4-8749EC70422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3780D81-36FF-4ABC-9045-85FEA250B1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6C2379E-31D9-43F0-91EC-987D435FB8B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D0644CC-17DE-4880-BE1B-1C3B309131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A0C119B-E64B-4F6D-A15C-C9C816F9A4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79287BD-FB34-45EE-B22E-0F2AEE9300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{} gotcha is genuinely common — worth flagging clearly.</a:t>
            </a:r>
          </a:p>
        </p:txBody>
      </p:sp>
      <p:sp>
        <p:nvSpPr>
          <p:cNvPr id="78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AB06C69-BC6B-4548-AF87-DB0DDECC7B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A304F53-204D-4489-8DA7-CF74BB9770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CCE9A2C-4E88-493A-8448-1285DFCD995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D5D5269-7BAC-46CA-92D5-7A7A1FF95F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example: "students who passed both exams" is exactly a set intersection.</a:t>
            </a:r>
          </a:p>
        </p:txBody>
      </p:sp>
      <p:sp>
        <p:nvSpPr>
          <p:cNvPr id="80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57FE3A0-651A-469C-8B83-3FDB7F9E36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9274FEE-2823-456B-AB4F-6D06D4CCD5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EAC05C3-80FF-40C6-A704-F080F4094C0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C1D55E2-39D3-485B-8553-042BE4E9B5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the time-complexity conversation from the Lists session — a genuine reason to reach for a set, not just a style choice.</a:t>
            </a:r>
          </a:p>
        </p:txBody>
      </p:sp>
      <p:sp>
        <p:nvSpPr>
          <p:cNvPr id="813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F9DE606-9E2B-4A7F-AE2D-4D2EA8B243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the time-complexity conversation from the Lists session — a genuine reason to reach for a set, not just a style choice.</a:t>
            </a:r>
          </a:p>
        </p:txBody>
      </p:sp>
      <p:sp>
        <p:nvSpPr>
          <p:cNvPr id="816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27D4931-E010-47EA-9208-134130006E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D0E4394-EB90-4831-9168-FC54ED1DFA1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EE65D6C-57F9-49F3-A238-A8C574FF06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B747DD7-F2FE-4685-A82E-5B8F0F9ACF7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565CB4A-5AF9-4D1E-8FD8-CE58BC80DD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5694B97-4483-493D-A78D-34DCD16606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E802A4C-109F-4A37-94C1-CEEFEB0C0FC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genuinely the single most common beginner confusion with functions — spend real time here.</a:t>
            </a:r>
          </a:p>
        </p:txBody>
      </p:sp>
      <p:sp>
        <p:nvSpPr>
          <p:cNvPr id="837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6BA2E97-3D77-4DCE-B52A-4A1BF1E933E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4EE1CCC-3A90-464A-BC12-D9ED78C6AB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90936A0-D53A-418D-A778-62FF3577CE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038E8BF-E7D4-4FAA-8E6C-29D739BB4F9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B30B04-03AB-4EA2-B540-D17BF024D83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satisfying callback to tuple packing/unpacking from Session 5.</a:t>
            </a:r>
          </a:p>
        </p:txBody>
      </p:sp>
      <p:sp>
        <p:nvSpPr>
          <p:cNvPr id="852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8F229EC-FF09-4295-A558-0120DE9575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important, often-confusing topic — worth a live demo, not just reading the slide.</a:t>
            </a:r>
          </a:p>
        </p:txBody>
      </p:sp>
      <p:sp>
        <p:nvSpPr>
          <p:cNvPr id="855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0F7E998-6134-4FE9-B59A-905B58CE366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This is a real, well-known interview question — worth treating with real weight, not as a footnote.</a:t>
            </a:r>
          </a:p>
        </p:txBody>
      </p:sp>
      <p:sp>
        <p:nvSpPr>
          <p:cNvPr id="858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3CE36C1-8E56-4D2E-9352-8D74F83A48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4AA5A65-5B84-40E2-9A42-38DDD5E9D6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EFCCD18-90C2-4204-9B3A-BDD38CFBF2D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side-by-side is the whole pitch for functions in one image — spend real time on it.</a:t>
            </a:r>
          </a:p>
        </p:txBody>
      </p:sp>
      <p:sp>
        <p:nvSpPr>
          <p:cNvPr id="867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45E2252-2ED2-4BC7-AF4E-5978E828E1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Ties Dictionaries and Functions together directly — a great "everything you learned today, at once" moment.</a:t>
            </a:r>
          </a:p>
        </p:txBody>
      </p:sp>
      <p:sp>
        <p:nvSpPr>
          <p:cNvPr id="870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FE6E253-A229-4D20-9C24-E11A52773FA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49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PlaceHolder 3"/>
          <p:cNvSpPr>
            <a:spLocks noGrp="1"/>
          </p:cNvSpPr>
          <p:nvPr>
            <p:ph type="sldNum" idx="5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4178D29-4EF9-409B-9857-26165399BE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50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PlaceHolder 3"/>
          <p:cNvSpPr>
            <a:spLocks noGrp="1"/>
          </p:cNvSpPr>
          <p:nvPr>
            <p:ph type="sldNum" idx="5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A88C60B-98D8-4D65-9FAE-2E9717B315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BDEE2BB-C413-4E31-821B-97E818E5F9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84267D6-05B1-452E-9357-1A144C30DF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53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BCF1E09-8ECB-4B79-838F-1A2492EFC4C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54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F95360B-1CE3-40B7-9C34-97898BAC6E8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55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PlaceHolder 3"/>
          <p:cNvSpPr>
            <a:spLocks noGrp="1"/>
          </p:cNvSpPr>
          <p:nvPr>
            <p:ph type="sldNum" idx="5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4E40E71-692C-43C6-AA8D-0BB1C303B5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PlaceHolder 3"/>
          <p:cNvSpPr>
            <a:spLocks noGrp="1"/>
          </p:cNvSpPr>
          <p:nvPr>
            <p:ph type="sldNum" idx="6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8619AE8-656D-413B-B4E8-E09B40988C7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57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revisiting the refactoring case study — ask students where THEY have repeated code that could become a function.</a:t>
            </a:r>
          </a:p>
        </p:txBody>
      </p:sp>
      <p:sp>
        <p:nvSpPr>
          <p:cNvPr id="897" name="PlaceHolder 3"/>
          <p:cNvSpPr>
            <a:spLocks noGrp="1"/>
          </p:cNvSpPr>
          <p:nvPr>
            <p:ph type="sldNum" idx="6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1DA1455-E59C-4D1A-973F-F8B49DBB35D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58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7280" cy="11872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" name="Image 0" descr="icons/addressbook.png"/>
          <p:cNvPicPr/>
          <p:nvPr/>
        </p:nvPicPr>
        <p:blipFill>
          <a:blip r:embed="rId3"/>
          <a:stretch/>
        </p:blipFill>
        <p:spPr>
          <a:xfrm>
            <a:off x="5678280" y="1092600"/>
            <a:ext cx="830520" cy="83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8640" cy="100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Dictionaries, Sets &amp; Functions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8640" cy="547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Real-World Data &amp; Reusable Logic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864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55448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03360" y="162000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" name="Image 1" descr="icons/addressbook.png"/>
          <p:cNvPicPr/>
          <p:nvPr/>
        </p:nvPicPr>
        <p:blipFill>
          <a:blip r:embed="rId3"/>
          <a:stretch/>
        </p:blipFill>
        <p:spPr>
          <a:xfrm>
            <a:off x="654120" y="167076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280160" y="155448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Dictionaries — key-value data, exactly like real APIs and databases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09592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03360" y="216144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" name="Image 2" descr="icons/key.png"/>
          <p:cNvPicPr/>
          <p:nvPr/>
        </p:nvPicPr>
        <p:blipFill>
          <a:blip r:embed="rId4"/>
          <a:stretch/>
        </p:blipFill>
        <p:spPr>
          <a:xfrm>
            <a:off x="654120" y="221220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280160" y="209592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Accessing, updating, and safely handling missing keys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63736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03360" y="270324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" name="Image 3" descr="icons/database.png"/>
          <p:cNvPicPr/>
          <p:nvPr/>
        </p:nvPicPr>
        <p:blipFill>
          <a:blip r:embed="rId5"/>
          <a:stretch/>
        </p:blipFill>
        <p:spPr>
          <a:xfrm>
            <a:off x="654120" y="275364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280160" y="263736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Nested dictionaries &amp; lists of dictionaries — how real data actually looks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17916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03360" y="324468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6" name="Image 4" descr="icons/tags.png"/>
          <p:cNvPicPr/>
          <p:nvPr/>
        </p:nvPicPr>
        <p:blipFill>
          <a:blip r:embed="rId6"/>
          <a:stretch/>
        </p:blipFill>
        <p:spPr>
          <a:xfrm>
            <a:off x="654120" y="329508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280160" y="317916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— unique values, and the four core set operations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72060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03360" y="378612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" name="Image 5" descr="icons/bolt.png"/>
          <p:cNvPicPr/>
          <p:nvPr/>
        </p:nvPicPr>
        <p:blipFill>
          <a:blip r:embed="rId7"/>
          <a:stretch/>
        </p:blipFill>
        <p:spPr>
          <a:xfrm>
            <a:off x="654120" y="383688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280160" y="372060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 sets are faster — a real performance reason to use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26204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03360" y="432756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" name="Image 6" descr="icons/cogs.png"/>
          <p:cNvPicPr/>
          <p:nvPr/>
        </p:nvPicPr>
        <p:blipFill>
          <a:blip r:embed="rId8"/>
          <a:stretch/>
        </p:blipFill>
        <p:spPr>
          <a:xfrm>
            <a:off x="654120" y="437832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280160" y="426204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Functions — why they exist, and how the industry actually uses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80348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03360" y="486936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" name="Image 7" descr="icons/globe.png"/>
          <p:cNvPicPr/>
          <p:nvPr/>
        </p:nvPicPr>
        <p:blipFill>
          <a:blip r:embed="rId9"/>
          <a:stretch/>
        </p:blipFill>
        <p:spPr>
          <a:xfrm>
            <a:off x="654120" y="491976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280160" y="480348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Scope, default arguments, and a famous Python gotcha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534528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03360" y="541080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" name="Image 8" descr="icons/recycle.png"/>
          <p:cNvPicPr/>
          <p:nvPr/>
        </p:nvPicPr>
        <p:blipFill>
          <a:blip r:embed="rId10"/>
          <a:stretch/>
        </p:blipFill>
        <p:spPr>
          <a:xfrm>
            <a:off x="654120" y="546120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280160" y="534528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Refactoring repeated code into functions — a real case study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886720"/>
            <a:ext cx="11273040" cy="46692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03360" y="5952240"/>
            <a:ext cx="335880" cy="3358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" name="Image 9" descr="icons/tasks.png"/>
          <p:cNvPicPr/>
          <p:nvPr/>
        </p:nvPicPr>
        <p:blipFill>
          <a:blip r:embed="rId11"/>
          <a:stretch/>
        </p:blipFill>
        <p:spPr>
          <a:xfrm>
            <a:off x="654120" y="6003000"/>
            <a:ext cx="234720" cy="2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280160" y="5886720"/>
            <a:ext cx="10148400" cy="46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Industry-style tasks and two mini projects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" name="Image 0" descr="icons/addressbook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data structure behind almost every API, config file, and database record you'll ever touch.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Dictionary?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4" name="Image 1" descr="icons/addressbook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Labeled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boxes, not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numbered ones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stores data as key-value pairs — a label, and the value that belongs to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real address book: you look someone up by name, not by "the 5th contact"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is organized by position (index 0, 1, 2...). A dictionary is organized by meaning (name, age, city...)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shift — from position to meaning — is why dictionaries are everywhere in real software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" name="Image 0" descr="icons/databas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45720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150660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4" name="Image 1" descr="icons/addressbook.png"/>
          <p:cNvPicPr/>
          <p:nvPr/>
        </p:nvPicPr>
        <p:blipFill>
          <a:blip r:embed="rId4"/>
          <a:stretch/>
        </p:blipFill>
        <p:spPr>
          <a:xfrm>
            <a:off x="158868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4"/>
          <p:cNvSpPr/>
          <p:nvPr/>
        </p:nvSpPr>
        <p:spPr>
          <a:xfrm>
            <a:off x="54864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Contact Lists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60336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Name → phone number, exactly like your phone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6"/>
          <p:cNvSpPr/>
          <p:nvPr/>
        </p:nvSpPr>
        <p:spPr>
          <a:xfrm>
            <a:off x="333288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Shape 7"/>
          <p:cNvSpPr/>
          <p:nvPr/>
        </p:nvSpPr>
        <p:spPr>
          <a:xfrm>
            <a:off x="438228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Image 2" descr="icons/database.png"/>
          <p:cNvPicPr/>
          <p:nvPr/>
        </p:nvPicPr>
        <p:blipFill>
          <a:blip r:embed="rId3"/>
          <a:stretch/>
        </p:blipFill>
        <p:spPr>
          <a:xfrm>
            <a:off x="446472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8"/>
          <p:cNvSpPr/>
          <p:nvPr/>
        </p:nvSpPr>
        <p:spPr>
          <a:xfrm>
            <a:off x="342432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Database Rows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347940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Column name → value, for one record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0"/>
          <p:cNvSpPr/>
          <p:nvPr/>
        </p:nvSpPr>
        <p:spPr>
          <a:xfrm>
            <a:off x="620892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725796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 3" descr="icons/code.png"/>
          <p:cNvPicPr/>
          <p:nvPr/>
        </p:nvPicPr>
        <p:blipFill>
          <a:blip r:embed="rId5"/>
          <a:stretch/>
        </p:blipFill>
        <p:spPr>
          <a:xfrm>
            <a:off x="734040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 12"/>
          <p:cNvSpPr/>
          <p:nvPr/>
        </p:nvSpPr>
        <p:spPr>
          <a:xfrm>
            <a:off x="630036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JSON from an API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3"/>
          <p:cNvSpPr/>
          <p:nvPr/>
        </p:nvSpPr>
        <p:spPr>
          <a:xfrm>
            <a:off x="635508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Nearly every web API returns data shaped exactly like a Python dict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4"/>
          <p:cNvSpPr/>
          <p:nvPr/>
        </p:nvSpPr>
        <p:spPr>
          <a:xfrm>
            <a:off x="9084600" y="1508760"/>
            <a:ext cx="2645640" cy="489060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15"/>
          <p:cNvSpPr/>
          <p:nvPr/>
        </p:nvSpPr>
        <p:spPr>
          <a:xfrm>
            <a:off x="1013400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9" name="Image 4" descr="icons/terminal.png"/>
          <p:cNvPicPr/>
          <p:nvPr/>
        </p:nvPicPr>
        <p:blipFill>
          <a:blip r:embed="rId6"/>
          <a:stretch/>
        </p:blipFill>
        <p:spPr>
          <a:xfrm>
            <a:off x="1021608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16"/>
          <p:cNvSpPr/>
          <p:nvPr/>
        </p:nvSpPr>
        <p:spPr>
          <a:xfrm>
            <a:off x="9176040" y="2717640"/>
            <a:ext cx="246276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Config Files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9230760" y="3101760"/>
            <a:ext cx="235332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Settings stored as name → value, like "volume": 80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6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{ } create a dictionary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entry is key: value,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Keys are usually strings; values can be absolutely anything — even another dictionary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"age": 25,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"city": 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print(type(contact))   # &lt;class 'dict'&gt;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4" name="Image 0" descr="icons/key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Dictionary,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548640" y="1417320"/>
            <a:ext cx="11090160" cy="50148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731520" y="1417320"/>
            <a:ext cx="10724400" cy="50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 Ali", "age": 25, "city": "Karachi"}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1828800" y="2377440"/>
            <a:ext cx="265032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Shape 5"/>
          <p:cNvSpPr/>
          <p:nvPr/>
        </p:nvSpPr>
        <p:spPr>
          <a:xfrm>
            <a:off x="192024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1828800" y="24231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1874520" y="2761560"/>
            <a:ext cx="255888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 Ali"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8"/>
          <p:cNvSpPr/>
          <p:nvPr/>
        </p:nvSpPr>
        <p:spPr>
          <a:xfrm>
            <a:off x="4617720" y="2377440"/>
            <a:ext cx="265032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470916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10"/>
          <p:cNvSpPr/>
          <p:nvPr/>
        </p:nvSpPr>
        <p:spPr>
          <a:xfrm>
            <a:off x="4617720" y="24231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1"/>
          <p:cNvSpPr/>
          <p:nvPr/>
        </p:nvSpPr>
        <p:spPr>
          <a:xfrm>
            <a:off x="4663440" y="2761560"/>
            <a:ext cx="255888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2"/>
          <p:cNvSpPr/>
          <p:nvPr/>
        </p:nvSpPr>
        <p:spPr>
          <a:xfrm>
            <a:off x="7406640" y="2377440"/>
            <a:ext cx="265032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749808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 14"/>
          <p:cNvSpPr/>
          <p:nvPr/>
        </p:nvSpPr>
        <p:spPr>
          <a:xfrm>
            <a:off x="7406640" y="24231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7452360" y="2761560"/>
            <a:ext cx="255888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6"/>
          <p:cNvSpPr/>
          <p:nvPr/>
        </p:nvSpPr>
        <p:spPr>
          <a:xfrm>
            <a:off x="548640" y="3931920"/>
            <a:ext cx="11090160" cy="1644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contact["name"]  →  "Ahmed Ali"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box is labeled by its key, not by a position — there is no index 0 or 1 here at all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key visual difference from the list diagrams you've already seen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5" name="Image 0" descr="icons/key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Accessing Values: [ ] vs. .get()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contact["key"] gets the value — but crashes with a KeyError if the key doesn't exist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.get("key") returns None instead of crashing, and you can even set your own fallback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real code, .get() is almost always the safer choice for data you don't fully control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print(contact["name"])        # 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print(contact["email"])       # KeyError!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print(contact.get("email"))              #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print(contact.get("email", "N/A"))       # "N/A"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-1828800" y="521208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4" name="Image 0" descr="icons/pluscir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Updating a Key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548640" y="1417320"/>
            <a:ext cx="11090160" cy="50148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31520" y="1417320"/>
            <a:ext cx="10724400" cy="50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contact["email"] = "ahmed@email.com"   -&gt;   adds a brand-new 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21488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150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548640" y="2514600"/>
            <a:ext cx="23760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6400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548640" y="2560320"/>
            <a:ext cx="237600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594360" y="2898720"/>
            <a:ext cx="228456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3063240" y="2514600"/>
            <a:ext cx="23760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Shape 11"/>
          <p:cNvSpPr/>
          <p:nvPr/>
        </p:nvSpPr>
        <p:spPr>
          <a:xfrm>
            <a:off x="31546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 12"/>
          <p:cNvSpPr/>
          <p:nvPr/>
        </p:nvSpPr>
        <p:spPr>
          <a:xfrm>
            <a:off x="3063240" y="2560320"/>
            <a:ext cx="237600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3108960" y="2898720"/>
            <a:ext cx="228456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4"/>
          <p:cNvSpPr/>
          <p:nvPr/>
        </p:nvSpPr>
        <p:spPr>
          <a:xfrm>
            <a:off x="5806440" y="2468880"/>
            <a:ext cx="54720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5"/>
          <p:cNvSpPr/>
          <p:nvPr/>
        </p:nvSpPr>
        <p:spPr>
          <a:xfrm>
            <a:off x="6492240" y="21488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150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6"/>
          <p:cNvSpPr/>
          <p:nvPr/>
        </p:nvSpPr>
        <p:spPr>
          <a:xfrm>
            <a:off x="6492240" y="2514600"/>
            <a:ext cx="16902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Shape 17"/>
          <p:cNvSpPr/>
          <p:nvPr/>
        </p:nvSpPr>
        <p:spPr>
          <a:xfrm>
            <a:off x="65836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 18"/>
          <p:cNvSpPr/>
          <p:nvPr/>
        </p:nvSpPr>
        <p:spPr>
          <a:xfrm>
            <a:off x="6492240" y="2560320"/>
            <a:ext cx="169020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9"/>
          <p:cNvSpPr/>
          <p:nvPr/>
        </p:nvSpPr>
        <p:spPr>
          <a:xfrm>
            <a:off x="6537960" y="2898720"/>
            <a:ext cx="159876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20"/>
          <p:cNvSpPr/>
          <p:nvPr/>
        </p:nvSpPr>
        <p:spPr>
          <a:xfrm>
            <a:off x="8321040" y="2514600"/>
            <a:ext cx="1690200" cy="86724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Shape 21"/>
          <p:cNvSpPr/>
          <p:nvPr/>
        </p:nvSpPr>
        <p:spPr>
          <a:xfrm>
            <a:off x="84124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 22"/>
          <p:cNvSpPr/>
          <p:nvPr/>
        </p:nvSpPr>
        <p:spPr>
          <a:xfrm>
            <a:off x="8321040" y="2560320"/>
            <a:ext cx="169020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3"/>
          <p:cNvSpPr/>
          <p:nvPr/>
        </p:nvSpPr>
        <p:spPr>
          <a:xfrm>
            <a:off x="8366760" y="2898720"/>
            <a:ext cx="159876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4"/>
          <p:cNvSpPr/>
          <p:nvPr/>
        </p:nvSpPr>
        <p:spPr>
          <a:xfrm>
            <a:off x="10149840" y="2514600"/>
            <a:ext cx="1690200" cy="867240"/>
          </a:xfrm>
          <a:prstGeom prst="roundRect">
            <a:avLst>
              <a:gd name="adj" fmla="val 6316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Shape 25"/>
          <p:cNvSpPr/>
          <p:nvPr/>
        </p:nvSpPr>
        <p:spPr>
          <a:xfrm>
            <a:off x="10241280" y="2862000"/>
            <a:ext cx="1508760" cy="360"/>
          </a:xfrm>
          <a:prstGeom prst="line">
            <a:avLst/>
          </a:prstGeom>
          <a:ln w="9525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26"/>
          <p:cNvSpPr/>
          <p:nvPr/>
        </p:nvSpPr>
        <p:spPr>
          <a:xfrm>
            <a:off x="10149840" y="2560320"/>
            <a:ext cx="1690200" cy="29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email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7"/>
          <p:cNvSpPr/>
          <p:nvPr/>
        </p:nvSpPr>
        <p:spPr>
          <a:xfrm>
            <a:off x="10195560" y="2898720"/>
            <a:ext cx="1598760" cy="43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"ahmed@..."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8"/>
          <p:cNvSpPr/>
          <p:nvPr/>
        </p:nvSpPr>
        <p:spPr>
          <a:xfrm>
            <a:off x="548640" y="4114800"/>
            <a:ext cx="11090160" cy="1461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same syntax also updates an existing key — contact["age"] = 26 simply overwrites the old value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000" b="1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a tuple, a dictionary is fully mutable — this is exactly why it's so useful for live, changing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9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30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6" name="Image 0" descr="icons/minuscir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Removing a Key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removes a key completely — no value is returned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pop(key) removes a key AND returns its value, just like list.pop()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popitem() removes and returns the last inserted key-value pair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del contact["city"]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print(contact)   # {'name': 'Ahmed', 'age':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age = contact.pop("age")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print(age)        # 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5" name="Image 0" descr="icons/checkdoub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Existence: in / not in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checks whether a key exists — not a value — this trips people up at first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Always check before accessing a key you're not sure exists, unless you're using .get()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print("name" in contact)      # True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print("email" in contact)     # False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print(25 in contact)          # False! (25 is a value, not a key)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94" name="Image 0" descr="icons/listol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.keys(), .values(), .items()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.keys() gives you every key, .values() gives you every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.items() gives you both together, as key-value pairs — the most commonly used of the three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print(contact.keys())     # dict_keys(['name', 'age', 'city'])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print(contact.values())   # dict_values(['Ahmed', 25, 'Karachi'])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print(contact.items())    # dict_items([('name', 'Ahmed'), ...])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3" name="Image 0" descr="icons/sync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Looping Over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directly over a dict gives you just the keys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over .items() gives you both the key and value together — this is what you'll use most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key, value in contact.items():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print(key, "-&gt;", value)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name -&gt; Ahmed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age -&gt; 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city -&gt; Karachi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 in contact.keys():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val in contact.values():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print(val)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2" name="Image 0" descr="icons/chart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Word Frequency Counter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is the natural tool for counting anything — a classic, genuinely industry-relevant use case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pattern is the foundation of real text analytics and search engines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text = "the cat sat on the mat the cat ran"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words = text.split()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word in words: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word in counts: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else: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{'the': 3, 'cat': 2, 'sat': 1, ...}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1" name="Image 0" descr="icons/databas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Dictionaries — Real Records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can hold another dictionary as a value — this is how real, structured data is represented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the shape of data returned by most web APIs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"address": {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"city": "Karachi", "zip": "74200“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print(user["address"]["city"])   # "Karachi“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0" name="Image 0" descr="icons/databas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 Dictionaries — How Real Data Actually Looks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structure is what a CSV file, a database table, or an API result usually becomes once loaded into 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precisely what pandas will build on top of later in the course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students = [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"Ahmed", "score": 88},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"Sara", "score": 92},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"Bilal", "score": 79},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student in students: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print(student["name"], "-&gt;", student["score"])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9" name="Image 0" descr="icons/exchang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Merging Dictionaries: .update() and |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.update() adds all key-value pairs from one dictionary into another, overwriting shared keys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| operator (Python 3.9+) does the same thing, but returns a new dictionary instead of changing one in place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 = {"theme": "light", "font_size": 12}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user_settings = {"font_size":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defaults.update(user_settings)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print(defaults)   # {'theme': 'light', 'font_size':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merged = defaults | {"theme": "dark"}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8" name="Image 0" descr="icons/usershield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.setdefault() — Avoiding KeyError Gracefully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setdefault(key, default) returns the value if the key exists — and creates it with that default if it doesn't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clean one-line alternative to writing an if/else just to handle a possibly-missing key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counts.setdefault("apple", 0)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counts["apple"]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{'apple':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calling it again on an existing key leaves it untouched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counts.setdefault("apple", 0)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still {'apple':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7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dictionary representing yourself: name, age, and favorite subject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8"/>
          <p:cNvSpPr/>
          <p:nvPr/>
        </p:nvSpPr>
        <p:spPr>
          <a:xfrm>
            <a:off x="822960" y="312732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 9"/>
          <p:cNvSpPr/>
          <p:nvPr/>
        </p:nvSpPr>
        <p:spPr>
          <a:xfrm>
            <a:off x="822960" y="312732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0"/>
          <p:cNvSpPr/>
          <p:nvPr/>
        </p:nvSpPr>
        <p:spPr>
          <a:xfrm>
            <a:off x="1435680" y="312732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to safely look up a key that might not exist, with a fallback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822960" y="38314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 12"/>
          <p:cNvSpPr/>
          <p:nvPr/>
        </p:nvSpPr>
        <p:spPr>
          <a:xfrm>
            <a:off x="822960" y="38314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3"/>
          <p:cNvSpPr/>
          <p:nvPr/>
        </p:nvSpPr>
        <p:spPr>
          <a:xfrm>
            <a:off x="1435680" y="38314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 a new key to your dictionary, then update an existing 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4"/>
          <p:cNvSpPr/>
          <p:nvPr/>
        </p:nvSpPr>
        <p:spPr>
          <a:xfrm>
            <a:off x="822960" y="45352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15"/>
          <p:cNvSpPr/>
          <p:nvPr/>
        </p:nvSpPr>
        <p:spPr>
          <a:xfrm>
            <a:off x="822960" y="45352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6"/>
          <p:cNvSpPr/>
          <p:nvPr/>
        </p:nvSpPr>
        <p:spPr>
          <a:xfrm>
            <a:off x="1435680" y="45352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your dictionary using .items() and print each key and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7"/>
          <p:cNvSpPr/>
          <p:nvPr/>
        </p:nvSpPr>
        <p:spPr>
          <a:xfrm>
            <a:off x="822960" y="523944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 18"/>
          <p:cNvSpPr/>
          <p:nvPr/>
        </p:nvSpPr>
        <p:spPr>
          <a:xfrm>
            <a:off x="822960" y="52394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9"/>
          <p:cNvSpPr/>
          <p:nvPr/>
        </p:nvSpPr>
        <p:spPr>
          <a:xfrm>
            <a:off x="1435680" y="523944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small word-count dictionary from a sentence of your choice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1" name="Image 0" descr="icons/tag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Sets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Every value appears exactly once — nothing more, nothing less.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8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Set?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2" name="Image 1" descr="icons/tags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order.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duplicates.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set stores a collection of values where every value is guaranteed to be unique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guest list where writing someone's name twice doesn't invite them twice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have no order and no index — you can't ask for "the first item"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uses: unique tags on a post, unique visitor IDs, unique words in a document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9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create a set — but watch out: {} alone creates an empty dictionary, not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set() is the safe way to create an empty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"data", "beginner"}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print(type(tags))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empty_dict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print(type(empty_dict))   # &lt;class 'dict'&gt;  &lt;- gotcha!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empty_set =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print(type(empty_set))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08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Duplicates Disappear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Passing a list into set() automatically removes every duplicate, keeping only unique values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behavior is the whole reason sets exist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2, 3, 3, 3, 4]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 = set(numbers)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print(unique)   # {1, 2, 3, 4}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17" name="Image 0" descr="icons/pluscir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Removing From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add() inserts a single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remove() deletes a value, but raises an error if it isn't there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discard() does the same, but stays silent if the value is missing — often the safer choice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tags.add("beginner")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tags.remove("data")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tags.discard("not_here")   # no error, even though it's missing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tags.remove("not_here")    # KeyError!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5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Union ( |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 4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5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|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7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Union combines everything from both sets, with duplicates automatically removed.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36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Intersection ( &amp;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Shape 4"/>
          <p:cNvSpPr/>
          <p:nvPr/>
        </p:nvSpPr>
        <p:spPr>
          <a:xfrm>
            <a:off x="4845240" y="2916000"/>
            <a:ext cx="1189080" cy="17560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1" name="Text 5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6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7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&amp;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8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Intersection keeps only the values that exist in BOTH sets — the shared middle.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9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0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48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Difference ( -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Text 4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5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6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-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Difference keeps only what's in A but NOT in B — order matters here, a - b differs from b - a.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59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Symmetric Difference ( ^ ): 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"/>
          <p:cNvSpPr/>
          <p:nvPr/>
        </p:nvSpPr>
        <p:spPr>
          <a:xfrm>
            <a:off x="324612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Shape 3"/>
          <p:cNvSpPr/>
          <p:nvPr/>
        </p:nvSpPr>
        <p:spPr>
          <a:xfrm>
            <a:off x="4800600" y="2377440"/>
            <a:ext cx="2833200" cy="283320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4845240" y="2916000"/>
            <a:ext cx="1189080" cy="17560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292608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7589520" y="3611880"/>
            <a:ext cx="36432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7"/>
          <p:cNvSpPr/>
          <p:nvPr/>
        </p:nvSpPr>
        <p:spPr>
          <a:xfrm>
            <a:off x="7863840" y="2651760"/>
            <a:ext cx="3656160" cy="237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^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8"/>
          <p:cNvSpPr/>
          <p:nvPr/>
        </p:nvSpPr>
        <p:spPr>
          <a:xfrm>
            <a:off x="548640" y="5440680"/>
            <a:ext cx="11090160" cy="82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Symmetric difference keeps everything EXCEPT what's shared — the opposite of intersection.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9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0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1216080" y="102852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PK" sz="2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Give me everything that is NOT shared between A and B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73" name="Image 0" descr="icons/recy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Removing Duplicates From a List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one of the single most common real uses of a set in everyday code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Converting a list to a set and back instantly removes every duplicate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Note: this does not preserve the original order — use with care if order matters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emails = ["a@x.com", "b@x.com", "a@x.com", "c@x.com"]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unique_emails = list(set(emails))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print(unique_emails)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['a@x.com', 'c@x.com', 'b@x.com']  (order not guaranteed)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1" name="Image 0" descr="icons/bolt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Fast Membership Testing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2"/>
          <p:cNvSpPr/>
          <p:nvPr/>
        </p:nvSpPr>
        <p:spPr>
          <a:xfrm>
            <a:off x="457200" y="1508760"/>
            <a:ext cx="5521680" cy="489060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294444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5" name="Image 1" descr="icons/boxes.png"/>
          <p:cNvPicPr/>
          <p:nvPr/>
        </p:nvPicPr>
        <p:blipFill>
          <a:blip r:embed="rId4"/>
          <a:stretch/>
        </p:blipFill>
        <p:spPr>
          <a:xfrm>
            <a:off x="302652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Text 4"/>
          <p:cNvSpPr/>
          <p:nvPr/>
        </p:nvSpPr>
        <p:spPr>
          <a:xfrm>
            <a:off x="548640" y="2717640"/>
            <a:ext cx="533880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List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5"/>
          <p:cNvSpPr/>
          <p:nvPr/>
        </p:nvSpPr>
        <p:spPr>
          <a:xfrm>
            <a:off x="603360" y="3101760"/>
            <a:ext cx="522900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item one by one — slower as the list grows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6"/>
          <p:cNvSpPr/>
          <p:nvPr/>
        </p:nvSpPr>
        <p:spPr>
          <a:xfrm>
            <a:off x="6208920" y="1508760"/>
            <a:ext cx="5521680" cy="489060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blurRad="76320" dist="25560" dir="5400000" algn="bl" rotWithShape="0">
              <a:srgbClr val="888888">
                <a:alpha val="1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7"/>
          <p:cNvSpPr/>
          <p:nvPr/>
        </p:nvSpPr>
        <p:spPr>
          <a:xfrm>
            <a:off x="8695800" y="2095920"/>
            <a:ext cx="547200" cy="5472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0" name="Image 2" descr="icons/tags.png"/>
          <p:cNvPicPr/>
          <p:nvPr/>
        </p:nvPicPr>
        <p:blipFill>
          <a:blip r:embed="rId5"/>
          <a:stretch/>
        </p:blipFill>
        <p:spPr>
          <a:xfrm>
            <a:off x="8778240" y="217800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Text 8"/>
          <p:cNvSpPr/>
          <p:nvPr/>
        </p:nvSpPr>
        <p:spPr>
          <a:xfrm>
            <a:off x="6300360" y="2717640"/>
            <a:ext cx="533880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9"/>
          <p:cNvSpPr/>
          <p:nvPr/>
        </p:nvSpPr>
        <p:spPr>
          <a:xfrm>
            <a:off x="6355080" y="3101760"/>
            <a:ext cx="5229000" cy="325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Near-instant, regardless of size — this is why sets exist for lookups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6" name="Image 0" descr="icons/bolt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PK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Where Are Sets Actually Used?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3"/>
          <p:cNvSpPr/>
          <p:nvPr/>
        </p:nvSpPr>
        <p:spPr>
          <a:xfrm>
            <a:off x="1000800" y="1465560"/>
            <a:ext cx="9603360" cy="440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🧹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 Cleaning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removing duplicate records, IDs, categories, or values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⚡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Fast Searching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quickly checking whether an item exists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🗺️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Maps &amp; Navigation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tracking visited locations during route-finding and graph search algorithms such as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A*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and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Dijkstra's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🤖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 Search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tracking visited states/nodes in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BFS, DFS, A*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and other graph-based algorithms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📝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NLP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finding unique words, tokens, keywords, or vocabulary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🎯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Recommendation Systems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comparing users' interests, skills, products, or preferences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🔐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Security &amp; Access Control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managing unique permissions, blocked users, or allowed resources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📊 </a:t>
            </a:r>
            <a:r>
              <a:rPr lang="en-PK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 Science</a:t>
            </a:r>
            <a:r>
              <a:rPr lang="en-PK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— comparing datasets, finding common/missing categories, and identifying unique values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3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6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8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set of 5 numbers that includes at least one duplicate, and print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8"/>
          <p:cNvSpPr/>
          <p:nvPr/>
        </p:nvSpPr>
        <p:spPr>
          <a:xfrm>
            <a:off x="822960" y="33033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9"/>
          <p:cNvSpPr/>
          <p:nvPr/>
        </p:nvSpPr>
        <p:spPr>
          <a:xfrm>
            <a:off x="822960" y="33033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0"/>
          <p:cNvSpPr/>
          <p:nvPr/>
        </p:nvSpPr>
        <p:spPr>
          <a:xfrm>
            <a:off x="1435680" y="33033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 duplicates from a list of your own using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1"/>
          <p:cNvSpPr/>
          <p:nvPr/>
        </p:nvSpPr>
        <p:spPr>
          <a:xfrm>
            <a:off x="822960" y="41835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4" name="Text 12"/>
          <p:cNvSpPr/>
          <p:nvPr/>
        </p:nvSpPr>
        <p:spPr>
          <a:xfrm>
            <a:off x="822960" y="41835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3"/>
          <p:cNvSpPr/>
          <p:nvPr/>
        </p:nvSpPr>
        <p:spPr>
          <a:xfrm>
            <a:off x="1435680" y="41835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two sets of your own and find their union and intersection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4"/>
          <p:cNvSpPr/>
          <p:nvPr/>
        </p:nvSpPr>
        <p:spPr>
          <a:xfrm>
            <a:off x="822960" y="506340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7" name="Text 15"/>
          <p:cNvSpPr/>
          <p:nvPr/>
        </p:nvSpPr>
        <p:spPr>
          <a:xfrm>
            <a:off x="822960" y="506340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6"/>
          <p:cNvSpPr/>
          <p:nvPr/>
        </p:nvSpPr>
        <p:spPr>
          <a:xfrm>
            <a:off x="1435680" y="506340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Find the difference between two sets of your own, in both directions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2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3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24" name="Image 0" descr="icons/cog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single biggest jump in this course so far — and the foundation of every real codebase.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1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Functions Exist — The Industry Case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4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5" name="Image 1" descr="icons/cogs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Write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Fix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Function is a block of code that can be written once and used anytime anywhere when u need it.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Imagine writing the same 10-line email-checking logic in 5 different places in a real project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Now imagine finding a bug in it — you'd need to fix it in all 5 places, and it's easy to miss one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means that logic exists in exactly one place — write once, reuse everywhere, fix once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real, professional codebase is fundamentally just functions calling other functions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2" name="Image 0" descr="icons/blender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Recipe Analogy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5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6" name="Image 1" descr="icons/blender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Ingredients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in, dish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out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is like a recipe: you give it ingredients (parameters), it follows the same steps every time, and it produces a result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don't need to know how the kitchen works to use the recipe — you just need to know what to put in, and what comes out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hiding of internal detail is called abstraction — a core idea in real software design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3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 — Basic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 starts a function definition, followed by a name and parentheses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indented block underneath only runs when the function is actually called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Defining a function does not run it — calling it does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nothing happens yet — it's only defined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greet()   # NOW it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Hello!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1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2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Parameters vs.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2"/>
          <p:cNvSpPr/>
          <p:nvPr/>
        </p:nvSpPr>
        <p:spPr>
          <a:xfrm>
            <a:off x="457200" y="1645920"/>
            <a:ext cx="5347800" cy="447912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4" name="Shape 3"/>
          <p:cNvSpPr/>
          <p:nvPr/>
        </p:nvSpPr>
        <p:spPr>
          <a:xfrm>
            <a:off x="731520" y="1874520"/>
            <a:ext cx="455760" cy="455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5" name="Image 1" descr="icons/cogs.png"/>
          <p:cNvPicPr/>
          <p:nvPr/>
        </p:nvPicPr>
        <p:blipFill>
          <a:blip r:embed="rId3"/>
          <a:stretch/>
        </p:blipFill>
        <p:spPr>
          <a:xfrm>
            <a:off x="800280" y="194328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 4"/>
          <p:cNvSpPr/>
          <p:nvPr/>
        </p:nvSpPr>
        <p:spPr>
          <a:xfrm>
            <a:off x="1325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Parameter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5"/>
          <p:cNvSpPr/>
          <p:nvPr/>
        </p:nvSpPr>
        <p:spPr>
          <a:xfrm>
            <a:off x="731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name used INSIDE the function definition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It's a placeholder — a variable waiting to receive a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name in def greet(name):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6"/>
          <p:cNvSpPr/>
          <p:nvPr/>
        </p:nvSpPr>
        <p:spPr>
          <a:xfrm>
            <a:off x="6172200" y="1645920"/>
            <a:ext cx="5347800" cy="447912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7"/>
          <p:cNvSpPr/>
          <p:nvPr/>
        </p:nvSpPr>
        <p:spPr>
          <a:xfrm>
            <a:off x="6446520" y="1874520"/>
            <a:ext cx="455760" cy="45576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0" name="Image 2" descr="icons/key.png"/>
          <p:cNvPicPr/>
          <p:nvPr/>
        </p:nvPicPr>
        <p:blipFill>
          <a:blip r:embed="rId4"/>
          <a:stretch/>
        </p:blipFill>
        <p:spPr>
          <a:xfrm>
            <a:off x="6515280" y="1943280"/>
            <a:ext cx="31860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Text 8"/>
          <p:cNvSpPr/>
          <p:nvPr/>
        </p:nvSpPr>
        <p:spPr>
          <a:xfrm>
            <a:off x="7040880" y="1874520"/>
            <a:ext cx="43419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Argument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9"/>
          <p:cNvSpPr/>
          <p:nvPr/>
        </p:nvSpPr>
        <p:spPr>
          <a:xfrm>
            <a:off x="6446520" y="2514600"/>
            <a:ext cx="4799160" cy="338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actual value you pass in WHEN CALLING the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what fills the placeholder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"Ahmed" in greet("Ahmed")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1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1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7" name="Image 0" descr="icons/exchang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 vs. print — The Classic Confusion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print() just displays something on screen — the value is gone once shown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 actually hands a value back to whoever called the function, so it can be stored and reused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with only print() cannot have its result saved into a variable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1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add_v1(a,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print(a + b)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add_v2(a,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a + 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result1 = add_v1(2, 3)   # prints 5, but result1 is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result2 = add_v2(2, 3)   # nothing printed, but result2 is 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6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With No Return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function never hits a return statement, it automatically returns None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what happened to result1 on the previous slide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greet(name):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print("Hello,", name)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greet("Ahmed")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   #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95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Multiple Parameters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accept as many parameters as it needs,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Arguments are matched to parameters in order, by default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9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describe_student(name, age, city):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print(describe_student("Ahmed", 25, "Karachi"))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"Ahmed, age 25, from 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04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Default Parameter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parameter can have a default value, used automatically if the caller doesn't provide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real-world functions offer sensible behavior out of the box, while still being customizable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8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calculate_price(price, discount=0.1):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print(calculate_price(100))          # 90.0 (uses default 10%)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print(calculate_price(100, 0.25))    # 75.0 (overridden)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2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13" name="Image 0" descr="icons/key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Keyword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can call a function using name=value, instead of relying on argument order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makes function calls far more readable, especially with many parameters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describe_student(name, age, city):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print(describe_student(city="Karachi", name="Ahmed", age=25))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order doesn't matter when you use keyword arguments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1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2" name="Image 0" descr="icons/boxopen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3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Returning Multiple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return more than one value at once,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 quietly packs them into a tuple — the exact tuple unpacking you already know handles the 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6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get_min_max(numbers):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min(numbers), max(numbers)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lowest, highest = get_min_max([4, 8, 15, 16, 23])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print(lowest, highest)   # 4 23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31" name="Image 0" descr="icons/glob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Scope: Local vs. Global Variables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inside a function is local — it only exists while that function is running, then disappears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outside any function is global — visible everywhere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READ a global variable, but assigning to a variable inside a function makes it local by default, even if a global with the same name exists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5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 = 10   # global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show_x():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print(x)   # can read the global x just fine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change_x():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x = 5      # this creates a NEW local x — the global x is untouched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change_x()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print(x)   # still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9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40" name="Image 0" descr="icons/warning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 dirty="0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Mutable Default Argument Trap: Real worl</a:t>
            </a:r>
            <a:r>
              <a:rPr lang="en-US" sz="2500" b="1" dirty="0">
                <a:solidFill>
                  <a:srgbClr val="1B2420"/>
                </a:solidFill>
                <a:latin typeface="Cambria"/>
                <a:ea typeface="Cambria"/>
              </a:rPr>
              <a:t>d known interview question</a:t>
            </a:r>
            <a:endParaRPr lang="en-US" sz="2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famous, real Python gotcha: using a mutable object (like a list) as a default value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default is created only ONCE, when the function is defined — not every time it's called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call that relies on the default ends up sharing the exact same list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en-PK" sz="1800" b="1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Rule to remember</a:t>
            </a:r>
            <a:r>
              <a:rPr lang="en-US" sz="1800" b="1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: </a:t>
            </a:r>
            <a:r>
              <a:rPr lang="en-PK" sz="1800" b="1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Never use a mutable object (list, dict, set, etc.) as a default function argument.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(item, cart=[]):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cart.append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("apple"))    # ['apple']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("banana"))   # ['apple', 'banana']  &lt;- unexpected!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FIXED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add_item_safe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(item, cart=None):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cart is None: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cart = []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</a:t>
            </a:r>
            <a:r>
              <a:rPr lang="en-US" sz="125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cart.append</a:t>
            </a: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(item)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8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49" name="Image 0" descr="icons/quot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0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Docstrings — Writing Professional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docstring is a short description written right under def, in triple quotes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Real, professional code is expected to have these — they show up automatically in help() and documentation tools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4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good docstring explains what the function does, its parameters, and what it returns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3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</a:t>
            </a:r>
            <a:r>
              <a:rPr lang="en-US" sz="1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</a:t>
            </a: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(price, discount=0.1):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Calculate a discounted price.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price: the original price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discount: fraction to subtract (default 10%)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Returns: the final price after discount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1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calculate_price.__doc</a:t>
            </a: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__)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help(</a:t>
            </a:r>
            <a:r>
              <a:rPr lang="en-US" sz="1400" b="0" u="none" strike="noStrike" dirty="0" err="1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calculate_price</a:t>
            </a:r>
            <a:r>
              <a:rPr lang="en-US" sz="1400" b="0" u="none" strike="noStrike" dirty="0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58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Calling Other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call another function inside it — this is called composition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2800" b="0" u="none" strike="noStrike" dirty="0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programs are built almost entirely this way: small, focused functions combined into bigger behavior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is_valid_email(email):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"@" in email and email.endswith(".com")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register_user(name, 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not is_valid_email(email):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"Invalid email"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f"Registered {name}"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print(register_user("Ahmed", "ahmed@mail.com"))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0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6" name="Image 0" descr="icons/recycle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1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Study: Refactoring Repeated Code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2"/>
          <p:cNvSpPr/>
          <p:nvPr/>
        </p:nvSpPr>
        <p:spPr>
          <a:xfrm>
            <a:off x="548640" y="1463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A5473F"/>
                </a:solidFill>
                <a:effectLst/>
                <a:uFillTx/>
                <a:latin typeface="Calibri"/>
                <a:ea typeface="Calibri"/>
              </a:rPr>
              <a:t>BEFORE — the same logic, copy-pasted three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3"/>
          <p:cNvSpPr/>
          <p:nvPr/>
        </p:nvSpPr>
        <p:spPr>
          <a:xfrm>
            <a:off x="548640" y="1783080"/>
            <a:ext cx="5393520" cy="420480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4"/>
          <p:cNvSpPr/>
          <p:nvPr/>
        </p:nvSpPr>
        <p:spPr>
          <a:xfrm>
            <a:off x="868680" y="2057400"/>
            <a:ext cx="4753440" cy="3656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price1 = 100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final1 = price1 - (price1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price2 = 250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final2 = price2 - (price2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print(final2)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price3 = 80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final3 = price3 - (price3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5"/>
          <p:cNvSpPr/>
          <p:nvPr/>
        </p:nvSpPr>
        <p:spPr>
          <a:xfrm>
            <a:off x="6217920" y="1463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 — one function, reused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6"/>
          <p:cNvSpPr/>
          <p:nvPr/>
        </p:nvSpPr>
        <p:spPr>
          <a:xfrm>
            <a:off x="6217920" y="1783080"/>
            <a:ext cx="5393520" cy="420480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3" name="Text 7"/>
          <p:cNvSpPr/>
          <p:nvPr/>
        </p:nvSpPr>
        <p:spPr>
          <a:xfrm>
            <a:off x="6537960" y="2057400"/>
            <a:ext cx="4753440" cy="3656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apply_discount(price, rate=0.1):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rate)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print(apply_discount(100))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print(apply_discount(250))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print(apply_discount(80))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one place to fix a bug,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 three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Shape 0"/>
          <p:cNvSpPr/>
          <p:nvPr/>
        </p:nvSpPr>
        <p:spPr>
          <a:xfrm>
            <a:off x="-1828800" y="512064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78" name="Image 0" descr="icons/sort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Capstone: Sorting a Dictionary by Value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3"/>
          <p:cNvSpPr/>
          <p:nvPr/>
        </p:nvSpPr>
        <p:spPr>
          <a:xfrm>
            <a:off x="548640" y="1828800"/>
            <a:ext cx="4753440" cy="402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sorted() can sort a dictionary's items — but it needs to be told WHAT to sort by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small helper function tells sorted() exactly that, using its key parameter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pattern — a helper function plus sorted() — is genuinely used everywhere in real data 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 means </a:t>
            </a:r>
            <a:r>
              <a:rPr lang="en-PK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"Use this function to decide what determines the sorting order.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4"/>
          <p:cNvSpPr/>
          <p:nvPr/>
        </p:nvSpPr>
        <p:spPr>
          <a:xfrm>
            <a:off x="5486400" y="1691640"/>
            <a:ext cx="6216480" cy="434196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2" name="Text 5"/>
          <p:cNvSpPr/>
          <p:nvPr/>
        </p:nvSpPr>
        <p:spPr>
          <a:xfrm>
            <a:off x="5806440" y="1965960"/>
            <a:ext cx="5576400" cy="379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{"Ahmed": 88, "Sara": 92, "Bilal": 79}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get_score(pair):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pair[1]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ranked = sorted(scores.items(), key=get_score, reverse=True)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print(ranked)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[('Sara', 92), ('Ahmed', 88), ('Bilal', 79)]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6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7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87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5"/>
          <p:cNvSpPr/>
          <p:nvPr/>
        </p:nvSpPr>
        <p:spPr>
          <a:xfrm>
            <a:off x="822960" y="242316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2" name="Text 6"/>
          <p:cNvSpPr/>
          <p:nvPr/>
        </p:nvSpPr>
        <p:spPr>
          <a:xfrm>
            <a:off x="822960" y="242316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7"/>
          <p:cNvSpPr/>
          <p:nvPr/>
        </p:nvSpPr>
        <p:spPr>
          <a:xfrm>
            <a:off x="1435680" y="242316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takes a name and returns a greeting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8"/>
          <p:cNvSpPr/>
          <p:nvPr/>
        </p:nvSpPr>
        <p:spPr>
          <a:xfrm>
            <a:off x="822960" y="312732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5" name="Text 9"/>
          <p:cNvSpPr/>
          <p:nvPr/>
        </p:nvSpPr>
        <p:spPr>
          <a:xfrm>
            <a:off x="822960" y="312732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0"/>
          <p:cNvSpPr/>
          <p:nvPr/>
        </p:nvSpPr>
        <p:spPr>
          <a:xfrm>
            <a:off x="1435680" y="312732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with a default parameter, and call it both with and without providing that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Shape 11"/>
          <p:cNvSpPr/>
          <p:nvPr/>
        </p:nvSpPr>
        <p:spPr>
          <a:xfrm>
            <a:off x="822960" y="38314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8" name="Text 12"/>
          <p:cNvSpPr/>
          <p:nvPr/>
        </p:nvSpPr>
        <p:spPr>
          <a:xfrm>
            <a:off x="822960" y="38314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3"/>
          <p:cNvSpPr/>
          <p:nvPr/>
        </p:nvSpPr>
        <p:spPr>
          <a:xfrm>
            <a:off x="1435680" y="38314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two values at once, and unpack them into two variables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4"/>
          <p:cNvSpPr/>
          <p:nvPr/>
        </p:nvSpPr>
        <p:spPr>
          <a:xfrm>
            <a:off x="822960" y="453528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15"/>
          <p:cNvSpPr/>
          <p:nvPr/>
        </p:nvSpPr>
        <p:spPr>
          <a:xfrm>
            <a:off x="822960" y="453528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16"/>
          <p:cNvSpPr/>
          <p:nvPr/>
        </p:nvSpPr>
        <p:spPr>
          <a:xfrm>
            <a:off x="1435680" y="453528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Deliberately trigger the mutable default argument bug, then fix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17"/>
          <p:cNvSpPr/>
          <p:nvPr/>
        </p:nvSpPr>
        <p:spPr>
          <a:xfrm>
            <a:off x="822960" y="5239440"/>
            <a:ext cx="382680" cy="38268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4" name="Text 18"/>
          <p:cNvSpPr/>
          <p:nvPr/>
        </p:nvSpPr>
        <p:spPr>
          <a:xfrm>
            <a:off x="822960" y="5239440"/>
            <a:ext cx="38268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9"/>
          <p:cNvSpPr/>
          <p:nvPr/>
        </p:nvSpPr>
        <p:spPr>
          <a:xfrm>
            <a:off x="1435680" y="5239440"/>
            <a:ext cx="9581400" cy="38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short docstring for one of your own functions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20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21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0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1" name="Image 0" descr="icons/task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You'll Actually Be Asked to Build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Not toy examples — inventories, deduplication, and reusable validators are real, everyday work.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7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8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9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1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3" name="Image 1" descr="icons/checkdouble.png"/>
          <p:cNvPicPr/>
          <p:nvPr/>
        </p:nvPicPr>
        <p:blipFill>
          <a:blip r:embed="rId4"/>
          <a:stretch/>
        </p:blipFill>
        <p:spPr>
          <a:xfrm>
            <a:off x="883440" y="248364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5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8"/>
          <p:cNvSpPr/>
          <p:nvPr/>
        </p:nvSpPr>
        <p:spPr>
          <a:xfrm>
            <a:off x="1920240" y="24231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simple inventory system: a dictionary of product names to stock counts, then add, update, and remove a few items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9"/>
          <p:cNvSpPr/>
          <p:nvPr/>
        </p:nvSpPr>
        <p:spPr>
          <a:xfrm>
            <a:off x="822960" y="35967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8" name="Image 2" descr="icons/checkdouble.png"/>
          <p:cNvPicPr/>
          <p:nvPr/>
        </p:nvPicPr>
        <p:blipFill>
          <a:blip r:embed="rId4"/>
          <a:stretch/>
        </p:blipFill>
        <p:spPr>
          <a:xfrm>
            <a:off x="883440" y="36568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9" name="Shape 10"/>
          <p:cNvSpPr/>
          <p:nvPr/>
        </p:nvSpPr>
        <p:spPr>
          <a:xfrm>
            <a:off x="1371600" y="36147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0" name="Text 11"/>
          <p:cNvSpPr/>
          <p:nvPr/>
        </p:nvSpPr>
        <p:spPr>
          <a:xfrm>
            <a:off x="1371600" y="36147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12"/>
          <p:cNvSpPr/>
          <p:nvPr/>
        </p:nvSpPr>
        <p:spPr>
          <a:xfrm>
            <a:off x="1920240" y="35967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dictionary shaped like a fake API response (nested keys) — extract and print 3 specific nested values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13"/>
          <p:cNvSpPr/>
          <p:nvPr/>
        </p:nvSpPr>
        <p:spPr>
          <a:xfrm>
            <a:off x="822960" y="477000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3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Shape 14"/>
          <p:cNvSpPr/>
          <p:nvPr/>
        </p:nvSpPr>
        <p:spPr>
          <a:xfrm>
            <a:off x="1371600" y="47883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5" name="Text 15"/>
          <p:cNvSpPr/>
          <p:nvPr/>
        </p:nvSpPr>
        <p:spPr>
          <a:xfrm>
            <a:off x="1371600" y="47883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16"/>
          <p:cNvSpPr/>
          <p:nvPr/>
        </p:nvSpPr>
        <p:spPr>
          <a:xfrm>
            <a:off x="1920240" y="477000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word-frequency counter on a full paragraph of your choice, then print the 3 most common words using sorted()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1" name="Image 0" descr="icons/ta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2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4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6" name="Image 1" descr="icons/checkdouble.png"/>
          <p:cNvPicPr/>
          <p:nvPr/>
        </p:nvPicPr>
        <p:blipFill>
          <a:blip r:embed="rId4"/>
          <a:stretch/>
        </p:blipFill>
        <p:spPr>
          <a:xfrm>
            <a:off x="883440" y="248364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7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8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8"/>
          <p:cNvSpPr/>
          <p:nvPr/>
        </p:nvSpPr>
        <p:spPr>
          <a:xfrm>
            <a:off x="1920240" y="24231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email addresses with overlaps — use sets to build one clean, duplicate-free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9"/>
          <p:cNvSpPr/>
          <p:nvPr/>
        </p:nvSpPr>
        <p:spPr>
          <a:xfrm>
            <a:off x="822960" y="35967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51" name="Image 2" descr="icons/checkdouble.png"/>
          <p:cNvPicPr/>
          <p:nvPr/>
        </p:nvPicPr>
        <p:blipFill>
          <a:blip r:embed="rId4"/>
          <a:stretch/>
        </p:blipFill>
        <p:spPr>
          <a:xfrm>
            <a:off x="883440" y="36568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2" name="Shape 10"/>
          <p:cNvSpPr/>
          <p:nvPr/>
        </p:nvSpPr>
        <p:spPr>
          <a:xfrm>
            <a:off x="1371600" y="36147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3" name="Text 11"/>
          <p:cNvSpPr/>
          <p:nvPr/>
        </p:nvSpPr>
        <p:spPr>
          <a:xfrm>
            <a:off x="1371600" y="36147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2"/>
          <p:cNvSpPr/>
          <p:nvPr/>
        </p:nvSpPr>
        <p:spPr>
          <a:xfrm>
            <a:off x="1920240" y="35967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user IDs from two different systems — use sets to find which users exist in both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13"/>
          <p:cNvSpPr/>
          <p:nvPr/>
        </p:nvSpPr>
        <p:spPr>
          <a:xfrm>
            <a:off x="822960" y="477000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56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7" name="Shape 14"/>
          <p:cNvSpPr/>
          <p:nvPr/>
        </p:nvSpPr>
        <p:spPr>
          <a:xfrm>
            <a:off x="1371600" y="478836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8" name="Text 15"/>
          <p:cNvSpPr/>
          <p:nvPr/>
        </p:nvSpPr>
        <p:spPr>
          <a:xfrm>
            <a:off x="1371600" y="478836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16"/>
          <p:cNvSpPr/>
          <p:nvPr/>
        </p:nvSpPr>
        <p:spPr>
          <a:xfrm>
            <a:off x="1920240" y="477000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one list of user IDs — use sets to find which ones are NOT in a second "banned"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1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1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Shape 0"/>
          <p:cNvSpPr/>
          <p:nvPr/>
        </p:nvSpPr>
        <p:spPr>
          <a:xfrm>
            <a:off x="-1828800" y="5029200"/>
            <a:ext cx="3656160" cy="36561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3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4" name="Image 0" descr="icons/cogs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5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C: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Shape 3"/>
          <p:cNvSpPr/>
          <p:nvPr/>
        </p:nvSpPr>
        <p:spPr>
          <a:xfrm>
            <a:off x="457200" y="1600200"/>
            <a:ext cx="11273040" cy="447912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7" name="Text 4"/>
          <p:cNvSpPr/>
          <p:nvPr/>
        </p:nvSpPr>
        <p:spPr>
          <a:xfrm>
            <a:off x="822960" y="18288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5"/>
          <p:cNvSpPr/>
          <p:nvPr/>
        </p:nvSpPr>
        <p:spPr>
          <a:xfrm>
            <a:off x="822960" y="242316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9" name="Image 1" descr="icons/checkdouble.png"/>
          <p:cNvPicPr/>
          <p:nvPr/>
        </p:nvPicPr>
        <p:blipFill>
          <a:blip r:embed="rId4"/>
          <a:stretch/>
        </p:blipFill>
        <p:spPr>
          <a:xfrm>
            <a:off x="883440" y="248364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0" name="Shape 6"/>
          <p:cNvSpPr/>
          <p:nvPr/>
        </p:nvSpPr>
        <p:spPr>
          <a:xfrm>
            <a:off x="1371600" y="244152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1" name="Text 7"/>
          <p:cNvSpPr/>
          <p:nvPr/>
        </p:nvSpPr>
        <p:spPr>
          <a:xfrm>
            <a:off x="1371600" y="244152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8"/>
          <p:cNvSpPr/>
          <p:nvPr/>
        </p:nvSpPr>
        <p:spPr>
          <a:xfrm>
            <a:off x="1920240" y="242316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reusable is_valid_password(password) function: valid only if 8+ characters and contains a digit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9"/>
          <p:cNvSpPr/>
          <p:nvPr/>
        </p:nvSpPr>
        <p:spPr>
          <a:xfrm>
            <a:off x="822960" y="348984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74" name="Image 2" descr="icons/checkdouble.png"/>
          <p:cNvPicPr/>
          <p:nvPr/>
        </p:nvPicPr>
        <p:blipFill>
          <a:blip r:embed="rId4"/>
          <a:stretch/>
        </p:blipFill>
        <p:spPr>
          <a:xfrm>
            <a:off x="883440" y="355032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5" name="Shape 10"/>
          <p:cNvSpPr/>
          <p:nvPr/>
        </p:nvSpPr>
        <p:spPr>
          <a:xfrm>
            <a:off x="1371600" y="350820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6" name="Text 11"/>
          <p:cNvSpPr/>
          <p:nvPr/>
        </p:nvSpPr>
        <p:spPr>
          <a:xfrm>
            <a:off x="1371600" y="350820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12"/>
          <p:cNvSpPr/>
          <p:nvPr/>
        </p:nvSpPr>
        <p:spPr>
          <a:xfrm>
            <a:off x="1920240" y="348984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calculate_discount(price, rate=0.1) function, and use it to replace 3 repeated manual calculations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hape 13"/>
          <p:cNvSpPr/>
          <p:nvPr/>
        </p:nvSpPr>
        <p:spPr>
          <a:xfrm>
            <a:off x="822960" y="4556880"/>
            <a:ext cx="401040" cy="401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79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617000"/>
            <a:ext cx="280080" cy="28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0" name="Shape 14"/>
          <p:cNvSpPr/>
          <p:nvPr/>
        </p:nvSpPr>
        <p:spPr>
          <a:xfrm>
            <a:off x="1371600" y="4574880"/>
            <a:ext cx="401040" cy="36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1" name="Text 15"/>
          <p:cNvSpPr/>
          <p:nvPr/>
        </p:nvSpPr>
        <p:spPr>
          <a:xfrm>
            <a:off x="1371600" y="4574880"/>
            <a:ext cx="4010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16"/>
          <p:cNvSpPr/>
          <p:nvPr/>
        </p:nvSpPr>
        <p:spPr>
          <a:xfrm>
            <a:off x="1920240" y="4556880"/>
            <a:ext cx="950832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 piece of your own repeated code from an earlier session, and refactor it into one function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17"/>
          <p:cNvSpPr/>
          <p:nvPr/>
        </p:nvSpPr>
        <p:spPr>
          <a:xfrm>
            <a:off x="822960" y="5760720"/>
            <a:ext cx="105141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10 core tasks in total — due before our next class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18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19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7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89" name="Image 0" descr="icons/task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0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projects combining dictionaries, sets, and functions — genuinely close to real early-career tasks.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5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6" name="Image 0" descr="icons/addressbook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7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Contact Book Manager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0" name="Image 1" descr="icons/addressbook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1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 contacts as a dictionary of dictionaries: {"Ahmed": {"phone": "...", "city": "..."}, ...}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separate functions: add_contact(), find_contact(), remove_contact() — each one operating on the same contacts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inside find_contact() so looking up a missing name never crashes the program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genuinely how small real applications are structured — data plus functions that operate on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0"/>
          <p:cNvSpPr/>
          <p:nvPr/>
        </p:nvSpPr>
        <p:spPr>
          <a:xfrm>
            <a:off x="10515600" y="5669280"/>
            <a:ext cx="3198960" cy="319896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6" name="Shape 1"/>
          <p:cNvSpPr/>
          <p:nvPr/>
        </p:nvSpPr>
        <p:spPr>
          <a:xfrm>
            <a:off x="457200" y="457200"/>
            <a:ext cx="638640" cy="6386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7" name="Image 0" descr="icons/chart.png"/>
          <p:cNvPicPr/>
          <p:nvPr/>
        </p:nvPicPr>
        <p:blipFill>
          <a:blip r:embed="rId3"/>
          <a:stretch/>
        </p:blipFill>
        <p:spPr>
          <a:xfrm>
            <a:off x="553320" y="553320"/>
            <a:ext cx="446760" cy="44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8" name="Text 2"/>
          <p:cNvSpPr/>
          <p:nvPr/>
        </p:nvSpPr>
        <p:spPr>
          <a:xfrm>
            <a:off x="1280160" y="457200"/>
            <a:ext cx="1042272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Student Grade Analyzer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3"/>
          <p:cNvSpPr/>
          <p:nvPr/>
        </p:nvSpPr>
        <p:spPr>
          <a:xfrm>
            <a:off x="457200" y="1554480"/>
            <a:ext cx="3656160" cy="466200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0" name="Shape 4"/>
          <p:cNvSpPr/>
          <p:nvPr/>
        </p:nvSpPr>
        <p:spPr>
          <a:xfrm>
            <a:off x="1508760" y="2194560"/>
            <a:ext cx="1553040" cy="1553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11" name="Image 1" descr="icons/chart.png"/>
          <p:cNvPicPr/>
          <p:nvPr/>
        </p:nvPicPr>
        <p:blipFill>
          <a:blip r:embed="rId3"/>
          <a:stretch/>
        </p:blipFill>
        <p:spPr>
          <a:xfrm>
            <a:off x="1742040" y="2427840"/>
            <a:ext cx="1086840" cy="10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2" name="Text 5"/>
          <p:cNvSpPr/>
          <p:nvPr/>
        </p:nvSpPr>
        <p:spPr>
          <a:xfrm>
            <a:off x="640080" y="3977640"/>
            <a:ext cx="3290400" cy="173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dicts, sets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&amp; functions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6"/>
          <p:cNvSpPr/>
          <p:nvPr/>
        </p:nvSpPr>
        <p:spPr>
          <a:xfrm>
            <a:off x="4572000" y="1737360"/>
            <a:ext cx="7130880" cy="411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list of dictionaries: [{"name": "Ahmed", "grade": "A"}, {"name": "Sara", "grade": "B"}, ...]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how many students got each grade, as a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set to find and print the unique grade levels that appear at all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the names of every student with an "A", using the accumulator pattern from Loops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7"/>
          <p:cNvSpPr/>
          <p:nvPr/>
        </p:nvSpPr>
        <p:spPr>
          <a:xfrm>
            <a:off x="45720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8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0"/>
          <p:cNvSpPr/>
          <p:nvPr/>
        </p:nvSpPr>
        <p:spPr>
          <a:xfrm>
            <a:off x="-1828800" y="41148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7" name="Shape 1"/>
          <p:cNvSpPr/>
          <p:nvPr/>
        </p:nvSpPr>
        <p:spPr>
          <a:xfrm>
            <a:off x="9601200" y="-2286000"/>
            <a:ext cx="5484960" cy="54849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8" name="Shape 2"/>
          <p:cNvSpPr/>
          <p:nvPr/>
        </p:nvSpPr>
        <p:spPr>
          <a:xfrm>
            <a:off x="5591520" y="731520"/>
            <a:ext cx="1004400" cy="10044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19" name="Image 0" descr="icons/cogs.png"/>
          <p:cNvPicPr/>
          <p:nvPr/>
        </p:nvPicPr>
        <p:blipFill>
          <a:blip r:embed="rId3"/>
          <a:stretch/>
        </p:blipFill>
        <p:spPr>
          <a:xfrm>
            <a:off x="5742360" y="882360"/>
            <a:ext cx="70272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0" name="Text 3"/>
          <p:cNvSpPr/>
          <p:nvPr/>
        </p:nvSpPr>
        <p:spPr>
          <a:xfrm>
            <a:off x="914400" y="1965960"/>
            <a:ext cx="10358640" cy="36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spc="201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 4"/>
          <p:cNvSpPr/>
          <p:nvPr/>
        </p:nvSpPr>
        <p:spPr>
          <a:xfrm>
            <a:off x="914400" y="2377440"/>
            <a:ext cx="10358640" cy="201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 and sets are how real data is actually shaped.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 are how real code actually stays maintainable.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5"/>
          <p:cNvSpPr/>
          <p:nvPr/>
        </p:nvSpPr>
        <p:spPr>
          <a:xfrm>
            <a:off x="1463040" y="4572000"/>
            <a:ext cx="9261360" cy="10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Next: advanced functions — *args, **kwargs, lambda, recursion, and closures.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6"/>
          <p:cNvSpPr/>
          <p:nvPr/>
        </p:nvSpPr>
        <p:spPr>
          <a:xfrm>
            <a:off x="11521440" y="6446520"/>
            <a:ext cx="4557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307</TotalTime>
  <Words>5735</Words>
  <Application>Microsoft Office PowerPoint</Application>
  <PresentationFormat>Widescreen</PresentationFormat>
  <Paragraphs>741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7" baseType="lpstr">
      <vt:lpstr>Arial</vt:lpstr>
      <vt:lpstr>Calibri</vt:lpstr>
      <vt:lpstr>Cambria</vt:lpstr>
      <vt:lpstr>Cantarell</vt:lpstr>
      <vt:lpstr>Consolas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Dictionaries, Sets &amp; Functions — Session 8</dc:title>
  <dc:subject>PptxGenJS Presentation</dc:subject>
  <dc:creator>Course Instructor</dc:creator>
  <dc:description/>
  <cp:lastModifiedBy>Hafiz Waseem Ahmed</cp:lastModifiedBy>
  <cp:revision>38</cp:revision>
  <dcterms:created xsi:type="dcterms:W3CDTF">2026-08-08T08:23:51Z</dcterms:created>
  <dcterms:modified xsi:type="dcterms:W3CDTF">2026-08-21T16:12:59Z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58</vt:i4>
  </property>
  <property fmtid="{D5CDD505-2E9C-101B-9397-08002B2CF9AE}" pid="3" name="PresentationFormat">
    <vt:lpwstr>Widescreen</vt:lpwstr>
  </property>
  <property fmtid="{D5CDD505-2E9C-101B-9397-08002B2CF9AE}" pid="4" name="Slides">
    <vt:i4>58</vt:i4>
  </property>
</Properties>
</file>