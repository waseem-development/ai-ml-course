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58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6D9B5A5-7B16-4A4D-B757-62914A3218A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This is a dense, industry-focused session — pace accordingly, likely needs 2 sittings.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4C42129-7FDB-4304-8FA6-A2C8EF8340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606F658-9E02-4003-9886-54BD374E34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65DD29C-02E6-47C3-A49A-93A9DF4348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B0FD12E-9C1E-47FF-967D-49C5EC37D7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grid is the pitch for the whole topic — dictionaries are not an abstract exercise, they are the real shape of real data.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3C17598-BD5F-4ABC-BD7E-097C852A19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6518B35-702D-4489-83FF-56E656920D1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5DED306-2E3F-4605-90D0-D03EEEA5A7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exact pattern — .get() with a fallback — is what real code uses when reading data from an API that might be missing fields.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3121640-B2CC-47BB-9679-176CC3522E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F6BEFD0-E619-48CE-B666-F5D441B831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915021A-A7F0-4EC0-BC50-B3DFEF47F6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emphasizing: in checks keys by default, a common early misunderstanding.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FEA5936-925E-4695-976D-C3B85794ED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5A94E0A-9600-4424-8FD3-49E1640D0D5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payoff from the Loops session — this pattern shows up constantly in real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C2F3126-25A2-4DDB-A7B1-34CBD06B42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what Python's collections.Counter automates — worth mentioning that shortcut exists.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704FBFC-A1FC-49F9-B510-136099E3E0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0484492-97B3-40C5-BB18-0192654222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this out explicitly: this IS what real datasets look like before pandas simplifies working with them.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34E1115-6E17-48ED-A9FA-321CD869392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994FAF4-6645-43F1-8200-92DD22F13C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38ECE58-BDE1-424F-BF8D-BF6438A9DE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5967BF-88AC-4B06-9F23-437E759B66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E55ABC6-EE7C-460E-AC79-5EFDC70E49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72E2C9A-5BB6-486F-A29A-5B5584F2EF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{} gotcha is genuinely common — worth flagging clearly.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3176C89-0373-44B6-90DD-676B9FA8B2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1243567-EAD6-4B7A-913F-8A26D95BB8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FAACF0A-4DDE-423B-8233-31035419B3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19039C8-7CBB-4022-A97A-E49F6656A9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example: "students who passed both exams" is exactly a set intersection.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F27645E-3E56-4896-A5C5-BFA0E52974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4A8C25F-5EE4-4C1A-A3F4-1CD4727BF1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93803A7-244E-4DAF-B430-AD3AC58BD0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48A72BC-F38C-4F38-8E2A-5417320F85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21EE882-C3F2-40A4-AE1F-7C23BC7F7F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312F415-F82E-4DC4-859B-DA0A1D15B2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1454D35-A99D-4338-8B72-0388E08B32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29D8BFF-2FDF-4CB7-8884-6753E1D7A0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7BA4344-6D94-4E75-BC8E-77BFFEDB4AF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606BC89-12CA-4F82-88DE-C1FF9264B55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C1CCD06-326E-49CF-990E-62CA762616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8671EF-31DA-45AC-A460-70CE733133E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genuinely the single most common beginner confusion with functions — spend real time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0B74865-E785-4BBA-BBF3-F9F28F1AA3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84F75C9-01CA-481A-B5C6-9E8D4E0741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5DF3D45-BCBE-4347-9FF1-9BEEB8F13A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D9E92E1-DC6D-458A-8F9A-D456D059982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EF2DE6B-EE50-4E08-AD92-F1C0B6920C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satisfying callback to tuple packing/unpacking from Session 5.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ACD91AC-D50F-4336-82ED-1626247904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important, often-confusing topic — worth a live demo, not just reading the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FEE7540-C0A4-4770-9EDC-B672C527D6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real, well-known interview question — worth treating with real weight, not as a footnote.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BAC9AB4-FC64-4B73-931A-26B28E5651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5329707-82B6-4D96-BD29-E2885E96B0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A3FD6C0-B6C1-49F3-B1D6-38A99619CD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side-by-side is the whole pitch for functions in one image — spend real time on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51CE34D-35EA-40A7-817C-D79939E62F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Dictionaries and Functions together directly — a great "everything you learned today, at once" moment.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EA77F87-C35C-4E4D-9D39-574837593DE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BB58AB8-A85B-4DEE-9605-C34A2253BB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84249B3-89BC-496D-88B0-89A8661823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0017BF0-681C-470D-926F-57E8668805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4D74D5F-4F25-4B36-8363-24875B207A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4DAE7C9-3DC4-4914-994E-269B439D25E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8C729C4-EC94-4123-AA6F-8BBA0B56E3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2DFDE3A-E7B9-480D-8D43-43C5DA57F0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16721A-A741-4994-B3DB-778B798C23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revisiting the refactoring case study — ask students where THEY have repeated code that could become a function.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PlaceHolder 3"/>
          <p:cNvSpPr>
            <a:spLocks noGrp="1"/>
          </p:cNvSpPr>
          <p:nvPr>
            <p:ph type="sldNum" idx="6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A6FB555-2488-474A-AE5B-1DEEDA23B89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000" cy="63990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000" cy="63990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6920" cy="11869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" name="Image 0" descr="icons/addressbook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0160" cy="83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82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Dictionaries, Sets &amp;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82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Real-World Data &amp; Reusable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8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55448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03360" y="162000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1" descr="icons/addressbook.png"/>
          <p:cNvPicPr/>
          <p:nvPr/>
        </p:nvPicPr>
        <p:blipFill>
          <a:blip r:embed="rId2"/>
          <a:stretch/>
        </p:blipFill>
        <p:spPr>
          <a:xfrm>
            <a:off x="654120" y="167076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280160" y="155448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Dictionaries — key-value data, exactly like real APIs and databases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9592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03360" y="216144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" name="Image 2" descr="icons/key.png"/>
          <p:cNvPicPr/>
          <p:nvPr/>
        </p:nvPicPr>
        <p:blipFill>
          <a:blip r:embed="rId3"/>
          <a:stretch/>
        </p:blipFill>
        <p:spPr>
          <a:xfrm>
            <a:off x="654120" y="221220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280160" y="209592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Accessing, updating, and safely handling missing keys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3736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03360" y="270324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" name="Image 3" descr="icons/database.png"/>
          <p:cNvPicPr/>
          <p:nvPr/>
        </p:nvPicPr>
        <p:blipFill>
          <a:blip r:embed="rId4"/>
          <a:stretch/>
        </p:blipFill>
        <p:spPr>
          <a:xfrm>
            <a:off x="654120" y="275364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280160" y="263736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dictionaries &amp; lists of dictionaries — how real data actually looks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17916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03360" y="324468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" name="Image 4" descr="icons/tags.png"/>
          <p:cNvPicPr/>
          <p:nvPr/>
        </p:nvPicPr>
        <p:blipFill>
          <a:blip r:embed="rId5"/>
          <a:stretch/>
        </p:blipFill>
        <p:spPr>
          <a:xfrm>
            <a:off x="654120" y="329508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280160" y="317916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— unique values, and the four core set operations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2060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03360" y="378612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" name="Image 5" descr="icons/bolt.png"/>
          <p:cNvPicPr/>
          <p:nvPr/>
        </p:nvPicPr>
        <p:blipFill>
          <a:blip r:embed="rId6"/>
          <a:stretch/>
        </p:blipFill>
        <p:spPr>
          <a:xfrm>
            <a:off x="654120" y="383688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280160" y="372060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sets are faster — a real performance reason to use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6204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03360" y="432756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" name="Image 6" descr="icons/cogs.png"/>
          <p:cNvPicPr/>
          <p:nvPr/>
        </p:nvPicPr>
        <p:blipFill>
          <a:blip r:embed="rId7"/>
          <a:stretch/>
        </p:blipFill>
        <p:spPr>
          <a:xfrm>
            <a:off x="654120" y="437832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280160" y="426204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Functions — why they exist, and how the industry actually uses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0348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03360" y="486936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" name="Image 7" descr="icons/globe.png"/>
          <p:cNvPicPr/>
          <p:nvPr/>
        </p:nvPicPr>
        <p:blipFill>
          <a:blip r:embed="rId8"/>
          <a:stretch/>
        </p:blipFill>
        <p:spPr>
          <a:xfrm>
            <a:off x="654120" y="491976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280160" y="480348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Scope, default arguments, and a famous Python gotcha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4528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03360" y="541080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" name="Image 8" descr="icons/recycle.png"/>
          <p:cNvPicPr/>
          <p:nvPr/>
        </p:nvPicPr>
        <p:blipFill>
          <a:blip r:embed="rId9"/>
          <a:stretch/>
        </p:blipFill>
        <p:spPr>
          <a:xfrm>
            <a:off x="654120" y="546120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280160" y="534528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Refactoring repeated code into functions — a real case study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886720"/>
            <a:ext cx="11272680" cy="46656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03360" y="5952240"/>
            <a:ext cx="335520" cy="335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0"/>
          <a:stretch/>
        </p:blipFill>
        <p:spPr>
          <a:xfrm>
            <a:off x="654120" y="6003000"/>
            <a:ext cx="234360" cy="23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280160" y="5886720"/>
            <a:ext cx="1014804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Industry-style tasks and two mini projects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4040" cy="100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Image 0" descr="icons/addressboo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360" cy="7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82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10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data structure behind almost every API, config file, and database record you'll ever touch.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8600" cy="31986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Dictionary?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5800" cy="466164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2680" cy="155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Image 1" descr="icons/addressboo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480" cy="10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0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Labeled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boxes, not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numbered ones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052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stores data as key-value pairs — a label, and the value that belongs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real address book: you look someone up by name, not by "the 5th contact"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is organized by position (index 0, 1, 2...). A dictionary is organized by meaning (name, age, city...)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shift — from position to meaning — is why dictionaries are everywhere in real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457200" y="1508760"/>
            <a:ext cx="2645280" cy="489024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1506600" y="2095920"/>
            <a:ext cx="546840" cy="54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4" name="Image 1" descr="icons/addressbook.png"/>
          <p:cNvPicPr/>
          <p:nvPr/>
        </p:nvPicPr>
        <p:blipFill>
          <a:blip r:embed="rId2"/>
          <a:stretch/>
        </p:blipFill>
        <p:spPr>
          <a:xfrm>
            <a:off x="1588680" y="2178000"/>
            <a:ext cx="382320" cy="38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4"/>
          <p:cNvSpPr/>
          <p:nvPr/>
        </p:nvSpPr>
        <p:spPr>
          <a:xfrm>
            <a:off x="548640" y="2717640"/>
            <a:ext cx="246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Contact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603360" y="3101760"/>
            <a:ext cx="2352960" cy="32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Name → phone number, exactly like your phone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3332880" y="1508760"/>
            <a:ext cx="2645280" cy="489024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4382280" y="2095920"/>
            <a:ext cx="546840" cy="54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Image 2" descr="icons/database.png"/>
          <p:cNvPicPr/>
          <p:nvPr/>
        </p:nvPicPr>
        <p:blipFill>
          <a:blip r:embed="rId3"/>
          <a:stretch/>
        </p:blipFill>
        <p:spPr>
          <a:xfrm>
            <a:off x="4464720" y="2178000"/>
            <a:ext cx="382320" cy="38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8"/>
          <p:cNvSpPr/>
          <p:nvPr/>
        </p:nvSpPr>
        <p:spPr>
          <a:xfrm>
            <a:off x="3424320" y="2717640"/>
            <a:ext cx="246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Database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3479400" y="3101760"/>
            <a:ext cx="2352960" cy="32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Column name → value, for one 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208920" y="1508760"/>
            <a:ext cx="2645280" cy="489024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7257960" y="2095920"/>
            <a:ext cx="546840" cy="54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 3" descr="icons/code.png"/>
          <p:cNvPicPr/>
          <p:nvPr/>
        </p:nvPicPr>
        <p:blipFill>
          <a:blip r:embed="rId4"/>
          <a:stretch/>
        </p:blipFill>
        <p:spPr>
          <a:xfrm>
            <a:off x="7340400" y="2178000"/>
            <a:ext cx="382320" cy="38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12"/>
          <p:cNvSpPr/>
          <p:nvPr/>
        </p:nvSpPr>
        <p:spPr>
          <a:xfrm>
            <a:off x="6300360" y="2717640"/>
            <a:ext cx="246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JSON from an 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6355080" y="3101760"/>
            <a:ext cx="2352960" cy="32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Nearly every web API returns data shaped exactly like a Python dict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9084600" y="1508760"/>
            <a:ext cx="2645280" cy="489024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0134000" y="2095920"/>
            <a:ext cx="546840" cy="54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9" name="Image 4" descr="icons/terminal.png"/>
          <p:cNvPicPr/>
          <p:nvPr/>
        </p:nvPicPr>
        <p:blipFill>
          <a:blip r:embed="rId5"/>
          <a:stretch/>
        </p:blipFill>
        <p:spPr>
          <a:xfrm>
            <a:off x="10216080" y="2178000"/>
            <a:ext cx="382320" cy="38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16"/>
          <p:cNvSpPr/>
          <p:nvPr/>
        </p:nvSpPr>
        <p:spPr>
          <a:xfrm>
            <a:off x="9176040" y="2717640"/>
            <a:ext cx="246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Config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9230760" y="3101760"/>
            <a:ext cx="2352960" cy="32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Settings stored as name → value, like "volume": 80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{ } create a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entry is key: value,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Keys are usually strings; values can be absolutely anything — even another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"age": 25,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"city": 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print(type(contact)) 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Dictionary,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48640" y="1417320"/>
            <a:ext cx="11089800" cy="50112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31520" y="1417320"/>
            <a:ext cx="107240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 Ali", "age": 25, "city": "Karachi"}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1828800" y="2377440"/>
            <a:ext cx="2649960" cy="86688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192024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828800" y="24231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1874520" y="2761560"/>
            <a:ext cx="2558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 Ali"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4617720" y="2377440"/>
            <a:ext cx="2649960" cy="86688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470916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4617720" y="24231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63440" y="2761560"/>
            <a:ext cx="2558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2"/>
          <p:cNvSpPr/>
          <p:nvPr/>
        </p:nvSpPr>
        <p:spPr>
          <a:xfrm>
            <a:off x="7406640" y="2377440"/>
            <a:ext cx="2649960" cy="86688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749808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7406640" y="24231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7452360" y="2761560"/>
            <a:ext cx="25585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548640" y="3931920"/>
            <a:ext cx="1108980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contact["name"]  →  "Ahmed Ali"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is labeled by its key, not by a position — there is no index 0 or 1 here at all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key visual difference from the list diagrams you've already seen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Accessing Values: [ ] vs. .get()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contact["key"] gets the value — but crashes with a KeyError if the key doesn't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.get("key") returns None instead of crashing, and you can even set your own fallback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real code, .get() is almost always the safer choice for data you don't fully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print(contact["name"])        # 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print(contact["email"])   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print(contact.get("email"))           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print(contact.get("email", "N/A"))       # "N/A"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-1828800" y="521208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4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Updating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548640" y="1417320"/>
            <a:ext cx="11089800" cy="50112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31520" y="1417320"/>
            <a:ext cx="107240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contact["email"] = "ahmed@email.com"   -&gt;   adds a brand-new 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2148840"/>
            <a:ext cx="511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548640" y="2514600"/>
            <a:ext cx="2375640" cy="86688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6400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48640" y="2560320"/>
            <a:ext cx="23756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594360" y="2898720"/>
            <a:ext cx="22842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3063240" y="2514600"/>
            <a:ext cx="2375640" cy="86688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31546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3063240" y="2560320"/>
            <a:ext cx="23756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3108960" y="2898720"/>
            <a:ext cx="22842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5806440" y="2468880"/>
            <a:ext cx="546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6492240" y="2148840"/>
            <a:ext cx="511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6"/>
          <p:cNvSpPr/>
          <p:nvPr/>
        </p:nvSpPr>
        <p:spPr>
          <a:xfrm>
            <a:off x="6492240" y="2514600"/>
            <a:ext cx="1689840" cy="86688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65836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8"/>
          <p:cNvSpPr/>
          <p:nvPr/>
        </p:nvSpPr>
        <p:spPr>
          <a:xfrm>
            <a:off x="6492240" y="2560320"/>
            <a:ext cx="16898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6537960" y="2898720"/>
            <a:ext cx="15984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0"/>
          <p:cNvSpPr/>
          <p:nvPr/>
        </p:nvSpPr>
        <p:spPr>
          <a:xfrm>
            <a:off x="8321040" y="2514600"/>
            <a:ext cx="1689840" cy="86688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84124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22"/>
          <p:cNvSpPr/>
          <p:nvPr/>
        </p:nvSpPr>
        <p:spPr>
          <a:xfrm>
            <a:off x="8321040" y="2560320"/>
            <a:ext cx="16898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8366760" y="2898720"/>
            <a:ext cx="15984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4"/>
          <p:cNvSpPr/>
          <p:nvPr/>
        </p:nvSpPr>
        <p:spPr>
          <a:xfrm>
            <a:off x="10149840" y="2514600"/>
            <a:ext cx="1689840" cy="866880"/>
          </a:xfrm>
          <a:prstGeom prst="roundRect">
            <a:avLst>
              <a:gd name="adj" fmla="val 6316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Shape 25"/>
          <p:cNvSpPr/>
          <p:nvPr/>
        </p:nvSpPr>
        <p:spPr>
          <a:xfrm>
            <a:off x="10241280" y="2862000"/>
            <a:ext cx="1508760" cy="360"/>
          </a:xfrm>
          <a:prstGeom prst="line">
            <a:avLst/>
          </a:prstGeom>
          <a:ln w="9525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26"/>
          <p:cNvSpPr/>
          <p:nvPr/>
        </p:nvSpPr>
        <p:spPr>
          <a:xfrm>
            <a:off x="10149840" y="2560320"/>
            <a:ext cx="16898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email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7"/>
          <p:cNvSpPr/>
          <p:nvPr/>
        </p:nvSpPr>
        <p:spPr>
          <a:xfrm>
            <a:off x="10195560" y="2898720"/>
            <a:ext cx="15984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"ahmed@..."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8"/>
          <p:cNvSpPr/>
          <p:nvPr/>
        </p:nvSpPr>
        <p:spPr>
          <a:xfrm>
            <a:off x="548640" y="4114800"/>
            <a:ext cx="110898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same syntax also updates an existing key — contact["age"] = 26 simply overwrites the old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tuple, a dictionary is fully mutable — this is exactly why it's so useful for live, changing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9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0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 key completely — no value is returned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pop(key) removes a key AND returns its value, just like list.pop()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popitem() removes and returns the last inserted key-value pair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contact["city"]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print(contact)   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contact.pop("age")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print(age)        #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5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Existence: in / not in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checks whether a key exists — not a value — this trips people up at first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Always check before accessing a key you're not sure exists, unless you're using .get()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print("name" in contact)      # 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print("email" in contact)     # False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print(25 in contact)          # False! (25 is a value, not a 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4" name="Image 0" descr="icons/listol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.keys(), .values(), .items()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.keys() gives you every key, .values() gives you every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.items() gives you both together, as key-value pairs — the most commonly used of the three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print(contact.keys())     # dict_keys(['name', 'age', 'city'])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print(contact.values())   # dict_values(['Ahmed', 25, 'Karachi'])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print(contact.items())    # dict_items([('name', 'Ahmed'), ...])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3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directly over a dict gives you just the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over .items() gives you both the key and value together — this is what you'll use most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key, value in contact.items():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print(key, "-&gt;", value)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name -&gt; Ahmed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age -&gt;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city -&gt; Karachi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 in contact.keys():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val in contact.values():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print(val)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Word Frequency Counter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is the natural tool for counting anything — a classic, genuinely industry-relevant use 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is the foundation of real text analytics and search engines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text = "the cat sat on the mat the cat ran"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text.split()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word in counts: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{'the': 3, 'cat': 2, 'sat': 1, ...}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1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Dictionaries — Real Records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hold another dictionary as a value — this is how real, structured data is represented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the shape of data returned by most web APIs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"address": {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"city": "Karachi", "zip": "74200“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print(user["address"]["city"])   # "Karachi“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0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 Dictionaries — How Real Data Actually Looks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structure is what a CSV file, a database table, or an API result usually becomes once loaded into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precisely what pandas will build on top of later in the course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students = [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"Ahmed", "score": 88},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"Sara", "score": 92},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"Bilal", "score": 79},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student in students: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print(student["name"], "-&gt;", student["score"])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9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Merging Dictionaries: .update() and |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.update() adds all key-value pairs from one dictionary into another, overwriting shared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| operator (Python 3.9+) does the same thing, but returns a new dictionary instead of changing one in place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 = {"theme": "light", "font_size": 12}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user_settings = {"font_size":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defaults.update(user_settings)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print(defaults)   # {'theme': 'light', 'font_size':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merged = defaults | {"theme": "dark"}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8" name="Image 0" descr="icons/usershield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.setdefault() — Avoiding KeyError Gracefully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setdefault(key, default) returns the value if the key exists — and creates it with that default if it doesn't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clean one-line alternative to writing an if/else just to handle a possibly-missing key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counts["apple"]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calling it again on an existing key leaves it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still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-1828800" y="502920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7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457200" y="1600200"/>
            <a:ext cx="11272680" cy="447876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22960" y="1828800"/>
            <a:ext cx="1051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822960" y="242316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822960" y="242316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7"/>
          <p:cNvSpPr/>
          <p:nvPr/>
        </p:nvSpPr>
        <p:spPr>
          <a:xfrm>
            <a:off x="1435680" y="242316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dictionary representing yourself: name, age, and favorite subject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>
            <a:off x="822960" y="312732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822960" y="312732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1435680" y="312732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to safely look up a key that might not exist, with a fallback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822960" y="383148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822960" y="383148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1435680" y="383148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 a new key to your dictionary, then update an existing 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"/>
          <p:cNvSpPr/>
          <p:nvPr/>
        </p:nvSpPr>
        <p:spPr>
          <a:xfrm>
            <a:off x="822960" y="453528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822960" y="453528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6"/>
          <p:cNvSpPr/>
          <p:nvPr/>
        </p:nvSpPr>
        <p:spPr>
          <a:xfrm>
            <a:off x="1435680" y="453528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your dictionary using .items() and print each key and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822960" y="523944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822960" y="523944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1435680" y="523944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small word-count dictionary from a sentence of your choice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0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-1828800" y="41148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9601200" y="-22860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Shape 2"/>
          <p:cNvSpPr/>
          <p:nvPr/>
        </p:nvSpPr>
        <p:spPr>
          <a:xfrm>
            <a:off x="5591520" y="731520"/>
            <a:ext cx="1004040" cy="100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1" name="Image 0" descr="icons/ta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360" cy="7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3"/>
          <p:cNvSpPr/>
          <p:nvPr/>
        </p:nvSpPr>
        <p:spPr>
          <a:xfrm>
            <a:off x="914400" y="1965960"/>
            <a:ext cx="1035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914400" y="2377440"/>
            <a:ext cx="103582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1463040" y="4572000"/>
            <a:ext cx="92610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value appears exactly once — nothing more, nothing less.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10515600" y="5669280"/>
            <a:ext cx="3198600" cy="31986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Set?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457200" y="1554480"/>
            <a:ext cx="3655800" cy="466164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1508760" y="2194560"/>
            <a:ext cx="1552680" cy="155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Image 1" descr="icons/tag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480" cy="10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Text 5"/>
          <p:cNvSpPr/>
          <p:nvPr/>
        </p:nvSpPr>
        <p:spPr>
          <a:xfrm>
            <a:off x="640080" y="3977640"/>
            <a:ext cx="3290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order.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duplicates.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4572000" y="1737360"/>
            <a:ext cx="713052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set stores a collection of values where every value is guaranteed to be unique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guest list where writing someone's name twice doesn't invite them twice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have no order and no index — you can't ask for "the first item"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uses: unique tags on a post, unique visitor IDs, unique words in a document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9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create a set — but watch out: {} alone creates an empty dictionary, not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set() is the safe way to create an empty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"data", "beginner"}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print(type(tags))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empty_dict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print(type(empty_dict))   # &lt;class 'dict'&gt;  &lt;- gotcha!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empty_set =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print(type(empty_set))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Duplicates Disappear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Passing a list into set() automatically removes every duplicate, keeping only unique values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behavior is the whole reason sets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2, 3, 3, 3, 4]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 = set(numbers)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print(unique)   # {1, 2, 3, 4}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7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Removing From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add() inserts a single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deletes a value, but raises an error if it isn't there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discard() does the same, but stays silent if the value is missing — often the safer choice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tags.add("beginner")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tags.remove("data")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tags.discard("not_here")   # no error, even though it's missing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tags.remove("not_here")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5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Union ( |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3246120" y="2377440"/>
            <a:ext cx="2832840" cy="283284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4800600" y="2377440"/>
            <a:ext cx="2832840" cy="283284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292608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758952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7863840" y="2651760"/>
            <a:ext cx="365580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|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48640" y="5440680"/>
            <a:ext cx="110898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Union combines everything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from both sets, with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duplicates automatically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6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Intersection ( &amp;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3246120" y="2377440"/>
            <a:ext cx="2832840" cy="283284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"/>
          <p:cNvSpPr/>
          <p:nvPr/>
        </p:nvSpPr>
        <p:spPr>
          <a:xfrm>
            <a:off x="4800600" y="2377440"/>
            <a:ext cx="2832840" cy="283284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4845240" y="2916000"/>
            <a:ext cx="1188720" cy="17557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292608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758952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7863840" y="2651760"/>
            <a:ext cx="365580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&amp;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548640" y="5440680"/>
            <a:ext cx="110898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Intersection keeps only the values that exist in BOTH sets — the shared middle.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0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8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Difference ( -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>
            <a:off x="3246120" y="2377440"/>
            <a:ext cx="2832840" cy="283284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4800600" y="2377440"/>
            <a:ext cx="2832840" cy="283284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4"/>
          <p:cNvSpPr/>
          <p:nvPr/>
        </p:nvSpPr>
        <p:spPr>
          <a:xfrm>
            <a:off x="292608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758952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7863840" y="2651760"/>
            <a:ext cx="365580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-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48640" y="5440680"/>
            <a:ext cx="110898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Difference keeps only what's in A but NOT in B — order matters here, a - b differs from b - 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9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9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Symmetric Difference ( ^ ):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3246120" y="2377440"/>
            <a:ext cx="2832840" cy="283284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4800600" y="2377440"/>
            <a:ext cx="2832840" cy="283284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845240" y="2916000"/>
            <a:ext cx="1188720" cy="1755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292608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589520" y="361188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7863840" y="2651760"/>
            <a:ext cx="365580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^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548640" y="5440680"/>
            <a:ext cx="110898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Symmetric difference keeps everything EXCEPT what's shared — the opposite of intersection.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1216080" y="102852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PK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Give me everything that is NOT shared between A and 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3" name="Image 0" descr="icons/recy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Removing Duplicates From a List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single most common real uses of a set in everyday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to a set and back instantly removes every duplicate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Note: this does not preserve the original order — use with care if order matters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emails = ["a@x.com", "b@x.com", "a@x.com", "c@x.com"]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unique_emails = list(set(emails))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print(unique_emails)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['a@x.com', 'c@x.com', 'b@x.com']  (order not guaranteed)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1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Fast Membership Testing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"/>
          <p:cNvSpPr/>
          <p:nvPr/>
        </p:nvSpPr>
        <p:spPr>
          <a:xfrm>
            <a:off x="457200" y="1508760"/>
            <a:ext cx="5521320" cy="489024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2944440" y="2095920"/>
            <a:ext cx="546840" cy="54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5" name="Image 1" descr="icons/boxes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2320" cy="38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Text 4"/>
          <p:cNvSpPr/>
          <p:nvPr/>
        </p:nvSpPr>
        <p:spPr>
          <a:xfrm>
            <a:off x="548640" y="2717640"/>
            <a:ext cx="533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603360" y="3101760"/>
            <a:ext cx="5228640" cy="32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one by one — slower as the list grows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6"/>
          <p:cNvSpPr/>
          <p:nvPr/>
        </p:nvSpPr>
        <p:spPr>
          <a:xfrm>
            <a:off x="6208920" y="1508760"/>
            <a:ext cx="5521320" cy="489024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7"/>
          <p:cNvSpPr/>
          <p:nvPr/>
        </p:nvSpPr>
        <p:spPr>
          <a:xfrm>
            <a:off x="8695800" y="2095920"/>
            <a:ext cx="546840" cy="54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0" name="Image 2" descr="icons/tags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2320" cy="38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 8"/>
          <p:cNvSpPr/>
          <p:nvPr/>
        </p:nvSpPr>
        <p:spPr>
          <a:xfrm>
            <a:off x="6300360" y="2717640"/>
            <a:ext cx="533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9"/>
          <p:cNvSpPr/>
          <p:nvPr/>
        </p:nvSpPr>
        <p:spPr>
          <a:xfrm>
            <a:off x="6355080" y="3101760"/>
            <a:ext cx="5228640" cy="32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Near-instant, regardless of size — this is why sets exist for lookups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0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1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PK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Where Are Sets Actually Used?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0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1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3"/>
          <p:cNvSpPr/>
          <p:nvPr/>
        </p:nvSpPr>
        <p:spPr>
          <a:xfrm>
            <a:off x="1000800" y="1465560"/>
            <a:ext cx="9603000" cy="440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🧹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Cleaning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removing duplicate records, IDs, categories, or values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⚡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Fast Searching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quickly checking whether an item exists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🗺️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Maps &amp; Navigation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tracking visited locations during route-finding and graph search algorithms such as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A*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and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Dijkstra's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🤖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 Search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tracking visited states/nodes in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BFS, DFS, A*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and other graph-based algorithms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📝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NLP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finding unique words, tokens, keywords, or vocabulary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🎯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Recommendation Systems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comparing users' interests, skills, products, or preferences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🔐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Security &amp; Access Control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managing unique permissions, blocked users, or allowed resources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📊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Science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comparing datasets, finding common/missing categories, and identifying unique values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-1828800" y="502920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2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3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3"/>
          <p:cNvSpPr/>
          <p:nvPr/>
        </p:nvSpPr>
        <p:spPr>
          <a:xfrm>
            <a:off x="457200" y="1600200"/>
            <a:ext cx="11272680" cy="447876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6" name="Text 4"/>
          <p:cNvSpPr/>
          <p:nvPr/>
        </p:nvSpPr>
        <p:spPr>
          <a:xfrm>
            <a:off x="822960" y="1828800"/>
            <a:ext cx="1051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5"/>
          <p:cNvSpPr/>
          <p:nvPr/>
        </p:nvSpPr>
        <p:spPr>
          <a:xfrm>
            <a:off x="822960" y="242316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8" name="Text 6"/>
          <p:cNvSpPr/>
          <p:nvPr/>
        </p:nvSpPr>
        <p:spPr>
          <a:xfrm>
            <a:off x="822960" y="242316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7"/>
          <p:cNvSpPr/>
          <p:nvPr/>
        </p:nvSpPr>
        <p:spPr>
          <a:xfrm>
            <a:off x="1435680" y="242316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set of 5 numbers that includes at least one duplicate, and print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8"/>
          <p:cNvSpPr/>
          <p:nvPr/>
        </p:nvSpPr>
        <p:spPr>
          <a:xfrm>
            <a:off x="822960" y="330336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9"/>
          <p:cNvSpPr/>
          <p:nvPr/>
        </p:nvSpPr>
        <p:spPr>
          <a:xfrm>
            <a:off x="822960" y="330336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0"/>
          <p:cNvSpPr/>
          <p:nvPr/>
        </p:nvSpPr>
        <p:spPr>
          <a:xfrm>
            <a:off x="1435680" y="330336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 duplicates from a list of your own using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1"/>
          <p:cNvSpPr/>
          <p:nvPr/>
        </p:nvSpPr>
        <p:spPr>
          <a:xfrm>
            <a:off x="822960" y="418356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4" name="Text 12"/>
          <p:cNvSpPr/>
          <p:nvPr/>
        </p:nvSpPr>
        <p:spPr>
          <a:xfrm>
            <a:off x="822960" y="418356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3"/>
          <p:cNvSpPr/>
          <p:nvPr/>
        </p:nvSpPr>
        <p:spPr>
          <a:xfrm>
            <a:off x="1435680" y="418356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two sets of your own and find their union and intersection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4"/>
          <p:cNvSpPr/>
          <p:nvPr/>
        </p:nvSpPr>
        <p:spPr>
          <a:xfrm>
            <a:off x="822960" y="506340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 15"/>
          <p:cNvSpPr/>
          <p:nvPr/>
        </p:nvSpPr>
        <p:spPr>
          <a:xfrm>
            <a:off x="822960" y="506340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6"/>
          <p:cNvSpPr/>
          <p:nvPr/>
        </p:nvSpPr>
        <p:spPr>
          <a:xfrm>
            <a:off x="1435680" y="506340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Find the difference between two sets of your own, in both directions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-1828800" y="41148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Shape 1"/>
          <p:cNvSpPr/>
          <p:nvPr/>
        </p:nvSpPr>
        <p:spPr>
          <a:xfrm>
            <a:off x="9601200" y="-22860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3" name="Shape 2"/>
          <p:cNvSpPr/>
          <p:nvPr/>
        </p:nvSpPr>
        <p:spPr>
          <a:xfrm>
            <a:off x="5591520" y="731520"/>
            <a:ext cx="1004040" cy="100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4" name="Image 0" descr="icons/co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360" cy="7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3"/>
          <p:cNvSpPr/>
          <p:nvPr/>
        </p:nvSpPr>
        <p:spPr>
          <a:xfrm>
            <a:off x="914400" y="1965960"/>
            <a:ext cx="1035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"/>
          <p:cNvSpPr/>
          <p:nvPr/>
        </p:nvSpPr>
        <p:spPr>
          <a:xfrm>
            <a:off x="914400" y="2377440"/>
            <a:ext cx="103582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5"/>
          <p:cNvSpPr/>
          <p:nvPr/>
        </p:nvSpPr>
        <p:spPr>
          <a:xfrm>
            <a:off x="1463040" y="4572000"/>
            <a:ext cx="92610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single biggest jump in this course so far — and the foundation of every real codebase.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6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10515600" y="5669280"/>
            <a:ext cx="3198600" cy="31986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0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1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Functions Exist — The Industry Case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457200" y="1554480"/>
            <a:ext cx="3655800" cy="466164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1508760" y="2194560"/>
            <a:ext cx="1552680" cy="155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5" name="Image 1" descr="icons/cog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480" cy="10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Text 5"/>
          <p:cNvSpPr/>
          <p:nvPr/>
        </p:nvSpPr>
        <p:spPr>
          <a:xfrm>
            <a:off x="640080" y="3977640"/>
            <a:ext cx="3290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Write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Fix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4572000" y="1737360"/>
            <a:ext cx="713052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 is a block of code that can be written once and used anytime anywhere when u need it.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Imagine writing the same 10-line email-checking logic in 5 different places in a real 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Now imagine finding a bug in it — you'd need to fix it in all 5 places, and it's easy to miss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means that logic exists in exactly one place — write once, reuse everywhere, fix once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real, professional codebase is fundamentally just functions calling other functions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0"/>
          <p:cNvSpPr/>
          <p:nvPr/>
        </p:nvSpPr>
        <p:spPr>
          <a:xfrm>
            <a:off x="10515600" y="5669280"/>
            <a:ext cx="3198600" cy="31986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1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2" name="Image 0" descr="icons/blender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Recipe Analogy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3"/>
          <p:cNvSpPr/>
          <p:nvPr/>
        </p:nvSpPr>
        <p:spPr>
          <a:xfrm>
            <a:off x="457200" y="1554480"/>
            <a:ext cx="3655800" cy="466164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4"/>
          <p:cNvSpPr/>
          <p:nvPr/>
        </p:nvSpPr>
        <p:spPr>
          <a:xfrm>
            <a:off x="1508760" y="2194560"/>
            <a:ext cx="1552680" cy="155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6" name="Image 1" descr="icons/blender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480" cy="10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5"/>
          <p:cNvSpPr/>
          <p:nvPr/>
        </p:nvSpPr>
        <p:spPr>
          <a:xfrm>
            <a:off x="640080" y="3977640"/>
            <a:ext cx="3290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Ingredients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in, dish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6"/>
          <p:cNvSpPr/>
          <p:nvPr/>
        </p:nvSpPr>
        <p:spPr>
          <a:xfrm>
            <a:off x="4572000" y="1737360"/>
            <a:ext cx="713052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is like a recipe: you give it ingredients (parameters), it follows the same steps every time, and it produces a result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need to know how the kitchen works to use the recipe — you just need to know what to put in, and what comes out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hiding of internal detail is called abstraction — a core idea in real software design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2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3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 — Basic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 starts a function definition, followed by a name and parentheses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indented block underneath only runs when the function is actually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Defining a function does not run it — calling it does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nothing happens yet — it's only defined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greet()   # NOW it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1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Parameters vs.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2"/>
          <p:cNvSpPr/>
          <p:nvPr/>
        </p:nvSpPr>
        <p:spPr>
          <a:xfrm>
            <a:off x="457200" y="1645920"/>
            <a:ext cx="5347440" cy="44787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4" name="Shape 3"/>
          <p:cNvSpPr/>
          <p:nvPr/>
        </p:nvSpPr>
        <p:spPr>
          <a:xfrm>
            <a:off x="731520" y="1874520"/>
            <a:ext cx="455400" cy="455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Image 1" descr="icons/cogs.png"/>
          <p:cNvPicPr/>
          <p:nvPr/>
        </p:nvPicPr>
        <p:blipFill>
          <a:blip r:embed="rId2"/>
          <a:stretch/>
        </p:blipFill>
        <p:spPr>
          <a:xfrm>
            <a:off x="800280" y="1943280"/>
            <a:ext cx="318240" cy="31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 4"/>
          <p:cNvSpPr/>
          <p:nvPr/>
        </p:nvSpPr>
        <p:spPr>
          <a:xfrm>
            <a:off x="1325880" y="1874520"/>
            <a:ext cx="4341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Parameter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5"/>
          <p:cNvSpPr/>
          <p:nvPr/>
        </p:nvSpPr>
        <p:spPr>
          <a:xfrm>
            <a:off x="731520" y="2514600"/>
            <a:ext cx="4798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name used INSIDE the function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a placeholder — a variable waiting to receive a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name in def greet(name):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6"/>
          <p:cNvSpPr/>
          <p:nvPr/>
        </p:nvSpPr>
        <p:spPr>
          <a:xfrm>
            <a:off x="6172200" y="1645920"/>
            <a:ext cx="5347440" cy="447876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7"/>
          <p:cNvSpPr/>
          <p:nvPr/>
        </p:nvSpPr>
        <p:spPr>
          <a:xfrm>
            <a:off x="6446520" y="1874520"/>
            <a:ext cx="455400" cy="45540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0" name="Image 2" descr="icons/ke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8240" cy="31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Text 8"/>
          <p:cNvSpPr/>
          <p:nvPr/>
        </p:nvSpPr>
        <p:spPr>
          <a:xfrm>
            <a:off x="7040880" y="1874520"/>
            <a:ext cx="4341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Argument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9"/>
          <p:cNvSpPr/>
          <p:nvPr/>
        </p:nvSpPr>
        <p:spPr>
          <a:xfrm>
            <a:off x="6446520" y="2514600"/>
            <a:ext cx="4798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actual value you pass in WHEN CALLING the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fills the placeholder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"Ahmed" in greet("Ahmed")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0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11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6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7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 vs. print — The Classic Confusion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print() just displays something on screen — the value is gone once shown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 actually hands a value back to whoever called the function, so it can be stored and reused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with only print() cannot have its result saved into a variable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1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add_v1(a,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 + b)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add_v2(a,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a +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result1 = add_v1(2, 3)   # prints 5, but result1 is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result2 = add_v2(2, 3)   # nothing printed, but result2 is 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6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With No Return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hits a return statement, it automatically returns None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happened to result1 on the previous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print("Hello,", name)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greet("Ahmed")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5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Multiple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accept as many parameters as it needs, separated by commas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Arguments are matched to parameters in order, by default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9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print(describe_student("Ahmed", 25, "Karachi"))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"Ahmed, age 25, from 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3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4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Default Parameter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parameter can have a default value, used automatically if the caller doesn't provide one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real-world functions offer sensible behavior out of the box, while still being customizable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8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calculate_price(price, discount=0.1):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print(calculate_price(100))          # 90.0 (uses default 10%)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print(calculate_price(100, 0.25))    # 75.0 (overridden)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2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3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call a function using name=value, instead of relying on argument order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makes function calls far more readable, especially with many parameters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print(describe_student(city="Karachi", name="Ahmed", age=25))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order doesn't matter when you use keyword arguments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1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Returning Multiple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return more than one value at once,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quietly packs them into a tuple — the exact tuple unpacking you already know handles the 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6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get_min_max(numbers):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min(numbers), max(numbers)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lowest, highest = get_min_max([4, 8, 15, 16, 23])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print(lowest, highest)   # 4 23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1" name="Image 0" descr="icons/glob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Scope: Local vs. Global Variables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inside a function is local — it only exists while that function is running, then disappears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outside any function is global — visible everywhere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READ a global variable, but assigning to a variable inside a function makes it local by default, even if a global with the same name exists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 = 10   # global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show_x():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print(x)   # can read the global x just fine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change_x():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x = 5      # this creates a NEW local x — the global x is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change_x()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still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9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0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Default Argument Trap: Real world known interview Question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famous, real Python gotcha: using a mutable object (like a list) as a default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default is created only ONCE, when the function is defined — not every time it's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call that relies on the default ends up sharing the exact same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PK" sz="18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Rule to remember</a:t>
            </a: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PK" sz="18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Never use a mutable object (list, dict, set, etc.) as a default function argument.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add_item(item, cart=[]):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cart.append(item)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print(add_item("apple"))    # ['apple']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print(add_item("banana"))   # ['apple', 'banana']  &lt;- unexpected!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add_item_safe(item, cart=None):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cart is None: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cart = []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cart.append(item)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8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9" name="Image 0" descr="icons/quot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0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Docstrings — Writing Professional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docstring is a short description written right under def, in triple quotes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Real, professional code is expected to have these — they show up automatically in help() and documentation tools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good docstring explains what the function does, its parameters, and what it returns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3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calculate_price(price, discount=0.1):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Calculate a discounted price.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price: the original price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discount: fraction to subtract (default 10%)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Returns: the final price after discount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print(calculate_price.__doc__)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help(calculate_price)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8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Calling Other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call another function inside it — this is called composition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programs are built almost entirely this way: small, focused functions combined into bigger behavior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"@" in email and email.endswith(".com")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register_user(name, 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not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"Invalid email"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f"Registered {name}"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print(register_user("Ahmed", "ahmed@mail.com"))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0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6" name="Image 0" descr="icons/recy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1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Refactoring Repeated Code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2"/>
          <p:cNvSpPr/>
          <p:nvPr/>
        </p:nvSpPr>
        <p:spPr>
          <a:xfrm>
            <a:off x="548640" y="1463040"/>
            <a:ext cx="511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5473F"/>
                </a:solidFill>
                <a:effectLst/>
                <a:uFillTx/>
                <a:latin typeface="Calibri"/>
                <a:ea typeface="Calibri"/>
              </a:rPr>
              <a:t>BEFORE — the same logic, copy-pasted three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3"/>
          <p:cNvSpPr/>
          <p:nvPr/>
        </p:nvSpPr>
        <p:spPr>
          <a:xfrm>
            <a:off x="548640" y="1783080"/>
            <a:ext cx="5393160" cy="420444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4"/>
          <p:cNvSpPr/>
          <p:nvPr/>
        </p:nvSpPr>
        <p:spPr>
          <a:xfrm>
            <a:off x="868680" y="2057400"/>
            <a:ext cx="475308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price1 = 100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final1 = price1 - (price1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price2 = 250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final2 = price2 - (price2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price3 = 80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final3 = price3 - (price3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5"/>
          <p:cNvSpPr/>
          <p:nvPr/>
        </p:nvSpPr>
        <p:spPr>
          <a:xfrm>
            <a:off x="6217920" y="1463040"/>
            <a:ext cx="511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 — one function, reused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6"/>
          <p:cNvSpPr/>
          <p:nvPr/>
        </p:nvSpPr>
        <p:spPr>
          <a:xfrm>
            <a:off x="6217920" y="1783080"/>
            <a:ext cx="5393160" cy="420444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 7"/>
          <p:cNvSpPr/>
          <p:nvPr/>
        </p:nvSpPr>
        <p:spPr>
          <a:xfrm>
            <a:off x="6537960" y="2057400"/>
            <a:ext cx="475308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apply_discount(price, rate=0.1):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rate)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print(apply_discount(100))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print(apply_discount(250))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print(apply_discount(80))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one place to fix a bug,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 three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8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0"/>
          <p:cNvSpPr/>
          <p:nvPr/>
        </p:nvSpPr>
        <p:spPr>
          <a:xfrm>
            <a:off x="-1828800" y="512064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7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8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Capstone: Sorting a Dictionary by Value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"/>
          <p:cNvSpPr/>
          <p:nvPr/>
        </p:nvSpPr>
        <p:spPr>
          <a:xfrm>
            <a:off x="548640" y="1828800"/>
            <a:ext cx="4753080" cy="402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can sort a dictionary's items — but it needs to be told WHAT to sort by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small helper function tells sorted() exactly that, using its key parameter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— a helper function plus sorted() — is genuinely used everywhere in real data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 means </a:t>
            </a:r>
            <a:r>
              <a:rPr lang="en-PK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"Use this function to decide what determines the sorting order.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5486400" y="1691640"/>
            <a:ext cx="6216120" cy="434160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2" name="Text 5"/>
          <p:cNvSpPr/>
          <p:nvPr/>
        </p:nvSpPr>
        <p:spPr>
          <a:xfrm>
            <a:off x="5806440" y="1965960"/>
            <a:ext cx="55760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92, "Bilal": 79}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get_score(pair):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ranked = sorted(scores.items(), key=get_score, reverse=True)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print(ranked)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[('Sara', 92), ('Ahmed', 88), ('Bilal', 79)]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6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7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0"/>
          <p:cNvSpPr/>
          <p:nvPr/>
        </p:nvSpPr>
        <p:spPr>
          <a:xfrm>
            <a:off x="-1828800" y="502920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6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7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3"/>
          <p:cNvSpPr/>
          <p:nvPr/>
        </p:nvSpPr>
        <p:spPr>
          <a:xfrm>
            <a:off x="457200" y="1600200"/>
            <a:ext cx="11272680" cy="447876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Text 4"/>
          <p:cNvSpPr/>
          <p:nvPr/>
        </p:nvSpPr>
        <p:spPr>
          <a:xfrm>
            <a:off x="822960" y="1828800"/>
            <a:ext cx="1051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5"/>
          <p:cNvSpPr/>
          <p:nvPr/>
        </p:nvSpPr>
        <p:spPr>
          <a:xfrm>
            <a:off x="822960" y="242316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2" name="Text 6"/>
          <p:cNvSpPr/>
          <p:nvPr/>
        </p:nvSpPr>
        <p:spPr>
          <a:xfrm>
            <a:off x="822960" y="242316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7"/>
          <p:cNvSpPr/>
          <p:nvPr/>
        </p:nvSpPr>
        <p:spPr>
          <a:xfrm>
            <a:off x="1435680" y="242316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takes a name and returns a greeting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8"/>
          <p:cNvSpPr/>
          <p:nvPr/>
        </p:nvSpPr>
        <p:spPr>
          <a:xfrm>
            <a:off x="822960" y="312732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 9"/>
          <p:cNvSpPr/>
          <p:nvPr/>
        </p:nvSpPr>
        <p:spPr>
          <a:xfrm>
            <a:off x="822960" y="312732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0"/>
          <p:cNvSpPr/>
          <p:nvPr/>
        </p:nvSpPr>
        <p:spPr>
          <a:xfrm>
            <a:off x="1435680" y="312732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with a default parameter, and call it both with and without providing that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11"/>
          <p:cNvSpPr/>
          <p:nvPr/>
        </p:nvSpPr>
        <p:spPr>
          <a:xfrm>
            <a:off x="822960" y="383148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8" name="Text 12"/>
          <p:cNvSpPr/>
          <p:nvPr/>
        </p:nvSpPr>
        <p:spPr>
          <a:xfrm>
            <a:off x="822960" y="383148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3"/>
          <p:cNvSpPr/>
          <p:nvPr/>
        </p:nvSpPr>
        <p:spPr>
          <a:xfrm>
            <a:off x="1435680" y="383148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two values at once, and unpack them into two variables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4"/>
          <p:cNvSpPr/>
          <p:nvPr/>
        </p:nvSpPr>
        <p:spPr>
          <a:xfrm>
            <a:off x="822960" y="453528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15"/>
          <p:cNvSpPr/>
          <p:nvPr/>
        </p:nvSpPr>
        <p:spPr>
          <a:xfrm>
            <a:off x="822960" y="453528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6"/>
          <p:cNvSpPr/>
          <p:nvPr/>
        </p:nvSpPr>
        <p:spPr>
          <a:xfrm>
            <a:off x="1435680" y="453528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trigger the mutable default argument bug, then fix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17"/>
          <p:cNvSpPr/>
          <p:nvPr/>
        </p:nvSpPr>
        <p:spPr>
          <a:xfrm>
            <a:off x="822960" y="5239440"/>
            <a:ext cx="382320" cy="38232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4" name="Text 18"/>
          <p:cNvSpPr/>
          <p:nvPr/>
        </p:nvSpPr>
        <p:spPr>
          <a:xfrm>
            <a:off x="822960" y="5239440"/>
            <a:ext cx="3823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9"/>
          <p:cNvSpPr/>
          <p:nvPr/>
        </p:nvSpPr>
        <p:spPr>
          <a:xfrm>
            <a:off x="1435680" y="5239440"/>
            <a:ext cx="95810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short docstring for one of your own functions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0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21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Shape 0"/>
          <p:cNvSpPr/>
          <p:nvPr/>
        </p:nvSpPr>
        <p:spPr>
          <a:xfrm>
            <a:off x="-1828800" y="41148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Shape 1"/>
          <p:cNvSpPr/>
          <p:nvPr/>
        </p:nvSpPr>
        <p:spPr>
          <a:xfrm>
            <a:off x="9601200" y="-22860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2"/>
          <p:cNvSpPr/>
          <p:nvPr/>
        </p:nvSpPr>
        <p:spPr>
          <a:xfrm>
            <a:off x="5591520" y="731520"/>
            <a:ext cx="1004040" cy="100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1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360" cy="7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3"/>
          <p:cNvSpPr/>
          <p:nvPr/>
        </p:nvSpPr>
        <p:spPr>
          <a:xfrm>
            <a:off x="914400" y="1965960"/>
            <a:ext cx="1035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4"/>
          <p:cNvSpPr/>
          <p:nvPr/>
        </p:nvSpPr>
        <p:spPr>
          <a:xfrm>
            <a:off x="914400" y="2377440"/>
            <a:ext cx="103582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You'll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5"/>
          <p:cNvSpPr/>
          <p:nvPr/>
        </p:nvSpPr>
        <p:spPr>
          <a:xfrm>
            <a:off x="1463040" y="4572000"/>
            <a:ext cx="92610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inventories, deduplication, and reusable validators are real, everyday work.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6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0"/>
          <p:cNvSpPr/>
          <p:nvPr/>
        </p:nvSpPr>
        <p:spPr>
          <a:xfrm>
            <a:off x="-1828800" y="502920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7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8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9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3"/>
          <p:cNvSpPr/>
          <p:nvPr/>
        </p:nvSpPr>
        <p:spPr>
          <a:xfrm>
            <a:off x="457200" y="1600200"/>
            <a:ext cx="11272680" cy="447876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1" name="Text 4"/>
          <p:cNvSpPr/>
          <p:nvPr/>
        </p:nvSpPr>
        <p:spPr>
          <a:xfrm>
            <a:off x="822960" y="1828800"/>
            <a:ext cx="1051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5"/>
          <p:cNvSpPr/>
          <p:nvPr/>
        </p:nvSpPr>
        <p:spPr>
          <a:xfrm>
            <a:off x="822960" y="242316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3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Shape 6"/>
          <p:cNvSpPr/>
          <p:nvPr/>
        </p:nvSpPr>
        <p:spPr>
          <a:xfrm>
            <a:off x="1371600" y="244152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1371600" y="244152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8"/>
          <p:cNvSpPr/>
          <p:nvPr/>
        </p:nvSpPr>
        <p:spPr>
          <a:xfrm>
            <a:off x="1920240" y="242316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simple inventory system: a dictionary of product names to stock counts, then add, update, and remove a few items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822960" y="359676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8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65688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9" name="Shape 10"/>
          <p:cNvSpPr/>
          <p:nvPr/>
        </p:nvSpPr>
        <p:spPr>
          <a:xfrm>
            <a:off x="1371600" y="361476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0" name="Text 11"/>
          <p:cNvSpPr/>
          <p:nvPr/>
        </p:nvSpPr>
        <p:spPr>
          <a:xfrm>
            <a:off x="1371600" y="361476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2"/>
          <p:cNvSpPr/>
          <p:nvPr/>
        </p:nvSpPr>
        <p:spPr>
          <a:xfrm>
            <a:off x="1920240" y="359676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dictionary shaped like a fake API response (nested keys) — extract and print 3 specific nested values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13"/>
          <p:cNvSpPr/>
          <p:nvPr/>
        </p:nvSpPr>
        <p:spPr>
          <a:xfrm>
            <a:off x="822960" y="477000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3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Shape 14"/>
          <p:cNvSpPr/>
          <p:nvPr/>
        </p:nvSpPr>
        <p:spPr>
          <a:xfrm>
            <a:off x="1371600" y="478836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5" name="Text 15"/>
          <p:cNvSpPr/>
          <p:nvPr/>
        </p:nvSpPr>
        <p:spPr>
          <a:xfrm>
            <a:off x="1371600" y="478836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6"/>
          <p:cNvSpPr/>
          <p:nvPr/>
        </p:nvSpPr>
        <p:spPr>
          <a:xfrm>
            <a:off x="1920240" y="477000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word-frequency counter on a full paragraph of your choice, then print the 3 most common words using sorted()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Shape 0"/>
          <p:cNvSpPr/>
          <p:nvPr/>
        </p:nvSpPr>
        <p:spPr>
          <a:xfrm>
            <a:off x="-1828800" y="5029200"/>
            <a:ext cx="3655800" cy="36558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1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2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"/>
          <p:cNvSpPr/>
          <p:nvPr/>
        </p:nvSpPr>
        <p:spPr>
          <a:xfrm>
            <a:off x="457200" y="1600200"/>
            <a:ext cx="11272680" cy="447876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4" name="Text 4"/>
          <p:cNvSpPr/>
          <p:nvPr/>
        </p:nvSpPr>
        <p:spPr>
          <a:xfrm>
            <a:off x="822960" y="1828800"/>
            <a:ext cx="1051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5"/>
          <p:cNvSpPr/>
          <p:nvPr/>
        </p:nvSpPr>
        <p:spPr>
          <a:xfrm>
            <a:off x="822960" y="242316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6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Shape 6"/>
          <p:cNvSpPr/>
          <p:nvPr/>
        </p:nvSpPr>
        <p:spPr>
          <a:xfrm>
            <a:off x="1371600" y="244152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8" name="Text 7"/>
          <p:cNvSpPr/>
          <p:nvPr/>
        </p:nvSpPr>
        <p:spPr>
          <a:xfrm>
            <a:off x="1371600" y="244152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8"/>
          <p:cNvSpPr/>
          <p:nvPr/>
        </p:nvSpPr>
        <p:spPr>
          <a:xfrm>
            <a:off x="1920240" y="242316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email addresses with overlaps — use sets to build one clean, duplicate-free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9"/>
          <p:cNvSpPr/>
          <p:nvPr/>
        </p:nvSpPr>
        <p:spPr>
          <a:xfrm>
            <a:off x="822960" y="359676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1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65688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2" name="Shape 10"/>
          <p:cNvSpPr/>
          <p:nvPr/>
        </p:nvSpPr>
        <p:spPr>
          <a:xfrm>
            <a:off x="1371600" y="361476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3" name="Text 11"/>
          <p:cNvSpPr/>
          <p:nvPr/>
        </p:nvSpPr>
        <p:spPr>
          <a:xfrm>
            <a:off x="1371600" y="361476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2"/>
          <p:cNvSpPr/>
          <p:nvPr/>
        </p:nvSpPr>
        <p:spPr>
          <a:xfrm>
            <a:off x="1920240" y="359676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user IDs from two different systems — use sets to find which users exist in both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3"/>
          <p:cNvSpPr/>
          <p:nvPr/>
        </p:nvSpPr>
        <p:spPr>
          <a:xfrm>
            <a:off x="822960" y="477000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6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7" name="Shape 14"/>
          <p:cNvSpPr/>
          <p:nvPr/>
        </p:nvSpPr>
        <p:spPr>
          <a:xfrm>
            <a:off x="1371600" y="478836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8" name="Text 15"/>
          <p:cNvSpPr/>
          <p:nvPr/>
        </p:nvSpPr>
        <p:spPr>
          <a:xfrm>
            <a:off x="1371600" y="478836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6"/>
          <p:cNvSpPr/>
          <p:nvPr/>
        </p:nvSpPr>
        <p:spPr>
          <a:xfrm>
            <a:off x="1920240" y="477000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one list of user IDs — use sets to find which ones are NOT in a second "banned"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0"/>
          <p:cNvSpPr/>
          <p:nvPr/>
        </p:nvSpPr>
        <p:spPr>
          <a:xfrm>
            <a:off x="-1828800" y="5029200"/>
            <a:ext cx="3655800" cy="3655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3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4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5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3"/>
          <p:cNvSpPr/>
          <p:nvPr/>
        </p:nvSpPr>
        <p:spPr>
          <a:xfrm>
            <a:off x="457200" y="1600200"/>
            <a:ext cx="11272680" cy="447876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7" name="Text 4"/>
          <p:cNvSpPr/>
          <p:nvPr/>
        </p:nvSpPr>
        <p:spPr>
          <a:xfrm>
            <a:off x="822960" y="1828800"/>
            <a:ext cx="1051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5"/>
          <p:cNvSpPr/>
          <p:nvPr/>
        </p:nvSpPr>
        <p:spPr>
          <a:xfrm>
            <a:off x="822960" y="242316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9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0" name="Shape 6"/>
          <p:cNvSpPr/>
          <p:nvPr/>
        </p:nvSpPr>
        <p:spPr>
          <a:xfrm>
            <a:off x="1371600" y="244152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1" name="Text 7"/>
          <p:cNvSpPr/>
          <p:nvPr/>
        </p:nvSpPr>
        <p:spPr>
          <a:xfrm>
            <a:off x="1371600" y="244152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8"/>
          <p:cNvSpPr/>
          <p:nvPr/>
        </p:nvSpPr>
        <p:spPr>
          <a:xfrm>
            <a:off x="1920240" y="242316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reusable is_valid_password(password) function: valid only if 8+ characters and contains a digit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9"/>
          <p:cNvSpPr/>
          <p:nvPr/>
        </p:nvSpPr>
        <p:spPr>
          <a:xfrm>
            <a:off x="822960" y="348984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4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55032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5" name="Shape 10"/>
          <p:cNvSpPr/>
          <p:nvPr/>
        </p:nvSpPr>
        <p:spPr>
          <a:xfrm>
            <a:off x="1371600" y="350820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6" name="Text 11"/>
          <p:cNvSpPr/>
          <p:nvPr/>
        </p:nvSpPr>
        <p:spPr>
          <a:xfrm>
            <a:off x="1371600" y="350820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2"/>
          <p:cNvSpPr/>
          <p:nvPr/>
        </p:nvSpPr>
        <p:spPr>
          <a:xfrm>
            <a:off x="1920240" y="348984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rate=0.1) function, and use it to replace 3 repeated manual calculations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13"/>
          <p:cNvSpPr/>
          <p:nvPr/>
        </p:nvSpPr>
        <p:spPr>
          <a:xfrm>
            <a:off x="822960" y="4556880"/>
            <a:ext cx="400680" cy="40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9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617000"/>
            <a:ext cx="279720" cy="2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0" name="Shape 14"/>
          <p:cNvSpPr/>
          <p:nvPr/>
        </p:nvSpPr>
        <p:spPr>
          <a:xfrm>
            <a:off x="1371600" y="4574880"/>
            <a:ext cx="400680" cy="363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1" name="Text 15"/>
          <p:cNvSpPr/>
          <p:nvPr/>
        </p:nvSpPr>
        <p:spPr>
          <a:xfrm>
            <a:off x="1371600" y="4574880"/>
            <a:ext cx="400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6"/>
          <p:cNvSpPr/>
          <p:nvPr/>
        </p:nvSpPr>
        <p:spPr>
          <a:xfrm>
            <a:off x="1920240" y="4556880"/>
            <a:ext cx="9507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 piece of your own repeated code from an earlier session, and refactor it into one function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7"/>
          <p:cNvSpPr/>
          <p:nvPr/>
        </p:nvSpPr>
        <p:spPr>
          <a:xfrm>
            <a:off x="822960" y="5760720"/>
            <a:ext cx="10513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10 core tasks in total — due before our next class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8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19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-1828800" y="41148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7" name="Shape 1"/>
          <p:cNvSpPr/>
          <p:nvPr/>
        </p:nvSpPr>
        <p:spPr>
          <a:xfrm>
            <a:off x="9601200" y="-22860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"/>
          <p:cNvSpPr/>
          <p:nvPr/>
        </p:nvSpPr>
        <p:spPr>
          <a:xfrm>
            <a:off x="5591520" y="731520"/>
            <a:ext cx="1004040" cy="100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9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360" cy="7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Text 3"/>
          <p:cNvSpPr/>
          <p:nvPr/>
        </p:nvSpPr>
        <p:spPr>
          <a:xfrm>
            <a:off x="914400" y="1965960"/>
            <a:ext cx="1035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4"/>
          <p:cNvSpPr/>
          <p:nvPr/>
        </p:nvSpPr>
        <p:spPr>
          <a:xfrm>
            <a:off x="914400" y="2377440"/>
            <a:ext cx="103582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5"/>
          <p:cNvSpPr/>
          <p:nvPr/>
        </p:nvSpPr>
        <p:spPr>
          <a:xfrm>
            <a:off x="1463040" y="4572000"/>
            <a:ext cx="92610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dictionaries, sets, and functions — genuinely close to real early-career tasks.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6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0"/>
          <p:cNvSpPr/>
          <p:nvPr/>
        </p:nvSpPr>
        <p:spPr>
          <a:xfrm>
            <a:off x="10515600" y="5669280"/>
            <a:ext cx="3198600" cy="31986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5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6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7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Contact Book Manager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Shape 3"/>
          <p:cNvSpPr/>
          <p:nvPr/>
        </p:nvSpPr>
        <p:spPr>
          <a:xfrm>
            <a:off x="457200" y="1554480"/>
            <a:ext cx="3655800" cy="466164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1508760" y="2194560"/>
            <a:ext cx="1552680" cy="155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0" name="Image 1" descr="icons/addressboo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480" cy="10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1" name="Text 5"/>
          <p:cNvSpPr/>
          <p:nvPr/>
        </p:nvSpPr>
        <p:spPr>
          <a:xfrm>
            <a:off x="640080" y="3977640"/>
            <a:ext cx="3290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6"/>
          <p:cNvSpPr/>
          <p:nvPr/>
        </p:nvSpPr>
        <p:spPr>
          <a:xfrm>
            <a:off x="4572000" y="1737360"/>
            <a:ext cx="713052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contacts as a dictionary of dictionaries: {"Ahmed": {"phone": "...", "city": "..."}, ...}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separate functions: add_contact(), find_contact(), remove_contact() — each one operating on the same contacts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inside find_contact() so looking up a missing name never crashes the program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small real applications are structured — data plus functions that operate on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10515600" y="5669280"/>
            <a:ext cx="3198600" cy="319860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6" name="Shape 1"/>
          <p:cNvSpPr/>
          <p:nvPr/>
        </p:nvSpPr>
        <p:spPr>
          <a:xfrm>
            <a:off x="457200" y="457200"/>
            <a:ext cx="638280" cy="63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7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400" cy="4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8" name="Text 2"/>
          <p:cNvSpPr/>
          <p:nvPr/>
        </p:nvSpPr>
        <p:spPr>
          <a:xfrm>
            <a:off x="1280160" y="457200"/>
            <a:ext cx="1042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Student Grade Analyzer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3"/>
          <p:cNvSpPr/>
          <p:nvPr/>
        </p:nvSpPr>
        <p:spPr>
          <a:xfrm>
            <a:off x="457200" y="1554480"/>
            <a:ext cx="3655800" cy="466164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0" name="Shape 4"/>
          <p:cNvSpPr/>
          <p:nvPr/>
        </p:nvSpPr>
        <p:spPr>
          <a:xfrm>
            <a:off x="1508760" y="2194560"/>
            <a:ext cx="1552680" cy="155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1" name="Image 1" descr="icons/char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480" cy="10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2" name="Text 5"/>
          <p:cNvSpPr/>
          <p:nvPr/>
        </p:nvSpPr>
        <p:spPr>
          <a:xfrm>
            <a:off x="640080" y="3977640"/>
            <a:ext cx="3290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dicts, sets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&amp; functions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6"/>
          <p:cNvSpPr/>
          <p:nvPr/>
        </p:nvSpPr>
        <p:spPr>
          <a:xfrm>
            <a:off x="4572000" y="1737360"/>
            <a:ext cx="713052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list of dictionaries: [{"name": "Ahmed", "grade": "A"}, {"name": "Sara", "grade": "B"}, ...]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how many students got each grade, as a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set to find and print the unique grade levels that appear at all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the names of every student with an "A", using the accumulator pattern from Loops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7"/>
          <p:cNvSpPr/>
          <p:nvPr/>
        </p:nvSpPr>
        <p:spPr>
          <a:xfrm>
            <a:off x="457200" y="64465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8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0"/>
          <p:cNvSpPr/>
          <p:nvPr/>
        </p:nvSpPr>
        <p:spPr>
          <a:xfrm>
            <a:off x="-1828800" y="41148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7" name="Shape 1"/>
          <p:cNvSpPr/>
          <p:nvPr/>
        </p:nvSpPr>
        <p:spPr>
          <a:xfrm>
            <a:off x="9601200" y="-2286000"/>
            <a:ext cx="5484600" cy="548460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5591520" y="731520"/>
            <a:ext cx="1004040" cy="100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9" name="Image 0" descr="icons/co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360" cy="7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0" name="Text 3"/>
          <p:cNvSpPr/>
          <p:nvPr/>
        </p:nvSpPr>
        <p:spPr>
          <a:xfrm>
            <a:off x="914400" y="1965960"/>
            <a:ext cx="1035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4"/>
          <p:cNvSpPr/>
          <p:nvPr/>
        </p:nvSpPr>
        <p:spPr>
          <a:xfrm>
            <a:off x="914400" y="2377440"/>
            <a:ext cx="103582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 and sets are how real data is actually shaped.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 are how real code actually stays maintainable.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1463040" y="4572000"/>
            <a:ext cx="92610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Next: advanced functions — *args, **kwargs, lambda, recursion, and closures.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6"/>
          <p:cNvSpPr/>
          <p:nvPr/>
        </p:nvSpPr>
        <p:spPr>
          <a:xfrm>
            <a:off x="11521440" y="644652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336</TotalTime>
  <Application>LibreOffice/26.2.4.2$Linux_X86_64 LibreOffice_project/620$Build-2</Application>
  <AppVersion>15.0000</AppVersion>
  <Words>5735</Words>
  <Paragraphs>741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2026-08-08T08:23:51Z</dcterms:created>
  <dc:creator>Course Instructor</dc:creator>
  <dc:description/>
  <dc:language>en-US</dc:language>
  <cp:lastModifiedBy/>
  <dcterms:modified xsi:type="dcterms:W3CDTF">2026-08-21T22:51:15Z</dcterms:modified>
  <cp:revision>40</cp:revision>
  <dc:subject>PptxGenJS Presentation</dc:subject>
  <dc:title>Dictionaries, Sets &amp; Functions — Session 8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58</vt:i4>
  </property>
  <property fmtid="{D5CDD505-2E9C-101B-9397-08002B2CF9AE}" pid="3" name="PresentationFormat">
    <vt:lpwstr>Widescreen</vt:lpwstr>
  </property>
  <property fmtid="{D5CDD505-2E9C-101B-9397-08002B2CF9AE}" pid="4" name="Slides">
    <vt:i4>58</vt:i4>
  </property>
</Properties>
</file>