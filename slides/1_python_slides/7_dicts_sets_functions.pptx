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81A8D83-EA62-47B3-B346-BC081FB83A0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Title slide. This is a dense, industry-focused session — pace accordingly, likely needs 2 sittings.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084A785-7D4D-4F8C-BEE0-611617853F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ABC4F4A-601A-49B4-8C71-EA27114582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63E4AA9-B5F6-4F8D-ABC3-9729492B0F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99DC22D-9913-4516-8ED5-B6D34F7B8F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grid is the pitch for the whole topic — dictionaries are not an abstract exercise, they are the real shape of real data.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4C50646-C55B-4E34-93E5-9E14D7FF67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B9B03C6-4EAD-4AAB-A61E-1062EE41EA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5FDD5C4-A62A-4203-98FF-5DAF7AA8B2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exact pattern — .get() with a fallback — is what real code uses when reading data from an API that might be missing fields.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B3F2118-C4CD-465F-BC2C-43141D7DC7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6568EE4-ACEE-465B-B09A-57358BA13A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45F54F5-58FA-441E-95AB-F0E50C3ED7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emphasizing: in checks keys by default, a common early misunderstanding.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DA36AD8-4561-45E4-82AA-28E890CD7A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36BA15C-D7FF-4C35-B565-4E629658EE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payoff from the Loops session — this pattern shows up constantly in real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C8CD983-BEEA-4997-AD25-3F71E884532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precisely what Python's collections.Counter automates — worth mentioning that shortcut exists.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5663B32-D36F-4245-BD1C-A4207C0FE7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AD472FA-D0B1-488A-9DB5-0AD5A64693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this out explicitly: this IS what real datasets look like before pandas simplifies working with them.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9C84B5E-6CE4-4B61-A5C6-7659C79514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C1BF023-74F3-4F3C-8868-6D1AC7518D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C6B8697-354A-4871-94E8-34EEA458D0A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D9037ED-D311-4932-AD1C-DBB9F87F49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48C03DE-FB59-4442-8C4A-5F168F58B6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E571236-0783-462D-ACAF-23AD83F3E5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{} gotcha is genuinely common — worth flagging clearly.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419E4EE-E52C-4D8A-A6A1-3E1CC4C18F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5321D0D-3952-4657-A6BD-4643FFD5AFE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99D007D-1993-4951-8E56-4B247E92A5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64645B4-373D-4F62-88FC-7EB74F9DC4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example: "students who passed both exams" is exactly a set intersection.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511AEFB-874B-4DA8-AC95-FEF36C9CDA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197A04B-95CB-499A-9541-F5D869D056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7801295-25F1-4FC3-A743-181A7F52F0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A73391F-1EA2-47CF-A866-250888C4CF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the time-complexity conversation from the Lists session — a genuine reason to reach for a set, not just a style choice.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213EA5C-612E-4E88-A6FE-CEE2CBBD32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03431B3-52D3-4A14-BF4E-635250DDEE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E661DED-2AE5-496A-A5F6-3E39C3865FE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B1B9D45-0D30-4E15-9DD1-2F95B7CF4C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631A050-74D7-4363-AD34-B269FE700F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C207C80-9335-4CD9-86ED-3D102B1444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14E9451-EB6E-41DC-9039-73AEE11019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genuinely the single most common beginner confusion with functions — spend real time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E6A9E04-F7E4-40E9-B994-C030BFEBAE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3236D96-5A40-4D95-AEF6-6667DB7359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5AC67FB-A758-418C-81D2-207C19928F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E9600B9-D3BD-4904-9BA8-510EF5AEAD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80E23E1-523A-4793-828D-E2A3CFF99E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satisfying callback to tuple packing/unpacking from Session 5.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A30F593-9219-4375-B436-90D7D17DC3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important, often-confusing topic — worth a live demo, not just reading the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A73136F-81A8-4473-A505-FD7A6E008BB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real, well-known interview question — worth treating with real weight, not as a footnote.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3243EFC-97C9-4275-B84B-37673E2D07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52AA821-BC1F-44A9-AEDC-07C999F872B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CC0FBFD-AA08-4EAA-A098-5EA3C98974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side-by-side is the whole pitch for functions in one image — spend real time on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B264832-740D-4B8E-B7A0-C59D0D4C01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Ties Dictionaries and Functions together directly — a great "everything you learned today, at once" moment.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7BE12D7-758F-437A-A599-142425ABB2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90AC74-3EBC-40E1-9DD7-14CF8D0F79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C22DDE9-9B06-495F-A647-FA0DDA092C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46B86AE-25F9-453E-AFA4-52F357CD7C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26ED232-9D1D-4EBB-A422-DB4CB93ACFD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9FB42BF-B6D1-4DCE-BA52-9314FE25FA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C6CCFFB-7E5F-4B6E-A263-841A4BFC97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DC8E639-F153-4791-81C3-586200B2A3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314347-3D5B-4C4C-8B85-97C4280C53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revisiting the refactoring case study — ask students where THEY have repeated code that could become a function.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35EDC9C-6485-4C3F-AA66-0E6F47346F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4.png"/><Relationship Id="rId3" Type="http://schemas.openxmlformats.org/officeDocument/2006/relationships/image" Target="../media/image14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8000" cy="11880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" name="Image 0" descr="icons/addressbook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1240" cy="83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3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Dictionaries, Sets &amp; Functions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Real-World Data &amp; Reusable Logic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55448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03360" y="162000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" name="Image 1" descr="icons/addressbook.png"/>
          <p:cNvPicPr/>
          <p:nvPr/>
        </p:nvPicPr>
        <p:blipFill>
          <a:blip r:embed="rId2"/>
          <a:stretch/>
        </p:blipFill>
        <p:spPr>
          <a:xfrm>
            <a:off x="654120" y="167076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280160" y="155448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Dictionaries — key-value data, exactly like real APIs and databases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09592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03360" y="216144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" name="Image 2" descr="icons/key.png"/>
          <p:cNvPicPr/>
          <p:nvPr/>
        </p:nvPicPr>
        <p:blipFill>
          <a:blip r:embed="rId3"/>
          <a:stretch/>
        </p:blipFill>
        <p:spPr>
          <a:xfrm>
            <a:off x="654120" y="221220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280160" y="209592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Accessing, updating, and safely handling missing keys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3736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03360" y="270324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" name="Image 3" descr="icons/database.png"/>
          <p:cNvPicPr/>
          <p:nvPr/>
        </p:nvPicPr>
        <p:blipFill>
          <a:blip r:embed="rId4"/>
          <a:stretch/>
        </p:blipFill>
        <p:spPr>
          <a:xfrm>
            <a:off x="654120" y="275364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280160" y="263736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dictionaries &amp; lists of dictionaries — how real data actually looks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17916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03360" y="324468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6" name="Image 4" descr="icons/tags.png"/>
          <p:cNvPicPr/>
          <p:nvPr/>
        </p:nvPicPr>
        <p:blipFill>
          <a:blip r:embed="rId5"/>
          <a:stretch/>
        </p:blipFill>
        <p:spPr>
          <a:xfrm>
            <a:off x="654120" y="329508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280160" y="317916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— unique values, and the four core set operations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2060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03360" y="378612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0" name="Image 5" descr="icons/bolt.png"/>
          <p:cNvPicPr/>
          <p:nvPr/>
        </p:nvPicPr>
        <p:blipFill>
          <a:blip r:embed="rId6"/>
          <a:stretch/>
        </p:blipFill>
        <p:spPr>
          <a:xfrm>
            <a:off x="654120" y="383688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280160" y="372060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sets are faster — a real performance reason to use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6204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03360" y="432756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" name="Image 6" descr="icons/cogs.png"/>
          <p:cNvPicPr/>
          <p:nvPr/>
        </p:nvPicPr>
        <p:blipFill>
          <a:blip r:embed="rId7"/>
          <a:stretch/>
        </p:blipFill>
        <p:spPr>
          <a:xfrm>
            <a:off x="654120" y="437832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280160" y="426204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Functions — why they exist, and how the industry actually uses them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0348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03360" y="486936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" name="Image 7" descr="icons/globe.png"/>
          <p:cNvPicPr/>
          <p:nvPr/>
        </p:nvPicPr>
        <p:blipFill>
          <a:blip r:embed="rId8"/>
          <a:stretch/>
        </p:blipFill>
        <p:spPr>
          <a:xfrm>
            <a:off x="654120" y="491976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280160" y="480348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Scope, default arguments, and a famous Python gotcha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4528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03360" y="541080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" name="Image 8" descr="icons/recycle.png"/>
          <p:cNvPicPr/>
          <p:nvPr/>
        </p:nvPicPr>
        <p:blipFill>
          <a:blip r:embed="rId9"/>
          <a:stretch/>
        </p:blipFill>
        <p:spPr>
          <a:xfrm>
            <a:off x="654120" y="546120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280160" y="534528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Refactoring repeated code into functions — a real case study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886720"/>
            <a:ext cx="11273760" cy="467640"/>
          </a:xfrm>
          <a:prstGeom prst="roundRect">
            <a:avLst>
              <a:gd name="adj" fmla="val 13666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03360" y="5952240"/>
            <a:ext cx="336600" cy="336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0"/>
          <a:stretch/>
        </p:blipFill>
        <p:spPr>
          <a:xfrm>
            <a:off x="654120" y="6003000"/>
            <a:ext cx="235440" cy="2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280160" y="5886720"/>
            <a:ext cx="101491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Industry-style tasks and two mini projects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" name="Image 0" descr="icons/addressbook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data structure behind almost every API, config file, and database record you'll ever touch.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Dictionary?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4" name="Image 1" descr="icons/addressboo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Labeled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boxes, not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numbered ones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stores data as key-value pairs — a label, and the value that belongs to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real address book: you look someone up by name, not by "the 5th contact"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is organized by position (index 0, 1, 2...). A dictionary is organized by meaning (name, age, city...)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shift — from position to meaning — is why dictionaries are everywhere in real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45720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150660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4" name="Image 1" descr="icons/addressbook.png"/>
          <p:cNvPicPr/>
          <p:nvPr/>
        </p:nvPicPr>
        <p:blipFill>
          <a:blip r:embed="rId2"/>
          <a:stretch/>
        </p:blipFill>
        <p:spPr>
          <a:xfrm>
            <a:off x="158868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4"/>
          <p:cNvSpPr/>
          <p:nvPr/>
        </p:nvSpPr>
        <p:spPr>
          <a:xfrm>
            <a:off x="54864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Contact Lists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60336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Name → phone number, exactly like your phone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333288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438228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Image 2" descr="icons/database.png"/>
          <p:cNvPicPr/>
          <p:nvPr/>
        </p:nvPicPr>
        <p:blipFill>
          <a:blip r:embed="rId3"/>
          <a:stretch/>
        </p:blipFill>
        <p:spPr>
          <a:xfrm>
            <a:off x="446472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8"/>
          <p:cNvSpPr/>
          <p:nvPr/>
        </p:nvSpPr>
        <p:spPr>
          <a:xfrm>
            <a:off x="342432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Database Rows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347940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Column name → value, for one record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0"/>
          <p:cNvSpPr/>
          <p:nvPr/>
        </p:nvSpPr>
        <p:spPr>
          <a:xfrm>
            <a:off x="620892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725796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 3" descr="icons/code.png"/>
          <p:cNvPicPr/>
          <p:nvPr/>
        </p:nvPicPr>
        <p:blipFill>
          <a:blip r:embed="rId4"/>
          <a:stretch/>
        </p:blipFill>
        <p:spPr>
          <a:xfrm>
            <a:off x="734040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ext 12"/>
          <p:cNvSpPr/>
          <p:nvPr/>
        </p:nvSpPr>
        <p:spPr>
          <a:xfrm>
            <a:off x="630036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JSON from an API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635508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Nearly every web API returns data shaped exactly like a Python dict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9084600" y="1508760"/>
            <a:ext cx="2646360" cy="4891320"/>
          </a:xfrm>
          <a:prstGeom prst="roundRect">
            <a:avLst>
              <a:gd name="adj" fmla="val 2763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013400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9" name="Image 4" descr="icons/terminal.png"/>
          <p:cNvPicPr/>
          <p:nvPr/>
        </p:nvPicPr>
        <p:blipFill>
          <a:blip r:embed="rId5"/>
          <a:stretch/>
        </p:blipFill>
        <p:spPr>
          <a:xfrm>
            <a:off x="1021608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16"/>
          <p:cNvSpPr/>
          <p:nvPr/>
        </p:nvSpPr>
        <p:spPr>
          <a:xfrm>
            <a:off x="9176040" y="2717640"/>
            <a:ext cx="2463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Config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9230760" y="3101760"/>
            <a:ext cx="235404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Settings stored as name → value, like "volume": 80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{ } create a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entry is key: value,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Keys are usually strings; values can be absolutely anything — even another dictionary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"age": 25,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"city": 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print(type(contact))   # &lt;class 'dict'&gt;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4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Dictionary, Visualized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48640" y="1417320"/>
            <a:ext cx="11090880" cy="50220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31520" y="1417320"/>
            <a:ext cx="10725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 Ali", "age": 25, "city": "Karachi"}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1828800" y="2377440"/>
            <a:ext cx="265104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192024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828800" y="24231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1874520" y="276156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 Ali"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4617720" y="2377440"/>
            <a:ext cx="265104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470916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4617720" y="24231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63440" y="276156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2"/>
          <p:cNvSpPr/>
          <p:nvPr/>
        </p:nvSpPr>
        <p:spPr>
          <a:xfrm>
            <a:off x="7406640" y="2377440"/>
            <a:ext cx="265104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7498080" y="2724840"/>
            <a:ext cx="246888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7406640" y="2423160"/>
            <a:ext cx="26510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7452360" y="2761560"/>
            <a:ext cx="25596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548640" y="3931920"/>
            <a:ext cx="1109088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contact["name"]  →  "Ahmed Ali"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Each box is labeled by its key, not by a position — there is no index 0 or 1 here at all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key visual difference from the list diagrams you've already seen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5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Accessing Values: [ ] vs. .get()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contact["key"] gets the value — but crashes with a KeyError if the key doesn't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.get("key") returns None instead of crashing, and you can even set your own fallback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real code, .get() is almost always the safer choice for data you don't fully control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print(contact["name"])        # 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print(contact["email"])   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print(contact.get("email"))           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print(contact.get("email", "N/A"))       # "N/A"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-1828800" y="521208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4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Updating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548640" y="1417320"/>
            <a:ext cx="11090880" cy="50220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31520" y="1417320"/>
            <a:ext cx="10725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contact["email"] = "ahmed@email.com"   -&gt;   adds a brand-new 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21488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BEFORE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548640" y="2514600"/>
            <a:ext cx="23767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6400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48640" y="2560320"/>
            <a:ext cx="2376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594360" y="2898720"/>
            <a:ext cx="22852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3063240" y="2514600"/>
            <a:ext cx="23767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3154680" y="2862000"/>
            <a:ext cx="21945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12"/>
          <p:cNvSpPr/>
          <p:nvPr/>
        </p:nvSpPr>
        <p:spPr>
          <a:xfrm>
            <a:off x="3063240" y="2560320"/>
            <a:ext cx="2376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3"/>
          <p:cNvSpPr/>
          <p:nvPr/>
        </p:nvSpPr>
        <p:spPr>
          <a:xfrm>
            <a:off x="3108960" y="2898720"/>
            <a:ext cx="22852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4"/>
          <p:cNvSpPr/>
          <p:nvPr/>
        </p:nvSpPr>
        <p:spPr>
          <a:xfrm>
            <a:off x="5806440" y="2468880"/>
            <a:ext cx="547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5"/>
          <p:cNvSpPr/>
          <p:nvPr/>
        </p:nvSpPr>
        <p:spPr>
          <a:xfrm>
            <a:off x="6492240" y="21488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0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6"/>
          <p:cNvSpPr/>
          <p:nvPr/>
        </p:nvSpPr>
        <p:spPr>
          <a:xfrm>
            <a:off x="6492240" y="2514600"/>
            <a:ext cx="16909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17"/>
          <p:cNvSpPr/>
          <p:nvPr/>
        </p:nvSpPr>
        <p:spPr>
          <a:xfrm>
            <a:off x="65836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8"/>
          <p:cNvSpPr/>
          <p:nvPr/>
        </p:nvSpPr>
        <p:spPr>
          <a:xfrm>
            <a:off x="6492240" y="2560320"/>
            <a:ext cx="16909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9"/>
          <p:cNvSpPr/>
          <p:nvPr/>
        </p:nvSpPr>
        <p:spPr>
          <a:xfrm>
            <a:off x="6537960" y="289872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0"/>
          <p:cNvSpPr/>
          <p:nvPr/>
        </p:nvSpPr>
        <p:spPr>
          <a:xfrm>
            <a:off x="8321040" y="2514600"/>
            <a:ext cx="1690920" cy="867960"/>
          </a:xfrm>
          <a:prstGeom prst="roundRect">
            <a:avLst>
              <a:gd name="adj" fmla="val 6316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21"/>
          <p:cNvSpPr/>
          <p:nvPr/>
        </p:nvSpPr>
        <p:spPr>
          <a:xfrm>
            <a:off x="8412480" y="2862000"/>
            <a:ext cx="1508760" cy="360"/>
          </a:xfrm>
          <a:prstGeom prst="line">
            <a:avLst/>
          </a:prstGeom>
          <a:ln w="9525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22"/>
          <p:cNvSpPr/>
          <p:nvPr/>
        </p:nvSpPr>
        <p:spPr>
          <a:xfrm>
            <a:off x="8321040" y="2560320"/>
            <a:ext cx="16909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3"/>
          <p:cNvSpPr/>
          <p:nvPr/>
        </p:nvSpPr>
        <p:spPr>
          <a:xfrm>
            <a:off x="8366760" y="289872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4"/>
          <p:cNvSpPr/>
          <p:nvPr/>
        </p:nvSpPr>
        <p:spPr>
          <a:xfrm>
            <a:off x="10149840" y="2514600"/>
            <a:ext cx="1690920" cy="867960"/>
          </a:xfrm>
          <a:prstGeom prst="roundRect">
            <a:avLst>
              <a:gd name="adj" fmla="val 6316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Shape 25"/>
          <p:cNvSpPr/>
          <p:nvPr/>
        </p:nvSpPr>
        <p:spPr>
          <a:xfrm>
            <a:off x="10241280" y="2862000"/>
            <a:ext cx="1508760" cy="360"/>
          </a:xfrm>
          <a:prstGeom prst="line">
            <a:avLst/>
          </a:prstGeom>
          <a:ln w="9525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26"/>
          <p:cNvSpPr/>
          <p:nvPr/>
        </p:nvSpPr>
        <p:spPr>
          <a:xfrm>
            <a:off x="10149840" y="2560320"/>
            <a:ext cx="16909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onsolas"/>
                <a:ea typeface="Consolas"/>
              </a:rPr>
              <a:t>email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7"/>
          <p:cNvSpPr/>
          <p:nvPr/>
        </p:nvSpPr>
        <p:spPr>
          <a:xfrm>
            <a:off x="10195560" y="2898720"/>
            <a:ext cx="1599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onsolas"/>
                <a:ea typeface="Consolas"/>
              </a:rPr>
              <a:t>"ahmed@..."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8"/>
          <p:cNvSpPr/>
          <p:nvPr/>
        </p:nvSpPr>
        <p:spPr>
          <a:xfrm>
            <a:off x="548640" y="4114800"/>
            <a:ext cx="11090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same syntax also updates an existing key — contact["age"] = 26 simply overwrites the old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a tuple, a dictionary is fully mutable — this is exactly why it's so useful for live, changing data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9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0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6" name="Image 0" descr="icons/min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Removing a Key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 removes a key completely — no value is returned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pop(key) removes a key AND returns its value, just like list.pop()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popitem() removes and returns the last inserted key-value pair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del contact["city"]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print(contact)   # {'name': 'Ahmed', 'age':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contact.pop("age")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print(age)        #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5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Checking Existence: in / not in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checks whether a key exists — not a value — this trips people up at first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Always check before accessing a key you're not sure exists, unless you're using .get()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print("name" in contact)      # 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print("email" in contact)     # False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print(25 in contact)          # False! (25 is a value, not a 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94" name="Image 0" descr="icons/listo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.keys(), .values(), .items()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.keys() gives you every key, .values() gives you every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.items() gives you both together, as key-value pairs — the most commonly used of the three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print(contact.keys())     # dict_keys(['name', 'age', 'city'])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print(contact.values())   # dict_values(['Ahmed', 25, 'Karachi'])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print(contact.items())    # dict_items([('name', 'Ahmed'), ...])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03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a Dictionary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directly over a dict gives you just the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Looping over .items() gives you both the key and value together — this is what you'll use most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contact = {"name": "Ahmed", "age": 25, "city": "Karachi"}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key, value in contact.items():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print(key, "-&gt;", value)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name -&gt; Ahmed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age -&gt; 25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city -&gt; Karachi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key in contact.keys():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print(key)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val in contact.values():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print(val)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A Word Frequency Counter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is the natural tool for counting anything — a classic, genuinely industry-relevant use case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pattern is the foundation of real text analytics and search engines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text = "the cat sat on the mat the cat ran"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words = text.split()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word in words: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word in counts: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else: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counts[word] 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{'the': 3, 'cat': 2, 'sat': 1, ...}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1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Dictionaries — Real Records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dictionary can hold another dictionary as a value — this is how real, structured data is represented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the shape of data returned by most web APIs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 = 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"name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": "Ahmed Ali",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"address": {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"city": "Karachi", "zip": "74200“</a:t>
            </a:r>
            <a:r>
              <a:rPr lang="en-US" sz="1250" b="0" u="none" strike="noStrike">
                <a:solidFill>
                  <a:schemeClr val="dk1"/>
                </a:solidFill>
                <a:effectLst/>
                <a:uFillTx/>
                <a:latin typeface="Cantarell"/>
                <a:ea typeface="Consolas"/>
              </a:rPr>
              <a:t> </a:t>
            </a: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print(user["address"]["city"])   # "Karachi“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0" name="Image 0" descr="icons/databas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 Dictionaries — How Real Data Actually Looks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exact structure is what a CSV file, a database table, or an API result usually becomes once loaded into Python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precisely what pandas will build on top of later in the course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students = [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"Ahmed", "score": 88},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"Sara", "score": 92},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{"name": "Bilal", "score": 79},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student in students: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print(student["name"], "-&gt;", student["score"])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39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Merging Dictionaries: .update() and |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.update() adds all key-value pairs from one dictionary into another, overwriting shared keys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| operator (Python 3.9+) does the same thing, but returns a new dictionary instead of changing one in place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 = {"theme": "light", "font_size": 12}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user_settings = {"font_size":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defaults.update(user_settings)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print(defaults)   # {'theme': 'light', 'font_size': 16}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merged = defaults | {"theme": "dark"}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48" name="Image 0" descr="icons/usershield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.setdefault() — Avoiding KeyError Gracefully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setdefault(key, default) returns the value if the key exists — and creates it with that default if it doesn't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clean one-line alternative to writing an if/else just to handle a possibly-missing key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counts["apple"] += 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calling it again on an existing key leaves it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counts.setdefault("apple", 0)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print(counts)   # still {'apple':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7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dictionary representing yourself: name, age, and favorite subject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>
            <a:off x="822960" y="312732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822960" y="31273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1435680" y="312732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to safely look up a key that might not exist, with a fallback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822960" y="38314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822960" y="3831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3"/>
          <p:cNvSpPr/>
          <p:nvPr/>
        </p:nvSpPr>
        <p:spPr>
          <a:xfrm>
            <a:off x="1435680" y="38314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 a new key to your dictionary, then update an existing 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4"/>
          <p:cNvSpPr/>
          <p:nvPr/>
        </p:nvSpPr>
        <p:spPr>
          <a:xfrm>
            <a:off x="822960" y="45352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822960" y="45352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6"/>
          <p:cNvSpPr/>
          <p:nvPr/>
        </p:nvSpPr>
        <p:spPr>
          <a:xfrm>
            <a:off x="1435680" y="45352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your dictionary using .items() and print each key and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7"/>
          <p:cNvSpPr/>
          <p:nvPr/>
        </p:nvSpPr>
        <p:spPr>
          <a:xfrm>
            <a:off x="822960" y="52394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822960" y="5239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9"/>
          <p:cNvSpPr/>
          <p:nvPr/>
        </p:nvSpPr>
        <p:spPr>
          <a:xfrm>
            <a:off x="1435680" y="52394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small word-count dictionary from a sentence of your choice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1" name="Image 0" descr="icons/ta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Every value appears exactly once — nothing more, nothing less.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88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Is a Set?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2" name="Image 1" descr="icons/tag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order.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 duplicates.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Ever.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set stores a collection of values where every value is guaranteed to be unique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Think of a guest list where writing someone's name twice doesn't invite them twice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Sets have no order and no index — you can't ask for "the first item"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uses: unique tags on a post, unique visitor IDs, unique words in a document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99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Creating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Curly braces create a set — but watch out: {} alone creates an empty dictionary, not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set() is the safe way to create an empty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"data", "beginner"}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print(type(tags))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empty_dict = {}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print(type(empty_dict))   # &lt;class 'dict'&gt;  &lt;- gotcha!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empty_set =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print(type(empty_set))    # &lt;class 'set'&gt;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08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Duplicates Disappear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Passing a list into set() automatically removes every duplicate, keeping only unique values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behavior is the whole reason sets exist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2, 3, 3, 3, 4]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 = set(numbers)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print(unique)   # {1, 2, 3, 4}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17" name="Image 0" descr="icons/pluscir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Adding &amp; Removing From a 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add() inserts a single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remove() deletes a value, but raises an error if it isn't there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discard() does the same, but stays silent if the value is missing — often the safer choice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 = {"python", "data"}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tags.add("beginner")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tags.remove("data")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tags.discard("not_here")   # no error, even though it's missing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tags.remove("not_here")    # KeyError!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25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Union ( |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|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7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Union combines everything from both sets, with duplicates automatically removed.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6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Intersection ( &amp;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Shape 4"/>
          <p:cNvSpPr/>
          <p:nvPr/>
        </p:nvSpPr>
        <p:spPr>
          <a:xfrm>
            <a:off x="4845240" y="2916000"/>
            <a:ext cx="1189800" cy="175680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 5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&amp;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Intersection keeps only the values that exist in BOTH sets — the shared middle.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0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8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Difference ( -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F1F3EC"/>
          </a:solidFill>
          <a:ln w="254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4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6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-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Difference keeps only what's in A but NOT in B — order matters here, a - b differs from b - a.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59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Set Operation: Symmetric Difference ( ^ )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324612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4800600" y="2377440"/>
            <a:ext cx="2833920" cy="2833920"/>
          </a:xfrm>
          <a:prstGeom prst="ellipse">
            <a:avLst/>
          </a:prstGeom>
          <a:solidFill>
            <a:srgbClr val="EFDFB8"/>
          </a:solidFill>
          <a:ln w="2540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845240" y="2916000"/>
            <a:ext cx="1189800" cy="17568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292608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589520" y="3611880"/>
            <a:ext cx="365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7863840" y="2651760"/>
            <a:ext cx="365688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a = {1, 2, 3}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b = {3,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print(a ^ b)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# {1, 2, 4, 5}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548640" y="5440680"/>
            <a:ext cx="11090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Symmetric difference keeps everything EXCEPT what's shared — the opposite of intersection.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0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72" name="Image 0" descr="icons/recy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Removing Duplicates From a List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one of the single most common real uses of a set in everyday code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Converting a list to a set and back instantly removes every duplicate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Note: this does not preserve the original order — use with care if order matters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emails = ["a@x.com", "b@x.com", "a@x.com", "c@x.com"]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unique_emails = list(set(emails))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print(unique_emails)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['a@x.com', 'c@x.com', 'b@x.com']  (order not guaranteed)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0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Real-World Use: Fast Membership Testing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2"/>
          <p:cNvSpPr/>
          <p:nvPr/>
        </p:nvSpPr>
        <p:spPr>
          <a:xfrm>
            <a:off x="457200" y="1508760"/>
            <a:ext cx="5522400" cy="489132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294444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4" name="Image 1" descr="icons/boxes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Text 4"/>
          <p:cNvSpPr/>
          <p:nvPr/>
        </p:nvSpPr>
        <p:spPr>
          <a:xfrm>
            <a:off x="548640" y="2717640"/>
            <a:ext cx="533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603360" y="3101760"/>
            <a:ext cx="522972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one by one — slower as the list grows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6"/>
          <p:cNvSpPr/>
          <p:nvPr/>
        </p:nvSpPr>
        <p:spPr>
          <a:xfrm>
            <a:off x="6208920" y="1508760"/>
            <a:ext cx="5522400" cy="489132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rotWithShape="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7"/>
          <p:cNvSpPr/>
          <p:nvPr/>
        </p:nvSpPr>
        <p:spPr>
          <a:xfrm>
            <a:off x="869580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89" name="Image 2" descr="icons/tags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8"/>
          <p:cNvSpPr/>
          <p:nvPr/>
        </p:nvSpPr>
        <p:spPr>
          <a:xfrm>
            <a:off x="6300360" y="2717640"/>
            <a:ext cx="533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 on a Set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9"/>
          <p:cNvSpPr/>
          <p:nvPr/>
        </p:nvSpPr>
        <p:spPr>
          <a:xfrm>
            <a:off x="6355080" y="3101760"/>
            <a:ext cx="522972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Near-instant, regardless of size — this is why sets exist for lookups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6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a set of 5 numbers that includes at least one duplicate, and print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8"/>
          <p:cNvSpPr/>
          <p:nvPr/>
        </p:nvSpPr>
        <p:spPr>
          <a:xfrm>
            <a:off x="822960" y="33033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4" name="Text 9"/>
          <p:cNvSpPr/>
          <p:nvPr/>
        </p:nvSpPr>
        <p:spPr>
          <a:xfrm>
            <a:off x="822960" y="33033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0"/>
          <p:cNvSpPr/>
          <p:nvPr/>
        </p:nvSpPr>
        <p:spPr>
          <a:xfrm>
            <a:off x="1435680" y="33033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Remove duplicates from a list of your own using set()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11"/>
          <p:cNvSpPr/>
          <p:nvPr/>
        </p:nvSpPr>
        <p:spPr>
          <a:xfrm>
            <a:off x="822960" y="4183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7" name="Text 12"/>
          <p:cNvSpPr/>
          <p:nvPr/>
        </p:nvSpPr>
        <p:spPr>
          <a:xfrm>
            <a:off x="822960" y="4183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3"/>
          <p:cNvSpPr/>
          <p:nvPr/>
        </p:nvSpPr>
        <p:spPr>
          <a:xfrm>
            <a:off x="1435680" y="4183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Create two sets of your own and find their union and intersection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"/>
          <p:cNvSpPr/>
          <p:nvPr/>
        </p:nvSpPr>
        <p:spPr>
          <a:xfrm>
            <a:off x="822960" y="506340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Text 15"/>
          <p:cNvSpPr/>
          <p:nvPr/>
        </p:nvSpPr>
        <p:spPr>
          <a:xfrm>
            <a:off x="822960" y="50634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6"/>
          <p:cNvSpPr/>
          <p:nvPr/>
        </p:nvSpPr>
        <p:spPr>
          <a:xfrm>
            <a:off x="1435680" y="506340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Find the difference between two sets of your own, in both directions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5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6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17" name="Image 0" descr="icons/co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single biggest jump in this course so far — and the foundation of every real codebase.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4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Functions Exist — The Industry Case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7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28" name="Image 1" descr="icons/cog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9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Write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Fix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once.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Imagine writing the same 10-line email-checking logic in 5 different places in a real 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Now imagine finding a bug in it — you'd need to fix it in all 5 places, and it's easy to miss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means that logic exists in exactly one place — write once, reuse everywhere, fix once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real, professional codebase is fundamentally just functions calling other functions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5" name="Image 0" descr="icons/blender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Recipe Analogy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9" name="Image 1" descr="icons/blender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Ingredients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in, dish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out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is like a recipe: you give it ingredients (parameters), it follows the same steps every time, and it produces a result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need to know how the kitchen works to use the recipe — you just need to know what to put in, and what comes out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hiding of internal detail is called abstraction — a core idea in real software design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46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 — Basic Syntax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 starts a function definition, followed by a name and parentheses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indented block underneath only runs when the function is actually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Defining a function does not run it — calling it does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print("Hello!")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nothing happens yet — it's only defined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greet()   # NOW it runs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Hello!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4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Parameters vs.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2"/>
          <p:cNvSpPr/>
          <p:nvPr/>
        </p:nvSpPr>
        <p:spPr>
          <a:xfrm>
            <a:off x="457200" y="1645920"/>
            <a:ext cx="5348520" cy="447984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7" name="Shape 3"/>
          <p:cNvSpPr/>
          <p:nvPr/>
        </p:nvSpPr>
        <p:spPr>
          <a:xfrm>
            <a:off x="731520" y="187452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8" name="Image 1" descr="icons/cogs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4"/>
          <p:cNvSpPr/>
          <p:nvPr/>
        </p:nvSpPr>
        <p:spPr>
          <a:xfrm>
            <a:off x="1325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Parameter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"/>
          <p:cNvSpPr/>
          <p:nvPr/>
        </p:nvSpPr>
        <p:spPr>
          <a:xfrm>
            <a:off x="731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name used INSIDE the function definition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a placeholder — a variable waiting to receive a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name in def greet(name):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6"/>
          <p:cNvSpPr/>
          <p:nvPr/>
        </p:nvSpPr>
        <p:spPr>
          <a:xfrm>
            <a:off x="6172200" y="1645920"/>
            <a:ext cx="5348520" cy="447984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2" name="Shape 7"/>
          <p:cNvSpPr/>
          <p:nvPr/>
        </p:nvSpPr>
        <p:spPr>
          <a:xfrm>
            <a:off x="6446520" y="1874520"/>
            <a:ext cx="456480" cy="45648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3" name="Image 2" descr="icons/ke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8"/>
          <p:cNvSpPr/>
          <p:nvPr/>
        </p:nvSpPr>
        <p:spPr>
          <a:xfrm>
            <a:off x="7040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Argument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9"/>
          <p:cNvSpPr/>
          <p:nvPr/>
        </p:nvSpPr>
        <p:spPr>
          <a:xfrm>
            <a:off x="6446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actual value you pass in WHEN CALLING the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what fills the placeholder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the "Ahmed" in greet("Ahmed")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0" name="Image 0" descr="icons/exchang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 vs. print — The Classic Confusion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print() just displays something on screen — the value is gone once shown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return actually hands a value back to whoever called the function, so it can be stored and reused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with only print() cannot have its result saved into a variable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add_v1(a,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print(a + b)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add_v2(a, b):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a + 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result1 = add_v1(2, 3)   # prints 5, but result1 is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result2 = add_v2(2, 3)   # nothing printed, but result2 is 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79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With No Return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function never hits a return statement, it automatically returns None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happened to result1 on the previous slide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greet(name):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print("Hello,", name)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result = greet("Ahmed")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print(result)   # None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88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Multiple Parameters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accept as many parameters as it needs,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Arguments are matched to parameters in order, by default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2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print(describe_student("Ahmed", 25, "Karachi"))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"Ahmed, age 25, from Karachi"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97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Default Parameter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parameter can have a default value, used automatically if the caller doesn't provide one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real-world functions offer sensible behavior out of the box, while still being customizable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calculate_price(price, discount=0.1):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print(calculate_price(100))          # 90.0 (uses default 10%)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print(calculate_price(100, 0.25))    # 75.0 (overridden)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06" name="Image 0" descr="icons/ke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Keyword Arguments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can call a function using name=value, instead of relying on argument order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makes function calls far more readable, especially with many parameters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describe_student(name, age, city):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f"{name}, age {age}, from {city}"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print(describe_student(city="Karachi", name="Ahmed", age=25))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order doesn't matter when you use keyword arguments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5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Returning Multiple Values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return more than one value at once, separated by commas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quietly packs them into a tuple — the exact tuple unpacking you already know handles the 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get_min_max(numbers):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min(numbers), max(numbers)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lowest, highest = get_min_max([4, 8, 15, 16, 23])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print(lowest, highest)   # 4 23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24" name="Image 0" descr="icons/glob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Scope: Local vs. Global Variables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inside a function is local — it only exists while that function is running, then disappears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variable created outside any function is global — visible everywhere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READ a global variable, but assigning to a variable inside a function makes it local by default, even if a global with the same name exists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x = 10   # global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show_x():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print(x)   # can read the global x just fine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change_x():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x = 5      # this creates a NEW local x — the global x is untouched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change_x()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print(x)   # still 10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33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Mutable Default Argument Trap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famous, real Python gotcha: using a mutable object (like a list) as a default value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default is created only ONCE, when the function is defined — not every time it's called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Every call that relies on the default ends up sharing the exact same list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add_item(item, cart=[]):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cart.append(item)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print(add_item("apple"))    # ['apple']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print(add_item("banana"))   # ['apple', 'banana']  &lt;- unexpected!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add_item_safe(item, cart=None):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cart is None: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cart = []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cart.append(item)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cart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42" name="Image 0" descr="icons/quot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Docstrings — Writing Professional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docstring is a short description written right under def, in triple quotes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Real, professional code is expected to have these — they show up automatically in help() and documentation tools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good docstring explains what the function does, its parameters, and what it returns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calculate_price(price, discount=0.1):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Calculate a discounted price.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price: the original price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discount: fraction to subtract (default 10%)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Returns: the final price after discount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"""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discount)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1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 Calling Other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function can call another function inside it — this is called composition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 programs are built almost entirely this way: small, focused functions combined into bigger behavior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"@" in email and email.endswith(".com")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register_user(name, 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not is_valid_email(email):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return "Invalid email"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f"Registered {name}"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print(register_user("Ahmed", "ahmed@mail.com"))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59" name="Image 0" descr="icons/recyc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Case Study: Refactoring Repeated Code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2"/>
          <p:cNvSpPr/>
          <p:nvPr/>
        </p:nvSpPr>
        <p:spPr>
          <a:xfrm>
            <a:off x="548640" y="14630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A5473F"/>
                </a:solidFill>
                <a:effectLst/>
                <a:uFillTx/>
                <a:latin typeface="Calibri"/>
                <a:ea typeface="Calibri"/>
              </a:rPr>
              <a:t>BEFORE — the same logic, copy-pasted three 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3"/>
          <p:cNvSpPr/>
          <p:nvPr/>
        </p:nvSpPr>
        <p:spPr>
          <a:xfrm>
            <a:off x="548640" y="1783080"/>
            <a:ext cx="5394240" cy="420552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3" name="Text 4"/>
          <p:cNvSpPr/>
          <p:nvPr/>
        </p:nvSpPr>
        <p:spPr>
          <a:xfrm>
            <a:off x="868680" y="2057400"/>
            <a:ext cx="4754160" cy="365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price1 = 100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final1 = price1 - (price1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price2 = 250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final2 = price2 - (price2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print(final2)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price3 = 80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final3 = price3 - (price3 * 0.1)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print(final3)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5"/>
          <p:cNvSpPr/>
          <p:nvPr/>
        </p:nvSpPr>
        <p:spPr>
          <a:xfrm>
            <a:off x="6217920" y="1463040"/>
            <a:ext cx="5119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F5147"/>
                </a:solidFill>
                <a:effectLst/>
                <a:uFillTx/>
                <a:latin typeface="Calibri"/>
                <a:ea typeface="Calibri"/>
              </a:rPr>
              <a:t>AFTER — one function, reused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6"/>
          <p:cNvSpPr/>
          <p:nvPr/>
        </p:nvSpPr>
        <p:spPr>
          <a:xfrm>
            <a:off x="6217920" y="1783080"/>
            <a:ext cx="5394240" cy="4205520"/>
          </a:xfrm>
          <a:prstGeom prst="roundRect">
            <a:avLst>
              <a:gd name="adj" fmla="val 1739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7"/>
          <p:cNvSpPr/>
          <p:nvPr/>
        </p:nvSpPr>
        <p:spPr>
          <a:xfrm>
            <a:off x="6537960" y="2057400"/>
            <a:ext cx="4754160" cy="365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apply_discount(price, rate=0.1):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price - (price * rate)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print(apply_discount(100))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print(apply_discount(250))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print(apply_discount(80))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one place to fix a bug,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not three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71" name="Image 0" descr="icons/so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Capstone: Sorting a Dictionary by Value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sorted() can sort a dictionary's items — but it needs to be told WHAT to sort by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small helper function tells sorted() exactly that, using its key parameter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single pattern — a helper function plus sorted() — is genuinely used everywhere in real data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{"Ahmed": 88, "Sara": 92, "Bilal": 79}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def get_score(pair):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return pair[1]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ranked = sorted(scores.items(), key=get_score, reverse=True)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print(ranked)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[('Sara', 92), ('Ahmed', 88), ('Bilal', 79)]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6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80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3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takes a name and returns a greeting sentence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"/>
          <p:cNvSpPr/>
          <p:nvPr/>
        </p:nvSpPr>
        <p:spPr>
          <a:xfrm>
            <a:off x="822960" y="312732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Text 9"/>
          <p:cNvSpPr/>
          <p:nvPr/>
        </p:nvSpPr>
        <p:spPr>
          <a:xfrm>
            <a:off x="822960" y="31273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0"/>
          <p:cNvSpPr/>
          <p:nvPr/>
        </p:nvSpPr>
        <p:spPr>
          <a:xfrm>
            <a:off x="1435680" y="312732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with a default parameter, and call it both with and without providing that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1"/>
          <p:cNvSpPr/>
          <p:nvPr/>
        </p:nvSpPr>
        <p:spPr>
          <a:xfrm>
            <a:off x="822960" y="38314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2"/>
          <p:cNvSpPr/>
          <p:nvPr/>
        </p:nvSpPr>
        <p:spPr>
          <a:xfrm>
            <a:off x="822960" y="38314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3"/>
          <p:cNvSpPr/>
          <p:nvPr/>
        </p:nvSpPr>
        <p:spPr>
          <a:xfrm>
            <a:off x="1435680" y="38314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two values at once, and unpack them into two variables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4"/>
          <p:cNvSpPr/>
          <p:nvPr/>
        </p:nvSpPr>
        <p:spPr>
          <a:xfrm>
            <a:off x="822960" y="453528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4" name="Text 15"/>
          <p:cNvSpPr/>
          <p:nvPr/>
        </p:nvSpPr>
        <p:spPr>
          <a:xfrm>
            <a:off x="822960" y="453528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6"/>
          <p:cNvSpPr/>
          <p:nvPr/>
        </p:nvSpPr>
        <p:spPr>
          <a:xfrm>
            <a:off x="1435680" y="453528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trigger the mutable default argument bug, then fix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7"/>
          <p:cNvSpPr/>
          <p:nvPr/>
        </p:nvSpPr>
        <p:spPr>
          <a:xfrm>
            <a:off x="822960" y="523944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7" name="Text 18"/>
          <p:cNvSpPr/>
          <p:nvPr/>
        </p:nvSpPr>
        <p:spPr>
          <a:xfrm>
            <a:off x="822960" y="523944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9"/>
          <p:cNvSpPr/>
          <p:nvPr/>
        </p:nvSpPr>
        <p:spPr>
          <a:xfrm>
            <a:off x="1435680" y="523944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short docstring for one of your own functions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0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2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2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04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5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You'll Actually Be Asked to Build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Not toy examples — inventories, deduplication, and reusable validators are real, everyday work.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1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Dictionaries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16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7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8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8"/>
          <p:cNvSpPr/>
          <p:nvPr/>
        </p:nvSpPr>
        <p:spPr>
          <a:xfrm>
            <a:off x="1920240" y="24231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simple inventory system: a dictionary of product names to stock counts, then add, update, and remove a few items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9"/>
          <p:cNvSpPr/>
          <p:nvPr/>
        </p:nvSpPr>
        <p:spPr>
          <a:xfrm>
            <a:off x="822960" y="35967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1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6568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2" name="Shape 10"/>
          <p:cNvSpPr/>
          <p:nvPr/>
        </p:nvSpPr>
        <p:spPr>
          <a:xfrm>
            <a:off x="1371600" y="36147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3" name="Text 11"/>
          <p:cNvSpPr/>
          <p:nvPr/>
        </p:nvSpPr>
        <p:spPr>
          <a:xfrm>
            <a:off x="1371600" y="36147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2"/>
          <p:cNvSpPr/>
          <p:nvPr/>
        </p:nvSpPr>
        <p:spPr>
          <a:xfrm>
            <a:off x="1920240" y="35967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dictionary shaped like a fake API response (nested keys) — extract and print 3 specific nested values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3"/>
          <p:cNvSpPr/>
          <p:nvPr/>
        </p:nvSpPr>
        <p:spPr>
          <a:xfrm>
            <a:off x="822960" y="477000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26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" name="Shape 14"/>
          <p:cNvSpPr/>
          <p:nvPr/>
        </p:nvSpPr>
        <p:spPr>
          <a:xfrm>
            <a:off x="1371600" y="47883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 15"/>
          <p:cNvSpPr/>
          <p:nvPr/>
        </p:nvSpPr>
        <p:spPr>
          <a:xfrm>
            <a:off x="1371600" y="47883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6"/>
          <p:cNvSpPr/>
          <p:nvPr/>
        </p:nvSpPr>
        <p:spPr>
          <a:xfrm>
            <a:off x="1920240" y="477000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Build a word-frequency counter on a full paragraph of your choice, then print the 3 most common words using sorted()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4" name="Image 0" descr="icons/ta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Sets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7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8"/>
          <p:cNvSpPr/>
          <p:nvPr/>
        </p:nvSpPr>
        <p:spPr>
          <a:xfrm>
            <a:off x="1920240" y="24231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email addresses with overlaps — use sets to build one clean, duplicate-free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9"/>
          <p:cNvSpPr/>
          <p:nvPr/>
        </p:nvSpPr>
        <p:spPr>
          <a:xfrm>
            <a:off x="822960" y="35967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4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6568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5" name="Shape 10"/>
          <p:cNvSpPr/>
          <p:nvPr/>
        </p:nvSpPr>
        <p:spPr>
          <a:xfrm>
            <a:off x="1371600" y="36147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6" name="Text 11"/>
          <p:cNvSpPr/>
          <p:nvPr/>
        </p:nvSpPr>
        <p:spPr>
          <a:xfrm>
            <a:off x="1371600" y="36147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2"/>
          <p:cNvSpPr/>
          <p:nvPr/>
        </p:nvSpPr>
        <p:spPr>
          <a:xfrm>
            <a:off x="1920240" y="35967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two lists of user IDs from two different systems — use sets to find which users exist in both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13"/>
          <p:cNvSpPr/>
          <p:nvPr/>
        </p:nvSpPr>
        <p:spPr>
          <a:xfrm>
            <a:off x="822960" y="477000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49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83048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0" name="Shape 14"/>
          <p:cNvSpPr/>
          <p:nvPr/>
        </p:nvSpPr>
        <p:spPr>
          <a:xfrm>
            <a:off x="1371600" y="478836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1371600" y="478836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1920240" y="477000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have one list of user IDs — use sets to find which ones are NOT in a second "banned" list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57" name="Image 0" descr="icons/cog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C: Functions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5"/>
          <p:cNvSpPr/>
          <p:nvPr/>
        </p:nvSpPr>
        <p:spPr>
          <a:xfrm>
            <a:off x="822960" y="242316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2" name="Image 1" descr="icons/checkdouble.png"/>
          <p:cNvPicPr/>
          <p:nvPr/>
        </p:nvPicPr>
        <p:blipFill>
          <a:blip r:embed="rId2"/>
          <a:stretch/>
        </p:blipFill>
        <p:spPr>
          <a:xfrm>
            <a:off x="883440" y="248364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Shape 6"/>
          <p:cNvSpPr/>
          <p:nvPr/>
        </p:nvSpPr>
        <p:spPr>
          <a:xfrm>
            <a:off x="1371600" y="244152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 7"/>
          <p:cNvSpPr/>
          <p:nvPr/>
        </p:nvSpPr>
        <p:spPr>
          <a:xfrm>
            <a:off x="1371600" y="244152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8"/>
          <p:cNvSpPr/>
          <p:nvPr/>
        </p:nvSpPr>
        <p:spPr>
          <a:xfrm>
            <a:off x="1920240" y="242316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reusable is_valid_password(password) function: valid only if 8+ characters and contains a digit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9"/>
          <p:cNvSpPr/>
          <p:nvPr/>
        </p:nvSpPr>
        <p:spPr>
          <a:xfrm>
            <a:off x="822960" y="348984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67" name="Image 2" descr="icons/checkdouble.png"/>
          <p:cNvPicPr/>
          <p:nvPr/>
        </p:nvPicPr>
        <p:blipFill>
          <a:blip r:embed="rId3"/>
          <a:stretch/>
        </p:blipFill>
        <p:spPr>
          <a:xfrm>
            <a:off x="883440" y="355032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8" name="Shape 10"/>
          <p:cNvSpPr/>
          <p:nvPr/>
        </p:nvSpPr>
        <p:spPr>
          <a:xfrm>
            <a:off x="1371600" y="350820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11"/>
          <p:cNvSpPr/>
          <p:nvPr/>
        </p:nvSpPr>
        <p:spPr>
          <a:xfrm>
            <a:off x="1371600" y="350820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12"/>
          <p:cNvSpPr/>
          <p:nvPr/>
        </p:nvSpPr>
        <p:spPr>
          <a:xfrm>
            <a:off x="1920240" y="348984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calculate_discount(price, rate=0.1) function, and use it to replace 3 repeated manual calculations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13"/>
          <p:cNvSpPr/>
          <p:nvPr/>
        </p:nvSpPr>
        <p:spPr>
          <a:xfrm>
            <a:off x="822960" y="4556880"/>
            <a:ext cx="401760" cy="401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72" name="Image 3" descr="icons/checkdouble.png"/>
          <p:cNvPicPr/>
          <p:nvPr/>
        </p:nvPicPr>
        <p:blipFill>
          <a:blip r:embed="rId4"/>
          <a:stretch/>
        </p:blipFill>
        <p:spPr>
          <a:xfrm>
            <a:off x="883440" y="4617000"/>
            <a:ext cx="2808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3" name="Shape 14"/>
          <p:cNvSpPr/>
          <p:nvPr/>
        </p:nvSpPr>
        <p:spPr>
          <a:xfrm>
            <a:off x="1371600" y="4574880"/>
            <a:ext cx="401760" cy="365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5"/>
          <p:cNvSpPr/>
          <p:nvPr/>
        </p:nvSpPr>
        <p:spPr>
          <a:xfrm>
            <a:off x="1371600" y="4574880"/>
            <a:ext cx="4017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6"/>
          <p:cNvSpPr/>
          <p:nvPr/>
        </p:nvSpPr>
        <p:spPr>
          <a:xfrm>
            <a:off x="1920240" y="4556880"/>
            <a:ext cx="950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a piece of your own repeated code from an earlier session, and refactor it into one function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7"/>
          <p:cNvSpPr/>
          <p:nvPr/>
        </p:nvSpPr>
        <p:spPr>
          <a:xfrm>
            <a:off x="822960" y="5760720"/>
            <a:ext cx="10514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10 core tasks in total — due before our next class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8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19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0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1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2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3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Two projects combining dictionaries, sets, and functions — genuinely close to real early-career tasks.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89" name="Image 0" descr="icons/addressboo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1: Contact Book Manager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2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3" name="Image 1" descr="icons/addressbook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4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 +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functions,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Store contacts as a dictionary of dictionaries: {"Ahmed": {"phone": "...", "city": "..."}, ...}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separate functions: add_contact(), find_contact(), remove_contact() — each one operating on the same contacts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.get() inside find_contact() so looking up a missing name never crashes the program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genuinely how small real applications are structured — data plus functions that operate on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0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 2: Student Grade Analyzer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4" name="Image 1" descr="icons/chart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5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Lists of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dicts, sets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&amp; functions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given a list of dictionaries: [{"name": "Ahmed", "grade": "A"}, {"name": "Sara", "grade": "B"}, ...]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how many students got each grade, as a dictionary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set to find and print the unique grade levels that appear at all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function that returns the names of every student with an "A", using the accumulator pattern from Loops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7"/>
          <p:cNvSpPr/>
          <p:nvPr/>
        </p:nvSpPr>
        <p:spPr>
          <a:xfrm>
            <a:off x="45720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Dictionaries, Sets &amp; Functions  ·  Session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0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1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P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2" name="Image 0" descr="icons/cog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3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Dictionaries and sets are how real data is actually shaped.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Functions are how real code actually stays maintainable.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Next: advanced functions — *args, **kwargs, lambda, recursion, and closures.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</TotalTime>
  <Application>LibreOffice/26.2.4.2$Linux_X86_64 LibreOffice_project/620$Build-2</Application>
  <AppVersion>15.0000</AppVersion>
  <Words>5455</Words>
  <Paragraphs>714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2026-08-08T08:23:51Z</dcterms:created>
  <dc:creator>Course Instructor</dc:creator>
  <dc:description/>
  <dc:language>en-US</dc:language>
  <cp:lastModifiedBy/>
  <dcterms:modified xsi:type="dcterms:W3CDTF">2026-08-18T21:19:31Z</dcterms:modified>
  <cp:revision>35</cp:revision>
  <dc:subject>PptxGenJS Presentation</dc:subject>
  <dc:title>Dictionaries, Sets &amp; Functions — Session 8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57</vt:i4>
  </property>
  <property fmtid="{D5CDD505-2E9C-101B-9397-08002B2CF9AE}" pid="3" name="PresentationFormat">
    <vt:lpwstr>Widescreen</vt:lpwstr>
  </property>
  <property fmtid="{D5CDD505-2E9C-101B-9397-08002B2CF9AE}" pid="4" name="Slides">
    <vt:i4>57</vt:i4>
  </property>
</Properties>
</file>