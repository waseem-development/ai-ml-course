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31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34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6.xml" ContentType="application/vnd.openxmlformats-officedocument.presentationml.slide+xml"/>
  <Override PartName="/ppt/slides/slide18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37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mov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 to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4ABB568-9C2F-4A7C-B7F6-A808DC24E61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Title slide. Tasks and practice this session are deliberately more real-world — text cleaning, validation, parsing.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E66123-E4F7-4D68-8897-CD0DD8FF40D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250E54-10B2-4556-A96E-98AA079A3A8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422DF4-3F87-4C21-AFE5-ADF36D529F7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D2EE4F-9E3F-4C39-889D-60856DE0362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FC43A5-88A4-4F11-B612-18888F8F692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Direct parallel to tuple immutability from Session 5 — worth calling that connection out loud.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6BE24B-6A65-4002-BB72-4471EC26200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E5CE10-8F47-47BA-B430-F0C9DE9471C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2F803C-695E-411E-AFCB-813ADB0563D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E06470-77CE-4CBD-B778-9F6EBCB268C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D16D69-313F-4FDB-8DBD-2A541D77871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D4F488-165E-4B0B-9389-9705572C132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Real data almost never arrives clean — this is genuinely one of the most-used methods in practice.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D81B68-6D23-46A1-BACE-C289BFF3FE7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A80A8E-9AE3-498A-BD5B-D0FF07D934D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ED8649-6945-4418-B717-E9D7C9BEFF6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93147C-2FFD-42E2-9DF5-7E8107EFA55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2089E3-11A5-4DD8-AD2E-9F99CC14326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43FDCF-7022-404A-BEE9-AA9D9ED1D06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great "which one should I use" moment — find() when it might be missing, index() when it must exist.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41E1AC-3831-4B4D-8BF7-21AE834B223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79A244-7B79-4259-8624-5EFDC8B9F20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BAAE9A-9C17-426B-9CBB-4280E048E7D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7BA833-1142-43B5-B5CF-0855466F9BC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5AA5DD-A4C1-4DE5-B5EE-6679A46DDD6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These all return a plain True/False — perfect for combining with if statements.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DA10D4-5616-46C6-A2D9-486363A35C4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genuine callback to the Loops session — this is exactly the kind of real code that pattern was for.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42B072-1829-494D-AFB5-A3F932C4B11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6E41B5-0C87-4BD6-99CE-70AD786A22B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37C925-90B2-4D38-B20C-36A2BD99923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DA1C5E-9C4F-45FB-99E5-55CFB5117E0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:.2f pattern comes up constantly in any output involving money.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41B9C1-3F6F-411E-A4E7-0E38F604FCF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662558-C275-4F2B-A8E9-24E33D252DE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804B9C-3762-43A5-ADDC-89DB3B116A9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E42D5D-C5CE-469F-B49E-4249576425D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B35BEB-898D-4DAF-A28D-0ADEB67D600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1B8D3D-42B4-4EC0-BB14-DDDD1DB9B0F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CE6367-CF53-466F-8B48-0B774B471EF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129F45-4FE1-4C8B-A066-CAE089537EC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138EAC-43F1-4EE7-ACBA-E162AF716C6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FAC015-F57F-4F70-895F-D9935D3F4D9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 by comparing the Data Cleaner project output — original vs. cleaned — as a group.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2DF933-13E3-4CD8-936B-DCB482E52BD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4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1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5.png"/><Relationship Id="rId3" Type="http://schemas.openxmlformats.org/officeDocument/2006/relationships/image" Target="../media/image5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5.png"/><Relationship Id="rId3" Type="http://schemas.openxmlformats.org/officeDocument/2006/relationships/image" Target="../media/image5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-2286000" y="3657600"/>
            <a:ext cx="6400440" cy="64004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8229600" y="-2743200"/>
            <a:ext cx="6400440" cy="64004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5500080" y="914400"/>
            <a:ext cx="1188360" cy="118836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" name="Image 0" descr="icons/quote.png"/>
          <p:cNvPicPr/>
          <p:nvPr/>
        </p:nvPicPr>
        <p:blipFill>
          <a:blip r:embed="rId1"/>
          <a:stretch/>
        </p:blipFill>
        <p:spPr>
          <a:xfrm>
            <a:off x="5678280" y="1092600"/>
            <a:ext cx="831600" cy="83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Text 3"/>
          <p:cNvSpPr/>
          <p:nvPr/>
        </p:nvSpPr>
        <p:spPr>
          <a:xfrm>
            <a:off x="914400" y="2377440"/>
            <a:ext cx="103597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Strings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914400" y="3383280"/>
            <a:ext cx="10359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Text, In Depth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914400" y="3977640"/>
            <a:ext cx="1035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Session 7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10515600" y="-137160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" name="Image 0" descr="icons/quot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What We're Covering Today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3"/>
          <p:cNvSpPr/>
          <p:nvPr/>
        </p:nvSpPr>
        <p:spPr>
          <a:xfrm>
            <a:off x="457200" y="1600200"/>
            <a:ext cx="11274120" cy="600480"/>
          </a:xfrm>
          <a:prstGeom prst="roundRect">
            <a:avLst>
              <a:gd name="adj" fmla="val 10652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4"/>
          <p:cNvSpPr/>
          <p:nvPr/>
        </p:nvSpPr>
        <p:spPr>
          <a:xfrm>
            <a:off x="621720" y="1699560"/>
            <a:ext cx="402120" cy="402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" name="Image 1" descr="icons/boxes.png"/>
          <p:cNvPicPr/>
          <p:nvPr/>
        </p:nvPicPr>
        <p:blipFill>
          <a:blip r:embed="rId2"/>
          <a:stretch/>
        </p:blipFill>
        <p:spPr>
          <a:xfrm>
            <a:off x="682200" y="1759680"/>
            <a:ext cx="281160" cy="28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Text 5"/>
          <p:cNvSpPr/>
          <p:nvPr/>
        </p:nvSpPr>
        <p:spPr>
          <a:xfrm>
            <a:off x="1325880" y="1600200"/>
            <a:ext cx="10058040" cy="60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Strings as sequences — indexing, slicing, immutability, looping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6"/>
          <p:cNvSpPr/>
          <p:nvPr/>
        </p:nvSpPr>
        <p:spPr>
          <a:xfrm>
            <a:off x="457200" y="2292480"/>
            <a:ext cx="11274120" cy="600480"/>
          </a:xfrm>
          <a:prstGeom prst="roundRect">
            <a:avLst>
              <a:gd name="adj" fmla="val 10652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7"/>
          <p:cNvSpPr/>
          <p:nvPr/>
        </p:nvSpPr>
        <p:spPr>
          <a:xfrm>
            <a:off x="621720" y="2391840"/>
            <a:ext cx="402120" cy="402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" name="Image 2" descr="icons/font.png"/>
          <p:cNvPicPr/>
          <p:nvPr/>
        </p:nvPicPr>
        <p:blipFill>
          <a:blip r:embed="rId3"/>
          <a:stretch/>
        </p:blipFill>
        <p:spPr>
          <a:xfrm>
            <a:off x="682200" y="2452320"/>
            <a:ext cx="281160" cy="28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Text 8"/>
          <p:cNvSpPr/>
          <p:nvPr/>
        </p:nvSpPr>
        <p:spPr>
          <a:xfrm>
            <a:off x="1325880" y="2292480"/>
            <a:ext cx="10058040" cy="60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Core methods: case, whitespace, split() &amp; join()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9"/>
          <p:cNvSpPr/>
          <p:nvPr/>
        </p:nvSpPr>
        <p:spPr>
          <a:xfrm>
            <a:off x="457200" y="2984760"/>
            <a:ext cx="11274120" cy="600480"/>
          </a:xfrm>
          <a:prstGeom prst="roundRect">
            <a:avLst>
              <a:gd name="adj" fmla="val 10652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0"/>
          <p:cNvSpPr/>
          <p:nvPr/>
        </p:nvSpPr>
        <p:spPr>
          <a:xfrm>
            <a:off x="621720" y="3084120"/>
            <a:ext cx="402120" cy="402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" name="Image 3" descr="icons/search.png"/>
          <p:cNvPicPr/>
          <p:nvPr/>
        </p:nvPicPr>
        <p:blipFill>
          <a:blip r:embed="rId4"/>
          <a:stretch/>
        </p:blipFill>
        <p:spPr>
          <a:xfrm>
            <a:off x="682200" y="3144600"/>
            <a:ext cx="281160" cy="28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Text 11"/>
          <p:cNvSpPr/>
          <p:nvPr/>
        </p:nvSpPr>
        <p:spPr>
          <a:xfrm>
            <a:off x="1325880" y="2984760"/>
            <a:ext cx="10058040" cy="60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Searching: find(), startswith(), endswith(), count()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2"/>
          <p:cNvSpPr/>
          <p:nvPr/>
        </p:nvSpPr>
        <p:spPr>
          <a:xfrm>
            <a:off x="457200" y="3677040"/>
            <a:ext cx="11274120" cy="600480"/>
          </a:xfrm>
          <a:prstGeom prst="roundRect">
            <a:avLst>
              <a:gd name="adj" fmla="val 10652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3"/>
          <p:cNvSpPr/>
          <p:nvPr/>
        </p:nvSpPr>
        <p:spPr>
          <a:xfrm>
            <a:off x="621720" y="3776400"/>
            <a:ext cx="402120" cy="402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" name="Image 4" descr="icons/checkdouble.png"/>
          <p:cNvPicPr/>
          <p:nvPr/>
        </p:nvPicPr>
        <p:blipFill>
          <a:blip r:embed="rId5"/>
          <a:stretch/>
        </p:blipFill>
        <p:spPr>
          <a:xfrm>
            <a:off x="682200" y="3836880"/>
            <a:ext cx="281160" cy="28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Text 14"/>
          <p:cNvSpPr/>
          <p:nvPr/>
        </p:nvSpPr>
        <p:spPr>
          <a:xfrm>
            <a:off x="1325880" y="3677040"/>
            <a:ext cx="10058040" cy="60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Checking content: isdigit(), isalpha(), isalnum()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5"/>
          <p:cNvSpPr/>
          <p:nvPr/>
        </p:nvSpPr>
        <p:spPr>
          <a:xfrm>
            <a:off x="457200" y="4369680"/>
            <a:ext cx="11274120" cy="600480"/>
          </a:xfrm>
          <a:prstGeom prst="roundRect">
            <a:avLst>
              <a:gd name="adj" fmla="val 10652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6"/>
          <p:cNvSpPr/>
          <p:nvPr/>
        </p:nvSpPr>
        <p:spPr>
          <a:xfrm>
            <a:off x="621720" y="4468680"/>
            <a:ext cx="402120" cy="402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" name="Image 5" descr="icons/quote.png"/>
          <p:cNvPicPr/>
          <p:nvPr/>
        </p:nvPicPr>
        <p:blipFill>
          <a:blip r:embed="rId6"/>
          <a:stretch/>
        </p:blipFill>
        <p:spPr>
          <a:xfrm>
            <a:off x="682200" y="4529160"/>
            <a:ext cx="281160" cy="28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Text 17"/>
          <p:cNvSpPr/>
          <p:nvPr/>
        </p:nvSpPr>
        <p:spPr>
          <a:xfrm>
            <a:off x="1325880" y="4369680"/>
            <a:ext cx="10058040" cy="60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f-strings in depth, and number formatting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8"/>
          <p:cNvSpPr/>
          <p:nvPr/>
        </p:nvSpPr>
        <p:spPr>
          <a:xfrm>
            <a:off x="457200" y="5061960"/>
            <a:ext cx="11274120" cy="600480"/>
          </a:xfrm>
          <a:prstGeom prst="roundRect">
            <a:avLst>
              <a:gd name="adj" fmla="val 10652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9"/>
          <p:cNvSpPr/>
          <p:nvPr/>
        </p:nvSpPr>
        <p:spPr>
          <a:xfrm>
            <a:off x="621720" y="5160960"/>
            <a:ext cx="402120" cy="402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" name="Image 6" descr="icons/exchange.png"/>
          <p:cNvPicPr/>
          <p:nvPr/>
        </p:nvPicPr>
        <p:blipFill>
          <a:blip r:embed="rId7"/>
          <a:stretch/>
        </p:blipFill>
        <p:spPr>
          <a:xfrm>
            <a:off x="682200" y="5221440"/>
            <a:ext cx="281160" cy="28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Text 20"/>
          <p:cNvSpPr/>
          <p:nvPr/>
        </p:nvSpPr>
        <p:spPr>
          <a:xfrm>
            <a:off x="1325880" y="5061960"/>
            <a:ext cx="10058040" cy="60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Concatenation vs. f-strings vs. join() — which wins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1"/>
          <p:cNvSpPr/>
          <p:nvPr/>
        </p:nvSpPr>
        <p:spPr>
          <a:xfrm>
            <a:off x="457200" y="5754240"/>
            <a:ext cx="11274120" cy="600480"/>
          </a:xfrm>
          <a:prstGeom prst="roundRect">
            <a:avLst>
              <a:gd name="adj" fmla="val 10652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2"/>
          <p:cNvSpPr/>
          <p:nvPr/>
        </p:nvSpPr>
        <p:spPr>
          <a:xfrm>
            <a:off x="621720" y="5853600"/>
            <a:ext cx="402120" cy="402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" name="Image 7" descr="icons/tasks.png"/>
          <p:cNvPicPr/>
          <p:nvPr/>
        </p:nvPicPr>
        <p:blipFill>
          <a:blip r:embed="rId8"/>
          <a:stretch/>
        </p:blipFill>
        <p:spPr>
          <a:xfrm>
            <a:off x="682200" y="5913720"/>
            <a:ext cx="281160" cy="28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Text 23"/>
          <p:cNvSpPr/>
          <p:nvPr/>
        </p:nvSpPr>
        <p:spPr>
          <a:xfrm>
            <a:off x="1325880" y="5754240"/>
            <a:ext cx="10058040" cy="60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Real tasks: validation, parsing, and a data cleaner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4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Strings  ·  Session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5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2"/>
          <p:cNvSpPr/>
          <p:nvPr/>
        </p:nvSpPr>
        <p:spPr>
          <a:xfrm>
            <a:off x="559152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5" name="Image 0" descr="icons/boxes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Text 3"/>
          <p:cNvSpPr/>
          <p:nvPr/>
        </p:nvSpPr>
        <p:spPr>
          <a:xfrm>
            <a:off x="914400" y="196596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1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4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Strings Are Sequences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5"/>
          <p:cNvSpPr/>
          <p:nvPr/>
        </p:nvSpPr>
        <p:spPr>
          <a:xfrm>
            <a:off x="1463040" y="4572000"/>
            <a:ext cx="9262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Everything you learned about lists applies here too.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2" name="Image 0" descr="icons/boxes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Strings Are Sequences of Characters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6" name="Image 1" descr="icons/boxes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Ordered.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Indexable.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Immutable.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string is an ordered sequence of characters — very similar to a list of single letters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exactly what "Where Do Strings Fit?" back in Session 5 was hinting at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Because it's a sequence, indexing and slicing both work exactly the way they do on a list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one real difference: a string can never be changed after it's created — more on that shortly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7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Strings  ·  Session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2" name="Image 0" descr="icons/cut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Indexing &amp; Slicing a String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2"/>
          <p:cNvSpPr/>
          <p:nvPr/>
        </p:nvSpPr>
        <p:spPr>
          <a:xfrm>
            <a:off x="548640" y="1417320"/>
            <a:ext cx="11091240" cy="502560"/>
          </a:xfrm>
          <a:prstGeom prst="roundRect">
            <a:avLst>
              <a:gd name="adj" fmla="val 12727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3"/>
          <p:cNvSpPr/>
          <p:nvPr/>
        </p:nvSpPr>
        <p:spPr>
          <a:xfrm>
            <a:off x="731520" y="1417320"/>
            <a:ext cx="10725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word = "python"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4"/>
          <p:cNvSpPr/>
          <p:nvPr/>
        </p:nvSpPr>
        <p:spPr>
          <a:xfrm>
            <a:off x="2103120" y="2377440"/>
            <a:ext cx="548280" cy="621360"/>
          </a:xfrm>
          <a:prstGeom prst="roundRect">
            <a:avLst>
              <a:gd name="adj" fmla="val 833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5"/>
          <p:cNvSpPr/>
          <p:nvPr/>
        </p:nvSpPr>
        <p:spPr>
          <a:xfrm>
            <a:off x="2103120" y="2377440"/>
            <a:ext cx="5482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6"/>
          <p:cNvSpPr/>
          <p:nvPr/>
        </p:nvSpPr>
        <p:spPr>
          <a:xfrm>
            <a:off x="2103120" y="302652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7"/>
          <p:cNvSpPr/>
          <p:nvPr/>
        </p:nvSpPr>
        <p:spPr>
          <a:xfrm>
            <a:off x="2697480" y="2377440"/>
            <a:ext cx="548280" cy="621360"/>
          </a:xfrm>
          <a:prstGeom prst="roundRect">
            <a:avLst>
              <a:gd name="adj" fmla="val 833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8"/>
          <p:cNvSpPr/>
          <p:nvPr/>
        </p:nvSpPr>
        <p:spPr>
          <a:xfrm>
            <a:off x="2697480" y="2377440"/>
            <a:ext cx="5482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9"/>
          <p:cNvSpPr/>
          <p:nvPr/>
        </p:nvSpPr>
        <p:spPr>
          <a:xfrm>
            <a:off x="2697480" y="302652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0"/>
          <p:cNvSpPr/>
          <p:nvPr/>
        </p:nvSpPr>
        <p:spPr>
          <a:xfrm>
            <a:off x="3291840" y="2377440"/>
            <a:ext cx="548280" cy="621360"/>
          </a:xfrm>
          <a:prstGeom prst="roundRect">
            <a:avLst>
              <a:gd name="adj" fmla="val 8333"/>
            </a:avLst>
          </a:prstGeom>
          <a:solidFill>
            <a:srgbClr val="EFDFB8"/>
          </a:solidFill>
          <a:ln w="19050">
            <a:solidFill>
              <a:srgbClr val="C98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1"/>
          <p:cNvSpPr/>
          <p:nvPr/>
        </p:nvSpPr>
        <p:spPr>
          <a:xfrm>
            <a:off x="3291840" y="2377440"/>
            <a:ext cx="5482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2"/>
          <p:cNvSpPr/>
          <p:nvPr/>
        </p:nvSpPr>
        <p:spPr>
          <a:xfrm>
            <a:off x="3291840" y="302652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3"/>
          <p:cNvSpPr/>
          <p:nvPr/>
        </p:nvSpPr>
        <p:spPr>
          <a:xfrm>
            <a:off x="3886200" y="2377440"/>
            <a:ext cx="548280" cy="621360"/>
          </a:xfrm>
          <a:prstGeom prst="roundRect">
            <a:avLst>
              <a:gd name="adj" fmla="val 8333"/>
            </a:avLst>
          </a:prstGeom>
          <a:solidFill>
            <a:srgbClr val="EFDFB8"/>
          </a:solidFill>
          <a:ln w="19050">
            <a:solidFill>
              <a:srgbClr val="C98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4"/>
          <p:cNvSpPr/>
          <p:nvPr/>
        </p:nvSpPr>
        <p:spPr>
          <a:xfrm>
            <a:off x="3886200" y="2377440"/>
            <a:ext cx="5482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5"/>
          <p:cNvSpPr/>
          <p:nvPr/>
        </p:nvSpPr>
        <p:spPr>
          <a:xfrm>
            <a:off x="3886200" y="302652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6"/>
          <p:cNvSpPr/>
          <p:nvPr/>
        </p:nvSpPr>
        <p:spPr>
          <a:xfrm>
            <a:off x="4480560" y="2377440"/>
            <a:ext cx="548280" cy="621360"/>
          </a:xfrm>
          <a:prstGeom prst="roundRect">
            <a:avLst>
              <a:gd name="adj" fmla="val 833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7"/>
          <p:cNvSpPr/>
          <p:nvPr/>
        </p:nvSpPr>
        <p:spPr>
          <a:xfrm>
            <a:off x="4480560" y="2377440"/>
            <a:ext cx="5482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8"/>
          <p:cNvSpPr/>
          <p:nvPr/>
        </p:nvSpPr>
        <p:spPr>
          <a:xfrm>
            <a:off x="4480560" y="302652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9"/>
          <p:cNvSpPr/>
          <p:nvPr/>
        </p:nvSpPr>
        <p:spPr>
          <a:xfrm>
            <a:off x="5074920" y="2377440"/>
            <a:ext cx="548280" cy="621360"/>
          </a:xfrm>
          <a:prstGeom prst="roundRect">
            <a:avLst>
              <a:gd name="adj" fmla="val 833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0"/>
          <p:cNvSpPr/>
          <p:nvPr/>
        </p:nvSpPr>
        <p:spPr>
          <a:xfrm>
            <a:off x="5074920" y="2377440"/>
            <a:ext cx="5482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1"/>
          <p:cNvSpPr/>
          <p:nvPr/>
        </p:nvSpPr>
        <p:spPr>
          <a:xfrm>
            <a:off x="5074920" y="302652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2"/>
          <p:cNvSpPr/>
          <p:nvPr/>
        </p:nvSpPr>
        <p:spPr>
          <a:xfrm>
            <a:off x="548640" y="4023360"/>
            <a:ext cx="110912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word[0]  →  "p"        word[-1]  →  "n"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word[2:4]  →  "th"      — same slicing rules as a list, start included, stop excluded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Every trick from Lists — negative indices, steps, [::-1] to reverse — works here too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3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Strings  ·  Session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4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9" name="Image 0" descr="icons/lock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Strings Are Immutable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Just like a tuple, a string can never be changed in place once it's created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Trying to assign to a specific character raises a TypeError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To "change" a string, you always build a brand new one instead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word = "python"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word[0] = "P"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TypeError: 'str' object does not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support item assignment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the correct way — build a new string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word = "P" + word[1:]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print(word)   # "Python"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104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Strings  ·  Session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8" name="Image 0" descr="icons/sync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Looping Over a String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for loop walks through a string one character at a time, exactly like it does with a list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the foundation for almost every text-processing task you'll ever write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word = "python"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for letter in word: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print(letter)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p y t h o n  (each on its own line)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113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Strings  ·  Session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7" name="Image 0" descr="icons/pluscircl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Combining Strings: + and *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+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j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g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g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g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—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*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g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g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v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first = "Py"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second = "thon"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print(first + second)   # "Python"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print("ab" * 3)         # "ababab"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122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Strings  ·  Session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0"/>
          <p:cNvSpPr/>
          <p:nvPr/>
        </p:nvSpPr>
        <p:spPr>
          <a:xfrm>
            <a:off x="-1828800" y="502920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6" name="Image 0" descr="icons/boxes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Practice Set — Strings as Sequences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3"/>
          <p:cNvSpPr/>
          <p:nvPr/>
        </p:nvSpPr>
        <p:spPr>
          <a:xfrm>
            <a:off x="457200" y="1600200"/>
            <a:ext cx="11274120" cy="4480200"/>
          </a:xfrm>
          <a:prstGeom prst="roundRect">
            <a:avLst>
              <a:gd name="adj" fmla="val 204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4"/>
          <p:cNvSpPr/>
          <p:nvPr/>
        </p:nvSpPr>
        <p:spPr>
          <a:xfrm>
            <a:off x="822960" y="182880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Try these yourself first — no code shown, that's the point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5"/>
          <p:cNvSpPr/>
          <p:nvPr/>
        </p:nvSpPr>
        <p:spPr>
          <a:xfrm>
            <a:off x="822960" y="242316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6"/>
          <p:cNvSpPr/>
          <p:nvPr/>
        </p:nvSpPr>
        <p:spPr>
          <a:xfrm>
            <a:off x="822960" y="2423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7"/>
          <p:cNvSpPr/>
          <p:nvPr/>
        </p:nvSpPr>
        <p:spPr>
          <a:xfrm>
            <a:off x="1435680" y="242316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Take a word and print its first and last character using indexing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8"/>
          <p:cNvSpPr/>
          <p:nvPr/>
        </p:nvSpPr>
        <p:spPr>
          <a:xfrm>
            <a:off x="822960" y="312732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9"/>
          <p:cNvSpPr/>
          <p:nvPr/>
        </p:nvSpPr>
        <p:spPr>
          <a:xfrm>
            <a:off x="822960" y="31273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0"/>
          <p:cNvSpPr/>
          <p:nvPr/>
        </p:nvSpPr>
        <p:spPr>
          <a:xfrm>
            <a:off x="1435680" y="312732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Reverse a string using slicing ([::-1])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1"/>
          <p:cNvSpPr/>
          <p:nvPr/>
        </p:nvSpPr>
        <p:spPr>
          <a:xfrm>
            <a:off x="822960" y="383148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2"/>
          <p:cNvSpPr/>
          <p:nvPr/>
        </p:nvSpPr>
        <p:spPr>
          <a:xfrm>
            <a:off x="822960" y="38314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3"/>
          <p:cNvSpPr/>
          <p:nvPr/>
        </p:nvSpPr>
        <p:spPr>
          <a:xfrm>
            <a:off x="1435680" y="383148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Loop through a string and count how many vowels it contains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4"/>
          <p:cNvSpPr/>
          <p:nvPr/>
        </p:nvSpPr>
        <p:spPr>
          <a:xfrm>
            <a:off x="822960" y="453528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5"/>
          <p:cNvSpPr/>
          <p:nvPr/>
        </p:nvSpPr>
        <p:spPr>
          <a:xfrm>
            <a:off x="822960" y="45352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6"/>
          <p:cNvSpPr/>
          <p:nvPr/>
        </p:nvSpPr>
        <p:spPr>
          <a:xfrm>
            <a:off x="1435680" y="453528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Check whether a word is a palindrome by comparing it to its own reverse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7"/>
          <p:cNvSpPr/>
          <p:nvPr/>
        </p:nvSpPr>
        <p:spPr>
          <a:xfrm>
            <a:off x="822960" y="523944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8"/>
          <p:cNvSpPr/>
          <p:nvPr/>
        </p:nvSpPr>
        <p:spPr>
          <a:xfrm>
            <a:off x="822960" y="52394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9"/>
          <p:cNvSpPr/>
          <p:nvPr/>
        </p:nvSpPr>
        <p:spPr>
          <a:xfrm>
            <a:off x="1435680" y="523944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Try changing one character in a string directly, and read the error Python gives you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0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Strings  ·  Session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21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2"/>
          <p:cNvSpPr/>
          <p:nvPr/>
        </p:nvSpPr>
        <p:spPr>
          <a:xfrm>
            <a:off x="559152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0" name="Image 0" descr="icons/font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Text 3"/>
          <p:cNvSpPr/>
          <p:nvPr/>
        </p:nvSpPr>
        <p:spPr>
          <a:xfrm>
            <a:off x="914400" y="196596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2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4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Core String Methods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5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6" name="Image 0" descr="icons/font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Changing Case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.upper() and .lower() convert every character, without changing the original string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.title() capitalizes the first letter of every word — handy for names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None of these change the original — they return a brand new string, since strings are immutable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name = "ahmed ali"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print(name.upper())    # "AHMED ALI"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print(name.lower())    # "ahmed ali"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print(name.title())    # "Ahmed Ali"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print(name)             # "ahmed ali"  &lt;- unchanged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161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Strings  ·  Session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5" name="Image 0" descr="icons/broom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Removing Whitespace: strip()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.strip() removes whitespace (spaces, tabs, newlines) from both ends of a string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.lstrip() and .rstrip() do the same, but only from the left or right side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Extremely common when cleaning real user input or messy data files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raw = "   ahmed ali   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print(raw.strip())     # "ahmed ali"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print(raw.lstrip())    # "ahmed ali   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print(raw.rstrip())    # "   ahmed ali"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170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Strings  ·  Session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4" name="Image 0" descr="icons/cut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.split() — Breaking a String Apart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split() breaks a string into a list of pieces, using a separator you choose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With no argument, it splits on any whitespace by default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exactly how you'd start parsing a line of comma-separated data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sentence = "the quick brown fox"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words = sentence.split()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print(words)   # ['the', 'quick', 'brown', 'fox']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row = "Ahmed,25,Karachi"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fields = row.split(",")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print(fields)   # ['Ahmed', '25', 'Karachi']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179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Strings  ·  Session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3" name="Image 0" descr="icons/link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.join() — Gluing a List Back Together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join() is the reverse of split() — it combines a list of strings into one string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 call it ON the separator you want, and pass it the list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very common beginner mix-up: it's "separator".join(list), not list.join("separator")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words = ["the", "quick", "brown", "fox"]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sentence = " ".join(words)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print(sentence)   # "the quick brown fox"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csv_line = ",".join(["Ahmed", "25", "Karachi"])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print(csv_line)   # "Ahmed,25,Karachi"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188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Strings  ·  Session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2" name="Image 0" descr="icons/exchang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.replace() — Swapping Text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replace() finds every occurrence of one piece of text and swaps it for another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Returns a new string — remember, the original never changes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sentence = "I like cats. Cats are great."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print(sentence.replace("Cats", "Dogs"))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"I like cats. Dogs are great."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note: only exact-case matches get replaced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197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Strings  ·  Session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0"/>
          <p:cNvSpPr/>
          <p:nvPr/>
        </p:nvSpPr>
        <p:spPr>
          <a:xfrm>
            <a:off x="-1828800" y="5029200"/>
            <a:ext cx="3657240" cy="36572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1" name="Image 0" descr="icons/font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2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Practice Set — Core Methods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3"/>
          <p:cNvSpPr/>
          <p:nvPr/>
        </p:nvSpPr>
        <p:spPr>
          <a:xfrm>
            <a:off x="457200" y="1600200"/>
            <a:ext cx="11274120" cy="4480200"/>
          </a:xfrm>
          <a:prstGeom prst="roundRect">
            <a:avLst>
              <a:gd name="adj" fmla="val 2041"/>
            </a:avLst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4"/>
          <p:cNvSpPr/>
          <p:nvPr/>
        </p:nvSpPr>
        <p:spPr>
          <a:xfrm>
            <a:off x="822960" y="182880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Try these yourself first — no code shown, that's the point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5"/>
          <p:cNvSpPr/>
          <p:nvPr/>
        </p:nvSpPr>
        <p:spPr>
          <a:xfrm>
            <a:off x="822960" y="242316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6"/>
          <p:cNvSpPr/>
          <p:nvPr/>
        </p:nvSpPr>
        <p:spPr>
          <a:xfrm>
            <a:off x="822960" y="2423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7"/>
          <p:cNvSpPr/>
          <p:nvPr/>
        </p:nvSpPr>
        <p:spPr>
          <a:xfrm>
            <a:off x="1435680" y="242316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Take a messy string with extra spaces on both ends, and clean it using strip()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8"/>
          <p:cNvSpPr/>
          <p:nvPr/>
        </p:nvSpPr>
        <p:spPr>
          <a:xfrm>
            <a:off x="822960" y="312732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9"/>
          <p:cNvSpPr/>
          <p:nvPr/>
        </p:nvSpPr>
        <p:spPr>
          <a:xfrm>
            <a:off x="822960" y="31273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0"/>
          <p:cNvSpPr/>
          <p:nvPr/>
        </p:nvSpPr>
        <p:spPr>
          <a:xfrm>
            <a:off x="1435680" y="312732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Convert a full sentence to uppercase and then to title case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11"/>
          <p:cNvSpPr/>
          <p:nvPr/>
        </p:nvSpPr>
        <p:spPr>
          <a:xfrm>
            <a:off x="822960" y="383148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2"/>
          <p:cNvSpPr/>
          <p:nvPr/>
        </p:nvSpPr>
        <p:spPr>
          <a:xfrm>
            <a:off x="822960" y="38314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3"/>
          <p:cNvSpPr/>
          <p:nvPr/>
        </p:nvSpPr>
        <p:spPr>
          <a:xfrm>
            <a:off x="1435680" y="383148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Split a sentence into a list of words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14"/>
          <p:cNvSpPr/>
          <p:nvPr/>
        </p:nvSpPr>
        <p:spPr>
          <a:xfrm>
            <a:off x="822960" y="453528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5"/>
          <p:cNvSpPr/>
          <p:nvPr/>
        </p:nvSpPr>
        <p:spPr>
          <a:xfrm>
            <a:off x="822960" y="45352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6"/>
          <p:cNvSpPr/>
          <p:nvPr/>
        </p:nvSpPr>
        <p:spPr>
          <a:xfrm>
            <a:off x="1435680" y="453528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Join a list of words back into one sentence with spaces between them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17"/>
          <p:cNvSpPr/>
          <p:nvPr/>
        </p:nvSpPr>
        <p:spPr>
          <a:xfrm>
            <a:off x="822960" y="523944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8"/>
          <p:cNvSpPr/>
          <p:nvPr/>
        </p:nvSpPr>
        <p:spPr>
          <a:xfrm>
            <a:off x="822960" y="52394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9"/>
          <p:cNvSpPr/>
          <p:nvPr/>
        </p:nvSpPr>
        <p:spPr>
          <a:xfrm>
            <a:off x="1435680" y="523944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Replace one specific word in a sentence with a different word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20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Strings  ·  Session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21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2"/>
          <p:cNvSpPr/>
          <p:nvPr/>
        </p:nvSpPr>
        <p:spPr>
          <a:xfrm>
            <a:off x="559152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5" name="Image 0" descr="icons/search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6" name="Text 3"/>
          <p:cNvSpPr/>
          <p:nvPr/>
        </p:nvSpPr>
        <p:spPr>
          <a:xfrm>
            <a:off x="914400" y="196596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3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4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Searching Inside Strings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5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1" name="Image 0" descr="icons/search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2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.find() vs. .index()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x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g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d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(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)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-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1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q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;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x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(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)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V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g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sentence = "the quick brown fox"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print(sentence.find("brown"))    # 10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print(sentence.find("zebra"))    # -1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print(sentence.index("zebra"))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ValueError: substring not found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236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Strings  ·  Session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0" name="Image 0" descr="icons/checkdoubl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1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.startswith() and .endswith()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Check whether a string begins or ends with a specific piece of text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Extremely common for checking file names, commands, and URLs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filename = "report_final.csv"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print(filename.endswith(".csv"))     # True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print(filename.startswith("report")) # True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print(filename.endswith(".xlsx"))    # False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245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Strings  ·  Session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9" name="Image 0" descr="icons/hashtag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0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.count() and in / not in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count() tells you how many times a piece of text appears — same idea as list/tuple count()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 and not in check for existence anywhere in the string, without caring how many times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sentence = "the quick brown fox jumps over the lazy dog"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print(sentence.count("the"))        # 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print("fox" in sentence)             # True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print("cat" not in sentence)         # True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254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Strings  ·  Session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0"/>
          <p:cNvSpPr/>
          <p:nvPr/>
        </p:nvSpPr>
        <p:spPr>
          <a:xfrm>
            <a:off x="-1828800" y="502920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8" name="Image 0" descr="icons/search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9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Practice Set — Searching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3"/>
          <p:cNvSpPr/>
          <p:nvPr/>
        </p:nvSpPr>
        <p:spPr>
          <a:xfrm>
            <a:off x="457200" y="1600200"/>
            <a:ext cx="11274120" cy="4480200"/>
          </a:xfrm>
          <a:prstGeom prst="roundRect">
            <a:avLst>
              <a:gd name="adj" fmla="val 204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4"/>
          <p:cNvSpPr/>
          <p:nvPr/>
        </p:nvSpPr>
        <p:spPr>
          <a:xfrm>
            <a:off x="822960" y="182880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Try these yourself first — no code shown, that's the point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5"/>
          <p:cNvSpPr/>
          <p:nvPr/>
        </p:nvSpPr>
        <p:spPr>
          <a:xfrm>
            <a:off x="822960" y="242316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6"/>
          <p:cNvSpPr/>
          <p:nvPr/>
        </p:nvSpPr>
        <p:spPr>
          <a:xfrm>
            <a:off x="822960" y="2423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7"/>
          <p:cNvSpPr/>
          <p:nvPr/>
        </p:nvSpPr>
        <p:spPr>
          <a:xfrm>
            <a:off x="1435680" y="242316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Check whether a filename ends with ".py" using endswith()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8"/>
          <p:cNvSpPr/>
          <p:nvPr/>
        </p:nvSpPr>
        <p:spPr>
          <a:xfrm>
            <a:off x="822960" y="330336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9"/>
          <p:cNvSpPr/>
          <p:nvPr/>
        </p:nvSpPr>
        <p:spPr>
          <a:xfrm>
            <a:off x="822960" y="33033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0"/>
          <p:cNvSpPr/>
          <p:nvPr/>
        </p:nvSpPr>
        <p:spPr>
          <a:xfrm>
            <a:off x="1435680" y="330336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Find the position of a specific word inside a sentence using find()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11"/>
          <p:cNvSpPr/>
          <p:nvPr/>
        </p:nvSpPr>
        <p:spPr>
          <a:xfrm>
            <a:off x="822960" y="418356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2"/>
          <p:cNvSpPr/>
          <p:nvPr/>
        </p:nvSpPr>
        <p:spPr>
          <a:xfrm>
            <a:off x="822960" y="41835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3"/>
          <p:cNvSpPr/>
          <p:nvPr/>
        </p:nvSpPr>
        <p:spPr>
          <a:xfrm>
            <a:off x="1435680" y="418356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Count how many times a specific letter appears in a word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14"/>
          <p:cNvSpPr/>
          <p:nvPr/>
        </p:nvSpPr>
        <p:spPr>
          <a:xfrm>
            <a:off x="822960" y="506340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5"/>
          <p:cNvSpPr/>
          <p:nvPr/>
        </p:nvSpPr>
        <p:spPr>
          <a:xfrm>
            <a:off x="822960" y="50634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6"/>
          <p:cNvSpPr/>
          <p:nvPr/>
        </p:nvSpPr>
        <p:spPr>
          <a:xfrm>
            <a:off x="1435680" y="506340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Check whether a keyword exists somewhere inside a paragraph using in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7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Strings  ·  Session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2"/>
          <p:cNvSpPr/>
          <p:nvPr/>
        </p:nvSpPr>
        <p:spPr>
          <a:xfrm>
            <a:off x="559152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9" name="Image 0" descr="icons/checkdouble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0" name="Text 3"/>
          <p:cNvSpPr/>
          <p:nvPr/>
        </p:nvSpPr>
        <p:spPr>
          <a:xfrm>
            <a:off x="914400" y="196596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4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4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Checking What Kind of Text You Have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5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22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4" name="Image 0" descr="icons/checkdoubl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5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Content-Checking Methods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2"/>
          <p:cNvSpPr/>
          <p:nvPr/>
        </p:nvSpPr>
        <p:spPr>
          <a:xfrm>
            <a:off x="457200" y="1508760"/>
            <a:ext cx="2646720" cy="4891680"/>
          </a:xfrm>
          <a:prstGeom prst="roundRect">
            <a:avLst>
              <a:gd name="adj" fmla="val 2763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3"/>
          <p:cNvSpPr/>
          <p:nvPr/>
        </p:nvSpPr>
        <p:spPr>
          <a:xfrm>
            <a:off x="1506600" y="209592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8" name="Image 1" descr="icons/hashtag.png"/>
          <p:cNvPicPr/>
          <p:nvPr/>
        </p:nvPicPr>
        <p:blipFill>
          <a:blip r:embed="rId2"/>
          <a:stretch/>
        </p:blipFill>
        <p:spPr>
          <a:xfrm>
            <a:off x="1588680" y="217800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9" name="Text 4"/>
          <p:cNvSpPr/>
          <p:nvPr/>
        </p:nvSpPr>
        <p:spPr>
          <a:xfrm>
            <a:off x="548640" y="2717640"/>
            <a:ext cx="2463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.isdigit()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5"/>
          <p:cNvSpPr/>
          <p:nvPr/>
        </p:nvSpPr>
        <p:spPr>
          <a:xfrm>
            <a:off x="603360" y="3101760"/>
            <a:ext cx="2354400" cy="32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True only if every character is a digit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6"/>
          <p:cNvSpPr/>
          <p:nvPr/>
        </p:nvSpPr>
        <p:spPr>
          <a:xfrm>
            <a:off x="3332880" y="1508760"/>
            <a:ext cx="2646720" cy="4891680"/>
          </a:xfrm>
          <a:prstGeom prst="roundRect">
            <a:avLst>
              <a:gd name="adj" fmla="val 2763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7"/>
          <p:cNvSpPr/>
          <p:nvPr/>
        </p:nvSpPr>
        <p:spPr>
          <a:xfrm>
            <a:off x="4382280" y="209592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3" name="Image 2" descr="icons/font.png"/>
          <p:cNvPicPr/>
          <p:nvPr/>
        </p:nvPicPr>
        <p:blipFill>
          <a:blip r:embed="rId3"/>
          <a:stretch/>
        </p:blipFill>
        <p:spPr>
          <a:xfrm>
            <a:off x="4464720" y="217800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4" name="Text 8"/>
          <p:cNvSpPr/>
          <p:nvPr/>
        </p:nvSpPr>
        <p:spPr>
          <a:xfrm>
            <a:off x="3424320" y="2717640"/>
            <a:ext cx="2463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.isalpha()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9"/>
          <p:cNvSpPr/>
          <p:nvPr/>
        </p:nvSpPr>
        <p:spPr>
          <a:xfrm>
            <a:off x="3479400" y="3101760"/>
            <a:ext cx="2354400" cy="32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True only if every character is a letter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10"/>
          <p:cNvSpPr/>
          <p:nvPr/>
        </p:nvSpPr>
        <p:spPr>
          <a:xfrm>
            <a:off x="6208920" y="1508760"/>
            <a:ext cx="2646720" cy="4891680"/>
          </a:xfrm>
          <a:prstGeom prst="roundRect">
            <a:avLst>
              <a:gd name="adj" fmla="val 2763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11"/>
          <p:cNvSpPr/>
          <p:nvPr/>
        </p:nvSpPr>
        <p:spPr>
          <a:xfrm>
            <a:off x="7257960" y="209592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8" name="Image 3" descr="icons/boxes.png"/>
          <p:cNvPicPr/>
          <p:nvPr/>
        </p:nvPicPr>
        <p:blipFill>
          <a:blip r:embed="rId4"/>
          <a:stretch/>
        </p:blipFill>
        <p:spPr>
          <a:xfrm>
            <a:off x="7340400" y="217800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9" name="Text 12"/>
          <p:cNvSpPr/>
          <p:nvPr/>
        </p:nvSpPr>
        <p:spPr>
          <a:xfrm>
            <a:off x="6300360" y="2717640"/>
            <a:ext cx="2463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.isalnum()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3"/>
          <p:cNvSpPr/>
          <p:nvPr/>
        </p:nvSpPr>
        <p:spPr>
          <a:xfrm>
            <a:off x="6355080" y="3101760"/>
            <a:ext cx="2354400" cy="32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True if every character is a letter or digit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14"/>
          <p:cNvSpPr/>
          <p:nvPr/>
        </p:nvSpPr>
        <p:spPr>
          <a:xfrm>
            <a:off x="9084600" y="1508760"/>
            <a:ext cx="2646720" cy="4891680"/>
          </a:xfrm>
          <a:prstGeom prst="roundRect">
            <a:avLst>
              <a:gd name="adj" fmla="val 2763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15"/>
          <p:cNvSpPr/>
          <p:nvPr/>
        </p:nvSpPr>
        <p:spPr>
          <a:xfrm>
            <a:off x="10134000" y="209592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3" name="Image 4" descr="icons/broom.png"/>
          <p:cNvPicPr/>
          <p:nvPr/>
        </p:nvPicPr>
        <p:blipFill>
          <a:blip r:embed="rId5"/>
          <a:stretch/>
        </p:blipFill>
        <p:spPr>
          <a:xfrm>
            <a:off x="10216080" y="217800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4" name="Text 16"/>
          <p:cNvSpPr/>
          <p:nvPr/>
        </p:nvSpPr>
        <p:spPr>
          <a:xfrm>
            <a:off x="9176040" y="2717640"/>
            <a:ext cx="2463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.isspace()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17"/>
          <p:cNvSpPr/>
          <p:nvPr/>
        </p:nvSpPr>
        <p:spPr>
          <a:xfrm>
            <a:off x="9230760" y="3101760"/>
            <a:ext cx="2354400" cy="32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True only if the string is entirely whitespace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8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Strings  ·  Session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19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0" name="Image 0" descr="icons/usershield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1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Real-World Use: Input Validation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These content checks are what make real input validation possible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Combined with the while loop pattern from last session, you can force genuinely valid input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age_text = input("Enter your age: 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while not age_text.isdigit():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print("Please enter numbers only.")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age_text = input("Enter your age: 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age = int(age_text)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print("Thanks! You are", age, "years old.")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315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Strings  ·  Session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Shape 0"/>
          <p:cNvSpPr/>
          <p:nvPr/>
        </p:nvSpPr>
        <p:spPr>
          <a:xfrm>
            <a:off x="-1828800" y="5029200"/>
            <a:ext cx="3657240" cy="36572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9" name="Image 0" descr="icons/checkdoubl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0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Practice Set — Content Checks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3"/>
          <p:cNvSpPr/>
          <p:nvPr/>
        </p:nvSpPr>
        <p:spPr>
          <a:xfrm>
            <a:off x="457200" y="1600200"/>
            <a:ext cx="11274120" cy="4480200"/>
          </a:xfrm>
          <a:prstGeom prst="roundRect">
            <a:avLst>
              <a:gd name="adj" fmla="val 2041"/>
            </a:avLst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4"/>
          <p:cNvSpPr/>
          <p:nvPr/>
        </p:nvSpPr>
        <p:spPr>
          <a:xfrm>
            <a:off x="822960" y="182880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Try these yourself first — no code shown, that's the point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5"/>
          <p:cNvSpPr/>
          <p:nvPr/>
        </p:nvSpPr>
        <p:spPr>
          <a:xfrm>
            <a:off x="822960" y="242316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6"/>
          <p:cNvSpPr/>
          <p:nvPr/>
        </p:nvSpPr>
        <p:spPr>
          <a:xfrm>
            <a:off x="822960" y="2423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7"/>
          <p:cNvSpPr/>
          <p:nvPr/>
        </p:nvSpPr>
        <p:spPr>
          <a:xfrm>
            <a:off x="1435680" y="242316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Check whether a given string is entirely numeric using isdigit()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8"/>
          <p:cNvSpPr/>
          <p:nvPr/>
        </p:nvSpPr>
        <p:spPr>
          <a:xfrm>
            <a:off x="822960" y="359676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9"/>
          <p:cNvSpPr/>
          <p:nvPr/>
        </p:nvSpPr>
        <p:spPr>
          <a:xfrm>
            <a:off x="822960" y="35967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10"/>
          <p:cNvSpPr/>
          <p:nvPr/>
        </p:nvSpPr>
        <p:spPr>
          <a:xfrm>
            <a:off x="1435680" y="359676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Check whether a username contains only letters and numbers using isalnum()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11"/>
          <p:cNvSpPr/>
          <p:nvPr/>
        </p:nvSpPr>
        <p:spPr>
          <a:xfrm>
            <a:off x="822960" y="477000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2"/>
          <p:cNvSpPr/>
          <p:nvPr/>
        </p:nvSpPr>
        <p:spPr>
          <a:xfrm>
            <a:off x="822960" y="47700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3"/>
          <p:cNvSpPr/>
          <p:nvPr/>
        </p:nvSpPr>
        <p:spPr>
          <a:xfrm>
            <a:off x="1435680" y="477000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check that flags whether a piece of input was left completely blank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14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Strings  ·  Session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15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2"/>
          <p:cNvSpPr/>
          <p:nvPr/>
        </p:nvSpPr>
        <p:spPr>
          <a:xfrm>
            <a:off x="559152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7" name="Image 0" descr="icons/quote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8" name="Text 3"/>
          <p:cNvSpPr/>
          <p:nvPr/>
        </p:nvSpPr>
        <p:spPr>
          <a:xfrm>
            <a:off x="914400" y="196596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5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4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Formatting Strings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5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3" name="Image 0" descr="icons/quot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4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f-strings — A Recap, and a Step Further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f-strings let you drop a variable — or any expression — directly inside { }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 can even do math or call a method right inside the braces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name = "Ahmed"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score = 88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print(f"{name} scored {score}")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"Ahmed scored 88"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print(f"{name.upper()} scored {score + 2} after review")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"AHMED scored 90 after review"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348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Strings  ·  Session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2" name="Image 0" descr="icons/hashtag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3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Number Formatting Inside f-strings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colon inside { } lets you control exactly how a number is displayed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:.2f rounds a decimal number to exactly 2 places — essential for money and measurements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,  adds thousands separators, useful for large numbers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price = 19.6789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print(f"Price: ${price:.2f}")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"Price: $19.68"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population = 1500000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print(f"Population: {population:,}")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"Population: 1,500,000"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357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Strings  ·  Session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0" name="Image 0" descr="icons/exchang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1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Concatenation vs. f-strings vs. join()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2"/>
          <p:cNvSpPr/>
          <p:nvPr/>
        </p:nvSpPr>
        <p:spPr>
          <a:xfrm>
            <a:off x="457200" y="1645920"/>
            <a:ext cx="5348880" cy="4480200"/>
          </a:xfrm>
          <a:prstGeom prst="roundRect">
            <a:avLst>
              <a:gd name="adj" fmla="val 1633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3"/>
          <p:cNvSpPr/>
          <p:nvPr/>
        </p:nvSpPr>
        <p:spPr>
          <a:xfrm>
            <a:off x="731520" y="1874520"/>
            <a:ext cx="456840" cy="4568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4" name="Image 1" descr="icons/pluscircle.png"/>
          <p:cNvPicPr/>
          <p:nvPr/>
        </p:nvPicPr>
        <p:blipFill>
          <a:blip r:embed="rId2"/>
          <a:stretch/>
        </p:blipFill>
        <p:spPr>
          <a:xfrm>
            <a:off x="800280" y="19432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5" name="Text 4"/>
          <p:cNvSpPr/>
          <p:nvPr/>
        </p:nvSpPr>
        <p:spPr>
          <a:xfrm>
            <a:off x="1325880" y="1874520"/>
            <a:ext cx="4343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Use f-strings when...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5"/>
          <p:cNvSpPr/>
          <p:nvPr/>
        </p:nvSpPr>
        <p:spPr>
          <a:xfrm>
            <a:off x="731520" y="2514600"/>
            <a:ext cx="480024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You're building a sentence mixing text and variables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They're almost always the most readable choice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Example: f"{name} is {age} years old"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6"/>
          <p:cNvSpPr/>
          <p:nvPr/>
        </p:nvSpPr>
        <p:spPr>
          <a:xfrm>
            <a:off x="6172200" y="1645920"/>
            <a:ext cx="5348880" cy="4480200"/>
          </a:xfrm>
          <a:prstGeom prst="roundRect">
            <a:avLst>
              <a:gd name="adj" fmla="val 1633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7"/>
          <p:cNvSpPr/>
          <p:nvPr/>
        </p:nvSpPr>
        <p:spPr>
          <a:xfrm>
            <a:off x="6446520" y="1874520"/>
            <a:ext cx="456840" cy="456840"/>
          </a:xfrm>
          <a:prstGeom prst="ellipse">
            <a:avLst/>
          </a:prstGeom>
          <a:solidFill>
            <a:srgbClr val="A547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9" name="Image 2" descr="icons/link.png"/>
          <p:cNvPicPr/>
          <p:nvPr/>
        </p:nvPicPr>
        <p:blipFill>
          <a:blip r:embed="rId3"/>
          <a:stretch/>
        </p:blipFill>
        <p:spPr>
          <a:xfrm>
            <a:off x="6515280" y="19432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0" name="Text 8"/>
          <p:cNvSpPr/>
          <p:nvPr/>
        </p:nvSpPr>
        <p:spPr>
          <a:xfrm>
            <a:off x="7040880" y="1874520"/>
            <a:ext cx="4343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A5473F"/>
                </a:solidFill>
                <a:effectLst/>
                <a:uFillTx/>
                <a:latin typeface="Cambria"/>
                <a:ea typeface="Cambria"/>
              </a:rPr>
              <a:t>Use join() when...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9"/>
          <p:cNvSpPr/>
          <p:nvPr/>
        </p:nvSpPr>
        <p:spPr>
          <a:xfrm>
            <a:off x="6446520" y="2514600"/>
            <a:ext cx="480024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 already have a list of strings to combine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 need a specific separator between many pieces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Example: ",".join(fields) for a CSV row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10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Strings  ·  Session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11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6" name="Image 0" descr="icons/quot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7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Escape Characters — A Proper Recap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First seen back in the operators session — here's where they really belong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\n and \t show up constantly once you're formatting real text output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report = f"Name:\t{'Ahmed'}\nScore:\t{88}"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print(report)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Name:    Ahmed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Score:   88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381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Strings  ·  Session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Shape 0"/>
          <p:cNvSpPr/>
          <p:nvPr/>
        </p:nvSpPr>
        <p:spPr>
          <a:xfrm>
            <a:off x="-1828800" y="502920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5" name="Image 0" descr="icons/quot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6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Practice Set — Formatting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3"/>
          <p:cNvSpPr/>
          <p:nvPr/>
        </p:nvSpPr>
        <p:spPr>
          <a:xfrm>
            <a:off x="457200" y="1600200"/>
            <a:ext cx="11274120" cy="4480200"/>
          </a:xfrm>
          <a:prstGeom prst="roundRect">
            <a:avLst>
              <a:gd name="adj" fmla="val 204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4"/>
          <p:cNvSpPr/>
          <p:nvPr/>
        </p:nvSpPr>
        <p:spPr>
          <a:xfrm>
            <a:off x="822960" y="182880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Try these yourself first — no code shown, that's the point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5"/>
          <p:cNvSpPr/>
          <p:nvPr/>
        </p:nvSpPr>
        <p:spPr>
          <a:xfrm>
            <a:off x="822960" y="242316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6"/>
          <p:cNvSpPr/>
          <p:nvPr/>
        </p:nvSpPr>
        <p:spPr>
          <a:xfrm>
            <a:off x="822960" y="2423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7"/>
          <p:cNvSpPr/>
          <p:nvPr/>
        </p:nvSpPr>
        <p:spPr>
          <a:xfrm>
            <a:off x="1435680" y="242316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an f-string to print your name and age in one sentence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8"/>
          <p:cNvSpPr/>
          <p:nvPr/>
        </p:nvSpPr>
        <p:spPr>
          <a:xfrm>
            <a:off x="822960" y="359676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9"/>
          <p:cNvSpPr/>
          <p:nvPr/>
        </p:nvSpPr>
        <p:spPr>
          <a:xfrm>
            <a:off x="822960" y="35967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10"/>
          <p:cNvSpPr/>
          <p:nvPr/>
        </p:nvSpPr>
        <p:spPr>
          <a:xfrm>
            <a:off x="1435680" y="359676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Format a decimal number to exactly 2 decimal places inside an f-string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11"/>
          <p:cNvSpPr/>
          <p:nvPr/>
        </p:nvSpPr>
        <p:spPr>
          <a:xfrm>
            <a:off x="822960" y="477000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12"/>
          <p:cNvSpPr/>
          <p:nvPr/>
        </p:nvSpPr>
        <p:spPr>
          <a:xfrm>
            <a:off x="822960" y="47700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13"/>
          <p:cNvSpPr/>
          <p:nvPr/>
        </p:nvSpPr>
        <p:spPr>
          <a:xfrm>
            <a:off x="1435680" y="477000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Build the same sentence three ways — concatenation, f-string, and join() — and compare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14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Strings  ·  Session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15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2"/>
          <p:cNvSpPr/>
          <p:nvPr/>
        </p:nvSpPr>
        <p:spPr>
          <a:xfrm>
            <a:off x="559152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3" name="Image 0" descr="icons/tasks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4" name="Text 3"/>
          <p:cNvSpPr/>
          <p:nvPr/>
        </p:nvSpPr>
        <p:spPr>
          <a:xfrm>
            <a:off x="914400" y="196596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REAL TASKS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4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Th</a:t>
            </a: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es</a:t>
            </a: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 </a:t>
            </a: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Ar</a:t>
            </a: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 </a:t>
            </a: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Th</a:t>
            </a: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in</a:t>
            </a: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gs </a:t>
            </a: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Yo</a:t>
            </a: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u'l</a:t>
            </a: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l </a:t>
            </a: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Ac</a:t>
            </a: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tu</a:t>
            </a: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all</a:t>
            </a: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y </a:t>
            </a: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Bu</a:t>
            </a: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ild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5"/>
          <p:cNvSpPr/>
          <p:nvPr/>
        </p:nvSpPr>
        <p:spPr>
          <a:xfrm>
            <a:off x="1463040" y="4572000"/>
            <a:ext cx="9262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Not toy examples — validation, parsing, and cleaning are core, everyday data work.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32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Shape 0"/>
          <p:cNvSpPr/>
          <p:nvPr/>
        </p:nvSpPr>
        <p:spPr>
          <a:xfrm>
            <a:off x="-1828800" y="5029200"/>
            <a:ext cx="3657240" cy="36572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0" name="Image 0" descr="icons/usershield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1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Today's Tasks — Part A: Validation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3"/>
          <p:cNvSpPr/>
          <p:nvPr/>
        </p:nvSpPr>
        <p:spPr>
          <a:xfrm>
            <a:off x="457200" y="1600200"/>
            <a:ext cx="11274120" cy="4480200"/>
          </a:xfrm>
          <a:prstGeom prst="roundRect">
            <a:avLst>
              <a:gd name="adj" fmla="val 2041"/>
            </a:avLst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4"/>
          <p:cNvSpPr/>
          <p:nvPr/>
        </p:nvSpPr>
        <p:spPr>
          <a:xfrm>
            <a:off x="822960" y="182880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Small tasks — do them in order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Shape 5"/>
          <p:cNvSpPr/>
          <p:nvPr/>
        </p:nvSpPr>
        <p:spPr>
          <a:xfrm>
            <a:off x="822960" y="2423160"/>
            <a:ext cx="420120" cy="420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5" name="Image 1" descr="icons/checkdouble.png"/>
          <p:cNvPicPr/>
          <p:nvPr/>
        </p:nvPicPr>
        <p:blipFill>
          <a:blip r:embed="rId2"/>
          <a:stretch/>
        </p:blipFill>
        <p:spPr>
          <a:xfrm>
            <a:off x="885960" y="2486160"/>
            <a:ext cx="294120" cy="29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6" name="Shape 6"/>
          <p:cNvSpPr/>
          <p:nvPr/>
        </p:nvSpPr>
        <p:spPr>
          <a:xfrm>
            <a:off x="1417320" y="2441520"/>
            <a:ext cx="420120" cy="38376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7"/>
          <p:cNvSpPr/>
          <p:nvPr/>
        </p:nvSpPr>
        <p:spPr>
          <a:xfrm>
            <a:off x="1417320" y="2441520"/>
            <a:ext cx="42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8"/>
          <p:cNvSpPr/>
          <p:nvPr/>
        </p:nvSpPr>
        <p:spPr>
          <a:xfrm>
            <a:off x="2011680" y="2423160"/>
            <a:ext cx="9417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username validator: valid only if it contains letters and numbers </a:t>
            </a: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only, no spaces or symbols (use isalnum())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9"/>
          <p:cNvSpPr/>
          <p:nvPr/>
        </p:nvSpPr>
        <p:spPr>
          <a:xfrm>
            <a:off x="822960" y="3596760"/>
            <a:ext cx="420120" cy="420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0" name="Image 2" descr="icons/checkdouble.png"/>
          <p:cNvPicPr/>
          <p:nvPr/>
        </p:nvPicPr>
        <p:blipFill>
          <a:blip r:embed="rId3"/>
          <a:stretch/>
        </p:blipFill>
        <p:spPr>
          <a:xfrm>
            <a:off x="885960" y="3659760"/>
            <a:ext cx="294120" cy="29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1" name="Shape 10"/>
          <p:cNvSpPr/>
          <p:nvPr/>
        </p:nvSpPr>
        <p:spPr>
          <a:xfrm>
            <a:off x="1417320" y="3614760"/>
            <a:ext cx="420120" cy="38376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11"/>
          <p:cNvSpPr/>
          <p:nvPr/>
        </p:nvSpPr>
        <p:spPr>
          <a:xfrm>
            <a:off x="1417320" y="3614760"/>
            <a:ext cx="42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12"/>
          <p:cNvSpPr/>
          <p:nvPr/>
        </p:nvSpPr>
        <p:spPr>
          <a:xfrm>
            <a:off x="2011680" y="3596760"/>
            <a:ext cx="9417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password strength checker: valid only if it is at least 8 characters long AND contains at least one digit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13"/>
          <p:cNvSpPr/>
          <p:nvPr/>
        </p:nvSpPr>
        <p:spPr>
          <a:xfrm>
            <a:off x="822960" y="4770000"/>
            <a:ext cx="420120" cy="420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5" name="Image 3" descr="icons/checkdouble.png"/>
          <p:cNvPicPr/>
          <p:nvPr/>
        </p:nvPicPr>
        <p:blipFill>
          <a:blip r:embed="rId4"/>
          <a:stretch/>
        </p:blipFill>
        <p:spPr>
          <a:xfrm>
            <a:off x="885960" y="4833360"/>
            <a:ext cx="294120" cy="29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6" name="Shape 14"/>
          <p:cNvSpPr/>
          <p:nvPr/>
        </p:nvSpPr>
        <p:spPr>
          <a:xfrm>
            <a:off x="1417320" y="4788360"/>
            <a:ext cx="420120" cy="38376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15"/>
          <p:cNvSpPr/>
          <p:nvPr/>
        </p:nvSpPr>
        <p:spPr>
          <a:xfrm>
            <a:off x="1417320" y="4788360"/>
            <a:ext cx="42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16"/>
          <p:cNvSpPr/>
          <p:nvPr/>
        </p:nvSpPr>
        <p:spPr>
          <a:xfrm>
            <a:off x="2011680" y="4770000"/>
            <a:ext cx="9417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program that takes a messy full name (extra spaces, random casing) like "  aHMED   ali  " and outputs it cleanly as "Ahmed Ali"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17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Strings  ·  Session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1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Shape 0"/>
          <p:cNvSpPr/>
          <p:nvPr/>
        </p:nvSpPr>
        <p:spPr>
          <a:xfrm>
            <a:off x="-1828800" y="502920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3" name="Image 0" descr="icons/terminal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4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Today's Tasks — Part B: Parsing &amp; Formatting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3"/>
          <p:cNvSpPr/>
          <p:nvPr/>
        </p:nvSpPr>
        <p:spPr>
          <a:xfrm>
            <a:off x="457200" y="1600200"/>
            <a:ext cx="11274120" cy="4480200"/>
          </a:xfrm>
          <a:prstGeom prst="roundRect">
            <a:avLst>
              <a:gd name="adj" fmla="val 204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4"/>
          <p:cNvSpPr/>
          <p:nvPr/>
        </p:nvSpPr>
        <p:spPr>
          <a:xfrm>
            <a:off x="822960" y="182880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Small tasks — do them in order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Shape 5"/>
          <p:cNvSpPr/>
          <p:nvPr/>
        </p:nvSpPr>
        <p:spPr>
          <a:xfrm>
            <a:off x="822960" y="2423160"/>
            <a:ext cx="420120" cy="420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8" name="Image 1" descr="icons/checkdouble.png"/>
          <p:cNvPicPr/>
          <p:nvPr/>
        </p:nvPicPr>
        <p:blipFill>
          <a:blip r:embed="rId2"/>
          <a:stretch/>
        </p:blipFill>
        <p:spPr>
          <a:xfrm>
            <a:off x="885960" y="2486160"/>
            <a:ext cx="294120" cy="29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9" name="Shape 6"/>
          <p:cNvSpPr/>
          <p:nvPr/>
        </p:nvSpPr>
        <p:spPr>
          <a:xfrm>
            <a:off x="1417320" y="2441520"/>
            <a:ext cx="420120" cy="38376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7"/>
          <p:cNvSpPr/>
          <p:nvPr/>
        </p:nvSpPr>
        <p:spPr>
          <a:xfrm>
            <a:off x="1417320" y="2441520"/>
            <a:ext cx="42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8"/>
          <p:cNvSpPr/>
          <p:nvPr/>
        </p:nvSpPr>
        <p:spPr>
          <a:xfrm>
            <a:off x="2011680" y="2423160"/>
            <a:ext cx="9417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Given a line like "Ahmed,25,Karachi", split it and print each field with a label (Name / Age / City)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9"/>
          <p:cNvSpPr/>
          <p:nvPr/>
        </p:nvSpPr>
        <p:spPr>
          <a:xfrm>
            <a:off x="822960" y="3596760"/>
            <a:ext cx="420120" cy="420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3" name="Image 2" descr="icons/checkdouble.png"/>
          <p:cNvPicPr/>
          <p:nvPr/>
        </p:nvPicPr>
        <p:blipFill>
          <a:blip r:embed="rId3"/>
          <a:stretch/>
        </p:blipFill>
        <p:spPr>
          <a:xfrm>
            <a:off x="885960" y="3659760"/>
            <a:ext cx="294120" cy="29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4" name="Shape 10"/>
          <p:cNvSpPr/>
          <p:nvPr/>
        </p:nvSpPr>
        <p:spPr>
          <a:xfrm>
            <a:off x="1417320" y="3614760"/>
            <a:ext cx="420120" cy="38376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11"/>
          <p:cNvSpPr/>
          <p:nvPr/>
        </p:nvSpPr>
        <p:spPr>
          <a:xfrm>
            <a:off x="1417320" y="3614760"/>
            <a:ext cx="42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12"/>
          <p:cNvSpPr/>
          <p:nvPr/>
        </p:nvSpPr>
        <p:spPr>
          <a:xfrm>
            <a:off x="2011680" y="3596760"/>
            <a:ext cx="9417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basic email checker: valid only if the text contains "@" and ends with ".com"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13"/>
          <p:cNvSpPr/>
          <p:nvPr/>
        </p:nvSpPr>
        <p:spPr>
          <a:xfrm>
            <a:off x="822960" y="4770000"/>
            <a:ext cx="420120" cy="420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8" name="Image 3" descr="icons/checkdouble.png"/>
          <p:cNvPicPr/>
          <p:nvPr/>
        </p:nvPicPr>
        <p:blipFill>
          <a:blip r:embed="rId4"/>
          <a:stretch/>
        </p:blipFill>
        <p:spPr>
          <a:xfrm>
            <a:off x="885960" y="4833360"/>
            <a:ext cx="294120" cy="29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9" name="Shape 14"/>
          <p:cNvSpPr/>
          <p:nvPr/>
        </p:nvSpPr>
        <p:spPr>
          <a:xfrm>
            <a:off x="1417320" y="4788360"/>
            <a:ext cx="420120" cy="38376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15"/>
          <p:cNvSpPr/>
          <p:nvPr/>
        </p:nvSpPr>
        <p:spPr>
          <a:xfrm>
            <a:off x="1417320" y="4788360"/>
            <a:ext cx="42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16"/>
          <p:cNvSpPr/>
          <p:nvPr/>
        </p:nvSpPr>
        <p:spPr>
          <a:xfrm>
            <a:off x="2011680" y="4770000"/>
            <a:ext cx="9417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Given a list of product names and prices, loop through them and print a clean receipt with every price formatted to 2 decimal places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17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Strings  ·  Session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1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2"/>
          <p:cNvSpPr/>
          <p:nvPr/>
        </p:nvSpPr>
        <p:spPr>
          <a:xfrm>
            <a:off x="559152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7" name="Image 0" descr="icons/tasks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8" name="Text 3"/>
          <p:cNvSpPr/>
          <p:nvPr/>
        </p:nvSpPr>
        <p:spPr>
          <a:xfrm>
            <a:off x="914400" y="196596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C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4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Put It All Together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5"/>
          <p:cNvSpPr/>
          <p:nvPr/>
        </p:nvSpPr>
        <p:spPr>
          <a:xfrm>
            <a:off x="1463040" y="4572000"/>
            <a:ext cx="9262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Two real projects — the exact kind of text-cleaning work you'd actually reach for AI to help with in EDA.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35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4" name="Image 0" descr="icons/broom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5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Mini Project 1: Data Cleaner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8" name="Image 1" descr="icons/broom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9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This is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real EDA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work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You're given a messy, user-submitted string like "  JOHN   smith!!  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Clean it completely: remove extra whitespace, fix the casing to Title Case, and strip out trailing punctuation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Chain multiple string methods together to do this in as few lines as possible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Print both the original and the cleaned version, side by side, so the transformation is obvious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7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Strings  ·  Session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5" name="Image 0" descr="icons/terminal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6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Mini Project 2: Simple Log Parser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9" name="Image 1" descr="icons/terminal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0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 taste of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real logging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data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You're given a single fake log line: "ERROR: Connection failed at 14:32"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split() to separate it into the log level ("ERROR"), the message, and the timestamp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Print each piece separately, clearly labeled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Bonus: use startswith() to check whether the log level is "ERROR" and print a warning if so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7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Strings  ·  Session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Shape 2"/>
          <p:cNvSpPr/>
          <p:nvPr/>
        </p:nvSpPr>
        <p:spPr>
          <a:xfrm>
            <a:off x="559152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7" name="Image 0" descr="icons/quote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8" name="Text 3"/>
          <p:cNvSpPr/>
          <p:nvPr/>
        </p:nvSpPr>
        <p:spPr>
          <a:xfrm>
            <a:off x="914400" y="196596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RECAP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4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Strings behave like lists — but they never let you change them.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Every method today builds toward reading and cleaning real data.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5"/>
          <p:cNvSpPr/>
          <p:nvPr/>
        </p:nvSpPr>
        <p:spPr>
          <a:xfrm>
            <a:off x="1463040" y="4572000"/>
            <a:ext cx="9262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Next session: dictionaries — the last major data structure, and a very natural fit now that loops exist.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38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LibreOffice/26.2.4.2$Linux_X86_64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2026-08-06T16:04:48Z</dcterms:created>
  <dc:creator>Course Instructor</dc:creator>
  <dc:description/>
  <dc:language>en-US</dc:language>
  <cp:lastModifiedBy/>
  <dcterms:modified xsi:type="dcterms:W3CDTF">2026-08-10T22:04:48Z</dcterms:modified>
  <cp:revision>10</cp:revision>
  <dc:subject>PptxGenJS Presentation</dc:subject>
  <dc:title>Strings — Session 7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38</vt:i4>
  </property>
  <property fmtid="{D5CDD505-2E9C-101B-9397-08002B2CF9AE}" pid="3" name="PresentationFormat">
    <vt:lpwstr>On-screen Show (16:9)</vt:lpwstr>
  </property>
  <property fmtid="{D5CDD505-2E9C-101B-9397-08002B2CF9AE}" pid="4" name="Slides">
    <vt:i4>38</vt:i4>
  </property>
</Properties>
</file>