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E390FAB-ACE8-46BF-AC32-6AA8B69F6EF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14BF08-2013-4B60-8A52-12B32E6213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ED5AB7-E633-4768-B672-5F419D5DB5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15C69B-19BC-45E5-88C6-5B6C8D5B29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03F109-10B9-4790-A005-B5142862C7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0C1B42-06F0-428C-801B-60AD2794A4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FBCF9A-A68C-441F-BCC9-A22C27186D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B30D10-A7B6-4A04-8D74-D806CC999E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12D716-0C82-42B4-B6E0-76426D24D8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F19C1C-E9AA-44E4-87EF-112DEFE603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B225FF-BA91-4E4A-9440-4D026BBFA1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A6B951-F2E7-45EE-BB72-CF8E41F988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13F961-C22C-4FDB-A741-0796C5CDC2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56A83F-3FAD-4485-A869-D576D8403B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7E071A-2691-4AF2-85C0-88A420D95F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40F361-4F37-49F0-8FBF-EE9B53239E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F8E8CC-3106-49FF-97E9-0F127FDFE9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3F785A-2034-4E0E-B07D-DAA99F297F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25C921-E208-4D6E-9D10-0EBAFEB64B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049354-5258-4231-BE71-F6CC9F5895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89E55E-388F-4638-BBDE-68755B6F52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9A011F-9D33-4ABE-85A5-FC5B605C82F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57BF44-30A5-47E3-8797-2E1AEA7E38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E267A1-E7AB-44E2-8F19-8E7E65C93C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92159D-1A31-495F-860B-21010C8813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ACB567-E0D4-4683-A668-CB3860DEDB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1F51639-368E-4F14-A1DD-897DB8DD45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F593AC-77BC-44FA-ACC8-217ACAF1D5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B8CFE8-CA33-4CED-B5F4-C578B848CF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E9B5DC-BA7F-433F-9718-ADC54E8A38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368676-3237-4795-B1FA-89F4F8AC6B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7FDCB9-C0F5-4C6B-BF3E-844104532A7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D059C1-8185-4F99-934B-B67B1EF198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E58DFC-2F2C-4587-92A1-2ACFB32694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3D6567-DD57-4127-8A23-CEB45BF72F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D5E46E-1C38-494A-A9CF-762EAA0050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5F8A81-F332-4F21-9C34-BDDB142D8D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BCEDBA-5090-4740-8D4F-9630AB66FC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9F6D39-07AA-428C-86A2-29D213545B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FFC2C3-C802-4841-8496-0596226F85E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41BAAC-4E02-4683-AA66-F357B73773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E176AF-699F-4AED-AD94-094B2A5FCE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3FBC6C-38CF-4251-A05A-C3FDB6B12F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87B0FF-0FBC-4DD9-A1B4-0D27512E71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9812D2-1F9E-4604-8884-0318415DC0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D90F0A-4A68-4ACB-8E11-32D4FB324D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A03C98-4F5B-4F77-A8E0-D0AA6E6AC5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08CB95-50BA-4C9D-8B08-9C4FDF43DB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62CE3C-BF71-4EB3-8CC3-020309844F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8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6.png"/><Relationship Id="rId3" Type="http://schemas.openxmlformats.org/officeDocument/2006/relationships/image" Target="../media/image2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6.png"/><Relationship Id="rId3" Type="http://schemas.openxmlformats.org/officeDocument/2006/relationships/image" Target="../media/image2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6.png"/><Relationship Id="rId3" Type="http://schemas.openxmlformats.org/officeDocument/2006/relationships/image" Target="../media/image2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495400" y="914400"/>
            <a:ext cx="1187280" cy="11872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preencoded.png"/>
          <p:cNvPicPr/>
          <p:nvPr/>
        </p:nvPicPr>
        <p:blipFill>
          <a:blip r:embed="rId1"/>
          <a:stretch/>
        </p:blipFill>
        <p:spPr>
          <a:xfrm>
            <a:off x="5678280" y="1097280"/>
            <a:ext cx="830520" cy="83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864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Advanced Functions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8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*args, **kwargs, Lambda, Recursion, Closures &amp; Decorators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8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9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457200" y="1600200"/>
            <a:ext cx="11273040" cy="56016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685800" y="1707480"/>
            <a:ext cx="345960" cy="345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" name="Image 1" descr="preencoded.png"/>
          <p:cNvPicPr/>
          <p:nvPr/>
        </p:nvPicPr>
        <p:blipFill>
          <a:blip r:embed="rId2"/>
          <a:stretch/>
        </p:blipFill>
        <p:spPr>
          <a:xfrm>
            <a:off x="758880" y="1780560"/>
            <a:ext cx="199800" cy="1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4"/>
          <p:cNvSpPr/>
          <p:nvPr/>
        </p:nvSpPr>
        <p:spPr>
          <a:xfrm>
            <a:off x="1234440" y="1600200"/>
            <a:ext cx="1023984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Flexible arguments — *args, **kwargs, and unpacking into a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5"/>
          <p:cNvSpPr/>
          <p:nvPr/>
        </p:nvSpPr>
        <p:spPr>
          <a:xfrm>
            <a:off x="457200" y="2253240"/>
            <a:ext cx="11273040" cy="56016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685800" y="2360520"/>
            <a:ext cx="345960" cy="345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" name="Image 2" descr="preencoded.png"/>
          <p:cNvPicPr/>
          <p:nvPr/>
        </p:nvPicPr>
        <p:blipFill>
          <a:blip r:embed="rId3"/>
          <a:stretch/>
        </p:blipFill>
        <p:spPr>
          <a:xfrm>
            <a:off x="758880" y="2433600"/>
            <a:ext cx="199800" cy="1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Text 7"/>
          <p:cNvSpPr/>
          <p:nvPr/>
        </p:nvSpPr>
        <p:spPr>
          <a:xfrm>
            <a:off x="1234440" y="2253240"/>
            <a:ext cx="1023984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 functions — short, anonymous, one-expression logic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8"/>
          <p:cNvSpPr/>
          <p:nvPr/>
        </p:nvSpPr>
        <p:spPr>
          <a:xfrm>
            <a:off x="457200" y="2906640"/>
            <a:ext cx="11273040" cy="56016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685800" y="3013560"/>
            <a:ext cx="345960" cy="345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3" descr="preencoded.png"/>
          <p:cNvPicPr/>
          <p:nvPr/>
        </p:nvPicPr>
        <p:blipFill>
          <a:blip r:embed="rId4"/>
          <a:stretch/>
        </p:blipFill>
        <p:spPr>
          <a:xfrm>
            <a:off x="758880" y="3086640"/>
            <a:ext cx="199800" cy="1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10"/>
          <p:cNvSpPr/>
          <p:nvPr/>
        </p:nvSpPr>
        <p:spPr>
          <a:xfrm>
            <a:off x="1234440" y="2906640"/>
            <a:ext cx="1023984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Recursion — functions that call themselves, and when that’s the right tool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1"/>
          <p:cNvSpPr/>
          <p:nvPr/>
        </p:nvSpPr>
        <p:spPr>
          <a:xfrm>
            <a:off x="457200" y="3559680"/>
            <a:ext cx="11273040" cy="56016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685800" y="3666600"/>
            <a:ext cx="345960" cy="345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" name="Image 4" descr="preencoded.png"/>
          <p:cNvPicPr/>
          <p:nvPr/>
        </p:nvPicPr>
        <p:blipFill>
          <a:blip r:embed="rId5"/>
          <a:stretch/>
        </p:blipFill>
        <p:spPr>
          <a:xfrm>
            <a:off x="758880" y="3740040"/>
            <a:ext cx="199800" cy="1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Text 13"/>
          <p:cNvSpPr/>
          <p:nvPr/>
        </p:nvSpPr>
        <p:spPr>
          <a:xfrm>
            <a:off x="1234440" y="3559680"/>
            <a:ext cx="1023984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Closures — functions that remember the scope they were born 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4"/>
          <p:cNvSpPr/>
          <p:nvPr/>
        </p:nvSpPr>
        <p:spPr>
          <a:xfrm>
            <a:off x="457200" y="4212720"/>
            <a:ext cx="11273040" cy="56016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685800" y="4320000"/>
            <a:ext cx="345960" cy="345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 5" descr="preencoded.png"/>
          <p:cNvPicPr/>
          <p:nvPr/>
        </p:nvPicPr>
        <p:blipFill>
          <a:blip r:embed="rId6"/>
          <a:stretch/>
        </p:blipFill>
        <p:spPr>
          <a:xfrm>
            <a:off x="758880" y="4393080"/>
            <a:ext cx="199800" cy="1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16"/>
          <p:cNvSpPr/>
          <p:nvPr/>
        </p:nvSpPr>
        <p:spPr>
          <a:xfrm>
            <a:off x="1234440" y="4212720"/>
            <a:ext cx="1023984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Decorators — wrapping one function’s behavior around another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7"/>
          <p:cNvSpPr/>
          <p:nvPr/>
        </p:nvSpPr>
        <p:spPr>
          <a:xfrm>
            <a:off x="457200" y="4865760"/>
            <a:ext cx="11273040" cy="56016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685800" y="4973040"/>
            <a:ext cx="345960" cy="345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6" descr="preencoded.png"/>
          <p:cNvPicPr/>
          <p:nvPr/>
        </p:nvPicPr>
        <p:blipFill>
          <a:blip r:embed="rId7"/>
          <a:stretch/>
        </p:blipFill>
        <p:spPr>
          <a:xfrm>
            <a:off x="758880" y="5046120"/>
            <a:ext cx="199800" cy="1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19"/>
          <p:cNvSpPr/>
          <p:nvPr/>
        </p:nvSpPr>
        <p:spPr>
          <a:xfrm>
            <a:off x="1234440" y="4865760"/>
            <a:ext cx="1023984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Today's tasks — industry-style, do-it-yourself practice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0"/>
          <p:cNvSpPr/>
          <p:nvPr/>
        </p:nvSpPr>
        <p:spPr>
          <a:xfrm>
            <a:off x="457200" y="5519160"/>
            <a:ext cx="11273040" cy="56016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685800" y="5626080"/>
            <a:ext cx="345960" cy="345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" name="Image 7" descr="preencoded.png"/>
          <p:cNvPicPr/>
          <p:nvPr/>
        </p:nvPicPr>
        <p:blipFill>
          <a:blip r:embed="rId8"/>
          <a:stretch/>
        </p:blipFill>
        <p:spPr>
          <a:xfrm>
            <a:off x="758880" y="5699160"/>
            <a:ext cx="199800" cy="1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Text 22"/>
          <p:cNvSpPr/>
          <p:nvPr/>
        </p:nvSpPr>
        <p:spPr>
          <a:xfrm>
            <a:off x="1234440" y="5519160"/>
            <a:ext cx="1023984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mini projects combining everything from this session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3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559620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Flexible Arguments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What happens when you don’t know how many values a function needs to accept?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>
            <a:off x="10515600" y="5669280"/>
            <a:ext cx="3198960" cy="319896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Problem With Fixed Parameters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Unknown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number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inputs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normal function locks in exactly how many arguments it accepts — def total(a, b, c) only ever takes three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But real functions often can’t know that in advance: a logger might get 1 message or 5, a total() might sum 2 numbers or 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Adding a, b, c, d, e... parameters "just in case" doesn’t scale, and callers still hit a wall eventually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Python’s answer is *args and **kwargs — built-in ways to accept "as many as you give me"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*args — Any Number of Positional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single * before a parameter name collects every extra positional argument into a tuple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"args" is just a convention — the * is what matters, not the name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Inside the function, args behaves like any other tuple — loop over it, index it, len() it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total(*args):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print(type(args))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&lt;class 'tuple'&gt;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sum(args)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total(4, 9)         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total(1, 2, 3, 4, 5)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15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total()             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0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**kwargs — Any Number of Keyword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asterisks before a parameter name collect every extra keyword argument into a dictionary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caller-supplied name becomes a key, and the value they passed becomes that key’s value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flexible config, settings, and options are usually handled in real APIs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build_profile(**kwargs):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print(type(kwargs))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&lt;class 'dict'&gt;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kwargs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build_profile(name="Ahmed", age=25)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{'name': 'Ahmed', 'age':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build_profile(city="Karachi")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{'city': 'Karachi'}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Combining Them — and the Order Python Requires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Regular parameters, *args, and **kwargs can all appear in one function — but only in this fixed order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Regular parameters first, then *args, then **kwargs — Python enforces this at definition time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Getting the order wrong is a SyntaxError, not a runtime bug — it’s caught before the code even runs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order(item, *args, **kwargs):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print(item)   </a:t>
            </a: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regular param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print(args)   </a:t>
            </a: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extra positional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print(kwargs) </a:t>
            </a: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extra keyword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order("book", "pen", "bag", price=50, qty=2)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book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('pen', 'bag')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{'price': 50, 'qty': 2}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Unpacking — Spreading a List or Dict Into a Call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 and ** also work in the other direction — spreading an existing list or dict out as separate arguments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*my_list unpacks each item as its own positional argument, in order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**my_dict unpacks each key as a keyword argument — the keys must match the function’s parameter names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greet(name, age):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print(f"{name} is {age}")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values = ["Ahmed", 25]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greet(*values)     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Ahmed is 25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info = {"name": "Sara", "age": 22}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greet(**info)         </a:t>
            </a:r>
            <a:r>
              <a:rPr lang="en-US" sz="24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Sara is 22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Flexible Logging Function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Production logging functions never know in advance how many pieces of context they’ll be given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*args lets the caller pass any number of message parts; **kwargs lets them attach any extra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pattern — *args + **kwargs — is how most real logging, wrapper, and utility functions are built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log(level, *parts, **meta):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message = " ".join(str(p) for p in parts)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tags = ", ".join(f"{k}={v}" for k, v in meta.items())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print(f"[{level}] {message}  ({tags})")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log("INFO", "User", "logged in", user_id=42, ip="10.0.0.1")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[INFO] User logged in  (user_id=42, ip=10.0.0.1)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Flexible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multiply_all(*args) that multiplies every number passed to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8"/>
          <p:cNvSpPr/>
          <p:nvPr/>
        </p:nvSpPr>
        <p:spPr>
          <a:xfrm>
            <a:off x="822960" y="330084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9"/>
          <p:cNvSpPr/>
          <p:nvPr/>
        </p:nvSpPr>
        <p:spPr>
          <a:xfrm>
            <a:off x="822960" y="33008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1435680" y="330084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describe(**kwargs) that prints each key and value on its own line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1"/>
          <p:cNvSpPr/>
          <p:nvPr/>
        </p:nvSpPr>
        <p:spPr>
          <a:xfrm>
            <a:off x="822960" y="41788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2"/>
          <p:cNvSpPr/>
          <p:nvPr/>
        </p:nvSpPr>
        <p:spPr>
          <a:xfrm>
            <a:off x="822960" y="41788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3"/>
          <p:cNvSpPr/>
          <p:nvPr/>
        </p:nvSpPr>
        <p:spPr>
          <a:xfrm>
            <a:off x="1435680" y="41788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 both: a function that takes a required name, then any number of hobbies, then any number of extra facts as keywords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4"/>
          <p:cNvSpPr/>
          <p:nvPr/>
        </p:nvSpPr>
        <p:spPr>
          <a:xfrm>
            <a:off x="822960" y="50565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5"/>
          <p:cNvSpPr/>
          <p:nvPr/>
        </p:nvSpPr>
        <p:spPr>
          <a:xfrm>
            <a:off x="822960" y="50565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6"/>
          <p:cNvSpPr/>
          <p:nvPr/>
        </p:nvSpPr>
        <p:spPr>
          <a:xfrm>
            <a:off x="1435680" y="50565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an existing list of 3 numbers and unpack it into a function that expects three separate arguments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559620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Lambda Functions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Sometimes a function is so small it doesn’t deserve a name — or a def block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0"/>
          <p:cNvSpPr/>
          <p:nvPr/>
        </p:nvSpPr>
        <p:spPr>
          <a:xfrm>
            <a:off x="10515600" y="5669280"/>
            <a:ext cx="3198960" cy="319896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Lambda?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4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line.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value.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name.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lambda is a small, anonymous function — defined and used in a single expression, with no def and no function name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 x: x * 2 is a complete function — it takes x, and its result is whatever the expression evaluates to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There’s no return keyword — the expression’s value is automatically returned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Lambdas exist for one purpose: to hand a tiny, throwaway function to something else that expects one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vs. def — When Each Is the Right Choice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"/>
          <p:cNvSpPr/>
          <p:nvPr/>
        </p:nvSpPr>
        <p:spPr>
          <a:xfrm>
            <a:off x="457200" y="1645920"/>
            <a:ext cx="534780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3"/>
          <p:cNvSpPr/>
          <p:nvPr/>
        </p:nvSpPr>
        <p:spPr>
          <a:xfrm>
            <a:off x="731520" y="1874520"/>
            <a:ext cx="455760" cy="455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4" name="Image 1" descr="preencoded.png"/>
          <p:cNvPicPr/>
          <p:nvPr/>
        </p:nvPicPr>
        <p:blipFill>
          <a:blip r:embed="rId2"/>
          <a:stretch/>
        </p:blipFill>
        <p:spPr>
          <a:xfrm>
            <a:off x="804600" y="193860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Text 4"/>
          <p:cNvSpPr/>
          <p:nvPr/>
        </p:nvSpPr>
        <p:spPr>
          <a:xfrm>
            <a:off x="1325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Use lambda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731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logic is one simple expression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passing it directly as an argument (to sorted(), map(), filter()...)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will never be reused or called by name elsewhere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Naming it would add a line without adding clarity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6"/>
          <p:cNvSpPr/>
          <p:nvPr/>
        </p:nvSpPr>
        <p:spPr>
          <a:xfrm>
            <a:off x="6172200" y="1645920"/>
            <a:ext cx="534780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7"/>
          <p:cNvSpPr/>
          <p:nvPr/>
        </p:nvSpPr>
        <p:spPr>
          <a:xfrm>
            <a:off x="6446520" y="1874520"/>
            <a:ext cx="455760" cy="455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Image 2" descr="preencoded.png"/>
          <p:cNvPicPr/>
          <p:nvPr/>
        </p:nvPicPr>
        <p:blipFill>
          <a:blip r:embed="rId3"/>
          <a:stretch/>
        </p:blipFill>
        <p:spPr>
          <a:xfrm>
            <a:off x="6519600" y="193860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 8"/>
          <p:cNvSpPr/>
          <p:nvPr/>
        </p:nvSpPr>
        <p:spPr>
          <a:xfrm>
            <a:off x="7040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Use def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9"/>
          <p:cNvSpPr/>
          <p:nvPr/>
        </p:nvSpPr>
        <p:spPr>
          <a:xfrm>
            <a:off x="6446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logic needs more than one expression, or any statements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You’ll call it more than once, from more than one place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descriptive name would make the code easier to read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needs a docstring, type hints, or error handling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5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+ sorted() — A Perfect Pairing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sorted() accepts a key= function that tells it what to sort by — exactly what lambda is built for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Compare this to writing a full, separately-named function just to sort a dictionary by value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For a one-off sort key, the lambda version is shorter and just as clear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{"Ahmed": 88, "Sara": 95, "Ali": 72}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Old way: a full named function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by_value(pair):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pair[1]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sorted(scores.items(), key=by_value)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With lambda — same result, one line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sorted(scores.items(), key=lambda pair: pair[1])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[('Ali', 72), ('Ahmed', 88), ('Sara', 95)]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+ map() and filter()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map() applies a function to every item in a sequence and returns the transformed results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filter() applies a function that returns True/False, and keeps only the items that pass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Both expect a function as their first argument — lambda supplies it inline, without a separate def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nums = [1, 2, 3, 4, 5, 6]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doubled = list(map(lambda n: n * 2, nums))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onsolas"/>
                <a:ea typeface="Consolas"/>
              </a:rPr>
              <a:t># [2, 4, 6, 8, 10, 12]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evens = list(filter(lambda n: n % 2 == 0, nums))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onsolas"/>
                <a:ea typeface="Consolas"/>
              </a:rPr>
              <a:t># [2, 4, 6]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0"/>
          <p:cNvSpPr/>
          <p:nvPr/>
        </p:nvSpPr>
        <p:spPr>
          <a:xfrm>
            <a:off x="10515600" y="5669280"/>
            <a:ext cx="3198960" cy="3198960"/>
          </a:xfrm>
          <a:prstGeom prst="roundRect">
            <a:avLst>
              <a:gd name="adj" fmla="val 1142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When NOT to Use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30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Readable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code beats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clever code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lambda needs a comment to explain what it does, it should be a named function instead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Chaining multiple lambdas together, or nesting them, is a common real-world code-review flag — it hurts readability fast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same logic is used in more than one place, give it a name — a lambda can’t be reused cleanly or documented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Professional teams treat "would this be clearer as a def?" as the actual test — not "can I fit it on one line?"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lambda that takes a number and returns whether it’s greater than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8"/>
          <p:cNvSpPr/>
          <p:nvPr/>
        </p:nvSpPr>
        <p:spPr>
          <a:xfrm>
            <a:off x="822960" y="330084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9"/>
          <p:cNvSpPr/>
          <p:nvPr/>
        </p:nvSpPr>
        <p:spPr>
          <a:xfrm>
            <a:off x="822960" y="33008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0"/>
          <p:cNvSpPr/>
          <p:nvPr/>
        </p:nvSpPr>
        <p:spPr>
          <a:xfrm>
            <a:off x="1435680" y="330084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sorted() with a lambda to sort a list of names by their length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1"/>
          <p:cNvSpPr/>
          <p:nvPr/>
        </p:nvSpPr>
        <p:spPr>
          <a:xfrm>
            <a:off x="822960" y="41788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2"/>
          <p:cNvSpPr/>
          <p:nvPr/>
        </p:nvSpPr>
        <p:spPr>
          <a:xfrm>
            <a:off x="822960" y="41788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3"/>
          <p:cNvSpPr/>
          <p:nvPr/>
        </p:nvSpPr>
        <p:spPr>
          <a:xfrm>
            <a:off x="1435680" y="41788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map() with a lambda to convert a list of Celsius temperatures to Fahrenheit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4"/>
          <p:cNvSpPr/>
          <p:nvPr/>
        </p:nvSpPr>
        <p:spPr>
          <a:xfrm>
            <a:off x="822960" y="50565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5"/>
          <p:cNvSpPr/>
          <p:nvPr/>
        </p:nvSpPr>
        <p:spPr>
          <a:xfrm>
            <a:off x="822960" y="50565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6"/>
          <p:cNvSpPr/>
          <p:nvPr/>
        </p:nvSpPr>
        <p:spPr>
          <a:xfrm>
            <a:off x="1435680" y="50565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filter() with a lambda to keep only the words longer than 4 characters from a sentence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"/>
          <p:cNvSpPr/>
          <p:nvPr/>
        </p:nvSpPr>
        <p:spPr>
          <a:xfrm>
            <a:off x="559620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4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Recursion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solves a problem by asking a smaller version of itself to help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10515600" y="5669280"/>
            <a:ext cx="3198960" cy="319896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Recursion?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function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calling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itself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Recursion is a function that calls itself to solve a smaller piece of the same problem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Russian nesting dolls — open one, and there’s a smaller identical doll inside, until you reach the smallest one that doesn’t open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call works on a slightly smaller version of the problem, and the smallest version is simple enough to answer directly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That "simple enough to answer directly" case is what makes the whole chain eventually stop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Two Required Parts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"/>
          <p:cNvSpPr/>
          <p:nvPr/>
        </p:nvSpPr>
        <p:spPr>
          <a:xfrm>
            <a:off x="457200" y="1645920"/>
            <a:ext cx="534780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3"/>
          <p:cNvSpPr/>
          <p:nvPr/>
        </p:nvSpPr>
        <p:spPr>
          <a:xfrm>
            <a:off x="731520" y="1874520"/>
            <a:ext cx="455760" cy="455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5" name="Image 1" descr="preencoded.png"/>
          <p:cNvPicPr/>
          <p:nvPr/>
        </p:nvPicPr>
        <p:blipFill>
          <a:blip r:embed="rId2"/>
          <a:stretch/>
        </p:blipFill>
        <p:spPr>
          <a:xfrm>
            <a:off x="804600" y="193860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Text 4"/>
          <p:cNvSpPr/>
          <p:nvPr/>
        </p:nvSpPr>
        <p:spPr>
          <a:xfrm>
            <a:off x="1325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Base Case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731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smallest version of the problem — answered directly, with no further recursive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what stops the recursion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recursive function needs at least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factorial(0) is defined to be 1, no calculation needed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6"/>
          <p:cNvSpPr/>
          <p:nvPr/>
        </p:nvSpPr>
        <p:spPr>
          <a:xfrm>
            <a:off x="6172200" y="1645920"/>
            <a:ext cx="534780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7"/>
          <p:cNvSpPr/>
          <p:nvPr/>
        </p:nvSpPr>
        <p:spPr>
          <a:xfrm>
            <a:off x="6446520" y="1874520"/>
            <a:ext cx="455760" cy="455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0" name="Image 2" descr="preencoded.png"/>
          <p:cNvPicPr/>
          <p:nvPr/>
        </p:nvPicPr>
        <p:blipFill>
          <a:blip r:embed="rId3"/>
          <a:stretch/>
        </p:blipFill>
        <p:spPr>
          <a:xfrm>
            <a:off x="6519600" y="193860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Text 8"/>
          <p:cNvSpPr/>
          <p:nvPr/>
        </p:nvSpPr>
        <p:spPr>
          <a:xfrm>
            <a:off x="7040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Recursive Case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6446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step where the function calls itself on a smaller piece of the problem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Must always move toward the base case — never sideways, never backward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Combines its own small piece of work with the result of the smaller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factorial(n) = n × factorial(n - 1)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Classic Example: Factorial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factorial(n) is n × (n-1) × (n-2) × ... × 1 — a textbook recursive definition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Base case: factorial(0) is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Recursive case: factorial(n) is n times factorial(n - 1)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factorial(n):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== 0:   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base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n * factorial(n - 1)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recursive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factorial(4)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factorial(3)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(3 * factorial(2))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(3 * (2 * factorial(1)))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3 * 2 * 1 * 1  -&gt;  24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Recursion Call Stack,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"/>
          <p:cNvSpPr/>
          <p:nvPr/>
        </p:nvSpPr>
        <p:spPr>
          <a:xfrm>
            <a:off x="1097280" y="1691640"/>
            <a:ext cx="9992880" cy="71172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1325880" y="1691640"/>
            <a:ext cx="95356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factorial(4)  waiting for factorial(3)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1417320" y="2514600"/>
            <a:ext cx="9672840" cy="71172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1645920" y="2514600"/>
            <a:ext cx="921564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factorial(3)  waiting for factorial(2)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6"/>
          <p:cNvSpPr/>
          <p:nvPr/>
        </p:nvSpPr>
        <p:spPr>
          <a:xfrm>
            <a:off x="1737360" y="3337560"/>
            <a:ext cx="9352800" cy="71172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7"/>
          <p:cNvSpPr/>
          <p:nvPr/>
        </p:nvSpPr>
        <p:spPr>
          <a:xfrm>
            <a:off x="1965960" y="3337560"/>
            <a:ext cx="889560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factorial(2)  waiting for factorial(1)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8"/>
          <p:cNvSpPr/>
          <p:nvPr/>
        </p:nvSpPr>
        <p:spPr>
          <a:xfrm>
            <a:off x="2057400" y="4160520"/>
            <a:ext cx="9032760" cy="71172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9"/>
          <p:cNvSpPr/>
          <p:nvPr/>
        </p:nvSpPr>
        <p:spPr>
          <a:xfrm>
            <a:off x="2286000" y="4160520"/>
            <a:ext cx="85755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factorial(1)  waiting for factorial(0)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0"/>
          <p:cNvSpPr/>
          <p:nvPr/>
        </p:nvSpPr>
        <p:spPr>
          <a:xfrm>
            <a:off x="2377440" y="4983480"/>
            <a:ext cx="8712720" cy="711720"/>
          </a:xfrm>
          <a:prstGeom prst="roundRect">
            <a:avLst>
              <a:gd name="adj" fmla="val 10256"/>
            </a:avLst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1"/>
          <p:cNvSpPr/>
          <p:nvPr/>
        </p:nvSpPr>
        <p:spPr>
          <a:xfrm>
            <a:off x="2606040" y="4983480"/>
            <a:ext cx="825552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factorial(0)  → returns 1   (base case reached)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2"/>
          <p:cNvSpPr/>
          <p:nvPr/>
        </p:nvSpPr>
        <p:spPr>
          <a:xfrm>
            <a:off x="1097280" y="5852160"/>
            <a:ext cx="9992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Each call waits for the one below it to finish — then the results multiply back up the stack: 1, then 2, then 6, then 24.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3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4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Classic Example: Fibonacci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Fibonacci number is the sum of the two before it: 0, 1, 1, 2, 3, 5, 8, 13...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Base cases: fib(0) is 0, fib(1) is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Recursive case: fib(n) is fib(n-1) + fib(n-2) — two recursive calls, not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fib(n):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&lt;= 1:    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base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fib(n-1) + fib(n-2)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recursive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fib(6)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8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[fib(n) for n in range(7)]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[0, 1, 1, 2, 3, 5, 8]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0"/>
          <p:cNvSpPr/>
          <p:nvPr/>
        </p:nvSpPr>
        <p:spPr>
          <a:xfrm>
            <a:off x="10515600" y="5669280"/>
            <a:ext cx="3198960" cy="3198960"/>
          </a:xfrm>
          <a:prstGeom prst="roundRect">
            <a:avLst>
              <a:gd name="adj" fmla="val 1142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Danger of Infinite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30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3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base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=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stop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function never reaches its base case, it keeps calling itself — forever, in theory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practice, Python raises a RecursionError once the call stack hits its limit (by default, around 1000 calls deep)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recursive cousin of an infinite while loop — same root cause: the stopping condition is never satisfied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fix is always the same: check that every recursive call is moving strictly closer to the base case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vs. Loops — Honest Tradeoffs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2"/>
          <p:cNvSpPr/>
          <p:nvPr/>
        </p:nvSpPr>
        <p:spPr>
          <a:xfrm>
            <a:off x="457200" y="1645920"/>
            <a:ext cx="534780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3"/>
          <p:cNvSpPr/>
          <p:nvPr/>
        </p:nvSpPr>
        <p:spPr>
          <a:xfrm>
            <a:off x="731520" y="1874520"/>
            <a:ext cx="455760" cy="455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3" name="Image 1" descr="preencoded.png"/>
          <p:cNvPicPr/>
          <p:nvPr/>
        </p:nvPicPr>
        <p:blipFill>
          <a:blip r:embed="rId2"/>
          <a:stretch/>
        </p:blipFill>
        <p:spPr>
          <a:xfrm>
            <a:off x="804600" y="193860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Text 4"/>
          <p:cNvSpPr/>
          <p:nvPr/>
        </p:nvSpPr>
        <p:spPr>
          <a:xfrm>
            <a:off x="1325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Loops win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731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repetition is simple and flat — no natural nesting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Performance matters — loops avoid the overhead of repeated function calls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data is a straightforward sequence you’re stepping through once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6"/>
          <p:cNvSpPr/>
          <p:nvPr/>
        </p:nvSpPr>
        <p:spPr>
          <a:xfrm>
            <a:off x="6172200" y="1645920"/>
            <a:ext cx="534780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7"/>
          <p:cNvSpPr/>
          <p:nvPr/>
        </p:nvSpPr>
        <p:spPr>
          <a:xfrm>
            <a:off x="6446520" y="1874520"/>
            <a:ext cx="455760" cy="455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2" descr="preencoded.png"/>
          <p:cNvPicPr/>
          <p:nvPr/>
        </p:nvPicPr>
        <p:blipFill>
          <a:blip r:embed="rId3"/>
          <a:stretch/>
        </p:blipFill>
        <p:spPr>
          <a:xfrm>
            <a:off x="6519600" y="193860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8"/>
          <p:cNvSpPr/>
          <p:nvPr/>
        </p:nvSpPr>
        <p:spPr>
          <a:xfrm>
            <a:off x="7040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wins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9"/>
          <p:cNvSpPr/>
          <p:nvPr/>
        </p:nvSpPr>
        <p:spPr>
          <a:xfrm>
            <a:off x="6446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problem is naturally nested — trees, folders, nested data of unknown depth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step is a smaller version of the exact same problem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recursive version is dramatically easier to read than the loop-based equivalent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Nested Data of Unknown Depth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can contain another dictionary, which can contain another — to any depth, unknown in advance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can’t handle "unknown depth" cleanly, but recursion handles it naturally: dig in, and if you find another dictionary, recurse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exact same pattern is used to walk folder structures, JSON responses, and org charts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sum_nested(data):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total = 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for value in data.values():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if isinstance(value, dict):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    total += sum_nested(value)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else: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    total +=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total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sum_nested({"a": 1, "b": {"c": 2, "d": {"e": 3}}})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6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3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returns the sum of all numbers from 1 to 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8"/>
          <p:cNvSpPr/>
          <p:nvPr/>
        </p:nvSpPr>
        <p:spPr>
          <a:xfrm>
            <a:off x="822960" y="330084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9"/>
          <p:cNvSpPr/>
          <p:nvPr/>
        </p:nvSpPr>
        <p:spPr>
          <a:xfrm>
            <a:off x="822960" y="33008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0"/>
          <p:cNvSpPr/>
          <p:nvPr/>
        </p:nvSpPr>
        <p:spPr>
          <a:xfrm>
            <a:off x="1435680" y="330084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reverses a string (no slicing shortcuts)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1"/>
          <p:cNvSpPr/>
          <p:nvPr/>
        </p:nvSpPr>
        <p:spPr>
          <a:xfrm>
            <a:off x="822960" y="41788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2"/>
          <p:cNvSpPr/>
          <p:nvPr/>
        </p:nvSpPr>
        <p:spPr>
          <a:xfrm>
            <a:off x="822960" y="41788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3"/>
          <p:cNvSpPr/>
          <p:nvPr/>
        </p:nvSpPr>
        <p:spPr>
          <a:xfrm>
            <a:off x="1435680" y="41788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Trace factorial(5) by hand, writing out each call on paper before running any code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4"/>
          <p:cNvSpPr/>
          <p:nvPr/>
        </p:nvSpPr>
        <p:spPr>
          <a:xfrm>
            <a:off x="822960" y="50565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5"/>
          <p:cNvSpPr/>
          <p:nvPr/>
        </p:nvSpPr>
        <p:spPr>
          <a:xfrm>
            <a:off x="822960" y="50565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6"/>
          <p:cNvSpPr/>
          <p:nvPr/>
        </p:nvSpPr>
        <p:spPr>
          <a:xfrm>
            <a:off x="1435680" y="50565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counts how many times a value appears in a nested list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"/>
          <p:cNvSpPr/>
          <p:nvPr/>
        </p:nvSpPr>
        <p:spPr>
          <a:xfrm>
            <a:off x="559620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4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Closures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remembers the variables from where it was created — even after that place is gone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10515600" y="5669280"/>
            <a:ext cx="3198960" cy="319896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Closure?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5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Remembers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was born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closure is an inner function that "remembers" the variables from its enclosing function, even after that outer function has finished running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Normally, a function’s local variables disappear once it returns — closures are the exception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happens automatically whenever an inner function uses a variable from the function that defines it, and that inner function is returned or passed elsewhere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It’s what lets you build customized, reusable functions out of a single template function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Closure,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2"/>
          <p:cNvSpPr/>
          <p:nvPr/>
        </p:nvSpPr>
        <p:spPr>
          <a:xfrm>
            <a:off x="914400" y="1737360"/>
            <a:ext cx="10358640" cy="4204800"/>
          </a:xfrm>
          <a:prstGeom prst="roundRect">
            <a:avLst>
              <a:gd name="adj" fmla="val 2609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3"/>
          <p:cNvSpPr/>
          <p:nvPr/>
        </p:nvSpPr>
        <p:spPr>
          <a:xfrm>
            <a:off x="1188720" y="1920240"/>
            <a:ext cx="9782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make_multiplier(factor)   — outer function, runs once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4"/>
          <p:cNvSpPr/>
          <p:nvPr/>
        </p:nvSpPr>
        <p:spPr>
          <a:xfrm>
            <a:off x="1188720" y="2377440"/>
            <a:ext cx="9782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B564F"/>
                </a:solidFill>
                <a:effectLst/>
                <a:uFillTx/>
                <a:latin typeface="Cantarell"/>
                <a:ea typeface="Consolas"/>
              </a:rPr>
              <a:t>factor = 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5"/>
          <p:cNvSpPr/>
          <p:nvPr/>
        </p:nvSpPr>
        <p:spPr>
          <a:xfrm>
            <a:off x="1463040" y="2926080"/>
            <a:ext cx="9261360" cy="2650320"/>
          </a:xfrm>
          <a:prstGeom prst="roundRect">
            <a:avLst>
              <a:gd name="adj" fmla="val 3448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6"/>
          <p:cNvSpPr/>
          <p:nvPr/>
        </p:nvSpPr>
        <p:spPr>
          <a:xfrm>
            <a:off x="1737360" y="3108960"/>
            <a:ext cx="8685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def multiply(n):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7"/>
          <p:cNvSpPr/>
          <p:nvPr/>
        </p:nvSpPr>
        <p:spPr>
          <a:xfrm>
            <a:off x="1737360" y="3520440"/>
            <a:ext cx="8685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n * factor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8"/>
          <p:cNvSpPr/>
          <p:nvPr/>
        </p:nvSpPr>
        <p:spPr>
          <a:xfrm>
            <a:off x="1737360" y="4023360"/>
            <a:ext cx="86853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7C588"/>
                </a:solidFill>
                <a:effectLst/>
                <a:uFillTx/>
                <a:latin typeface="Cantarell"/>
                <a:ea typeface="Calibri"/>
              </a:rPr>
              <a:t>↑ "factor" isn’t local here — it reaches back into the outer function’s scope and remembers 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9"/>
          <p:cNvSpPr/>
          <p:nvPr/>
        </p:nvSpPr>
        <p:spPr>
          <a:xfrm>
            <a:off x="1737360" y="4709160"/>
            <a:ext cx="85939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double = make_multiplier(3)   returns multiply, but multiply keeps its own private copy of factor = 3, even though make_multiplier has already finished running.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4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Function Factory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2"/>
          <p:cNvSpPr/>
          <p:nvPr/>
        </p:nvSpPr>
        <p:spPr>
          <a:xfrm>
            <a:off x="548640" y="1936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make_multiplier(factor) returns a brand-new function, customized with whatever factor was passed in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returned function keeps its own private copy of factor — double and triple don’t interfere with each other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"function that builds functions" pattern shows up constantly in real configuration and callback code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make_multiplier(factor):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multiply(n):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n * factor  </a:t>
            </a: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remembers "factor"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multiply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double = make_multiplier(2)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triple = make_multiplier(3)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double(5) </a:t>
            </a: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triple(5) </a:t>
            </a:r>
            <a:r>
              <a:rPr lang="en-US" sz="18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nonlocal — Modifying an Enclosing Variable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By default, an inner function can read an outer variable, but assigning to it creates a new local variable instead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nonlocal tells Python: "this name refers to the enclosing function’s variable, not a new local one"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how a closure keeps running state between calls — like a counter that remembers its own count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make_counter():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count = 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increment():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nonlocal count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 +=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count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increment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 = make_counter()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6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6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60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1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Closures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make_greeter(greeting) function that returns a function saying "{greeting}, {name}!" for any name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8"/>
          <p:cNvSpPr/>
          <p:nvPr/>
        </p:nvSpPr>
        <p:spPr>
          <a:xfrm>
            <a:off x="822960" y="330084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9"/>
          <p:cNvSpPr/>
          <p:nvPr/>
        </p:nvSpPr>
        <p:spPr>
          <a:xfrm>
            <a:off x="822960" y="33008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0"/>
          <p:cNvSpPr/>
          <p:nvPr/>
        </p:nvSpPr>
        <p:spPr>
          <a:xfrm>
            <a:off x="1435680" y="330084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make_power(exponent) factory — make_power(2) should return a function that squares its input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1"/>
          <p:cNvSpPr/>
          <p:nvPr/>
        </p:nvSpPr>
        <p:spPr>
          <a:xfrm>
            <a:off x="822960" y="41788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2"/>
          <p:cNvSpPr/>
          <p:nvPr/>
        </p:nvSpPr>
        <p:spPr>
          <a:xfrm>
            <a:off x="822960" y="41788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3"/>
          <p:cNvSpPr/>
          <p:nvPr/>
        </p:nvSpPr>
        <p:spPr>
          <a:xfrm>
            <a:off x="1435680" y="41788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counter with nonlocal that can count both up and down, using two inner functions sharing one variable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4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5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2"/>
          <p:cNvSpPr/>
          <p:nvPr/>
        </p:nvSpPr>
        <p:spPr>
          <a:xfrm>
            <a:off x="559620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9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5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Decorators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wraps another function, adding behavior without touching its code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0"/>
          <p:cNvSpPr/>
          <p:nvPr/>
        </p:nvSpPr>
        <p:spPr>
          <a:xfrm>
            <a:off x="10515600" y="5669280"/>
            <a:ext cx="3198960" cy="319896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Decorator?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0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Wraps 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 in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extra behavior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decorator is a function that takes another function as input, and returns a new function that wraps it with extra 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original function usually still runs — the decorator just adds something before it, after it, or around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it like gift-wrapping: the gift inside doesn’t change, but wrapping paper adds something around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a light-touch introduction — you’ll recognize decorators in real code long before you need to write your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Decorator,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2"/>
          <p:cNvSpPr/>
          <p:nvPr/>
        </p:nvSpPr>
        <p:spPr>
          <a:xfrm>
            <a:off x="1188720" y="1783080"/>
            <a:ext cx="9810000" cy="4021920"/>
          </a:xfrm>
          <a:prstGeom prst="roundRect">
            <a:avLst>
              <a:gd name="adj" fmla="val 3182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3"/>
          <p:cNvSpPr/>
          <p:nvPr/>
        </p:nvSpPr>
        <p:spPr>
          <a:xfrm>
            <a:off x="1463040" y="1965960"/>
            <a:ext cx="93254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wrapper()   — what actually runs when you call the decorated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4"/>
          <p:cNvSpPr/>
          <p:nvPr/>
        </p:nvSpPr>
        <p:spPr>
          <a:xfrm>
            <a:off x="1463040" y="2468880"/>
            <a:ext cx="9261360" cy="592920"/>
          </a:xfrm>
          <a:prstGeom prst="roundRect">
            <a:avLst>
              <a:gd name="adj" fmla="val 12308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5"/>
          <p:cNvSpPr/>
          <p:nvPr/>
        </p:nvSpPr>
        <p:spPr>
          <a:xfrm>
            <a:off x="1737360" y="2468880"/>
            <a:ext cx="8685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print("Before the function runs")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6"/>
          <p:cNvSpPr/>
          <p:nvPr/>
        </p:nvSpPr>
        <p:spPr>
          <a:xfrm>
            <a:off x="1828800" y="3246120"/>
            <a:ext cx="8529840" cy="1004400"/>
          </a:xfrm>
          <a:prstGeom prst="roundRect">
            <a:avLst>
              <a:gd name="adj" fmla="val 9091"/>
            </a:avLst>
          </a:prstGeom>
          <a:solidFill>
            <a:srgbClr val="13312F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7"/>
          <p:cNvSpPr/>
          <p:nvPr/>
        </p:nvSpPr>
        <p:spPr>
          <a:xfrm>
            <a:off x="2103120" y="3246120"/>
            <a:ext cx="795384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func()   — the original, un-modified function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8"/>
          <p:cNvSpPr/>
          <p:nvPr/>
        </p:nvSpPr>
        <p:spPr>
          <a:xfrm>
            <a:off x="1463040" y="4434840"/>
            <a:ext cx="9261360" cy="592920"/>
          </a:xfrm>
          <a:prstGeom prst="roundRect">
            <a:avLst>
              <a:gd name="adj" fmla="val 12308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9"/>
          <p:cNvSpPr/>
          <p:nvPr/>
        </p:nvSpPr>
        <p:spPr>
          <a:xfrm>
            <a:off x="1737360" y="4434840"/>
            <a:ext cx="8685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print("After the function runs")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0"/>
          <p:cNvSpPr/>
          <p:nvPr/>
        </p:nvSpPr>
        <p:spPr>
          <a:xfrm>
            <a:off x="1463040" y="5166360"/>
            <a:ext cx="92613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The original function sits untouched at the center — the decorator only adds layers around it, the same way wrapping paper adds nothing to the gift inside.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1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2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Simple Working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my_decorator takes a function, defines a wrapper() that adds behavior, and returns that wrapper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wrapper calls the original function in the middle — that’s the "extra behavior wrapped around it" in action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before/after pattern is the foundation every real-world decorator builds 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my_decorator(func):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wrapper():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print("Before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func()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print("After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wrapper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say_hello():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decorated = my_decorator(say_hello)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decorated()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Before the function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Hello!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After the function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8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9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@ Syntax — Just Syntactic Sugar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2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Writing @my_decorator directly above a function definition does exactly the same thing as the manual version on the last slide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@my_decorator above def say_hello(): is Python’s shorthand for say_hello = my_decorator(say_hello)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Nothing new is happening — it’s the same wrapping, just with cleaner, more readable syntax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3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4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my_decorator(func):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wrapper():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print("Before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func()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print("After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wrapper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@my_decorator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same as: say_hello = my_decorator(say_hello)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say_hello():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say_hello()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already wrapped — just call it directly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5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6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You’ll Actually See This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2"/>
          <p:cNvSpPr/>
          <p:nvPr/>
        </p:nvSpPr>
        <p:spPr>
          <a:xfrm>
            <a:off x="457200" y="1508760"/>
            <a:ext cx="3610440" cy="489060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3"/>
          <p:cNvSpPr/>
          <p:nvPr/>
        </p:nvSpPr>
        <p:spPr>
          <a:xfrm>
            <a:off x="1989000" y="20941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0" name="Image 1" descr="preencoded.png"/>
          <p:cNvPicPr/>
          <p:nvPr/>
        </p:nvPicPr>
        <p:blipFill>
          <a:blip r:embed="rId2"/>
          <a:stretch/>
        </p:blipFill>
        <p:spPr>
          <a:xfrm>
            <a:off x="2071080" y="21762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Text 4"/>
          <p:cNvSpPr/>
          <p:nvPr/>
        </p:nvSpPr>
        <p:spPr>
          <a:xfrm>
            <a:off x="548640" y="2715840"/>
            <a:ext cx="3427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Flask Routes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5"/>
          <p:cNvSpPr/>
          <p:nvPr/>
        </p:nvSpPr>
        <p:spPr>
          <a:xfrm>
            <a:off x="603360" y="3099960"/>
            <a:ext cx="3317760" cy="31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@app.route("/home") turns an ordinary function into a URL endpoint — the most common decorator you’ll meet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6"/>
          <p:cNvSpPr/>
          <p:nvPr/>
        </p:nvSpPr>
        <p:spPr>
          <a:xfrm>
            <a:off x="4288680" y="1508760"/>
            <a:ext cx="3610440" cy="489060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7"/>
          <p:cNvSpPr/>
          <p:nvPr/>
        </p:nvSpPr>
        <p:spPr>
          <a:xfrm>
            <a:off x="5820120" y="20941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5" name="Image 2" descr="preencoded.png"/>
          <p:cNvPicPr/>
          <p:nvPr/>
        </p:nvPicPr>
        <p:blipFill>
          <a:blip r:embed="rId3"/>
          <a:stretch/>
        </p:blipFill>
        <p:spPr>
          <a:xfrm>
            <a:off x="5902560" y="21762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Text 8"/>
          <p:cNvSpPr/>
          <p:nvPr/>
        </p:nvSpPr>
        <p:spPr>
          <a:xfrm>
            <a:off x="4380120" y="2715840"/>
            <a:ext cx="3427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Timing Decorators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9"/>
          <p:cNvSpPr/>
          <p:nvPr/>
        </p:nvSpPr>
        <p:spPr>
          <a:xfrm>
            <a:off x="4434840" y="3099960"/>
            <a:ext cx="3317760" cy="31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decorat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or that 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measur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es and 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prints 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how 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long a 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functio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 took 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to run 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without 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changin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g the 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functio</a:t>
            </a: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 itself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10"/>
          <p:cNvSpPr/>
          <p:nvPr/>
        </p:nvSpPr>
        <p:spPr>
          <a:xfrm>
            <a:off x="8119800" y="1508760"/>
            <a:ext cx="3610440" cy="489060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11"/>
          <p:cNvSpPr/>
          <p:nvPr/>
        </p:nvSpPr>
        <p:spPr>
          <a:xfrm>
            <a:off x="9651600" y="20941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0" name="Image 3" descr="preencoded.png"/>
          <p:cNvPicPr/>
          <p:nvPr/>
        </p:nvPicPr>
        <p:blipFill>
          <a:blip r:embed="rId4"/>
          <a:stretch/>
        </p:blipFill>
        <p:spPr>
          <a:xfrm>
            <a:off x="9733680" y="21762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 12"/>
          <p:cNvSpPr/>
          <p:nvPr/>
        </p:nvSpPr>
        <p:spPr>
          <a:xfrm>
            <a:off x="8211240" y="2715840"/>
            <a:ext cx="3427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Access Control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13"/>
          <p:cNvSpPr/>
          <p:nvPr/>
        </p:nvSpPr>
        <p:spPr>
          <a:xfrm>
            <a:off x="8266320" y="3099960"/>
            <a:ext cx="3317760" cy="31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@login_required blocks a function from running unless the user is authenticated — used constantly in web apps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14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15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7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Decorators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that prints "Running..." before any function it wraps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822960" y="330084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822960" y="33008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1435680" y="330084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Apply your decorator to two different functions using @ syntax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822960" y="41788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12"/>
          <p:cNvSpPr/>
          <p:nvPr/>
        </p:nvSpPr>
        <p:spPr>
          <a:xfrm>
            <a:off x="822960" y="41788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1435680" y="41788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Predict, in your own words, what say_hello = my_decorator(say_hello) does — before checking your answer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15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2"/>
          <p:cNvSpPr/>
          <p:nvPr/>
        </p:nvSpPr>
        <p:spPr>
          <a:xfrm>
            <a:off x="559620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5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You’ll Actually Be Asked to Build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Not toy examples — flexible logging, safe recursion, and reusable factories are everyday, real-world work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2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Flexible Args &amp;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5"/>
          <p:cNvSpPr/>
          <p:nvPr/>
        </p:nvSpPr>
        <p:spPr>
          <a:xfrm>
            <a:off x="822960" y="24231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1" descr="preencoded.png"/>
          <p:cNvPicPr/>
          <p:nvPr/>
        </p:nvPicPr>
        <p:blipFill>
          <a:blip r:embed="rId2"/>
          <a:stretch/>
        </p:blipFill>
        <p:spPr>
          <a:xfrm>
            <a:off x="887040" y="2487240"/>
            <a:ext cx="2818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Shape 6"/>
          <p:cNvSpPr/>
          <p:nvPr/>
        </p:nvSpPr>
        <p:spPr>
          <a:xfrm>
            <a:off x="1371600" y="2441520"/>
            <a:ext cx="401040" cy="36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7"/>
          <p:cNvSpPr/>
          <p:nvPr/>
        </p:nvSpPr>
        <p:spPr>
          <a:xfrm>
            <a:off x="1371600" y="244152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8"/>
          <p:cNvSpPr/>
          <p:nvPr/>
        </p:nvSpPr>
        <p:spPr>
          <a:xfrm>
            <a:off x="1920240" y="2423160"/>
            <a:ext cx="95083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flexible logging function log(level, *messages, **context) that joins the messages and prints each context key=value pair — this is the exact shape of real production logging calls.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9"/>
          <p:cNvSpPr/>
          <p:nvPr/>
        </p:nvSpPr>
        <p:spPr>
          <a:xfrm>
            <a:off x="822960" y="359352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2" name="Image 2" descr="preencoded.png"/>
          <p:cNvPicPr/>
          <p:nvPr/>
        </p:nvPicPr>
        <p:blipFill>
          <a:blip r:embed="rId3"/>
          <a:stretch/>
        </p:blipFill>
        <p:spPr>
          <a:xfrm>
            <a:off x="887040" y="3657600"/>
            <a:ext cx="2818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Shape 10"/>
          <p:cNvSpPr/>
          <p:nvPr/>
        </p:nvSpPr>
        <p:spPr>
          <a:xfrm>
            <a:off x="1371600" y="3611880"/>
            <a:ext cx="401040" cy="36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11"/>
          <p:cNvSpPr/>
          <p:nvPr/>
        </p:nvSpPr>
        <p:spPr>
          <a:xfrm>
            <a:off x="1371600" y="361188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2"/>
          <p:cNvSpPr/>
          <p:nvPr/>
        </p:nvSpPr>
        <p:spPr>
          <a:xfrm>
            <a:off x="1920240" y="3593520"/>
            <a:ext cx="95083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given a list of product dictionaries like [{"name": "Pen", "price": 20}, ...]. Use sorted() with a lambda to sort them by price, then by 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13"/>
          <p:cNvSpPr/>
          <p:nvPr/>
        </p:nvSpPr>
        <p:spPr>
          <a:xfrm>
            <a:off x="822960" y="476388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18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Shape 14"/>
          <p:cNvSpPr/>
          <p:nvPr/>
        </p:nvSpPr>
        <p:spPr>
          <a:xfrm>
            <a:off x="1371600" y="4782240"/>
            <a:ext cx="401040" cy="36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5"/>
          <p:cNvSpPr/>
          <p:nvPr/>
        </p:nvSpPr>
        <p:spPr>
          <a:xfrm>
            <a:off x="1371600" y="478224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6"/>
          <p:cNvSpPr/>
          <p:nvPr/>
        </p:nvSpPr>
        <p:spPr>
          <a:xfrm>
            <a:off x="1920240" y="4763880"/>
            <a:ext cx="95083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apply_discount(prices, rate) that uses map() with a lambda to return every price reduced by rate (e.g. rate=0.1 for 10% off).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5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5"/>
          <p:cNvSpPr/>
          <p:nvPr/>
        </p:nvSpPr>
        <p:spPr>
          <a:xfrm>
            <a:off x="822960" y="24231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0" name="Image 1" descr="preencoded.png"/>
          <p:cNvPicPr/>
          <p:nvPr/>
        </p:nvPicPr>
        <p:blipFill>
          <a:blip r:embed="rId2"/>
          <a:stretch/>
        </p:blipFill>
        <p:spPr>
          <a:xfrm>
            <a:off x="887040" y="2487240"/>
            <a:ext cx="2818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1" name="Shape 6"/>
          <p:cNvSpPr/>
          <p:nvPr/>
        </p:nvSpPr>
        <p:spPr>
          <a:xfrm>
            <a:off x="1371600" y="2441520"/>
            <a:ext cx="401040" cy="36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7"/>
          <p:cNvSpPr/>
          <p:nvPr/>
        </p:nvSpPr>
        <p:spPr>
          <a:xfrm>
            <a:off x="1371600" y="244152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"/>
          <p:cNvSpPr/>
          <p:nvPr/>
        </p:nvSpPr>
        <p:spPr>
          <a:xfrm>
            <a:off x="1920240" y="2423160"/>
            <a:ext cx="95083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count_down(n) that prints every number from n down to 1, then prints "Liftoff!" — with a correct base case.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9"/>
          <p:cNvSpPr/>
          <p:nvPr/>
        </p:nvSpPr>
        <p:spPr>
          <a:xfrm>
            <a:off x="822960" y="359352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5" name="Image 2" descr="preencoded.png"/>
          <p:cNvPicPr/>
          <p:nvPr/>
        </p:nvPicPr>
        <p:blipFill>
          <a:blip r:embed="rId3"/>
          <a:stretch/>
        </p:blipFill>
        <p:spPr>
          <a:xfrm>
            <a:off x="887040" y="3657600"/>
            <a:ext cx="2818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Shape 10"/>
          <p:cNvSpPr/>
          <p:nvPr/>
        </p:nvSpPr>
        <p:spPr>
          <a:xfrm>
            <a:off x="1371600" y="3611880"/>
            <a:ext cx="401040" cy="36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1"/>
          <p:cNvSpPr/>
          <p:nvPr/>
        </p:nvSpPr>
        <p:spPr>
          <a:xfrm>
            <a:off x="1371600" y="361188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2"/>
          <p:cNvSpPr/>
          <p:nvPr/>
        </p:nvSpPr>
        <p:spPr>
          <a:xfrm>
            <a:off x="1920240" y="3593520"/>
            <a:ext cx="95083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sums every number in a nested list of unknown depth, e.g. [1, [2, 3, [4, 5]], 6] should return 21.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13"/>
          <p:cNvSpPr/>
          <p:nvPr/>
        </p:nvSpPr>
        <p:spPr>
          <a:xfrm>
            <a:off x="822960" y="476388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0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18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1" name="Shape 14"/>
          <p:cNvSpPr/>
          <p:nvPr/>
        </p:nvSpPr>
        <p:spPr>
          <a:xfrm>
            <a:off x="1371600" y="4782240"/>
            <a:ext cx="401040" cy="36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15"/>
          <p:cNvSpPr/>
          <p:nvPr/>
        </p:nvSpPr>
        <p:spPr>
          <a:xfrm>
            <a:off x="1371600" y="478224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16"/>
          <p:cNvSpPr/>
          <p:nvPr/>
        </p:nvSpPr>
        <p:spPr>
          <a:xfrm>
            <a:off x="1920240" y="4763880"/>
            <a:ext cx="95083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flatten(data) that takes a dictionary of unknown nesting depth and returns a single flat list of all its values.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8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C: Closures &amp; Decorators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5"/>
          <p:cNvSpPr/>
          <p:nvPr/>
        </p:nvSpPr>
        <p:spPr>
          <a:xfrm>
            <a:off x="822960" y="24231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3" name="Image 1" descr="preencoded.png"/>
          <p:cNvPicPr/>
          <p:nvPr/>
        </p:nvPicPr>
        <p:blipFill>
          <a:blip r:embed="rId2"/>
          <a:stretch/>
        </p:blipFill>
        <p:spPr>
          <a:xfrm>
            <a:off x="887040" y="2487240"/>
            <a:ext cx="2818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Shape 6"/>
          <p:cNvSpPr/>
          <p:nvPr/>
        </p:nvSpPr>
        <p:spPr>
          <a:xfrm>
            <a:off x="1371600" y="2441520"/>
            <a:ext cx="401040" cy="36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7"/>
          <p:cNvSpPr/>
          <p:nvPr/>
        </p:nvSpPr>
        <p:spPr>
          <a:xfrm>
            <a:off x="1371600" y="244152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8"/>
          <p:cNvSpPr/>
          <p:nvPr/>
        </p:nvSpPr>
        <p:spPr>
          <a:xfrm>
            <a:off x="1920240" y="2423160"/>
            <a:ext cx="95083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make_validator(min_length) factory that returns a function checking whether a given password meets that minimum length.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9"/>
          <p:cNvSpPr/>
          <p:nvPr/>
        </p:nvSpPr>
        <p:spPr>
          <a:xfrm>
            <a:off x="822960" y="359352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2" descr="preencoded.png"/>
          <p:cNvPicPr/>
          <p:nvPr/>
        </p:nvPicPr>
        <p:blipFill>
          <a:blip r:embed="rId3"/>
          <a:stretch/>
        </p:blipFill>
        <p:spPr>
          <a:xfrm>
            <a:off x="887040" y="3657600"/>
            <a:ext cx="2818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Shape 10"/>
          <p:cNvSpPr/>
          <p:nvPr/>
        </p:nvSpPr>
        <p:spPr>
          <a:xfrm>
            <a:off x="1371600" y="3611880"/>
            <a:ext cx="401040" cy="36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11"/>
          <p:cNvSpPr/>
          <p:nvPr/>
        </p:nvSpPr>
        <p:spPr>
          <a:xfrm>
            <a:off x="1371600" y="361188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12"/>
          <p:cNvSpPr/>
          <p:nvPr/>
        </p:nvSpPr>
        <p:spPr>
          <a:xfrm>
            <a:off x="1920240" y="3593520"/>
            <a:ext cx="95083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calculate_discount(price, pct) function, then rewrite it so an outer apply_tax(rate) closure wraps and adjusts its result.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13"/>
          <p:cNvSpPr/>
          <p:nvPr/>
        </p:nvSpPr>
        <p:spPr>
          <a:xfrm>
            <a:off x="822960" y="476388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3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1880" cy="2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4" name="Shape 14"/>
          <p:cNvSpPr/>
          <p:nvPr/>
        </p:nvSpPr>
        <p:spPr>
          <a:xfrm>
            <a:off x="1371600" y="4782240"/>
            <a:ext cx="401040" cy="36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5"/>
          <p:cNvSpPr/>
          <p:nvPr/>
        </p:nvSpPr>
        <p:spPr>
          <a:xfrm>
            <a:off x="1371600" y="478224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16"/>
          <p:cNvSpPr/>
          <p:nvPr/>
        </p:nvSpPr>
        <p:spPr>
          <a:xfrm>
            <a:off x="1920240" y="4763880"/>
            <a:ext cx="95083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that catches and reports repeated calls — print how many times the wrapped function has been called, each time it runs.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2"/>
          <p:cNvSpPr/>
          <p:nvPr/>
        </p:nvSpPr>
        <p:spPr>
          <a:xfrm>
            <a:off x="559620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F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projects combining flexible arguments, lambda, recursion, closures, and decorators into one cohesive task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Shape 0"/>
          <p:cNvSpPr/>
          <p:nvPr/>
        </p:nvSpPr>
        <p:spPr>
          <a:xfrm>
            <a:off x="10515600" y="5669280"/>
            <a:ext cx="3198960" cy="319896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9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0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Configurable Retry Decorator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3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4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Closure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decorator,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factory retry(times) — called as @retry(3) — that re-runs the wrapped function up to that many times if it raises an exception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retry(times) is itself a closure: it takes times, and returns the actual decorator that remembers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*args and **kwargs in the inner wrapper so it works with any wrapped function, no matter its own arguments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genuinely how retry logic is built in real-world networking and API code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0"/>
          <p:cNvSpPr/>
          <p:nvPr/>
        </p:nvSpPr>
        <p:spPr>
          <a:xfrm>
            <a:off x="10515600" y="5669280"/>
            <a:ext cx="3198960" cy="319896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0" descr="preencoded.png"/>
          <p:cNvPicPr/>
          <p:nvPr/>
        </p:nvPicPr>
        <p:blipFill>
          <a:blip r:embed="rId1"/>
          <a:stretch/>
        </p:blipFill>
        <p:spPr>
          <a:xfrm>
            <a:off x="548640" y="54864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Recursive File-Tree Summary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4" name="Image 1" descr="preencoded.png"/>
          <p:cNvPicPr/>
          <p:nvPr/>
        </p:nvPicPr>
        <p:blipFill>
          <a:blip r:embed="rId2"/>
          <a:stretch/>
        </p:blipFill>
        <p:spPr>
          <a:xfrm>
            <a:off x="1746360" y="242316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given a nested dictionary representing folders and files, with unknown depth: {"src": {"main.py": 120, "utils": {"helpers.py": 45}}}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returns the total line count across every file, at every depth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Then write a second version that uses sorted() with a lambda to return the top 3 largest files by line count, across the whole tree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mirrors how real project-analysis and disk-usage tools are actually built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2"/>
          <p:cNvSpPr/>
          <p:nvPr/>
        </p:nvSpPr>
        <p:spPr>
          <a:xfrm>
            <a:off x="559620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2" name="Image 0" descr="preencoded.png"/>
          <p:cNvPicPr/>
          <p:nvPr/>
        </p:nvPicPr>
        <p:blipFill>
          <a:blip r:embed="rId1"/>
          <a:stretch/>
        </p:blipFill>
        <p:spPr>
          <a:xfrm>
            <a:off x="5742360" y="87768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3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*args and **kwargs make functions flexible. Lambda, recursion, closures, and decorators make them powerful.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 session: Object-Oriented Programming — classes, objects, __init__, and inheritance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</TotalTime>
  <Application>LibreOffice/26.2.5.2$Linux_X86_64 LibreOffice_project/620$Build-2</Application>
  <AppVersion>15.0000</AppVersion>
  <Words>4657</Words>
  <Paragraphs>561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2026-08-14T05:41:50Z</dcterms:created>
  <dc:creator>PptxGenJS</dc:creator>
  <dc:description/>
  <dc:language>en-US</dc:language>
  <cp:lastModifiedBy/>
  <dcterms:modified xsi:type="dcterms:W3CDTF">2026-08-28T21:32:02Z</dcterms:modified>
  <cp:revision>18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48</vt:i4>
  </property>
  <property fmtid="{D5CDD505-2E9C-101B-9397-08002B2CF9AE}" pid="3" name="PresentationFormat">
    <vt:lpwstr>Widescreen</vt:lpwstr>
  </property>
  <property fmtid="{D5CDD505-2E9C-101B-9397-08002B2CF9AE}" pid="4" name="Slides">
    <vt:i4>48</vt:i4>
  </property>
</Properties>
</file>