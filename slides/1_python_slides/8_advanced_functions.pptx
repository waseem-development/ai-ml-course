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4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20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C005205-BC3E-48D2-9BDC-9EEF17FA102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6D83C8-62F4-47A4-8A69-FDA6CA2737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7EDB52C-496B-4D48-9A9C-0E3DC54D36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73C9B5-B98F-4F81-8FF6-BA56F58799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5DDEDF-850C-4D99-9558-A49CD672B3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F22AC2-1412-4EA8-A39B-CE54751E4D9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CFC66B-F015-460A-A924-4CDAC16CED3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49F079-5503-404C-8077-745382D2DC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4C06C3-6F6A-422D-BD2F-0528C2CBBF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15951E-AD77-4280-9C70-1E6CFEA509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3B5979-7AEA-4CBA-AF1B-D7A93A3EA9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D46C181-A9AE-41F0-9BE1-C1359AA088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939C02-5497-4116-81A6-35E03C232A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81195E-BD9D-4242-81C7-3352A57523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1AF71E3-DC71-4490-B88D-C8ED716AA8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35950A9-9246-467A-B356-52166CB954F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B5FA0B6-B93A-42F2-B8BB-4AC2C486F9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7C1EA5-425B-4BA7-B7C7-A50FC4D8A9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810BE1-0F89-4A86-8BB6-0F0EFD7CBF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78CAF6-619E-42DC-A8B0-19FD808C97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49B307-8770-4651-922A-DCD7FD9F06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1D3CDA-F56D-4F69-A3A2-F236E0385B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801D22-DD3E-401B-BF7B-4790A9FE39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2B94069-B127-412A-8062-78C6FFB6E7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EC00EB-068D-47C4-8545-57F95139D0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76E124-E1F2-40A1-981F-040CCC6B4A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19AD57-5DD8-433F-A4D0-5569D72CA3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2E0442-61CF-4509-A2A9-07B4A27F52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5B402F-C8DE-47BB-81D2-5B58F5E5FC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1BB28A-5AFA-4877-9945-3F2A16405A7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F2897F-7E24-409D-B28B-22086AFA5D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57B36B7-5DE7-4CCB-9B39-B67E80E47A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12144D-709E-4F02-9F40-FCB41932B2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2236BC-AD52-4689-87A5-ACC2A72E05F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3E217E-1390-4BAE-BEC4-9D010EB7D5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E23C62-78DC-416E-BD5C-F8FCAA0D6A2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C902CEF-7B49-4D05-BE34-863E4FD267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7531207-5F1A-4053-B693-B1929D6474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B2A18C-87CD-4CFC-A131-043C862A0A7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7FBFF7-A34C-4E69-A021-AB69BF431F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A7C301F-1597-406E-92F7-935E0CD433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8C5DCF-6D96-4C76-B55A-3E0BDF07E8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838040-8879-42C0-8B07-4AD82B8C01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1EA4FF-C15A-4D48-94FF-65A7AC7743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2A8941-2FEA-4D35-AB85-93CE6C0C10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3AAA24-3F3E-48A4-9344-FFACBA2C17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F46390-9D4D-4394-8CEB-CB8FEB0387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844F37-3E00-4012-8F47-6406100A76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8CC879-8BE6-4BAF-A8AC-18057751BF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8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6.png"/><Relationship Id="rId3" Type="http://schemas.openxmlformats.org/officeDocument/2006/relationships/image" Target="../media/image26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6.png"/><Relationship Id="rId3" Type="http://schemas.openxmlformats.org/officeDocument/2006/relationships/image" Target="../media/image26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6.png"/><Relationship Id="rId3" Type="http://schemas.openxmlformats.org/officeDocument/2006/relationships/image" Target="../media/image26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495400" y="914400"/>
            <a:ext cx="1187640" cy="11876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preencoded.png"/>
          <p:cNvPicPr/>
          <p:nvPr/>
        </p:nvPicPr>
        <p:blipFill>
          <a:blip r:embed="rId1"/>
          <a:stretch/>
        </p:blipFill>
        <p:spPr>
          <a:xfrm>
            <a:off x="5678280" y="1097280"/>
            <a:ext cx="830880" cy="83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900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Advanced Functions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90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*args, **kwargs, Lambda, Recursion, Closures &amp; Decorators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90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9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457200" y="1600200"/>
            <a:ext cx="11273400" cy="56052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685800" y="1707480"/>
            <a:ext cx="346320" cy="346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" name="Image 1" descr="preencoded.png"/>
          <p:cNvPicPr/>
          <p:nvPr/>
        </p:nvPicPr>
        <p:blipFill>
          <a:blip r:embed="rId2"/>
          <a:stretch/>
        </p:blipFill>
        <p:spPr>
          <a:xfrm>
            <a:off x="758880" y="178056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4"/>
          <p:cNvSpPr/>
          <p:nvPr/>
        </p:nvSpPr>
        <p:spPr>
          <a:xfrm>
            <a:off x="1234440" y="1600200"/>
            <a:ext cx="10240200" cy="56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Flexible arguments — *args, **kwargs, and unpacking into a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5"/>
          <p:cNvSpPr/>
          <p:nvPr/>
        </p:nvSpPr>
        <p:spPr>
          <a:xfrm>
            <a:off x="457200" y="2253240"/>
            <a:ext cx="11273400" cy="560520"/>
          </a:xfrm>
          <a:prstGeom prst="roundRect">
            <a:avLst>
              <a:gd name="adj" fmla="val 13023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685800" y="2360520"/>
            <a:ext cx="346320" cy="346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" name="Image 2" descr="preencoded.png"/>
          <p:cNvPicPr/>
          <p:nvPr/>
        </p:nvPicPr>
        <p:blipFill>
          <a:blip r:embed="rId3"/>
          <a:stretch/>
        </p:blipFill>
        <p:spPr>
          <a:xfrm>
            <a:off x="758880" y="243360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Text 7"/>
          <p:cNvSpPr/>
          <p:nvPr/>
        </p:nvSpPr>
        <p:spPr>
          <a:xfrm>
            <a:off x="1234440" y="2253240"/>
            <a:ext cx="10240200" cy="56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Lambda functions — short, anonymous, one-expression logic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8"/>
          <p:cNvSpPr/>
          <p:nvPr/>
        </p:nvSpPr>
        <p:spPr>
          <a:xfrm>
            <a:off x="457200" y="2906640"/>
            <a:ext cx="11273400" cy="56052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685800" y="3013560"/>
            <a:ext cx="346320" cy="346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" name="Image 3" descr="preencoded.png"/>
          <p:cNvPicPr/>
          <p:nvPr/>
        </p:nvPicPr>
        <p:blipFill>
          <a:blip r:embed="rId4"/>
          <a:stretch/>
        </p:blipFill>
        <p:spPr>
          <a:xfrm>
            <a:off x="758880" y="308664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10"/>
          <p:cNvSpPr/>
          <p:nvPr/>
        </p:nvSpPr>
        <p:spPr>
          <a:xfrm>
            <a:off x="1234440" y="2906640"/>
            <a:ext cx="10240200" cy="56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Recursion — functions that call themselves, and when that’s the right tool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1"/>
          <p:cNvSpPr/>
          <p:nvPr/>
        </p:nvSpPr>
        <p:spPr>
          <a:xfrm>
            <a:off x="457200" y="3559680"/>
            <a:ext cx="11273400" cy="560520"/>
          </a:xfrm>
          <a:prstGeom prst="roundRect">
            <a:avLst>
              <a:gd name="adj" fmla="val 13023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685800" y="3666600"/>
            <a:ext cx="346320" cy="346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" name="Image 4" descr="preencoded.png"/>
          <p:cNvPicPr/>
          <p:nvPr/>
        </p:nvPicPr>
        <p:blipFill>
          <a:blip r:embed="rId5"/>
          <a:stretch/>
        </p:blipFill>
        <p:spPr>
          <a:xfrm>
            <a:off x="758880" y="374004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Text 13"/>
          <p:cNvSpPr/>
          <p:nvPr/>
        </p:nvSpPr>
        <p:spPr>
          <a:xfrm>
            <a:off x="1234440" y="3559680"/>
            <a:ext cx="10240200" cy="56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Closures — functions that remember the scope they were born 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4"/>
          <p:cNvSpPr/>
          <p:nvPr/>
        </p:nvSpPr>
        <p:spPr>
          <a:xfrm>
            <a:off x="457200" y="4212720"/>
            <a:ext cx="11273400" cy="56052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685800" y="4320000"/>
            <a:ext cx="346320" cy="346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" name="Image 5" descr="preencoded.png"/>
          <p:cNvPicPr/>
          <p:nvPr/>
        </p:nvPicPr>
        <p:blipFill>
          <a:blip r:embed="rId6"/>
          <a:stretch/>
        </p:blipFill>
        <p:spPr>
          <a:xfrm>
            <a:off x="758880" y="439308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Text 16"/>
          <p:cNvSpPr/>
          <p:nvPr/>
        </p:nvSpPr>
        <p:spPr>
          <a:xfrm>
            <a:off x="1234440" y="4212720"/>
            <a:ext cx="10240200" cy="56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Decorators — wrapping one function’s behavior around another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7"/>
          <p:cNvSpPr/>
          <p:nvPr/>
        </p:nvSpPr>
        <p:spPr>
          <a:xfrm>
            <a:off x="457200" y="4865760"/>
            <a:ext cx="11273400" cy="560520"/>
          </a:xfrm>
          <a:prstGeom prst="roundRect">
            <a:avLst>
              <a:gd name="adj" fmla="val 13023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685800" y="4973040"/>
            <a:ext cx="346320" cy="346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" name="Image 6" descr="preencoded.png"/>
          <p:cNvPicPr/>
          <p:nvPr/>
        </p:nvPicPr>
        <p:blipFill>
          <a:blip r:embed="rId7"/>
          <a:stretch/>
        </p:blipFill>
        <p:spPr>
          <a:xfrm>
            <a:off x="758880" y="504612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Text 19"/>
          <p:cNvSpPr/>
          <p:nvPr/>
        </p:nvSpPr>
        <p:spPr>
          <a:xfrm>
            <a:off x="1234440" y="4865760"/>
            <a:ext cx="10240200" cy="56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Today's tasks — industry-style, do-it-yourself practice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0"/>
          <p:cNvSpPr/>
          <p:nvPr/>
        </p:nvSpPr>
        <p:spPr>
          <a:xfrm>
            <a:off x="457200" y="5519160"/>
            <a:ext cx="11273400" cy="56052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685800" y="5626080"/>
            <a:ext cx="346320" cy="346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" name="Image 7" descr="preencoded.png"/>
          <p:cNvPicPr/>
          <p:nvPr/>
        </p:nvPicPr>
        <p:blipFill>
          <a:blip r:embed="rId8"/>
          <a:stretch/>
        </p:blipFill>
        <p:spPr>
          <a:xfrm>
            <a:off x="758880" y="569916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Text 22"/>
          <p:cNvSpPr/>
          <p:nvPr/>
        </p:nvSpPr>
        <p:spPr>
          <a:xfrm>
            <a:off x="1234440" y="5519160"/>
            <a:ext cx="10240200" cy="56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Two mini projects combining everything from this session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3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4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2"/>
          <p:cNvSpPr/>
          <p:nvPr/>
        </p:nvSpPr>
        <p:spPr>
          <a:xfrm>
            <a:off x="559620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Flexible Arguments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What happens when you don’t know how many values a function needs to accept?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0"/>
          <p:cNvSpPr/>
          <p:nvPr/>
        </p:nvSpPr>
        <p:spPr>
          <a:xfrm>
            <a:off x="10515600" y="5669280"/>
            <a:ext cx="3199320" cy="319932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Problem With Fixed Parameters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Unknown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number of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inputs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normal function locks in exactly how many arguments it accepts — def total(a, b, c) only ever takes three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But real functions often can’t know that in advance: a logger might get 1 message or 5, a total() might sum 2 numbers or 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Adding a, b, c, d, e... parameters "just in case" doesn’t scale, and callers still hit a wall eventually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Python’s answer is *args and **kwargs — built-in ways to accept "as many as you give me"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7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*args — Any Number of Positional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single * before a parameter name collects every extra positional argument into a tuple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"args" is just a convention — the * is what matters, not the name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Inside the function, args behaves like any other tuple — loop over it, index it, len() it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3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4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total(*args):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print(type(args))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&lt;class 'tuple'&gt;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sum(args)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total(4, 9)          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total(1, 2, 3, 4, 5) 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15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total()              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0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5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**kwargs — Any Number of Keyword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Two asterisks before a parameter name collect every extra keyword argument into a dictionary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caller-supplied name becomes a key, and the value they passed becomes that key’s value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how flexible config, settings, and options are usually handled in real APIs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3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build_profile(**kwargs):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print(type(kwargs))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&lt;class 'dict'&gt;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kwargs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build_profile(name="Ahmed", age=25)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{'name': 'Ahmed', 'age':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build_profile(city="Karachi")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{'city': 'Karachi'}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Combining Them — and the Order Python Requires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Regular parameters, *args, and **kwargs can all appear in one function — but only in this fixed order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Regular parameters first, then *args, then **kwargs — Python enforces this at definition time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Getting the order wrong is a SyntaxError, not a runtime bug — it’s caught before the code even runs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order(item, *args, **kwargs):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print(item)   </a:t>
            </a: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regular param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print(args)   </a:t>
            </a: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extra positional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print(kwargs) </a:t>
            </a: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extra keyword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order("book", "pen", "bag", price=50, qty=2)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book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('pen', 'bag')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{'price': 50, 'qty': 2}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5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Unpacking — Spreading a List or Dict Into a Call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 and ** also work in the other direction — spreading an existing list or dict out as separate arguments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*my_list unpacks each item as its own positional argument, in order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**my_dict unpacks each key as a keyword argument — the keys must match the function’s parameter names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greet(name, age):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print(f"{name} is {age}")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values = ["Ahmed", 25]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greet(*values)      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Ahmed is 25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info = {"name": "Sara", "age": 22}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greet(**info)       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Sara is 22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Flexible Logging Function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Production logging functions never know in advance how many pieces of context they’ll be given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*args lets the caller pass any number of message parts; **kwargs lets them attach any extra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pattern — *args + **kwargs — is how most real logging, wrapper, and utility functions are built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log(level, *parts, **meta):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message = " ".join(str(p) for p in parts)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tags = ", ".join(f"{k}={v}" for k, v in meta.items())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print(f"[{level}] {message}  ({tags})")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log("INFO", "User", "logged in", user_id=42, ip="10.0.0.1")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[INFO] User logged in  (user_id=42, ip=10.0.0.1)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-1828800" y="502920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Flexible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3"/>
          <p:cNvSpPr/>
          <p:nvPr/>
        </p:nvSpPr>
        <p:spPr>
          <a:xfrm>
            <a:off x="457200" y="1600200"/>
            <a:ext cx="11273400" cy="447948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4"/>
          <p:cNvSpPr/>
          <p:nvPr/>
        </p:nvSpPr>
        <p:spPr>
          <a:xfrm>
            <a:off x="822960" y="182880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5"/>
          <p:cNvSpPr/>
          <p:nvPr/>
        </p:nvSpPr>
        <p:spPr>
          <a:xfrm>
            <a:off x="822960" y="242316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822960" y="242316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7"/>
          <p:cNvSpPr/>
          <p:nvPr/>
        </p:nvSpPr>
        <p:spPr>
          <a:xfrm>
            <a:off x="1435680" y="242316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multiply_all(*args) that multiplies every number passed to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8"/>
          <p:cNvSpPr/>
          <p:nvPr/>
        </p:nvSpPr>
        <p:spPr>
          <a:xfrm>
            <a:off x="822960" y="330084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9"/>
          <p:cNvSpPr/>
          <p:nvPr/>
        </p:nvSpPr>
        <p:spPr>
          <a:xfrm>
            <a:off x="822960" y="330084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0"/>
          <p:cNvSpPr/>
          <p:nvPr/>
        </p:nvSpPr>
        <p:spPr>
          <a:xfrm>
            <a:off x="1435680" y="330084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describe(**kwargs) that prints each key and value on its own line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1"/>
          <p:cNvSpPr/>
          <p:nvPr/>
        </p:nvSpPr>
        <p:spPr>
          <a:xfrm>
            <a:off x="822960" y="417888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2"/>
          <p:cNvSpPr/>
          <p:nvPr/>
        </p:nvSpPr>
        <p:spPr>
          <a:xfrm>
            <a:off x="822960" y="417888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3"/>
          <p:cNvSpPr/>
          <p:nvPr/>
        </p:nvSpPr>
        <p:spPr>
          <a:xfrm>
            <a:off x="1435680" y="417888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Combine both: a function that takes a required name, then any number of hobbies, then any number of extra facts as keywords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4"/>
          <p:cNvSpPr/>
          <p:nvPr/>
        </p:nvSpPr>
        <p:spPr>
          <a:xfrm>
            <a:off x="822960" y="505656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5"/>
          <p:cNvSpPr/>
          <p:nvPr/>
        </p:nvSpPr>
        <p:spPr>
          <a:xfrm>
            <a:off x="822960" y="505656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6"/>
          <p:cNvSpPr/>
          <p:nvPr/>
        </p:nvSpPr>
        <p:spPr>
          <a:xfrm>
            <a:off x="1435680" y="505656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Take an existing list of 3 numbers and unpack it into a function that expects three separate arguments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7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559620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3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Lambda Functions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Sometimes a function is so small it doesn’t deserve a name — or a def block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0"/>
          <p:cNvSpPr/>
          <p:nvPr/>
        </p:nvSpPr>
        <p:spPr>
          <a:xfrm>
            <a:off x="10515600" y="5669280"/>
            <a:ext cx="3199320" cy="319932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Lambda?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4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line.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value.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name.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lambda is a small, anonymous function — defined and used in a single expression, with no def and no function name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lambda x: x * 2 is a complete function — it takes x, and its result is whatever the expression evaluates to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There’s no return keyword — the expression’s value is automatically returned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Lambdas exist for one purpose: to hand a tiny, throwaway function to something else that expects one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7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 vs. def — When Each Is the Right Choice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"/>
          <p:cNvSpPr/>
          <p:nvPr/>
        </p:nvSpPr>
        <p:spPr>
          <a:xfrm>
            <a:off x="457200" y="1645920"/>
            <a:ext cx="5348160" cy="447948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3"/>
          <p:cNvSpPr/>
          <p:nvPr/>
        </p:nvSpPr>
        <p:spPr>
          <a:xfrm>
            <a:off x="731520" y="1874520"/>
            <a:ext cx="456120" cy="456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4" name="Image 1" descr="preencoded.png"/>
          <p:cNvPicPr/>
          <p:nvPr/>
        </p:nvPicPr>
        <p:blipFill>
          <a:blip r:embed="rId2"/>
          <a:stretch/>
        </p:blipFill>
        <p:spPr>
          <a:xfrm>
            <a:off x="804600" y="193860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Text 4"/>
          <p:cNvSpPr/>
          <p:nvPr/>
        </p:nvSpPr>
        <p:spPr>
          <a:xfrm>
            <a:off x="1325880" y="1874520"/>
            <a:ext cx="4342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Use lambda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5"/>
          <p:cNvSpPr/>
          <p:nvPr/>
        </p:nvSpPr>
        <p:spPr>
          <a:xfrm>
            <a:off x="731520" y="2514600"/>
            <a:ext cx="47995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logic is one simple expression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You’re passing it directly as an argument (to sorted(), map(), filter()...)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will never be reused or called by name elsewhere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Naming it would add a line without adding clarity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6"/>
          <p:cNvSpPr/>
          <p:nvPr/>
        </p:nvSpPr>
        <p:spPr>
          <a:xfrm>
            <a:off x="6172200" y="1645920"/>
            <a:ext cx="5348160" cy="447948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7"/>
          <p:cNvSpPr/>
          <p:nvPr/>
        </p:nvSpPr>
        <p:spPr>
          <a:xfrm>
            <a:off x="6446520" y="1874520"/>
            <a:ext cx="456120" cy="456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9" name="Image 2" descr="preencoded.png"/>
          <p:cNvPicPr/>
          <p:nvPr/>
        </p:nvPicPr>
        <p:blipFill>
          <a:blip r:embed="rId3"/>
          <a:stretch/>
        </p:blipFill>
        <p:spPr>
          <a:xfrm>
            <a:off x="6519600" y="193860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 8"/>
          <p:cNvSpPr/>
          <p:nvPr/>
        </p:nvSpPr>
        <p:spPr>
          <a:xfrm>
            <a:off x="7040880" y="1874520"/>
            <a:ext cx="4342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Use def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9"/>
          <p:cNvSpPr/>
          <p:nvPr/>
        </p:nvSpPr>
        <p:spPr>
          <a:xfrm>
            <a:off x="6446520" y="2514600"/>
            <a:ext cx="47995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logic needs more than one expression, or any statements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You’ll call it more than once, from more than one place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descriptive name would make the code easier to read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needs a docstring, type hints, or error handling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0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1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5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 + sorted() — A Perfect Pairing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sorted() accepts a key= function that tells it what to sort by — exactly what lambda is built for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Compare this to writing a full, separately-named function just to sort a dictionary by value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For a one-off sort key, the lambda version is shorter and just as clear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{"Ahmed": 88, "Sara": 95, "Ali": 72}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Old way: a full named function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by_value(pair):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pair[1]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sorted(scores.items(), key=by_value)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With lambda — same result, one line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sorted(scores.items(), key=lambda pair: pair[1])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[('Ali', 72), ('Ahmed', 88), ('Sara', 95)]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 + map() and filter()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map() applies a function to every item in a sequence and returns the transformed results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filter() applies a function that returns True/False, and keeps only the items that pass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Both expect a function as their first argument — lambda supplies it inline, without a separate def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3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4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nums = [1, 2, 3, 4, 5, 6]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doubled = list(map(lambda n: n * 2, nums))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onsolas"/>
                <a:ea typeface="Consolas"/>
              </a:rPr>
              <a:t># [2, 4, 6, 8, 10, 12]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evens = list(filter(lambda n: n % 2 == 0, nums))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onsolas"/>
                <a:ea typeface="Consolas"/>
              </a:rPr>
              <a:t># [2, 4, 6]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5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0"/>
          <p:cNvSpPr/>
          <p:nvPr/>
        </p:nvSpPr>
        <p:spPr>
          <a:xfrm>
            <a:off x="10515600" y="5669280"/>
            <a:ext cx="3199320" cy="3199320"/>
          </a:xfrm>
          <a:prstGeom prst="roundRect">
            <a:avLst>
              <a:gd name="adj" fmla="val 1142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When NOT to Use Lambda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30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Readable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code beats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clever code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lambda needs a comment to explain what it does, it should be a named function instead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Chaining multiple lambdas together, or nesting them, is a common real-world code-review flag — it hurts readability fast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the same logic is used in more than one place, give it a name — a lambda can’t be reused cleanly or documented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Professional teams treat "would this be clearer as a def?" as the actual test — not "can I fit it on one line?"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7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-1828800" y="502920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Lambda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3"/>
          <p:cNvSpPr/>
          <p:nvPr/>
        </p:nvSpPr>
        <p:spPr>
          <a:xfrm>
            <a:off x="457200" y="1600200"/>
            <a:ext cx="11273400" cy="447948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4"/>
          <p:cNvSpPr/>
          <p:nvPr/>
        </p:nvSpPr>
        <p:spPr>
          <a:xfrm>
            <a:off x="822960" y="182880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5"/>
          <p:cNvSpPr/>
          <p:nvPr/>
        </p:nvSpPr>
        <p:spPr>
          <a:xfrm>
            <a:off x="822960" y="242316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6"/>
          <p:cNvSpPr/>
          <p:nvPr/>
        </p:nvSpPr>
        <p:spPr>
          <a:xfrm>
            <a:off x="822960" y="242316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7"/>
          <p:cNvSpPr/>
          <p:nvPr/>
        </p:nvSpPr>
        <p:spPr>
          <a:xfrm>
            <a:off x="1435680" y="242316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lambda that takes a number and returns whether it’s greater than 10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8"/>
          <p:cNvSpPr/>
          <p:nvPr/>
        </p:nvSpPr>
        <p:spPr>
          <a:xfrm>
            <a:off x="822960" y="330084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9"/>
          <p:cNvSpPr/>
          <p:nvPr/>
        </p:nvSpPr>
        <p:spPr>
          <a:xfrm>
            <a:off x="822960" y="330084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0"/>
          <p:cNvSpPr/>
          <p:nvPr/>
        </p:nvSpPr>
        <p:spPr>
          <a:xfrm>
            <a:off x="1435680" y="330084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sorted() with a lambda to sort a list of names by their length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1"/>
          <p:cNvSpPr/>
          <p:nvPr/>
        </p:nvSpPr>
        <p:spPr>
          <a:xfrm>
            <a:off x="822960" y="417888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2"/>
          <p:cNvSpPr/>
          <p:nvPr/>
        </p:nvSpPr>
        <p:spPr>
          <a:xfrm>
            <a:off x="822960" y="417888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3"/>
          <p:cNvSpPr/>
          <p:nvPr/>
        </p:nvSpPr>
        <p:spPr>
          <a:xfrm>
            <a:off x="1435680" y="417888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map() with a lambda to convert a list of Celsius temperatures to Fahrenheit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4"/>
          <p:cNvSpPr/>
          <p:nvPr/>
        </p:nvSpPr>
        <p:spPr>
          <a:xfrm>
            <a:off x="822960" y="505656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5"/>
          <p:cNvSpPr/>
          <p:nvPr/>
        </p:nvSpPr>
        <p:spPr>
          <a:xfrm>
            <a:off x="822960" y="505656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6"/>
          <p:cNvSpPr/>
          <p:nvPr/>
        </p:nvSpPr>
        <p:spPr>
          <a:xfrm>
            <a:off x="1435680" y="505656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filter() with a lambda to keep only the words longer than 4 characters from a sentence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"/>
          <p:cNvSpPr/>
          <p:nvPr/>
        </p:nvSpPr>
        <p:spPr>
          <a:xfrm>
            <a:off x="559620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4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Recursion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5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function that solves a problem by asking a smaller version of itself to help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10515600" y="5669280"/>
            <a:ext cx="3199320" cy="319932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Recursion?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function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calling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itself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Recursion is a function that calls itself to solve a smaller piece of the same problem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Russian nesting dolls — open one, and there’s a smaller identical doll inside, until you reach the smallest one that doesn’t open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call works on a slightly smaller version of the problem, and the smallest version is simple enough to answer directly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That "simple enough to answer directly" case is what makes the whole chain eventually stop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7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Two Required Parts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"/>
          <p:cNvSpPr/>
          <p:nvPr/>
        </p:nvSpPr>
        <p:spPr>
          <a:xfrm>
            <a:off x="457200" y="1645920"/>
            <a:ext cx="5348160" cy="447948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3"/>
          <p:cNvSpPr/>
          <p:nvPr/>
        </p:nvSpPr>
        <p:spPr>
          <a:xfrm>
            <a:off x="731520" y="1874520"/>
            <a:ext cx="456120" cy="456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5" name="Image 1" descr="preencoded.png"/>
          <p:cNvPicPr/>
          <p:nvPr/>
        </p:nvPicPr>
        <p:blipFill>
          <a:blip r:embed="rId2"/>
          <a:stretch/>
        </p:blipFill>
        <p:spPr>
          <a:xfrm>
            <a:off x="804600" y="193860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Text 4"/>
          <p:cNvSpPr/>
          <p:nvPr/>
        </p:nvSpPr>
        <p:spPr>
          <a:xfrm>
            <a:off x="1325880" y="1874520"/>
            <a:ext cx="4342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Base Case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5"/>
          <p:cNvSpPr/>
          <p:nvPr/>
        </p:nvSpPr>
        <p:spPr>
          <a:xfrm>
            <a:off x="731520" y="2514600"/>
            <a:ext cx="47995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smallest version of the problem — answered directly, with no further recursive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what stops the recursion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recursive function needs at least 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factorial(0) is defined to be 1, no calculation needed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6"/>
          <p:cNvSpPr/>
          <p:nvPr/>
        </p:nvSpPr>
        <p:spPr>
          <a:xfrm>
            <a:off x="6172200" y="1645920"/>
            <a:ext cx="5348160" cy="447948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7"/>
          <p:cNvSpPr/>
          <p:nvPr/>
        </p:nvSpPr>
        <p:spPr>
          <a:xfrm>
            <a:off x="6446520" y="1874520"/>
            <a:ext cx="456120" cy="456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0" name="Image 2" descr="preencoded.png"/>
          <p:cNvPicPr/>
          <p:nvPr/>
        </p:nvPicPr>
        <p:blipFill>
          <a:blip r:embed="rId3"/>
          <a:stretch/>
        </p:blipFill>
        <p:spPr>
          <a:xfrm>
            <a:off x="6519600" y="193860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Text 8"/>
          <p:cNvSpPr/>
          <p:nvPr/>
        </p:nvSpPr>
        <p:spPr>
          <a:xfrm>
            <a:off x="7040880" y="1874520"/>
            <a:ext cx="4342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Recursive Case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6446520" y="2514600"/>
            <a:ext cx="47995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step where the function calls itself on a smaller piece of the problem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Must always move toward the base case — never sideways, never backward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Combines its own small piece of work with the result of the smaller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factorial(n) = n × factorial(n - 1)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1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Classic Example: Factorial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factorial(n) is n × (n-1) × (n-2) × ... × 1 — a textbook recursive definition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Base case: factorial(0) is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Recursive case: factorial(n) is n times factorial(n - 1)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3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4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factorial(n):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== 0:    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base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n * factorial(n - 1)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recursive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factorial(4)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factorial(3)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(3 * factorial(2))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(3 * (2 * factorial(1)))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3 * 2 * 1 * 1  -&gt;  24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5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Recursion Call Stack,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2"/>
          <p:cNvSpPr/>
          <p:nvPr/>
        </p:nvSpPr>
        <p:spPr>
          <a:xfrm>
            <a:off x="1097280" y="1691640"/>
            <a:ext cx="9993240" cy="71208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1325880" y="1691640"/>
            <a:ext cx="953604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factorial(4)  waiting for factorial(3)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4"/>
          <p:cNvSpPr/>
          <p:nvPr/>
        </p:nvSpPr>
        <p:spPr>
          <a:xfrm>
            <a:off x="1417320" y="2514600"/>
            <a:ext cx="9673200" cy="71208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5"/>
          <p:cNvSpPr/>
          <p:nvPr/>
        </p:nvSpPr>
        <p:spPr>
          <a:xfrm>
            <a:off x="1645920" y="2514600"/>
            <a:ext cx="921600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factorial(3)  waiting for factorial(2)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6"/>
          <p:cNvSpPr/>
          <p:nvPr/>
        </p:nvSpPr>
        <p:spPr>
          <a:xfrm>
            <a:off x="1737360" y="3337560"/>
            <a:ext cx="9353160" cy="71208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7"/>
          <p:cNvSpPr/>
          <p:nvPr/>
        </p:nvSpPr>
        <p:spPr>
          <a:xfrm>
            <a:off x="1965960" y="3337560"/>
            <a:ext cx="889596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factorial(2)  waiting for factorial(1)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8"/>
          <p:cNvSpPr/>
          <p:nvPr/>
        </p:nvSpPr>
        <p:spPr>
          <a:xfrm>
            <a:off x="2057400" y="4160520"/>
            <a:ext cx="9033120" cy="71208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9"/>
          <p:cNvSpPr/>
          <p:nvPr/>
        </p:nvSpPr>
        <p:spPr>
          <a:xfrm>
            <a:off x="2286000" y="4160520"/>
            <a:ext cx="857592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factorial(1)  waiting for factorial(0)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0"/>
          <p:cNvSpPr/>
          <p:nvPr/>
        </p:nvSpPr>
        <p:spPr>
          <a:xfrm>
            <a:off x="2377440" y="4983480"/>
            <a:ext cx="8713080" cy="712080"/>
          </a:xfrm>
          <a:prstGeom prst="roundRect">
            <a:avLst>
              <a:gd name="adj" fmla="val 10256"/>
            </a:avLst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1"/>
          <p:cNvSpPr/>
          <p:nvPr/>
        </p:nvSpPr>
        <p:spPr>
          <a:xfrm>
            <a:off x="2606040" y="4983480"/>
            <a:ext cx="82558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factorial(0)  → returns 1   (base case reached)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2"/>
          <p:cNvSpPr/>
          <p:nvPr/>
        </p:nvSpPr>
        <p:spPr>
          <a:xfrm>
            <a:off x="1097280" y="5852160"/>
            <a:ext cx="9993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Each call waits for the one below it to finish — then the results multiply back up the stack: 1, then 2, then 6, then 24.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3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4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Classic Example: Fibonacci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Fibonacci number is the sum of the two before it: 0, 1, 1, 2, 3, 5, 8, 13...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Base cases: fib(0) is 0, fib(1) is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Recursive case: fib(n) is fib(n-1) + fib(n-2) — two recursive calls, not 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3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4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fib(n):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&lt;= 1:     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base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fib(n-1) + fib(n-2)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recursive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fib(6)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8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[fib(n) for n in range(7)]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[0, 1, 1, 2, 3, 5, 8]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5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0"/>
          <p:cNvSpPr/>
          <p:nvPr/>
        </p:nvSpPr>
        <p:spPr>
          <a:xfrm>
            <a:off x="10515600" y="5669280"/>
            <a:ext cx="3199320" cy="3199320"/>
          </a:xfrm>
          <a:prstGeom prst="roundRect">
            <a:avLst>
              <a:gd name="adj" fmla="val 1142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Danger of Infinite Recursion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30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3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base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case =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stop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function never reaches its base case, it keeps calling itself — forever, in theory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practice, Python raises a RecursionError once the call stack hits its limit (by default, around 1000 calls deep)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recursive cousin of an infinite while loop — same root cause: the stopping condition is never satisfied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fix is always the same: check that every recursive call is moving strictly closer to the base case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7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Recursion vs. Loops — Honest Tradeoffs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2"/>
          <p:cNvSpPr/>
          <p:nvPr/>
        </p:nvSpPr>
        <p:spPr>
          <a:xfrm>
            <a:off x="457200" y="1645920"/>
            <a:ext cx="5348160" cy="447948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3"/>
          <p:cNvSpPr/>
          <p:nvPr/>
        </p:nvSpPr>
        <p:spPr>
          <a:xfrm>
            <a:off x="731520" y="1874520"/>
            <a:ext cx="456120" cy="456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3" name="Image 1" descr="preencoded.png"/>
          <p:cNvPicPr/>
          <p:nvPr/>
        </p:nvPicPr>
        <p:blipFill>
          <a:blip r:embed="rId2"/>
          <a:stretch/>
        </p:blipFill>
        <p:spPr>
          <a:xfrm>
            <a:off x="804600" y="193860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Text 4"/>
          <p:cNvSpPr/>
          <p:nvPr/>
        </p:nvSpPr>
        <p:spPr>
          <a:xfrm>
            <a:off x="1325880" y="1874520"/>
            <a:ext cx="4342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Loops win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731520" y="2514600"/>
            <a:ext cx="47995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repetition is simple and flat — no natural nesting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Performance matters — loops avoid the overhead of repeated function calls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data is a straightforward sequence you’re stepping through once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6"/>
          <p:cNvSpPr/>
          <p:nvPr/>
        </p:nvSpPr>
        <p:spPr>
          <a:xfrm>
            <a:off x="6172200" y="1645920"/>
            <a:ext cx="5348160" cy="447948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7"/>
          <p:cNvSpPr/>
          <p:nvPr/>
        </p:nvSpPr>
        <p:spPr>
          <a:xfrm>
            <a:off x="6446520" y="1874520"/>
            <a:ext cx="456120" cy="456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2" descr="preencoded.png"/>
          <p:cNvPicPr/>
          <p:nvPr/>
        </p:nvPicPr>
        <p:blipFill>
          <a:blip r:embed="rId3"/>
          <a:stretch/>
        </p:blipFill>
        <p:spPr>
          <a:xfrm>
            <a:off x="6519600" y="193860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8"/>
          <p:cNvSpPr/>
          <p:nvPr/>
        </p:nvSpPr>
        <p:spPr>
          <a:xfrm>
            <a:off x="7040880" y="1874520"/>
            <a:ext cx="4342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Recursion wins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9"/>
          <p:cNvSpPr/>
          <p:nvPr/>
        </p:nvSpPr>
        <p:spPr>
          <a:xfrm>
            <a:off x="6446520" y="2514600"/>
            <a:ext cx="47995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problem is naturally nested — trees, folders, nested data of unknown depth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step is a smaller version of the exact same problem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recursive version is dramatically easier to read than the loop-based equivalent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0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1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4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Nested Data of Unknown Depth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can contain another dictionary, which can contain another — to any depth, unknown in advance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loop can’t handle "unknown depth" cleanly, but recursion handles it naturally: dig in, and if you find another dictionary, recurse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exact same pattern is used to walk folder structures, JSON responses, and org charts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3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4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sum_nested(data):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total = 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for value in data.values():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if isinstance(value, dict):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    total += sum_nested(value)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recurse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else: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    total +=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total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sum_nested({"a": 1, "b": {"c": 2, "d": {"e": 3}}})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6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Shape 0"/>
          <p:cNvSpPr/>
          <p:nvPr/>
        </p:nvSpPr>
        <p:spPr>
          <a:xfrm>
            <a:off x="-1828800" y="502920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4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Recursion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3"/>
          <p:cNvSpPr/>
          <p:nvPr/>
        </p:nvSpPr>
        <p:spPr>
          <a:xfrm>
            <a:off x="457200" y="1600200"/>
            <a:ext cx="11273400" cy="447948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4"/>
          <p:cNvSpPr/>
          <p:nvPr/>
        </p:nvSpPr>
        <p:spPr>
          <a:xfrm>
            <a:off x="822960" y="182880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5"/>
          <p:cNvSpPr/>
          <p:nvPr/>
        </p:nvSpPr>
        <p:spPr>
          <a:xfrm>
            <a:off x="822960" y="242316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6"/>
          <p:cNvSpPr/>
          <p:nvPr/>
        </p:nvSpPr>
        <p:spPr>
          <a:xfrm>
            <a:off x="822960" y="242316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7"/>
          <p:cNvSpPr/>
          <p:nvPr/>
        </p:nvSpPr>
        <p:spPr>
          <a:xfrm>
            <a:off x="1435680" y="242316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returns the sum of all numbers from 1 to 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8"/>
          <p:cNvSpPr/>
          <p:nvPr/>
        </p:nvSpPr>
        <p:spPr>
          <a:xfrm>
            <a:off x="822960" y="330084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9"/>
          <p:cNvSpPr/>
          <p:nvPr/>
        </p:nvSpPr>
        <p:spPr>
          <a:xfrm>
            <a:off x="822960" y="330084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0"/>
          <p:cNvSpPr/>
          <p:nvPr/>
        </p:nvSpPr>
        <p:spPr>
          <a:xfrm>
            <a:off x="1435680" y="330084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reverses a string (no slicing shortcuts)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1"/>
          <p:cNvSpPr/>
          <p:nvPr/>
        </p:nvSpPr>
        <p:spPr>
          <a:xfrm>
            <a:off x="822960" y="417888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2"/>
          <p:cNvSpPr/>
          <p:nvPr/>
        </p:nvSpPr>
        <p:spPr>
          <a:xfrm>
            <a:off x="822960" y="417888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3"/>
          <p:cNvSpPr/>
          <p:nvPr/>
        </p:nvSpPr>
        <p:spPr>
          <a:xfrm>
            <a:off x="1435680" y="417888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Trace factorial(5) by hand, writing out each call on paper before running any code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14"/>
          <p:cNvSpPr/>
          <p:nvPr/>
        </p:nvSpPr>
        <p:spPr>
          <a:xfrm>
            <a:off x="822960" y="505656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5"/>
          <p:cNvSpPr/>
          <p:nvPr/>
        </p:nvSpPr>
        <p:spPr>
          <a:xfrm>
            <a:off x="822960" y="505656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6"/>
          <p:cNvSpPr/>
          <p:nvPr/>
        </p:nvSpPr>
        <p:spPr>
          <a:xfrm>
            <a:off x="1435680" y="505656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counts how many times a value appears in a nested list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7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"/>
          <p:cNvSpPr/>
          <p:nvPr/>
        </p:nvSpPr>
        <p:spPr>
          <a:xfrm>
            <a:off x="559620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4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Closures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function that remembers the variables from where it was created — even after that place is gone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10515600" y="5669280"/>
            <a:ext cx="3199320" cy="319932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Closure?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5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6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Remembers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was born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closure is an inner function that "remembers" the variables from its enclosing function, even after that outer function has finished running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Normally, a function’s local variables disappear once it returns — closures are the exception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happens automatically whenever an inner function uses a variable from the function that defines it, and that inner function is returned or passed elsewhere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It’s what lets you build customized, reusable functions out of a single template function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7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2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Closure,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2"/>
          <p:cNvSpPr/>
          <p:nvPr/>
        </p:nvSpPr>
        <p:spPr>
          <a:xfrm>
            <a:off x="914400" y="1737360"/>
            <a:ext cx="10359000" cy="4205160"/>
          </a:xfrm>
          <a:prstGeom prst="roundRect">
            <a:avLst>
              <a:gd name="adj" fmla="val 2609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3"/>
          <p:cNvSpPr/>
          <p:nvPr/>
        </p:nvSpPr>
        <p:spPr>
          <a:xfrm>
            <a:off x="1188720" y="1920240"/>
            <a:ext cx="9783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make_multiplier(factor)   — outer function, runs once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4"/>
          <p:cNvSpPr/>
          <p:nvPr/>
        </p:nvSpPr>
        <p:spPr>
          <a:xfrm>
            <a:off x="1188720" y="2377440"/>
            <a:ext cx="9783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B564F"/>
                </a:solidFill>
                <a:effectLst/>
                <a:uFillTx/>
                <a:latin typeface="Cantarell"/>
                <a:ea typeface="Consolas"/>
              </a:rPr>
              <a:t>factor = 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5"/>
          <p:cNvSpPr/>
          <p:nvPr/>
        </p:nvSpPr>
        <p:spPr>
          <a:xfrm>
            <a:off x="1463040" y="2926080"/>
            <a:ext cx="9261720" cy="2650680"/>
          </a:xfrm>
          <a:prstGeom prst="roundRect">
            <a:avLst>
              <a:gd name="adj" fmla="val 3448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6"/>
          <p:cNvSpPr/>
          <p:nvPr/>
        </p:nvSpPr>
        <p:spPr>
          <a:xfrm>
            <a:off x="1737360" y="3108960"/>
            <a:ext cx="8685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def multiply(n):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7"/>
          <p:cNvSpPr/>
          <p:nvPr/>
        </p:nvSpPr>
        <p:spPr>
          <a:xfrm>
            <a:off x="1737360" y="3520440"/>
            <a:ext cx="8685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n * factor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8"/>
          <p:cNvSpPr/>
          <p:nvPr/>
        </p:nvSpPr>
        <p:spPr>
          <a:xfrm>
            <a:off x="1737360" y="4023360"/>
            <a:ext cx="86857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7C588"/>
                </a:solidFill>
                <a:effectLst/>
                <a:uFillTx/>
                <a:latin typeface="Cantarell"/>
                <a:ea typeface="Calibri"/>
              </a:rPr>
              <a:t>↑ "factor" isn’t local here — it reaches back into the outer function’s scope and remembers it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9"/>
          <p:cNvSpPr/>
          <p:nvPr/>
        </p:nvSpPr>
        <p:spPr>
          <a:xfrm>
            <a:off x="1737360" y="4709160"/>
            <a:ext cx="859428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double = make_multiplier(3)   returns multiply, but multiply keeps its own private copy of factor = 3, even though make_multiplier has already finished running.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0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1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4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5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Function Factory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2"/>
          <p:cNvSpPr/>
          <p:nvPr/>
        </p:nvSpPr>
        <p:spPr>
          <a:xfrm>
            <a:off x="548640" y="1936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make_multiplier(factor) returns a brand-new function, customized with whatever factor was passed in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returned function keeps its own private copy of factor — double and triple don’t interfere with each other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"function that builds functions" pattern shows up constantly in real configuration and callback code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3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4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make_multiplier(factor):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multiply(n):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n * factor  </a:t>
            </a: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remembers "factor"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multiply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double = make_multiplier(2)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triple = make_multiplier(3)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double(5) </a:t>
            </a: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triple(5) </a:t>
            </a: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5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nonlocal — Modifying an Enclosing Variable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2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By default, an inner function can read an outer variable, but assigning to it </a:t>
            </a: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creates a new local variable instead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nonlocal tells Python: "this name refers to the enclosing function’s variable, not a </a:t>
            </a: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new local one"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how a closure keeps running state between calls — like a counter that </a:t>
            </a: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remembers its own count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3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4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make_counter():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count = 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increment():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nonlocal count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 +=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count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increment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 = make_counter()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counter() </a:t>
            </a:r>
            <a:r>
              <a:rPr lang="en-US" sz="16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counter() </a:t>
            </a:r>
            <a:r>
              <a:rPr lang="en-US" sz="16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counter() </a:t>
            </a:r>
            <a:r>
              <a:rPr lang="en-US" sz="16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5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Shape 0"/>
          <p:cNvSpPr/>
          <p:nvPr/>
        </p:nvSpPr>
        <p:spPr>
          <a:xfrm>
            <a:off x="-1828800" y="502920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Closures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3"/>
          <p:cNvSpPr/>
          <p:nvPr/>
        </p:nvSpPr>
        <p:spPr>
          <a:xfrm>
            <a:off x="457200" y="1600200"/>
            <a:ext cx="11273400" cy="447948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4"/>
          <p:cNvSpPr/>
          <p:nvPr/>
        </p:nvSpPr>
        <p:spPr>
          <a:xfrm>
            <a:off x="822960" y="182880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5"/>
          <p:cNvSpPr/>
          <p:nvPr/>
        </p:nvSpPr>
        <p:spPr>
          <a:xfrm>
            <a:off x="822960" y="242316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6"/>
          <p:cNvSpPr/>
          <p:nvPr/>
        </p:nvSpPr>
        <p:spPr>
          <a:xfrm>
            <a:off x="822960" y="242316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7"/>
          <p:cNvSpPr/>
          <p:nvPr/>
        </p:nvSpPr>
        <p:spPr>
          <a:xfrm>
            <a:off x="1435680" y="242316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make_greeter(greeting) function that returns a function saying "{greeting}, {name}!" for any name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8"/>
          <p:cNvSpPr/>
          <p:nvPr/>
        </p:nvSpPr>
        <p:spPr>
          <a:xfrm>
            <a:off x="822960" y="330084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9"/>
          <p:cNvSpPr/>
          <p:nvPr/>
        </p:nvSpPr>
        <p:spPr>
          <a:xfrm>
            <a:off x="822960" y="330084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0"/>
          <p:cNvSpPr/>
          <p:nvPr/>
        </p:nvSpPr>
        <p:spPr>
          <a:xfrm>
            <a:off x="1435680" y="330084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make_power(exponent) factory — make_power(2) should return a function that squares its input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11"/>
          <p:cNvSpPr/>
          <p:nvPr/>
        </p:nvSpPr>
        <p:spPr>
          <a:xfrm>
            <a:off x="822960" y="417888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2"/>
          <p:cNvSpPr/>
          <p:nvPr/>
        </p:nvSpPr>
        <p:spPr>
          <a:xfrm>
            <a:off x="822960" y="417888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3"/>
          <p:cNvSpPr/>
          <p:nvPr/>
        </p:nvSpPr>
        <p:spPr>
          <a:xfrm>
            <a:off x="1435680" y="417888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counter with nonlocal that can count both up and down, using two inner functions sharing one variable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4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2"/>
          <p:cNvSpPr/>
          <p:nvPr/>
        </p:nvSpPr>
        <p:spPr>
          <a:xfrm>
            <a:off x="559620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9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5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Decorators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5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function that wraps another function, adding behavior without touching its code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0"/>
          <p:cNvSpPr/>
          <p:nvPr/>
        </p:nvSpPr>
        <p:spPr>
          <a:xfrm>
            <a:off x="10515600" y="5669280"/>
            <a:ext cx="3199320" cy="319932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Decorator?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0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Wraps 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 in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extra behavior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decorator is a function that takes another function as input, and returns a new function that wraps it with extra behavior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original function usually still runs — the decorator just adds something before it, after it, or around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it like gift-wrapping: the gift inside doesn’t change, but wrapping paper adds something around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a light-touch introduction — you’ll recognize decorators in real code long before you need to write your own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7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Decorator,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2"/>
          <p:cNvSpPr/>
          <p:nvPr/>
        </p:nvSpPr>
        <p:spPr>
          <a:xfrm>
            <a:off x="1188720" y="1783080"/>
            <a:ext cx="9810360" cy="4022280"/>
          </a:xfrm>
          <a:prstGeom prst="roundRect">
            <a:avLst>
              <a:gd name="adj" fmla="val 3182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3"/>
          <p:cNvSpPr/>
          <p:nvPr/>
        </p:nvSpPr>
        <p:spPr>
          <a:xfrm>
            <a:off x="1463040" y="1965960"/>
            <a:ext cx="9325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wrapper()   — what actually runs when you call the decorated function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4"/>
          <p:cNvSpPr/>
          <p:nvPr/>
        </p:nvSpPr>
        <p:spPr>
          <a:xfrm>
            <a:off x="1463040" y="2468880"/>
            <a:ext cx="9261720" cy="593280"/>
          </a:xfrm>
          <a:prstGeom prst="roundRect">
            <a:avLst>
              <a:gd name="adj" fmla="val 12308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5"/>
          <p:cNvSpPr/>
          <p:nvPr/>
        </p:nvSpPr>
        <p:spPr>
          <a:xfrm>
            <a:off x="1737360" y="2468880"/>
            <a:ext cx="868572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print("Before the function runs")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6"/>
          <p:cNvSpPr/>
          <p:nvPr/>
        </p:nvSpPr>
        <p:spPr>
          <a:xfrm>
            <a:off x="1828800" y="3246120"/>
            <a:ext cx="8530200" cy="1004760"/>
          </a:xfrm>
          <a:prstGeom prst="roundRect">
            <a:avLst>
              <a:gd name="adj" fmla="val 9091"/>
            </a:avLst>
          </a:prstGeom>
          <a:solidFill>
            <a:srgbClr val="13312F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7"/>
          <p:cNvSpPr/>
          <p:nvPr/>
        </p:nvSpPr>
        <p:spPr>
          <a:xfrm>
            <a:off x="2103120" y="3246120"/>
            <a:ext cx="795420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func()   — the original, un-modified function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8"/>
          <p:cNvSpPr/>
          <p:nvPr/>
        </p:nvSpPr>
        <p:spPr>
          <a:xfrm>
            <a:off x="1463040" y="4434840"/>
            <a:ext cx="9261720" cy="593280"/>
          </a:xfrm>
          <a:prstGeom prst="roundRect">
            <a:avLst>
              <a:gd name="adj" fmla="val 12308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9"/>
          <p:cNvSpPr/>
          <p:nvPr/>
        </p:nvSpPr>
        <p:spPr>
          <a:xfrm>
            <a:off x="1737360" y="4434840"/>
            <a:ext cx="868572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print("After the function runs")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0"/>
          <p:cNvSpPr/>
          <p:nvPr/>
        </p:nvSpPr>
        <p:spPr>
          <a:xfrm>
            <a:off x="1463040" y="5166360"/>
            <a:ext cx="92617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The original function sits untouched at the center — the decorator only adds layers around it, the same way wrapping paper adds nothing to the gift inside.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11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2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Simple Working Example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my_decorator takes a function, defines a wrapper() that adds behavior, and returns that wrapper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wrapper calls the original function in the middle — that’s the "extra behavior wrapped around it" in action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before/after pattern is the foundation every real-world decorator builds 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3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4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my_decorator(func):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wrapper():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print("Before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func()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print("After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wrapper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say_hello():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decorated = my_decorator(say_hello)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decorated()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Before the function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Hello!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After the function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5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8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9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@ Syntax — Just Syntactic Sugar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2"/>
          <p:cNvSpPr/>
          <p:nvPr/>
        </p:nvSpPr>
        <p:spPr>
          <a:xfrm>
            <a:off x="548640" y="1828800"/>
            <a:ext cx="4753800" cy="40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Writing @my_decorator directly above a function definition does exactly the same thing as the manual version on the last slide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@my_decorator above def say_hello(): is Python’s shorthand for say_hello = my_decorator(say_hello)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Nothing new is happening — it’s the same wrapping, just with cleaner, more readable syntax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3"/>
          <p:cNvSpPr/>
          <p:nvPr/>
        </p:nvSpPr>
        <p:spPr>
          <a:xfrm>
            <a:off x="5486400" y="1691640"/>
            <a:ext cx="6216840" cy="434232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4"/>
          <p:cNvSpPr/>
          <p:nvPr/>
        </p:nvSpPr>
        <p:spPr>
          <a:xfrm>
            <a:off x="5806440" y="1965960"/>
            <a:ext cx="557676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my_decorator(func):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wrapper():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print("Before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func()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print("After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wrapper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@my_decorator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same as: say_hello = my_decorator(say_hello)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say_hello():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say_hello()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already wrapped — just call it directly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5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You’ll Actually See This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2"/>
          <p:cNvSpPr/>
          <p:nvPr/>
        </p:nvSpPr>
        <p:spPr>
          <a:xfrm>
            <a:off x="457200" y="1508760"/>
            <a:ext cx="3610800" cy="489096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3"/>
          <p:cNvSpPr/>
          <p:nvPr/>
        </p:nvSpPr>
        <p:spPr>
          <a:xfrm>
            <a:off x="1989000" y="209412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0" name="Image 1" descr="preencoded.png"/>
          <p:cNvPicPr/>
          <p:nvPr/>
        </p:nvPicPr>
        <p:blipFill>
          <a:blip r:embed="rId2"/>
          <a:stretch/>
        </p:blipFill>
        <p:spPr>
          <a:xfrm>
            <a:off x="2071080" y="217620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1" name="Text 4"/>
          <p:cNvSpPr/>
          <p:nvPr/>
        </p:nvSpPr>
        <p:spPr>
          <a:xfrm>
            <a:off x="548640" y="2715840"/>
            <a:ext cx="3427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Flask Routes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5"/>
          <p:cNvSpPr/>
          <p:nvPr/>
        </p:nvSpPr>
        <p:spPr>
          <a:xfrm>
            <a:off x="603360" y="3099960"/>
            <a:ext cx="3318120" cy="31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@app.route("/home") turns an ordinary function into a URL endpoint — the most common decorator you’ll meet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6"/>
          <p:cNvSpPr/>
          <p:nvPr/>
        </p:nvSpPr>
        <p:spPr>
          <a:xfrm>
            <a:off x="4288680" y="1508760"/>
            <a:ext cx="3610800" cy="489096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7"/>
          <p:cNvSpPr/>
          <p:nvPr/>
        </p:nvSpPr>
        <p:spPr>
          <a:xfrm>
            <a:off x="5820120" y="209412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5" name="Image 2" descr="preencoded.png"/>
          <p:cNvPicPr/>
          <p:nvPr/>
        </p:nvPicPr>
        <p:blipFill>
          <a:blip r:embed="rId3"/>
          <a:stretch/>
        </p:blipFill>
        <p:spPr>
          <a:xfrm>
            <a:off x="5902560" y="217620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Text 8"/>
          <p:cNvSpPr/>
          <p:nvPr/>
        </p:nvSpPr>
        <p:spPr>
          <a:xfrm>
            <a:off x="4380120" y="2715840"/>
            <a:ext cx="3427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Timing Decorators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9"/>
          <p:cNvSpPr/>
          <p:nvPr/>
        </p:nvSpPr>
        <p:spPr>
          <a:xfrm>
            <a:off x="4434840" y="3099960"/>
            <a:ext cx="3318120" cy="31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 decorator that measures and prints how long a function took to run — without changing the function itself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10"/>
          <p:cNvSpPr/>
          <p:nvPr/>
        </p:nvSpPr>
        <p:spPr>
          <a:xfrm>
            <a:off x="8119800" y="1508760"/>
            <a:ext cx="3610800" cy="489096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11"/>
          <p:cNvSpPr/>
          <p:nvPr/>
        </p:nvSpPr>
        <p:spPr>
          <a:xfrm>
            <a:off x="9651600" y="2094120"/>
            <a:ext cx="547560" cy="5475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0" name="Image 3" descr="preencoded.png"/>
          <p:cNvPicPr/>
          <p:nvPr/>
        </p:nvPicPr>
        <p:blipFill>
          <a:blip r:embed="rId4"/>
          <a:stretch/>
        </p:blipFill>
        <p:spPr>
          <a:xfrm>
            <a:off x="9733680" y="217620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Text 12"/>
          <p:cNvSpPr/>
          <p:nvPr/>
        </p:nvSpPr>
        <p:spPr>
          <a:xfrm>
            <a:off x="8211240" y="2715840"/>
            <a:ext cx="3427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Access Control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13"/>
          <p:cNvSpPr/>
          <p:nvPr/>
        </p:nvSpPr>
        <p:spPr>
          <a:xfrm>
            <a:off x="8266320" y="3099960"/>
            <a:ext cx="3318120" cy="31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@login_required blocks a function from running unless the user is authenticated — used constantly in web apps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14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1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0"/>
          <p:cNvSpPr/>
          <p:nvPr/>
        </p:nvSpPr>
        <p:spPr>
          <a:xfrm>
            <a:off x="-1828800" y="502920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7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8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Decorators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457200" y="1600200"/>
            <a:ext cx="11273400" cy="447948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"/>
          <p:cNvSpPr/>
          <p:nvPr/>
        </p:nvSpPr>
        <p:spPr>
          <a:xfrm>
            <a:off x="822960" y="182880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5"/>
          <p:cNvSpPr/>
          <p:nvPr/>
        </p:nvSpPr>
        <p:spPr>
          <a:xfrm>
            <a:off x="822960" y="242316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822960" y="242316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7"/>
          <p:cNvSpPr/>
          <p:nvPr/>
        </p:nvSpPr>
        <p:spPr>
          <a:xfrm>
            <a:off x="1435680" y="242316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decorator that prints "Running..." before any function it wraps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822960" y="330084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822960" y="330084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1435680" y="330084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Apply your decorator to two different functions using @ syntax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822960" y="4178880"/>
            <a:ext cx="383040" cy="38304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12"/>
          <p:cNvSpPr/>
          <p:nvPr/>
        </p:nvSpPr>
        <p:spPr>
          <a:xfrm>
            <a:off x="822960" y="417888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1435680" y="4178880"/>
            <a:ext cx="9581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Predict, in your own words, what say_hello = my_decorator(say_hello) does — before checking your answer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1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2"/>
          <p:cNvSpPr/>
          <p:nvPr/>
        </p:nvSpPr>
        <p:spPr>
          <a:xfrm>
            <a:off x="559620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5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6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You’ll Actually Be Asked to Build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5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Not toy examples — flexible logging, safe recursion, and reusable factories are everyday, real-world work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Shape 0"/>
          <p:cNvSpPr/>
          <p:nvPr/>
        </p:nvSpPr>
        <p:spPr>
          <a:xfrm>
            <a:off x="-1828800" y="502920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3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Flexible Args &amp; Lambda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3"/>
          <p:cNvSpPr/>
          <p:nvPr/>
        </p:nvSpPr>
        <p:spPr>
          <a:xfrm>
            <a:off x="457200" y="1600200"/>
            <a:ext cx="11273400" cy="447948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4"/>
          <p:cNvSpPr/>
          <p:nvPr/>
        </p:nvSpPr>
        <p:spPr>
          <a:xfrm>
            <a:off x="822960" y="182880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5"/>
          <p:cNvSpPr/>
          <p:nvPr/>
        </p:nvSpPr>
        <p:spPr>
          <a:xfrm>
            <a:off x="822960" y="2423160"/>
            <a:ext cx="401400" cy="401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7" name="Image 1" descr="preencoded.png"/>
          <p:cNvPicPr/>
          <p:nvPr/>
        </p:nvPicPr>
        <p:blipFill>
          <a:blip r:embed="rId2"/>
          <a:stretch/>
        </p:blipFill>
        <p:spPr>
          <a:xfrm>
            <a:off x="887040" y="2487240"/>
            <a:ext cx="2822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Shape 6"/>
          <p:cNvSpPr/>
          <p:nvPr/>
        </p:nvSpPr>
        <p:spPr>
          <a:xfrm>
            <a:off x="1371600" y="2441520"/>
            <a:ext cx="401400" cy="364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7"/>
          <p:cNvSpPr/>
          <p:nvPr/>
        </p:nvSpPr>
        <p:spPr>
          <a:xfrm>
            <a:off x="1371600" y="2441520"/>
            <a:ext cx="401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8"/>
          <p:cNvSpPr/>
          <p:nvPr/>
        </p:nvSpPr>
        <p:spPr>
          <a:xfrm>
            <a:off x="1920240" y="2423160"/>
            <a:ext cx="950868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flexible logging function log(level, *messages, **context) that joins the messages and prints each context key=value pair — this is the exact shape of real production logging calls.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9"/>
          <p:cNvSpPr/>
          <p:nvPr/>
        </p:nvSpPr>
        <p:spPr>
          <a:xfrm>
            <a:off x="822960" y="3593520"/>
            <a:ext cx="401400" cy="401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2" name="Image 2" descr="preencoded.png"/>
          <p:cNvPicPr/>
          <p:nvPr/>
        </p:nvPicPr>
        <p:blipFill>
          <a:blip r:embed="rId3"/>
          <a:stretch/>
        </p:blipFill>
        <p:spPr>
          <a:xfrm>
            <a:off x="887040" y="3657600"/>
            <a:ext cx="2822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3" name="Shape 10"/>
          <p:cNvSpPr/>
          <p:nvPr/>
        </p:nvSpPr>
        <p:spPr>
          <a:xfrm>
            <a:off x="1371600" y="3611880"/>
            <a:ext cx="401400" cy="364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11"/>
          <p:cNvSpPr/>
          <p:nvPr/>
        </p:nvSpPr>
        <p:spPr>
          <a:xfrm>
            <a:off x="1371600" y="3611880"/>
            <a:ext cx="401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2"/>
          <p:cNvSpPr/>
          <p:nvPr/>
        </p:nvSpPr>
        <p:spPr>
          <a:xfrm>
            <a:off x="1920240" y="3593520"/>
            <a:ext cx="950868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You’re given a list of product dictionaries like [{"name": "Pen", "price": 20}, ...]. Use sorted() with a lambda to sort them by price, then by 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13"/>
          <p:cNvSpPr/>
          <p:nvPr/>
        </p:nvSpPr>
        <p:spPr>
          <a:xfrm>
            <a:off x="822960" y="4763880"/>
            <a:ext cx="401400" cy="401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7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22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Shape 14"/>
          <p:cNvSpPr/>
          <p:nvPr/>
        </p:nvSpPr>
        <p:spPr>
          <a:xfrm>
            <a:off x="1371600" y="4782240"/>
            <a:ext cx="401400" cy="364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5"/>
          <p:cNvSpPr/>
          <p:nvPr/>
        </p:nvSpPr>
        <p:spPr>
          <a:xfrm>
            <a:off x="1371600" y="4782240"/>
            <a:ext cx="401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16"/>
          <p:cNvSpPr/>
          <p:nvPr/>
        </p:nvSpPr>
        <p:spPr>
          <a:xfrm>
            <a:off x="1920240" y="4763880"/>
            <a:ext cx="950868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apply_discount(prices, rate) that uses map() with a lambda to return every price reduced by rate (e.g. rate=0.1 for 10% off).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7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1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0"/>
          <p:cNvSpPr/>
          <p:nvPr/>
        </p:nvSpPr>
        <p:spPr>
          <a:xfrm>
            <a:off x="-1828800" y="502920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5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Recursion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3"/>
          <p:cNvSpPr/>
          <p:nvPr/>
        </p:nvSpPr>
        <p:spPr>
          <a:xfrm>
            <a:off x="457200" y="1600200"/>
            <a:ext cx="11273400" cy="447948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4"/>
          <p:cNvSpPr/>
          <p:nvPr/>
        </p:nvSpPr>
        <p:spPr>
          <a:xfrm>
            <a:off x="822960" y="182880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5"/>
          <p:cNvSpPr/>
          <p:nvPr/>
        </p:nvSpPr>
        <p:spPr>
          <a:xfrm>
            <a:off x="822960" y="2423160"/>
            <a:ext cx="401400" cy="401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0" name="Image 1" descr="preencoded.png"/>
          <p:cNvPicPr/>
          <p:nvPr/>
        </p:nvPicPr>
        <p:blipFill>
          <a:blip r:embed="rId2"/>
          <a:stretch/>
        </p:blipFill>
        <p:spPr>
          <a:xfrm>
            <a:off x="887040" y="2487240"/>
            <a:ext cx="2822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1" name="Shape 6"/>
          <p:cNvSpPr/>
          <p:nvPr/>
        </p:nvSpPr>
        <p:spPr>
          <a:xfrm>
            <a:off x="1371600" y="2441520"/>
            <a:ext cx="401400" cy="364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7"/>
          <p:cNvSpPr/>
          <p:nvPr/>
        </p:nvSpPr>
        <p:spPr>
          <a:xfrm>
            <a:off x="1371600" y="2441520"/>
            <a:ext cx="401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8"/>
          <p:cNvSpPr/>
          <p:nvPr/>
        </p:nvSpPr>
        <p:spPr>
          <a:xfrm>
            <a:off x="1920240" y="2423160"/>
            <a:ext cx="950868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count_down(n) that prints every number from n down to 1, then prints "Liftoff!" — with a correct base case.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9"/>
          <p:cNvSpPr/>
          <p:nvPr/>
        </p:nvSpPr>
        <p:spPr>
          <a:xfrm>
            <a:off x="822960" y="3593520"/>
            <a:ext cx="401400" cy="401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5" name="Image 2" descr="preencoded.png"/>
          <p:cNvPicPr/>
          <p:nvPr/>
        </p:nvPicPr>
        <p:blipFill>
          <a:blip r:embed="rId3"/>
          <a:stretch/>
        </p:blipFill>
        <p:spPr>
          <a:xfrm>
            <a:off x="887040" y="3657600"/>
            <a:ext cx="2822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Shape 10"/>
          <p:cNvSpPr/>
          <p:nvPr/>
        </p:nvSpPr>
        <p:spPr>
          <a:xfrm>
            <a:off x="1371600" y="3611880"/>
            <a:ext cx="401400" cy="364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1"/>
          <p:cNvSpPr/>
          <p:nvPr/>
        </p:nvSpPr>
        <p:spPr>
          <a:xfrm>
            <a:off x="1371600" y="3611880"/>
            <a:ext cx="401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2"/>
          <p:cNvSpPr/>
          <p:nvPr/>
        </p:nvSpPr>
        <p:spPr>
          <a:xfrm>
            <a:off x="1920240" y="3593520"/>
            <a:ext cx="950868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sums every number in a nested list of unknown depth, e.g. [1, [2, 3, [4, 5]], 6] should return 21.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13"/>
          <p:cNvSpPr/>
          <p:nvPr/>
        </p:nvSpPr>
        <p:spPr>
          <a:xfrm>
            <a:off x="822960" y="4763880"/>
            <a:ext cx="401400" cy="401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0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22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1" name="Shape 14"/>
          <p:cNvSpPr/>
          <p:nvPr/>
        </p:nvSpPr>
        <p:spPr>
          <a:xfrm>
            <a:off x="1371600" y="4782240"/>
            <a:ext cx="401400" cy="364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15"/>
          <p:cNvSpPr/>
          <p:nvPr/>
        </p:nvSpPr>
        <p:spPr>
          <a:xfrm>
            <a:off x="1371600" y="4782240"/>
            <a:ext cx="401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16"/>
          <p:cNvSpPr/>
          <p:nvPr/>
        </p:nvSpPr>
        <p:spPr>
          <a:xfrm>
            <a:off x="1920240" y="4763880"/>
            <a:ext cx="950868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flatten(data) that takes a dictionary of unknown nesting depth and returns a single flat list of all its values.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17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1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Shape 0"/>
          <p:cNvSpPr/>
          <p:nvPr/>
        </p:nvSpPr>
        <p:spPr>
          <a:xfrm>
            <a:off x="-1828800" y="502920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8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9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C: Closures &amp; Decorators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3"/>
          <p:cNvSpPr/>
          <p:nvPr/>
        </p:nvSpPr>
        <p:spPr>
          <a:xfrm>
            <a:off x="457200" y="1600200"/>
            <a:ext cx="11273400" cy="447948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4"/>
          <p:cNvSpPr/>
          <p:nvPr/>
        </p:nvSpPr>
        <p:spPr>
          <a:xfrm>
            <a:off x="822960" y="182880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5"/>
          <p:cNvSpPr/>
          <p:nvPr/>
        </p:nvSpPr>
        <p:spPr>
          <a:xfrm>
            <a:off x="822960" y="2423160"/>
            <a:ext cx="401400" cy="401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3" name="Image 1" descr="preencoded.png"/>
          <p:cNvPicPr/>
          <p:nvPr/>
        </p:nvPicPr>
        <p:blipFill>
          <a:blip r:embed="rId2"/>
          <a:stretch/>
        </p:blipFill>
        <p:spPr>
          <a:xfrm>
            <a:off x="887040" y="2487240"/>
            <a:ext cx="2822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Shape 6"/>
          <p:cNvSpPr/>
          <p:nvPr/>
        </p:nvSpPr>
        <p:spPr>
          <a:xfrm>
            <a:off x="1371600" y="2441520"/>
            <a:ext cx="401400" cy="364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7"/>
          <p:cNvSpPr/>
          <p:nvPr/>
        </p:nvSpPr>
        <p:spPr>
          <a:xfrm>
            <a:off x="1371600" y="2441520"/>
            <a:ext cx="401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8"/>
          <p:cNvSpPr/>
          <p:nvPr/>
        </p:nvSpPr>
        <p:spPr>
          <a:xfrm>
            <a:off x="1920240" y="2423160"/>
            <a:ext cx="950868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make_validator(min_length) factory that returns a function checking whether a given password meets that minimum length.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9"/>
          <p:cNvSpPr/>
          <p:nvPr/>
        </p:nvSpPr>
        <p:spPr>
          <a:xfrm>
            <a:off x="822960" y="3593520"/>
            <a:ext cx="401400" cy="401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8" name="Image 2" descr="preencoded.png"/>
          <p:cNvPicPr/>
          <p:nvPr/>
        </p:nvPicPr>
        <p:blipFill>
          <a:blip r:embed="rId3"/>
          <a:stretch/>
        </p:blipFill>
        <p:spPr>
          <a:xfrm>
            <a:off x="887040" y="3657600"/>
            <a:ext cx="2822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Shape 10"/>
          <p:cNvSpPr/>
          <p:nvPr/>
        </p:nvSpPr>
        <p:spPr>
          <a:xfrm>
            <a:off x="1371600" y="3611880"/>
            <a:ext cx="401400" cy="364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11"/>
          <p:cNvSpPr/>
          <p:nvPr/>
        </p:nvSpPr>
        <p:spPr>
          <a:xfrm>
            <a:off x="1371600" y="3611880"/>
            <a:ext cx="401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12"/>
          <p:cNvSpPr/>
          <p:nvPr/>
        </p:nvSpPr>
        <p:spPr>
          <a:xfrm>
            <a:off x="1920240" y="3593520"/>
            <a:ext cx="950868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calculate_discount(price, pct) function, then rewrite it so an outer apply_tax(rate) closure wraps and adjusts its result.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13"/>
          <p:cNvSpPr/>
          <p:nvPr/>
        </p:nvSpPr>
        <p:spPr>
          <a:xfrm>
            <a:off x="822960" y="4763880"/>
            <a:ext cx="401400" cy="401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3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22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4" name="Shape 14"/>
          <p:cNvSpPr/>
          <p:nvPr/>
        </p:nvSpPr>
        <p:spPr>
          <a:xfrm>
            <a:off x="1371600" y="4782240"/>
            <a:ext cx="401400" cy="364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5"/>
          <p:cNvSpPr/>
          <p:nvPr/>
        </p:nvSpPr>
        <p:spPr>
          <a:xfrm>
            <a:off x="1371600" y="4782240"/>
            <a:ext cx="401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16"/>
          <p:cNvSpPr/>
          <p:nvPr/>
        </p:nvSpPr>
        <p:spPr>
          <a:xfrm>
            <a:off x="1920240" y="4763880"/>
            <a:ext cx="950868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decorator that catches and reports repeated calls — print how many times the wrapped function has been called, each time it runs.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17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1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2"/>
          <p:cNvSpPr/>
          <p:nvPr/>
        </p:nvSpPr>
        <p:spPr>
          <a:xfrm>
            <a:off x="559620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2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F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 5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Two projects combining flexible arguments, lambda, recursion, closures, and decorators into one cohesive task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Shape 0"/>
          <p:cNvSpPr/>
          <p:nvPr/>
        </p:nvSpPr>
        <p:spPr>
          <a:xfrm>
            <a:off x="10515600" y="5669280"/>
            <a:ext cx="3199320" cy="319932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0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1: Configurable Retry Decorator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3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4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Closure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decorator,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decorator factory retry(times) — called as @retry(3) — that re-runs the wrapped function up to that many times if it raises an exception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retry(times) is itself a closure: it takes times, and returns the actual decorator that remembers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*args and **kwargs in the inner wrapper so it works with any wrapped function, no matter its own arguments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genuinely how retry logic is built in real-world networking and API code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7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0"/>
          <p:cNvSpPr/>
          <p:nvPr/>
        </p:nvSpPr>
        <p:spPr>
          <a:xfrm>
            <a:off x="10515600" y="5669280"/>
            <a:ext cx="3199320" cy="319932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2: Recursive File-Tree Summary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4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Recursion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You’re given a nested dictionary representing folders and files, with unknown depth: {"src": {"main.py": 120, "utils": {"helpers.py": 45}}}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returns the total line count across every file, at every depth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Then write a second version that uses sorted() with a lambda to return the top 3 largest files by line count, across the whole tree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mirrors how real project-analysis and disk-usage tools are actually built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7"/>
          <p:cNvSpPr/>
          <p:nvPr/>
        </p:nvSpPr>
        <p:spPr>
          <a:xfrm>
            <a:off x="45720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2"/>
          <p:cNvSpPr/>
          <p:nvPr/>
        </p:nvSpPr>
        <p:spPr>
          <a:xfrm>
            <a:off x="559620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2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3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*args and **kwargs make functions flexible. Lambda, recursion, closures, and decorators make them powerful.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5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 session: Object-Oriented Programming — classes, objects, __init__, and inheritance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</TotalTime>
  <Application>LibreOffice/26.2.5.2$Linux_X86_64 LibreOffice_project/620$Build-2</Application>
  <AppVersion>15.0000</AppVersion>
  <Words>4657</Words>
  <Paragraphs>561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2026-08-14T05:41:50Z</dcterms:created>
  <dc:creator>PptxGenJS</dc:creator>
  <dc:description/>
  <dc:language>en-US</dc:language>
  <cp:lastModifiedBy/>
  <dcterms:modified xsi:type="dcterms:W3CDTF">2026-08-23T21:09:48Z</dcterms:modified>
  <cp:revision>17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48</vt:i4>
  </property>
  <property fmtid="{D5CDD505-2E9C-101B-9397-08002B2CF9AE}" pid="3" name="PresentationFormat">
    <vt:lpwstr>Widescreen</vt:lpwstr>
  </property>
  <property fmtid="{D5CDD505-2E9C-101B-9397-08002B2CF9AE}" pid="4" name="Slides">
    <vt:i4>48</vt:i4>
  </property>
</Properties>
</file>