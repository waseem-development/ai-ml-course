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29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34.xml" ContentType="application/vnd.openxmlformats-officedocument.presentationml.slide+xml"/>
  <Override PartName="/ppt/slides/slide36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38.xml" ContentType="application/vnd.openxmlformats-officedocument.presentationml.slide+xml"/>
  <Override PartName="/ppt/slides/slide18.xml" ContentType="application/vnd.openxmlformats-officedocument.presentationml.slide+xml"/>
  <Override PartName="/ppt/slides/slide41.xml" ContentType="application/vnd.openxmlformats-officedocument.presentationml.slide+xml"/>
  <Override PartName="/ppt/slides/slide4.xml" ContentType="application/vnd.openxmlformats-officedocument.presentationml.slide+xml"/>
  <Override PartName="/ppt/slides/slide47.xml" ContentType="application/vnd.openxmlformats-officedocument.presentationml.slide+xml"/>
  <Override PartName="/ppt/slides/slide37.xml" ContentType="application/vnd.openxmlformats-officedocument.presentationml.slide+xml"/>
  <Override PartName="/ppt/slides/slide16.xml" ContentType="application/vnd.openxmlformats-officedocument.presentationml.slide+xml"/>
  <Override PartName="/ppt/slides/slide40.xml" ContentType="application/vnd.openxmlformats-officedocument.presentationml.slide+xml"/>
  <Override PartName="/ppt/slides/slide2.xml" ContentType="application/vnd.openxmlformats-officedocument.presentationml.slide+xml"/>
  <Override PartName="/ppt/slides/slide23.xml" ContentType="application/vnd.openxmlformats-officedocument.presentationml.slide+xml"/>
  <Override PartName="/ppt/slides/slide5.xml" ContentType="application/vnd.openxmlformats-officedocument.presentationml.slide+xml"/>
  <Override PartName="/ppt/slides/slide20.xml" ContentType="application/vnd.openxmlformats-officedocument.presentationml.slide+xml"/>
  <Override PartName="/ppt/slides/slide27.xml" ContentType="application/vnd.openxmlformats-officedocument.presentationml.slide+xml"/>
  <Override PartName="/ppt/slides/slide46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45.xml" ContentType="application/vnd.openxmlformats-officedocument.presentationml.slide+xml"/>
  <Override PartName="/ppt/slides/slide32.xml" ContentType="application/vnd.openxmlformats-officedocument.presentationml.slide+xml"/>
  <Override PartName="/ppt/slides/slide48.xml" ContentType="application/vnd.openxmlformats-officedocument.presentationml.slide+xml"/>
  <Override PartName="/ppt/slides/slide39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24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42.xml" ContentType="application/vnd.openxmlformats-officedocument.presentationml.slide+xml"/>
  <Override PartName="/ppt/slides/slide12.xml" ContentType="application/vnd.openxmlformats-officedocument.presentationml.slide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2DD93C7-8C34-4698-B8AD-8B1DDCCE468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_rels/notesSlide46.xml.rels><?xml version="1.0" encoding="UTF-8"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
</Relationships>
</file>

<file path=ppt/notesSlides/_rels/notesSlide47.xml.rels><?xml version="1.0" encoding="UTF-8"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
</Relationships>
</file>

<file path=ppt/notesSlides/_rels/notesSlide48.xml.rels><?xml version="1.0" encoding="UTF-8"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5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DEFC95E-5133-4565-9181-D5852A3AF21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FA0FF23-801F-4918-BA0F-A42A1D4142D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1CF7AEB-E9C9-43BC-A94D-A25BBA53859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6E610A9-FBBD-4A7A-9C6D-6AB44C30E58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3F75BC5-ED9B-4A73-9B9C-DD6B761DCAA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D3484F8-F253-4C9E-ACE2-ECBDD14F37D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CD66B8D-A9B7-4210-A0AA-3B7FB053090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97AE784-4ABB-40DE-986E-823895E5739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D553A2B-0D40-4D39-B13F-367F8D6A6A2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AEF960A-FA49-492D-98FB-D05D427CC3F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8D8E1DE-7E21-4C0F-B60E-9B41632DF6F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A144376-FA3A-4F7D-B681-AECE852D71D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20698E7-D5BD-4A73-8CFC-18FD261515C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26928F7-D54F-429E-8F95-D5216194B72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1091714-7477-441B-A29C-4809FD5ED7D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4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F094BE1-7C19-4CC4-B7B5-F75D8120923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362A5D5-0345-4A4D-9A90-DD42D4CE018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90FF868-E882-4B11-954A-04F527E6920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414BE5E-07A5-435A-8302-C4CD6C8C0F9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31377A9-B6D3-477C-8B2E-20AA08827FC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160A416-872E-4AA0-A25A-D8CFB21420C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47384B2-BA5D-4EE6-81B2-38E1FF89402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7A54274-76D0-4390-8111-95714251C10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EDCDA7E-513E-4238-85AC-AD5FDC91F7E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5A5C8F5-29F8-4186-B0FC-BD9A7780ADE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4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D956381-0313-4E1F-BCCF-9D1E3348D30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A55C1FA-8F99-485F-A64F-5689C801E19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0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04B281A-6868-44EF-A43D-093914A3CF7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99D481C-5EE4-4534-8AB5-733AC4C821A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6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BB827B7-AC72-413A-BA0C-482DE2D744A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9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BC37696-131F-40BB-B856-6E59DD0779B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5F7D01C-2DAA-4732-A7E6-347BC244B2B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407CE63-1E56-41DA-A32E-685FCDCBF9B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7904AAD-E51B-42AE-95B0-1E1181B0906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7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AEDCE37-9DA6-4CDD-A29B-E5A59B58ADF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7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4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8C51D4D-2F99-406D-8783-5213B7B90EF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7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7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97530C5-5F8A-450A-8C47-4D638AC19B1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7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0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4030AFC-85AA-4EA8-8B44-71264C39570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7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748D9A0-2EAA-47D5-BA61-BF68F1C3CC6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7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6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009AAC9-74A3-459E-8B0A-5F7DA466B09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7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9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B739865-E62F-4B58-B830-9D0FD78F9D9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7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2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514FD75-EDB3-4953-BEFD-CD82DB14DBB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7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5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F4C1C02-B8A1-428E-90B6-73486E7C6CB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7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8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12B45AF-B785-4B21-B692-68B95A29D4B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7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BDB9593-520B-4711-870A-FA1EC2AEC94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7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4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A938FFE-5452-4DC5-A279-A1BA32285CA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7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7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05E49D8-5186-49A2-AC19-307219287F0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7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1F6CD20-02B6-49B7-88DC-DFE99FD3B76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4.png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8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6.png"/><Relationship Id="rId3" Type="http://schemas.openxmlformats.org/officeDocument/2006/relationships/image" Target="../media/image26.png"/><Relationship Id="rId4" Type="http://schemas.openxmlformats.org/officeDocument/2006/relationships/image" Target="../media/image2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26.png"/><Relationship Id="rId3" Type="http://schemas.openxmlformats.org/officeDocument/2006/relationships/image" Target="../media/image26.png"/><Relationship Id="rId4" Type="http://schemas.openxmlformats.org/officeDocument/2006/relationships/image" Target="../media/image2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26.png"/><Relationship Id="rId3" Type="http://schemas.openxmlformats.org/officeDocument/2006/relationships/image" Target="../media/image26.png"/><Relationship Id="rId4" Type="http://schemas.openxmlformats.org/officeDocument/2006/relationships/image" Target="../media/image2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8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-2286000" y="3657600"/>
            <a:ext cx="6399000" cy="639900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8229600" y="-2743200"/>
            <a:ext cx="6399000" cy="639900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5495400" y="914400"/>
            <a:ext cx="1186920" cy="118692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" name="Image 0" descr="preencoded.png"/>
          <p:cNvPicPr/>
          <p:nvPr/>
        </p:nvPicPr>
        <p:blipFill>
          <a:blip r:embed="rId1"/>
          <a:stretch/>
        </p:blipFill>
        <p:spPr>
          <a:xfrm>
            <a:off x="5678280" y="1097280"/>
            <a:ext cx="830160" cy="83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Text 3"/>
          <p:cNvSpPr/>
          <p:nvPr/>
        </p:nvSpPr>
        <p:spPr>
          <a:xfrm>
            <a:off x="914400" y="2377440"/>
            <a:ext cx="1035828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Advanced Functions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4"/>
          <p:cNvSpPr/>
          <p:nvPr/>
        </p:nvSpPr>
        <p:spPr>
          <a:xfrm>
            <a:off x="914400" y="3383280"/>
            <a:ext cx="103582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*args, **kwargs, Lambda, Recursion, Closures &amp; Decorators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5"/>
          <p:cNvSpPr/>
          <p:nvPr/>
        </p:nvSpPr>
        <p:spPr>
          <a:xfrm>
            <a:off x="914400" y="3977640"/>
            <a:ext cx="103582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Session 9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6"/>
          <p:cNvSpPr/>
          <p:nvPr/>
        </p:nvSpPr>
        <p:spPr>
          <a:xfrm>
            <a:off x="11521440" y="644652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457200" y="457200"/>
            <a:ext cx="638280" cy="63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400" cy="44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Text 1"/>
          <p:cNvSpPr/>
          <p:nvPr/>
        </p:nvSpPr>
        <p:spPr>
          <a:xfrm>
            <a:off x="1280160" y="457200"/>
            <a:ext cx="10422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What We're Covering Today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2"/>
          <p:cNvSpPr/>
          <p:nvPr/>
        </p:nvSpPr>
        <p:spPr>
          <a:xfrm>
            <a:off x="457200" y="1600200"/>
            <a:ext cx="11272680" cy="559800"/>
          </a:xfrm>
          <a:prstGeom prst="roundRect">
            <a:avLst>
              <a:gd name="adj" fmla="val 13023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3"/>
          <p:cNvSpPr/>
          <p:nvPr/>
        </p:nvSpPr>
        <p:spPr>
          <a:xfrm>
            <a:off x="685800" y="1707480"/>
            <a:ext cx="345600" cy="34560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" name="Image 1" descr="preencoded.png"/>
          <p:cNvPicPr/>
          <p:nvPr/>
        </p:nvPicPr>
        <p:blipFill>
          <a:blip r:embed="rId2"/>
          <a:stretch/>
        </p:blipFill>
        <p:spPr>
          <a:xfrm>
            <a:off x="758880" y="1780560"/>
            <a:ext cx="199440" cy="199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Text 4"/>
          <p:cNvSpPr/>
          <p:nvPr/>
        </p:nvSpPr>
        <p:spPr>
          <a:xfrm>
            <a:off x="1234440" y="1600200"/>
            <a:ext cx="10239480" cy="55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Flexible arguments — *args, **kwargs, and unpacking into a call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5"/>
          <p:cNvSpPr/>
          <p:nvPr/>
        </p:nvSpPr>
        <p:spPr>
          <a:xfrm>
            <a:off x="457200" y="2253240"/>
            <a:ext cx="11272680" cy="559800"/>
          </a:xfrm>
          <a:prstGeom prst="roundRect">
            <a:avLst>
              <a:gd name="adj" fmla="val 13023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6"/>
          <p:cNvSpPr/>
          <p:nvPr/>
        </p:nvSpPr>
        <p:spPr>
          <a:xfrm>
            <a:off x="685800" y="2360520"/>
            <a:ext cx="345600" cy="34560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" name="Image 2" descr="preencoded.png"/>
          <p:cNvPicPr/>
          <p:nvPr/>
        </p:nvPicPr>
        <p:blipFill>
          <a:blip r:embed="rId3"/>
          <a:stretch/>
        </p:blipFill>
        <p:spPr>
          <a:xfrm>
            <a:off x="758880" y="2433600"/>
            <a:ext cx="199440" cy="199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Text 7"/>
          <p:cNvSpPr/>
          <p:nvPr/>
        </p:nvSpPr>
        <p:spPr>
          <a:xfrm>
            <a:off x="1234440" y="2253240"/>
            <a:ext cx="10239480" cy="55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Lambda functions — short, anonymous, one-expression logic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8"/>
          <p:cNvSpPr/>
          <p:nvPr/>
        </p:nvSpPr>
        <p:spPr>
          <a:xfrm>
            <a:off x="457200" y="2906640"/>
            <a:ext cx="11272680" cy="559800"/>
          </a:xfrm>
          <a:prstGeom prst="roundRect">
            <a:avLst>
              <a:gd name="adj" fmla="val 13023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9"/>
          <p:cNvSpPr/>
          <p:nvPr/>
        </p:nvSpPr>
        <p:spPr>
          <a:xfrm>
            <a:off x="685800" y="3013560"/>
            <a:ext cx="345600" cy="34560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" name="Image 3" descr="preencoded.png"/>
          <p:cNvPicPr/>
          <p:nvPr/>
        </p:nvPicPr>
        <p:blipFill>
          <a:blip r:embed="rId4"/>
          <a:stretch/>
        </p:blipFill>
        <p:spPr>
          <a:xfrm>
            <a:off x="758880" y="3086640"/>
            <a:ext cx="199440" cy="199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Text 10"/>
          <p:cNvSpPr/>
          <p:nvPr/>
        </p:nvSpPr>
        <p:spPr>
          <a:xfrm>
            <a:off x="1234440" y="2906640"/>
            <a:ext cx="10239480" cy="55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Recursion — functions that call themselves, and when that’s the right tool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1"/>
          <p:cNvSpPr/>
          <p:nvPr/>
        </p:nvSpPr>
        <p:spPr>
          <a:xfrm>
            <a:off x="457200" y="3559680"/>
            <a:ext cx="11272680" cy="559800"/>
          </a:xfrm>
          <a:prstGeom prst="roundRect">
            <a:avLst>
              <a:gd name="adj" fmla="val 13023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2"/>
          <p:cNvSpPr/>
          <p:nvPr/>
        </p:nvSpPr>
        <p:spPr>
          <a:xfrm>
            <a:off x="685800" y="3666600"/>
            <a:ext cx="345600" cy="34560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" name="Image 4" descr="preencoded.png"/>
          <p:cNvPicPr/>
          <p:nvPr/>
        </p:nvPicPr>
        <p:blipFill>
          <a:blip r:embed="rId5"/>
          <a:stretch/>
        </p:blipFill>
        <p:spPr>
          <a:xfrm>
            <a:off x="758880" y="3740040"/>
            <a:ext cx="199440" cy="199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Text 13"/>
          <p:cNvSpPr/>
          <p:nvPr/>
        </p:nvSpPr>
        <p:spPr>
          <a:xfrm>
            <a:off x="1234440" y="3559680"/>
            <a:ext cx="10239480" cy="55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Closures — functions that remember the scope they were born in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4"/>
          <p:cNvSpPr/>
          <p:nvPr/>
        </p:nvSpPr>
        <p:spPr>
          <a:xfrm>
            <a:off x="457200" y="4212720"/>
            <a:ext cx="11272680" cy="559800"/>
          </a:xfrm>
          <a:prstGeom prst="roundRect">
            <a:avLst>
              <a:gd name="adj" fmla="val 13023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5"/>
          <p:cNvSpPr/>
          <p:nvPr/>
        </p:nvSpPr>
        <p:spPr>
          <a:xfrm>
            <a:off x="685800" y="4320000"/>
            <a:ext cx="345600" cy="34560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9" name="Image 5" descr="preencoded.png"/>
          <p:cNvPicPr/>
          <p:nvPr/>
        </p:nvPicPr>
        <p:blipFill>
          <a:blip r:embed="rId6"/>
          <a:stretch/>
        </p:blipFill>
        <p:spPr>
          <a:xfrm>
            <a:off x="758880" y="4393080"/>
            <a:ext cx="199440" cy="199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Text 16"/>
          <p:cNvSpPr/>
          <p:nvPr/>
        </p:nvSpPr>
        <p:spPr>
          <a:xfrm>
            <a:off x="1234440" y="4212720"/>
            <a:ext cx="10239480" cy="55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Decorators — wrapping one function’s behavior around another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17"/>
          <p:cNvSpPr/>
          <p:nvPr/>
        </p:nvSpPr>
        <p:spPr>
          <a:xfrm>
            <a:off x="457200" y="4865760"/>
            <a:ext cx="11272680" cy="559800"/>
          </a:xfrm>
          <a:prstGeom prst="roundRect">
            <a:avLst>
              <a:gd name="adj" fmla="val 13023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8"/>
          <p:cNvSpPr/>
          <p:nvPr/>
        </p:nvSpPr>
        <p:spPr>
          <a:xfrm>
            <a:off x="685800" y="4973040"/>
            <a:ext cx="345600" cy="34560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3" name="Image 6" descr="preencoded.png"/>
          <p:cNvPicPr/>
          <p:nvPr/>
        </p:nvPicPr>
        <p:blipFill>
          <a:blip r:embed="rId7"/>
          <a:stretch/>
        </p:blipFill>
        <p:spPr>
          <a:xfrm>
            <a:off x="758880" y="5046120"/>
            <a:ext cx="199440" cy="199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Text 19"/>
          <p:cNvSpPr/>
          <p:nvPr/>
        </p:nvSpPr>
        <p:spPr>
          <a:xfrm>
            <a:off x="1234440" y="4865760"/>
            <a:ext cx="10239480" cy="55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Today's tasks — industry-style, do-it-yourself practice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20"/>
          <p:cNvSpPr/>
          <p:nvPr/>
        </p:nvSpPr>
        <p:spPr>
          <a:xfrm>
            <a:off x="457200" y="5519160"/>
            <a:ext cx="11272680" cy="559800"/>
          </a:xfrm>
          <a:prstGeom prst="roundRect">
            <a:avLst>
              <a:gd name="adj" fmla="val 13023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1"/>
          <p:cNvSpPr/>
          <p:nvPr/>
        </p:nvSpPr>
        <p:spPr>
          <a:xfrm>
            <a:off x="685800" y="5626080"/>
            <a:ext cx="345600" cy="34560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7" name="Image 7" descr="preencoded.png"/>
          <p:cNvPicPr/>
          <p:nvPr/>
        </p:nvPicPr>
        <p:blipFill>
          <a:blip r:embed="rId8"/>
          <a:stretch/>
        </p:blipFill>
        <p:spPr>
          <a:xfrm>
            <a:off x="758880" y="5699160"/>
            <a:ext cx="199440" cy="199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Text 22"/>
          <p:cNvSpPr/>
          <p:nvPr/>
        </p:nvSpPr>
        <p:spPr>
          <a:xfrm>
            <a:off x="1234440" y="5519160"/>
            <a:ext cx="10239480" cy="55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Two mini projects combining everything from this session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3"/>
          <p:cNvSpPr/>
          <p:nvPr/>
        </p:nvSpPr>
        <p:spPr>
          <a:xfrm>
            <a:off x="457200" y="6446520"/>
            <a:ext cx="7313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Functions  ·  Session 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4"/>
          <p:cNvSpPr/>
          <p:nvPr/>
        </p:nvSpPr>
        <p:spPr>
          <a:xfrm>
            <a:off x="11521440" y="644652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0"/>
          <p:cNvSpPr/>
          <p:nvPr/>
        </p:nvSpPr>
        <p:spPr>
          <a:xfrm>
            <a:off x="-1828800" y="4114800"/>
            <a:ext cx="5484600" cy="548460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1"/>
          <p:cNvSpPr/>
          <p:nvPr/>
        </p:nvSpPr>
        <p:spPr>
          <a:xfrm>
            <a:off x="9601200" y="-2286000"/>
            <a:ext cx="5484600" cy="548460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2"/>
          <p:cNvSpPr/>
          <p:nvPr/>
        </p:nvSpPr>
        <p:spPr>
          <a:xfrm>
            <a:off x="5596200" y="731520"/>
            <a:ext cx="1004040" cy="100404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4" name="Image 0" descr="preencoded.png"/>
          <p:cNvPicPr/>
          <p:nvPr/>
        </p:nvPicPr>
        <p:blipFill>
          <a:blip r:embed="rId1"/>
          <a:stretch/>
        </p:blipFill>
        <p:spPr>
          <a:xfrm>
            <a:off x="5742360" y="877680"/>
            <a:ext cx="702360" cy="702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Text 3"/>
          <p:cNvSpPr/>
          <p:nvPr/>
        </p:nvSpPr>
        <p:spPr>
          <a:xfrm>
            <a:off x="914400" y="1965960"/>
            <a:ext cx="10358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PART 1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4"/>
          <p:cNvSpPr/>
          <p:nvPr/>
        </p:nvSpPr>
        <p:spPr>
          <a:xfrm>
            <a:off x="914400" y="2377440"/>
            <a:ext cx="10358280" cy="20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Flexible Arguments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5"/>
          <p:cNvSpPr/>
          <p:nvPr/>
        </p:nvSpPr>
        <p:spPr>
          <a:xfrm>
            <a:off x="1463040" y="4572000"/>
            <a:ext cx="9261000" cy="10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What happens when you don’t know how many values a function needs to accept?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6"/>
          <p:cNvSpPr/>
          <p:nvPr/>
        </p:nvSpPr>
        <p:spPr>
          <a:xfrm>
            <a:off x="11521440" y="644652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0"/>
          <p:cNvSpPr/>
          <p:nvPr/>
        </p:nvSpPr>
        <p:spPr>
          <a:xfrm>
            <a:off x="10515600" y="5669280"/>
            <a:ext cx="3198600" cy="3198600"/>
          </a:xfrm>
          <a:prstGeom prst="roundRect">
            <a:avLst>
              <a:gd name="adj" fmla="val 11429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1"/>
          <p:cNvSpPr/>
          <p:nvPr/>
        </p:nvSpPr>
        <p:spPr>
          <a:xfrm>
            <a:off x="457200" y="457200"/>
            <a:ext cx="638280" cy="63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1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400" cy="44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Text 2"/>
          <p:cNvSpPr/>
          <p:nvPr/>
        </p:nvSpPr>
        <p:spPr>
          <a:xfrm>
            <a:off x="1280160" y="457200"/>
            <a:ext cx="10422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The Problem With Fixed Parameters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3"/>
          <p:cNvSpPr/>
          <p:nvPr/>
        </p:nvSpPr>
        <p:spPr>
          <a:xfrm>
            <a:off x="457200" y="1554480"/>
            <a:ext cx="3655800" cy="4661640"/>
          </a:xfrm>
          <a:prstGeom prst="roundRect">
            <a:avLst>
              <a:gd name="adj" fmla="val 30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4"/>
          <p:cNvSpPr/>
          <p:nvPr/>
        </p:nvSpPr>
        <p:spPr>
          <a:xfrm>
            <a:off x="1508760" y="2194560"/>
            <a:ext cx="1552680" cy="1552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5" name="Image 1" descr="preencoded.png"/>
          <p:cNvPicPr/>
          <p:nvPr/>
        </p:nvPicPr>
        <p:blipFill>
          <a:blip r:embed="rId2"/>
          <a:stretch/>
        </p:blipFill>
        <p:spPr>
          <a:xfrm>
            <a:off x="1746360" y="2423160"/>
            <a:ext cx="1086480" cy="108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Text 5"/>
          <p:cNvSpPr/>
          <p:nvPr/>
        </p:nvSpPr>
        <p:spPr>
          <a:xfrm>
            <a:off x="640080" y="3977640"/>
            <a:ext cx="3290040" cy="17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Unknown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number of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inputs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6"/>
          <p:cNvSpPr/>
          <p:nvPr/>
        </p:nvSpPr>
        <p:spPr>
          <a:xfrm>
            <a:off x="4572000" y="1737360"/>
            <a:ext cx="7130520" cy="41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normal function locks in exactly how many arguments it accepts — def total(a, b, c) only ever takes three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But real functions often can’t know that in advance: a logger might get 1 message or 5, a total() might sum 2 numbers or 50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Adding a, b, c, d, e... parameters "just in case" doesn’t scale, and callers still hit a wall eventually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Python’s answer is *args and **kwargs — built-in ways to accept "as many as you give me"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7"/>
          <p:cNvSpPr/>
          <p:nvPr/>
        </p:nvSpPr>
        <p:spPr>
          <a:xfrm>
            <a:off x="457200" y="6446520"/>
            <a:ext cx="7313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Functions  ·  Session 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8"/>
          <p:cNvSpPr/>
          <p:nvPr/>
        </p:nvSpPr>
        <p:spPr>
          <a:xfrm>
            <a:off x="11521440" y="644652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0"/>
          <p:cNvSpPr/>
          <p:nvPr/>
        </p:nvSpPr>
        <p:spPr>
          <a:xfrm>
            <a:off x="457200" y="457200"/>
            <a:ext cx="638280" cy="63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1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400" cy="44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Text 1"/>
          <p:cNvSpPr/>
          <p:nvPr/>
        </p:nvSpPr>
        <p:spPr>
          <a:xfrm>
            <a:off x="1280160" y="457200"/>
            <a:ext cx="10422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*args — Any Number of Positional Arguments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"/>
          <p:cNvSpPr/>
          <p:nvPr/>
        </p:nvSpPr>
        <p:spPr>
          <a:xfrm>
            <a:off x="548640" y="1828800"/>
            <a:ext cx="4753080" cy="402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single * before a parameter name collects every extra positional argument into a tuple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"args" is just a convention — the * is what matters, not the name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Inside the function, args behaves like any other tuple — loop over it, index it, len() it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3"/>
          <p:cNvSpPr/>
          <p:nvPr/>
        </p:nvSpPr>
        <p:spPr>
          <a:xfrm>
            <a:off x="5486400" y="1691640"/>
            <a:ext cx="6216120" cy="434160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4"/>
          <p:cNvSpPr/>
          <p:nvPr/>
        </p:nvSpPr>
        <p:spPr>
          <a:xfrm>
            <a:off x="5806440" y="1965960"/>
            <a:ext cx="5576040" cy="37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def total(*args):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print(type(args))  </a:t>
            </a:r>
            <a:r>
              <a:rPr lang="en-US" sz="240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&lt;class 'tuple'&gt;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return sum(args)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total(4, 9)            </a:t>
            </a:r>
            <a:r>
              <a:rPr lang="en-US" sz="240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13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total(1, 2, 3, 4, 5)   </a:t>
            </a:r>
            <a:r>
              <a:rPr lang="en-US" sz="240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15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total()                </a:t>
            </a:r>
            <a:r>
              <a:rPr lang="en-US" sz="240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0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5"/>
          <p:cNvSpPr/>
          <p:nvPr/>
        </p:nvSpPr>
        <p:spPr>
          <a:xfrm>
            <a:off x="457200" y="6446520"/>
            <a:ext cx="7313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Functions  ·  Session 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6"/>
          <p:cNvSpPr/>
          <p:nvPr/>
        </p:nvSpPr>
        <p:spPr>
          <a:xfrm>
            <a:off x="11521440" y="644652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0"/>
          <p:cNvSpPr/>
          <p:nvPr/>
        </p:nvSpPr>
        <p:spPr>
          <a:xfrm>
            <a:off x="457200" y="457200"/>
            <a:ext cx="638280" cy="63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9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400" cy="44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Text 1"/>
          <p:cNvSpPr/>
          <p:nvPr/>
        </p:nvSpPr>
        <p:spPr>
          <a:xfrm>
            <a:off x="1280160" y="457200"/>
            <a:ext cx="10422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**kwargs — Any Number of Keyword Arguments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2"/>
          <p:cNvSpPr/>
          <p:nvPr/>
        </p:nvSpPr>
        <p:spPr>
          <a:xfrm>
            <a:off x="548640" y="1828800"/>
            <a:ext cx="4753080" cy="402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Two asterisks before a parameter name collect every extra keyword argument into a dictionary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Each caller-supplied name becomes a key, and the value they passed becomes that key’s value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is exactly how flexible config, settings, and options are usually handled in real APIs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3"/>
          <p:cNvSpPr/>
          <p:nvPr/>
        </p:nvSpPr>
        <p:spPr>
          <a:xfrm>
            <a:off x="5486400" y="1691640"/>
            <a:ext cx="6216120" cy="434160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4"/>
          <p:cNvSpPr/>
          <p:nvPr/>
        </p:nvSpPr>
        <p:spPr>
          <a:xfrm>
            <a:off x="5806440" y="1965960"/>
            <a:ext cx="5576040" cy="37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def build_profile(**kwargs):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print(type(kwargs))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&lt;class 'dict'&gt;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return kwargs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build_profile(name="Ahmed", age=25)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# {'name': 'Ahmed', 'age': 25}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build_profile(city="Karachi")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# {'city': 'Karachi'}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5"/>
          <p:cNvSpPr/>
          <p:nvPr/>
        </p:nvSpPr>
        <p:spPr>
          <a:xfrm>
            <a:off x="457200" y="6446520"/>
            <a:ext cx="7313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Functions  ·  Session 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6"/>
          <p:cNvSpPr/>
          <p:nvPr/>
        </p:nvSpPr>
        <p:spPr>
          <a:xfrm>
            <a:off x="11521440" y="644652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0"/>
          <p:cNvSpPr/>
          <p:nvPr/>
        </p:nvSpPr>
        <p:spPr>
          <a:xfrm>
            <a:off x="457200" y="457200"/>
            <a:ext cx="638280" cy="63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7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400" cy="44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Text 1"/>
          <p:cNvSpPr/>
          <p:nvPr/>
        </p:nvSpPr>
        <p:spPr>
          <a:xfrm>
            <a:off x="1280160" y="457200"/>
            <a:ext cx="10422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Combining Them — and the Order Python Requires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2"/>
          <p:cNvSpPr/>
          <p:nvPr/>
        </p:nvSpPr>
        <p:spPr>
          <a:xfrm>
            <a:off x="548640" y="1828800"/>
            <a:ext cx="4753080" cy="402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Regular parameters, *args, and **kwargs can all appear in one function — but only in this fixed order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Regular parameters first, then *args, then **kwargs — Python enforces this at definition time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Getting the order wrong is a SyntaxError, not a runtime bug — it’s caught before the code even runs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3"/>
          <p:cNvSpPr/>
          <p:nvPr/>
        </p:nvSpPr>
        <p:spPr>
          <a:xfrm>
            <a:off x="5486400" y="1691640"/>
            <a:ext cx="6216120" cy="434160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4"/>
          <p:cNvSpPr/>
          <p:nvPr/>
        </p:nvSpPr>
        <p:spPr>
          <a:xfrm>
            <a:off x="5806440" y="1965960"/>
            <a:ext cx="5576040" cy="37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def order(item, *args, **kwargs):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print(item)   </a:t>
            </a:r>
            <a:r>
              <a:rPr lang="en-US" sz="200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regular param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print(args)   </a:t>
            </a:r>
            <a:r>
              <a:rPr lang="en-US" sz="200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extra positional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print(kwargs) </a:t>
            </a:r>
            <a:r>
              <a:rPr lang="en-US" sz="200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extra keyword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order("book", "pen", "bag", price=50, qty=2)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# book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# ('pen', 'bag')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# {'price': 50, 'qty': 2}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5"/>
          <p:cNvSpPr/>
          <p:nvPr/>
        </p:nvSpPr>
        <p:spPr>
          <a:xfrm>
            <a:off x="457200" y="6446520"/>
            <a:ext cx="7313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Functions  ·  Session 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6"/>
          <p:cNvSpPr/>
          <p:nvPr/>
        </p:nvSpPr>
        <p:spPr>
          <a:xfrm>
            <a:off x="11521440" y="644652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0"/>
          <p:cNvSpPr/>
          <p:nvPr/>
        </p:nvSpPr>
        <p:spPr>
          <a:xfrm>
            <a:off x="457200" y="457200"/>
            <a:ext cx="638280" cy="63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5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400" cy="44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Text 1"/>
          <p:cNvSpPr/>
          <p:nvPr/>
        </p:nvSpPr>
        <p:spPr>
          <a:xfrm>
            <a:off x="1280160" y="457200"/>
            <a:ext cx="10422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Unpacking — Spreading a List or Dict Into a Call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2"/>
          <p:cNvSpPr/>
          <p:nvPr/>
        </p:nvSpPr>
        <p:spPr>
          <a:xfrm>
            <a:off x="548640" y="1828800"/>
            <a:ext cx="4753080" cy="402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* and ** also work in the other direction — spreading an existing list or dict out as separate arguments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*my_list unpacks each item as its own positional argument, in order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**my_dict unpacks each key as a keyword argument — the keys must match the function’s parameter names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3"/>
          <p:cNvSpPr/>
          <p:nvPr/>
        </p:nvSpPr>
        <p:spPr>
          <a:xfrm>
            <a:off x="5486400" y="1691640"/>
            <a:ext cx="6216120" cy="434160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4"/>
          <p:cNvSpPr/>
          <p:nvPr/>
        </p:nvSpPr>
        <p:spPr>
          <a:xfrm>
            <a:off x="5806440" y="1965960"/>
            <a:ext cx="5576040" cy="37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def greet(name, age):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print(f"{name} is {age}")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values = ["Ahmed", 25]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greet(*values)        </a:t>
            </a:r>
            <a:r>
              <a:rPr lang="en-US" sz="240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Ahmed is 25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info = {"name": "Sara", "age": 22}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greet(**info)         </a:t>
            </a:r>
            <a:r>
              <a:rPr lang="en-US" sz="240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Sara is 22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5"/>
          <p:cNvSpPr/>
          <p:nvPr/>
        </p:nvSpPr>
        <p:spPr>
          <a:xfrm>
            <a:off x="457200" y="6446520"/>
            <a:ext cx="7313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Functions  ·  Session 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6"/>
          <p:cNvSpPr/>
          <p:nvPr/>
        </p:nvSpPr>
        <p:spPr>
          <a:xfrm>
            <a:off x="11521440" y="644652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0"/>
          <p:cNvSpPr/>
          <p:nvPr/>
        </p:nvSpPr>
        <p:spPr>
          <a:xfrm>
            <a:off x="457200" y="457200"/>
            <a:ext cx="638280" cy="63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3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400" cy="44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Text 1"/>
          <p:cNvSpPr/>
          <p:nvPr/>
        </p:nvSpPr>
        <p:spPr>
          <a:xfrm>
            <a:off x="1280160" y="457200"/>
            <a:ext cx="10422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Real-World Use: A Flexible Logging Function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2"/>
          <p:cNvSpPr/>
          <p:nvPr/>
        </p:nvSpPr>
        <p:spPr>
          <a:xfrm>
            <a:off x="548640" y="1828800"/>
            <a:ext cx="4753080" cy="402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Production logging functions never know in advance how many pieces of context they’ll be given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*args lets the caller pass any number of message parts; **kwargs lets them attach any extra metadata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exact pattern — *args + **kwargs — is how most real logging, wrapper, and utility functions are built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3"/>
          <p:cNvSpPr/>
          <p:nvPr/>
        </p:nvSpPr>
        <p:spPr>
          <a:xfrm>
            <a:off x="5486400" y="1691640"/>
            <a:ext cx="6216120" cy="434160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4"/>
          <p:cNvSpPr/>
          <p:nvPr/>
        </p:nvSpPr>
        <p:spPr>
          <a:xfrm>
            <a:off x="5806440" y="1965960"/>
            <a:ext cx="5576040" cy="37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def log(level, *parts, **meta):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message = " ".join(str(p) for p in parts)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tags = ", ".join(f"{k}={v}" for k, v in meta.items())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print(f"[{level}] {message}  ({tags})")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log("INFO", "User", "logged in", user_id=42, ip="10.0.0.1")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# [INFO] User logged in  (user_id=42, ip=10.0.0.1)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5"/>
          <p:cNvSpPr/>
          <p:nvPr/>
        </p:nvSpPr>
        <p:spPr>
          <a:xfrm>
            <a:off x="457200" y="6446520"/>
            <a:ext cx="7313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Functions  ·  Session 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6"/>
          <p:cNvSpPr/>
          <p:nvPr/>
        </p:nvSpPr>
        <p:spPr>
          <a:xfrm>
            <a:off x="11521440" y="644652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0"/>
          <p:cNvSpPr/>
          <p:nvPr/>
        </p:nvSpPr>
        <p:spPr>
          <a:xfrm>
            <a:off x="-1828800" y="5029200"/>
            <a:ext cx="3655800" cy="365580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1"/>
          <p:cNvSpPr/>
          <p:nvPr/>
        </p:nvSpPr>
        <p:spPr>
          <a:xfrm>
            <a:off x="457200" y="457200"/>
            <a:ext cx="638280" cy="63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2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400" cy="44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Text 2"/>
          <p:cNvSpPr/>
          <p:nvPr/>
        </p:nvSpPr>
        <p:spPr>
          <a:xfrm>
            <a:off x="1280160" y="457200"/>
            <a:ext cx="10422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Practice Set — Flexible Arguments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3"/>
          <p:cNvSpPr/>
          <p:nvPr/>
        </p:nvSpPr>
        <p:spPr>
          <a:xfrm>
            <a:off x="457200" y="1600200"/>
            <a:ext cx="11272680" cy="4478760"/>
          </a:xfrm>
          <a:prstGeom prst="roundRect">
            <a:avLst>
              <a:gd name="adj" fmla="val 2449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4"/>
          <p:cNvSpPr/>
          <p:nvPr/>
        </p:nvSpPr>
        <p:spPr>
          <a:xfrm>
            <a:off x="822960" y="1828800"/>
            <a:ext cx="10513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Try these yourself first — no code shown, that's the point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5"/>
          <p:cNvSpPr/>
          <p:nvPr/>
        </p:nvSpPr>
        <p:spPr>
          <a:xfrm>
            <a:off x="822960" y="2423160"/>
            <a:ext cx="382320" cy="38232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6"/>
          <p:cNvSpPr/>
          <p:nvPr/>
        </p:nvSpPr>
        <p:spPr>
          <a:xfrm>
            <a:off x="822960" y="2423160"/>
            <a:ext cx="38232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7"/>
          <p:cNvSpPr/>
          <p:nvPr/>
        </p:nvSpPr>
        <p:spPr>
          <a:xfrm>
            <a:off x="1435680" y="2423160"/>
            <a:ext cx="958104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function multiply_all(*args) that multiplies every number passed to it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8"/>
          <p:cNvSpPr/>
          <p:nvPr/>
        </p:nvSpPr>
        <p:spPr>
          <a:xfrm>
            <a:off x="822960" y="3300840"/>
            <a:ext cx="382320" cy="38232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9"/>
          <p:cNvSpPr/>
          <p:nvPr/>
        </p:nvSpPr>
        <p:spPr>
          <a:xfrm>
            <a:off x="822960" y="3300840"/>
            <a:ext cx="38232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0"/>
          <p:cNvSpPr/>
          <p:nvPr/>
        </p:nvSpPr>
        <p:spPr>
          <a:xfrm>
            <a:off x="1435680" y="3300840"/>
            <a:ext cx="958104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function describe(**kwargs) that prints each key and value on its own line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11"/>
          <p:cNvSpPr/>
          <p:nvPr/>
        </p:nvSpPr>
        <p:spPr>
          <a:xfrm>
            <a:off x="822960" y="4178880"/>
            <a:ext cx="382320" cy="38232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2"/>
          <p:cNvSpPr/>
          <p:nvPr/>
        </p:nvSpPr>
        <p:spPr>
          <a:xfrm>
            <a:off x="822960" y="4178880"/>
            <a:ext cx="38232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3"/>
          <p:cNvSpPr/>
          <p:nvPr/>
        </p:nvSpPr>
        <p:spPr>
          <a:xfrm>
            <a:off x="1435680" y="4178880"/>
            <a:ext cx="958104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Combine both: a function that takes a required name, then any number of hobbies, then any number of extra facts as keywords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14"/>
          <p:cNvSpPr/>
          <p:nvPr/>
        </p:nvSpPr>
        <p:spPr>
          <a:xfrm>
            <a:off x="822960" y="5056560"/>
            <a:ext cx="382320" cy="38232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5"/>
          <p:cNvSpPr/>
          <p:nvPr/>
        </p:nvSpPr>
        <p:spPr>
          <a:xfrm>
            <a:off x="822960" y="5056560"/>
            <a:ext cx="38232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6"/>
          <p:cNvSpPr/>
          <p:nvPr/>
        </p:nvSpPr>
        <p:spPr>
          <a:xfrm>
            <a:off x="1435680" y="5056560"/>
            <a:ext cx="958104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Take an existing list of 3 numbers and unpack it into a function that expects three separate arguments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7"/>
          <p:cNvSpPr/>
          <p:nvPr/>
        </p:nvSpPr>
        <p:spPr>
          <a:xfrm>
            <a:off x="457200" y="6446520"/>
            <a:ext cx="7313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Functions  ·  Session 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8"/>
          <p:cNvSpPr/>
          <p:nvPr/>
        </p:nvSpPr>
        <p:spPr>
          <a:xfrm>
            <a:off x="11521440" y="644652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0"/>
          <p:cNvSpPr/>
          <p:nvPr/>
        </p:nvSpPr>
        <p:spPr>
          <a:xfrm>
            <a:off x="-1828800" y="4114800"/>
            <a:ext cx="5484600" cy="548460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"/>
          <p:cNvSpPr/>
          <p:nvPr/>
        </p:nvSpPr>
        <p:spPr>
          <a:xfrm>
            <a:off x="9601200" y="-2286000"/>
            <a:ext cx="5484600" cy="548460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2"/>
          <p:cNvSpPr/>
          <p:nvPr/>
        </p:nvSpPr>
        <p:spPr>
          <a:xfrm>
            <a:off x="5596200" y="731520"/>
            <a:ext cx="1004040" cy="100404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3" name="Image 0" descr="preencoded.png"/>
          <p:cNvPicPr/>
          <p:nvPr/>
        </p:nvPicPr>
        <p:blipFill>
          <a:blip r:embed="rId1"/>
          <a:stretch/>
        </p:blipFill>
        <p:spPr>
          <a:xfrm>
            <a:off x="5742360" y="877680"/>
            <a:ext cx="702360" cy="702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Text 3"/>
          <p:cNvSpPr/>
          <p:nvPr/>
        </p:nvSpPr>
        <p:spPr>
          <a:xfrm>
            <a:off x="914400" y="1965960"/>
            <a:ext cx="10358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PART 2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4"/>
          <p:cNvSpPr/>
          <p:nvPr/>
        </p:nvSpPr>
        <p:spPr>
          <a:xfrm>
            <a:off x="914400" y="2377440"/>
            <a:ext cx="10358280" cy="20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Lambda Functions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5"/>
          <p:cNvSpPr/>
          <p:nvPr/>
        </p:nvSpPr>
        <p:spPr>
          <a:xfrm>
            <a:off x="1463040" y="4572000"/>
            <a:ext cx="9261000" cy="10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Sometimes a function is so small it doesn’t deserve a name — or a def block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6"/>
          <p:cNvSpPr/>
          <p:nvPr/>
        </p:nvSpPr>
        <p:spPr>
          <a:xfrm>
            <a:off x="11521440" y="644652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0"/>
          <p:cNvSpPr/>
          <p:nvPr/>
        </p:nvSpPr>
        <p:spPr>
          <a:xfrm>
            <a:off x="10515600" y="5669280"/>
            <a:ext cx="3198600" cy="3198600"/>
          </a:xfrm>
          <a:prstGeom prst="roundRect">
            <a:avLst>
              <a:gd name="adj" fmla="val 11429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1"/>
          <p:cNvSpPr/>
          <p:nvPr/>
        </p:nvSpPr>
        <p:spPr>
          <a:xfrm>
            <a:off x="457200" y="457200"/>
            <a:ext cx="638280" cy="63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0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400" cy="44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Text 2"/>
          <p:cNvSpPr/>
          <p:nvPr/>
        </p:nvSpPr>
        <p:spPr>
          <a:xfrm>
            <a:off x="1280160" y="457200"/>
            <a:ext cx="10422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What Is a Lambda?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3"/>
          <p:cNvSpPr/>
          <p:nvPr/>
        </p:nvSpPr>
        <p:spPr>
          <a:xfrm>
            <a:off x="457200" y="1554480"/>
            <a:ext cx="3655800" cy="4661640"/>
          </a:xfrm>
          <a:prstGeom prst="roundRect">
            <a:avLst>
              <a:gd name="adj" fmla="val 30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4"/>
          <p:cNvSpPr/>
          <p:nvPr/>
        </p:nvSpPr>
        <p:spPr>
          <a:xfrm>
            <a:off x="1508760" y="2194560"/>
            <a:ext cx="1552680" cy="1552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4" name="Image 1" descr="preencoded.png"/>
          <p:cNvPicPr/>
          <p:nvPr/>
        </p:nvPicPr>
        <p:blipFill>
          <a:blip r:embed="rId2"/>
          <a:stretch/>
        </p:blipFill>
        <p:spPr>
          <a:xfrm>
            <a:off x="1746360" y="2423160"/>
            <a:ext cx="1086480" cy="108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Text 5"/>
          <p:cNvSpPr/>
          <p:nvPr/>
        </p:nvSpPr>
        <p:spPr>
          <a:xfrm>
            <a:off x="640080" y="3977640"/>
            <a:ext cx="3290040" cy="17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One line.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One value.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No name.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6"/>
          <p:cNvSpPr/>
          <p:nvPr/>
        </p:nvSpPr>
        <p:spPr>
          <a:xfrm>
            <a:off x="4572000" y="1737360"/>
            <a:ext cx="7130520" cy="41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lambda is a small, anonymous function — defined and used in a single expression, with no def and no function name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lambda x: x * 2 is a complete function — it takes x, and its result is whatever the expression evaluates to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There’s no return keyword — the expression’s value is automatically returned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Lambdas exist for one purpose: to hand a tiny, throwaway function to something else that expects one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7"/>
          <p:cNvSpPr/>
          <p:nvPr/>
        </p:nvSpPr>
        <p:spPr>
          <a:xfrm>
            <a:off x="457200" y="6446520"/>
            <a:ext cx="7313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Functions  ·  Session 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8"/>
          <p:cNvSpPr/>
          <p:nvPr/>
        </p:nvSpPr>
        <p:spPr>
          <a:xfrm>
            <a:off x="11521440" y="644652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0"/>
          <p:cNvSpPr/>
          <p:nvPr/>
        </p:nvSpPr>
        <p:spPr>
          <a:xfrm>
            <a:off x="457200" y="457200"/>
            <a:ext cx="638280" cy="63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0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400" cy="44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Text 1"/>
          <p:cNvSpPr/>
          <p:nvPr/>
        </p:nvSpPr>
        <p:spPr>
          <a:xfrm>
            <a:off x="1280160" y="457200"/>
            <a:ext cx="10422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Lambda vs. def — When Each Is the Right Choice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2"/>
          <p:cNvSpPr/>
          <p:nvPr/>
        </p:nvSpPr>
        <p:spPr>
          <a:xfrm>
            <a:off x="457200" y="1645920"/>
            <a:ext cx="5347440" cy="4478760"/>
          </a:xfrm>
          <a:prstGeom prst="roundRect">
            <a:avLst>
              <a:gd name="adj" fmla="val 204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3"/>
          <p:cNvSpPr/>
          <p:nvPr/>
        </p:nvSpPr>
        <p:spPr>
          <a:xfrm>
            <a:off x="731520" y="1874520"/>
            <a:ext cx="455400" cy="45540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4" name="Image 1" descr="preencoded.png"/>
          <p:cNvPicPr/>
          <p:nvPr/>
        </p:nvPicPr>
        <p:blipFill>
          <a:blip r:embed="rId2"/>
          <a:stretch/>
        </p:blipFill>
        <p:spPr>
          <a:xfrm>
            <a:off x="804600" y="1938600"/>
            <a:ext cx="318240" cy="31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Text 4"/>
          <p:cNvSpPr/>
          <p:nvPr/>
        </p:nvSpPr>
        <p:spPr>
          <a:xfrm>
            <a:off x="1325880" y="1874520"/>
            <a:ext cx="43416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Use lambda when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5"/>
          <p:cNvSpPr/>
          <p:nvPr/>
        </p:nvSpPr>
        <p:spPr>
          <a:xfrm>
            <a:off x="731520" y="2514600"/>
            <a:ext cx="4798800" cy="338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001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logic is one simple expression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001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You’re passing it directly as an argument (to sorted(), map(), filter()...)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001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It will never be reused or called by name elsewhere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001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Naming it would add a line without adding clarity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6"/>
          <p:cNvSpPr/>
          <p:nvPr/>
        </p:nvSpPr>
        <p:spPr>
          <a:xfrm>
            <a:off x="6172200" y="1645920"/>
            <a:ext cx="5347440" cy="4478760"/>
          </a:xfrm>
          <a:prstGeom prst="roundRect">
            <a:avLst>
              <a:gd name="adj" fmla="val 204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7"/>
          <p:cNvSpPr/>
          <p:nvPr/>
        </p:nvSpPr>
        <p:spPr>
          <a:xfrm>
            <a:off x="6446520" y="1874520"/>
            <a:ext cx="455400" cy="45540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9" name="Image 2" descr="preencoded.png"/>
          <p:cNvPicPr/>
          <p:nvPr/>
        </p:nvPicPr>
        <p:blipFill>
          <a:blip r:embed="rId3"/>
          <a:stretch/>
        </p:blipFill>
        <p:spPr>
          <a:xfrm>
            <a:off x="6519600" y="1938600"/>
            <a:ext cx="318240" cy="31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Text 8"/>
          <p:cNvSpPr/>
          <p:nvPr/>
        </p:nvSpPr>
        <p:spPr>
          <a:xfrm>
            <a:off x="7040880" y="1874520"/>
            <a:ext cx="43416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Use def when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9"/>
          <p:cNvSpPr/>
          <p:nvPr/>
        </p:nvSpPr>
        <p:spPr>
          <a:xfrm>
            <a:off x="6446520" y="2514600"/>
            <a:ext cx="4798800" cy="338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001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logic needs more than one expression, or any statements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001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You’ll call it more than once, from more than one place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001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descriptive name would make the code easier to read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001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It needs a docstring, type hints, or error handling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0"/>
          <p:cNvSpPr/>
          <p:nvPr/>
        </p:nvSpPr>
        <p:spPr>
          <a:xfrm>
            <a:off x="457200" y="6446520"/>
            <a:ext cx="7313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Functions  ·  Session 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1"/>
          <p:cNvSpPr/>
          <p:nvPr/>
        </p:nvSpPr>
        <p:spPr>
          <a:xfrm>
            <a:off x="11521440" y="644652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0"/>
          <p:cNvSpPr/>
          <p:nvPr/>
        </p:nvSpPr>
        <p:spPr>
          <a:xfrm>
            <a:off x="457200" y="457200"/>
            <a:ext cx="638280" cy="63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5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400" cy="44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Text 1"/>
          <p:cNvSpPr/>
          <p:nvPr/>
        </p:nvSpPr>
        <p:spPr>
          <a:xfrm>
            <a:off x="1280160" y="457200"/>
            <a:ext cx="10422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Lambda + sorted() — A Perfect Pairing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2"/>
          <p:cNvSpPr/>
          <p:nvPr/>
        </p:nvSpPr>
        <p:spPr>
          <a:xfrm>
            <a:off x="548640" y="1828800"/>
            <a:ext cx="4753080" cy="402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sorted() accepts a key= function that tells it what to sort by — exactly what lambda is built for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Compare this to writing a full, separately-named function just to sort a dictionary by value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For a one-off sort key, the lambda version is shorter and just as clear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3"/>
          <p:cNvSpPr/>
          <p:nvPr/>
        </p:nvSpPr>
        <p:spPr>
          <a:xfrm>
            <a:off x="5486400" y="1691640"/>
            <a:ext cx="6216120" cy="434160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4"/>
          <p:cNvSpPr/>
          <p:nvPr/>
        </p:nvSpPr>
        <p:spPr>
          <a:xfrm>
            <a:off x="5806440" y="1965960"/>
            <a:ext cx="5576040" cy="37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scores = {"Ahmed": 88, "Sara": 95, "Ali": 72}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# Old way: a full named function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def by_value(pair):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return pair[1]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sorted(scores.items(), key=by_value)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# With lambda — same result, one line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sorted(scores.items(), key=lambda pair: pair[1])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# [('Ali', 72), ('Ahmed', 88), ('Sara', 95)]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5"/>
          <p:cNvSpPr/>
          <p:nvPr/>
        </p:nvSpPr>
        <p:spPr>
          <a:xfrm>
            <a:off x="457200" y="6446520"/>
            <a:ext cx="7313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Functions  ·  Session 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6"/>
          <p:cNvSpPr/>
          <p:nvPr/>
        </p:nvSpPr>
        <p:spPr>
          <a:xfrm>
            <a:off x="11521440" y="644652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0"/>
          <p:cNvSpPr/>
          <p:nvPr/>
        </p:nvSpPr>
        <p:spPr>
          <a:xfrm>
            <a:off x="457200" y="457200"/>
            <a:ext cx="638280" cy="63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3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400" cy="44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4" name="Text 1"/>
          <p:cNvSpPr/>
          <p:nvPr/>
        </p:nvSpPr>
        <p:spPr>
          <a:xfrm>
            <a:off x="1280160" y="457200"/>
            <a:ext cx="10422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Lambda + map() and filter()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2"/>
          <p:cNvSpPr/>
          <p:nvPr/>
        </p:nvSpPr>
        <p:spPr>
          <a:xfrm>
            <a:off x="548640" y="1828800"/>
            <a:ext cx="4753080" cy="402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map() applies a function to every item in a sequence and returns the transformed results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filter() applies a function that returns True/False, and keeps only the items that pass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Both expect a function as their first argument — lambda supplies it inline, without a separate def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3"/>
          <p:cNvSpPr/>
          <p:nvPr/>
        </p:nvSpPr>
        <p:spPr>
          <a:xfrm>
            <a:off x="5486400" y="1691640"/>
            <a:ext cx="6216120" cy="434160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4"/>
          <p:cNvSpPr/>
          <p:nvPr/>
        </p:nvSpPr>
        <p:spPr>
          <a:xfrm>
            <a:off x="5806440" y="1965960"/>
            <a:ext cx="5576040" cy="37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nums = [1, 2, 3, 4, 5, 6]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doubled = list(map(lambda n: n * 2, nums))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7C8A80"/>
                </a:solidFill>
                <a:effectLst/>
                <a:uFillTx/>
                <a:latin typeface="Consolas"/>
                <a:ea typeface="Consolas"/>
              </a:rPr>
              <a:t># [2, 4, 6, 8, 10, 12]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evens = list(filter(lambda n: n % 2 == 0, nums))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7C8A80"/>
                </a:solidFill>
                <a:effectLst/>
                <a:uFillTx/>
                <a:latin typeface="Consolas"/>
                <a:ea typeface="Consolas"/>
              </a:rPr>
              <a:t># [2, 4, 6]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5"/>
          <p:cNvSpPr/>
          <p:nvPr/>
        </p:nvSpPr>
        <p:spPr>
          <a:xfrm>
            <a:off x="457200" y="6446520"/>
            <a:ext cx="7313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Functions  ·  Session 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6"/>
          <p:cNvSpPr/>
          <p:nvPr/>
        </p:nvSpPr>
        <p:spPr>
          <a:xfrm>
            <a:off x="11521440" y="644652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0"/>
          <p:cNvSpPr/>
          <p:nvPr/>
        </p:nvSpPr>
        <p:spPr>
          <a:xfrm>
            <a:off x="10515600" y="5669280"/>
            <a:ext cx="3198600" cy="3198600"/>
          </a:xfrm>
          <a:prstGeom prst="roundRect">
            <a:avLst>
              <a:gd name="adj" fmla="val 11429"/>
            </a:avLst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1"/>
          <p:cNvSpPr/>
          <p:nvPr/>
        </p:nvSpPr>
        <p:spPr>
          <a:xfrm>
            <a:off x="457200" y="457200"/>
            <a:ext cx="638280" cy="63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2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400" cy="44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3" name="Text 2"/>
          <p:cNvSpPr/>
          <p:nvPr/>
        </p:nvSpPr>
        <p:spPr>
          <a:xfrm>
            <a:off x="1280160" y="457200"/>
            <a:ext cx="10422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When NOT to Use Lambda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3"/>
          <p:cNvSpPr/>
          <p:nvPr/>
        </p:nvSpPr>
        <p:spPr>
          <a:xfrm>
            <a:off x="457200" y="1554480"/>
            <a:ext cx="3655800" cy="4661640"/>
          </a:xfrm>
          <a:prstGeom prst="roundRect">
            <a:avLst>
              <a:gd name="adj" fmla="val 3000"/>
            </a:avLst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4"/>
          <p:cNvSpPr/>
          <p:nvPr/>
        </p:nvSpPr>
        <p:spPr>
          <a:xfrm>
            <a:off x="1508760" y="2194560"/>
            <a:ext cx="1552680" cy="1552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6" name="Image 1" descr="preencoded.png"/>
          <p:cNvPicPr/>
          <p:nvPr/>
        </p:nvPicPr>
        <p:blipFill>
          <a:blip r:embed="rId2"/>
          <a:stretch/>
        </p:blipFill>
        <p:spPr>
          <a:xfrm>
            <a:off x="1746360" y="2423160"/>
            <a:ext cx="1086480" cy="108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7" name="Text 5"/>
          <p:cNvSpPr/>
          <p:nvPr/>
        </p:nvSpPr>
        <p:spPr>
          <a:xfrm>
            <a:off x="640080" y="3977640"/>
            <a:ext cx="3290040" cy="17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Readable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code beats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clever code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6"/>
          <p:cNvSpPr/>
          <p:nvPr/>
        </p:nvSpPr>
        <p:spPr>
          <a:xfrm>
            <a:off x="4572000" y="1737360"/>
            <a:ext cx="7130520" cy="41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If a lambda needs a comment to explain what it does, it should be a named function instead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Chaining multiple lambdas together, or nesting them, is a common real-world code-review flag — it hurts readability fast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If the same logic is used in more than one place, give it a name — a lambda can’t be reused cleanly or documented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Professional teams treat "would this be clearer as a def?" as the actual test — not "can I fit it on one line?"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7"/>
          <p:cNvSpPr/>
          <p:nvPr/>
        </p:nvSpPr>
        <p:spPr>
          <a:xfrm>
            <a:off x="457200" y="6446520"/>
            <a:ext cx="7313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Functions  ·  Session 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8"/>
          <p:cNvSpPr/>
          <p:nvPr/>
        </p:nvSpPr>
        <p:spPr>
          <a:xfrm>
            <a:off x="11521440" y="644652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hape 0"/>
          <p:cNvSpPr/>
          <p:nvPr/>
        </p:nvSpPr>
        <p:spPr>
          <a:xfrm>
            <a:off x="-1828800" y="5029200"/>
            <a:ext cx="3655800" cy="365580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1"/>
          <p:cNvSpPr/>
          <p:nvPr/>
        </p:nvSpPr>
        <p:spPr>
          <a:xfrm>
            <a:off x="457200" y="457200"/>
            <a:ext cx="638280" cy="63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3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400" cy="44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4" name="Text 2"/>
          <p:cNvSpPr/>
          <p:nvPr/>
        </p:nvSpPr>
        <p:spPr>
          <a:xfrm>
            <a:off x="1280160" y="457200"/>
            <a:ext cx="10422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Practice Set — Lambda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3"/>
          <p:cNvSpPr/>
          <p:nvPr/>
        </p:nvSpPr>
        <p:spPr>
          <a:xfrm>
            <a:off x="457200" y="1600200"/>
            <a:ext cx="11272680" cy="4478760"/>
          </a:xfrm>
          <a:prstGeom prst="roundRect">
            <a:avLst>
              <a:gd name="adj" fmla="val 2449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4"/>
          <p:cNvSpPr/>
          <p:nvPr/>
        </p:nvSpPr>
        <p:spPr>
          <a:xfrm>
            <a:off x="822960" y="1828800"/>
            <a:ext cx="10513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Try these yourself first — no code shown, that's the point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5"/>
          <p:cNvSpPr/>
          <p:nvPr/>
        </p:nvSpPr>
        <p:spPr>
          <a:xfrm>
            <a:off x="822960" y="2423160"/>
            <a:ext cx="382320" cy="38232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6"/>
          <p:cNvSpPr/>
          <p:nvPr/>
        </p:nvSpPr>
        <p:spPr>
          <a:xfrm>
            <a:off x="822960" y="2423160"/>
            <a:ext cx="38232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7"/>
          <p:cNvSpPr/>
          <p:nvPr/>
        </p:nvSpPr>
        <p:spPr>
          <a:xfrm>
            <a:off x="1435680" y="2423160"/>
            <a:ext cx="958104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lambda that takes a number and returns whether it’s greater than 10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8"/>
          <p:cNvSpPr/>
          <p:nvPr/>
        </p:nvSpPr>
        <p:spPr>
          <a:xfrm>
            <a:off x="822960" y="3300840"/>
            <a:ext cx="382320" cy="38232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9"/>
          <p:cNvSpPr/>
          <p:nvPr/>
        </p:nvSpPr>
        <p:spPr>
          <a:xfrm>
            <a:off x="822960" y="3300840"/>
            <a:ext cx="38232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0"/>
          <p:cNvSpPr/>
          <p:nvPr/>
        </p:nvSpPr>
        <p:spPr>
          <a:xfrm>
            <a:off x="1435680" y="3300840"/>
            <a:ext cx="958104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 sorted() with a lambda to sort a list of names by their length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11"/>
          <p:cNvSpPr/>
          <p:nvPr/>
        </p:nvSpPr>
        <p:spPr>
          <a:xfrm>
            <a:off x="822960" y="4178880"/>
            <a:ext cx="382320" cy="38232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2"/>
          <p:cNvSpPr/>
          <p:nvPr/>
        </p:nvSpPr>
        <p:spPr>
          <a:xfrm>
            <a:off x="822960" y="4178880"/>
            <a:ext cx="38232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3"/>
          <p:cNvSpPr/>
          <p:nvPr/>
        </p:nvSpPr>
        <p:spPr>
          <a:xfrm>
            <a:off x="1435680" y="4178880"/>
            <a:ext cx="958104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 map() with a lambda to convert a list of Celsius temperatures to Fahrenheit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14"/>
          <p:cNvSpPr/>
          <p:nvPr/>
        </p:nvSpPr>
        <p:spPr>
          <a:xfrm>
            <a:off x="822960" y="5056560"/>
            <a:ext cx="382320" cy="38232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5"/>
          <p:cNvSpPr/>
          <p:nvPr/>
        </p:nvSpPr>
        <p:spPr>
          <a:xfrm>
            <a:off x="822960" y="5056560"/>
            <a:ext cx="38232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6"/>
          <p:cNvSpPr/>
          <p:nvPr/>
        </p:nvSpPr>
        <p:spPr>
          <a:xfrm>
            <a:off x="1435680" y="5056560"/>
            <a:ext cx="958104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 filter() with a lambda to keep only the words longer than 4 characters from a sentence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7"/>
          <p:cNvSpPr/>
          <p:nvPr/>
        </p:nvSpPr>
        <p:spPr>
          <a:xfrm>
            <a:off x="457200" y="6446520"/>
            <a:ext cx="7313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Functions  ·  Session 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8"/>
          <p:cNvSpPr/>
          <p:nvPr/>
        </p:nvSpPr>
        <p:spPr>
          <a:xfrm>
            <a:off x="11521440" y="644652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Shape 0"/>
          <p:cNvSpPr/>
          <p:nvPr/>
        </p:nvSpPr>
        <p:spPr>
          <a:xfrm>
            <a:off x="-1828800" y="4114800"/>
            <a:ext cx="5484600" cy="548460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1"/>
          <p:cNvSpPr/>
          <p:nvPr/>
        </p:nvSpPr>
        <p:spPr>
          <a:xfrm>
            <a:off x="9601200" y="-2286000"/>
            <a:ext cx="5484600" cy="548460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2"/>
          <p:cNvSpPr/>
          <p:nvPr/>
        </p:nvSpPr>
        <p:spPr>
          <a:xfrm>
            <a:off x="5596200" y="731520"/>
            <a:ext cx="1004040" cy="100404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4" name="Image 0" descr="preencoded.png"/>
          <p:cNvPicPr/>
          <p:nvPr/>
        </p:nvPicPr>
        <p:blipFill>
          <a:blip r:embed="rId1"/>
          <a:stretch/>
        </p:blipFill>
        <p:spPr>
          <a:xfrm>
            <a:off x="5742360" y="877680"/>
            <a:ext cx="702360" cy="702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5" name="Text 3"/>
          <p:cNvSpPr/>
          <p:nvPr/>
        </p:nvSpPr>
        <p:spPr>
          <a:xfrm>
            <a:off x="914400" y="1965960"/>
            <a:ext cx="10358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PART 3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4"/>
          <p:cNvSpPr/>
          <p:nvPr/>
        </p:nvSpPr>
        <p:spPr>
          <a:xfrm>
            <a:off x="914400" y="2377440"/>
            <a:ext cx="10358280" cy="20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Recursion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5"/>
          <p:cNvSpPr/>
          <p:nvPr/>
        </p:nvSpPr>
        <p:spPr>
          <a:xfrm>
            <a:off x="1463040" y="4572000"/>
            <a:ext cx="9261000" cy="10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A function that solves a problem by asking a smaller version of itself to help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6"/>
          <p:cNvSpPr/>
          <p:nvPr/>
        </p:nvSpPr>
        <p:spPr>
          <a:xfrm>
            <a:off x="11521440" y="644652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18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0"/>
          <p:cNvSpPr/>
          <p:nvPr/>
        </p:nvSpPr>
        <p:spPr>
          <a:xfrm>
            <a:off x="10515600" y="5669280"/>
            <a:ext cx="3198600" cy="3198600"/>
          </a:xfrm>
          <a:prstGeom prst="roundRect">
            <a:avLst>
              <a:gd name="adj" fmla="val 11429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1"/>
          <p:cNvSpPr/>
          <p:nvPr/>
        </p:nvSpPr>
        <p:spPr>
          <a:xfrm>
            <a:off x="457200" y="457200"/>
            <a:ext cx="638280" cy="63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1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400" cy="44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2" name="Text 2"/>
          <p:cNvSpPr/>
          <p:nvPr/>
        </p:nvSpPr>
        <p:spPr>
          <a:xfrm>
            <a:off x="1280160" y="457200"/>
            <a:ext cx="10422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What Is Recursion?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3"/>
          <p:cNvSpPr/>
          <p:nvPr/>
        </p:nvSpPr>
        <p:spPr>
          <a:xfrm>
            <a:off x="457200" y="1554480"/>
            <a:ext cx="3655800" cy="4661640"/>
          </a:xfrm>
          <a:prstGeom prst="roundRect">
            <a:avLst>
              <a:gd name="adj" fmla="val 30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4"/>
          <p:cNvSpPr/>
          <p:nvPr/>
        </p:nvSpPr>
        <p:spPr>
          <a:xfrm>
            <a:off x="1508760" y="2194560"/>
            <a:ext cx="1552680" cy="1552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5" name="Image 1" descr="preencoded.png"/>
          <p:cNvPicPr/>
          <p:nvPr/>
        </p:nvPicPr>
        <p:blipFill>
          <a:blip r:embed="rId2"/>
          <a:stretch/>
        </p:blipFill>
        <p:spPr>
          <a:xfrm>
            <a:off x="1746360" y="2423160"/>
            <a:ext cx="1086480" cy="108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6" name="Text 5"/>
          <p:cNvSpPr/>
          <p:nvPr/>
        </p:nvSpPr>
        <p:spPr>
          <a:xfrm>
            <a:off x="640080" y="3977640"/>
            <a:ext cx="3290040" cy="17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 function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calling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itself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6"/>
          <p:cNvSpPr/>
          <p:nvPr/>
        </p:nvSpPr>
        <p:spPr>
          <a:xfrm>
            <a:off x="4572000" y="1737360"/>
            <a:ext cx="7130520" cy="41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Recursion is a function that calls itself to solve a smaller piece of the same problem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Think of Russian nesting dolls — open one, and there’s a smaller identical doll inside, until you reach the smallest one that doesn’t open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Each call works on a slightly smaller version of the problem, and the smallest version is simple enough to answer directly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That "simple enough to answer directly" case is what makes the whole chain eventually stop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7"/>
          <p:cNvSpPr/>
          <p:nvPr/>
        </p:nvSpPr>
        <p:spPr>
          <a:xfrm>
            <a:off x="457200" y="6446520"/>
            <a:ext cx="7313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Functions  ·  Session 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8"/>
          <p:cNvSpPr/>
          <p:nvPr/>
        </p:nvSpPr>
        <p:spPr>
          <a:xfrm>
            <a:off x="11521440" y="644652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Shape 0"/>
          <p:cNvSpPr/>
          <p:nvPr/>
        </p:nvSpPr>
        <p:spPr>
          <a:xfrm>
            <a:off x="457200" y="457200"/>
            <a:ext cx="638280" cy="63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1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400" cy="44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2" name="Text 1"/>
          <p:cNvSpPr/>
          <p:nvPr/>
        </p:nvSpPr>
        <p:spPr>
          <a:xfrm>
            <a:off x="1280160" y="457200"/>
            <a:ext cx="10422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The Two Required Parts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2"/>
          <p:cNvSpPr/>
          <p:nvPr/>
        </p:nvSpPr>
        <p:spPr>
          <a:xfrm>
            <a:off x="457200" y="1645920"/>
            <a:ext cx="5347440" cy="4478760"/>
          </a:xfrm>
          <a:prstGeom prst="roundRect">
            <a:avLst>
              <a:gd name="adj" fmla="val 204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3"/>
          <p:cNvSpPr/>
          <p:nvPr/>
        </p:nvSpPr>
        <p:spPr>
          <a:xfrm>
            <a:off x="731520" y="1874520"/>
            <a:ext cx="455400" cy="45540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5" name="Image 1" descr="preencoded.png"/>
          <p:cNvPicPr/>
          <p:nvPr/>
        </p:nvPicPr>
        <p:blipFill>
          <a:blip r:embed="rId2"/>
          <a:stretch/>
        </p:blipFill>
        <p:spPr>
          <a:xfrm>
            <a:off x="804600" y="1938600"/>
            <a:ext cx="318240" cy="31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6" name="Text 4"/>
          <p:cNvSpPr/>
          <p:nvPr/>
        </p:nvSpPr>
        <p:spPr>
          <a:xfrm>
            <a:off x="1325880" y="1874520"/>
            <a:ext cx="43416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Base Case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5"/>
          <p:cNvSpPr/>
          <p:nvPr/>
        </p:nvSpPr>
        <p:spPr>
          <a:xfrm>
            <a:off x="731520" y="2514600"/>
            <a:ext cx="4798800" cy="338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001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1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smallest version of the problem — answered directly, with no further recursive call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001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1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is what stops the recursion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001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1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Every recursive function needs at least one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001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1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Example: factorial(0) is defined to be 1, no calculation needed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6"/>
          <p:cNvSpPr/>
          <p:nvPr/>
        </p:nvSpPr>
        <p:spPr>
          <a:xfrm>
            <a:off x="6172200" y="1645920"/>
            <a:ext cx="5347440" cy="4478760"/>
          </a:xfrm>
          <a:prstGeom prst="roundRect">
            <a:avLst>
              <a:gd name="adj" fmla="val 204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7"/>
          <p:cNvSpPr/>
          <p:nvPr/>
        </p:nvSpPr>
        <p:spPr>
          <a:xfrm>
            <a:off x="6446520" y="1874520"/>
            <a:ext cx="455400" cy="45540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0" name="Image 2" descr="preencoded.png"/>
          <p:cNvPicPr/>
          <p:nvPr/>
        </p:nvPicPr>
        <p:blipFill>
          <a:blip r:embed="rId3"/>
          <a:stretch/>
        </p:blipFill>
        <p:spPr>
          <a:xfrm>
            <a:off x="6519600" y="1938600"/>
            <a:ext cx="318240" cy="31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1" name="Text 8"/>
          <p:cNvSpPr/>
          <p:nvPr/>
        </p:nvSpPr>
        <p:spPr>
          <a:xfrm>
            <a:off x="7040880" y="1874520"/>
            <a:ext cx="43416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Recursive Case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9"/>
          <p:cNvSpPr/>
          <p:nvPr/>
        </p:nvSpPr>
        <p:spPr>
          <a:xfrm>
            <a:off x="6446520" y="2514600"/>
            <a:ext cx="4798800" cy="338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001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1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step where the function calls itself on a smaller piece of the problem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001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1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Must always move toward the base case — never sideways, never backward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001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1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Combines its own small piece of work with the result of the smaller call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001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1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Example: factorial(n) = n × factorial(n - 1)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10"/>
          <p:cNvSpPr/>
          <p:nvPr/>
        </p:nvSpPr>
        <p:spPr>
          <a:xfrm>
            <a:off x="457200" y="6446520"/>
            <a:ext cx="7313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Functions  ·  Session 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11"/>
          <p:cNvSpPr/>
          <p:nvPr/>
        </p:nvSpPr>
        <p:spPr>
          <a:xfrm>
            <a:off x="11521440" y="644652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0"/>
          <p:cNvSpPr/>
          <p:nvPr/>
        </p:nvSpPr>
        <p:spPr>
          <a:xfrm>
            <a:off x="457200" y="457200"/>
            <a:ext cx="638280" cy="63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6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400" cy="44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7" name="Text 1"/>
          <p:cNvSpPr/>
          <p:nvPr/>
        </p:nvSpPr>
        <p:spPr>
          <a:xfrm>
            <a:off x="1280160" y="457200"/>
            <a:ext cx="10422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Classic Example: Factorial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2"/>
          <p:cNvSpPr/>
          <p:nvPr/>
        </p:nvSpPr>
        <p:spPr>
          <a:xfrm>
            <a:off x="548640" y="1828800"/>
            <a:ext cx="4753080" cy="402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factorial(n) is n × (n-1) × (n-2) × ... × 1 — a textbook recursive definition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Base case: factorial(0) is 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Recursive case: factorial(n) is n times factorial(n - 1)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3"/>
          <p:cNvSpPr/>
          <p:nvPr/>
        </p:nvSpPr>
        <p:spPr>
          <a:xfrm>
            <a:off x="5486400" y="1691640"/>
            <a:ext cx="6216120" cy="434160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4"/>
          <p:cNvSpPr/>
          <p:nvPr/>
        </p:nvSpPr>
        <p:spPr>
          <a:xfrm>
            <a:off x="5806440" y="1965960"/>
            <a:ext cx="5576040" cy="37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def factorial(n):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if n == 0:            </a:t>
            </a:r>
            <a:r>
              <a:rPr lang="en-US" sz="200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base case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    return 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return n * factorial(n - 1) </a:t>
            </a:r>
            <a:r>
              <a:rPr lang="en-US" sz="200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recursive case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factorial(4)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# 4 * factorial(3)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# 4 * (3 * factorial(2))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# 4 * (3 * (2 * factorial(1)))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# 4 * 3 * 2 * 1 * 1  -&gt;  24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5"/>
          <p:cNvSpPr/>
          <p:nvPr/>
        </p:nvSpPr>
        <p:spPr>
          <a:xfrm>
            <a:off x="457200" y="6446520"/>
            <a:ext cx="7313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Functions  ·  Session 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6"/>
          <p:cNvSpPr/>
          <p:nvPr/>
        </p:nvSpPr>
        <p:spPr>
          <a:xfrm>
            <a:off x="11521440" y="644652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0"/>
          <p:cNvSpPr/>
          <p:nvPr/>
        </p:nvSpPr>
        <p:spPr>
          <a:xfrm>
            <a:off x="457200" y="457200"/>
            <a:ext cx="638280" cy="63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4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400" cy="44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5" name="Text 1"/>
          <p:cNvSpPr/>
          <p:nvPr/>
        </p:nvSpPr>
        <p:spPr>
          <a:xfrm>
            <a:off x="1280160" y="457200"/>
            <a:ext cx="10422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 Recursion Call Stack, Visualized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2"/>
          <p:cNvSpPr/>
          <p:nvPr/>
        </p:nvSpPr>
        <p:spPr>
          <a:xfrm>
            <a:off x="1097280" y="1691640"/>
            <a:ext cx="9992520" cy="711360"/>
          </a:xfrm>
          <a:prstGeom prst="roundRect">
            <a:avLst>
              <a:gd name="adj" fmla="val 10256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3"/>
          <p:cNvSpPr/>
          <p:nvPr/>
        </p:nvSpPr>
        <p:spPr>
          <a:xfrm>
            <a:off x="1325880" y="1691640"/>
            <a:ext cx="9535320" cy="71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factorial(4)  waiting for factorial(3)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4"/>
          <p:cNvSpPr/>
          <p:nvPr/>
        </p:nvSpPr>
        <p:spPr>
          <a:xfrm>
            <a:off x="1417320" y="2514600"/>
            <a:ext cx="9672480" cy="711360"/>
          </a:xfrm>
          <a:prstGeom prst="roundRect">
            <a:avLst>
              <a:gd name="adj" fmla="val 10256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5"/>
          <p:cNvSpPr/>
          <p:nvPr/>
        </p:nvSpPr>
        <p:spPr>
          <a:xfrm>
            <a:off x="1645920" y="2514600"/>
            <a:ext cx="9215280" cy="71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factorial(3)  waiting for factorial(2)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6"/>
          <p:cNvSpPr/>
          <p:nvPr/>
        </p:nvSpPr>
        <p:spPr>
          <a:xfrm>
            <a:off x="1737360" y="3337560"/>
            <a:ext cx="9352440" cy="711360"/>
          </a:xfrm>
          <a:prstGeom prst="roundRect">
            <a:avLst>
              <a:gd name="adj" fmla="val 10256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7"/>
          <p:cNvSpPr/>
          <p:nvPr/>
        </p:nvSpPr>
        <p:spPr>
          <a:xfrm>
            <a:off x="1965960" y="3337560"/>
            <a:ext cx="8895240" cy="71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factorial(2)  waiting for factorial(1)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8"/>
          <p:cNvSpPr/>
          <p:nvPr/>
        </p:nvSpPr>
        <p:spPr>
          <a:xfrm>
            <a:off x="2057400" y="4160520"/>
            <a:ext cx="9032400" cy="711360"/>
          </a:xfrm>
          <a:prstGeom prst="roundRect">
            <a:avLst>
              <a:gd name="adj" fmla="val 10256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9"/>
          <p:cNvSpPr/>
          <p:nvPr/>
        </p:nvSpPr>
        <p:spPr>
          <a:xfrm>
            <a:off x="2286000" y="4160520"/>
            <a:ext cx="8575200" cy="71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factorial(1)  waiting for factorial(0)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10"/>
          <p:cNvSpPr/>
          <p:nvPr/>
        </p:nvSpPr>
        <p:spPr>
          <a:xfrm>
            <a:off x="2377440" y="4983480"/>
            <a:ext cx="8712360" cy="711360"/>
          </a:xfrm>
          <a:prstGeom prst="roundRect">
            <a:avLst>
              <a:gd name="adj" fmla="val 10256"/>
            </a:avLst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1"/>
          <p:cNvSpPr/>
          <p:nvPr/>
        </p:nvSpPr>
        <p:spPr>
          <a:xfrm>
            <a:off x="2606040" y="4983480"/>
            <a:ext cx="8255160" cy="71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ntarell"/>
                <a:ea typeface="Consolas"/>
              </a:rPr>
              <a:t>factorial(0)  → returns 1   (base case reached)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12"/>
          <p:cNvSpPr/>
          <p:nvPr/>
        </p:nvSpPr>
        <p:spPr>
          <a:xfrm>
            <a:off x="1097280" y="5852160"/>
            <a:ext cx="99925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Each call waits for the one below it to finish — then the results multiply back up the stack: 1, then 2, then 6, then 24.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13"/>
          <p:cNvSpPr/>
          <p:nvPr/>
        </p:nvSpPr>
        <p:spPr>
          <a:xfrm>
            <a:off x="457200" y="6446520"/>
            <a:ext cx="7313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Functions  ·  Session 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14"/>
          <p:cNvSpPr/>
          <p:nvPr/>
        </p:nvSpPr>
        <p:spPr>
          <a:xfrm>
            <a:off x="11521440" y="644652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Shape 0"/>
          <p:cNvSpPr/>
          <p:nvPr/>
        </p:nvSpPr>
        <p:spPr>
          <a:xfrm>
            <a:off x="457200" y="457200"/>
            <a:ext cx="638280" cy="63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0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400" cy="44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1" name="Text 1"/>
          <p:cNvSpPr/>
          <p:nvPr/>
        </p:nvSpPr>
        <p:spPr>
          <a:xfrm>
            <a:off x="1280160" y="457200"/>
            <a:ext cx="10422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Classic Example: Fibonacci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2"/>
          <p:cNvSpPr/>
          <p:nvPr/>
        </p:nvSpPr>
        <p:spPr>
          <a:xfrm>
            <a:off x="548640" y="1828800"/>
            <a:ext cx="4753080" cy="402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Each Fibonacci number is the sum of the two before it: 0, 1, 1, 2, 3, 5, 8, 13...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Base cases: fib(0) is 0, fib(1) is 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Recursive case: fib(n) is fib(n-1) + fib(n-2) — two recursive calls, not one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3"/>
          <p:cNvSpPr/>
          <p:nvPr/>
        </p:nvSpPr>
        <p:spPr>
          <a:xfrm>
            <a:off x="5486400" y="1691640"/>
            <a:ext cx="6216120" cy="434160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4"/>
          <p:cNvSpPr/>
          <p:nvPr/>
        </p:nvSpPr>
        <p:spPr>
          <a:xfrm>
            <a:off x="5806440" y="1965960"/>
            <a:ext cx="5576040" cy="37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def fib(n):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if n &lt;= 1:             </a:t>
            </a:r>
            <a:r>
              <a:rPr lang="en-US" sz="220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base case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    return 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return fib(n-1) + fib(n-2) </a:t>
            </a:r>
            <a:r>
              <a:rPr lang="en-US" sz="220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recursive case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fib(6) </a:t>
            </a:r>
            <a:r>
              <a:rPr lang="en-US" sz="220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8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[fib(n) for n in range(7)]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# [0, 1, 1, 2, 3, 5, 8]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5"/>
          <p:cNvSpPr/>
          <p:nvPr/>
        </p:nvSpPr>
        <p:spPr>
          <a:xfrm>
            <a:off x="457200" y="6446520"/>
            <a:ext cx="7313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Functions  ·  Session 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6"/>
          <p:cNvSpPr/>
          <p:nvPr/>
        </p:nvSpPr>
        <p:spPr>
          <a:xfrm>
            <a:off x="11521440" y="644652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Shape 0"/>
          <p:cNvSpPr/>
          <p:nvPr/>
        </p:nvSpPr>
        <p:spPr>
          <a:xfrm>
            <a:off x="10515600" y="5669280"/>
            <a:ext cx="3198600" cy="3198600"/>
          </a:xfrm>
          <a:prstGeom prst="roundRect">
            <a:avLst>
              <a:gd name="adj" fmla="val 11429"/>
            </a:avLst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1"/>
          <p:cNvSpPr/>
          <p:nvPr/>
        </p:nvSpPr>
        <p:spPr>
          <a:xfrm>
            <a:off x="457200" y="457200"/>
            <a:ext cx="638280" cy="63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9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400" cy="44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0" name="Text 2"/>
          <p:cNvSpPr/>
          <p:nvPr/>
        </p:nvSpPr>
        <p:spPr>
          <a:xfrm>
            <a:off x="1280160" y="457200"/>
            <a:ext cx="10422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The Danger of Infinite Recursion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3"/>
          <p:cNvSpPr/>
          <p:nvPr/>
        </p:nvSpPr>
        <p:spPr>
          <a:xfrm>
            <a:off x="457200" y="1554480"/>
            <a:ext cx="3655800" cy="4661640"/>
          </a:xfrm>
          <a:prstGeom prst="roundRect">
            <a:avLst>
              <a:gd name="adj" fmla="val 3000"/>
            </a:avLst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4"/>
          <p:cNvSpPr/>
          <p:nvPr/>
        </p:nvSpPr>
        <p:spPr>
          <a:xfrm>
            <a:off x="1508760" y="2194560"/>
            <a:ext cx="1552680" cy="1552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3" name="Image 1" descr="preencoded.png"/>
          <p:cNvPicPr/>
          <p:nvPr/>
        </p:nvPicPr>
        <p:blipFill>
          <a:blip r:embed="rId2"/>
          <a:stretch/>
        </p:blipFill>
        <p:spPr>
          <a:xfrm>
            <a:off x="1746360" y="2423160"/>
            <a:ext cx="1086480" cy="108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4" name="Text 5"/>
          <p:cNvSpPr/>
          <p:nvPr/>
        </p:nvSpPr>
        <p:spPr>
          <a:xfrm>
            <a:off x="640080" y="3977640"/>
            <a:ext cx="3290040" cy="17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No base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case =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no stop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6"/>
          <p:cNvSpPr/>
          <p:nvPr/>
        </p:nvSpPr>
        <p:spPr>
          <a:xfrm>
            <a:off x="4572000" y="1737360"/>
            <a:ext cx="7130520" cy="41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If a function never reaches its base case, it keeps calling itself — forever, in theory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 practice, Python raises a RecursionError once the call stack hits its limit (by default, around 1000 calls deep)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is the recursive cousin of an infinite while loop — same root cause: the stopping condition is never satisfied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fix is always the same: check that every recursive call is moving strictly closer to the base case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7"/>
          <p:cNvSpPr/>
          <p:nvPr/>
        </p:nvSpPr>
        <p:spPr>
          <a:xfrm>
            <a:off x="457200" y="6446520"/>
            <a:ext cx="7313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Functions  ·  Session 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8"/>
          <p:cNvSpPr/>
          <p:nvPr/>
        </p:nvSpPr>
        <p:spPr>
          <a:xfrm>
            <a:off x="11521440" y="644652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Shape 0"/>
          <p:cNvSpPr/>
          <p:nvPr/>
        </p:nvSpPr>
        <p:spPr>
          <a:xfrm>
            <a:off x="457200" y="457200"/>
            <a:ext cx="638280" cy="63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9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400" cy="44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0" name="Text 1"/>
          <p:cNvSpPr/>
          <p:nvPr/>
        </p:nvSpPr>
        <p:spPr>
          <a:xfrm>
            <a:off x="1280160" y="457200"/>
            <a:ext cx="10422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Recursion vs. Loops — Honest Tradeoffs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2"/>
          <p:cNvSpPr/>
          <p:nvPr/>
        </p:nvSpPr>
        <p:spPr>
          <a:xfrm>
            <a:off x="457200" y="1645920"/>
            <a:ext cx="5347440" cy="4478760"/>
          </a:xfrm>
          <a:prstGeom prst="roundRect">
            <a:avLst>
              <a:gd name="adj" fmla="val 204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3"/>
          <p:cNvSpPr/>
          <p:nvPr/>
        </p:nvSpPr>
        <p:spPr>
          <a:xfrm>
            <a:off x="731520" y="1874520"/>
            <a:ext cx="455400" cy="45540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3" name="Image 1" descr="preencoded.png"/>
          <p:cNvPicPr/>
          <p:nvPr/>
        </p:nvPicPr>
        <p:blipFill>
          <a:blip r:embed="rId2"/>
          <a:stretch/>
        </p:blipFill>
        <p:spPr>
          <a:xfrm>
            <a:off x="804600" y="1938600"/>
            <a:ext cx="318240" cy="31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4" name="Text 4"/>
          <p:cNvSpPr/>
          <p:nvPr/>
        </p:nvSpPr>
        <p:spPr>
          <a:xfrm>
            <a:off x="1325880" y="1874520"/>
            <a:ext cx="43416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Loops win when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5"/>
          <p:cNvSpPr/>
          <p:nvPr/>
        </p:nvSpPr>
        <p:spPr>
          <a:xfrm>
            <a:off x="731520" y="2514600"/>
            <a:ext cx="4798800" cy="338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001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repetition is simple and flat — no natural nesting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001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Performance matters — loops avoid the overhead of repeated function calls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001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data is a straightforward sequence you’re stepping through once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6"/>
          <p:cNvSpPr/>
          <p:nvPr/>
        </p:nvSpPr>
        <p:spPr>
          <a:xfrm>
            <a:off x="6172200" y="1645920"/>
            <a:ext cx="5347440" cy="4478760"/>
          </a:xfrm>
          <a:prstGeom prst="roundRect">
            <a:avLst>
              <a:gd name="adj" fmla="val 204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7"/>
          <p:cNvSpPr/>
          <p:nvPr/>
        </p:nvSpPr>
        <p:spPr>
          <a:xfrm>
            <a:off x="6446520" y="1874520"/>
            <a:ext cx="455400" cy="45540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8" name="Image 2" descr="preencoded.png"/>
          <p:cNvPicPr/>
          <p:nvPr/>
        </p:nvPicPr>
        <p:blipFill>
          <a:blip r:embed="rId3"/>
          <a:stretch/>
        </p:blipFill>
        <p:spPr>
          <a:xfrm>
            <a:off x="6519600" y="1938600"/>
            <a:ext cx="318240" cy="31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9" name="Text 8"/>
          <p:cNvSpPr/>
          <p:nvPr/>
        </p:nvSpPr>
        <p:spPr>
          <a:xfrm>
            <a:off x="7040880" y="1874520"/>
            <a:ext cx="43416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Recursion wins when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9"/>
          <p:cNvSpPr/>
          <p:nvPr/>
        </p:nvSpPr>
        <p:spPr>
          <a:xfrm>
            <a:off x="6446520" y="2514600"/>
            <a:ext cx="4798800" cy="338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001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problem is naturally nested — trees, folders, nested data of unknown depth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001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Each step is a smaller version of the exact same problem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001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recursive version is dramatically easier to read than the loop-based equivalent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10"/>
          <p:cNvSpPr/>
          <p:nvPr/>
        </p:nvSpPr>
        <p:spPr>
          <a:xfrm>
            <a:off x="457200" y="6446520"/>
            <a:ext cx="7313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Functions  ·  Session 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11"/>
          <p:cNvSpPr/>
          <p:nvPr/>
        </p:nvSpPr>
        <p:spPr>
          <a:xfrm>
            <a:off x="11521440" y="644652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Shape 0"/>
          <p:cNvSpPr/>
          <p:nvPr/>
        </p:nvSpPr>
        <p:spPr>
          <a:xfrm>
            <a:off x="457200" y="457200"/>
            <a:ext cx="638280" cy="63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4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400" cy="44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5" name="Text 1"/>
          <p:cNvSpPr/>
          <p:nvPr/>
        </p:nvSpPr>
        <p:spPr>
          <a:xfrm>
            <a:off x="1280160" y="457200"/>
            <a:ext cx="10422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Real-World Use: Nested Data of Unknown Depth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2"/>
          <p:cNvSpPr/>
          <p:nvPr/>
        </p:nvSpPr>
        <p:spPr>
          <a:xfrm>
            <a:off x="548640" y="1828800"/>
            <a:ext cx="4753080" cy="402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dictionary can contain another dictionary, which can contain another — to any depth, unknown in advance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loop can’t handle "unknown depth" cleanly, but recursion handles it naturally: dig in, and if you find another dictionary, recurse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exact same pattern is used to walk folder structures, JSON responses, and org charts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3"/>
          <p:cNvSpPr/>
          <p:nvPr/>
        </p:nvSpPr>
        <p:spPr>
          <a:xfrm>
            <a:off x="5486400" y="1691640"/>
            <a:ext cx="6216120" cy="434160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4"/>
          <p:cNvSpPr/>
          <p:nvPr/>
        </p:nvSpPr>
        <p:spPr>
          <a:xfrm>
            <a:off x="5806440" y="1965960"/>
            <a:ext cx="5576040" cy="37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def sum_nested(data):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total = 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for value in data.values():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    if isinstance(value, dict):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        total += sum_nested(value) </a:t>
            </a:r>
            <a:r>
              <a:rPr lang="en-US" sz="180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recurse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    else: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        total += value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return total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sum_nested({"a": 1, "b": {"c": 2, "d": {"e": 3}}})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# 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5"/>
          <p:cNvSpPr/>
          <p:nvPr/>
        </p:nvSpPr>
        <p:spPr>
          <a:xfrm>
            <a:off x="457200" y="6446520"/>
            <a:ext cx="7313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Functions  ·  Session 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6"/>
          <p:cNvSpPr/>
          <p:nvPr/>
        </p:nvSpPr>
        <p:spPr>
          <a:xfrm>
            <a:off x="11521440" y="644652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Shape 0"/>
          <p:cNvSpPr/>
          <p:nvPr/>
        </p:nvSpPr>
        <p:spPr>
          <a:xfrm>
            <a:off x="-1828800" y="5029200"/>
            <a:ext cx="3655800" cy="365580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1"/>
          <p:cNvSpPr/>
          <p:nvPr/>
        </p:nvSpPr>
        <p:spPr>
          <a:xfrm>
            <a:off x="457200" y="457200"/>
            <a:ext cx="638280" cy="63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3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400" cy="44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4" name="Text 2"/>
          <p:cNvSpPr/>
          <p:nvPr/>
        </p:nvSpPr>
        <p:spPr>
          <a:xfrm>
            <a:off x="1280160" y="457200"/>
            <a:ext cx="10422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Practice Set — Recursion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3"/>
          <p:cNvSpPr/>
          <p:nvPr/>
        </p:nvSpPr>
        <p:spPr>
          <a:xfrm>
            <a:off x="457200" y="1600200"/>
            <a:ext cx="11272680" cy="4478760"/>
          </a:xfrm>
          <a:prstGeom prst="roundRect">
            <a:avLst>
              <a:gd name="adj" fmla="val 2449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4"/>
          <p:cNvSpPr/>
          <p:nvPr/>
        </p:nvSpPr>
        <p:spPr>
          <a:xfrm>
            <a:off x="822960" y="1828800"/>
            <a:ext cx="10513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Try these yourself first — no code shown, that's the point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5"/>
          <p:cNvSpPr/>
          <p:nvPr/>
        </p:nvSpPr>
        <p:spPr>
          <a:xfrm>
            <a:off x="822960" y="2423160"/>
            <a:ext cx="382320" cy="38232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6"/>
          <p:cNvSpPr/>
          <p:nvPr/>
        </p:nvSpPr>
        <p:spPr>
          <a:xfrm>
            <a:off x="822960" y="2423160"/>
            <a:ext cx="38232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7"/>
          <p:cNvSpPr/>
          <p:nvPr/>
        </p:nvSpPr>
        <p:spPr>
          <a:xfrm>
            <a:off x="1435680" y="2423160"/>
            <a:ext cx="958104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recursive function that returns the sum of all numbers from 1 to 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8"/>
          <p:cNvSpPr/>
          <p:nvPr/>
        </p:nvSpPr>
        <p:spPr>
          <a:xfrm>
            <a:off x="822960" y="3300840"/>
            <a:ext cx="382320" cy="38232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9"/>
          <p:cNvSpPr/>
          <p:nvPr/>
        </p:nvSpPr>
        <p:spPr>
          <a:xfrm>
            <a:off x="822960" y="3300840"/>
            <a:ext cx="38232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10"/>
          <p:cNvSpPr/>
          <p:nvPr/>
        </p:nvSpPr>
        <p:spPr>
          <a:xfrm>
            <a:off x="1435680" y="3300840"/>
            <a:ext cx="958104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recursive function that reverses a string (no slicing shortcuts)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11"/>
          <p:cNvSpPr/>
          <p:nvPr/>
        </p:nvSpPr>
        <p:spPr>
          <a:xfrm>
            <a:off x="822960" y="4178880"/>
            <a:ext cx="382320" cy="38232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12"/>
          <p:cNvSpPr/>
          <p:nvPr/>
        </p:nvSpPr>
        <p:spPr>
          <a:xfrm>
            <a:off x="822960" y="4178880"/>
            <a:ext cx="38232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13"/>
          <p:cNvSpPr/>
          <p:nvPr/>
        </p:nvSpPr>
        <p:spPr>
          <a:xfrm>
            <a:off x="1435680" y="4178880"/>
            <a:ext cx="958104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Trace factorial(5) by hand, writing out each call on paper before running any code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14"/>
          <p:cNvSpPr/>
          <p:nvPr/>
        </p:nvSpPr>
        <p:spPr>
          <a:xfrm>
            <a:off x="822960" y="5056560"/>
            <a:ext cx="382320" cy="38232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15"/>
          <p:cNvSpPr/>
          <p:nvPr/>
        </p:nvSpPr>
        <p:spPr>
          <a:xfrm>
            <a:off x="822960" y="5056560"/>
            <a:ext cx="38232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16"/>
          <p:cNvSpPr/>
          <p:nvPr/>
        </p:nvSpPr>
        <p:spPr>
          <a:xfrm>
            <a:off x="1435680" y="5056560"/>
            <a:ext cx="958104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recursive function that counts how many times a value appears in a nested list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17"/>
          <p:cNvSpPr/>
          <p:nvPr/>
        </p:nvSpPr>
        <p:spPr>
          <a:xfrm>
            <a:off x="457200" y="6446520"/>
            <a:ext cx="7313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Functions  ·  Session 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18"/>
          <p:cNvSpPr/>
          <p:nvPr/>
        </p:nvSpPr>
        <p:spPr>
          <a:xfrm>
            <a:off x="11521440" y="644652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Shape 0"/>
          <p:cNvSpPr/>
          <p:nvPr/>
        </p:nvSpPr>
        <p:spPr>
          <a:xfrm>
            <a:off x="-1828800" y="4114800"/>
            <a:ext cx="5484600" cy="548460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1"/>
          <p:cNvSpPr/>
          <p:nvPr/>
        </p:nvSpPr>
        <p:spPr>
          <a:xfrm>
            <a:off x="9601200" y="-2286000"/>
            <a:ext cx="5484600" cy="548460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2"/>
          <p:cNvSpPr/>
          <p:nvPr/>
        </p:nvSpPr>
        <p:spPr>
          <a:xfrm>
            <a:off x="5596200" y="731520"/>
            <a:ext cx="1004040" cy="100404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4" name="Image 0" descr="preencoded.png"/>
          <p:cNvPicPr/>
          <p:nvPr/>
        </p:nvPicPr>
        <p:blipFill>
          <a:blip r:embed="rId1"/>
          <a:stretch/>
        </p:blipFill>
        <p:spPr>
          <a:xfrm>
            <a:off x="5742360" y="877680"/>
            <a:ext cx="702360" cy="702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5" name="Text 3"/>
          <p:cNvSpPr/>
          <p:nvPr/>
        </p:nvSpPr>
        <p:spPr>
          <a:xfrm>
            <a:off x="914400" y="1965960"/>
            <a:ext cx="10358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PART 4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4"/>
          <p:cNvSpPr/>
          <p:nvPr/>
        </p:nvSpPr>
        <p:spPr>
          <a:xfrm>
            <a:off x="914400" y="2377440"/>
            <a:ext cx="10358280" cy="20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Closures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5"/>
          <p:cNvSpPr/>
          <p:nvPr/>
        </p:nvSpPr>
        <p:spPr>
          <a:xfrm>
            <a:off x="1463040" y="4572000"/>
            <a:ext cx="9261000" cy="10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A function that remembers the variables from where it was created — even after that place is gone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6"/>
          <p:cNvSpPr/>
          <p:nvPr/>
        </p:nvSpPr>
        <p:spPr>
          <a:xfrm>
            <a:off x="11521440" y="644652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28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Shape 0"/>
          <p:cNvSpPr/>
          <p:nvPr/>
        </p:nvSpPr>
        <p:spPr>
          <a:xfrm>
            <a:off x="10515600" y="5669280"/>
            <a:ext cx="3198600" cy="3198600"/>
          </a:xfrm>
          <a:prstGeom prst="roundRect">
            <a:avLst>
              <a:gd name="adj" fmla="val 11429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1"/>
          <p:cNvSpPr/>
          <p:nvPr/>
        </p:nvSpPr>
        <p:spPr>
          <a:xfrm>
            <a:off x="457200" y="457200"/>
            <a:ext cx="638280" cy="63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1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400" cy="44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2" name="Text 2"/>
          <p:cNvSpPr/>
          <p:nvPr/>
        </p:nvSpPr>
        <p:spPr>
          <a:xfrm>
            <a:off x="1280160" y="457200"/>
            <a:ext cx="10422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What Is a Closure?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3"/>
          <p:cNvSpPr/>
          <p:nvPr/>
        </p:nvSpPr>
        <p:spPr>
          <a:xfrm>
            <a:off x="457200" y="1554480"/>
            <a:ext cx="3655800" cy="4661640"/>
          </a:xfrm>
          <a:prstGeom prst="roundRect">
            <a:avLst>
              <a:gd name="adj" fmla="val 30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Shape 4"/>
          <p:cNvSpPr/>
          <p:nvPr/>
        </p:nvSpPr>
        <p:spPr>
          <a:xfrm>
            <a:off x="1508760" y="2194560"/>
            <a:ext cx="1552680" cy="1552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5" name="Image 1" descr="preencoded.png"/>
          <p:cNvPicPr/>
          <p:nvPr/>
        </p:nvPicPr>
        <p:blipFill>
          <a:blip r:embed="rId2"/>
          <a:stretch/>
        </p:blipFill>
        <p:spPr>
          <a:xfrm>
            <a:off x="1746360" y="2423160"/>
            <a:ext cx="1086480" cy="108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6" name="Text 5"/>
          <p:cNvSpPr/>
          <p:nvPr/>
        </p:nvSpPr>
        <p:spPr>
          <a:xfrm>
            <a:off x="640080" y="3977640"/>
            <a:ext cx="3290040" cy="17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Remembers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where it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was born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6"/>
          <p:cNvSpPr/>
          <p:nvPr/>
        </p:nvSpPr>
        <p:spPr>
          <a:xfrm>
            <a:off x="4572000" y="1737360"/>
            <a:ext cx="7130520" cy="41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closure is an inner function that "remembers" the variables from its enclosing function, even after that outer function has finished running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Normally, a function’s local variables disappear once it returns — closures are the exception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happens automatically whenever an inner function uses a variable from the function that defines it, and that inner function is returned or passed elsewhere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It’s what lets you build customized, reusable functions out of a single template function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7"/>
          <p:cNvSpPr/>
          <p:nvPr/>
        </p:nvSpPr>
        <p:spPr>
          <a:xfrm>
            <a:off x="457200" y="6446520"/>
            <a:ext cx="7313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Functions  ·  Session 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8"/>
          <p:cNvSpPr/>
          <p:nvPr/>
        </p:nvSpPr>
        <p:spPr>
          <a:xfrm>
            <a:off x="11521440" y="644652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Shape 0"/>
          <p:cNvSpPr/>
          <p:nvPr/>
        </p:nvSpPr>
        <p:spPr>
          <a:xfrm>
            <a:off x="457200" y="457200"/>
            <a:ext cx="638280" cy="63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1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400" cy="44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2" name="Text 1"/>
          <p:cNvSpPr/>
          <p:nvPr/>
        </p:nvSpPr>
        <p:spPr>
          <a:xfrm>
            <a:off x="1280160" y="457200"/>
            <a:ext cx="10422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 Closure, Visualized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2"/>
          <p:cNvSpPr/>
          <p:nvPr/>
        </p:nvSpPr>
        <p:spPr>
          <a:xfrm>
            <a:off x="914400" y="1737360"/>
            <a:ext cx="10358280" cy="4204440"/>
          </a:xfrm>
          <a:prstGeom prst="roundRect">
            <a:avLst>
              <a:gd name="adj" fmla="val 2609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3"/>
          <p:cNvSpPr/>
          <p:nvPr/>
        </p:nvSpPr>
        <p:spPr>
          <a:xfrm>
            <a:off x="1188720" y="1920240"/>
            <a:ext cx="9782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ntarell"/>
                <a:ea typeface="Consolas"/>
              </a:rPr>
              <a:t>make_multiplier(factor)   — outer function, runs once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4"/>
          <p:cNvSpPr/>
          <p:nvPr/>
        </p:nvSpPr>
        <p:spPr>
          <a:xfrm>
            <a:off x="1188720" y="2377440"/>
            <a:ext cx="9782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B564F"/>
                </a:solidFill>
                <a:effectLst/>
                <a:uFillTx/>
                <a:latin typeface="Cantarell"/>
                <a:ea typeface="Consolas"/>
              </a:rPr>
              <a:t>factor = 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Shape 5"/>
          <p:cNvSpPr/>
          <p:nvPr/>
        </p:nvSpPr>
        <p:spPr>
          <a:xfrm>
            <a:off x="1463040" y="2926080"/>
            <a:ext cx="9261000" cy="2649960"/>
          </a:xfrm>
          <a:prstGeom prst="roundRect">
            <a:avLst>
              <a:gd name="adj" fmla="val 3448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6"/>
          <p:cNvSpPr/>
          <p:nvPr/>
        </p:nvSpPr>
        <p:spPr>
          <a:xfrm>
            <a:off x="1737360" y="3108960"/>
            <a:ext cx="8685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E7C588"/>
                </a:solidFill>
                <a:effectLst/>
                <a:uFillTx/>
                <a:latin typeface="Cantarell"/>
                <a:ea typeface="Consolas"/>
              </a:rPr>
              <a:t>def multiply(n):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7"/>
          <p:cNvSpPr/>
          <p:nvPr/>
        </p:nvSpPr>
        <p:spPr>
          <a:xfrm>
            <a:off x="1737360" y="3520440"/>
            <a:ext cx="8685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return n * factor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8"/>
          <p:cNvSpPr/>
          <p:nvPr/>
        </p:nvSpPr>
        <p:spPr>
          <a:xfrm>
            <a:off x="1737360" y="4023360"/>
            <a:ext cx="86850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E7C588"/>
                </a:solidFill>
                <a:effectLst/>
                <a:uFillTx/>
                <a:latin typeface="Cantarell"/>
                <a:ea typeface="Calibri"/>
              </a:rPr>
              <a:t>↑ "factor" isn’t local here — it reaches back into the outer function’s scope and remembers it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9"/>
          <p:cNvSpPr/>
          <p:nvPr/>
        </p:nvSpPr>
        <p:spPr>
          <a:xfrm>
            <a:off x="1737360" y="4709160"/>
            <a:ext cx="8593560" cy="77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double = make_multiplier(3)   returns multiply, but multiply keeps its own private copy of factor = 3, even though make_multiplier has already finished running.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10"/>
          <p:cNvSpPr/>
          <p:nvPr/>
        </p:nvSpPr>
        <p:spPr>
          <a:xfrm>
            <a:off x="457200" y="6446520"/>
            <a:ext cx="7313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Functions  ·  Session 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11"/>
          <p:cNvSpPr/>
          <p:nvPr/>
        </p:nvSpPr>
        <p:spPr>
          <a:xfrm>
            <a:off x="11521440" y="644652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Shape 0"/>
          <p:cNvSpPr/>
          <p:nvPr/>
        </p:nvSpPr>
        <p:spPr>
          <a:xfrm>
            <a:off x="457200" y="457200"/>
            <a:ext cx="638280" cy="63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4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400" cy="44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5" name="Text 1"/>
          <p:cNvSpPr/>
          <p:nvPr/>
        </p:nvSpPr>
        <p:spPr>
          <a:xfrm>
            <a:off x="1280160" y="457200"/>
            <a:ext cx="10422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Real-World Use: A Function Factory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2"/>
          <p:cNvSpPr/>
          <p:nvPr/>
        </p:nvSpPr>
        <p:spPr>
          <a:xfrm>
            <a:off x="548640" y="1936800"/>
            <a:ext cx="4753080" cy="402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make_multiplier(factor) returns a brand-new function, customized with whatever factor was passed in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Each returned function keeps its own private copy of factor — double and triple don’t interfere with each other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"function that builds functions" pattern shows up constantly in real configuration and callback code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3"/>
          <p:cNvSpPr/>
          <p:nvPr/>
        </p:nvSpPr>
        <p:spPr>
          <a:xfrm>
            <a:off x="5486400" y="1691640"/>
            <a:ext cx="6216120" cy="434160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4"/>
          <p:cNvSpPr/>
          <p:nvPr/>
        </p:nvSpPr>
        <p:spPr>
          <a:xfrm>
            <a:off x="5806440" y="1965960"/>
            <a:ext cx="5576040" cy="37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def make_multiplier(factor):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def multiply(n):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    return n * factor  </a:t>
            </a:r>
            <a:r>
              <a:rPr lang="en-US" sz="180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remembers "factor"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return multiply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double = make_multiplier(2)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triple = make_multiplier(3)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double(5) </a:t>
            </a:r>
            <a:r>
              <a:rPr lang="en-US" sz="180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10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triple(5) </a:t>
            </a:r>
            <a:r>
              <a:rPr lang="en-US" sz="180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15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5"/>
          <p:cNvSpPr/>
          <p:nvPr/>
        </p:nvSpPr>
        <p:spPr>
          <a:xfrm>
            <a:off x="457200" y="6446520"/>
            <a:ext cx="7313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Functions  ·  Session 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6"/>
          <p:cNvSpPr/>
          <p:nvPr/>
        </p:nvSpPr>
        <p:spPr>
          <a:xfrm>
            <a:off x="11521440" y="644652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Shape 0"/>
          <p:cNvSpPr/>
          <p:nvPr/>
        </p:nvSpPr>
        <p:spPr>
          <a:xfrm>
            <a:off x="457200" y="457200"/>
            <a:ext cx="638280" cy="63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2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400" cy="44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3" name="Text 1"/>
          <p:cNvSpPr/>
          <p:nvPr/>
        </p:nvSpPr>
        <p:spPr>
          <a:xfrm>
            <a:off x="1280160" y="457200"/>
            <a:ext cx="10422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nonlocal — Modifying an Enclosing Variable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2"/>
          <p:cNvSpPr/>
          <p:nvPr/>
        </p:nvSpPr>
        <p:spPr>
          <a:xfrm>
            <a:off x="548640" y="1828800"/>
            <a:ext cx="4753080" cy="402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By default, an inner function can read an outer variable, but assigning to it creates a new local variable instead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nonlocal tells Python: "this name refers to the enclosing function’s variable, not a new local one"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is how a closure keeps running state between calls — like a counter that remembers its own count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Shape 3"/>
          <p:cNvSpPr/>
          <p:nvPr/>
        </p:nvSpPr>
        <p:spPr>
          <a:xfrm>
            <a:off x="5486400" y="1691640"/>
            <a:ext cx="6216120" cy="434160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4"/>
          <p:cNvSpPr/>
          <p:nvPr/>
        </p:nvSpPr>
        <p:spPr>
          <a:xfrm>
            <a:off x="5806440" y="1965960"/>
            <a:ext cx="5576040" cy="37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def make_counter():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count = 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def increment():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    nonlocal count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    count += 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    return count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return increment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counter = make_counter()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counter() </a:t>
            </a:r>
            <a:r>
              <a:rPr lang="en-US" sz="160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counter() </a:t>
            </a:r>
            <a:r>
              <a:rPr lang="en-US" sz="160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counter() </a:t>
            </a:r>
            <a:r>
              <a:rPr lang="en-US" sz="160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5"/>
          <p:cNvSpPr/>
          <p:nvPr/>
        </p:nvSpPr>
        <p:spPr>
          <a:xfrm>
            <a:off x="457200" y="6446520"/>
            <a:ext cx="7313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Functions  ·  Session 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6"/>
          <p:cNvSpPr/>
          <p:nvPr/>
        </p:nvSpPr>
        <p:spPr>
          <a:xfrm>
            <a:off x="11521440" y="644652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Shape 0"/>
          <p:cNvSpPr/>
          <p:nvPr/>
        </p:nvSpPr>
        <p:spPr>
          <a:xfrm>
            <a:off x="-1828800" y="5029200"/>
            <a:ext cx="3655800" cy="365580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Shape 1"/>
          <p:cNvSpPr/>
          <p:nvPr/>
        </p:nvSpPr>
        <p:spPr>
          <a:xfrm>
            <a:off x="457200" y="457200"/>
            <a:ext cx="638280" cy="63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81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400" cy="44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2" name="Text 2"/>
          <p:cNvSpPr/>
          <p:nvPr/>
        </p:nvSpPr>
        <p:spPr>
          <a:xfrm>
            <a:off x="1280160" y="457200"/>
            <a:ext cx="10422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Practice Set — Closures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Shape 3"/>
          <p:cNvSpPr/>
          <p:nvPr/>
        </p:nvSpPr>
        <p:spPr>
          <a:xfrm>
            <a:off x="457200" y="1600200"/>
            <a:ext cx="11272680" cy="4478760"/>
          </a:xfrm>
          <a:prstGeom prst="roundRect">
            <a:avLst>
              <a:gd name="adj" fmla="val 2449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4"/>
          <p:cNvSpPr/>
          <p:nvPr/>
        </p:nvSpPr>
        <p:spPr>
          <a:xfrm>
            <a:off x="822960" y="1828800"/>
            <a:ext cx="10513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Try these yourself first — no code shown, that's the point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Shape 5"/>
          <p:cNvSpPr/>
          <p:nvPr/>
        </p:nvSpPr>
        <p:spPr>
          <a:xfrm>
            <a:off x="822960" y="2423160"/>
            <a:ext cx="382320" cy="38232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6"/>
          <p:cNvSpPr/>
          <p:nvPr/>
        </p:nvSpPr>
        <p:spPr>
          <a:xfrm>
            <a:off x="822960" y="2423160"/>
            <a:ext cx="38232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7"/>
          <p:cNvSpPr/>
          <p:nvPr/>
        </p:nvSpPr>
        <p:spPr>
          <a:xfrm>
            <a:off x="1435680" y="2423160"/>
            <a:ext cx="958104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make_greeter(greeting) function that returns a function saying "{greeting}, {name}!" for any name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8"/>
          <p:cNvSpPr/>
          <p:nvPr/>
        </p:nvSpPr>
        <p:spPr>
          <a:xfrm>
            <a:off x="822960" y="3300840"/>
            <a:ext cx="382320" cy="38232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9"/>
          <p:cNvSpPr/>
          <p:nvPr/>
        </p:nvSpPr>
        <p:spPr>
          <a:xfrm>
            <a:off x="822960" y="3300840"/>
            <a:ext cx="38232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10"/>
          <p:cNvSpPr/>
          <p:nvPr/>
        </p:nvSpPr>
        <p:spPr>
          <a:xfrm>
            <a:off x="1435680" y="3300840"/>
            <a:ext cx="958104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make_power(exponent) factory — make_power(2) should return a function that squares its input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Shape 11"/>
          <p:cNvSpPr/>
          <p:nvPr/>
        </p:nvSpPr>
        <p:spPr>
          <a:xfrm>
            <a:off x="822960" y="4178880"/>
            <a:ext cx="382320" cy="38232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12"/>
          <p:cNvSpPr/>
          <p:nvPr/>
        </p:nvSpPr>
        <p:spPr>
          <a:xfrm>
            <a:off x="822960" y="4178880"/>
            <a:ext cx="38232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13"/>
          <p:cNvSpPr/>
          <p:nvPr/>
        </p:nvSpPr>
        <p:spPr>
          <a:xfrm>
            <a:off x="1435680" y="4178880"/>
            <a:ext cx="958104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Build a counter with nonlocal that can count both up and down, using two inner functions sharing one variable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14"/>
          <p:cNvSpPr/>
          <p:nvPr/>
        </p:nvSpPr>
        <p:spPr>
          <a:xfrm>
            <a:off x="457200" y="6446520"/>
            <a:ext cx="7313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Functions  ·  Session 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15"/>
          <p:cNvSpPr/>
          <p:nvPr/>
        </p:nvSpPr>
        <p:spPr>
          <a:xfrm>
            <a:off x="11521440" y="644652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Shape 0"/>
          <p:cNvSpPr/>
          <p:nvPr/>
        </p:nvSpPr>
        <p:spPr>
          <a:xfrm>
            <a:off x="-1828800" y="4114800"/>
            <a:ext cx="5484600" cy="548460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Shape 1"/>
          <p:cNvSpPr/>
          <p:nvPr/>
        </p:nvSpPr>
        <p:spPr>
          <a:xfrm>
            <a:off x="9601200" y="-2286000"/>
            <a:ext cx="5484600" cy="548460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2"/>
          <p:cNvSpPr/>
          <p:nvPr/>
        </p:nvSpPr>
        <p:spPr>
          <a:xfrm>
            <a:off x="5596200" y="731520"/>
            <a:ext cx="1004040" cy="100404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99" name="Image 0" descr="preencoded.png"/>
          <p:cNvPicPr/>
          <p:nvPr/>
        </p:nvPicPr>
        <p:blipFill>
          <a:blip r:embed="rId1"/>
          <a:stretch/>
        </p:blipFill>
        <p:spPr>
          <a:xfrm>
            <a:off x="5742360" y="877680"/>
            <a:ext cx="702360" cy="702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0" name="Text 3"/>
          <p:cNvSpPr/>
          <p:nvPr/>
        </p:nvSpPr>
        <p:spPr>
          <a:xfrm>
            <a:off x="914400" y="1965960"/>
            <a:ext cx="10358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PART 5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4"/>
          <p:cNvSpPr/>
          <p:nvPr/>
        </p:nvSpPr>
        <p:spPr>
          <a:xfrm>
            <a:off x="914400" y="2377440"/>
            <a:ext cx="10358280" cy="20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Decorators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5"/>
          <p:cNvSpPr/>
          <p:nvPr/>
        </p:nvSpPr>
        <p:spPr>
          <a:xfrm>
            <a:off x="1463040" y="4572000"/>
            <a:ext cx="9261000" cy="10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A function that wraps another function, adding behavior without touching its code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6"/>
          <p:cNvSpPr/>
          <p:nvPr/>
        </p:nvSpPr>
        <p:spPr>
          <a:xfrm>
            <a:off x="11521440" y="644652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34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Shape 0"/>
          <p:cNvSpPr/>
          <p:nvPr/>
        </p:nvSpPr>
        <p:spPr>
          <a:xfrm>
            <a:off x="10515600" y="5669280"/>
            <a:ext cx="3198600" cy="3198600"/>
          </a:xfrm>
          <a:prstGeom prst="roundRect">
            <a:avLst>
              <a:gd name="adj" fmla="val 11429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Shape 1"/>
          <p:cNvSpPr/>
          <p:nvPr/>
        </p:nvSpPr>
        <p:spPr>
          <a:xfrm>
            <a:off x="457200" y="457200"/>
            <a:ext cx="638280" cy="63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6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400" cy="44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7" name="Text 2"/>
          <p:cNvSpPr/>
          <p:nvPr/>
        </p:nvSpPr>
        <p:spPr>
          <a:xfrm>
            <a:off x="1280160" y="457200"/>
            <a:ext cx="10422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What Is a Decorator?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3"/>
          <p:cNvSpPr/>
          <p:nvPr/>
        </p:nvSpPr>
        <p:spPr>
          <a:xfrm>
            <a:off x="457200" y="1554480"/>
            <a:ext cx="3655800" cy="4661640"/>
          </a:xfrm>
          <a:prstGeom prst="roundRect">
            <a:avLst>
              <a:gd name="adj" fmla="val 30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Shape 4"/>
          <p:cNvSpPr/>
          <p:nvPr/>
        </p:nvSpPr>
        <p:spPr>
          <a:xfrm>
            <a:off x="1508760" y="2194560"/>
            <a:ext cx="1552680" cy="1552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0" name="Image 1" descr="preencoded.png"/>
          <p:cNvPicPr/>
          <p:nvPr/>
        </p:nvPicPr>
        <p:blipFill>
          <a:blip r:embed="rId2"/>
          <a:stretch/>
        </p:blipFill>
        <p:spPr>
          <a:xfrm>
            <a:off x="1746360" y="2423160"/>
            <a:ext cx="1086480" cy="108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1" name="Text 5"/>
          <p:cNvSpPr/>
          <p:nvPr/>
        </p:nvSpPr>
        <p:spPr>
          <a:xfrm>
            <a:off x="640080" y="3977640"/>
            <a:ext cx="3290040" cy="17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Wraps a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function in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extra behavior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6"/>
          <p:cNvSpPr/>
          <p:nvPr/>
        </p:nvSpPr>
        <p:spPr>
          <a:xfrm>
            <a:off x="4572000" y="1737360"/>
            <a:ext cx="7130520" cy="41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decorator is a function that takes another function as input, and returns a new function that wraps it with extra behavior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original function usually still runs — the decorator just adds something before it, after it, or around it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Think of it like gift-wrapping: the gift inside doesn’t change, but wrapping paper adds something around it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is a light-touch introduction — you’ll recognize decorators in real code long before you need to write your own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7"/>
          <p:cNvSpPr/>
          <p:nvPr/>
        </p:nvSpPr>
        <p:spPr>
          <a:xfrm>
            <a:off x="457200" y="6446520"/>
            <a:ext cx="7313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Functions  ·  Session 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8"/>
          <p:cNvSpPr/>
          <p:nvPr/>
        </p:nvSpPr>
        <p:spPr>
          <a:xfrm>
            <a:off x="11521440" y="644652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Shape 0"/>
          <p:cNvSpPr/>
          <p:nvPr/>
        </p:nvSpPr>
        <p:spPr>
          <a:xfrm>
            <a:off x="457200" y="457200"/>
            <a:ext cx="638280" cy="63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6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400" cy="44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7" name="Text 1"/>
          <p:cNvSpPr/>
          <p:nvPr/>
        </p:nvSpPr>
        <p:spPr>
          <a:xfrm>
            <a:off x="1280160" y="457200"/>
            <a:ext cx="10422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 Decorator, Visualized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2"/>
          <p:cNvSpPr/>
          <p:nvPr/>
        </p:nvSpPr>
        <p:spPr>
          <a:xfrm>
            <a:off x="1188720" y="1783080"/>
            <a:ext cx="9809640" cy="4021560"/>
          </a:xfrm>
          <a:prstGeom prst="roundRect">
            <a:avLst>
              <a:gd name="adj" fmla="val 3182"/>
            </a:avLst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3"/>
          <p:cNvSpPr/>
          <p:nvPr/>
        </p:nvSpPr>
        <p:spPr>
          <a:xfrm>
            <a:off x="1463040" y="1965960"/>
            <a:ext cx="9325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ntarell"/>
                <a:ea typeface="Consolas"/>
              </a:rPr>
              <a:t>wrapper()   — what actually runs when you call the decorated function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Shape 4"/>
          <p:cNvSpPr/>
          <p:nvPr/>
        </p:nvSpPr>
        <p:spPr>
          <a:xfrm>
            <a:off x="1463040" y="2468880"/>
            <a:ext cx="9261000" cy="592560"/>
          </a:xfrm>
          <a:prstGeom prst="roundRect">
            <a:avLst>
              <a:gd name="adj" fmla="val 12308"/>
            </a:avLst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5"/>
          <p:cNvSpPr/>
          <p:nvPr/>
        </p:nvSpPr>
        <p:spPr>
          <a:xfrm>
            <a:off x="1737360" y="2468880"/>
            <a:ext cx="8685000" cy="5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ntarell"/>
                <a:ea typeface="Consolas"/>
              </a:rPr>
              <a:t>print("Before the function runs")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6"/>
          <p:cNvSpPr/>
          <p:nvPr/>
        </p:nvSpPr>
        <p:spPr>
          <a:xfrm>
            <a:off x="1828800" y="3246120"/>
            <a:ext cx="8529480" cy="1004040"/>
          </a:xfrm>
          <a:prstGeom prst="roundRect">
            <a:avLst>
              <a:gd name="adj" fmla="val 9091"/>
            </a:avLst>
          </a:prstGeom>
          <a:solidFill>
            <a:srgbClr val="13312F"/>
          </a:solidFill>
          <a:ln w="19050">
            <a:solidFill>
              <a:srgbClr val="C98A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7"/>
          <p:cNvSpPr/>
          <p:nvPr/>
        </p:nvSpPr>
        <p:spPr>
          <a:xfrm>
            <a:off x="2103120" y="3246120"/>
            <a:ext cx="795348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7C588"/>
                </a:solidFill>
                <a:effectLst/>
                <a:uFillTx/>
                <a:latin typeface="Cantarell"/>
                <a:ea typeface="Consolas"/>
              </a:rPr>
              <a:t>func()   — the original, un-modified function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Shape 8"/>
          <p:cNvSpPr/>
          <p:nvPr/>
        </p:nvSpPr>
        <p:spPr>
          <a:xfrm>
            <a:off x="1463040" y="4434840"/>
            <a:ext cx="9261000" cy="592560"/>
          </a:xfrm>
          <a:prstGeom prst="roundRect">
            <a:avLst>
              <a:gd name="adj" fmla="val 12308"/>
            </a:avLst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 9"/>
          <p:cNvSpPr/>
          <p:nvPr/>
        </p:nvSpPr>
        <p:spPr>
          <a:xfrm>
            <a:off x="1737360" y="4434840"/>
            <a:ext cx="8685000" cy="5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ntarell"/>
                <a:ea typeface="Consolas"/>
              </a:rPr>
              <a:t>print("After the function runs")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10"/>
          <p:cNvSpPr/>
          <p:nvPr/>
        </p:nvSpPr>
        <p:spPr>
          <a:xfrm>
            <a:off x="1463040" y="5166360"/>
            <a:ext cx="92610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The original function sits untouched at the center — the decorator only adds layers around it, the same way wrapping paper adds nothing to the gift inside.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11"/>
          <p:cNvSpPr/>
          <p:nvPr/>
        </p:nvSpPr>
        <p:spPr>
          <a:xfrm>
            <a:off x="457200" y="6446520"/>
            <a:ext cx="7313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Functions  ·  Session 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12"/>
          <p:cNvSpPr/>
          <p:nvPr/>
        </p:nvSpPr>
        <p:spPr>
          <a:xfrm>
            <a:off x="11521440" y="644652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Shape 0"/>
          <p:cNvSpPr/>
          <p:nvPr/>
        </p:nvSpPr>
        <p:spPr>
          <a:xfrm>
            <a:off x="457200" y="457200"/>
            <a:ext cx="638280" cy="63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30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400" cy="44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1" name="Text 1"/>
          <p:cNvSpPr/>
          <p:nvPr/>
        </p:nvSpPr>
        <p:spPr>
          <a:xfrm>
            <a:off x="1280160" y="457200"/>
            <a:ext cx="10422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 Simple Working Example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2"/>
          <p:cNvSpPr/>
          <p:nvPr/>
        </p:nvSpPr>
        <p:spPr>
          <a:xfrm>
            <a:off x="548640" y="1828800"/>
            <a:ext cx="4753080" cy="402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my_decorator takes a function, defines a wrapper() that adds behavior, and returns that wrapper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wrapper calls the original function in the middle — that’s the "extra behavior wrapped around it" in action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before/after pattern is the foundation every real-world decorator builds 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Shape 3"/>
          <p:cNvSpPr/>
          <p:nvPr/>
        </p:nvSpPr>
        <p:spPr>
          <a:xfrm>
            <a:off x="5486400" y="1691640"/>
            <a:ext cx="6216120" cy="434160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4"/>
          <p:cNvSpPr/>
          <p:nvPr/>
        </p:nvSpPr>
        <p:spPr>
          <a:xfrm>
            <a:off x="5806440" y="1965960"/>
            <a:ext cx="5576040" cy="37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def my_decorator(func):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def wrapper():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    print("Before the function runs")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    func()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    print("After the function runs")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return wrapper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def say_hello():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print("Hello!")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decorated = my_decorator(say_hello)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decorated()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# Before the function runs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# Hello!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# After the function runs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5"/>
          <p:cNvSpPr/>
          <p:nvPr/>
        </p:nvSpPr>
        <p:spPr>
          <a:xfrm>
            <a:off x="457200" y="6446520"/>
            <a:ext cx="7313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Functions  ·  Session 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 6"/>
          <p:cNvSpPr/>
          <p:nvPr/>
        </p:nvSpPr>
        <p:spPr>
          <a:xfrm>
            <a:off x="11521440" y="644652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Shape 0"/>
          <p:cNvSpPr/>
          <p:nvPr/>
        </p:nvSpPr>
        <p:spPr>
          <a:xfrm>
            <a:off x="457200" y="457200"/>
            <a:ext cx="638280" cy="63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38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400" cy="44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9" name="Text 1"/>
          <p:cNvSpPr/>
          <p:nvPr/>
        </p:nvSpPr>
        <p:spPr>
          <a:xfrm>
            <a:off x="1280160" y="457200"/>
            <a:ext cx="10422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The @ Syntax — Just Syntactic Sugar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2"/>
          <p:cNvSpPr/>
          <p:nvPr/>
        </p:nvSpPr>
        <p:spPr>
          <a:xfrm>
            <a:off x="548640" y="1828800"/>
            <a:ext cx="4753080" cy="402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Writing @my_decorator directly above a function definition does exactly the same thing as the manual version on the last slide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@my_decorator above def say_hello(): is Python’s shorthand for say_hello = my_decorator(say_hello)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Nothing new is happening — it’s the same wrapping, just with cleaner, more readable syntax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Shape 3"/>
          <p:cNvSpPr/>
          <p:nvPr/>
        </p:nvSpPr>
        <p:spPr>
          <a:xfrm>
            <a:off x="5486400" y="1691640"/>
            <a:ext cx="6216120" cy="434160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4"/>
          <p:cNvSpPr/>
          <p:nvPr/>
        </p:nvSpPr>
        <p:spPr>
          <a:xfrm>
            <a:off x="5806440" y="1965960"/>
            <a:ext cx="5576040" cy="37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def my_decorator(func):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def wrapper():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    print("Before the function runs")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    func()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    print("After the function runs")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return wrapper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@my_decorator       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same as: say_hello = my_decorator(say_hello)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def say_hello():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print("Hello!")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say_hello()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already wrapped — just call it directly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5"/>
          <p:cNvSpPr/>
          <p:nvPr/>
        </p:nvSpPr>
        <p:spPr>
          <a:xfrm>
            <a:off x="457200" y="6446520"/>
            <a:ext cx="7313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Functions  ·  Session 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 6"/>
          <p:cNvSpPr/>
          <p:nvPr/>
        </p:nvSpPr>
        <p:spPr>
          <a:xfrm>
            <a:off x="11521440" y="644652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Shape 0"/>
          <p:cNvSpPr/>
          <p:nvPr/>
        </p:nvSpPr>
        <p:spPr>
          <a:xfrm>
            <a:off x="457200" y="457200"/>
            <a:ext cx="638280" cy="63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6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400" cy="44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7" name="Text 1"/>
          <p:cNvSpPr/>
          <p:nvPr/>
        </p:nvSpPr>
        <p:spPr>
          <a:xfrm>
            <a:off x="1280160" y="457200"/>
            <a:ext cx="10422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Where You’ll Actually See This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Shape 2"/>
          <p:cNvSpPr/>
          <p:nvPr/>
        </p:nvSpPr>
        <p:spPr>
          <a:xfrm>
            <a:off x="457200" y="1508760"/>
            <a:ext cx="3610080" cy="4890240"/>
          </a:xfrm>
          <a:prstGeom prst="roundRect">
            <a:avLst>
              <a:gd name="adj" fmla="val 2532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Shape 3"/>
          <p:cNvSpPr/>
          <p:nvPr/>
        </p:nvSpPr>
        <p:spPr>
          <a:xfrm>
            <a:off x="1989000" y="2094120"/>
            <a:ext cx="546840" cy="5468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50" name="Image 1" descr="preencoded.png"/>
          <p:cNvPicPr/>
          <p:nvPr/>
        </p:nvPicPr>
        <p:blipFill>
          <a:blip r:embed="rId2"/>
          <a:stretch/>
        </p:blipFill>
        <p:spPr>
          <a:xfrm>
            <a:off x="2071080" y="2176200"/>
            <a:ext cx="382320" cy="38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1" name="Text 4"/>
          <p:cNvSpPr/>
          <p:nvPr/>
        </p:nvSpPr>
        <p:spPr>
          <a:xfrm>
            <a:off x="548640" y="2715840"/>
            <a:ext cx="3427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Flask Routes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5"/>
          <p:cNvSpPr/>
          <p:nvPr/>
        </p:nvSpPr>
        <p:spPr>
          <a:xfrm>
            <a:off x="603360" y="3099960"/>
            <a:ext cx="3317400" cy="31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@app.route("/home") turns an ordinary function into a URL endpoint — the most common decorator you’ll meet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Shape 6"/>
          <p:cNvSpPr/>
          <p:nvPr/>
        </p:nvSpPr>
        <p:spPr>
          <a:xfrm>
            <a:off x="4288680" y="1508760"/>
            <a:ext cx="3610080" cy="4890240"/>
          </a:xfrm>
          <a:prstGeom prst="roundRect">
            <a:avLst>
              <a:gd name="adj" fmla="val 2532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Shape 7"/>
          <p:cNvSpPr/>
          <p:nvPr/>
        </p:nvSpPr>
        <p:spPr>
          <a:xfrm>
            <a:off x="5820120" y="2094120"/>
            <a:ext cx="546840" cy="5468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55" name="Image 2" descr="preencoded.png"/>
          <p:cNvPicPr/>
          <p:nvPr/>
        </p:nvPicPr>
        <p:blipFill>
          <a:blip r:embed="rId3"/>
          <a:stretch/>
        </p:blipFill>
        <p:spPr>
          <a:xfrm>
            <a:off x="5902560" y="2176200"/>
            <a:ext cx="382320" cy="38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6" name="Text 8"/>
          <p:cNvSpPr/>
          <p:nvPr/>
        </p:nvSpPr>
        <p:spPr>
          <a:xfrm>
            <a:off x="4380120" y="2715840"/>
            <a:ext cx="3427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Timing Decorators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 9"/>
          <p:cNvSpPr/>
          <p:nvPr/>
        </p:nvSpPr>
        <p:spPr>
          <a:xfrm>
            <a:off x="4434840" y="3099960"/>
            <a:ext cx="3317400" cy="31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A decorator that measures and prints how long a function took to run — without changing the function itself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Shape 10"/>
          <p:cNvSpPr/>
          <p:nvPr/>
        </p:nvSpPr>
        <p:spPr>
          <a:xfrm>
            <a:off x="8119800" y="1508760"/>
            <a:ext cx="3610080" cy="4890240"/>
          </a:xfrm>
          <a:prstGeom prst="roundRect">
            <a:avLst>
              <a:gd name="adj" fmla="val 2532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Shape 11"/>
          <p:cNvSpPr/>
          <p:nvPr/>
        </p:nvSpPr>
        <p:spPr>
          <a:xfrm>
            <a:off x="9651600" y="2094120"/>
            <a:ext cx="546840" cy="5468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60" name="Image 3" descr="preencoded.png"/>
          <p:cNvPicPr/>
          <p:nvPr/>
        </p:nvPicPr>
        <p:blipFill>
          <a:blip r:embed="rId4"/>
          <a:stretch/>
        </p:blipFill>
        <p:spPr>
          <a:xfrm>
            <a:off x="9733680" y="2176200"/>
            <a:ext cx="382320" cy="38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1" name="Text 12"/>
          <p:cNvSpPr/>
          <p:nvPr/>
        </p:nvSpPr>
        <p:spPr>
          <a:xfrm>
            <a:off x="8211240" y="2715840"/>
            <a:ext cx="3427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Access Control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13"/>
          <p:cNvSpPr/>
          <p:nvPr/>
        </p:nvSpPr>
        <p:spPr>
          <a:xfrm>
            <a:off x="8266320" y="3099960"/>
            <a:ext cx="3317400" cy="31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@login_required blocks a function from running unless the user is authenticated — used constantly in web apps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14"/>
          <p:cNvSpPr/>
          <p:nvPr/>
        </p:nvSpPr>
        <p:spPr>
          <a:xfrm>
            <a:off x="457200" y="6446520"/>
            <a:ext cx="7313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Functions  ·  Session 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15"/>
          <p:cNvSpPr/>
          <p:nvPr/>
        </p:nvSpPr>
        <p:spPr>
          <a:xfrm>
            <a:off x="11521440" y="644652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Shape 0"/>
          <p:cNvSpPr/>
          <p:nvPr/>
        </p:nvSpPr>
        <p:spPr>
          <a:xfrm>
            <a:off x="-1828800" y="5029200"/>
            <a:ext cx="3655800" cy="365580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Shape 1"/>
          <p:cNvSpPr/>
          <p:nvPr/>
        </p:nvSpPr>
        <p:spPr>
          <a:xfrm>
            <a:off x="457200" y="457200"/>
            <a:ext cx="638280" cy="63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67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400" cy="44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8" name="Text 2"/>
          <p:cNvSpPr/>
          <p:nvPr/>
        </p:nvSpPr>
        <p:spPr>
          <a:xfrm>
            <a:off x="1280160" y="457200"/>
            <a:ext cx="10422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Practice Set — Decorators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Shape 3"/>
          <p:cNvSpPr/>
          <p:nvPr/>
        </p:nvSpPr>
        <p:spPr>
          <a:xfrm>
            <a:off x="457200" y="1600200"/>
            <a:ext cx="11272680" cy="4478760"/>
          </a:xfrm>
          <a:prstGeom prst="roundRect">
            <a:avLst>
              <a:gd name="adj" fmla="val 2449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4"/>
          <p:cNvSpPr/>
          <p:nvPr/>
        </p:nvSpPr>
        <p:spPr>
          <a:xfrm>
            <a:off x="822960" y="1828800"/>
            <a:ext cx="10513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Try these yourself first — no code shown, that's the point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Shape 5"/>
          <p:cNvSpPr/>
          <p:nvPr/>
        </p:nvSpPr>
        <p:spPr>
          <a:xfrm>
            <a:off x="822960" y="2423160"/>
            <a:ext cx="382320" cy="38232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 6"/>
          <p:cNvSpPr/>
          <p:nvPr/>
        </p:nvSpPr>
        <p:spPr>
          <a:xfrm>
            <a:off x="822960" y="2423160"/>
            <a:ext cx="38232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7"/>
          <p:cNvSpPr/>
          <p:nvPr/>
        </p:nvSpPr>
        <p:spPr>
          <a:xfrm>
            <a:off x="1435680" y="2423160"/>
            <a:ext cx="958104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decorator that prints "Running..." before any function it wraps runs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Shape 8"/>
          <p:cNvSpPr/>
          <p:nvPr/>
        </p:nvSpPr>
        <p:spPr>
          <a:xfrm>
            <a:off x="822960" y="3300840"/>
            <a:ext cx="382320" cy="38232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 9"/>
          <p:cNvSpPr/>
          <p:nvPr/>
        </p:nvSpPr>
        <p:spPr>
          <a:xfrm>
            <a:off x="822960" y="3300840"/>
            <a:ext cx="38232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10"/>
          <p:cNvSpPr/>
          <p:nvPr/>
        </p:nvSpPr>
        <p:spPr>
          <a:xfrm>
            <a:off x="1435680" y="3300840"/>
            <a:ext cx="958104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Apply your decorator to two different functions using @ syntax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Shape 11"/>
          <p:cNvSpPr/>
          <p:nvPr/>
        </p:nvSpPr>
        <p:spPr>
          <a:xfrm>
            <a:off x="822960" y="4178880"/>
            <a:ext cx="382320" cy="38232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 12"/>
          <p:cNvSpPr/>
          <p:nvPr/>
        </p:nvSpPr>
        <p:spPr>
          <a:xfrm>
            <a:off x="822960" y="4178880"/>
            <a:ext cx="38232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13"/>
          <p:cNvSpPr/>
          <p:nvPr/>
        </p:nvSpPr>
        <p:spPr>
          <a:xfrm>
            <a:off x="1435680" y="4178880"/>
            <a:ext cx="958104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Predict, in your own words, what say_hello = my_decorator(say_hello) does — before checking your answer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14"/>
          <p:cNvSpPr/>
          <p:nvPr/>
        </p:nvSpPr>
        <p:spPr>
          <a:xfrm>
            <a:off x="457200" y="6446520"/>
            <a:ext cx="7313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Functions  ·  Session 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15"/>
          <p:cNvSpPr/>
          <p:nvPr/>
        </p:nvSpPr>
        <p:spPr>
          <a:xfrm>
            <a:off x="11521440" y="644652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0"/>
          <p:cNvSpPr/>
          <p:nvPr/>
        </p:nvSpPr>
        <p:spPr>
          <a:xfrm>
            <a:off x="-1828800" y="4114800"/>
            <a:ext cx="5484600" cy="548460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3" name="Shape 1"/>
          <p:cNvSpPr/>
          <p:nvPr/>
        </p:nvSpPr>
        <p:spPr>
          <a:xfrm>
            <a:off x="9601200" y="-2286000"/>
            <a:ext cx="5484600" cy="548460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Shape 2"/>
          <p:cNvSpPr/>
          <p:nvPr/>
        </p:nvSpPr>
        <p:spPr>
          <a:xfrm>
            <a:off x="5596200" y="731520"/>
            <a:ext cx="1004040" cy="100404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85" name="Image 0" descr="preencoded.png"/>
          <p:cNvPicPr/>
          <p:nvPr/>
        </p:nvPicPr>
        <p:blipFill>
          <a:blip r:embed="rId1"/>
          <a:stretch/>
        </p:blipFill>
        <p:spPr>
          <a:xfrm>
            <a:off x="5742360" y="877680"/>
            <a:ext cx="702360" cy="702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6" name="Text 3"/>
          <p:cNvSpPr/>
          <p:nvPr/>
        </p:nvSpPr>
        <p:spPr>
          <a:xfrm>
            <a:off x="914400" y="1965960"/>
            <a:ext cx="10358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INDUSTRY-STYLE TASKS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 4"/>
          <p:cNvSpPr/>
          <p:nvPr/>
        </p:nvSpPr>
        <p:spPr>
          <a:xfrm>
            <a:off x="914400" y="2377440"/>
            <a:ext cx="10358280" cy="20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Build the Things You’ll Actually Be Asked to Build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 5"/>
          <p:cNvSpPr/>
          <p:nvPr/>
        </p:nvSpPr>
        <p:spPr>
          <a:xfrm>
            <a:off x="1463040" y="4572000"/>
            <a:ext cx="9261000" cy="10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Not toy examples — flexible logging, safe recursion, and reusable factories are everyday, real-world work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9" name="Text 6"/>
          <p:cNvSpPr/>
          <p:nvPr/>
        </p:nvSpPr>
        <p:spPr>
          <a:xfrm>
            <a:off x="11521440" y="644652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41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Shape 0"/>
          <p:cNvSpPr/>
          <p:nvPr/>
        </p:nvSpPr>
        <p:spPr>
          <a:xfrm>
            <a:off x="-1828800" y="5029200"/>
            <a:ext cx="3655800" cy="365580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Shape 1"/>
          <p:cNvSpPr/>
          <p:nvPr/>
        </p:nvSpPr>
        <p:spPr>
          <a:xfrm>
            <a:off x="457200" y="457200"/>
            <a:ext cx="638280" cy="63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92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400" cy="44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3" name="Text 2"/>
          <p:cNvSpPr/>
          <p:nvPr/>
        </p:nvSpPr>
        <p:spPr>
          <a:xfrm>
            <a:off x="1280160" y="457200"/>
            <a:ext cx="10422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Today's Tasks — Part A: Flexible Args &amp; Lambda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Shape 3"/>
          <p:cNvSpPr/>
          <p:nvPr/>
        </p:nvSpPr>
        <p:spPr>
          <a:xfrm>
            <a:off x="457200" y="1600200"/>
            <a:ext cx="11272680" cy="4478760"/>
          </a:xfrm>
          <a:prstGeom prst="roundRect">
            <a:avLst>
              <a:gd name="adj" fmla="val 2449"/>
            </a:avLst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 4"/>
          <p:cNvSpPr/>
          <p:nvPr/>
        </p:nvSpPr>
        <p:spPr>
          <a:xfrm>
            <a:off x="822960" y="1828800"/>
            <a:ext cx="10513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Small tasks — do them in order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Shape 5"/>
          <p:cNvSpPr/>
          <p:nvPr/>
        </p:nvSpPr>
        <p:spPr>
          <a:xfrm>
            <a:off x="822960" y="2423160"/>
            <a:ext cx="400680" cy="400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97" name="Image 1" descr="preencoded.png"/>
          <p:cNvPicPr/>
          <p:nvPr/>
        </p:nvPicPr>
        <p:blipFill>
          <a:blip r:embed="rId2"/>
          <a:stretch/>
        </p:blipFill>
        <p:spPr>
          <a:xfrm>
            <a:off x="887040" y="2487240"/>
            <a:ext cx="281520" cy="28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8" name="Shape 6"/>
          <p:cNvSpPr/>
          <p:nvPr/>
        </p:nvSpPr>
        <p:spPr>
          <a:xfrm>
            <a:off x="1371600" y="2441520"/>
            <a:ext cx="400680" cy="363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 7"/>
          <p:cNvSpPr/>
          <p:nvPr/>
        </p:nvSpPr>
        <p:spPr>
          <a:xfrm>
            <a:off x="1371600" y="2441520"/>
            <a:ext cx="400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 8"/>
          <p:cNvSpPr/>
          <p:nvPr/>
        </p:nvSpPr>
        <p:spPr>
          <a:xfrm>
            <a:off x="1920240" y="2423160"/>
            <a:ext cx="950796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Build a flexible logging function log(level, *messages, **context) that joins the messages and prints each context key=value pair — this is the exact shape of real production logging calls.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Shape 9"/>
          <p:cNvSpPr/>
          <p:nvPr/>
        </p:nvSpPr>
        <p:spPr>
          <a:xfrm>
            <a:off x="822960" y="3593520"/>
            <a:ext cx="400680" cy="400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02" name="Image 2" descr="preencoded.png"/>
          <p:cNvPicPr/>
          <p:nvPr/>
        </p:nvPicPr>
        <p:blipFill>
          <a:blip r:embed="rId3"/>
          <a:stretch/>
        </p:blipFill>
        <p:spPr>
          <a:xfrm>
            <a:off x="887040" y="3657600"/>
            <a:ext cx="281520" cy="28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3" name="Shape 10"/>
          <p:cNvSpPr/>
          <p:nvPr/>
        </p:nvSpPr>
        <p:spPr>
          <a:xfrm>
            <a:off x="1371600" y="3611880"/>
            <a:ext cx="400680" cy="363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 11"/>
          <p:cNvSpPr/>
          <p:nvPr/>
        </p:nvSpPr>
        <p:spPr>
          <a:xfrm>
            <a:off x="1371600" y="3611880"/>
            <a:ext cx="400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 12"/>
          <p:cNvSpPr/>
          <p:nvPr/>
        </p:nvSpPr>
        <p:spPr>
          <a:xfrm>
            <a:off x="1920240" y="3593520"/>
            <a:ext cx="950796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You’re given a list of product dictionaries like [{"name": "Pen", "price": 20}, ...]. Use sorted() with a lambda to sort them by price, then by name.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Shape 13"/>
          <p:cNvSpPr/>
          <p:nvPr/>
        </p:nvSpPr>
        <p:spPr>
          <a:xfrm>
            <a:off x="822960" y="4763880"/>
            <a:ext cx="400680" cy="400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07" name="Image 3" descr="preencoded.png"/>
          <p:cNvPicPr/>
          <p:nvPr/>
        </p:nvPicPr>
        <p:blipFill>
          <a:blip r:embed="rId4"/>
          <a:stretch/>
        </p:blipFill>
        <p:spPr>
          <a:xfrm>
            <a:off x="887040" y="4827960"/>
            <a:ext cx="281520" cy="28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8" name="Shape 14"/>
          <p:cNvSpPr/>
          <p:nvPr/>
        </p:nvSpPr>
        <p:spPr>
          <a:xfrm>
            <a:off x="1371600" y="4782240"/>
            <a:ext cx="400680" cy="363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Text 15"/>
          <p:cNvSpPr/>
          <p:nvPr/>
        </p:nvSpPr>
        <p:spPr>
          <a:xfrm>
            <a:off x="1371600" y="4782240"/>
            <a:ext cx="400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 16"/>
          <p:cNvSpPr/>
          <p:nvPr/>
        </p:nvSpPr>
        <p:spPr>
          <a:xfrm>
            <a:off x="1920240" y="4763880"/>
            <a:ext cx="950796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function apply_discount(prices, rate) that uses map() with a lambda to return every price reduced by rate (e.g. rate=0.1 for 10% off).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 17"/>
          <p:cNvSpPr/>
          <p:nvPr/>
        </p:nvSpPr>
        <p:spPr>
          <a:xfrm>
            <a:off x="457200" y="6446520"/>
            <a:ext cx="7313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Functions  ·  Session 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 18"/>
          <p:cNvSpPr/>
          <p:nvPr/>
        </p:nvSpPr>
        <p:spPr>
          <a:xfrm>
            <a:off x="11521440" y="644652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Shape 0"/>
          <p:cNvSpPr/>
          <p:nvPr/>
        </p:nvSpPr>
        <p:spPr>
          <a:xfrm>
            <a:off x="-1828800" y="5029200"/>
            <a:ext cx="3655800" cy="365580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Shape 1"/>
          <p:cNvSpPr/>
          <p:nvPr/>
        </p:nvSpPr>
        <p:spPr>
          <a:xfrm>
            <a:off x="457200" y="457200"/>
            <a:ext cx="638280" cy="63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15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400" cy="44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6" name="Text 2"/>
          <p:cNvSpPr/>
          <p:nvPr/>
        </p:nvSpPr>
        <p:spPr>
          <a:xfrm>
            <a:off x="1280160" y="457200"/>
            <a:ext cx="10422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Today's Tasks — Part B: Recursion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Shape 3"/>
          <p:cNvSpPr/>
          <p:nvPr/>
        </p:nvSpPr>
        <p:spPr>
          <a:xfrm>
            <a:off x="457200" y="1600200"/>
            <a:ext cx="11272680" cy="4478760"/>
          </a:xfrm>
          <a:prstGeom prst="roundRect">
            <a:avLst>
              <a:gd name="adj" fmla="val 2449"/>
            </a:avLst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 4"/>
          <p:cNvSpPr/>
          <p:nvPr/>
        </p:nvSpPr>
        <p:spPr>
          <a:xfrm>
            <a:off x="822960" y="1828800"/>
            <a:ext cx="10513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Small tasks — do them in order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Shape 5"/>
          <p:cNvSpPr/>
          <p:nvPr/>
        </p:nvSpPr>
        <p:spPr>
          <a:xfrm>
            <a:off x="822960" y="2423160"/>
            <a:ext cx="400680" cy="400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20" name="Image 1" descr="preencoded.png"/>
          <p:cNvPicPr/>
          <p:nvPr/>
        </p:nvPicPr>
        <p:blipFill>
          <a:blip r:embed="rId2"/>
          <a:stretch/>
        </p:blipFill>
        <p:spPr>
          <a:xfrm>
            <a:off x="887040" y="2487240"/>
            <a:ext cx="281520" cy="28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1" name="Shape 6"/>
          <p:cNvSpPr/>
          <p:nvPr/>
        </p:nvSpPr>
        <p:spPr>
          <a:xfrm>
            <a:off x="1371600" y="2441520"/>
            <a:ext cx="400680" cy="363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Text 7"/>
          <p:cNvSpPr/>
          <p:nvPr/>
        </p:nvSpPr>
        <p:spPr>
          <a:xfrm>
            <a:off x="1371600" y="2441520"/>
            <a:ext cx="400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Text 8"/>
          <p:cNvSpPr/>
          <p:nvPr/>
        </p:nvSpPr>
        <p:spPr>
          <a:xfrm>
            <a:off x="1920240" y="2423160"/>
            <a:ext cx="950796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recursive function count_down(n) that prints every number from n down to 1, then prints "Liftoff!" — with a correct base case.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Shape 9"/>
          <p:cNvSpPr/>
          <p:nvPr/>
        </p:nvSpPr>
        <p:spPr>
          <a:xfrm>
            <a:off x="822960" y="3593520"/>
            <a:ext cx="400680" cy="400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25" name="Image 2" descr="preencoded.png"/>
          <p:cNvPicPr/>
          <p:nvPr/>
        </p:nvPicPr>
        <p:blipFill>
          <a:blip r:embed="rId3"/>
          <a:stretch/>
        </p:blipFill>
        <p:spPr>
          <a:xfrm>
            <a:off x="887040" y="3657600"/>
            <a:ext cx="281520" cy="28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6" name="Shape 10"/>
          <p:cNvSpPr/>
          <p:nvPr/>
        </p:nvSpPr>
        <p:spPr>
          <a:xfrm>
            <a:off x="1371600" y="3611880"/>
            <a:ext cx="400680" cy="363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 11"/>
          <p:cNvSpPr/>
          <p:nvPr/>
        </p:nvSpPr>
        <p:spPr>
          <a:xfrm>
            <a:off x="1371600" y="3611880"/>
            <a:ext cx="400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Text 12"/>
          <p:cNvSpPr/>
          <p:nvPr/>
        </p:nvSpPr>
        <p:spPr>
          <a:xfrm>
            <a:off x="1920240" y="3593520"/>
            <a:ext cx="950796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recursive function that sums every number in a nested list of unknown depth, e.g. [1, [2, 3, [4, 5]], 6] should return 21.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Shape 13"/>
          <p:cNvSpPr/>
          <p:nvPr/>
        </p:nvSpPr>
        <p:spPr>
          <a:xfrm>
            <a:off x="822960" y="4763880"/>
            <a:ext cx="400680" cy="400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30" name="Image 3" descr="preencoded.png"/>
          <p:cNvPicPr/>
          <p:nvPr/>
        </p:nvPicPr>
        <p:blipFill>
          <a:blip r:embed="rId4"/>
          <a:stretch/>
        </p:blipFill>
        <p:spPr>
          <a:xfrm>
            <a:off x="887040" y="4827960"/>
            <a:ext cx="281520" cy="28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1" name="Shape 14"/>
          <p:cNvSpPr/>
          <p:nvPr/>
        </p:nvSpPr>
        <p:spPr>
          <a:xfrm>
            <a:off x="1371600" y="4782240"/>
            <a:ext cx="400680" cy="363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Text 15"/>
          <p:cNvSpPr/>
          <p:nvPr/>
        </p:nvSpPr>
        <p:spPr>
          <a:xfrm>
            <a:off x="1371600" y="4782240"/>
            <a:ext cx="400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Text 16"/>
          <p:cNvSpPr/>
          <p:nvPr/>
        </p:nvSpPr>
        <p:spPr>
          <a:xfrm>
            <a:off x="1920240" y="4763880"/>
            <a:ext cx="950796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recursive function flatten(data) that takes a dictionary of unknown nesting depth and returns a single flat list of all its values.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Text 17"/>
          <p:cNvSpPr/>
          <p:nvPr/>
        </p:nvSpPr>
        <p:spPr>
          <a:xfrm>
            <a:off x="457200" y="6446520"/>
            <a:ext cx="7313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Functions  ·  Session 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Text 18"/>
          <p:cNvSpPr/>
          <p:nvPr/>
        </p:nvSpPr>
        <p:spPr>
          <a:xfrm>
            <a:off x="11521440" y="644652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Shape 0"/>
          <p:cNvSpPr/>
          <p:nvPr/>
        </p:nvSpPr>
        <p:spPr>
          <a:xfrm>
            <a:off x="-1828800" y="5029200"/>
            <a:ext cx="3655800" cy="365580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Shape 1"/>
          <p:cNvSpPr/>
          <p:nvPr/>
        </p:nvSpPr>
        <p:spPr>
          <a:xfrm>
            <a:off x="457200" y="457200"/>
            <a:ext cx="638280" cy="63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38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400" cy="44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9" name="Text 2"/>
          <p:cNvSpPr/>
          <p:nvPr/>
        </p:nvSpPr>
        <p:spPr>
          <a:xfrm>
            <a:off x="1280160" y="457200"/>
            <a:ext cx="10422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Today's Tasks — Part C: Closures &amp; Decorators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Shape 3"/>
          <p:cNvSpPr/>
          <p:nvPr/>
        </p:nvSpPr>
        <p:spPr>
          <a:xfrm>
            <a:off x="457200" y="1600200"/>
            <a:ext cx="11272680" cy="4478760"/>
          </a:xfrm>
          <a:prstGeom prst="roundRect">
            <a:avLst>
              <a:gd name="adj" fmla="val 2449"/>
            </a:avLst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Text 4"/>
          <p:cNvSpPr/>
          <p:nvPr/>
        </p:nvSpPr>
        <p:spPr>
          <a:xfrm>
            <a:off x="822960" y="1828800"/>
            <a:ext cx="10513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Small tasks — do them in order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Shape 5"/>
          <p:cNvSpPr/>
          <p:nvPr/>
        </p:nvSpPr>
        <p:spPr>
          <a:xfrm>
            <a:off x="822960" y="2423160"/>
            <a:ext cx="400680" cy="400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43" name="Image 1" descr="preencoded.png"/>
          <p:cNvPicPr/>
          <p:nvPr/>
        </p:nvPicPr>
        <p:blipFill>
          <a:blip r:embed="rId2"/>
          <a:stretch/>
        </p:blipFill>
        <p:spPr>
          <a:xfrm>
            <a:off x="887040" y="2487240"/>
            <a:ext cx="281520" cy="28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4" name="Shape 6"/>
          <p:cNvSpPr/>
          <p:nvPr/>
        </p:nvSpPr>
        <p:spPr>
          <a:xfrm>
            <a:off x="1371600" y="2441520"/>
            <a:ext cx="400680" cy="363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Text 7"/>
          <p:cNvSpPr/>
          <p:nvPr/>
        </p:nvSpPr>
        <p:spPr>
          <a:xfrm>
            <a:off x="1371600" y="2441520"/>
            <a:ext cx="400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Text 8"/>
          <p:cNvSpPr/>
          <p:nvPr/>
        </p:nvSpPr>
        <p:spPr>
          <a:xfrm>
            <a:off x="1920240" y="2423160"/>
            <a:ext cx="950796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Build a make_validator(min_length) factory that returns a function checking whether a given password meets that minimum length.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Shape 9"/>
          <p:cNvSpPr/>
          <p:nvPr/>
        </p:nvSpPr>
        <p:spPr>
          <a:xfrm>
            <a:off x="822960" y="3593520"/>
            <a:ext cx="400680" cy="400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48" name="Image 2" descr="preencoded.png"/>
          <p:cNvPicPr/>
          <p:nvPr/>
        </p:nvPicPr>
        <p:blipFill>
          <a:blip r:embed="rId3"/>
          <a:stretch/>
        </p:blipFill>
        <p:spPr>
          <a:xfrm>
            <a:off x="887040" y="3657600"/>
            <a:ext cx="281520" cy="28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9" name="Shape 10"/>
          <p:cNvSpPr/>
          <p:nvPr/>
        </p:nvSpPr>
        <p:spPr>
          <a:xfrm>
            <a:off x="1371600" y="3611880"/>
            <a:ext cx="400680" cy="363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Text 11"/>
          <p:cNvSpPr/>
          <p:nvPr/>
        </p:nvSpPr>
        <p:spPr>
          <a:xfrm>
            <a:off x="1371600" y="3611880"/>
            <a:ext cx="400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Text 12"/>
          <p:cNvSpPr/>
          <p:nvPr/>
        </p:nvSpPr>
        <p:spPr>
          <a:xfrm>
            <a:off x="1920240" y="3593520"/>
            <a:ext cx="950796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calculate_discount(price, pct) function, then rewrite it so an outer apply_tax(rate) closure wraps and adjusts its result.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Shape 13"/>
          <p:cNvSpPr/>
          <p:nvPr/>
        </p:nvSpPr>
        <p:spPr>
          <a:xfrm>
            <a:off x="822960" y="4763880"/>
            <a:ext cx="400680" cy="400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53" name="Image 3" descr="preencoded.png"/>
          <p:cNvPicPr/>
          <p:nvPr/>
        </p:nvPicPr>
        <p:blipFill>
          <a:blip r:embed="rId4"/>
          <a:stretch/>
        </p:blipFill>
        <p:spPr>
          <a:xfrm>
            <a:off x="887040" y="4827960"/>
            <a:ext cx="281520" cy="28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4" name="Shape 14"/>
          <p:cNvSpPr/>
          <p:nvPr/>
        </p:nvSpPr>
        <p:spPr>
          <a:xfrm>
            <a:off x="1371600" y="4782240"/>
            <a:ext cx="400680" cy="363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Text 15"/>
          <p:cNvSpPr/>
          <p:nvPr/>
        </p:nvSpPr>
        <p:spPr>
          <a:xfrm>
            <a:off x="1371600" y="4782240"/>
            <a:ext cx="400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Text 16"/>
          <p:cNvSpPr/>
          <p:nvPr/>
        </p:nvSpPr>
        <p:spPr>
          <a:xfrm>
            <a:off x="1920240" y="4763880"/>
            <a:ext cx="950796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decorator that catches and reports repeated calls — print how many times the wrapped function has been called, each time it runs.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 17"/>
          <p:cNvSpPr/>
          <p:nvPr/>
        </p:nvSpPr>
        <p:spPr>
          <a:xfrm>
            <a:off x="457200" y="6446520"/>
            <a:ext cx="7313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Functions  ·  Session 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Text 18"/>
          <p:cNvSpPr/>
          <p:nvPr/>
        </p:nvSpPr>
        <p:spPr>
          <a:xfrm>
            <a:off x="11521440" y="644652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Shape 0"/>
          <p:cNvSpPr/>
          <p:nvPr/>
        </p:nvSpPr>
        <p:spPr>
          <a:xfrm>
            <a:off x="-1828800" y="4114800"/>
            <a:ext cx="5484600" cy="548460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0" name="Shape 1"/>
          <p:cNvSpPr/>
          <p:nvPr/>
        </p:nvSpPr>
        <p:spPr>
          <a:xfrm>
            <a:off x="9601200" y="-2286000"/>
            <a:ext cx="5484600" cy="548460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1" name="Shape 2"/>
          <p:cNvSpPr/>
          <p:nvPr/>
        </p:nvSpPr>
        <p:spPr>
          <a:xfrm>
            <a:off x="5596200" y="731520"/>
            <a:ext cx="1004040" cy="100404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62" name="Image 0" descr="preencoded.png"/>
          <p:cNvPicPr/>
          <p:nvPr/>
        </p:nvPicPr>
        <p:blipFill>
          <a:blip r:embed="rId1"/>
          <a:stretch/>
        </p:blipFill>
        <p:spPr>
          <a:xfrm>
            <a:off x="5742360" y="877680"/>
            <a:ext cx="702360" cy="702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3" name="Text 3"/>
          <p:cNvSpPr/>
          <p:nvPr/>
        </p:nvSpPr>
        <p:spPr>
          <a:xfrm>
            <a:off x="914400" y="1965960"/>
            <a:ext cx="10358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PART F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4" name="Text 4"/>
          <p:cNvSpPr/>
          <p:nvPr/>
        </p:nvSpPr>
        <p:spPr>
          <a:xfrm>
            <a:off x="914400" y="2377440"/>
            <a:ext cx="10358280" cy="20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Put It All Together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5" name="Text 5"/>
          <p:cNvSpPr/>
          <p:nvPr/>
        </p:nvSpPr>
        <p:spPr>
          <a:xfrm>
            <a:off x="1463040" y="4572000"/>
            <a:ext cx="9261000" cy="10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Two projects combining flexible arguments, lambda, recursion, closures, and decorators into one cohesive task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6" name="Text 6"/>
          <p:cNvSpPr/>
          <p:nvPr/>
        </p:nvSpPr>
        <p:spPr>
          <a:xfrm>
            <a:off x="11521440" y="644652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45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Shape 0"/>
          <p:cNvSpPr/>
          <p:nvPr/>
        </p:nvSpPr>
        <p:spPr>
          <a:xfrm>
            <a:off x="10515600" y="5669280"/>
            <a:ext cx="3198600" cy="3198600"/>
          </a:xfrm>
          <a:prstGeom prst="roundRect">
            <a:avLst>
              <a:gd name="adj" fmla="val 11429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Shape 1"/>
          <p:cNvSpPr/>
          <p:nvPr/>
        </p:nvSpPr>
        <p:spPr>
          <a:xfrm>
            <a:off x="457200" y="457200"/>
            <a:ext cx="638280" cy="63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69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400" cy="44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0" name="Text 2"/>
          <p:cNvSpPr/>
          <p:nvPr/>
        </p:nvSpPr>
        <p:spPr>
          <a:xfrm>
            <a:off x="1280160" y="457200"/>
            <a:ext cx="10422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Mini Project 1: Configurable Retry Decorator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Shape 3"/>
          <p:cNvSpPr/>
          <p:nvPr/>
        </p:nvSpPr>
        <p:spPr>
          <a:xfrm>
            <a:off x="457200" y="1554480"/>
            <a:ext cx="3655800" cy="4661640"/>
          </a:xfrm>
          <a:prstGeom prst="roundRect">
            <a:avLst>
              <a:gd name="adj" fmla="val 30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Shape 4"/>
          <p:cNvSpPr/>
          <p:nvPr/>
        </p:nvSpPr>
        <p:spPr>
          <a:xfrm>
            <a:off x="1508760" y="2194560"/>
            <a:ext cx="1552680" cy="1552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73" name="Image 1" descr="preencoded.png"/>
          <p:cNvPicPr/>
          <p:nvPr/>
        </p:nvPicPr>
        <p:blipFill>
          <a:blip r:embed="rId2"/>
          <a:stretch/>
        </p:blipFill>
        <p:spPr>
          <a:xfrm>
            <a:off x="1746360" y="2423160"/>
            <a:ext cx="1086480" cy="108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4" name="Text 5"/>
          <p:cNvSpPr/>
          <p:nvPr/>
        </p:nvSpPr>
        <p:spPr>
          <a:xfrm>
            <a:off x="640080" y="3977640"/>
            <a:ext cx="3290040" cy="17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Closure +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decorator,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combined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 6"/>
          <p:cNvSpPr/>
          <p:nvPr/>
        </p:nvSpPr>
        <p:spPr>
          <a:xfrm>
            <a:off x="4572000" y="1737360"/>
            <a:ext cx="7130520" cy="41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decorator factory retry(times) — called as @retry(3) — that re-runs the wrapped function up to that many times if it raises an exception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retry(times) is itself a closure: it takes times, and returns the actual decorator that remembers it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 *args and **kwargs in the inner wrapper so it works with any wrapped function, no matter its own arguments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is genuinely how retry logic is built in real-world networking and API code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Text 7"/>
          <p:cNvSpPr/>
          <p:nvPr/>
        </p:nvSpPr>
        <p:spPr>
          <a:xfrm>
            <a:off x="457200" y="6446520"/>
            <a:ext cx="7313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Functions  ·  Session 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Text 8"/>
          <p:cNvSpPr/>
          <p:nvPr/>
        </p:nvSpPr>
        <p:spPr>
          <a:xfrm>
            <a:off x="11521440" y="644652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Shape 0"/>
          <p:cNvSpPr/>
          <p:nvPr/>
        </p:nvSpPr>
        <p:spPr>
          <a:xfrm>
            <a:off x="10515600" y="5669280"/>
            <a:ext cx="3198600" cy="3198600"/>
          </a:xfrm>
          <a:prstGeom prst="roundRect">
            <a:avLst>
              <a:gd name="adj" fmla="val 11429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Shape 1"/>
          <p:cNvSpPr/>
          <p:nvPr/>
        </p:nvSpPr>
        <p:spPr>
          <a:xfrm>
            <a:off x="457200" y="457200"/>
            <a:ext cx="638280" cy="63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80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6400" cy="44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1" name="Text 2"/>
          <p:cNvSpPr/>
          <p:nvPr/>
        </p:nvSpPr>
        <p:spPr>
          <a:xfrm>
            <a:off x="1280160" y="457200"/>
            <a:ext cx="10422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Mini Project 2: Recursive File-Tree Summary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Shape 3"/>
          <p:cNvSpPr/>
          <p:nvPr/>
        </p:nvSpPr>
        <p:spPr>
          <a:xfrm>
            <a:off x="457200" y="1554480"/>
            <a:ext cx="3655800" cy="4661640"/>
          </a:xfrm>
          <a:prstGeom prst="roundRect">
            <a:avLst>
              <a:gd name="adj" fmla="val 30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Shape 4"/>
          <p:cNvSpPr/>
          <p:nvPr/>
        </p:nvSpPr>
        <p:spPr>
          <a:xfrm>
            <a:off x="1508760" y="2194560"/>
            <a:ext cx="1552680" cy="1552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84" name="Image 1" descr="preencoded.png"/>
          <p:cNvPicPr/>
          <p:nvPr/>
        </p:nvPicPr>
        <p:blipFill>
          <a:blip r:embed="rId2"/>
          <a:stretch/>
        </p:blipFill>
        <p:spPr>
          <a:xfrm>
            <a:off x="1746360" y="2423160"/>
            <a:ext cx="1086480" cy="108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5" name="Text 5"/>
          <p:cNvSpPr/>
          <p:nvPr/>
        </p:nvSpPr>
        <p:spPr>
          <a:xfrm>
            <a:off x="640080" y="3977640"/>
            <a:ext cx="3290040" cy="17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Recursion +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lambda,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combined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Text 6"/>
          <p:cNvSpPr/>
          <p:nvPr/>
        </p:nvSpPr>
        <p:spPr>
          <a:xfrm>
            <a:off x="4572000" y="1737360"/>
            <a:ext cx="7130520" cy="41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You’re given a nested dictionary representing folders and files, with unknown depth: {"src": {"main.py": 120, "utils": {"helpers.py": 45}}}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recursive function that returns the total line count across every file, at every depth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Then write a second version that uses sorted() with a lambda to return the top 3 largest files by line count, across the whole tree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mirrors how real project-analysis and disk-usage tools are actually built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Text 7"/>
          <p:cNvSpPr/>
          <p:nvPr/>
        </p:nvSpPr>
        <p:spPr>
          <a:xfrm>
            <a:off x="457200" y="6446520"/>
            <a:ext cx="7313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Functions  ·  Session 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Text 8"/>
          <p:cNvSpPr/>
          <p:nvPr/>
        </p:nvSpPr>
        <p:spPr>
          <a:xfrm>
            <a:off x="11521440" y="644652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Shape 0"/>
          <p:cNvSpPr/>
          <p:nvPr/>
        </p:nvSpPr>
        <p:spPr>
          <a:xfrm>
            <a:off x="-1828800" y="4114800"/>
            <a:ext cx="5484600" cy="548460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0" name="Shape 1"/>
          <p:cNvSpPr/>
          <p:nvPr/>
        </p:nvSpPr>
        <p:spPr>
          <a:xfrm>
            <a:off x="9601200" y="-2286000"/>
            <a:ext cx="5484600" cy="548460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1" name="Shape 2"/>
          <p:cNvSpPr/>
          <p:nvPr/>
        </p:nvSpPr>
        <p:spPr>
          <a:xfrm>
            <a:off x="5596200" y="731520"/>
            <a:ext cx="1004040" cy="100404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92" name="Image 0" descr="preencoded.png"/>
          <p:cNvPicPr/>
          <p:nvPr/>
        </p:nvPicPr>
        <p:blipFill>
          <a:blip r:embed="rId1"/>
          <a:stretch/>
        </p:blipFill>
        <p:spPr>
          <a:xfrm>
            <a:off x="5742360" y="877680"/>
            <a:ext cx="702360" cy="702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3" name="Text 3"/>
          <p:cNvSpPr/>
          <p:nvPr/>
        </p:nvSpPr>
        <p:spPr>
          <a:xfrm>
            <a:off x="914400" y="1965960"/>
            <a:ext cx="10358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RECAP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4" name="Text 4"/>
          <p:cNvSpPr/>
          <p:nvPr/>
        </p:nvSpPr>
        <p:spPr>
          <a:xfrm>
            <a:off x="914400" y="2377440"/>
            <a:ext cx="10358280" cy="20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*args and **kwargs make functions flexible. Lambda, recursion, closures, and decorators make them powerful.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5" name="Text 5"/>
          <p:cNvSpPr/>
          <p:nvPr/>
        </p:nvSpPr>
        <p:spPr>
          <a:xfrm>
            <a:off x="1463040" y="4572000"/>
            <a:ext cx="9261000" cy="10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Next session: Object-Oriented Programming — classes, objects, __init__, and inheritance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6" name="Text 6"/>
          <p:cNvSpPr/>
          <p:nvPr/>
        </p:nvSpPr>
        <p:spPr>
          <a:xfrm>
            <a:off x="11521440" y="644652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48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</TotalTime>
  <Application>LibreOffice/26.2.5.2$Linux_X86_64 LibreOffice_project/620$Build-2</Application>
  <AppVersion>15.0000</AppVersion>
  <Words>4657</Words>
  <Paragraphs>561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2026-08-14T05:41:50Z</dcterms:created>
  <dc:creator>PptxGenJS</dc:creator>
  <dc:description/>
  <dc:language>en-US</dc:language>
  <cp:lastModifiedBy/>
  <dcterms:modified xsi:type="dcterms:W3CDTF">2026-08-29T15:28:49Z</dcterms:modified>
  <cp:revision>25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48</vt:i4>
  </property>
  <property fmtid="{D5CDD505-2E9C-101B-9397-08002B2CF9AE}" pid="3" name="PresentationFormat">
    <vt:lpwstr>Widescreen</vt:lpwstr>
  </property>
  <property fmtid="{D5CDD505-2E9C-101B-9397-08002B2CF9AE}" pid="4" name="Slides">
    <vt:i4>48</vt:i4>
  </property>
</Properties>
</file>