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C41E6DB-EF33-4C35-9D19-8BEB2BB549C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E2D91F-E91F-4555-ACAE-8DA0AD465C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9DFC32-5968-4FF0-ADF5-69DC09BD68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6EF148-3FB9-4DF8-839D-1EB56B6487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BB471F-AC5D-4AA8-978C-ED03FF631D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5F2D62-46E1-4068-921E-CC67A9208E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9E9676-787F-454C-A3AA-474DBB00A5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565566-468E-424A-9208-3D0FAD2293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6EF868-1A8B-4771-921D-3B7E1B5E6C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D99BD4-786B-4989-949D-1256AEA334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7D47E8-19BF-4F92-80A9-55B98043A5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341AC5-B9ED-4771-802C-B1FBE5C462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428266-6F06-46D3-84E9-8BDCBE1153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6CC999-0CD6-4503-B11C-503B6973E0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EA5CED-C40B-475B-9DE7-7CD349004E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80B359-0D67-40B5-9033-5E3DF6A656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D50765-D5A3-4A4A-B6C7-EFB0FFE347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498638-D2A3-43E6-A973-A9B3B20463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24D785-7CE4-44AA-AC1E-ECF7145E9A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5A6569-FA95-4EC1-B66F-0A413EB881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2045A0-57B8-41AE-BFBD-F7625A88F7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2CEF64-3A1D-4CE4-A983-DB2FB3290F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B8D7A4-8957-45DF-9E8C-05D02A4FD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16576B-6163-4EB0-BB99-CD37AF6516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0457DA-FCEA-4EFB-85E1-5F88BD6D07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06D1BD-5A22-46A8-88F5-18C9B94057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0E8991-8AA9-42BF-851D-A2F7AB7289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CCD341-5DD1-4D34-BA50-4FF93001B6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E82AE4-0490-4B68-A9CC-C8FA5DC14B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826C12-E4AD-43D6-B949-0A5A5135F1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712D7C-3F78-483F-9078-58795EFF66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FFAA2B-DF4B-4E6D-9B69-043535649E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F8B3A9-AE6C-42F9-A9DD-938A23D6F3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2E5A80-6A8F-45C9-8D3B-3C2C7F048E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E69B83-6EA8-44E8-BEB2-54D2601241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EE61B7-1F49-46FA-BD7C-F2431B6D12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587F19-A549-400D-B914-516F4C32FD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CAB85D-7B17-4EEA-B37B-6F2FD1AE7F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1632BF-1202-4A5F-860E-3D934F05C3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F2B4C4-D9AC-4C85-948F-E26C480411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ED4ABA-D1CE-42A1-BF21-8B0E0998B1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6ECC39-A13D-4F8F-BFF3-07158EF701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C3FD4F-393D-472C-86B7-1E44F25AC5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B7CA65-141D-414A-B259-9F3AECD797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CD721E-152B-4786-876D-33A12FE485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F6A5ED-0F5E-4389-9378-A9FA5C1C09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C62EFD-2D71-4DA0-B4D1-91415A15F6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042A3-B307-4DA4-ABD1-75AEAE6C4E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F17FBC-6900-40C1-8DAA-1A1577D791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495400" y="914400"/>
            <a:ext cx="1188360" cy="11883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5678280" y="1097280"/>
            <a:ext cx="831600" cy="83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Advanced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*args, **kwargs, Lambda, Recursion, Closures &amp; Decorators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457200" y="160020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685800" y="170748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1" descr="preencoded.png"/>
          <p:cNvPicPr/>
          <p:nvPr/>
        </p:nvPicPr>
        <p:blipFill>
          <a:blip r:embed="rId2"/>
          <a:stretch/>
        </p:blipFill>
        <p:spPr>
          <a:xfrm>
            <a:off x="758880" y="17805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4"/>
          <p:cNvSpPr/>
          <p:nvPr/>
        </p:nvSpPr>
        <p:spPr>
          <a:xfrm>
            <a:off x="1234440" y="160020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Flexible arguments — *args, **kwargs, and unpacking into a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457200" y="225324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685800" y="236052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2" descr="preencoded.png"/>
          <p:cNvPicPr/>
          <p:nvPr/>
        </p:nvPicPr>
        <p:blipFill>
          <a:blip r:embed="rId3"/>
          <a:stretch/>
        </p:blipFill>
        <p:spPr>
          <a:xfrm>
            <a:off x="758880" y="24336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 7"/>
          <p:cNvSpPr/>
          <p:nvPr/>
        </p:nvSpPr>
        <p:spPr>
          <a:xfrm>
            <a:off x="1234440" y="225324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functions — short, anonymous, one-expression logic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457200" y="290664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685800" y="301356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3" descr="preencoded.png"/>
          <p:cNvPicPr/>
          <p:nvPr/>
        </p:nvPicPr>
        <p:blipFill>
          <a:blip r:embed="rId4"/>
          <a:stretch/>
        </p:blipFill>
        <p:spPr>
          <a:xfrm>
            <a:off x="758880" y="30866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10"/>
          <p:cNvSpPr/>
          <p:nvPr/>
        </p:nvSpPr>
        <p:spPr>
          <a:xfrm>
            <a:off x="1234440" y="290664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— functions that call themselves, and when that’s the right tool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57200" y="355968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685800" y="366660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 descr="preencoded.png"/>
          <p:cNvPicPr/>
          <p:nvPr/>
        </p:nvPicPr>
        <p:blipFill>
          <a:blip r:embed="rId5"/>
          <a:stretch/>
        </p:blipFill>
        <p:spPr>
          <a:xfrm>
            <a:off x="758880" y="37400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3"/>
          <p:cNvSpPr/>
          <p:nvPr/>
        </p:nvSpPr>
        <p:spPr>
          <a:xfrm>
            <a:off x="1234440" y="355968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Closures — functions that remember the scope they were born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457200" y="421272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685800" y="432000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5" descr="preencoded.png"/>
          <p:cNvPicPr/>
          <p:nvPr/>
        </p:nvPicPr>
        <p:blipFill>
          <a:blip r:embed="rId6"/>
          <a:stretch/>
        </p:blipFill>
        <p:spPr>
          <a:xfrm>
            <a:off x="758880" y="439308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6"/>
          <p:cNvSpPr/>
          <p:nvPr/>
        </p:nvSpPr>
        <p:spPr>
          <a:xfrm>
            <a:off x="1234440" y="421272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Decorators — wrapping one function’s behavior around another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57200" y="486576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685800" y="497304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6" descr="preencoded.png"/>
          <p:cNvPicPr/>
          <p:nvPr/>
        </p:nvPicPr>
        <p:blipFill>
          <a:blip r:embed="rId7"/>
          <a:stretch/>
        </p:blipFill>
        <p:spPr>
          <a:xfrm>
            <a:off x="758880" y="504612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9"/>
          <p:cNvSpPr/>
          <p:nvPr/>
        </p:nvSpPr>
        <p:spPr>
          <a:xfrm>
            <a:off x="1234440" y="486576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Today's tasks — industry-style, do-it-yourself practice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457200" y="551916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685800" y="562608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7" descr="preencoded.png"/>
          <p:cNvPicPr/>
          <p:nvPr/>
        </p:nvPicPr>
        <p:blipFill>
          <a:blip r:embed="rId8"/>
          <a:stretch/>
        </p:blipFill>
        <p:spPr>
          <a:xfrm>
            <a:off x="758880" y="56991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2"/>
          <p:cNvSpPr/>
          <p:nvPr/>
        </p:nvSpPr>
        <p:spPr>
          <a:xfrm>
            <a:off x="1234440" y="551916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combining everything from this session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Flexible Arguments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What happens when you don’t know how many values a function needs to accept?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Problem With Fixed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Unknown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normal function locks in exactly how many arguments it accepts — def total(a, b, c) only ever takes three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real functions often can’t know that in advance: a logger might get 1 message or 5, a total() might sum 2 numbers or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Adding a, b, c, d, e... parameters "just in case" doesn’t scale, and callers still hit a wall eventually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Python’s answer is *args and **kwargs — built-in ways to accept "as many as you give me"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*args — Any Number of Positional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 * before a parameter name collects every extra positional argument into a tuple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"args" is just a convention — the * is what matters, not the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function, args behaves like any other tuple — loop over it, index it, len() it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total(*args):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print(type(args))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'tuple'&gt;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sum(args)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total(4, 9)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total(1, 2, 3, 4, 5)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total()    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**kwargs — Any Number of 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asterisks before a parameter name collect every extra keyword argument into a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caller-supplied name becomes a key, and the value they passed becomes that key’s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flexible config, settings, and options are usually handled in real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build_profile(**kwargs):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print(type(kwargs))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kwargs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build_profile(name="Ahmed", age=25)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build_profile(city="Karachi")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{'city': 'Karachi'}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Them — and the Order Python Requires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parameters, *args, and **kwargs can all appear in one function — but only in this fixed order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 first, then *args, then **kwargs — Python enforces this at definition time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Getting the order wrong is a SyntaxError, not a runtime bug — it’s caught before the code even runs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order(item, *args, **kwargs):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print(item)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regular param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print(args)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positional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print(kwargs)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keyword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order("book", "pen", "bag", price=50, qty=2)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book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('pen', 'bag')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{'price': 50, 'qty': 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Unpacking — Spreading a List or Dict Into a Call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and ** also work in the other direction — spreading an existing list or dict out as separate arguments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*my_list unpacks each item as its own positional argument, in order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**my_dict unpacks each key as a keyword argument — the keys must match the function’s parameter names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greet(name, age):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print(f"{name} is {age}")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values = ["Ahmed", 25]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greet(*values)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Ahmed is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info = {"name": "Sara", "age": 22}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greet(**info)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Sara is 22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Flexible Logging Function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Production logging functions never know in advance how many pieces of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context they’ll be given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*args lets the caller pass any number of message parts; **kwargs lets them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attach any extra metadata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— *args + **kwargs — is how most real logging, wrapper,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utility functions are built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log(level, *parts, **meta):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message = " ".join(str(p) for p in parts)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tags = ", ".join(f"{k}={v}" for k, v in meta.items())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print(f"[{level}] {message}  ({tags})")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log("INFO", "User", "logged in", user_id=42, ip="10.0.0.1")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[INFO] User logged in  (user_id=42, ip=10.0.0.1)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Flexible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multiply_all(*args) that multiplies every number passed to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describe(**kwargs) that prints each key and value on its own 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both: a function that takes a required name, then any number of hobbies, then any number of extra facts as keywords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822960" y="5056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822960" y="5056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1435680" y="5056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an existing list of 3 numbers and unpack it into a function that expects three separate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Lambda 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Sometimes a function is so small it doesn’t deserve a name — or a </a:t>
            </a: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def block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Lambda?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line.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value.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name.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lambda is a small, anonymous function — defined and used in a single expression, with no def and no function name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x: x * 2 is a complete function — it takes x, and its result is whatever the expression evaluates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There’s no return keyword — the expression’s value is automatically returned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Lambdas exist for one purpose: to hand a tiny, throwaway function to something else that expects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vs. def — When Each Is the Right Choice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lambda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is one simple expression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passing it directly as an argument (to sorted(), map(), filter()...)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will never be reused or called by name elsewhere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Naming it would add a line without adding clarity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def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needs more than one expression, or any statements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You’ll call it more than once, from more than one place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descriptive name would make the code easier to read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needs a docstring, type hints, or error handling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sorted() — A Perfect Pairing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accepts a key= function that tells it what to sort by — exactly what lambda is built for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Compare this to writing a full, separately-named function just to sort a dictionary by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a one-off sort key, the lambda version is shorter and just as clear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95, "Ali": 72}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Old way: a full named function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by_value(pair):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key=by_value)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With lambda — same result, one 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key=lambda pair: pair[1])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[('Ali', 72), ('Ahmed', 88), ('Sara', 95)]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map() and filter()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map() applies a function to every item in a sequence and returns the transformed results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filter() applies a function that returns True/False, and keeps only the items that pass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Both expect a function as their first argument — lambda supplies it inline, without a separate def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 = [1, 2, 3, 4, 5, 6]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doubled = list(map(lambda n: n * 2, nums))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6, 8, 10, 12]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evens = list(filter(lambda n: n % 2 == 0, nums))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When NOT to Use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Readable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code beats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clever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lambda needs a comment to explain what it does, it should be a named function instead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Chaining multiple lambdas together, or nesting them, is a common real-world code-review flag — it hurts readability fast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same logic is used in more than one place, give it a name — a lambda can’t be reused cleanly or documented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Professional teams treat "would this be clearer as a def?" as the actual test — not "can I fit it on one line?"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lambda that takes a number and returns whether it’s greater than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with a lambda to sort a list of names by their length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map() with a lambda to convert a list of Celsius temperatures to Fahrenheit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4"/>
          <p:cNvSpPr/>
          <p:nvPr/>
        </p:nvSpPr>
        <p:spPr>
          <a:xfrm>
            <a:off x="822960" y="5056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822960" y="5056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435680" y="5056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filter() with a lambda to keep only the words longer than 4 characters from a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Recursion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solves a problem by asking a smaller version of itself to help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Recursion?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function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calling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itself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is a function that calls itself to solve a smaller piece of the same problem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Russian nesting dolls — open one, and there’s a smaller identical doll inside, until you reach the smallest one that doesn’t open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 works on a slightly smaller version of the problem, and the smallest version is simple enough to answer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"simple enough to answer directly" case is what makes the whole chain eventually stop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Two Required Parts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Base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smallest version of the problem — answered directly, with no further recursive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stops the recursion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recursive function needs at least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factorial(0) is defined to be 1, no calculation needed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Recursive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step where the function calls itself on a smaller piece of the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always move toward the base case — never sideways, never backward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Combines its own small piece of work with the result of the smaller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factorial(n) = n ×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Factorial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factorial(n) is n × (n-1) × (n-2) × ... × 1 — a textbook recursive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case: factorial(0)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factorial(n) is n times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factorial(n):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0: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factorial(n - 1)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factorial(3)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factorial(2))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(2 * factorial(1)))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3 * 2 * 1 * 1  -&gt;  24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Recursion Call Stack,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"/>
          <p:cNvSpPr/>
          <p:nvPr/>
        </p:nvSpPr>
        <p:spPr>
          <a:xfrm>
            <a:off x="1097280" y="1691640"/>
            <a:ext cx="999396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1325880" y="1691640"/>
            <a:ext cx="9536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  waiting for factorial(3)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1417320" y="2514600"/>
            <a:ext cx="967392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1645920" y="2514600"/>
            <a:ext cx="9216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factorial(3)  waiting for factorial(2)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1737360" y="3337560"/>
            <a:ext cx="935388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7"/>
          <p:cNvSpPr/>
          <p:nvPr/>
        </p:nvSpPr>
        <p:spPr>
          <a:xfrm>
            <a:off x="1965960" y="3337560"/>
            <a:ext cx="88966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factorial(2)  waiting for factorial(1)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2057400" y="4160520"/>
            <a:ext cx="903384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2286000" y="4160520"/>
            <a:ext cx="8576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factorial(1)  waiting for factorial(0)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377440" y="4983480"/>
            <a:ext cx="8713800" cy="712800"/>
          </a:xfrm>
          <a:prstGeom prst="roundRect">
            <a:avLst>
              <a:gd name="adj" fmla="val 10256"/>
            </a:avLst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1"/>
          <p:cNvSpPr/>
          <p:nvPr/>
        </p:nvSpPr>
        <p:spPr>
          <a:xfrm>
            <a:off x="2606040" y="4983480"/>
            <a:ext cx="8256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factorial(0)  → returns 1   (base case reached)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6" name="Text 12"/>
          <p:cNvSpPr/>
          <p:nvPr/>
        </p:nvSpPr>
        <p:spPr>
          <a:xfrm>
            <a:off x="1097280" y="5852160"/>
            <a:ext cx="999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Each call waits for the one below it to finish — then the results multiply back up the stack: 1, then 2, then 6, then 24.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3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Fibonacci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Fibonacci number is the sum of the two before it: 0, 1, 1, 2, 3, 5, 8, 13...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cases: fib(0) is 0, fib(1)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fib(n) is fib(n-1) + fib(n-2) — two recursive calls, not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fib(n):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&lt;= 1: 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fib(n-1) + fib(n-2)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fib(6)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[fib(n) for n in range(7)]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[0, 1, 1, 2, 3, 5, 8]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Danger of Infinite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=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reaches its base case, it keeps calling itself — forever, in theory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practice, Python raises a RecursionError once the call stack hits its limit (by default, around 1000 calls deep)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recursive cousin of an infinite while loop — same root cause: the stopping condition is never satisfied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fix is always the same: check that every recursive call is moving strictly closer to the base case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vs. Loops — Honest Tradeoffs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Loops win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repetition is simple and flat — no natural nesting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Performance matters — loops avoid the overhead of repeated function calls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is a straightforward sequence you’re stepping through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wins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problem is naturally nested — trees, folders, nested data of unknown depth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step is a smaller version of the exact same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recursive version is dramatically easier to read than the loop-based equivalent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Nested Data of Unknown Depth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contain another dictionary, which can contain another — to any depth, unknown in advance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can’t handle "unknown depth" cleanly, but recursion handles it naturally: dig in, and if you find another dictionary, recurse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pattern is used to walk folder structures, JSON responses, and org charts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sum_nested(data):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data.values():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if isinstance(value, dict):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sum_nested(value)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total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sum_nested({"a": 1, "b": {"c": 2, "d": {"e": 3}}})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sum of all numbers from 1 to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reverses a string (no slicing shortcuts)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Trace factorial(5) by hand, writing out each call on paper before running any code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822960" y="5056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5"/>
          <p:cNvSpPr/>
          <p:nvPr/>
        </p:nvSpPr>
        <p:spPr>
          <a:xfrm>
            <a:off x="822960" y="5056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6"/>
          <p:cNvSpPr/>
          <p:nvPr/>
        </p:nvSpPr>
        <p:spPr>
          <a:xfrm>
            <a:off x="1435680" y="5056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counts how many times a value appears in a nested list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Closures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remembers the variables from where it was created — even after that place is gone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Closure?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Remembers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was born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closure is an inner function that "remembers" the variables from its enclosing function, even after that outer function has finished running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Normally, a function’s local variables disappear once it returns — closures are the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happens automatically whenever an inner function uses a variable from the function that defines it, and that inner function is returned or passed elsewhere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It’s what lets you build customized, reusable functions out of a single template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Closure,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"/>
          <p:cNvSpPr/>
          <p:nvPr/>
        </p:nvSpPr>
        <p:spPr>
          <a:xfrm>
            <a:off x="914400" y="1737360"/>
            <a:ext cx="10359720" cy="4205880"/>
          </a:xfrm>
          <a:prstGeom prst="roundRect">
            <a:avLst>
              <a:gd name="adj" fmla="val 2609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1188720" y="192024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make_multiplier(factor)   — outer function, runs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1188720" y="237744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B564F"/>
                </a:solidFill>
                <a:effectLst/>
                <a:uFillTx/>
                <a:latin typeface="Cantarell"/>
                <a:ea typeface="Consolas"/>
              </a:rPr>
              <a:t>factor =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1463040" y="2926080"/>
            <a:ext cx="9262440" cy="2651400"/>
          </a:xfrm>
          <a:prstGeom prst="roundRect">
            <a:avLst>
              <a:gd name="adj" fmla="val 3448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737360" y="3108960"/>
            <a:ext cx="8686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def multiply(n):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737360" y="3520440"/>
            <a:ext cx="8686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1737360" y="402336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7C588"/>
                </a:solidFill>
                <a:effectLst/>
                <a:uFillTx/>
                <a:latin typeface="Cantarell"/>
                <a:ea typeface="Calibri"/>
              </a:rPr>
              <a:t>↑ "factor" isn’t local here — it reaches back into the outer function’s scope and remembers 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1737360" y="470916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double = make_multiplier(3)   returns multiply, but multiply keeps its own private copy of factor = 3, even though make_multiplier has already finished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Function Factory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make_multiplier(factor) returns a brand-new function, customized with whatever factor was passed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returned function keeps its own private copy of factor — double and triple don’t interfere with each 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"function that builds functions" pattern shows up constantly in real configuration and callback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make_multiplier(factor):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multiply(n):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 * factor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remembers "factor"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multiply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 = make_multiplier(2)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 = make_multiplier(3)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double(5)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triple(5)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9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nonlocal — Modifying an Enclosing Variable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default, an inner function can read an outer variable, but assigning to it creates a new local variable instead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nonlocal tells Python: "this name refers to the enclosing function’s variable, not a new local one"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a closure keeps running state between calls — like a counter that remembers its own count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make_counter():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increment():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nonlocal 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increment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 = make_counter()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Closures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make_greeter(greeting) function that returns a function saying "{greeting}, {name}!" for any 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make_power(exponent) factory — make_power(2) should return a function that squares its 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counter with nonlocal that can count both up and down, using two inner functions sharing one variable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4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Decorators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wraps another function, adding behavior without touching its code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Decorator?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Wraps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 in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extra behavior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decorator is a function that takes another function as input, and returns a new function that wraps it with extra 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original function usually still runs — the decorator just adds something before it, after it, or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it like gift-wrapping: the gift inside doesn’t change, but wrapping paper adds something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a light-touch introduction — you’ll recognize decorators in real code long before you need to write 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Decorator,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1188720" y="1783080"/>
            <a:ext cx="9811080" cy="4023000"/>
          </a:xfrm>
          <a:prstGeom prst="roundRect">
            <a:avLst>
              <a:gd name="adj" fmla="val 3182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1463040" y="1965960"/>
            <a:ext cx="9326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wrapper()   — what actually runs when you call the decorated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1463040" y="2468880"/>
            <a:ext cx="9262440" cy="59400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5"/>
          <p:cNvSpPr/>
          <p:nvPr/>
        </p:nvSpPr>
        <p:spPr>
          <a:xfrm>
            <a:off x="1737360" y="2468880"/>
            <a:ext cx="8686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print("Before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1828800" y="3246120"/>
            <a:ext cx="8530920" cy="1005480"/>
          </a:xfrm>
          <a:prstGeom prst="roundRect">
            <a:avLst>
              <a:gd name="adj" fmla="val 9091"/>
            </a:avLst>
          </a:prstGeom>
          <a:solidFill>
            <a:srgbClr val="13312F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2103120" y="3246120"/>
            <a:ext cx="7954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func()   — the original, un-modified function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4" name="Shape 8"/>
          <p:cNvSpPr/>
          <p:nvPr/>
        </p:nvSpPr>
        <p:spPr>
          <a:xfrm>
            <a:off x="1463040" y="4434840"/>
            <a:ext cx="9262440" cy="59400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1737360" y="4434840"/>
            <a:ext cx="8686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print("After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6" name="Text 10"/>
          <p:cNvSpPr/>
          <p:nvPr/>
        </p:nvSpPr>
        <p:spPr>
          <a:xfrm>
            <a:off x="1463040" y="5166360"/>
            <a:ext cx="926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 original function sits untouched at the center — the decorator only adds layers around it, the same way wrapping paper adds nothing to the gift inside.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Simple Working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my_decorator takes a function, defines a wrapper() that adds behavior, and returns that wrapper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wrapper calls the original function in the middle — that’s the "extra behavior wrapped around it" in action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before/after pattern is the foundation every real-world decorator builds 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Before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After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@ Syntax — Just Syntactic Sugar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Writing @my_decorator directly above a function definition does exactly the same thing as the manual version on the last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@my_decorator above def say_hello(): is Python’s shorthand for say_hello = my_decorator(say_hello)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Nothing new is happening — it’s the same wrapping, just with cleaner, more readable syntax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@my_decorator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same as: say_hello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say_hello()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already wrapped — just call it directly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You’ll Actually See This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457200" y="1508760"/>
            <a:ext cx="3611520" cy="489168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1989000" y="20941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1" descr="preencoded.png"/>
          <p:cNvPicPr/>
          <p:nvPr/>
        </p:nvPicPr>
        <p:blipFill>
          <a:blip r:embed="rId2"/>
          <a:stretch/>
        </p:blipFill>
        <p:spPr>
          <a:xfrm>
            <a:off x="2071080" y="21762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4"/>
          <p:cNvSpPr/>
          <p:nvPr/>
        </p:nvSpPr>
        <p:spPr>
          <a:xfrm>
            <a:off x="548640" y="27158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Flask Routes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03360" y="3099960"/>
            <a:ext cx="3318840" cy="31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@app.route("/home") turns an ordinary function into a URL endpoint — the most common decorator you’ll meet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6"/>
          <p:cNvSpPr/>
          <p:nvPr/>
        </p:nvSpPr>
        <p:spPr>
          <a:xfrm>
            <a:off x="4288680" y="1508760"/>
            <a:ext cx="3611520" cy="489168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7"/>
          <p:cNvSpPr/>
          <p:nvPr/>
        </p:nvSpPr>
        <p:spPr>
          <a:xfrm>
            <a:off x="5820120" y="20941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2" descr="preencoded.png"/>
          <p:cNvPicPr/>
          <p:nvPr/>
        </p:nvPicPr>
        <p:blipFill>
          <a:blip r:embed="rId3"/>
          <a:stretch/>
        </p:blipFill>
        <p:spPr>
          <a:xfrm>
            <a:off x="5902560" y="21762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8"/>
          <p:cNvSpPr/>
          <p:nvPr/>
        </p:nvSpPr>
        <p:spPr>
          <a:xfrm>
            <a:off x="4380120" y="27158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Timing Decorators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9"/>
          <p:cNvSpPr/>
          <p:nvPr/>
        </p:nvSpPr>
        <p:spPr>
          <a:xfrm>
            <a:off x="4434840" y="3099960"/>
            <a:ext cx="3318840" cy="31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 decorator that measures and prints how long a function took to run — without changing the function itself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0"/>
          <p:cNvSpPr/>
          <p:nvPr/>
        </p:nvSpPr>
        <p:spPr>
          <a:xfrm>
            <a:off x="8119800" y="1508760"/>
            <a:ext cx="3611520" cy="489168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1"/>
          <p:cNvSpPr/>
          <p:nvPr/>
        </p:nvSpPr>
        <p:spPr>
          <a:xfrm>
            <a:off x="9651600" y="20941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3" descr="preencoded.png"/>
          <p:cNvPicPr/>
          <p:nvPr/>
        </p:nvPicPr>
        <p:blipFill>
          <a:blip r:embed="rId4"/>
          <a:stretch/>
        </p:blipFill>
        <p:spPr>
          <a:xfrm>
            <a:off x="9733680" y="21762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12"/>
          <p:cNvSpPr/>
          <p:nvPr/>
        </p:nvSpPr>
        <p:spPr>
          <a:xfrm>
            <a:off x="8211240" y="27158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3"/>
          <p:cNvSpPr/>
          <p:nvPr/>
        </p:nvSpPr>
        <p:spPr>
          <a:xfrm>
            <a:off x="8266320" y="3099960"/>
            <a:ext cx="3318840" cy="31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@login_required blocks a function from running unless the user is authenticated — used constantly in web apps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4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prints "Running..." before any function it wraps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Apply your decorator to two different functions using @ syntax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Predict, in your own words, what say_hello = my_decorator(say_hello) does — before checking your answer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5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flexible logging, safe recursion, and reusable factories are everyday, </a:t>
            </a: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real-world 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Flexible Args &amp;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822960" y="242316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Shape 6"/>
          <p:cNvSpPr/>
          <p:nvPr/>
        </p:nvSpPr>
        <p:spPr>
          <a:xfrm>
            <a:off x="1371600" y="244152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"/>
          <p:cNvSpPr/>
          <p:nvPr/>
        </p:nvSpPr>
        <p:spPr>
          <a:xfrm>
            <a:off x="1371600" y="244152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8"/>
          <p:cNvSpPr/>
          <p:nvPr/>
        </p:nvSpPr>
        <p:spPr>
          <a:xfrm>
            <a:off x="1920240" y="242316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flexible logging function log(level, *messages, **context) that joins the messages and prints each context key=value pair — this is the exact shape of real production logging calls.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9"/>
          <p:cNvSpPr/>
          <p:nvPr/>
        </p:nvSpPr>
        <p:spPr>
          <a:xfrm>
            <a:off x="822960" y="359352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2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Shape 10"/>
          <p:cNvSpPr/>
          <p:nvPr/>
        </p:nvSpPr>
        <p:spPr>
          <a:xfrm>
            <a:off x="1371600" y="361188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1"/>
          <p:cNvSpPr/>
          <p:nvPr/>
        </p:nvSpPr>
        <p:spPr>
          <a:xfrm>
            <a:off x="1371600" y="361188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2"/>
          <p:cNvSpPr/>
          <p:nvPr/>
        </p:nvSpPr>
        <p:spPr>
          <a:xfrm>
            <a:off x="1920240" y="359352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list of product dictionaries like [{"name": "Pen", "price": 20}, ...]. Use sorted() with a lambda to sort them by price, then by 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13"/>
          <p:cNvSpPr/>
          <p:nvPr/>
        </p:nvSpPr>
        <p:spPr>
          <a:xfrm>
            <a:off x="822960" y="476388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Shape 14"/>
          <p:cNvSpPr/>
          <p:nvPr/>
        </p:nvSpPr>
        <p:spPr>
          <a:xfrm>
            <a:off x="1371600" y="478224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5"/>
          <p:cNvSpPr/>
          <p:nvPr/>
        </p:nvSpPr>
        <p:spPr>
          <a:xfrm>
            <a:off x="1371600" y="478224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6"/>
          <p:cNvSpPr/>
          <p:nvPr/>
        </p:nvSpPr>
        <p:spPr>
          <a:xfrm>
            <a:off x="1920240" y="4763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apply_discount(prices, rate) that uses map() with a lambda to return every price reduced by rate (e.g. rate=0.1 for 10% off).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"/>
          <p:cNvSpPr/>
          <p:nvPr/>
        </p:nvSpPr>
        <p:spPr>
          <a:xfrm>
            <a:off x="822960" y="242316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Shape 6"/>
          <p:cNvSpPr/>
          <p:nvPr/>
        </p:nvSpPr>
        <p:spPr>
          <a:xfrm>
            <a:off x="1371600" y="244152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"/>
          <p:cNvSpPr/>
          <p:nvPr/>
        </p:nvSpPr>
        <p:spPr>
          <a:xfrm>
            <a:off x="1371600" y="244152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1920240" y="242316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count_down(n) that prints every number from n down to 1, then prints "Liftoff!" — with a correct base case.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9"/>
          <p:cNvSpPr/>
          <p:nvPr/>
        </p:nvSpPr>
        <p:spPr>
          <a:xfrm>
            <a:off x="822960" y="359352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Shape 10"/>
          <p:cNvSpPr/>
          <p:nvPr/>
        </p:nvSpPr>
        <p:spPr>
          <a:xfrm>
            <a:off x="1371600" y="361188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1371600" y="361188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1920240" y="359352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sums every number in a nested list of unknown depth, e.g. [1, [2, 3, [4, 5]], 6] should return 21.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822960" y="476388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0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1" name="Shape 14"/>
          <p:cNvSpPr/>
          <p:nvPr/>
        </p:nvSpPr>
        <p:spPr>
          <a:xfrm>
            <a:off x="1371600" y="478224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5"/>
          <p:cNvSpPr/>
          <p:nvPr/>
        </p:nvSpPr>
        <p:spPr>
          <a:xfrm>
            <a:off x="1371600" y="478224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1920240" y="4763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flatten(data) that takes a dictionary of unknown nesting depth and returns a single flat list of all its values.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Closures &amp;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5"/>
          <p:cNvSpPr/>
          <p:nvPr/>
        </p:nvSpPr>
        <p:spPr>
          <a:xfrm>
            <a:off x="822960" y="242316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3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Shape 6"/>
          <p:cNvSpPr/>
          <p:nvPr/>
        </p:nvSpPr>
        <p:spPr>
          <a:xfrm>
            <a:off x="1371600" y="244152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7"/>
          <p:cNvSpPr/>
          <p:nvPr/>
        </p:nvSpPr>
        <p:spPr>
          <a:xfrm>
            <a:off x="1371600" y="244152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"/>
          <p:cNvSpPr/>
          <p:nvPr/>
        </p:nvSpPr>
        <p:spPr>
          <a:xfrm>
            <a:off x="1920240" y="242316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make_validator(min_length) factory that returns a function checking whether a given password meets that minimum length.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822960" y="359352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Shape 10"/>
          <p:cNvSpPr/>
          <p:nvPr/>
        </p:nvSpPr>
        <p:spPr>
          <a:xfrm>
            <a:off x="1371600" y="361188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1"/>
          <p:cNvSpPr/>
          <p:nvPr/>
        </p:nvSpPr>
        <p:spPr>
          <a:xfrm>
            <a:off x="1371600" y="361188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2"/>
          <p:cNvSpPr/>
          <p:nvPr/>
        </p:nvSpPr>
        <p:spPr>
          <a:xfrm>
            <a:off x="1920240" y="359352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pct) function, then rewrite it so an outer apply_tax(rate) closure wraps and adjusts its result.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3"/>
          <p:cNvSpPr/>
          <p:nvPr/>
        </p:nvSpPr>
        <p:spPr>
          <a:xfrm>
            <a:off x="822960" y="476388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3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Shape 14"/>
          <p:cNvSpPr/>
          <p:nvPr/>
        </p:nvSpPr>
        <p:spPr>
          <a:xfrm>
            <a:off x="1371600" y="478224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5"/>
          <p:cNvSpPr/>
          <p:nvPr/>
        </p:nvSpPr>
        <p:spPr>
          <a:xfrm>
            <a:off x="1371600" y="478224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6"/>
          <p:cNvSpPr/>
          <p:nvPr/>
        </p:nvSpPr>
        <p:spPr>
          <a:xfrm>
            <a:off x="1920240" y="4763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catches and reports repeated calls — print how many times the wrapped function has been called, each time it runs.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F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flexible arguments, lambda, recursion, closures, and decorators into one cohesive task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Configurable Retry Decorator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Closure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decorator,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factory retry(times) — called as @retry(3) — that re-runs the wrapped function up to that many times if it raises an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retry(times) is itself a closure: it takes times, and returns the actual decorator that remembers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*args and **kwargs in the inner wrapper so it works with any wrapped function, no matter its own arguments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retry logic is built in real-world networking and API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Recursive File-Tree Summary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nested dictionary representing folders and files, with unknown depth: {"src": {"main.py": 120, "utils": {"helpers.py": 45}}}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total line count across every file, at every depth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write a second version that uses sorted() with a lambda to return the top 3 largest files by line count, across the whole tree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mirrors how real project-analysis and disk-usage tools are actually built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*args and **kwargs make functions flexible. Lambda, recursion, closures, and decorators make them powerful.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Object-Oriented Programming — classes, objects, __init__, and inheritance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2026-08-14T05:41:50Z</dcterms:created>
  <dc:creator>PptxGenJS</dc:creator>
  <dc:description/>
  <dc:language>en-US</dc:language>
  <cp:lastModifiedBy/>
  <dcterms:modified xsi:type="dcterms:W3CDTF">2026-08-14T10:46:50Z</dcterms:modified>
  <cp:revision>14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48</vt:i4>
  </property>
  <property fmtid="{D5CDD505-2E9C-101B-9397-08002B2CF9AE}" pid="3" name="PresentationFormat">
    <vt:lpwstr>On-screen Show (16:9)</vt:lpwstr>
  </property>
  <property fmtid="{D5CDD505-2E9C-101B-9397-08002B2CF9AE}" pid="4" name="Slides">
    <vt:i4>48</vt:i4>
  </property>
</Properties>
</file>