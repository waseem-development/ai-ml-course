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6400800" cy="64008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-2743200"/>
            <a:ext cx="6400800" cy="64008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495544" y="914400"/>
            <a:ext cx="1188720" cy="118872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8424" y="1097280"/>
            <a:ext cx="832104" cy="8321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37744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Errors, File Handling &amp; Modules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914400" y="3383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Errors, try/except/finally, Reading &amp; Writing Files, and Python’s Built-In Toolbox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Covering Today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457200" y="160020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F1F3EC"/>
          </a:solidFill>
          <a:ln/>
        </p:spPr>
      </p:sp>
      <p:sp>
        <p:nvSpPr>
          <p:cNvPr id="6" name="Shape 3"/>
          <p:cNvSpPr/>
          <p:nvPr/>
        </p:nvSpPr>
        <p:spPr>
          <a:xfrm>
            <a:off x="685800" y="1709928"/>
            <a:ext cx="347472" cy="347472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783080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34440" y="160020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errors — syntax, logical, and runtime, and how to tell them apart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457200" y="2258568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685800" y="2368296"/>
            <a:ext cx="347472" cy="347472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441448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2258568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— try, except, else, finally, and raising your own errors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457200" y="2916936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F1F3EC"/>
          </a:solidFill>
          <a:ln/>
        </p:spPr>
      </p:sp>
      <p:sp>
        <p:nvSpPr>
          <p:cNvPr id="14" name="Shape 9"/>
          <p:cNvSpPr/>
          <p:nvPr/>
        </p:nvSpPr>
        <p:spPr>
          <a:xfrm>
            <a:off x="685800" y="3026664"/>
            <a:ext cx="347472" cy="347472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099816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291693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handling — opening, reading, writing, and safely closing files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457200" y="3575304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8" name="Shape 12"/>
          <p:cNvSpPr/>
          <p:nvPr/>
        </p:nvSpPr>
        <p:spPr>
          <a:xfrm>
            <a:off x="685800" y="3685032"/>
            <a:ext cx="347472" cy="347472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3758184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35753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module actually is, and how import really works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457200" y="4233672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F1F3EC"/>
          </a:solidFill>
          <a:ln/>
        </p:spPr>
      </p:sp>
      <p:sp>
        <p:nvSpPr>
          <p:cNvPr id="22" name="Shape 15"/>
          <p:cNvSpPr/>
          <p:nvPr/>
        </p:nvSpPr>
        <p:spPr>
          <a:xfrm>
            <a:off x="685800" y="4343400"/>
            <a:ext cx="347472" cy="347472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4416552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234440" y="423367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modules — datetime, time, random, and a few more worth knowing</a:t>
            </a:r>
            <a:endParaRPr lang="en-US" sz="1350" dirty="0"/>
          </a:p>
        </p:txBody>
      </p:sp>
      <p:sp>
        <p:nvSpPr>
          <p:cNvPr id="25" name="Shape 17"/>
          <p:cNvSpPr/>
          <p:nvPr/>
        </p:nvSpPr>
        <p:spPr>
          <a:xfrm>
            <a:off x="457200" y="489204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26" name="Shape 18"/>
          <p:cNvSpPr/>
          <p:nvPr/>
        </p:nvSpPr>
        <p:spPr>
          <a:xfrm>
            <a:off x="685800" y="5001768"/>
            <a:ext cx="347472" cy="347472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52" y="5074920"/>
            <a:ext cx="201168" cy="20116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1234440" y="489204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tasks and two mini projects combining everything</a:t>
            </a:r>
            <a:endParaRPr lang="en-US" sz="1350" dirty="0"/>
          </a:p>
        </p:txBody>
      </p:sp>
      <p:sp>
        <p:nvSpPr>
          <p:cNvPr id="29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30" name="Text 2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Errors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handle an error, you need to know which of the three kinds you’re looking at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Error?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423160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 modes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"error" isn’t one thing — Python code can fail in three fundamentally different ways, and the fix for each is completely different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errors — the code is written incorrectly and can’t even start running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errors — the code runs fine, but produces the wrong answer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errors (exceptions) — the code is valid and starts running, but something goes wrong partway through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Syntax Errors — Caught Before the Code Even Runs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syntax error means the code breaks Python’s grammar rules — a missing colon, an unclosed bracket, a mismatched quote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catches these before executing a single line — you get a SyntaxError and the program never starts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usually the easiest to fix — the traceback points directly at the exact line and often the exact character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greet(name)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missing colon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print(f"Hi {name}")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 "script.py", line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greet(name)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^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SyntaxError: expected ':'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Logical Errors — The Code Runs, But the Answer Is Wrong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logical error means the code runs with no crash at all — Python has no way to detect it, because nothing is technically "wrong"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bug is in your thinking, not your syntax — the wrong formula, a swapped condition, an off-by-one loop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hardest to find precisely because Python never complains — you only notice from incorrect output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average(a, b):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+ b / 2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BUG: should be (a + b) / 2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average(10, 20)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20.0   &lt;- wrong! division happened before addition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Expected: 15.0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 error message anywhere — you have to notice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output is wrong yourself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Runtime Errors (Exceptions) — Part 1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3611880" cy="489204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/>
        </p:spPr>
      </p:sp>
      <p:sp>
        <p:nvSpPr>
          <p:cNvPr id="6" name="Shape 3"/>
          <p:cNvSpPr/>
          <p:nvPr/>
        </p:nvSpPr>
        <p:spPr>
          <a:xfrm>
            <a:off x="1988820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6" y="2176272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7157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ZeroDivisionError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03504" y="3099816"/>
            <a:ext cx="33192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0 — dividing by zero, always fatal, never a valid result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288536" y="1508760"/>
            <a:ext cx="3611880" cy="489204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/>
        </p:spPr>
      </p:sp>
      <p:sp>
        <p:nvSpPr>
          <p:cNvPr id="11" name="Shape 7"/>
          <p:cNvSpPr/>
          <p:nvPr/>
        </p:nvSpPr>
        <p:spPr>
          <a:xfrm>
            <a:off x="5820156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452" y="217627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79976" y="27157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IndexError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4434840" y="3099816"/>
            <a:ext cx="33192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my_list[10] on a 3-item list — asking for a position that doesn’t exist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8119872" y="1508760"/>
            <a:ext cx="3611880" cy="489204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/>
        </p:spPr>
      </p:sp>
      <p:sp>
        <p:nvSpPr>
          <p:cNvPr id="16" name="Shape 11"/>
          <p:cNvSpPr/>
          <p:nvPr/>
        </p:nvSpPr>
        <p:spPr>
          <a:xfrm>
            <a:off x="9651492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3788" y="217627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11312" y="27157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KeyError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8266176" y="3099816"/>
            <a:ext cx="33192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my_dict["missing"] — asking for a dictionary key that was never set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Runtime Errors (Exceptions) — Part 2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3611880" cy="489204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/>
        </p:spPr>
      </p:sp>
      <p:sp>
        <p:nvSpPr>
          <p:cNvPr id="6" name="Shape 3"/>
          <p:cNvSpPr/>
          <p:nvPr/>
        </p:nvSpPr>
        <p:spPr>
          <a:xfrm>
            <a:off x="1988820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6" y="2176272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7157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TypeError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03504" y="3099816"/>
            <a:ext cx="33192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"5" + 5 — combining incompatible types the operation can’t handle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288536" y="1508760"/>
            <a:ext cx="3611880" cy="489204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/>
        </p:spPr>
      </p:sp>
      <p:sp>
        <p:nvSpPr>
          <p:cNvPr id="11" name="Shape 7"/>
          <p:cNvSpPr/>
          <p:nvPr/>
        </p:nvSpPr>
        <p:spPr>
          <a:xfrm>
            <a:off x="5820156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452" y="217627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79976" y="27157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ValueError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4434840" y="3099816"/>
            <a:ext cx="33192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int("abc") — the right type, but a value that can’t be converted or used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8119872" y="1508760"/>
            <a:ext cx="3611880" cy="489204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/>
        </p:spPr>
      </p:sp>
      <p:sp>
        <p:nvSpPr>
          <p:cNvPr id="16" name="Shape 11"/>
          <p:cNvSpPr/>
          <p:nvPr/>
        </p:nvSpPr>
        <p:spPr>
          <a:xfrm>
            <a:off x="9651492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3788" y="217627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11312" y="27157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FileNotFoundError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8266176" y="3099816"/>
            <a:ext cx="33192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open("missing.txt") — trying to open a file that isn’t where you said it was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Syntax vs. Logical vs. Runtime — Side by Side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3611880" cy="4892040"/>
          </a:xfrm>
          <a:prstGeom prst="roundRect">
            <a:avLst>
              <a:gd name="adj" fmla="val 2532"/>
            </a:avLst>
          </a:prstGeom>
          <a:solidFill>
            <a:srgbClr val="EFDFB8"/>
          </a:solidFill>
          <a:ln/>
        </p:spPr>
      </p:sp>
      <p:sp>
        <p:nvSpPr>
          <p:cNvPr id="6" name="Shape 3"/>
          <p:cNvSpPr/>
          <p:nvPr/>
        </p:nvSpPr>
        <p:spPr>
          <a:xfrm>
            <a:off x="1988820" y="2093976"/>
            <a:ext cx="548640" cy="5486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6" y="2176272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7157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Error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03504" y="3099816"/>
            <a:ext cx="33192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before running. Program never starts. Fix: correct the grammar Python is pointing at.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288536" y="1508760"/>
            <a:ext cx="3611880" cy="489204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/>
        </p:spPr>
      </p:sp>
      <p:sp>
        <p:nvSpPr>
          <p:cNvPr id="11" name="Shape 7"/>
          <p:cNvSpPr/>
          <p:nvPr/>
        </p:nvSpPr>
        <p:spPr>
          <a:xfrm>
            <a:off x="5820156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452" y="217627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79976" y="27157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Error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4434840" y="3099816"/>
            <a:ext cx="33192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crash at all. Wrong output. Fix: trace your logic by hand, check the actual math or condition.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8119872" y="1508760"/>
            <a:ext cx="3611880" cy="489204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/>
        </p:spPr>
      </p:sp>
      <p:sp>
        <p:nvSpPr>
          <p:cNvPr id="16" name="Shape 11"/>
          <p:cNvSpPr/>
          <p:nvPr/>
        </p:nvSpPr>
        <p:spPr>
          <a:xfrm>
            <a:off x="9651492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3788" y="217627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11312" y="27157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Error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8266176" y="3099816"/>
            <a:ext cx="33192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starts, then crashes partway through. Fix: handle it with try/except, or prevent the bad input.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Set — Types of Errors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yourself first — no code shown, that's the point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35608" y="2423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function with a deliberate missing colon, run it, and read the exact SyntaxError message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" y="3300984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35608" y="3300984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function that calculates a percentage but has a deliberate logical bug — then find and fix it by tracing the math by hand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2960" y="4178808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4178808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a ZeroDivisionError, an IndexError, and a KeyError on purpose, and read each traceback carefully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5056632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5056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35608" y="5056632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of the three errors above, say out loud which category (syntax/logical/runtime) it belongs to and why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Exception Handling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can’t prevent every runtime error — but you can control what happens when one occurs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Exception Handling?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423160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 on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by accident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lets you catch a runtime error when it happens, and decide what your program does next — instead of crashing outright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it, one bad input from a user can end the entire program, even if everything else was working fine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try/except is the core tool — "try this risky code, and if it fails in a specific way, do this instead"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essential in any real program that takes input from users, files, or the internet — all places where things go wrong constantly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/ except — The Basics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inside try runs first — if it completes with no error, except is skipped entirely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 error occurs inside try, Python immediately jumps to except and runs that block instead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program continues normally afterward — the crash is contained, not fatal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number = int(input("Enter a number: "))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print(10 / number)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print("Something went wrong — try again")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Input: "abc"    -&gt; Something went wrong — try again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Input: "0"      -&gt; Something went wrong — try again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Input: "5"      -&gt; 2.0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Catching Specific Exceptions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except catches everything — which also hides bugs you didn’t expect and didn’t mean to catch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the exact exception type lets you respond differently to different problems, and lets unexpected errors still surface normally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except blocks can stack — Python checks them top to bottom and runs the first one that matches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number = int(input("Enter a number: "))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print(10 / number)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print("That's not a valid number")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ZeroDivisionError: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print("Can't divide by zero")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Accessing the Exception Object with as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SomeError as e captures the actual exception object, not just its type — e holds the real error details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str(e) or just printing e shows Python’s own explanation of exactly what went wrong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invaluable for logging — you keep the program running, but still record precisely what happened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10 / 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ZeroDivisionError as 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print(f"Error occurred: {e}")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Error occurred: division by zero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int("abc")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 as 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print(f"Error occurred: {e}")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Error occurred: invalid literal for int() with base 10: 'abc'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else — Runs Only When Nothing Went Wrong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else block runs only if the try block completed with no exception at all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separates "the risky part" (in try) from "what to do once it definitely succeeded" (in else) — keeping each block’s purpose clear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optional, and less commonly used than try/except, but it makes success-only logic explicit rather than just tacked onto the end of try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number = int(input("Enter a number: "))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print("That's not a valid number")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print(f"Great, you entered {number}")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only if NO error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finally — Always Runs, No Matter What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finally runs unconditionally — whether the try succeeded, an exception was caught, or even if the exception wasn’t caught at all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right place for cleanup that absolutely must happen — closing a file, releasing a resource, closing a connection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return inside try or except doesn’t skip finally — it always executes before the function actually returns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 = open("data.txt")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number = int(input("Enter a number: "))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print("Invalid number")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file.close()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print("File closed — this always runs")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/ except / else / finally — The Full Flow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1280160" y="16916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2C6E63"/>
          </a:solidFill>
          <a:ln/>
        </p:spPr>
      </p:sp>
      <p:sp>
        <p:nvSpPr>
          <p:cNvPr id="6" name="Text 3"/>
          <p:cNvSpPr/>
          <p:nvPr/>
        </p:nvSpPr>
        <p:spPr>
          <a:xfrm>
            <a:off x="1280160" y="1691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297680" y="1691640"/>
            <a:ext cx="6583680" cy="822960"/>
          </a:xfrm>
          <a:prstGeom prst="roundRect">
            <a:avLst>
              <a:gd name="adj" fmla="val 11111"/>
            </a:avLst>
          </a:prstGeom>
          <a:solidFill>
            <a:srgbClr val="F1F3E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0" y="16916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first, always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331720" y="2514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B564F"/>
                </a:solidFill>
              </a:rPr>
              <a:t>↓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280160" y="274320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A5473F"/>
          </a:solidFill>
          <a:ln/>
        </p:spPr>
      </p:sp>
      <p:sp>
        <p:nvSpPr>
          <p:cNvPr id="11" name="Text 8"/>
          <p:cNvSpPr/>
          <p:nvPr/>
        </p:nvSpPr>
        <p:spPr>
          <a:xfrm>
            <a:off x="1280160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297680" y="2743200"/>
            <a:ext cx="6583680" cy="822960"/>
          </a:xfrm>
          <a:prstGeom prst="roundRect">
            <a:avLst>
              <a:gd name="adj" fmla="val 11111"/>
            </a:avLst>
          </a:prstGeom>
          <a:solidFill>
            <a:srgbClr val="F1F3EC"/>
          </a:solidFill>
          <a:ln/>
        </p:spPr>
      </p:sp>
      <p:sp>
        <p:nvSpPr>
          <p:cNvPr id="13" name="Text 10"/>
          <p:cNvSpPr/>
          <p:nvPr/>
        </p:nvSpPr>
        <p:spPr>
          <a:xfrm>
            <a:off x="4572000" y="274320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if an error happened in try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2331720" y="3566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B564F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280160" y="379476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C98A2B"/>
          </a:solidFill>
          <a:ln/>
        </p:spPr>
      </p:sp>
      <p:sp>
        <p:nvSpPr>
          <p:cNvPr id="16" name="Text 13"/>
          <p:cNvSpPr/>
          <p:nvPr/>
        </p:nvSpPr>
        <p:spPr>
          <a:xfrm>
            <a:off x="1280160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4297680" y="3794760"/>
            <a:ext cx="6583680" cy="822960"/>
          </a:xfrm>
          <a:prstGeom prst="roundRect">
            <a:avLst>
              <a:gd name="adj" fmla="val 11111"/>
            </a:avLst>
          </a:prstGeom>
          <a:solidFill>
            <a:srgbClr val="F1F3E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0" y="379476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if NO error happened in try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2331720" y="46177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B564F"/>
                </a:solidFill>
              </a:rPr>
              <a:t>↓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1280160" y="484632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13312F"/>
          </a:solidFill>
          <a:ln/>
        </p:spPr>
      </p:sp>
      <p:sp>
        <p:nvSpPr>
          <p:cNvPr id="21" name="Text 18"/>
          <p:cNvSpPr/>
          <p:nvPr/>
        </p:nvSpPr>
        <p:spPr>
          <a:xfrm>
            <a:off x="1280160" y="4846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4297680" y="4846320"/>
            <a:ext cx="6583680" cy="822960"/>
          </a:xfrm>
          <a:prstGeom prst="roundRect">
            <a:avLst>
              <a:gd name="adj" fmla="val 11111"/>
            </a:avLst>
          </a:prstGeom>
          <a:solidFill>
            <a:srgbClr val="F1F3EC"/>
          </a:solidFill>
          <a:ln/>
        </p:spPr>
      </p:sp>
      <p:sp>
        <p:nvSpPr>
          <p:cNvPr id="23" name="Text 20"/>
          <p:cNvSpPr/>
          <p:nvPr/>
        </p:nvSpPr>
        <p:spPr>
          <a:xfrm>
            <a:off x="4572000" y="484632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ALWAYS — error or not, return or not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280160" y="5943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and else are mutually exclusive for a given run — finally runs no matter which path was taken.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raise — Triggering Your Own Exceptions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lets your own code deliberately trigger an exception — not just react to Python’s built-in ones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how you enforce your own rules: "this value is technically valid Python, but invalid for my program"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raise a built-in exception type with a custom message, exactly like Python’s own errors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withdraw(balance, amount):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&gt; balance: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ValueError("Insufficient funds")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balance - amount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withdraw(100, 500)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ValueError: Insufficient funds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withdraw(100, 500)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 as 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print(f"Transaction failed: {e}")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Exception Classes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define your own exception types by inheriting from Exception — giving errors in your program their own specific, meaningful names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lets calling code catch exactly your custom error, separately from every other kind of error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codebases do this constantly — InsufficientFundsError says far more than a generic ValueError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InsufficientFundsError(Exception):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withdraw(balance, amount):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amount &gt; balance: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InsufficientFundsError(f"Need {amount}, have {balance}")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balance - amount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withdraw(100, 500)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InsufficientFundsError as 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print(f"Blocked: {e}")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Blocked: Need 500, have 100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Real-World Use: Safely Validating User Input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while loop combined with try/except is the standard pattern for "keep asking until the input is actually valid"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never trusts the user’s first attempt — it keeps trying until a genuinely valid value gets through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exact pattern shows up in signup forms, CLI tools, and configuration wizards everywhere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get_valid_age():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True: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try: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age = int(input("Enter your age: "))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age &lt; 0: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raise ValueError("Age can't be negative")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age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except ValueError as 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print(f"Invalid input ({e}) — try again")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Set — Exception Handling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yourself first — no code shown, that's the point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35608" y="2423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safe_divide(a, b) function that catches ZeroDivisionError and returns None instead of crashing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" y="3300984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35608" y="3300984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loop that keeps asking for a number until valid, using try/except/else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2960" y="4178808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4178808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finally block that prints "Attempt finished" after every single try, success or failure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5056632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5056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35608" y="5056632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custom NegativeValueError and raise it from a function that rejects negative input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 Handling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your program does disappears when it ends — unless you save it to a file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File Handling Matters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423160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that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survives the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 ending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variable in a running program lives only in memory — the moment the program ends, that data is gone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let a program persist data — logs, saved settings, user records — across separate runs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also how programs actually exchange data with each other — config files, exported reports, data feeds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handling is where error handling becomes essential — missing files, permission issues, and full disks are all things that go wrong constantly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open() and File Modes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open(filename, mode) is the starting point for any file operation — it returns a file object you then read from or write to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"r" (read, default) fails if the file doesn’t exist. "w" (write) creates or completely overwrites the file. "a" (append) adds to the end without erasing what’s there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"x" (exclusive create) fails if the file already exists — useful to avoid accidentally overwriting something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open("notes.txt", "r")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read — error if missing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open("notes.txt", "w")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write — overwrites everything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open("notes.txt", "a")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append — adds to the end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open("notes.txt", "x")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create — error if it already exists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open("notes.txt", "r+")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read AND write, file must exist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Files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read() pulls in the entire file as one single string — fine for small files, wasteful for huge ones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readline() reads just one line at a time, remembering where it left off on the next call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readlines() returns every line as a list of strings; looping directly over the file object does the same thing, one line at a time, more memory-efficiently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 = open("notes.txt", "r")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file.read()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entire file as one string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file.readline()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just the next line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file.readlines()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list of every line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file:  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most common pattern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print(line.strip())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.strip() removes the trailing \n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file.close()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Writing Files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write() writes a string exactly as given — it does not add a newline automatically, unlike print()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writelines() writes a list of strings back to back — you still need to include \n yourself if you want separate lines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"w" starts the file empty every time you open it — use "a" if you want to keep what was already there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 = open("notes.txt", "w")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file.write("First line\n")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file.write("Second line\n")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file.close()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 = ["Third line\n", "Fourth line\n"]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 = open("notes.txt", "a")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append, don't erase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file.writelines(lines)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file.close()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— The Safer Way to Handle Files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file.close() leaves the file locked or data unsaved — an easy, common mistake with manual open/close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open(...) as file: automatically closes the file when the block ends — even if an error occurs inside it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standard, professional way to work with files in Python — you’ll rarely see manual close() in real code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Manual way — easy to forget close(), unsafe on errors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 = open("notes.txt", "r")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 = file.read()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file.close()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right way — closes automatically, even on error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open("notes.txt", "r") as file: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= file.read()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file is already closed here, guaranteed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Whether a File Exists First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os.path.exists() checks whether a file or folder is actually there before you try to use it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lets you avoid a FileNotFoundError entirely, rather than catching one after the fact — both are valid, depending on the situation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real projects, both patterns are common: check-first for expected-missing files, try/except for genuinely unexpected failures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os.path.exists("notes.txt"):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open("notes.txt", "r") as file: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print(file.read())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print("File doesn't exist yet")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Real-World Use: A Safe Log Writer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with, append mode, and try/except is exactly how real applications write to log files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never crashes the whole program just because logging failed — it fails safely and reports the problem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same pattern behind almost every real logging system you’ll ever use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write_log(message):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 open("app.log", "a") as file: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file.write(message + "\n")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OSError as 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print(f"Could not write to log: {e}")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write_log("User logged in")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write_log("Payment processed")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Set — File Handling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yourself first — no code shown, that's the point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35608" y="2423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script that creates a file, writes three lines to it, then reads and prints them back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" y="3300984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35608" y="3300984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to open a file for reading, and confirm it’s closed afterward by checking file.closed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2960" y="4178808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4178808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function that appends a new line to a file only if the file already exists, using os.path.exists()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5056632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5056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35608" y="5056632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file read in try/except to handle FileNotFoundError gracefully, with a helpful message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Modules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You’ve been using modules since your very first import — now let’s understand what they actually are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Module?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423160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a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.py file,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reusable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module is simply a Python file — any .py file can be imported and reused inside another one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ships with a huge standard library of pre-written modules — datetime, random, math, os, and hundreds more — so you don’t have to write everything from scratch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brings a module’s functions, classes, and variables into your own file, under that module’s name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entire foundation of code reuse in Python — organizing related code into files, and pulling in only what you need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 Styles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module_name brings in the whole module — you access things with module_name.thing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module_name import thing brings in just that one piece directly — no prefix needed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module_name as alias gives it a shorter name to type — extremely common with popular libraries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random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random.randint(1, 10)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must prefix with random.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random import randint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randint(1, 10)       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no prefix needed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random as rnd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rnd.randint(1, 10)    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shorter alias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Your Own Module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.py file you write is automatically a module — there’s no special syntax needed to "make" one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named helpers.py containing functions can be imported from another file in the same folder with import helpers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how you split a growing project into organized, reusable files instead of one giant script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helpers.py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greet(name):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f"Hello, {name}!"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= 3.14159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main.py (same folder)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helpers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print(helpers.greet("Ahmed"))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Hello, Ahmed!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print(helpers.PI)     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3.14159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Few Standard Library Modules Worth Knowing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2079346" cy="4892040"/>
          </a:xfrm>
          <a:prstGeom prst="roundRect">
            <a:avLst>
              <a:gd name="adj" fmla="val 4398"/>
            </a:avLst>
          </a:prstGeom>
          <a:solidFill>
            <a:srgbClr val="F1F3EC"/>
          </a:solidFill>
          <a:ln/>
        </p:spPr>
      </p:sp>
      <p:sp>
        <p:nvSpPr>
          <p:cNvPr id="6" name="Shape 3"/>
          <p:cNvSpPr/>
          <p:nvPr/>
        </p:nvSpPr>
        <p:spPr>
          <a:xfrm>
            <a:off x="1222553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849" y="2176272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715768"/>
            <a:ext cx="1896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03504" y="3099816"/>
            <a:ext cx="178673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dates, times, and formatting them for display or storage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756002" y="1508760"/>
            <a:ext cx="2079346" cy="4892040"/>
          </a:xfrm>
          <a:prstGeom prst="roundRect">
            <a:avLst>
              <a:gd name="adj" fmla="val 4398"/>
            </a:avLst>
          </a:prstGeom>
          <a:solidFill>
            <a:srgbClr val="F1F3EC"/>
          </a:solidFill>
          <a:ln/>
        </p:spPr>
      </p:sp>
      <p:sp>
        <p:nvSpPr>
          <p:cNvPr id="11" name="Shape 7"/>
          <p:cNvSpPr/>
          <p:nvPr/>
        </p:nvSpPr>
        <p:spPr>
          <a:xfrm>
            <a:off x="3521354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3650" y="217627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847442" y="2715768"/>
            <a:ext cx="1896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2902306" y="3099816"/>
            <a:ext cx="178673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Pausing execution, and measuring how long code takes to run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54803" y="1508760"/>
            <a:ext cx="2079346" cy="4892040"/>
          </a:xfrm>
          <a:prstGeom prst="roundRect">
            <a:avLst>
              <a:gd name="adj" fmla="val 4398"/>
            </a:avLst>
          </a:prstGeom>
          <a:solidFill>
            <a:srgbClr val="F1F3EC"/>
          </a:solidFill>
          <a:ln/>
        </p:spPr>
      </p:sp>
      <p:sp>
        <p:nvSpPr>
          <p:cNvPr id="16" name="Shape 11"/>
          <p:cNvSpPr/>
          <p:nvPr/>
        </p:nvSpPr>
        <p:spPr>
          <a:xfrm>
            <a:off x="5820156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2452" y="217627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146243" y="2715768"/>
            <a:ext cx="1896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5201107" y="3099816"/>
            <a:ext cx="178673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numbers, random choices, and shuffling — games, sampling, simulations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7353605" y="1508760"/>
            <a:ext cx="2079346" cy="4892040"/>
          </a:xfrm>
          <a:prstGeom prst="roundRect">
            <a:avLst>
              <a:gd name="adj" fmla="val 4398"/>
            </a:avLst>
          </a:prstGeom>
          <a:solidFill>
            <a:srgbClr val="F1F3EC"/>
          </a:solidFill>
          <a:ln/>
        </p:spPr>
      </p:sp>
      <p:sp>
        <p:nvSpPr>
          <p:cNvPr id="21" name="Shape 15"/>
          <p:cNvSpPr/>
          <p:nvPr/>
        </p:nvSpPr>
        <p:spPr>
          <a:xfrm>
            <a:off x="8118958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1254" y="2176272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45045" y="2715768"/>
            <a:ext cx="1896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</a:t>
            </a:r>
            <a:endParaRPr lang="en-US" sz="1350" dirty="0"/>
          </a:p>
        </p:txBody>
      </p:sp>
      <p:sp>
        <p:nvSpPr>
          <p:cNvPr id="24" name="Text 17"/>
          <p:cNvSpPr/>
          <p:nvPr/>
        </p:nvSpPr>
        <p:spPr>
          <a:xfrm>
            <a:off x="7499909" y="3099816"/>
            <a:ext cx="178673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roots, powers, trig, constants like pi — beyond basic arithmetic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9652406" y="1508760"/>
            <a:ext cx="2079346" cy="4892040"/>
          </a:xfrm>
          <a:prstGeom prst="roundRect">
            <a:avLst>
              <a:gd name="adj" fmla="val 4398"/>
            </a:avLst>
          </a:prstGeom>
          <a:solidFill>
            <a:srgbClr val="F1F3EC"/>
          </a:solidFill>
          <a:ln/>
        </p:spPr>
      </p:sp>
      <p:sp>
        <p:nvSpPr>
          <p:cNvPr id="26" name="Shape 19"/>
          <p:cNvSpPr/>
          <p:nvPr/>
        </p:nvSpPr>
        <p:spPr>
          <a:xfrm>
            <a:off x="10417759" y="2093976"/>
            <a:ext cx="548640" cy="54864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0055" y="2176272"/>
            <a:ext cx="384048" cy="38404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9743846" y="2715768"/>
            <a:ext cx="1896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</a:t>
            </a:r>
            <a:endParaRPr lang="en-US" sz="1350" dirty="0"/>
          </a:p>
        </p:txBody>
      </p:sp>
      <p:sp>
        <p:nvSpPr>
          <p:cNvPr id="29" name="Text 21"/>
          <p:cNvSpPr/>
          <p:nvPr/>
        </p:nvSpPr>
        <p:spPr>
          <a:xfrm>
            <a:off x="9798710" y="3099816"/>
            <a:ext cx="178673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Talking to the operating system — file paths, checking what exists, environment info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 — Working With Dates and Times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datetime.now() gets the current date and time, right down to the microsecond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do arithmetic directly with dates — adding a timedelta shifts a date forward or backward by days, hours, or more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strftime() formats a date into exactly the string layout you want, using format codes like %Y, %m, %d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datetime import datetime, timedelta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 = datetime.now()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print(now)              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2026-08-14 10:32:01.123456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tomorrow = now + timedelta(days=1)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print(tomorrow.strftime("%Y-%m-%d"))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2026-08-15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print(now.strftime("%B %d, %Y"))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August 14, 2026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— Pausing and Measuring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time.sleep(seconds) pauses execution for that many seconds — useful for rate-limiting, animations, or retry delays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time.time() returns the current moment as a number (seconds since a fixed reference point) — subtracting two readings gives elapsed time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exact pattern — read time, do work, read time again, subtract — is the standard way to measure how long code takes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time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print("Starting...")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time.sleep(2)   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pause for 2 seconds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print("Done waiting")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= time.time()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= sum(range(1_000_000))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some work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 = time.time()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print(f"Took {end - start:.4f} seconds")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— Randomness, Choices, and Shuffling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random.randint(a, b) gives a random whole number, including both endpoints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random.choice(sequence) picks one random item from a list, tuple, or string — random.sample() picks several without repeats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random.shuffle(list) rearranges a list randomly, in place — it modifies the original list rather than returning a new one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0" y="1691640"/>
            <a:ext cx="6217920" cy="434340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965960"/>
            <a:ext cx="55778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random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random.randint(1, 6)           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a die roll, 1 to 6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random.choice(["rock", "paper", "scissors"])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one random pick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random.sample(range(1, 50), 6) 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6 unique lottery numbers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cards = ["A", "K", "Q", "J"]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random.shuffle(cards)                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shuffles cards in place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Set — Modules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yourself first — no code shown, that's the point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35608" y="2423160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today’s date formatted as "DD/MM/YYYY" using datetime and strftime()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" y="3300984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35608" y="3300984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function that times how long a loop of 100,000 iterations takes, using time.time()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2960" y="4178808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4178808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rolling two dice using random.randint() and print their sum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5056632"/>
            <a:ext cx="384048" cy="384048"/>
          </a:xfrm>
          <a:prstGeom prst="ellipse">
            <a:avLst/>
          </a:prstGeom>
          <a:solidFill>
            <a:srgbClr val="1F5147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5056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35608" y="5056632"/>
            <a:ext cx="9582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own greetings.py module with two functions, then import and use it from a separate script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INDUSTRY-STYLE TASKS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Things You’ll Actually Be Asked to Build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toy examples — safe file writers, validated input loops, and reusable modules are everyday, real-world work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Tasks — Part A: Errors &amp; Exception Handling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tasks — do them in order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487168"/>
            <a:ext cx="283464" cy="283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371600" y="2441448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7"/>
          <p:cNvSpPr/>
          <p:nvPr/>
        </p:nvSpPr>
        <p:spPr>
          <a:xfrm>
            <a:off x="1371600" y="244144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920240" y="242316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divide(a, b) function that catches ZeroDivisionError and TypeError separately, with a specific message for each.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" y="3593592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657600"/>
            <a:ext cx="283464" cy="28346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371600" y="3611880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6" name="Text 11"/>
          <p:cNvSpPr/>
          <p:nvPr/>
        </p:nvSpPr>
        <p:spPr>
          <a:xfrm>
            <a:off x="1371600" y="3611880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920240" y="3593592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get_valid_email() loop that keeps asking until the input contains "@", raising and catching a custom InvalidEmailError.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22960" y="4764024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828032"/>
            <a:ext cx="283464" cy="28346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1371600" y="4782312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1" name="Text 15"/>
          <p:cNvSpPr/>
          <p:nvPr/>
        </p:nvSpPr>
        <p:spPr>
          <a:xfrm>
            <a:off x="1371600" y="4782312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920240" y="4764024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function using try/except/else/finally together, and add a comment explaining exactly when each block runs.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Tasks — Part B: File Handling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tasks — do them in order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487168"/>
            <a:ext cx="283464" cy="283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371600" y="2441448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7"/>
          <p:cNvSpPr/>
          <p:nvPr/>
        </p:nvSpPr>
        <p:spPr>
          <a:xfrm>
            <a:off x="1371600" y="244144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920240" y="242316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function that appends a timestamped entry to a "diary.txt" file every time it’s called, using with and append mode.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" y="3593592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657600"/>
            <a:ext cx="283464" cy="28346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371600" y="3611880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6" name="Text 11"/>
          <p:cNvSpPr/>
          <p:nvPr/>
        </p:nvSpPr>
        <p:spPr>
          <a:xfrm>
            <a:off x="1371600" y="3611880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920240" y="3593592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function that reads a file of numbers (one per line) and returns their sum, wrapped in try/except for FileNotFoundError.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22960" y="4764024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828032"/>
            <a:ext cx="283464" cy="28346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1371600" y="4782312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1" name="Text 15"/>
          <p:cNvSpPr/>
          <p:nvPr/>
        </p:nvSpPr>
        <p:spPr>
          <a:xfrm>
            <a:off x="1371600" y="4782312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920240" y="4764024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word_count(filename) function that reads a file and returns how many words it contains in total.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5029200"/>
            <a:ext cx="3657600" cy="3657600"/>
          </a:xfrm>
          <a:prstGeom prst="ellipse">
            <a:avLst/>
          </a:prstGeom>
          <a:solidFill>
            <a:srgbClr val="EFDFB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Tasks — Part C: Modules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tasks — do them in order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2423160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487168"/>
            <a:ext cx="283464" cy="2834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371600" y="2441448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7"/>
          <p:cNvSpPr/>
          <p:nvPr/>
        </p:nvSpPr>
        <p:spPr>
          <a:xfrm>
            <a:off x="1371600" y="244144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920240" y="242316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function that returns how many days are left until a given future date, using datetime.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" y="3593592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657600"/>
            <a:ext cx="283464" cy="28346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371600" y="3611880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6" name="Text 11"/>
          <p:cNvSpPr/>
          <p:nvPr/>
        </p:nvSpPr>
        <p:spPr>
          <a:xfrm>
            <a:off x="1371600" y="3611880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920240" y="3593592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simple "password generator" using random.choice() over letters, digits, and symbols.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22960" y="4764024"/>
            <a:ext cx="402336" cy="402336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828032"/>
            <a:ext cx="283464" cy="28346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1371600" y="4782312"/>
            <a:ext cx="402336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1" name="Text 15"/>
          <p:cNvSpPr/>
          <p:nvPr/>
        </p:nvSpPr>
        <p:spPr>
          <a:xfrm>
            <a:off x="1371600" y="4782312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920240" y="4764024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stopwatch.py module with start_timer() and stop_timer() functions built on the time module, then use it from another script.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H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It All Together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projects combining error handling, file I/O, and Python’s built-in modules into one cohesive task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 Project 1: Safe File-Based Logger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423160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 +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 +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log_event(message, level="INFO") function that appends timestamped entries to "app.log", using datetime for the timestamp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every file operation in try/except so a full disk or permissions issue never crashes the calling program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read_logs(level=None) function that reads the file back and optionally filters by log level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mirrors how real logging utilities are built in production code, before reaching for a full logging library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5669280"/>
            <a:ext cx="3200400" cy="320040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48056" cy="448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 Project 2: Number Guessing Game With Stats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/>
        </p:spPr>
      </p:sp>
      <p:sp>
        <p:nvSpPr>
          <p:cNvPr id="7" name="Shape 4"/>
          <p:cNvSpPr/>
          <p:nvPr/>
        </p:nvSpPr>
        <p:spPr>
          <a:xfrm>
            <a:off x="1508760" y="2194560"/>
            <a:ext cx="1554480" cy="1554480"/>
          </a:xfrm>
          <a:prstGeom prst="ellipse">
            <a:avLst/>
          </a:prstGeom>
          <a:solidFill>
            <a:srgbClr val="2C6E6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423160"/>
            <a:ext cx="1088136" cy="1088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+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+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handling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4572000" y="1737360"/>
            <a:ext cx="7132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random.randint() to pick a secret number, and time.time() to track how long the player takes to guess it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every guess in try/except so non-numeric input never crashes the game — just asks again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player wins, save their name, number of guesses, and time taken as a new line in "scores.txt"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"view leaderboard" option that reads scores.txt back and prints the fastest three attempts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File Handling &amp; Modules  ·  Session 11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5486400" cy="5486400"/>
          </a:xfrm>
          <a:prstGeom prst="ellipse">
            <a:avLst/>
          </a:prstGeom>
          <a:solidFill>
            <a:srgbClr val="184038"/>
          </a:solidFill>
          <a:ln/>
        </p:spPr>
      </p:sp>
      <p:sp>
        <p:nvSpPr>
          <p:cNvPr id="4" name="Shape 2"/>
          <p:cNvSpPr/>
          <p:nvPr/>
        </p:nvSpPr>
        <p:spPr>
          <a:xfrm>
            <a:off x="5596128" y="731520"/>
            <a:ext cx="1005840" cy="1005840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877824"/>
            <a:ext cx="704088" cy="704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965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E7C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 are unavoidable — try/except/finally, safe file handling, and Python’s built-in modules are how real programs survive them.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63040" y="4572000"/>
            <a:ext cx="9262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session: Advanced Python — comprehensions, generators, and regular expressions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2026-08-15T02:50:21Z</dcterms:created>
  <dcterms:modified xsi:type="dcterms:W3CDTF">2026-08-15T02:50:21Z</dcterms:modified>
</cp:coreProperties>
</file>