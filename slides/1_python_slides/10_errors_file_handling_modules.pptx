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B085ED-F700-439B-9E75-FC73AC0F90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FD654-95D7-446C-B263-94D50421C8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7B38EC-8A69-4926-9D1E-2C7B2EF691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F1E1E-887E-4AF3-924C-8758B64182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366E7-C54B-44C9-8EA4-A9CBDB7D6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0BE371-ED04-4DB1-9E76-63FF343E57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C8749-2ECC-43E3-BEF8-23A602F23F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DA77E6-25D6-4F54-8899-34B4B97362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3E952E-8DF1-4116-9DF6-6942E31CE4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D26EBB-213C-4CAB-9B94-C44D680E3F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4A6282-40EA-4A91-BB6B-EAFFC0F7C4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915D6B-1B22-4FCD-82C5-234F99AEA9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E8B423-D25B-4470-A4E8-B8BFAD32DC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1AEC77-1EC6-4BB6-B34C-71072DD321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4F3D98-3062-4745-8F71-ECAA0F86E4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CAE85-DC66-4E66-A1EA-47396ED3D6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940EC-B6B0-46DE-8F3A-11DBA4DBCD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13736-2CCD-41BC-B4D0-91BE065F2E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FB1F8-D03E-4BA0-B397-28644A3511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F7AFA3-1777-4E0A-A3B0-D58818165A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06D6B2-8BFF-438C-96EC-7F843EB31F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EEB4A-6A7B-48BE-8A2E-AE0EFBD35D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1BB216-DE5C-4820-BEF0-AB66DF577B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054548-CF15-4DA2-8CBA-F5461BE45C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6F9DC-EC54-4CF5-8C7F-7C3DC0DA82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F443E3-5059-40B9-B364-13FAE5AFE6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0ED72A-E543-439F-85D0-DC8A9C59AF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4305F-EB6A-4442-BED4-EF328D3AD0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81974C-3FF0-41CA-87ED-23AD6B3AA9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AB6A9-98DA-4E81-8BB2-492D87777C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F547C-3BC3-4D1C-88F6-FD0E1B6A0B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F4316-4579-4AD7-8174-1DB2662EEA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C9A53A-BC54-4DBF-87AE-8BB9373D73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E70697-DB84-4FD9-A5CE-7A09D379B2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9FC8F-BDFE-4D58-BE95-60DD818956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A828B9-1A04-4B6F-93C3-7C24E750A2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92B5D8-1201-4CC7-B08A-A4DD95B719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B8B19-4E18-45E1-A340-67CA1DE16E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E1F4EC-3ED6-4161-A618-576192A656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52CFF-56D9-456C-AE62-24E937074C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E01B1-395D-4017-8423-86F4E9AC8D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43B0C0-3D80-48CD-8AA3-9A89585815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1323D-6B31-4E8F-B169-327BE2B5A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D26FF-9514-4875-B11D-917E0DB190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2D2B1F-39A5-4BB7-9682-3AD0A695B6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4A8013-9946-4645-8EF2-666A1A6E3F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A732F7-ADA2-44BC-AE7D-C22EB6F1DE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C8F514-022A-42C1-8A11-13DCADDCB0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9DFD60-70B1-474A-B21D-496B9EC043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9540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678280" y="109728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Errors, File Handling &amp; Modules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Types of Errors, try/except/finally, Reading &amp; Writing Files, and Python’s Built-In Toolbox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60020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85800" y="171000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30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234440" y="16002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Types of errors — syntax, logical, and runtime, and how to tell them apart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225864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85800" y="236844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758880" y="24415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1234440" y="225864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Exception handling — try, except, else, finally, and raising your own errors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91708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85800" y="302652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3" descr="preencoded.png"/>
          <p:cNvPicPr/>
          <p:nvPr/>
        </p:nvPicPr>
        <p:blipFill>
          <a:blip r:embed="rId4"/>
          <a:stretch/>
        </p:blipFill>
        <p:spPr>
          <a:xfrm>
            <a:off x="758880" y="3099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1234440" y="291708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 handling — opening, reading, writing, and safely closing files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357516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85800" y="368496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4" descr="preencoded.png"/>
          <p:cNvPicPr/>
          <p:nvPr/>
        </p:nvPicPr>
        <p:blipFill>
          <a:blip r:embed="rId5"/>
          <a:stretch/>
        </p:blipFill>
        <p:spPr>
          <a:xfrm>
            <a:off x="758880" y="3758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234440" y="357516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a module actually is, and how import really works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57200" y="423360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85800" y="434340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5" descr="preencoded.png"/>
          <p:cNvPicPr/>
          <p:nvPr/>
        </p:nvPicPr>
        <p:blipFill>
          <a:blip r:embed="rId6"/>
          <a:stretch/>
        </p:blipFill>
        <p:spPr>
          <a:xfrm>
            <a:off x="758880" y="44164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1234440" y="42336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Built-in modules — datetime, time, random, and a few more worth knowing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57200" y="4892040"/>
            <a:ext cx="1127412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685800" y="5001840"/>
            <a:ext cx="347040" cy="347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6" descr="preencoded.png"/>
          <p:cNvPicPr/>
          <p:nvPr/>
        </p:nvPicPr>
        <p:blipFill>
          <a:blip r:embed="rId7"/>
          <a:stretch/>
        </p:blipFill>
        <p:spPr>
          <a:xfrm>
            <a:off x="758880" y="5074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1234440" y="489204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Today's tasks and two mini projects combining everything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Types of Errors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Befor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 you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can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handl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 an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error,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need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know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whic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h of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three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kinds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you’r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looki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ng at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an Error?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different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failure modes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"error" isn’t one thing — Python code can fail in three fundamentally different ways, and the fix for each is completely different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Syntax errors — the code is written incorrectly and can’t even start running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errors — the code runs fine, but produces the wrong answer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Runtime errors (exceptions) — the code is valid and starts running, but something goes wrong partway through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Syntax Errors — Caught Before the Code Even Runs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syntax error means the code breaks Python’s grammar rules — a missing colon, an unclosed bracket, a mismatched quote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catches these before executing a single line — you get a SyntaxError and the program never starts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are usually the easiest to fix — the traceback points directly at the exact line and often the exact character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greet(name)     </a:t>
            </a:r>
            <a:r>
              <a:rPr lang="en-US" sz="20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missing colon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print(f"Hi {name}")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File "script.py", line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greet(name)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       ^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SyntaxError: expected ':'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Errors — The Code Runs, But the Answer Is Wrong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logical error means the code runs with no crash at all — Python has no way to detect it, because nothing is technically "wrong"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bug is in your thinking, not your syntax — the wrong formula, a swapped condition, an off-by-one loop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are the hardest to find precisely because Python never complains — you only notice from incorrect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average(a, b):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a + b / 2     </a:t>
            </a: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BUG: should be (a + b) /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average(10, 20)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20.0   &lt;- wrong! division happened before addition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Expected: 15.0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No error message anywhere — you have to notice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the output is wrong yourself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Runtime Errors (Exceptions) — Part 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4572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198900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4"/>
          <p:cNvSpPr/>
          <p:nvPr/>
        </p:nvSpPr>
        <p:spPr>
          <a:xfrm>
            <a:off x="5486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ZeroDivisionError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60336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10 / 0 — dividing by zero, always fatal, never a valid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428868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582012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8"/>
          <p:cNvSpPr/>
          <p:nvPr/>
        </p:nvSpPr>
        <p:spPr>
          <a:xfrm>
            <a:off x="438012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443484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my_list[10] on a 3-item list — asking for a position that doesn’t exist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81198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965160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2"/>
          <p:cNvSpPr/>
          <p:nvPr/>
        </p:nvSpPr>
        <p:spPr>
          <a:xfrm>
            <a:off x="82112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KeyError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826632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my_dict["missing"] — asking for a dictionary key that was never 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Runtime Errors (Exceptions) — Part 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4572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98900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5486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60336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"5" + 5 — combining incompatible types the operation can’t handle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28868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582012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8"/>
          <p:cNvSpPr/>
          <p:nvPr/>
        </p:nvSpPr>
        <p:spPr>
          <a:xfrm>
            <a:off x="438012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43484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int("abc") — the right type, but a value that can’t be converted or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81198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965160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2"/>
          <p:cNvSpPr/>
          <p:nvPr/>
        </p:nvSpPr>
        <p:spPr>
          <a:xfrm>
            <a:off x="82112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FileNotFoundError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826632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open("missing.txt") — trying to open a file that isn’t where you said it was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Syntax vs. Logical vs. Runtime — Side by Side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4572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989000" y="2094120"/>
            <a:ext cx="548280" cy="5482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5486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Syntax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0336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Caught before running. Program never starts. Fix: correct the grammar Python is pointing at.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28868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2012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438012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43484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 crash at all. Wrong output. Fix: trace your logic by hand, check the actual math or condition.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8119800" y="150876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5160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2"/>
          <p:cNvSpPr/>
          <p:nvPr/>
        </p:nvSpPr>
        <p:spPr>
          <a:xfrm>
            <a:off x="82112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Runtime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26632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Program starts, then crashes partway through. Fix: handle it with try/except, or prevent the bad input.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Types of Errors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with a deliberate missing colon, run it, and read the exact SyntaxError message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822960" y="33008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822960" y="3300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1435680" y="3300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calculates a percentage but has a deliberate logical bug — then find and fix it by tracing the math by hand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822960" y="41788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822960" y="417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1435680" y="4178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Trigger a ZeroDivisionError, an IndexError, and a KeyError on purpose, and read each traceback carefully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822960" y="5056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822960" y="50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1435680" y="5056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each of the three errors above, say out loud which category (syntax/logical/runtime) it belongs to and why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Exception Handling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 can’t prevent every runtime error — but you can control what happens when one occurs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Exception Handling?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Fail 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purpose,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by accident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Exception handling lets you catch a runtime error when it happens, and decide what your program does next — instead of crashing outright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it, one bad input from a user can end the entire program, even if everything else was working fine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try/except is the core tool — "try this risky code, and if it fails in a specific way, do this instead"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essential in any real program that takes input from users, files, or the internet — all places where things go wrong constantly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/ except — The Basics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Code inside try runs first — if it completes with no error, except is skipped entirely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an error occurs inside try, Python immediately jumps to except and runs that block instead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rest of the program continues normally afterward — the crash is contained, not fatal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print(10 / number)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print("Something went wrong — try again")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"abc"    -&gt; Something went wrong — try again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"0"      -&gt; Something went wrong — try again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Input: "5"      -&gt; 2.0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Catching Specific Exceptions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bare except catches everything — which also hides bugs you didn’t expect and didn’t mean to catch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Naming the exact exception type lets you respond differently to different problems, and lets unexpected errors still surface normally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Multiple except blocks can stack — Python checks them top to bottom and runs the first one that matches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print(10 / number)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print("That's not a valid number")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ZeroDivisionError: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print("Can't divide by zero")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Accessing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Exception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Object with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except SomeError as e captures the actual exception object, not just its type — e holds the real error details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str(e) or just printing e shows Python’s own explanation of exactly what went wrong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invaluable for logging — you keep the program running, but still record precisely what happened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result = 10 / 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ZeroDivisionError as 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print(f"Error occurred: {e}")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</a:t>
            </a: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Error occurred: division by zero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int("abc")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 as 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print(f"Error occurred: {e}")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</a:t>
            </a: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Error occurred: invalid literal for int() with base 10: 'abc'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else — Runs Only When Nothing Went Wrong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else block runs only if the try block completed with no exception at 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separates "the risky part" (in try) from "what to do once it definitely succeeded" (in else) — keeping each block’s purpose clear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It’s optional, and less commonly used than try/except, but it makes success-only logic explicit rather than just tacked onto the end of try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print("That's not a valid number")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print(f"Great, you entered {number}") </a:t>
            </a:r>
            <a:r>
              <a:rPr lang="en-US" sz="180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only if NO 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finally — Always Runs, No Matter What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finally runs unconditionally — whether the try succeeded, an exception was caught, or even if the exception wasn’t caught at 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right place for cleanup that absolutely must happen — closing a file, releasing a resource, closing a connection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Even a return inside try or except doesn’t skip finally — it always executes before the function actually returns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number = int(input("Enter a number: "))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print("Invalid number")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finally: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print("This always runs")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/ except / else / finally — The Full Flow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1280160" y="1691640"/>
            <a:ext cx="2742840" cy="822600"/>
          </a:xfrm>
          <a:prstGeom prst="roundRect">
            <a:avLst>
              <a:gd name="adj" fmla="val 11111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1280160" y="16916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try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4297680" y="1691640"/>
            <a:ext cx="6583320" cy="82260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4572000" y="1691640"/>
            <a:ext cx="6126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first, always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2331720" y="25146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1280160" y="2743200"/>
            <a:ext cx="2742840" cy="822600"/>
          </a:xfrm>
          <a:prstGeom prst="roundRect">
            <a:avLst>
              <a:gd name="adj" fmla="val 11111"/>
            </a:avLst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1280160" y="27432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except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4297680" y="2743200"/>
            <a:ext cx="6583320" cy="82260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4572000" y="2743200"/>
            <a:ext cx="6126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if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error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happen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ed in 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2331720" y="356616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1280160" y="3794760"/>
            <a:ext cx="2742840" cy="822600"/>
          </a:xfrm>
          <a:prstGeom prst="roundRect">
            <a:avLst>
              <a:gd name="adj" fmla="val 11111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1280160" y="37947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else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4297680" y="3794760"/>
            <a:ext cx="6583320" cy="82260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4572000" y="3794760"/>
            <a:ext cx="6126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ONLY if NO error happened in 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233172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1280160" y="4846320"/>
            <a:ext cx="2742840" cy="822600"/>
          </a:xfrm>
          <a:prstGeom prst="roundRect">
            <a:avLst>
              <a:gd name="adj" fmla="val 11111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1280160" y="48463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fin</a:t>
            </a: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ally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4297680" y="4846320"/>
            <a:ext cx="6583320" cy="822600"/>
          </a:xfrm>
          <a:prstGeom prst="roundRect">
            <a:avLst>
              <a:gd name="adj" fmla="val 111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4572000" y="4846320"/>
            <a:ext cx="6126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ALWAYS — error or not, return or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280160" y="594360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except and else are mutually exclusive for a given run — finally runs no matter which path was taken.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raise — Triggering Your Own Exceptions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raise lets your own code deliberately trigger an exception — not just react to Python’s built-in ones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how you enforce your own rules: "this value is technically valid Python, but invalid for my program"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raise a built-in exception type with a custom message, exactly like Python’s own errors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withdraw(balance, amount):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amount &gt; balance: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raise ValueError("Insufficient funds")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balance - amount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withdraw(10​0, 500)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ValueError: Insufficient funds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withdraw(100, 500)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ValueError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print(f"Transaction failed: {e}")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Custom Exception Classes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define your own exception types by inheriting from Exception — giving errors in your program their own specific, meaningful names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lets calling code catch exactly your custom error, separately from every other kind of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Real-world codebases do this constantly — InsufficientFundsError says far more than a generic ValueError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class InsufficientFundsError(Exception):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withdraw(balance, amount):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amount &gt; balance: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raise InsufficientFundsError(f"Need {amount}, have {balance}")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balance - amount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withdraw(100, 500)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except InsufficientFundsError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print(f"Blocked: {e}")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Blocked: Need 500, have 100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Safely Validating User Input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while loop combined with try/except is the standard pattern for "keep asking until the input is actually valid"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loop never trusts the user’s first attempt — it keeps trying until a genuinely valid value gets through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shows up in signup forms, CLI tools, and configuration wizards everywhere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get_valid_age():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while True: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age = int(input("Enter your age: 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if age &lt; 0: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    raise ValueError("Age can't be negative")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return 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except ValueError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print(f"Invalid input ({e}) — try again")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Exception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safe_divide(a, b) function that catches ZeroDivisionError and returns None instead of crashing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822960" y="33008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822960" y="3300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1435680" y="3300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loop that keeps asking for a number until valid, using try/except/else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822960" y="41788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822960" y="417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1435680" y="4178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finally block that prints "Attempt finished" after every single try, success or failure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822960" y="5056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822960" y="50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1435680" y="5056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custom NegativeValueError and raise it from a function that rejects negative input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File Handling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Everything your program does disappears when it ends — unless you save it to a file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File Handling Matters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that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survives the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program ending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variable in a running program lives only in memory — the moment the program ends, that data is gone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Files let a program persist data — logs, saved settings, user records — across separate runs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also how programs actually exchange data with each other — config files, exported reports, data feeds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File handling is where error handling becomes essential — missing files, permission issues, and full disks are all things that go wrong constantly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open() and File Modes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open(filename, mode) is the starting point for any file operation — it returns a file object you then read from or write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"r" (read, default) fails if the file doesn’t exist. "w" (write) creates or completely overwrites the file. "a" (append) adds to the end without erasing what’s there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"x" (exclusive create) fails if the file already exists — useful to avoid accidentally overwriting something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"r")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read — error if missing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"w")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write — overwrites everything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"a")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append — adds to the 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"x")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create — error if it already exists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open("notes.txt", "r+")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read AND write, file must exist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Reading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read() pulls in the entire file as one single string — fine for small files, wasteful for huge ones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readline() reads just one line at a time, remembering where it left off on the next call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readlines() returns every line as a list of strings; looping directly over the file object does the same thing, one line at a time, more memory-efficiently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"r")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file.read()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entire file as one string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file.readline()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just the next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file.readlines()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list of every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for line in file: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most common pattern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print(line.strip())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.strip() removes the trailing \n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Writing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write() writes a string exactly as given — it does not add a newline automatically, unlike print()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writelines() writes a list of strings back to back — you still need to include \n yourself if you want separate lines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Mode "w" starts the file empty every time you open it — use "a" if you want to keep what was already there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"w")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file.write("First line\n")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file.write("Second line\n")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lines = ["Third line\n", "Fourth line\n"]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"a")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append, don't erase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file.writelines(lines)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with — The Safer Way to Handle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Forgetting file.close() leaves the file locked or data unsaved — an easy, common mistake with manual open/close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open(...) as file: automatically closes the file when the block ends — even if an error occurs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standard, professional way to work with files in Python — you’ll rarely see manual close() in real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Manual way — easy to forget close(), unsafe on errors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 = open("notes.txt", "r")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content = file.read()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file.close()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The right way — closes automatically, even on error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with open("notes.txt", "r")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content = file.read()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file is already closed here, guaranteed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Checking Whether a File Exists First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os.path.exists() checks whether a file or folder is actually there before you try to use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lets you avoid a FileNotFoundError entirely, rather than catching one after the fact — both are valid, depending on the situation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real projects, both patterns are common: check-first for expected-missing files, try/except for genuinely unexpected failures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if os.path.exists("notes.txt"):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with open("notes.txt", "r")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print(file.read())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else: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print("File doesn't exist yet")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A Safe Log Writer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Combining with, append mode, and try/except is exactly how real applications write to log files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function never crashes the whole program just because logging failed — it fails safely and reports the problem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same pattern behind almost every real logging system you’ll ever use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def write_log(message):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try: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with open("app.log", "a")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    file.write(message + "\n")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except OSError as 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    print(f"Could not write to log: {e}")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write_log("User logged in")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write_log("Payment processed")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File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script that creates a file, writes three lines to it, then reads and prints them back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822960" y="33008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822960" y="3300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0"/>
          <p:cNvSpPr/>
          <p:nvPr/>
        </p:nvSpPr>
        <p:spPr>
          <a:xfrm>
            <a:off x="1435680" y="3300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with to open a file for reading, and confirm it’s closed afterward by checking file.closed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822960" y="41788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822960" y="417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1435680" y="4178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appends a new line to a file only if the file already exists, using os.path.exists()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822960" y="5056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822960" y="50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1435680" y="5056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a file read in try/except to handle FileNotFoundError gracefully, with a helpful message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Modules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You’ve been using modules since your very first import — now let’s understand what they actually 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Module?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1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Just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.py file,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reusable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module is simply a Python file — any .py file can be imported and reused inside another 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ships with a huge standard library of pre-written modules — datetime, random, math, os, and hundreds more — so you don’t have to write everything from scratch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brings a module’s functions, classes, and variables into your own file, under that module’s 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entire foundation of code reuse in Python — organizing related code into files, and pulling in only what you need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Import Styles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module_name brings in the whole module — you access things with module_name.thing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from module_name import thing brings in just that one piece directly — no prefix needed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import module_name as alias gives it a shorter name to type — extremely common with popular libraries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random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random.randint(1, 10)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must prefix with random.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from random import randint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randint(1, 10)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no prefix needed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random as rnd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rnd.randint(1, 10)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shorter alias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Your Own Module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Any .py file you write is automatically a module — there’s no special syntax needed to "make" 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file named helpers.py containing functions can be imported from another file in the same folder with import helpers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how you split a growing project into organized, reusable files instead of one giant script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helpers.py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def greet(name):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   return f"Hello, {name}!"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PI = 3.14159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main.py (same folder)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import helpers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print(helpers.greet("Ahmed"))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Hello, Ahmed!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print(helpers.PI)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  # 3.14159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Few Standard Library Modules Worth Knowing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457200" y="1508760"/>
            <a:ext cx="2079000" cy="489168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122256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1" descr="preencoded.png"/>
          <p:cNvPicPr/>
          <p:nvPr/>
        </p:nvPicPr>
        <p:blipFill>
          <a:blip r:embed="rId2"/>
          <a:stretch/>
        </p:blipFill>
        <p:spPr>
          <a:xfrm>
            <a:off x="130500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4"/>
          <p:cNvSpPr/>
          <p:nvPr/>
        </p:nvSpPr>
        <p:spPr>
          <a:xfrm>
            <a:off x="548640" y="2715840"/>
            <a:ext cx="189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datetime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603360" y="3099960"/>
            <a:ext cx="178632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Working with dates, times, and formatting them for display or storage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6"/>
          <p:cNvSpPr/>
          <p:nvPr/>
        </p:nvSpPr>
        <p:spPr>
          <a:xfrm>
            <a:off x="2756160" y="1508760"/>
            <a:ext cx="2079000" cy="489168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7"/>
          <p:cNvSpPr/>
          <p:nvPr/>
        </p:nvSpPr>
        <p:spPr>
          <a:xfrm>
            <a:off x="352152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2" descr="preencoded.png"/>
          <p:cNvPicPr/>
          <p:nvPr/>
        </p:nvPicPr>
        <p:blipFill>
          <a:blip r:embed="rId3"/>
          <a:stretch/>
        </p:blipFill>
        <p:spPr>
          <a:xfrm>
            <a:off x="360360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8"/>
          <p:cNvSpPr/>
          <p:nvPr/>
        </p:nvSpPr>
        <p:spPr>
          <a:xfrm>
            <a:off x="2847600" y="2715840"/>
            <a:ext cx="189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2902320" y="3099960"/>
            <a:ext cx="178632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Pausing execution, and measuring how long code takes to run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5054760" y="1508760"/>
            <a:ext cx="2079000" cy="489168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582012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3" descr="preencoded.png"/>
          <p:cNvPicPr/>
          <p:nvPr/>
        </p:nvPicPr>
        <p:blipFill>
          <a:blip r:embed="rId4"/>
          <a:stretch/>
        </p:blipFill>
        <p:spPr>
          <a:xfrm>
            <a:off x="59025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12"/>
          <p:cNvSpPr/>
          <p:nvPr/>
        </p:nvSpPr>
        <p:spPr>
          <a:xfrm>
            <a:off x="5146200" y="2715840"/>
            <a:ext cx="189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5201280" y="3099960"/>
            <a:ext cx="178632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Random numbers, random choices, and shuffling — games, sampling, simulations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7353720" y="1508760"/>
            <a:ext cx="2079000" cy="489168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811908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4" descr="preencoded.png"/>
          <p:cNvPicPr/>
          <p:nvPr/>
        </p:nvPicPr>
        <p:blipFill>
          <a:blip r:embed="rId5"/>
          <a:stretch/>
        </p:blipFill>
        <p:spPr>
          <a:xfrm>
            <a:off x="82011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16"/>
          <p:cNvSpPr/>
          <p:nvPr/>
        </p:nvSpPr>
        <p:spPr>
          <a:xfrm>
            <a:off x="7445160" y="2715840"/>
            <a:ext cx="189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7"/>
          <p:cNvSpPr/>
          <p:nvPr/>
        </p:nvSpPr>
        <p:spPr>
          <a:xfrm>
            <a:off x="7499880" y="3099960"/>
            <a:ext cx="178632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Square roots, powers, trig, constants like pi — beyond basic arithmetic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8"/>
          <p:cNvSpPr/>
          <p:nvPr/>
        </p:nvSpPr>
        <p:spPr>
          <a:xfrm>
            <a:off x="9652320" y="1508760"/>
            <a:ext cx="2079000" cy="489168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9"/>
          <p:cNvSpPr/>
          <p:nvPr/>
        </p:nvSpPr>
        <p:spPr>
          <a:xfrm>
            <a:off x="10417680" y="20941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7" name="Image 5" descr="preencoded.png"/>
          <p:cNvPicPr/>
          <p:nvPr/>
        </p:nvPicPr>
        <p:blipFill>
          <a:blip r:embed="rId6"/>
          <a:stretch/>
        </p:blipFill>
        <p:spPr>
          <a:xfrm>
            <a:off x="1050012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Text 20"/>
          <p:cNvSpPr/>
          <p:nvPr/>
        </p:nvSpPr>
        <p:spPr>
          <a:xfrm>
            <a:off x="9743760" y="2715840"/>
            <a:ext cx="189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9798840" y="3099960"/>
            <a:ext cx="178632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Talking to the operating system — file paths, checking what exists, environment info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2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datetime — Working With Dates and Times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datetime.now() gets the current date and time, right down to the microsecond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do arithmetic directly with dates — adding a timedelta shifts a date forward or backward by days, hours, or more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strftime() formats a date into exactly the string layout you want, using format codes like %Y, %m, %d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from datetime import datetime, timedelta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now = datetime.now()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print(now)    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2026-08-14 10:32:01.123456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tomorrow = now + timedelta(days=1)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print(tomorrow.strftime("%Y-%m-%d"))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2026-08-15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print(now.strftime("%B %d, %Y"))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August 14, 2026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48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time — Pausing and Measuring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time.sleep(seconds) pauses execution for that many seconds — useful for rate-limiting, animations, or retry delays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time.time() returns the current moment as a number (seconds since a fixed reference point) — subtracting two readings gives elapsed 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— read time, do work, read time again, subtract — is the standard way to measure how long code takes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print("Starting...")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time.sleep(2)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pause for 2 seconds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print("Done waiting")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start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 = sum(range(1_000_000))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some 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end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print(f"Took {end - start:.4f} seconds")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random —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Randomness,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Choices, and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Shuffling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random.randint(a, b) gives a random whole number, including both endpoints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random.choice(sequence) picks one random item from a list, tuple, or string — random.sample() picks several without repeats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random.shuffle(list) rearranges a list randomly, in place — it modifies the original list rather than returning a new 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random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random.randint(1, 6) 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a die roll, 1 to 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random.choice(["rock", "paper", "scissors"])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one random pick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random.sample(range(1, 50), 6)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6 unique lottery numbers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cards = ["A", "K", "Q", "J"]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random.shuffle(cards)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shuffles cards in place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today’s date formatted as "DD/MM/YYYY" using datetime and strftime()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822960" y="33008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9"/>
          <p:cNvSpPr/>
          <p:nvPr/>
        </p:nvSpPr>
        <p:spPr>
          <a:xfrm>
            <a:off x="822960" y="3300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0"/>
          <p:cNvSpPr/>
          <p:nvPr/>
        </p:nvSpPr>
        <p:spPr>
          <a:xfrm>
            <a:off x="1435680" y="3300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times how long a loop of 100,000 iterations takes, using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"/>
          <p:cNvSpPr/>
          <p:nvPr/>
        </p:nvSpPr>
        <p:spPr>
          <a:xfrm>
            <a:off x="822960" y="41788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2"/>
          <p:cNvSpPr/>
          <p:nvPr/>
        </p:nvSpPr>
        <p:spPr>
          <a:xfrm>
            <a:off x="822960" y="417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3"/>
          <p:cNvSpPr/>
          <p:nvPr/>
        </p:nvSpPr>
        <p:spPr>
          <a:xfrm>
            <a:off x="1435680" y="4178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Simulate rolling two dice using random.randint() and print their sum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4"/>
          <p:cNvSpPr/>
          <p:nvPr/>
        </p:nvSpPr>
        <p:spPr>
          <a:xfrm>
            <a:off x="822960" y="5056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5"/>
          <p:cNvSpPr/>
          <p:nvPr/>
        </p:nvSpPr>
        <p:spPr>
          <a:xfrm>
            <a:off x="822960" y="50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6"/>
          <p:cNvSpPr/>
          <p:nvPr/>
        </p:nvSpPr>
        <p:spPr>
          <a:xfrm>
            <a:off x="1435680" y="5056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your own greetings.py module with two functions, then import and use it from a separate script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Build the Things You’ll Actually Be Asked to Build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Not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toy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exam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ples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safe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file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write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rs,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valid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ated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input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loops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, and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reusa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ble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mod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ules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are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day,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real-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worl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Part A: Errors &amp;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Exception </a:t>
            </a: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5"/>
          <p:cNvSpPr/>
          <p:nvPr/>
        </p:nvSpPr>
        <p:spPr>
          <a:xfrm>
            <a:off x="822960" y="24231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Shape 6"/>
          <p:cNvSpPr/>
          <p:nvPr/>
        </p:nvSpPr>
        <p:spPr>
          <a:xfrm>
            <a:off x="1371600" y="244152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1371600" y="244152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1920240" y="242316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divide(a, b) function that catches ZeroDivisionError and TypeError separately, with a specific message for each.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9"/>
          <p:cNvSpPr/>
          <p:nvPr/>
        </p:nvSpPr>
        <p:spPr>
          <a:xfrm>
            <a:off x="822960" y="359352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Shape 10"/>
          <p:cNvSpPr/>
          <p:nvPr/>
        </p:nvSpPr>
        <p:spPr>
          <a:xfrm>
            <a:off x="1371600" y="361188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1"/>
          <p:cNvSpPr/>
          <p:nvPr/>
        </p:nvSpPr>
        <p:spPr>
          <a:xfrm>
            <a:off x="1371600" y="361188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2"/>
          <p:cNvSpPr/>
          <p:nvPr/>
        </p:nvSpPr>
        <p:spPr>
          <a:xfrm>
            <a:off x="1920240" y="359352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get_valid_email() loop that keeps asking until the input contains "@", raising and catching a custom InvalidEmailError.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3"/>
          <p:cNvSpPr/>
          <p:nvPr/>
        </p:nvSpPr>
        <p:spPr>
          <a:xfrm>
            <a:off x="822960" y="476388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Shape 14"/>
          <p:cNvSpPr/>
          <p:nvPr/>
        </p:nvSpPr>
        <p:spPr>
          <a:xfrm>
            <a:off x="1371600" y="478224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"/>
          <p:cNvSpPr/>
          <p:nvPr/>
        </p:nvSpPr>
        <p:spPr>
          <a:xfrm>
            <a:off x="1371600" y="478224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6"/>
          <p:cNvSpPr/>
          <p:nvPr/>
        </p:nvSpPr>
        <p:spPr>
          <a:xfrm>
            <a:off x="1920240" y="476388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using try/except/else/finally together, and add a comment explaining exactly when each block runs.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File Handling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822960" y="24231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Shape 6"/>
          <p:cNvSpPr/>
          <p:nvPr/>
        </p:nvSpPr>
        <p:spPr>
          <a:xfrm>
            <a:off x="1371600" y="244152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7"/>
          <p:cNvSpPr/>
          <p:nvPr/>
        </p:nvSpPr>
        <p:spPr>
          <a:xfrm>
            <a:off x="1371600" y="244152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8"/>
          <p:cNvSpPr/>
          <p:nvPr/>
        </p:nvSpPr>
        <p:spPr>
          <a:xfrm>
            <a:off x="1920240" y="242316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appends a timestamped entry to a "diary.txt" file every time it’s called, using with and append mode.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9"/>
          <p:cNvSpPr/>
          <p:nvPr/>
        </p:nvSpPr>
        <p:spPr>
          <a:xfrm>
            <a:off x="822960" y="359352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9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Shape 10"/>
          <p:cNvSpPr/>
          <p:nvPr/>
        </p:nvSpPr>
        <p:spPr>
          <a:xfrm>
            <a:off x="1371600" y="361188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1"/>
          <p:cNvSpPr/>
          <p:nvPr/>
        </p:nvSpPr>
        <p:spPr>
          <a:xfrm>
            <a:off x="1371600" y="361188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2"/>
          <p:cNvSpPr/>
          <p:nvPr/>
        </p:nvSpPr>
        <p:spPr>
          <a:xfrm>
            <a:off x="1920240" y="359352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reads a file of numbers (one per line) and returns their sum, wrapped in try/except for FileNotFoundError.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3"/>
          <p:cNvSpPr/>
          <p:nvPr/>
        </p:nvSpPr>
        <p:spPr>
          <a:xfrm>
            <a:off x="822960" y="476388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Shape 14"/>
          <p:cNvSpPr/>
          <p:nvPr/>
        </p:nvSpPr>
        <p:spPr>
          <a:xfrm>
            <a:off x="1371600" y="478224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5"/>
          <p:cNvSpPr/>
          <p:nvPr/>
        </p:nvSpPr>
        <p:spPr>
          <a:xfrm>
            <a:off x="1371600" y="478224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1920240" y="476388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word_count(filename) function that reads a file and returns how many words it contains in total.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C: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5"/>
          <p:cNvSpPr/>
          <p:nvPr/>
        </p:nvSpPr>
        <p:spPr>
          <a:xfrm>
            <a:off x="822960" y="24231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7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Shape 6"/>
          <p:cNvSpPr/>
          <p:nvPr/>
        </p:nvSpPr>
        <p:spPr>
          <a:xfrm>
            <a:off x="1371600" y="244152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7"/>
          <p:cNvSpPr/>
          <p:nvPr/>
        </p:nvSpPr>
        <p:spPr>
          <a:xfrm>
            <a:off x="1371600" y="244152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1920240" y="242316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returns how many days are left until a given future date, using datetime.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9"/>
          <p:cNvSpPr/>
          <p:nvPr/>
        </p:nvSpPr>
        <p:spPr>
          <a:xfrm>
            <a:off x="822960" y="359352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Shape 10"/>
          <p:cNvSpPr/>
          <p:nvPr/>
        </p:nvSpPr>
        <p:spPr>
          <a:xfrm>
            <a:off x="1371600" y="361188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1"/>
          <p:cNvSpPr/>
          <p:nvPr/>
        </p:nvSpPr>
        <p:spPr>
          <a:xfrm>
            <a:off x="1371600" y="361188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2"/>
          <p:cNvSpPr/>
          <p:nvPr/>
        </p:nvSpPr>
        <p:spPr>
          <a:xfrm>
            <a:off x="1920240" y="359352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simple "password generator" using random.choice() over letters, digits, and symbols.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3"/>
          <p:cNvSpPr/>
          <p:nvPr/>
        </p:nvSpPr>
        <p:spPr>
          <a:xfrm>
            <a:off x="822960" y="476388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7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Shape 14"/>
          <p:cNvSpPr/>
          <p:nvPr/>
        </p:nvSpPr>
        <p:spPr>
          <a:xfrm>
            <a:off x="1371600" y="4782240"/>
            <a:ext cx="402120" cy="365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5"/>
          <p:cNvSpPr/>
          <p:nvPr/>
        </p:nvSpPr>
        <p:spPr>
          <a:xfrm>
            <a:off x="1371600" y="478224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6"/>
          <p:cNvSpPr/>
          <p:nvPr/>
        </p:nvSpPr>
        <p:spPr>
          <a:xfrm>
            <a:off x="1920240" y="476388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stopwatch.py module with start_timer() and stop_timer() functions built on the time module, then use it from another script.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Handling &amp;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Modules  ·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projects combining error handling, file I/O, and Python’s built-in modules into one cohesive task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Safe File-Based Logger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Errors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files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datetime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log_event(message, level="INFO") function that appends timestamped entries to "app.log", using datetime for the timestamp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every file operation in try/except so a full disk or permissions issue never crashes the calling program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read_logs(level=None) function that reads the file back and optionally filters by log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mirrors how real logging utilities are built in production code, before reaching for a full logging library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0"/>
          <p:cNvSpPr/>
          <p:nvPr/>
        </p:nvSpPr>
        <p:spPr>
          <a:xfrm>
            <a:off x="10515600" y="5669280"/>
            <a:ext cx="3200040" cy="320004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Number Guessing Game With Stats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Random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time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error handling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random.randint() to pick a secret number, and time.time() to track how long the player takes to guess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Wrap every guess in try/except so non-numeric input never crashes the game — just asks again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the player wins, save their name, number of guesses, and time taken as a new line in "scores.txt"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 a "view leaderboard" option that reads scores.txt back and prints the fastest three attempts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45720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Errors, File Handling &amp; Modules  ·  Session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2"/>
          <p:cNvSpPr/>
          <p:nvPr/>
        </p:nvSpPr>
        <p:spPr>
          <a:xfrm>
            <a:off x="559620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6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Errors are unavoidable — try/except/finally, safe file handling, and Python’s built-in modules are how real programs survive them.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Advanced Python — comprehensions, generators, and regular expressions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2026-08-15T02:50:21Z</dcterms:created>
  <dc:creator>PptxGenJS</dc:creator>
  <dc:description/>
  <dc:language>en-US</dc:language>
  <cp:lastModifiedBy/>
  <dcterms:modified xsi:type="dcterms:W3CDTF">2026-09-19T22:59:09Z</dcterms:modified>
  <cp:revision>27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On-screen Show (16:9)</vt:lpwstr>
  </property>
  <property fmtid="{D5CDD505-2E9C-101B-9397-08002B2CF9AE}" pid="4" name="Slides">
    <vt:i4>48</vt:i4>
  </property>
</Properties>
</file>