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27.xml" ContentType="application/vnd.openxmlformats-officedocument.presentationml.slide+xml"/>
  <Override PartName="/ppt/slides/slide2.xml" ContentType="application/vnd.openxmlformats-officedocument.presentationml.slide+xml"/>
  <Override PartName="/ppt/slides/slide66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65.xml" ContentType="application/vnd.openxmlformats-officedocument.presentationml.slide+xml"/>
  <Override PartName="/ppt/slides/slide61.xml" ContentType="application/vnd.openxmlformats-officedocument.presentationml.slide+xml"/>
  <Override PartName="/ppt/slides/slide12.xml" ContentType="application/vnd.openxmlformats-officedocument.presentationml.slide+xml"/>
  <Override PartName="/ppt/slides/slide29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31.xml" ContentType="application/vnd.openxmlformats-officedocument.presentationml.slide+xml"/>
  <Override PartName="/ppt/slides/slide63.xml" ContentType="application/vnd.openxmlformats-officedocument.presentationml.slide+xml"/>
  <Override PartName="/ppt/slides/slide67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58.xml" ContentType="application/vnd.openxmlformats-officedocument.presentationml.slide+xml"/>
  <Override PartName="/ppt/slides/slide72.xml" ContentType="application/vnd.openxmlformats-officedocument.presentationml.slide+xml"/>
  <Override PartName="/ppt/slides/slide36.xml" ContentType="application/vnd.openxmlformats-officedocument.presentationml.slide+xml"/>
  <Override PartName="/ppt/slides/slide71.xml" ContentType="application/vnd.openxmlformats-officedocument.presentationml.slide+xml"/>
  <Override PartName="/ppt/slides/slide28.xml" ContentType="application/vnd.openxmlformats-officedocument.presentationml.slide+xml"/>
  <Override PartName="/ppt/slides/slide70.xml" ContentType="application/vnd.openxmlformats-officedocument.presentationml.slide+xml"/>
  <Override PartName="/ppt/slides/slide64.xml" ContentType="application/vnd.openxmlformats-officedocument.presentationml.slide+xml"/>
  <Override PartName="/ppt/slides/slide35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60.xml" ContentType="application/vnd.openxmlformats-officedocument.presentationml.slide+xml"/>
  <Override PartName="/ppt/slides/slide14.xml" ContentType="application/vnd.openxmlformats-officedocument.presentationml.slide+xml"/>
  <Override PartName="/ppt/slides/slide73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10.xml" ContentType="application/vnd.openxmlformats-officedocument.presentationml.slide+xml"/>
  <Override PartName="/ppt/slides/slide16.xml" ContentType="application/vnd.openxmlformats-officedocument.presentationml.slide+xml"/>
  <Override PartName="/ppt/slides/slide47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68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74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move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edit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C7ED6F8-0C4D-4005-B96C-E33393192CB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yet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sessio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is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61966E-450C-483D-871C-7ACBD0B03B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C26E0E8-1DA9-4B25-9FE0-29F50F5C92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8ED1F6-FCFB-413D-8B1C-1E59677A43F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496862-A20C-4AEC-BA83-E4BEB3F561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874614-64B9-43EF-8892-4E785F40E3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FC0EF3-7C05-4743-AA9B-6F45060052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Good discussion point: Python is the only one here with no separate character type.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819F47-EA39-4EAF-B89F-9C0183F83A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Worth pointing out: Python and Java give you rich built-ins here; C makes you build most of this yourself.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3AA749-6760-4847-8D6A-75DD8FB77D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401497-EF86-4F21-8F00-B8BDCCF7A5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E39533B-629B-4C51-947F-648FBC0131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Nice map to show where today fits in the bigger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picture.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2CBBF3-BAAD-4857-837F-3E52C2FE54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96FF51-37A6-4C57-83A9-88A2AB4B25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3636E9-E27A-42DC-9DA5-9977D451BA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44D5CBC-23C3-4B34-B763-F932ECF18A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4FC6C4-5B3A-4F3C-9655-8AC4996D9D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FCE7586-3497-4297-A811-B4EDCE9386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8788E0-23D3-4B04-A91E-2B625F6D8E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C877123-D0B9-49FC-BE3E-B763259F66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Consistent with the "errors are normal" philosophy from Session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7AAE450-A725-4E66-B250-4EFD28F62C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C0CFF1-42EF-43DA-94D3-778C6C0E4D0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[::-1] reverse trick is worth calling out explicitly — very commonly used in real code.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B3DB600-6AC6-4015-BCE2-C8336E6DD9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 unpacking is a genuinely handy real-world Python idiom, worth showing off here.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99D18F-D3EA-4248-8907-7806E9FFE2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5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7BD2C1-8236-4071-B968-F5187D0C14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8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4AB115-0E60-4EDA-8B26-75AAD71FBC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1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7F4B92-BF53-4D2A-B2BA-B70EC6CF28B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Directly answers "can I control where append() adds?" — no, by design.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4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4319BE-0743-4C40-A17F-A8D3C3F9B1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Genuinely one of the highest-value gotchas for real-world code.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7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0C5CC5E-502C-4918-A496-4A78CE3E15D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0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29E334-FD8C-4FD2-9109-0671FDB1D8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common point of confusion — worth demoing live rather than just describing.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3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D71E1E-B51A-40B0-AC42-6F756915E92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6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644BF1-6DF7-45BF-8848-0D889189D8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Directly addresses the "pop with 0" and negative-argument confusion.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9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67962F-5B61-4E05-B493-AAED724A6A3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88AF4B-F2FA-4521-87BC-74A4A03C76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list equivalents of the tuple methods coming up later today.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5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3B410F-E0DA-4123-9096-5842C99712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8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6B4AEB1-0EA3-4A50-BEE5-961E38B403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1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74A374-64FA-4B6F-B4F8-B5E57C6DDC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very common real bug: calling l1.sort() and being confused when it returns None.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B6A9F7C-182D-441A-AB2F-8D07BE5FA3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7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8AC7A3-5CBE-488B-82DB-5E8298A683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0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87C033-584C-453C-AB92-E1E255DC06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3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019EF91-3020-4A5E-90AE-68683ECF66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well-known DSA interview gotcha — worth flagging even before loops are formally taught.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6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996BE4-42D0-47B2-AFFC-A70401CC6E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one of the most common real bugs beginners hit — worth extra time.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9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B4C470-B6AF-42A6-A656-B8BA7E4F91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"lis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of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list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s"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(gr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es)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nst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2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ADDF38-DC23-4821-9087-FAF1D9FEEA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direct fix to the gotcha on the previous slide — worth running both side by side live.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5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3177CA-699C-4407-9B02-4A97832981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8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1C461D-105E-4D04-803D-283425FD6E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1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465FCF-A08E-4BCB-B60E-DCEDBA06827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genuinely important DSA concept, and it costs nothing extra to teach — same methods, just named intent.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B6F93D4-4E02-49BE-BF24-F5AF1DA1F1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first honest taste of time complexity — full Big-O comes later in the course, but the intuition starts here.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BC6E76-1DBA-4540-87EA-FD0DFC9577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F887706-0A1B-4E6D-9847-A4647E0566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3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4AED8F-EA04-4752-97D9-9E79FA3C1C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Just a taste for today — nested data gets much more use once loops exist.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6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F4E19DB-B57B-4C46-999A-10DA76C89F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9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7FF2099-C70A-4AE3-AFE5-76734C3D2D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2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C6FD16-12E2-4E87-8450-D87FFE615A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5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60A72ED-49B3-4606-BD3F-29DCD8D014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Fast recap before the practice set.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8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DE3617-457C-43CB-9206-FEBA3CEF5CD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1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6AD6DA-7ED4-4D48-B4F2-09B034ABF7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4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0CAA02-3517-4C64-9C81-7B562274EF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7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5A8E19C-C5EE-4042-A9FA-08F5B573D27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0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021993-D738-475C-B03C-3CDBFFE712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3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1F97B92-F606-4A26-8D4C-5303C4235A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6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6D7683D-06BF-4188-AA71-7B62174AC2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Ties directly into today's practice: "check that a tuple cannot be changed."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9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93FE84-E7EB-4BD1-86A1-7F4C74B130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2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6D0DD6B-82EC-4817-B854-5ACAE6BDAF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Tuples only have these two methods — far fewer than lists, since nothing about them can change.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5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005673-98F8-4F69-B2DB-EF1FFE79D9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8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2BD95B-21CE-417A-9BFE-1888D58C81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1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4527B92-49A3-4FA0-BB78-22228DFBA8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Worth pointing out the *rest quirk: star-unpacking always produces a list for the leftover part, even from a tuple.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4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D6823D-B51A-4442-8E16-E82AC52AEC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7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132C8AB-40E0-423B-A186-33F843FEF3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0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F6C5BCA-C14B-4A14-8C66-07BF0F2303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3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B1F88CF-374D-4AA8-9961-1301F922B2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6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B5C35D-A467-4697-9D8D-348FB61431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F3021B9-A235-4BE6-AE8E-60DEA261EB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2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85FB99-349B-4582-8DD4-D1B24B8870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5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C0A76A-F642-4E7F-AF5C-B074CACEA7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8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89D13B-C3EA-4645-BA3D-6E817088BC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by asking students to explain, in their own words, when they would choose a tuple over a list.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1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1C87C4-7660-4F80-A0EB-498DF72E92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3.png"/><Relationship Id="rId3" Type="http://schemas.openxmlformats.org/officeDocument/2006/relationships/image" Target="../media/image13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Relationship Id="rId6" Type="http://schemas.openxmlformats.org/officeDocument/2006/relationships/image" Target="../media/image10.png"/><Relationship Id="rId7" Type="http://schemas.openxmlformats.org/officeDocument/2006/relationships/image" Target="../media/image10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7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4.pn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image" Target="../media/image4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6.png"/><Relationship Id="rId9" Type="http://schemas.openxmlformats.org/officeDocument/2006/relationships/image" Target="../media/image17.png"/><Relationship Id="rId10" Type="http://schemas.openxmlformats.org/officeDocument/2006/relationships/image" Target="../media/image2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18.png"/><Relationship Id="rId3" Type="http://schemas.openxmlformats.org/officeDocument/2006/relationships/image" Target="../media/image18.png"/><Relationship Id="rId4" Type="http://schemas.openxmlformats.org/officeDocument/2006/relationships/image" Target="../media/image1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8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0080" y="914400"/>
            <a:ext cx="1188360" cy="11883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icons/thlist.png"/>
          <p:cNvPicPr/>
          <p:nvPr/>
        </p:nvPicPr>
        <p:blipFill>
          <a:blip r:embed="rId1"/>
          <a:stretch/>
        </p:blipFill>
        <p:spPr>
          <a:xfrm>
            <a:off x="5678280" y="1092600"/>
            <a:ext cx="831600" cy="83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97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Lis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ts 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&amp; 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Tu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ple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9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Storing </a:t>
            </a: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and </a:t>
            </a: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Organiz</a:t>
            </a: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ing </a:t>
            </a: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Multipl</a:t>
            </a: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Values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9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10515600" y="-13716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" name="Image 0" descr="icons/thlis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We'r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Cove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ring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457200" y="160020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621720" y="165528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" name="Image 1" descr="icons/tag.png"/>
          <p:cNvPicPr/>
          <p:nvPr/>
        </p:nvPicPr>
        <p:blipFill>
          <a:blip r:embed="rId2"/>
          <a:stretch/>
        </p:blipFill>
        <p:spPr>
          <a:xfrm>
            <a:off x="664200" y="169776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1325880" y="160020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Data types &amp; data structures — primitive vs. non-primitive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457200" y="208476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621720" y="213984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 2" descr="icons/boxes.png"/>
          <p:cNvPicPr/>
          <p:nvPr/>
        </p:nvPicPr>
        <p:blipFill>
          <a:blip r:embed="rId3"/>
          <a:stretch/>
        </p:blipFill>
        <p:spPr>
          <a:xfrm>
            <a:off x="664200" y="218232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8"/>
          <p:cNvSpPr/>
          <p:nvPr/>
        </p:nvSpPr>
        <p:spPr>
          <a:xfrm>
            <a:off x="1325880" y="208476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What is a list? Indexing, negative indexing &amp; advanced slicing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457200" y="256932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0"/>
          <p:cNvSpPr/>
          <p:nvPr/>
        </p:nvSpPr>
        <p:spPr>
          <a:xfrm>
            <a:off x="621720" y="262440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Image 3" descr="icons/pluscircle.png"/>
          <p:cNvPicPr/>
          <p:nvPr/>
        </p:nvPicPr>
        <p:blipFill>
          <a:blip r:embed="rId4"/>
          <a:stretch/>
        </p:blipFill>
        <p:spPr>
          <a:xfrm>
            <a:off x="664200" y="266688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 11"/>
          <p:cNvSpPr/>
          <p:nvPr/>
        </p:nvSpPr>
        <p:spPr>
          <a:xfrm>
            <a:off x="1325880" y="256932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append(),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extend(),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insert() —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including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negative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indices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457200" y="305424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621720" y="310932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" name="Image 4" descr="icons/minuscircle.png"/>
          <p:cNvPicPr/>
          <p:nvPr/>
        </p:nvPicPr>
        <p:blipFill>
          <a:blip r:embed="rId5"/>
          <a:stretch/>
        </p:blipFill>
        <p:spPr>
          <a:xfrm>
            <a:off x="664200" y="315144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 14"/>
          <p:cNvSpPr/>
          <p:nvPr/>
        </p:nvSpPr>
        <p:spPr>
          <a:xfrm>
            <a:off x="1325880" y="305424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Removing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items: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pop() —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three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ways — &amp;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353880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6"/>
          <p:cNvSpPr/>
          <p:nvPr/>
        </p:nvSpPr>
        <p:spPr>
          <a:xfrm>
            <a:off x="621720" y="359388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5" descr="icons/sort.png"/>
          <p:cNvPicPr/>
          <p:nvPr/>
        </p:nvPicPr>
        <p:blipFill>
          <a:blip r:embed="rId6"/>
          <a:stretch/>
        </p:blipFill>
        <p:spPr>
          <a:xfrm>
            <a:off x="664200" y="363636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7"/>
          <p:cNvSpPr/>
          <p:nvPr/>
        </p:nvSpPr>
        <p:spPr>
          <a:xfrm>
            <a:off x="1325880" y="353880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Reordering: sort() vs. sorted(), and reverse()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457200" y="402336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621720" y="407844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" name="Image 6" descr="icons/chart.png"/>
          <p:cNvPicPr/>
          <p:nvPr/>
        </p:nvPicPr>
        <p:blipFill>
          <a:blip r:embed="rId7"/>
          <a:stretch/>
        </p:blipFill>
        <p:spPr>
          <a:xfrm>
            <a:off x="664200" y="412092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20"/>
          <p:cNvSpPr/>
          <p:nvPr/>
        </p:nvSpPr>
        <p:spPr>
          <a:xfrm>
            <a:off x="1325880" y="402336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min(),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max(),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sum(),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membersh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ip,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equality &amp;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nested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457200" y="450792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2"/>
          <p:cNvSpPr/>
          <p:nvPr/>
        </p:nvSpPr>
        <p:spPr>
          <a:xfrm>
            <a:off x="621720" y="456300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" name="Image 7" descr="icons/bolt.png"/>
          <p:cNvPicPr/>
          <p:nvPr/>
        </p:nvPicPr>
        <p:blipFill>
          <a:blip r:embed="rId8"/>
          <a:stretch/>
        </p:blipFill>
        <p:spPr>
          <a:xfrm>
            <a:off x="664200" y="460548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23"/>
          <p:cNvSpPr/>
          <p:nvPr/>
        </p:nvSpPr>
        <p:spPr>
          <a:xfrm>
            <a:off x="1325880" y="450792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Lists as stacks, and a taste of time complexity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4"/>
          <p:cNvSpPr/>
          <p:nvPr/>
        </p:nvSpPr>
        <p:spPr>
          <a:xfrm>
            <a:off x="457200" y="499248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621720" y="504756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" name="Image 8" descr="icons/lock.png"/>
          <p:cNvPicPr/>
          <p:nvPr/>
        </p:nvPicPr>
        <p:blipFill>
          <a:blip r:embed="rId9"/>
          <a:stretch/>
        </p:blipFill>
        <p:spPr>
          <a:xfrm>
            <a:off x="664200" y="509004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 26"/>
          <p:cNvSpPr/>
          <p:nvPr/>
        </p:nvSpPr>
        <p:spPr>
          <a:xfrm>
            <a:off x="1325880" y="499248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Tuples — the list that cannot change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7"/>
          <p:cNvSpPr/>
          <p:nvPr/>
        </p:nvSpPr>
        <p:spPr>
          <a:xfrm>
            <a:off x="457200" y="547740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21720" y="553248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9" descr="icons/boxopen.png"/>
          <p:cNvPicPr/>
          <p:nvPr/>
        </p:nvPicPr>
        <p:blipFill>
          <a:blip r:embed="rId10"/>
          <a:stretch/>
        </p:blipFill>
        <p:spPr>
          <a:xfrm>
            <a:off x="664200" y="557460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29"/>
          <p:cNvSpPr/>
          <p:nvPr/>
        </p:nvSpPr>
        <p:spPr>
          <a:xfrm>
            <a:off x="1325880" y="547740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Tuple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packing,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unpacking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&amp; nested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tuples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30"/>
          <p:cNvSpPr/>
          <p:nvPr/>
        </p:nvSpPr>
        <p:spPr>
          <a:xfrm>
            <a:off x="457200" y="596196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31"/>
          <p:cNvSpPr/>
          <p:nvPr/>
        </p:nvSpPr>
        <p:spPr>
          <a:xfrm>
            <a:off x="621720" y="601704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" name="Image 10" descr="icons/tasks.png"/>
          <p:cNvPicPr/>
          <p:nvPr/>
        </p:nvPicPr>
        <p:blipFill>
          <a:blip r:embed="rId11"/>
          <a:stretch/>
        </p:blipFill>
        <p:spPr>
          <a:xfrm>
            <a:off x="664200" y="605952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32"/>
          <p:cNvSpPr/>
          <p:nvPr/>
        </p:nvSpPr>
        <p:spPr>
          <a:xfrm>
            <a:off x="1325880" y="596196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Two mini projects tying everything together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33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34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7" name="Image 0" descr="icons/tag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</a:t>
            </a: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0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Data Types &amp; Data Structures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little vocabulary before we touch a single list.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4" name="Image 0" descr="icons/ta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Data Type?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" name="Image 1" descr="icons/tag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label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for 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single value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data type tells Python what kind of value something is — a number, some text, true/false, and so 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also decides what you're allowed to do with that value — you can add two numbers, but not two booleans the same way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already met four of these in an earlier session: int, float, str, and bool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Data Structure?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" name="Image 1" descr="icons/layergroup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way to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hold many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values at once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data structure organizes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and stores multiple values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together, so you can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manage them as one group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Instead of creating 100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separate variables for 100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student names, a data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structure holds all 100 in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one place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data structure is built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out of data types — a list of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scores is a structure full of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 values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Lists and tuples, today's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whole topic, are both data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structures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icons/squar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Primitive vs. Non-Primitive — The Big Split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"/>
          <p:cNvSpPr/>
          <p:nvPr/>
        </p:nvSpPr>
        <p:spPr>
          <a:xfrm>
            <a:off x="457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731520" y="187452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9" name="Image 1" descr="icons/square.png"/>
          <p:cNvPicPr/>
          <p:nvPr/>
        </p:nvPicPr>
        <p:blipFill>
          <a:blip r:embed="rId2"/>
          <a:stretch/>
        </p:blipFill>
        <p:spPr>
          <a:xfrm>
            <a:off x="800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Text 4"/>
          <p:cNvSpPr/>
          <p:nvPr/>
        </p:nvSpPr>
        <p:spPr>
          <a:xfrm>
            <a:off x="1325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Primitiv</a:t>
            </a: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e Types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5"/>
          <p:cNvSpPr/>
          <p:nvPr/>
        </p:nvSpPr>
        <p:spPr>
          <a:xfrm>
            <a:off x="731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Hold exactly one single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Simple, fixed in size, stored directly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Examples: int, float, bool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6"/>
          <p:cNvSpPr/>
          <p:nvPr/>
        </p:nvSpPr>
        <p:spPr>
          <a:xfrm>
            <a:off x="6172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7"/>
          <p:cNvSpPr/>
          <p:nvPr/>
        </p:nvSpPr>
        <p:spPr>
          <a:xfrm>
            <a:off x="6446520" y="1874520"/>
            <a:ext cx="456840" cy="45684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4" name="Image 2" descr="icons/boxopen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 8"/>
          <p:cNvSpPr/>
          <p:nvPr/>
        </p:nvSpPr>
        <p:spPr>
          <a:xfrm>
            <a:off x="7040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Non-Primitive Types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9"/>
          <p:cNvSpPr/>
          <p:nvPr/>
        </p:nvSpPr>
        <p:spPr>
          <a:xfrm>
            <a:off x="6446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Can hold many values, or a whole collection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Built out of primitive types (or even other non-primitives)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Examples: list, tuple, dictionary, array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0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0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Primitive Types — Across Languages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"/>
          <p:cNvSpPr/>
          <p:nvPr/>
        </p:nvSpPr>
        <p:spPr>
          <a:xfrm>
            <a:off x="45720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"/>
          <p:cNvSpPr/>
          <p:nvPr/>
        </p:nvSpPr>
        <p:spPr>
          <a:xfrm>
            <a:off x="45720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Concept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4"/>
          <p:cNvSpPr/>
          <p:nvPr/>
        </p:nvSpPr>
        <p:spPr>
          <a:xfrm>
            <a:off x="327600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327600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Python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6"/>
          <p:cNvSpPr/>
          <p:nvPr/>
        </p:nvSpPr>
        <p:spPr>
          <a:xfrm>
            <a:off x="609444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609444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8"/>
          <p:cNvSpPr/>
          <p:nvPr/>
        </p:nvSpPr>
        <p:spPr>
          <a:xfrm>
            <a:off x="891324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9"/>
          <p:cNvSpPr/>
          <p:nvPr/>
        </p:nvSpPr>
        <p:spPr>
          <a:xfrm>
            <a:off x="891324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Java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0"/>
          <p:cNvSpPr/>
          <p:nvPr/>
        </p:nvSpPr>
        <p:spPr>
          <a:xfrm>
            <a:off x="457200" y="2194560"/>
            <a:ext cx="2818440" cy="566640"/>
          </a:xfrm>
          <a:prstGeom prst="rect">
            <a:avLst/>
          </a:prstGeom>
          <a:solidFill>
            <a:srgbClr val="F1F3EC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1"/>
          <p:cNvSpPr/>
          <p:nvPr/>
        </p:nvSpPr>
        <p:spPr>
          <a:xfrm>
            <a:off x="548640" y="2194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Whole number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2"/>
          <p:cNvSpPr/>
          <p:nvPr/>
        </p:nvSpPr>
        <p:spPr>
          <a:xfrm>
            <a:off x="3276000" y="2194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3"/>
          <p:cNvSpPr/>
          <p:nvPr/>
        </p:nvSpPr>
        <p:spPr>
          <a:xfrm>
            <a:off x="3367440" y="2194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24" name="Shape 14"/>
          <p:cNvSpPr/>
          <p:nvPr/>
        </p:nvSpPr>
        <p:spPr>
          <a:xfrm>
            <a:off x="6094440" y="2194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5"/>
          <p:cNvSpPr/>
          <p:nvPr/>
        </p:nvSpPr>
        <p:spPr>
          <a:xfrm>
            <a:off x="6185880" y="2194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8913240" y="2194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7"/>
          <p:cNvSpPr/>
          <p:nvPr/>
        </p:nvSpPr>
        <p:spPr>
          <a:xfrm>
            <a:off x="9004680" y="2194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457200" y="2761560"/>
            <a:ext cx="2818440" cy="566640"/>
          </a:xfrm>
          <a:prstGeom prst="rect">
            <a:avLst/>
          </a:prstGeom>
          <a:solidFill>
            <a:srgbClr val="F1F3EC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9"/>
          <p:cNvSpPr/>
          <p:nvPr/>
        </p:nvSpPr>
        <p:spPr>
          <a:xfrm>
            <a:off x="54864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Decimal number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0"/>
          <p:cNvSpPr/>
          <p:nvPr/>
        </p:nvSpPr>
        <p:spPr>
          <a:xfrm>
            <a:off x="3276000" y="2761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"/>
          <p:cNvSpPr/>
          <p:nvPr/>
        </p:nvSpPr>
        <p:spPr>
          <a:xfrm>
            <a:off x="336744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float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32" name="Shape 22"/>
          <p:cNvSpPr/>
          <p:nvPr/>
        </p:nvSpPr>
        <p:spPr>
          <a:xfrm>
            <a:off x="6094440" y="2761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3"/>
          <p:cNvSpPr/>
          <p:nvPr/>
        </p:nvSpPr>
        <p:spPr>
          <a:xfrm>
            <a:off x="618588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float / double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34" name="Shape 24"/>
          <p:cNvSpPr/>
          <p:nvPr/>
        </p:nvSpPr>
        <p:spPr>
          <a:xfrm>
            <a:off x="8913240" y="2761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5"/>
          <p:cNvSpPr/>
          <p:nvPr/>
        </p:nvSpPr>
        <p:spPr>
          <a:xfrm>
            <a:off x="900468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float / double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36" name="Shape 26"/>
          <p:cNvSpPr/>
          <p:nvPr/>
        </p:nvSpPr>
        <p:spPr>
          <a:xfrm>
            <a:off x="457200" y="3328560"/>
            <a:ext cx="2818440" cy="566640"/>
          </a:xfrm>
          <a:prstGeom prst="rect">
            <a:avLst/>
          </a:prstGeom>
          <a:solidFill>
            <a:srgbClr val="F1F3EC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7"/>
          <p:cNvSpPr/>
          <p:nvPr/>
        </p:nvSpPr>
        <p:spPr>
          <a:xfrm>
            <a:off x="54864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True or False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8"/>
          <p:cNvSpPr/>
          <p:nvPr/>
        </p:nvSpPr>
        <p:spPr>
          <a:xfrm>
            <a:off x="3276000" y="3328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9"/>
          <p:cNvSpPr/>
          <p:nvPr/>
        </p:nvSpPr>
        <p:spPr>
          <a:xfrm>
            <a:off x="336744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bool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40" name="Shape 30"/>
          <p:cNvSpPr/>
          <p:nvPr/>
        </p:nvSpPr>
        <p:spPr>
          <a:xfrm>
            <a:off x="6094440" y="3328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1"/>
          <p:cNvSpPr/>
          <p:nvPr/>
        </p:nvSpPr>
        <p:spPr>
          <a:xfrm>
            <a:off x="618588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no true bool (0/1)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42" name="Shape 32"/>
          <p:cNvSpPr/>
          <p:nvPr/>
        </p:nvSpPr>
        <p:spPr>
          <a:xfrm>
            <a:off x="8913240" y="3328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33"/>
          <p:cNvSpPr/>
          <p:nvPr/>
        </p:nvSpPr>
        <p:spPr>
          <a:xfrm>
            <a:off x="900468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boolean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44" name="Shape 34"/>
          <p:cNvSpPr/>
          <p:nvPr/>
        </p:nvSpPr>
        <p:spPr>
          <a:xfrm>
            <a:off x="457200" y="3895200"/>
            <a:ext cx="2818440" cy="566640"/>
          </a:xfrm>
          <a:prstGeom prst="rect">
            <a:avLst/>
          </a:prstGeom>
          <a:solidFill>
            <a:srgbClr val="F1F3EC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35"/>
          <p:cNvSpPr/>
          <p:nvPr/>
        </p:nvSpPr>
        <p:spPr>
          <a:xfrm>
            <a:off x="54864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Single character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6"/>
          <p:cNvSpPr/>
          <p:nvPr/>
        </p:nvSpPr>
        <p:spPr>
          <a:xfrm>
            <a:off x="3276000" y="389520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37"/>
          <p:cNvSpPr/>
          <p:nvPr/>
        </p:nvSpPr>
        <p:spPr>
          <a:xfrm>
            <a:off x="336744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no separate type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48" name="Shape 38"/>
          <p:cNvSpPr/>
          <p:nvPr/>
        </p:nvSpPr>
        <p:spPr>
          <a:xfrm>
            <a:off x="6094440" y="389520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9"/>
          <p:cNvSpPr/>
          <p:nvPr/>
        </p:nvSpPr>
        <p:spPr>
          <a:xfrm>
            <a:off x="618588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char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50" name="Shape 40"/>
          <p:cNvSpPr/>
          <p:nvPr/>
        </p:nvSpPr>
        <p:spPr>
          <a:xfrm>
            <a:off x="8913240" y="389520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1"/>
          <p:cNvSpPr/>
          <p:nvPr/>
        </p:nvSpPr>
        <p:spPr>
          <a:xfrm>
            <a:off x="900468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char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52" name="Text 42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3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5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Non-Primitive Types — Across Languages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"/>
          <p:cNvSpPr/>
          <p:nvPr/>
        </p:nvSpPr>
        <p:spPr>
          <a:xfrm>
            <a:off x="45720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3"/>
          <p:cNvSpPr/>
          <p:nvPr/>
        </p:nvSpPr>
        <p:spPr>
          <a:xfrm>
            <a:off x="45720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Concept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4"/>
          <p:cNvSpPr/>
          <p:nvPr/>
        </p:nvSpPr>
        <p:spPr>
          <a:xfrm>
            <a:off x="327600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5"/>
          <p:cNvSpPr/>
          <p:nvPr/>
        </p:nvSpPr>
        <p:spPr>
          <a:xfrm>
            <a:off x="327600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Python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6"/>
          <p:cNvSpPr/>
          <p:nvPr/>
        </p:nvSpPr>
        <p:spPr>
          <a:xfrm>
            <a:off x="609444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7"/>
          <p:cNvSpPr/>
          <p:nvPr/>
        </p:nvSpPr>
        <p:spPr>
          <a:xfrm>
            <a:off x="609444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8"/>
          <p:cNvSpPr/>
          <p:nvPr/>
        </p:nvSpPr>
        <p:spPr>
          <a:xfrm>
            <a:off x="891324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9"/>
          <p:cNvSpPr/>
          <p:nvPr/>
        </p:nvSpPr>
        <p:spPr>
          <a:xfrm>
            <a:off x="891324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Java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0"/>
          <p:cNvSpPr/>
          <p:nvPr/>
        </p:nvSpPr>
        <p:spPr>
          <a:xfrm>
            <a:off x="457200" y="2194560"/>
            <a:ext cx="2818440" cy="566640"/>
          </a:xfrm>
          <a:prstGeom prst="rect">
            <a:avLst/>
          </a:prstGeom>
          <a:solidFill>
            <a:srgbClr val="EFDFB8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1"/>
          <p:cNvSpPr/>
          <p:nvPr/>
        </p:nvSpPr>
        <p:spPr>
          <a:xfrm>
            <a:off x="548640" y="2194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Ordered collection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2"/>
          <p:cNvSpPr/>
          <p:nvPr/>
        </p:nvSpPr>
        <p:spPr>
          <a:xfrm>
            <a:off x="3276000" y="2194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3"/>
          <p:cNvSpPr/>
          <p:nvPr/>
        </p:nvSpPr>
        <p:spPr>
          <a:xfrm>
            <a:off x="3367440" y="219492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69" name="Shape 14"/>
          <p:cNvSpPr/>
          <p:nvPr/>
        </p:nvSpPr>
        <p:spPr>
          <a:xfrm>
            <a:off x="6094440" y="2194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5"/>
          <p:cNvSpPr/>
          <p:nvPr/>
        </p:nvSpPr>
        <p:spPr>
          <a:xfrm>
            <a:off x="6185880" y="2194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array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71" name="Shape 16"/>
          <p:cNvSpPr/>
          <p:nvPr/>
        </p:nvSpPr>
        <p:spPr>
          <a:xfrm>
            <a:off x="8913240" y="2194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7"/>
          <p:cNvSpPr/>
          <p:nvPr/>
        </p:nvSpPr>
        <p:spPr>
          <a:xfrm>
            <a:off x="9004680" y="2194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ArrayList / array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73" name="Shape 18"/>
          <p:cNvSpPr/>
          <p:nvPr/>
        </p:nvSpPr>
        <p:spPr>
          <a:xfrm>
            <a:off x="457200" y="2761560"/>
            <a:ext cx="2818440" cy="566640"/>
          </a:xfrm>
          <a:prstGeom prst="rect">
            <a:avLst/>
          </a:prstGeom>
          <a:solidFill>
            <a:srgbClr val="EFDFB8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9"/>
          <p:cNvSpPr/>
          <p:nvPr/>
        </p:nvSpPr>
        <p:spPr>
          <a:xfrm>
            <a:off x="54864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Fixed collection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0"/>
          <p:cNvSpPr/>
          <p:nvPr/>
        </p:nvSpPr>
        <p:spPr>
          <a:xfrm>
            <a:off x="3276000" y="2761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1"/>
          <p:cNvSpPr/>
          <p:nvPr/>
        </p:nvSpPr>
        <p:spPr>
          <a:xfrm>
            <a:off x="336744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tuple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77" name="Shape 22"/>
          <p:cNvSpPr/>
          <p:nvPr/>
        </p:nvSpPr>
        <p:spPr>
          <a:xfrm>
            <a:off x="6094440" y="2761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23"/>
          <p:cNvSpPr/>
          <p:nvPr/>
        </p:nvSpPr>
        <p:spPr>
          <a:xfrm>
            <a:off x="618588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const array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79" name="Shape 24"/>
          <p:cNvSpPr/>
          <p:nvPr/>
        </p:nvSpPr>
        <p:spPr>
          <a:xfrm>
            <a:off x="8913240" y="2761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5"/>
          <p:cNvSpPr/>
          <p:nvPr/>
        </p:nvSpPr>
        <p:spPr>
          <a:xfrm>
            <a:off x="900468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final array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81" name="Shape 26"/>
          <p:cNvSpPr/>
          <p:nvPr/>
        </p:nvSpPr>
        <p:spPr>
          <a:xfrm>
            <a:off x="457200" y="3328560"/>
            <a:ext cx="2818440" cy="566640"/>
          </a:xfrm>
          <a:prstGeom prst="rect">
            <a:avLst/>
          </a:prstGeom>
          <a:solidFill>
            <a:srgbClr val="EFDFB8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7"/>
          <p:cNvSpPr/>
          <p:nvPr/>
        </p:nvSpPr>
        <p:spPr>
          <a:xfrm>
            <a:off x="54864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Key-value pairs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28"/>
          <p:cNvSpPr/>
          <p:nvPr/>
        </p:nvSpPr>
        <p:spPr>
          <a:xfrm>
            <a:off x="3276000" y="3328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9"/>
          <p:cNvSpPr/>
          <p:nvPr/>
        </p:nvSpPr>
        <p:spPr>
          <a:xfrm>
            <a:off x="336744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dict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85" name="Shape 30"/>
          <p:cNvSpPr/>
          <p:nvPr/>
        </p:nvSpPr>
        <p:spPr>
          <a:xfrm>
            <a:off x="6094440" y="3328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31"/>
          <p:cNvSpPr/>
          <p:nvPr/>
        </p:nvSpPr>
        <p:spPr>
          <a:xfrm>
            <a:off x="618588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no built-in (struct)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87" name="Shape 32"/>
          <p:cNvSpPr/>
          <p:nvPr/>
        </p:nvSpPr>
        <p:spPr>
          <a:xfrm>
            <a:off x="8913240" y="3328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33"/>
          <p:cNvSpPr/>
          <p:nvPr/>
        </p:nvSpPr>
        <p:spPr>
          <a:xfrm>
            <a:off x="900468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HashMap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89" name="Shape 34"/>
          <p:cNvSpPr/>
          <p:nvPr/>
        </p:nvSpPr>
        <p:spPr>
          <a:xfrm>
            <a:off x="457200" y="3895200"/>
            <a:ext cx="2818440" cy="566640"/>
          </a:xfrm>
          <a:prstGeom prst="rect">
            <a:avLst/>
          </a:prstGeom>
          <a:solidFill>
            <a:srgbClr val="EFDFB8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35"/>
          <p:cNvSpPr/>
          <p:nvPr/>
        </p:nvSpPr>
        <p:spPr>
          <a:xfrm>
            <a:off x="54864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36"/>
          <p:cNvSpPr/>
          <p:nvPr/>
        </p:nvSpPr>
        <p:spPr>
          <a:xfrm>
            <a:off x="3276000" y="389520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37"/>
          <p:cNvSpPr/>
          <p:nvPr/>
        </p:nvSpPr>
        <p:spPr>
          <a:xfrm>
            <a:off x="336744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str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93" name="Shape 38"/>
          <p:cNvSpPr/>
          <p:nvPr/>
        </p:nvSpPr>
        <p:spPr>
          <a:xfrm>
            <a:off x="6094440" y="389520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39"/>
          <p:cNvSpPr/>
          <p:nvPr/>
        </p:nvSpPr>
        <p:spPr>
          <a:xfrm>
            <a:off x="618588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char array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95" name="Shape 40"/>
          <p:cNvSpPr/>
          <p:nvPr/>
        </p:nvSpPr>
        <p:spPr>
          <a:xfrm>
            <a:off x="8913240" y="389520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41"/>
          <p:cNvSpPr/>
          <p:nvPr/>
        </p:nvSpPr>
        <p:spPr>
          <a:xfrm>
            <a:off x="900468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String (an object!)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97" name="Text 42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43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1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Python's Twist: Everything Is an Object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" name="Image 1" descr="icons/boxopen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Even 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single number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is an object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C and Java, primitive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types are raw values sitting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directly in memory — fast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and simple, but rigid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Python, even a simple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integer is secretly an object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with extra information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attached to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part of why Python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feels more flexible and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consistent, but runs a little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slower than 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Proof you've already seen: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type() works on every single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value, even numbers —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because everything truly is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 object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2" name="Image 0" descr="icons/fon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Do Strings Fit?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Image 1" descr="icons/font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little bit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of both worlds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Strings hold text, but they are technically an ordered sequence of characters, not one indivisible value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That makes a string feel simple like a primitive, but structured enough to be indexed and sliced — just like a list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We will go deeper on strings in an upcoming session — for today, just know they blur the line a little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2" name="Image 0" descr="icons/thlis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Pyth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on's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Data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Stru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ctur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es —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t's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2"/>
          <p:cNvSpPr/>
          <p:nvPr/>
        </p:nvSpPr>
        <p:spPr>
          <a:xfrm>
            <a:off x="457200" y="150876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3"/>
          <p:cNvSpPr/>
          <p:nvPr/>
        </p:nvSpPr>
        <p:spPr>
          <a:xfrm>
            <a:off x="198576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6" name="Image 1" descr="icons/boxes.png"/>
          <p:cNvPicPr/>
          <p:nvPr/>
        </p:nvPicPr>
        <p:blipFill>
          <a:blip r:embed="rId2"/>
          <a:stretch/>
        </p:blipFill>
        <p:spPr>
          <a:xfrm>
            <a:off x="206820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Text 4"/>
          <p:cNvSpPr/>
          <p:nvPr/>
        </p:nvSpPr>
        <p:spPr>
          <a:xfrm>
            <a:off x="548640" y="24102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603360" y="279432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Today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6"/>
          <p:cNvSpPr/>
          <p:nvPr/>
        </p:nvSpPr>
        <p:spPr>
          <a:xfrm>
            <a:off x="4291560" y="150876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7"/>
          <p:cNvSpPr/>
          <p:nvPr/>
        </p:nvSpPr>
        <p:spPr>
          <a:xfrm>
            <a:off x="582012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" name="Image 2" descr="icons/lock.png"/>
          <p:cNvPicPr/>
          <p:nvPr/>
        </p:nvPicPr>
        <p:blipFill>
          <a:blip r:embed="rId3"/>
          <a:stretch/>
        </p:blipFill>
        <p:spPr>
          <a:xfrm>
            <a:off x="590256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 8"/>
          <p:cNvSpPr/>
          <p:nvPr/>
        </p:nvSpPr>
        <p:spPr>
          <a:xfrm>
            <a:off x="4383000" y="24102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9"/>
          <p:cNvSpPr/>
          <p:nvPr/>
        </p:nvSpPr>
        <p:spPr>
          <a:xfrm>
            <a:off x="4437720" y="279432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Today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10"/>
          <p:cNvSpPr/>
          <p:nvPr/>
        </p:nvSpPr>
        <p:spPr>
          <a:xfrm>
            <a:off x="8125920" y="150876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11"/>
          <p:cNvSpPr/>
          <p:nvPr/>
        </p:nvSpPr>
        <p:spPr>
          <a:xfrm>
            <a:off x="965448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" name="Image 3" descr="icons/font.png"/>
          <p:cNvPicPr/>
          <p:nvPr/>
        </p:nvPicPr>
        <p:blipFill>
          <a:blip r:embed="rId4"/>
          <a:stretch/>
        </p:blipFill>
        <p:spPr>
          <a:xfrm>
            <a:off x="973692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7" name="Text 12"/>
          <p:cNvSpPr/>
          <p:nvPr/>
        </p:nvSpPr>
        <p:spPr>
          <a:xfrm>
            <a:off x="8217360" y="24102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String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3"/>
          <p:cNvSpPr/>
          <p:nvPr/>
        </p:nvSpPr>
        <p:spPr>
          <a:xfrm>
            <a:off x="8272440" y="279432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Already introduced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4"/>
          <p:cNvSpPr/>
          <p:nvPr/>
        </p:nvSpPr>
        <p:spPr>
          <a:xfrm>
            <a:off x="457200" y="406908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15"/>
          <p:cNvSpPr/>
          <p:nvPr/>
        </p:nvSpPr>
        <p:spPr>
          <a:xfrm>
            <a:off x="1985760" y="434880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1" name="Image 4" descr="icons/hashtag.png"/>
          <p:cNvPicPr/>
          <p:nvPr/>
        </p:nvPicPr>
        <p:blipFill>
          <a:blip r:embed="rId5"/>
          <a:stretch/>
        </p:blipFill>
        <p:spPr>
          <a:xfrm>
            <a:off x="2068200" y="443124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" name="Text 16"/>
          <p:cNvSpPr/>
          <p:nvPr/>
        </p:nvSpPr>
        <p:spPr>
          <a:xfrm>
            <a:off x="548640" y="49705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Dictionary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7"/>
          <p:cNvSpPr/>
          <p:nvPr/>
        </p:nvSpPr>
        <p:spPr>
          <a:xfrm>
            <a:off x="603360" y="535464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Coming soon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18"/>
          <p:cNvSpPr/>
          <p:nvPr/>
        </p:nvSpPr>
        <p:spPr>
          <a:xfrm>
            <a:off x="4291560" y="406908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9"/>
          <p:cNvSpPr/>
          <p:nvPr/>
        </p:nvSpPr>
        <p:spPr>
          <a:xfrm>
            <a:off x="5820120" y="434880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" name="Image 5" descr="icons/search.png"/>
          <p:cNvPicPr/>
          <p:nvPr/>
        </p:nvPicPr>
        <p:blipFill>
          <a:blip r:embed="rId6"/>
          <a:stretch/>
        </p:blipFill>
        <p:spPr>
          <a:xfrm>
            <a:off x="5902560" y="443124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Text 20"/>
          <p:cNvSpPr/>
          <p:nvPr/>
        </p:nvSpPr>
        <p:spPr>
          <a:xfrm>
            <a:off x="4383000" y="49705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1"/>
          <p:cNvSpPr/>
          <p:nvPr/>
        </p:nvSpPr>
        <p:spPr>
          <a:xfrm>
            <a:off x="4437720" y="535464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Coming soon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22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3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2" name="Image 0" descr="icons/checkdoub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Quick Recap: Primitive vs. Non-Primitive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2"/>
          <p:cNvSpPr/>
          <p:nvPr/>
        </p:nvSpPr>
        <p:spPr>
          <a:xfrm>
            <a:off x="457200" y="150876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3"/>
          <p:cNvSpPr/>
          <p:nvPr/>
        </p:nvSpPr>
        <p:spPr>
          <a:xfrm>
            <a:off x="198576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" name="Image 1" descr="icons/square.png"/>
          <p:cNvPicPr/>
          <p:nvPr/>
        </p:nvPicPr>
        <p:blipFill>
          <a:blip r:embed="rId2"/>
          <a:stretch/>
        </p:blipFill>
        <p:spPr>
          <a:xfrm>
            <a:off x="206820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 4"/>
          <p:cNvSpPr/>
          <p:nvPr/>
        </p:nvSpPr>
        <p:spPr>
          <a:xfrm>
            <a:off x="548640" y="24102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5"/>
          <p:cNvSpPr/>
          <p:nvPr/>
        </p:nvSpPr>
        <p:spPr>
          <a:xfrm>
            <a:off x="603360" y="279432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6"/>
          <p:cNvSpPr/>
          <p:nvPr/>
        </p:nvSpPr>
        <p:spPr>
          <a:xfrm>
            <a:off x="4291560" y="150876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7"/>
          <p:cNvSpPr/>
          <p:nvPr/>
        </p:nvSpPr>
        <p:spPr>
          <a:xfrm>
            <a:off x="582012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1" name="Image 2" descr="icons/square.png"/>
          <p:cNvPicPr/>
          <p:nvPr/>
        </p:nvPicPr>
        <p:blipFill>
          <a:blip r:embed="rId3"/>
          <a:stretch/>
        </p:blipFill>
        <p:spPr>
          <a:xfrm>
            <a:off x="590256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Text 8"/>
          <p:cNvSpPr/>
          <p:nvPr/>
        </p:nvSpPr>
        <p:spPr>
          <a:xfrm>
            <a:off x="4383000" y="24102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float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9"/>
          <p:cNvSpPr/>
          <p:nvPr/>
        </p:nvSpPr>
        <p:spPr>
          <a:xfrm>
            <a:off x="4437720" y="279432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0"/>
          <p:cNvSpPr/>
          <p:nvPr/>
        </p:nvSpPr>
        <p:spPr>
          <a:xfrm>
            <a:off x="8125920" y="150876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11"/>
          <p:cNvSpPr/>
          <p:nvPr/>
        </p:nvSpPr>
        <p:spPr>
          <a:xfrm>
            <a:off x="965448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6" name="Image 3" descr="icons/square.png"/>
          <p:cNvPicPr/>
          <p:nvPr/>
        </p:nvPicPr>
        <p:blipFill>
          <a:blip r:embed="rId4"/>
          <a:stretch/>
        </p:blipFill>
        <p:spPr>
          <a:xfrm>
            <a:off x="973692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" name="Text 12"/>
          <p:cNvSpPr/>
          <p:nvPr/>
        </p:nvSpPr>
        <p:spPr>
          <a:xfrm>
            <a:off x="8217360" y="24102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bool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3"/>
          <p:cNvSpPr/>
          <p:nvPr/>
        </p:nvSpPr>
        <p:spPr>
          <a:xfrm>
            <a:off x="8272440" y="279432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4"/>
          <p:cNvSpPr/>
          <p:nvPr/>
        </p:nvSpPr>
        <p:spPr>
          <a:xfrm>
            <a:off x="457200" y="406908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5"/>
          <p:cNvSpPr/>
          <p:nvPr/>
        </p:nvSpPr>
        <p:spPr>
          <a:xfrm>
            <a:off x="1985760" y="434880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1" name="Image 4" descr="icons/boxopen.png"/>
          <p:cNvPicPr/>
          <p:nvPr/>
        </p:nvPicPr>
        <p:blipFill>
          <a:blip r:embed="rId5"/>
          <a:stretch/>
        </p:blipFill>
        <p:spPr>
          <a:xfrm>
            <a:off x="2068200" y="443124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2" name="Text 16"/>
          <p:cNvSpPr/>
          <p:nvPr/>
        </p:nvSpPr>
        <p:spPr>
          <a:xfrm>
            <a:off x="548640" y="49705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7"/>
          <p:cNvSpPr/>
          <p:nvPr/>
        </p:nvSpPr>
        <p:spPr>
          <a:xfrm>
            <a:off x="603360" y="535464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Non-Primitive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8"/>
          <p:cNvSpPr/>
          <p:nvPr/>
        </p:nvSpPr>
        <p:spPr>
          <a:xfrm>
            <a:off x="4291560" y="406908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19"/>
          <p:cNvSpPr/>
          <p:nvPr/>
        </p:nvSpPr>
        <p:spPr>
          <a:xfrm>
            <a:off x="5820120" y="434880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6" name="Image 5" descr="icons/boxopen.png"/>
          <p:cNvPicPr/>
          <p:nvPr/>
        </p:nvPicPr>
        <p:blipFill>
          <a:blip r:embed="rId6"/>
          <a:stretch/>
        </p:blipFill>
        <p:spPr>
          <a:xfrm>
            <a:off x="5902560" y="443124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7" name="Text 20"/>
          <p:cNvSpPr/>
          <p:nvPr/>
        </p:nvSpPr>
        <p:spPr>
          <a:xfrm>
            <a:off x="4383000" y="49705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1"/>
          <p:cNvSpPr/>
          <p:nvPr/>
        </p:nvSpPr>
        <p:spPr>
          <a:xfrm>
            <a:off x="4437720" y="535464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Non-Primitive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2"/>
          <p:cNvSpPr/>
          <p:nvPr/>
        </p:nvSpPr>
        <p:spPr>
          <a:xfrm>
            <a:off x="8125920" y="406908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23"/>
          <p:cNvSpPr/>
          <p:nvPr/>
        </p:nvSpPr>
        <p:spPr>
          <a:xfrm>
            <a:off x="9654480" y="434880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1" name="Image 6" descr="icons/boxopen.png"/>
          <p:cNvPicPr/>
          <p:nvPr/>
        </p:nvPicPr>
        <p:blipFill>
          <a:blip r:embed="rId7"/>
          <a:stretch/>
        </p:blipFill>
        <p:spPr>
          <a:xfrm>
            <a:off x="9736920" y="443124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Text 24"/>
          <p:cNvSpPr/>
          <p:nvPr/>
        </p:nvSpPr>
        <p:spPr>
          <a:xfrm>
            <a:off x="8217360" y="49705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 / set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5"/>
          <p:cNvSpPr/>
          <p:nvPr/>
        </p:nvSpPr>
        <p:spPr>
          <a:xfrm>
            <a:off x="8272440" y="535464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Non-Primitive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9" name="Image 0" descr="icons/boxe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What Is a List?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5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List Is a Row of Numbered Boxes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9" name="Image 1" descr="icons/boxe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0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Ordered.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Changeable.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Mixed types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allowed.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stores several values together, in one single variable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box has a position, called an index, starting at 0 — not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can hold any data type, even mixed together in the same list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Unlike a tuple (later today), a list can be changed after it's created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6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a List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Square brackets [ ] create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Items are separated by commas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list — mixing int, int, and str — is completely valid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[7, 9, "harry"]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print(type(l1))   # &lt;class 'list'&gt;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11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5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More Ways to Create a List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list() function builds a list from almost any other collection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can turn a string into a list of its characters, or a range into a list of numbers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Multiplying an empty-ish list is a quick way to pre-fill it with repeated values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list()             # [] — an empty list, another way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 = list("abc")        # ['a', 'b', 'c']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 = list(range(5))     # [0, 1, 2, 3, 4]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 = [0] * 5            # [0, 0, 0, 0, 0]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20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3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Indexing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2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3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[7, 9, "waseem"]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27" name="Shape 4"/>
          <p:cNvSpPr/>
          <p:nvPr/>
        </p:nvSpPr>
        <p:spPr>
          <a:xfrm>
            <a:off x="2926080" y="237744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5"/>
          <p:cNvSpPr/>
          <p:nvPr/>
        </p:nvSpPr>
        <p:spPr>
          <a:xfrm>
            <a:off x="2926080" y="237744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6"/>
          <p:cNvSpPr/>
          <p:nvPr/>
        </p:nvSpPr>
        <p:spPr>
          <a:xfrm>
            <a:off x="2926080" y="302652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7"/>
          <p:cNvSpPr/>
          <p:nvPr/>
        </p:nvSpPr>
        <p:spPr>
          <a:xfrm>
            <a:off x="4443840" y="237744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8"/>
          <p:cNvSpPr/>
          <p:nvPr/>
        </p:nvSpPr>
        <p:spPr>
          <a:xfrm>
            <a:off x="4443840" y="237744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9"/>
          <p:cNvSpPr/>
          <p:nvPr/>
        </p:nvSpPr>
        <p:spPr>
          <a:xfrm>
            <a:off x="4443840" y="302652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0"/>
          <p:cNvSpPr/>
          <p:nvPr/>
        </p:nvSpPr>
        <p:spPr>
          <a:xfrm>
            <a:off x="5961960" y="237744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1"/>
          <p:cNvSpPr/>
          <p:nvPr/>
        </p:nvSpPr>
        <p:spPr>
          <a:xfrm>
            <a:off x="5961960" y="237744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"waseem"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35" name="Text 12"/>
          <p:cNvSpPr/>
          <p:nvPr/>
        </p:nvSpPr>
        <p:spPr>
          <a:xfrm>
            <a:off x="5961960" y="302652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3"/>
          <p:cNvSpPr/>
          <p:nvPr/>
        </p:nvSpPr>
        <p:spPr>
          <a:xfrm>
            <a:off x="548640" y="3840480"/>
            <a:ext cx="11091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alibri"/>
              </a:rPr>
              <a:t>l1[0]  →  7      (the box at index 0)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alibri"/>
              </a:rPr>
              <a:t>l1[1]  →  9      (the box at index 1)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Indexes always start counting from 0, not 1 — this trips up almost everyone at first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4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0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Negative Indexing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2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3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[7, 9, "harry"]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44" name="Shape 4"/>
          <p:cNvSpPr/>
          <p:nvPr/>
        </p:nvSpPr>
        <p:spPr>
          <a:xfrm>
            <a:off x="2926080" y="265176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5"/>
          <p:cNvSpPr/>
          <p:nvPr/>
        </p:nvSpPr>
        <p:spPr>
          <a:xfrm>
            <a:off x="2926080" y="265176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6"/>
          <p:cNvSpPr/>
          <p:nvPr/>
        </p:nvSpPr>
        <p:spPr>
          <a:xfrm>
            <a:off x="2926080" y="330084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7"/>
          <p:cNvSpPr/>
          <p:nvPr/>
        </p:nvSpPr>
        <p:spPr>
          <a:xfrm>
            <a:off x="2926080" y="239580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98A2B"/>
                </a:solidFill>
                <a:effectLst/>
                <a:uFillTx/>
                <a:latin typeface="Consolas"/>
                <a:ea typeface="Consolas"/>
              </a:rPr>
              <a:t>-3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8"/>
          <p:cNvSpPr/>
          <p:nvPr/>
        </p:nvSpPr>
        <p:spPr>
          <a:xfrm>
            <a:off x="4443840" y="265176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9"/>
          <p:cNvSpPr/>
          <p:nvPr/>
        </p:nvSpPr>
        <p:spPr>
          <a:xfrm>
            <a:off x="4443840" y="265176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0"/>
          <p:cNvSpPr/>
          <p:nvPr/>
        </p:nvSpPr>
        <p:spPr>
          <a:xfrm>
            <a:off x="4443840" y="330084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1"/>
          <p:cNvSpPr/>
          <p:nvPr/>
        </p:nvSpPr>
        <p:spPr>
          <a:xfrm>
            <a:off x="4443840" y="239580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98A2B"/>
                </a:solidFill>
                <a:effectLst/>
                <a:uFillTx/>
                <a:latin typeface="Consolas"/>
                <a:ea typeface="Consolas"/>
              </a:rPr>
              <a:t>-2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2"/>
          <p:cNvSpPr/>
          <p:nvPr/>
        </p:nvSpPr>
        <p:spPr>
          <a:xfrm>
            <a:off x="5961960" y="265176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3"/>
          <p:cNvSpPr/>
          <p:nvPr/>
        </p:nvSpPr>
        <p:spPr>
          <a:xfrm>
            <a:off x="5961960" y="265176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"harry"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4"/>
          <p:cNvSpPr/>
          <p:nvPr/>
        </p:nvSpPr>
        <p:spPr>
          <a:xfrm>
            <a:off x="5961960" y="330084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5"/>
          <p:cNvSpPr/>
          <p:nvPr/>
        </p:nvSpPr>
        <p:spPr>
          <a:xfrm>
            <a:off x="5961960" y="239580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98A2B"/>
                </a:solidFill>
                <a:effectLst/>
                <a:uFillTx/>
                <a:latin typeface="Consolas"/>
                <a:ea typeface="Consolas"/>
              </a:rPr>
              <a:t>-1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6"/>
          <p:cNvSpPr/>
          <p:nvPr/>
        </p:nvSpPr>
        <p:spPr>
          <a:xfrm>
            <a:off x="548640" y="4023360"/>
            <a:ext cx="11091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Negative indexes count backward from the end — -1 is always the last item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l1[-1]  →  "harry"       l1[-2]  →  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Useful when you want "the last item" without needing to know the list's length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1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Out-of-Range: A Very Normal Error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of 3 items only has valid indexes 0, 1, and 2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Asking for an index that does not exist raises an IndexError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completely normal — read the error, fix the index, move 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[7, 9, "harry"]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print(l1[70])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IndexError: list index out of range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66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9" name="Image 0" descr="icons/cu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0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Slicing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3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[7, 9, "harry"] </a:t>
            </a: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-&gt;  l1[0:2]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2926080" y="237744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2926080" y="237744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2926080" y="302652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7"/>
          <p:cNvSpPr/>
          <p:nvPr/>
        </p:nvSpPr>
        <p:spPr>
          <a:xfrm>
            <a:off x="4443840" y="237744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4443840" y="237744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4443840" y="302652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5961960" y="237744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1"/>
          <p:cNvSpPr/>
          <p:nvPr/>
        </p:nvSpPr>
        <p:spPr>
          <a:xfrm>
            <a:off x="5961960" y="237744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"harry"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2"/>
          <p:cNvSpPr/>
          <p:nvPr/>
        </p:nvSpPr>
        <p:spPr>
          <a:xfrm>
            <a:off x="5961960" y="302652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548640" y="3840480"/>
            <a:ext cx="11091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slice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l1[st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art: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stop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]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grab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a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who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le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rang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of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ite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ms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at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onc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l1[0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:2] 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→ 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[7,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9]    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—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star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ts at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x 0,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stop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righ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bef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ore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x 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high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light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ed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box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es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are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wha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gets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incl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ude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 —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"sto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p"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x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itsel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 is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nev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er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incl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ude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7" name="Image 0" descr="icons/cu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Advanced Slicing — Negatives &amp; Steps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Slicing accepts negative indices too — count from the end, just like regular negative indexing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third number after a second colon sets a step — "every Nth item"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step of -1 walks backward through the whole list — a quick way to reverse it without changing the original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print(l1[-3:-1])   # [2, 21]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print(l1[:3])      # [1, 8, 7]   (start left out = from the beginning)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print(l1[3:])      # [2, 21, 15] (stop left out = to the end)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print(l1[::2])     # [1, 7, 21]  (every 2nd item)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print(l1[::-1])    # [15, 21, 2, 7, 8, 1]  (reversed!)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92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6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Mor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Way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 to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Acce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ss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Valu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Unpacking works on lists too, not just tuples — one value per variable, in order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Star unpacking lets one variable "soak up" everything left over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index() finds the position of a value, the reverse of normal indexing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a, b, c, d, e, f = l1        # unpack all 6 into 6 variables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print(a, f)                  # 1 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first, *rest = l1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print(first)   #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print(rest)    # [8,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print(l1.index(21))   #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01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5" name="Image 0" descr="icons/ruler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len() — How Many Items?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len() tells you exactly how many items are in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Very useful for checking a list's size before working with it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print(len(l1))   # 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10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5" name="Image 0" descr="icons/sort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6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LIST </a:t>
            </a: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METHO</a:t>
            </a: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DS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Before &amp; After — Watch the List Change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Every method below uses the same starting list: l1 = [1, 8, 7, 2, 21, 15]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Shape 0"/>
          <p:cNvSpPr/>
          <p:nvPr/>
        </p:nvSpPr>
        <p:spPr>
          <a:xfrm>
            <a:off x="-1828800" y="521208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2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.append(8) — Add to the End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3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4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l1 = [1, 8, 7, 2, 21, 15]  -&gt;  l1.append(8)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5"/>
          <p:cNvSpPr/>
          <p:nvPr/>
        </p:nvSpPr>
        <p:spPr>
          <a:xfrm>
            <a:off x="5486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6"/>
          <p:cNvSpPr/>
          <p:nvPr/>
        </p:nvSpPr>
        <p:spPr>
          <a:xfrm>
            <a:off x="5486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7"/>
          <p:cNvSpPr/>
          <p:nvPr/>
        </p:nvSpPr>
        <p:spPr>
          <a:xfrm>
            <a:off x="5486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8"/>
          <p:cNvSpPr/>
          <p:nvPr/>
        </p:nvSpPr>
        <p:spPr>
          <a:xfrm>
            <a:off x="5486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9"/>
          <p:cNvSpPr/>
          <p:nvPr/>
        </p:nvSpPr>
        <p:spPr>
          <a:xfrm>
            <a:off x="1353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0"/>
          <p:cNvSpPr/>
          <p:nvPr/>
        </p:nvSpPr>
        <p:spPr>
          <a:xfrm>
            <a:off x="1353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1"/>
          <p:cNvSpPr/>
          <p:nvPr/>
        </p:nvSpPr>
        <p:spPr>
          <a:xfrm>
            <a:off x="1353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12"/>
          <p:cNvSpPr/>
          <p:nvPr/>
        </p:nvSpPr>
        <p:spPr>
          <a:xfrm>
            <a:off x="2157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13"/>
          <p:cNvSpPr/>
          <p:nvPr/>
        </p:nvSpPr>
        <p:spPr>
          <a:xfrm>
            <a:off x="2157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14"/>
          <p:cNvSpPr/>
          <p:nvPr/>
        </p:nvSpPr>
        <p:spPr>
          <a:xfrm>
            <a:off x="2157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15"/>
          <p:cNvSpPr/>
          <p:nvPr/>
        </p:nvSpPr>
        <p:spPr>
          <a:xfrm>
            <a:off x="29628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16"/>
          <p:cNvSpPr/>
          <p:nvPr/>
        </p:nvSpPr>
        <p:spPr>
          <a:xfrm>
            <a:off x="29628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7"/>
          <p:cNvSpPr/>
          <p:nvPr/>
        </p:nvSpPr>
        <p:spPr>
          <a:xfrm>
            <a:off x="29628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18"/>
          <p:cNvSpPr/>
          <p:nvPr/>
        </p:nvSpPr>
        <p:spPr>
          <a:xfrm>
            <a:off x="3767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19"/>
          <p:cNvSpPr/>
          <p:nvPr/>
        </p:nvSpPr>
        <p:spPr>
          <a:xfrm>
            <a:off x="3767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20"/>
          <p:cNvSpPr/>
          <p:nvPr/>
        </p:nvSpPr>
        <p:spPr>
          <a:xfrm>
            <a:off x="3767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21"/>
          <p:cNvSpPr/>
          <p:nvPr/>
        </p:nvSpPr>
        <p:spPr>
          <a:xfrm>
            <a:off x="4572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22"/>
          <p:cNvSpPr/>
          <p:nvPr/>
        </p:nvSpPr>
        <p:spPr>
          <a:xfrm>
            <a:off x="4572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23"/>
          <p:cNvSpPr/>
          <p:nvPr/>
        </p:nvSpPr>
        <p:spPr>
          <a:xfrm>
            <a:off x="4572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24"/>
          <p:cNvSpPr/>
          <p:nvPr/>
        </p:nvSpPr>
        <p:spPr>
          <a:xfrm>
            <a:off x="5806440" y="2468880"/>
            <a:ext cx="548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25"/>
          <p:cNvSpPr/>
          <p:nvPr/>
        </p:nvSpPr>
        <p:spPr>
          <a:xfrm>
            <a:off x="64922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26"/>
          <p:cNvSpPr/>
          <p:nvPr/>
        </p:nvSpPr>
        <p:spPr>
          <a:xfrm>
            <a:off x="6492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27"/>
          <p:cNvSpPr/>
          <p:nvPr/>
        </p:nvSpPr>
        <p:spPr>
          <a:xfrm>
            <a:off x="6492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28"/>
          <p:cNvSpPr/>
          <p:nvPr/>
        </p:nvSpPr>
        <p:spPr>
          <a:xfrm>
            <a:off x="6492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29"/>
          <p:cNvSpPr/>
          <p:nvPr/>
        </p:nvSpPr>
        <p:spPr>
          <a:xfrm>
            <a:off x="7296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30"/>
          <p:cNvSpPr/>
          <p:nvPr/>
        </p:nvSpPr>
        <p:spPr>
          <a:xfrm>
            <a:off x="7296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31"/>
          <p:cNvSpPr/>
          <p:nvPr/>
        </p:nvSpPr>
        <p:spPr>
          <a:xfrm>
            <a:off x="7296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32"/>
          <p:cNvSpPr/>
          <p:nvPr/>
        </p:nvSpPr>
        <p:spPr>
          <a:xfrm>
            <a:off x="81014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33"/>
          <p:cNvSpPr/>
          <p:nvPr/>
        </p:nvSpPr>
        <p:spPr>
          <a:xfrm>
            <a:off x="81014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34"/>
          <p:cNvSpPr/>
          <p:nvPr/>
        </p:nvSpPr>
        <p:spPr>
          <a:xfrm>
            <a:off x="81014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35"/>
          <p:cNvSpPr/>
          <p:nvPr/>
        </p:nvSpPr>
        <p:spPr>
          <a:xfrm>
            <a:off x="8906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36"/>
          <p:cNvSpPr/>
          <p:nvPr/>
        </p:nvSpPr>
        <p:spPr>
          <a:xfrm>
            <a:off x="8906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37"/>
          <p:cNvSpPr/>
          <p:nvPr/>
        </p:nvSpPr>
        <p:spPr>
          <a:xfrm>
            <a:off x="8906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38"/>
          <p:cNvSpPr/>
          <p:nvPr/>
        </p:nvSpPr>
        <p:spPr>
          <a:xfrm>
            <a:off x="9711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39"/>
          <p:cNvSpPr/>
          <p:nvPr/>
        </p:nvSpPr>
        <p:spPr>
          <a:xfrm>
            <a:off x="9711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40"/>
          <p:cNvSpPr/>
          <p:nvPr/>
        </p:nvSpPr>
        <p:spPr>
          <a:xfrm>
            <a:off x="9711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41"/>
          <p:cNvSpPr/>
          <p:nvPr/>
        </p:nvSpPr>
        <p:spPr>
          <a:xfrm>
            <a:off x="105156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42"/>
          <p:cNvSpPr/>
          <p:nvPr/>
        </p:nvSpPr>
        <p:spPr>
          <a:xfrm>
            <a:off x="105156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43"/>
          <p:cNvSpPr/>
          <p:nvPr/>
        </p:nvSpPr>
        <p:spPr>
          <a:xfrm>
            <a:off x="105156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44"/>
          <p:cNvSpPr/>
          <p:nvPr/>
        </p:nvSpPr>
        <p:spPr>
          <a:xfrm>
            <a:off x="113202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45"/>
          <p:cNvSpPr/>
          <p:nvPr/>
        </p:nvSpPr>
        <p:spPr>
          <a:xfrm>
            <a:off x="113202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46"/>
          <p:cNvSpPr/>
          <p:nvPr/>
        </p:nvSpPr>
        <p:spPr>
          <a:xfrm>
            <a:off x="113202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47"/>
          <p:cNvSpPr/>
          <p:nvPr/>
        </p:nvSpPr>
        <p:spPr>
          <a:xfrm>
            <a:off x="548640" y="3977640"/>
            <a:ext cx="1109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append() always adds the new item at the very end of the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list grows by exactly one item, and nothing else moves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48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9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3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Does append() Take an Index?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 — append() always adds to the end, no matter what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only ever accepts the value to add, never a position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you need a specific position, that's exactly what insert() is for, next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l1.append(4)       # fine — adds 4 to the end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l1.append(0, 4)    # TypeError — append() takes no position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78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2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extend() vs. append() — A Common Mix-Up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append() adds its argument as ONE single item — even if that argument is itself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extend() adds each item from another list individually, one by one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Mixing these two up is one of the most common real bugs beginners write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l2 =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l1.append([4, 5])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   # [1, 2, 3, [4, 5]]   &lt;- a nested list!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l2.extend([4, 5])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print(l2)   # [1, 2, 3, 4, 5]     &lt;- flat, as expected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87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Shape 0"/>
          <p:cNvSpPr/>
          <p:nvPr/>
        </p:nvSpPr>
        <p:spPr>
          <a:xfrm>
            <a:off x="-1828800" y="521208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1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.insert(3, 8) — Add at a Specific Spot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3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4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  -&gt;  l1.insert(3, 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95" name="Text 5"/>
          <p:cNvSpPr/>
          <p:nvPr/>
        </p:nvSpPr>
        <p:spPr>
          <a:xfrm>
            <a:off x="5486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6"/>
          <p:cNvSpPr/>
          <p:nvPr/>
        </p:nvSpPr>
        <p:spPr>
          <a:xfrm>
            <a:off x="5486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7"/>
          <p:cNvSpPr/>
          <p:nvPr/>
        </p:nvSpPr>
        <p:spPr>
          <a:xfrm>
            <a:off x="5486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8"/>
          <p:cNvSpPr/>
          <p:nvPr/>
        </p:nvSpPr>
        <p:spPr>
          <a:xfrm>
            <a:off x="5486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9"/>
          <p:cNvSpPr/>
          <p:nvPr/>
        </p:nvSpPr>
        <p:spPr>
          <a:xfrm>
            <a:off x="1353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10"/>
          <p:cNvSpPr/>
          <p:nvPr/>
        </p:nvSpPr>
        <p:spPr>
          <a:xfrm>
            <a:off x="1353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11"/>
          <p:cNvSpPr/>
          <p:nvPr/>
        </p:nvSpPr>
        <p:spPr>
          <a:xfrm>
            <a:off x="1353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Shape 12"/>
          <p:cNvSpPr/>
          <p:nvPr/>
        </p:nvSpPr>
        <p:spPr>
          <a:xfrm>
            <a:off x="2157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13"/>
          <p:cNvSpPr/>
          <p:nvPr/>
        </p:nvSpPr>
        <p:spPr>
          <a:xfrm>
            <a:off x="2157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14"/>
          <p:cNvSpPr/>
          <p:nvPr/>
        </p:nvSpPr>
        <p:spPr>
          <a:xfrm>
            <a:off x="2157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15"/>
          <p:cNvSpPr/>
          <p:nvPr/>
        </p:nvSpPr>
        <p:spPr>
          <a:xfrm>
            <a:off x="29628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16"/>
          <p:cNvSpPr/>
          <p:nvPr/>
        </p:nvSpPr>
        <p:spPr>
          <a:xfrm>
            <a:off x="29628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17"/>
          <p:cNvSpPr/>
          <p:nvPr/>
        </p:nvSpPr>
        <p:spPr>
          <a:xfrm>
            <a:off x="29628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18"/>
          <p:cNvSpPr/>
          <p:nvPr/>
        </p:nvSpPr>
        <p:spPr>
          <a:xfrm>
            <a:off x="3767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9"/>
          <p:cNvSpPr/>
          <p:nvPr/>
        </p:nvSpPr>
        <p:spPr>
          <a:xfrm>
            <a:off x="3767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20"/>
          <p:cNvSpPr/>
          <p:nvPr/>
        </p:nvSpPr>
        <p:spPr>
          <a:xfrm>
            <a:off x="3767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Shape 21"/>
          <p:cNvSpPr/>
          <p:nvPr/>
        </p:nvSpPr>
        <p:spPr>
          <a:xfrm>
            <a:off x="4572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22"/>
          <p:cNvSpPr/>
          <p:nvPr/>
        </p:nvSpPr>
        <p:spPr>
          <a:xfrm>
            <a:off x="4572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23"/>
          <p:cNvSpPr/>
          <p:nvPr/>
        </p:nvSpPr>
        <p:spPr>
          <a:xfrm>
            <a:off x="4572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24"/>
          <p:cNvSpPr/>
          <p:nvPr/>
        </p:nvSpPr>
        <p:spPr>
          <a:xfrm>
            <a:off x="5806440" y="2468880"/>
            <a:ext cx="548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25"/>
          <p:cNvSpPr/>
          <p:nvPr/>
        </p:nvSpPr>
        <p:spPr>
          <a:xfrm>
            <a:off x="64922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26"/>
          <p:cNvSpPr/>
          <p:nvPr/>
        </p:nvSpPr>
        <p:spPr>
          <a:xfrm>
            <a:off x="6492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27"/>
          <p:cNvSpPr/>
          <p:nvPr/>
        </p:nvSpPr>
        <p:spPr>
          <a:xfrm>
            <a:off x="6492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28"/>
          <p:cNvSpPr/>
          <p:nvPr/>
        </p:nvSpPr>
        <p:spPr>
          <a:xfrm>
            <a:off x="6492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29"/>
          <p:cNvSpPr/>
          <p:nvPr/>
        </p:nvSpPr>
        <p:spPr>
          <a:xfrm>
            <a:off x="7296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30"/>
          <p:cNvSpPr/>
          <p:nvPr/>
        </p:nvSpPr>
        <p:spPr>
          <a:xfrm>
            <a:off x="7296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31"/>
          <p:cNvSpPr/>
          <p:nvPr/>
        </p:nvSpPr>
        <p:spPr>
          <a:xfrm>
            <a:off x="7296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32"/>
          <p:cNvSpPr/>
          <p:nvPr/>
        </p:nvSpPr>
        <p:spPr>
          <a:xfrm>
            <a:off x="81014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33"/>
          <p:cNvSpPr/>
          <p:nvPr/>
        </p:nvSpPr>
        <p:spPr>
          <a:xfrm>
            <a:off x="81014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34"/>
          <p:cNvSpPr/>
          <p:nvPr/>
        </p:nvSpPr>
        <p:spPr>
          <a:xfrm>
            <a:off x="81014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35"/>
          <p:cNvSpPr/>
          <p:nvPr/>
        </p:nvSpPr>
        <p:spPr>
          <a:xfrm>
            <a:off x="8906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36"/>
          <p:cNvSpPr/>
          <p:nvPr/>
        </p:nvSpPr>
        <p:spPr>
          <a:xfrm>
            <a:off x="8906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37"/>
          <p:cNvSpPr/>
          <p:nvPr/>
        </p:nvSpPr>
        <p:spPr>
          <a:xfrm>
            <a:off x="8906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38"/>
          <p:cNvSpPr/>
          <p:nvPr/>
        </p:nvSpPr>
        <p:spPr>
          <a:xfrm>
            <a:off x="9711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39"/>
          <p:cNvSpPr/>
          <p:nvPr/>
        </p:nvSpPr>
        <p:spPr>
          <a:xfrm>
            <a:off x="9711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40"/>
          <p:cNvSpPr/>
          <p:nvPr/>
        </p:nvSpPr>
        <p:spPr>
          <a:xfrm>
            <a:off x="9711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41"/>
          <p:cNvSpPr/>
          <p:nvPr/>
        </p:nvSpPr>
        <p:spPr>
          <a:xfrm>
            <a:off x="105156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42"/>
          <p:cNvSpPr/>
          <p:nvPr/>
        </p:nvSpPr>
        <p:spPr>
          <a:xfrm>
            <a:off x="105156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43"/>
          <p:cNvSpPr/>
          <p:nvPr/>
        </p:nvSpPr>
        <p:spPr>
          <a:xfrm>
            <a:off x="105156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44"/>
          <p:cNvSpPr/>
          <p:nvPr/>
        </p:nvSpPr>
        <p:spPr>
          <a:xfrm>
            <a:off x="113202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45"/>
          <p:cNvSpPr/>
          <p:nvPr/>
        </p:nvSpPr>
        <p:spPr>
          <a:xfrm>
            <a:off x="113202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46"/>
          <p:cNvSpPr/>
          <p:nvPr/>
        </p:nvSpPr>
        <p:spPr>
          <a:xfrm>
            <a:off x="113202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47"/>
          <p:cNvSpPr/>
          <p:nvPr/>
        </p:nvSpPr>
        <p:spPr>
          <a:xfrm>
            <a:off x="548640" y="3977640"/>
            <a:ext cx="1109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insert(index, value) pushes 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new item into that exact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position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Everything that was already at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or after that index shifts one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spot to the right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48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49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2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insert() With a Negative Index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insert() accepts negative indices too — they count from the end, same as everywhere else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-1 means "insert right before the last item", not "insert at the very end"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 truly insert at the end, append() is simpler and clearer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l1.insert(-1, 99)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[1, 8, 7, 2, 21, 99,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99 lands BEFORE the last item, not after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547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Shape 0"/>
          <p:cNvSpPr/>
          <p:nvPr/>
        </p:nvSpPr>
        <p:spPr>
          <a:xfrm>
            <a:off x="-1828800" y="521208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1" name="Image 0" descr="icons/min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.pop(2) — Remove by Position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3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4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  -&gt;  l1.pop(2)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555" name="Text 5"/>
          <p:cNvSpPr/>
          <p:nvPr/>
        </p:nvSpPr>
        <p:spPr>
          <a:xfrm>
            <a:off x="5486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6"/>
          <p:cNvSpPr/>
          <p:nvPr/>
        </p:nvSpPr>
        <p:spPr>
          <a:xfrm>
            <a:off x="5486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7"/>
          <p:cNvSpPr/>
          <p:nvPr/>
        </p:nvSpPr>
        <p:spPr>
          <a:xfrm>
            <a:off x="5486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8"/>
          <p:cNvSpPr/>
          <p:nvPr/>
        </p:nvSpPr>
        <p:spPr>
          <a:xfrm>
            <a:off x="5486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9"/>
          <p:cNvSpPr/>
          <p:nvPr/>
        </p:nvSpPr>
        <p:spPr>
          <a:xfrm>
            <a:off x="1353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10"/>
          <p:cNvSpPr/>
          <p:nvPr/>
        </p:nvSpPr>
        <p:spPr>
          <a:xfrm>
            <a:off x="1353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11"/>
          <p:cNvSpPr/>
          <p:nvPr/>
        </p:nvSpPr>
        <p:spPr>
          <a:xfrm>
            <a:off x="1353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12"/>
          <p:cNvSpPr/>
          <p:nvPr/>
        </p:nvSpPr>
        <p:spPr>
          <a:xfrm>
            <a:off x="2157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E9C3BE"/>
          </a:solidFill>
          <a:ln w="19050">
            <a:solidFill>
              <a:srgbClr val="A547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13"/>
          <p:cNvSpPr/>
          <p:nvPr/>
        </p:nvSpPr>
        <p:spPr>
          <a:xfrm>
            <a:off x="2157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A5473F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14"/>
          <p:cNvSpPr/>
          <p:nvPr/>
        </p:nvSpPr>
        <p:spPr>
          <a:xfrm>
            <a:off x="2157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5"/>
          <p:cNvSpPr/>
          <p:nvPr/>
        </p:nvSpPr>
        <p:spPr>
          <a:xfrm>
            <a:off x="29628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16"/>
          <p:cNvSpPr/>
          <p:nvPr/>
        </p:nvSpPr>
        <p:spPr>
          <a:xfrm>
            <a:off x="29628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17"/>
          <p:cNvSpPr/>
          <p:nvPr/>
        </p:nvSpPr>
        <p:spPr>
          <a:xfrm>
            <a:off x="29628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18"/>
          <p:cNvSpPr/>
          <p:nvPr/>
        </p:nvSpPr>
        <p:spPr>
          <a:xfrm>
            <a:off x="3767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19"/>
          <p:cNvSpPr/>
          <p:nvPr/>
        </p:nvSpPr>
        <p:spPr>
          <a:xfrm>
            <a:off x="3767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20"/>
          <p:cNvSpPr/>
          <p:nvPr/>
        </p:nvSpPr>
        <p:spPr>
          <a:xfrm>
            <a:off x="3767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21"/>
          <p:cNvSpPr/>
          <p:nvPr/>
        </p:nvSpPr>
        <p:spPr>
          <a:xfrm>
            <a:off x="4572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22"/>
          <p:cNvSpPr/>
          <p:nvPr/>
        </p:nvSpPr>
        <p:spPr>
          <a:xfrm>
            <a:off x="4572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23"/>
          <p:cNvSpPr/>
          <p:nvPr/>
        </p:nvSpPr>
        <p:spPr>
          <a:xfrm>
            <a:off x="4572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24"/>
          <p:cNvSpPr/>
          <p:nvPr/>
        </p:nvSpPr>
        <p:spPr>
          <a:xfrm>
            <a:off x="5806440" y="2468880"/>
            <a:ext cx="548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25"/>
          <p:cNvSpPr/>
          <p:nvPr/>
        </p:nvSpPr>
        <p:spPr>
          <a:xfrm>
            <a:off x="64922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Shape 26"/>
          <p:cNvSpPr/>
          <p:nvPr/>
        </p:nvSpPr>
        <p:spPr>
          <a:xfrm>
            <a:off x="6492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7"/>
          <p:cNvSpPr/>
          <p:nvPr/>
        </p:nvSpPr>
        <p:spPr>
          <a:xfrm>
            <a:off x="6492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28"/>
          <p:cNvSpPr/>
          <p:nvPr/>
        </p:nvSpPr>
        <p:spPr>
          <a:xfrm>
            <a:off x="6492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29"/>
          <p:cNvSpPr/>
          <p:nvPr/>
        </p:nvSpPr>
        <p:spPr>
          <a:xfrm>
            <a:off x="7296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30"/>
          <p:cNvSpPr/>
          <p:nvPr/>
        </p:nvSpPr>
        <p:spPr>
          <a:xfrm>
            <a:off x="7296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 31"/>
          <p:cNvSpPr/>
          <p:nvPr/>
        </p:nvSpPr>
        <p:spPr>
          <a:xfrm>
            <a:off x="7296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32"/>
          <p:cNvSpPr/>
          <p:nvPr/>
        </p:nvSpPr>
        <p:spPr>
          <a:xfrm>
            <a:off x="81014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33"/>
          <p:cNvSpPr/>
          <p:nvPr/>
        </p:nvSpPr>
        <p:spPr>
          <a:xfrm>
            <a:off x="81014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34"/>
          <p:cNvSpPr/>
          <p:nvPr/>
        </p:nvSpPr>
        <p:spPr>
          <a:xfrm>
            <a:off x="81014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35"/>
          <p:cNvSpPr/>
          <p:nvPr/>
        </p:nvSpPr>
        <p:spPr>
          <a:xfrm>
            <a:off x="8906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36"/>
          <p:cNvSpPr/>
          <p:nvPr/>
        </p:nvSpPr>
        <p:spPr>
          <a:xfrm>
            <a:off x="8906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37"/>
          <p:cNvSpPr/>
          <p:nvPr/>
        </p:nvSpPr>
        <p:spPr>
          <a:xfrm>
            <a:off x="8906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Shape 38"/>
          <p:cNvSpPr/>
          <p:nvPr/>
        </p:nvSpPr>
        <p:spPr>
          <a:xfrm>
            <a:off x="9711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39"/>
          <p:cNvSpPr/>
          <p:nvPr/>
        </p:nvSpPr>
        <p:spPr>
          <a:xfrm>
            <a:off x="9711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40"/>
          <p:cNvSpPr/>
          <p:nvPr/>
        </p:nvSpPr>
        <p:spPr>
          <a:xfrm>
            <a:off x="9711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41"/>
          <p:cNvSpPr/>
          <p:nvPr/>
        </p:nvSpPr>
        <p:spPr>
          <a:xfrm>
            <a:off x="548640" y="352044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l1.pop(2) removes the item at index 2, shifts everything after it left, and RETURNS the removed value → 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42"/>
          <p:cNvSpPr/>
          <p:nvPr/>
        </p:nvSpPr>
        <p:spPr>
          <a:xfrm>
            <a:off x="548640" y="3977640"/>
            <a:ext cx="1109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pop() is the only removal method that gives the value back to you — you can store it in a variable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Without an index, pop() removes the last item by default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43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44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7" name="Image 0" descr="icons/min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8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pop() — Three Ways to Call It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pop() with no argument removes the LAST item — the most common way it's used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pop(0) removes the FIRST item — everything after it shifts left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pop(-1) is the same as calling pop() with nothing — explicit, but identical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8, 7, 2,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l1.pop()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#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remove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 15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(the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last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item)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l1.pop(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0)     #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remove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 1 (the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first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item)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l1.pop(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-1)    #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same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as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pop()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with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nothin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602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Shape 0"/>
          <p:cNvSpPr/>
          <p:nvPr/>
        </p:nvSpPr>
        <p:spPr>
          <a:xfrm>
            <a:off x="-1828800" y="521208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6" name="Image 0" descr="icons/min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7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.remove(21) — Remove by Value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</a:t>
            </a: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7, 2, 21, </a:t>
            </a: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15]  -&gt;  </a:t>
            </a: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l1.remov</a:t>
            </a: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e(21)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5486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7"/>
          <p:cNvSpPr/>
          <p:nvPr/>
        </p:nvSpPr>
        <p:spPr>
          <a:xfrm>
            <a:off x="5486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8"/>
          <p:cNvSpPr/>
          <p:nvPr/>
        </p:nvSpPr>
        <p:spPr>
          <a:xfrm>
            <a:off x="5486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353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53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1353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Shape 12"/>
          <p:cNvSpPr/>
          <p:nvPr/>
        </p:nvSpPr>
        <p:spPr>
          <a:xfrm>
            <a:off x="2157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2157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2157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15"/>
          <p:cNvSpPr/>
          <p:nvPr/>
        </p:nvSpPr>
        <p:spPr>
          <a:xfrm>
            <a:off x="29628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29628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29628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Shape 18"/>
          <p:cNvSpPr/>
          <p:nvPr/>
        </p:nvSpPr>
        <p:spPr>
          <a:xfrm>
            <a:off x="3767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E9C3BE"/>
          </a:solidFill>
          <a:ln w="19050">
            <a:solidFill>
              <a:srgbClr val="A547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3767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A5473F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3767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Shape 21"/>
          <p:cNvSpPr/>
          <p:nvPr/>
        </p:nvSpPr>
        <p:spPr>
          <a:xfrm>
            <a:off x="4572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4572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4572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5806440" y="2468880"/>
            <a:ext cx="548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64922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Shape 26"/>
          <p:cNvSpPr/>
          <p:nvPr/>
        </p:nvSpPr>
        <p:spPr>
          <a:xfrm>
            <a:off x="6492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6492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28"/>
          <p:cNvSpPr/>
          <p:nvPr/>
        </p:nvSpPr>
        <p:spPr>
          <a:xfrm>
            <a:off x="6492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Shape 29"/>
          <p:cNvSpPr/>
          <p:nvPr/>
        </p:nvSpPr>
        <p:spPr>
          <a:xfrm>
            <a:off x="7296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30"/>
          <p:cNvSpPr/>
          <p:nvPr/>
        </p:nvSpPr>
        <p:spPr>
          <a:xfrm>
            <a:off x="7296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31"/>
          <p:cNvSpPr/>
          <p:nvPr/>
        </p:nvSpPr>
        <p:spPr>
          <a:xfrm>
            <a:off x="7296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Shape 32"/>
          <p:cNvSpPr/>
          <p:nvPr/>
        </p:nvSpPr>
        <p:spPr>
          <a:xfrm>
            <a:off x="81014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33"/>
          <p:cNvSpPr/>
          <p:nvPr/>
        </p:nvSpPr>
        <p:spPr>
          <a:xfrm>
            <a:off x="81014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34"/>
          <p:cNvSpPr/>
          <p:nvPr/>
        </p:nvSpPr>
        <p:spPr>
          <a:xfrm>
            <a:off x="81014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Shape 35"/>
          <p:cNvSpPr/>
          <p:nvPr/>
        </p:nvSpPr>
        <p:spPr>
          <a:xfrm>
            <a:off x="8906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36"/>
          <p:cNvSpPr/>
          <p:nvPr/>
        </p:nvSpPr>
        <p:spPr>
          <a:xfrm>
            <a:off x="8906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37"/>
          <p:cNvSpPr/>
          <p:nvPr/>
        </p:nvSpPr>
        <p:spPr>
          <a:xfrm>
            <a:off x="8906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38"/>
          <p:cNvSpPr/>
          <p:nvPr/>
        </p:nvSpPr>
        <p:spPr>
          <a:xfrm>
            <a:off x="9711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39"/>
          <p:cNvSpPr/>
          <p:nvPr/>
        </p:nvSpPr>
        <p:spPr>
          <a:xfrm>
            <a:off x="9711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40"/>
          <p:cNvSpPr/>
          <p:nvPr/>
        </p:nvSpPr>
        <p:spPr>
          <a:xfrm>
            <a:off x="9711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41"/>
          <p:cNvSpPr/>
          <p:nvPr/>
        </p:nvSpPr>
        <p:spPr>
          <a:xfrm>
            <a:off x="548640" y="3977640"/>
            <a:ext cx="1109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remove() searches for the first item that matches the value you gave it, and deletes that one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the value appears more than once, only the first match is removed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the value is not found at all, Python raises a ValueError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42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43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0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1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More List Methods: index() and count()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Shape 2"/>
          <p:cNvSpPr/>
          <p:nvPr/>
        </p:nvSpPr>
        <p:spPr>
          <a:xfrm>
            <a:off x="457200" y="1508760"/>
            <a:ext cx="5522760" cy="489168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Shape 3"/>
          <p:cNvSpPr/>
          <p:nvPr/>
        </p:nvSpPr>
        <p:spPr>
          <a:xfrm>
            <a:off x="294444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4" name="Image 1" descr="icons/search.png"/>
          <p:cNvPicPr/>
          <p:nvPr/>
        </p:nvPicPr>
        <p:blipFill>
          <a:blip r:embed="rId2"/>
          <a:stretch/>
        </p:blipFill>
        <p:spPr>
          <a:xfrm>
            <a:off x="302652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5" name="Text 4"/>
          <p:cNvSpPr/>
          <p:nvPr/>
        </p:nvSpPr>
        <p:spPr>
          <a:xfrm>
            <a:off x="548640" y="271764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l1.index(21)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5"/>
          <p:cNvSpPr/>
          <p:nvPr/>
        </p:nvSpPr>
        <p:spPr>
          <a:xfrm>
            <a:off x="603360" y="3101760"/>
            <a:ext cx="523008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Returns the position of the first 21 in the list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Shape 6"/>
          <p:cNvSpPr/>
          <p:nvPr/>
        </p:nvSpPr>
        <p:spPr>
          <a:xfrm>
            <a:off x="6208920" y="1508760"/>
            <a:ext cx="5522760" cy="489168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Shape 7"/>
          <p:cNvSpPr/>
          <p:nvPr/>
        </p:nvSpPr>
        <p:spPr>
          <a:xfrm>
            <a:off x="869580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9" name="Image 2" descr="icons/hashtag.png"/>
          <p:cNvPicPr/>
          <p:nvPr/>
        </p:nvPicPr>
        <p:blipFill>
          <a:blip r:embed="rId3"/>
          <a:stretch/>
        </p:blipFill>
        <p:spPr>
          <a:xfrm>
            <a:off x="877824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0" name="Text 8"/>
          <p:cNvSpPr/>
          <p:nvPr/>
        </p:nvSpPr>
        <p:spPr>
          <a:xfrm>
            <a:off x="6300360" y="271764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l1.count(8)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9"/>
          <p:cNvSpPr/>
          <p:nvPr/>
        </p:nvSpPr>
        <p:spPr>
          <a:xfrm>
            <a:off x="6355080" y="3101760"/>
            <a:ext cx="523008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Returns how many times 8 appears in the list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0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Shape 0"/>
          <p:cNvSpPr/>
          <p:nvPr/>
        </p:nvSpPr>
        <p:spPr>
          <a:xfrm>
            <a:off x="-1828800" y="521208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6" name="Image 0" descr="icons/so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7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.sort() — Reorder Smallest to Largest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Shape 3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4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  -&gt;  l1.sort()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670" name="Text 5"/>
          <p:cNvSpPr/>
          <p:nvPr/>
        </p:nvSpPr>
        <p:spPr>
          <a:xfrm>
            <a:off x="5486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Shape 6"/>
          <p:cNvSpPr/>
          <p:nvPr/>
        </p:nvSpPr>
        <p:spPr>
          <a:xfrm>
            <a:off x="5486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7"/>
          <p:cNvSpPr/>
          <p:nvPr/>
        </p:nvSpPr>
        <p:spPr>
          <a:xfrm>
            <a:off x="5486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8"/>
          <p:cNvSpPr/>
          <p:nvPr/>
        </p:nvSpPr>
        <p:spPr>
          <a:xfrm>
            <a:off x="5486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Shape 9"/>
          <p:cNvSpPr/>
          <p:nvPr/>
        </p:nvSpPr>
        <p:spPr>
          <a:xfrm>
            <a:off x="1353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0"/>
          <p:cNvSpPr/>
          <p:nvPr/>
        </p:nvSpPr>
        <p:spPr>
          <a:xfrm>
            <a:off x="1353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1"/>
          <p:cNvSpPr/>
          <p:nvPr/>
        </p:nvSpPr>
        <p:spPr>
          <a:xfrm>
            <a:off x="1353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2"/>
          <p:cNvSpPr/>
          <p:nvPr/>
        </p:nvSpPr>
        <p:spPr>
          <a:xfrm>
            <a:off x="2157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13"/>
          <p:cNvSpPr/>
          <p:nvPr/>
        </p:nvSpPr>
        <p:spPr>
          <a:xfrm>
            <a:off x="2157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14"/>
          <p:cNvSpPr/>
          <p:nvPr/>
        </p:nvSpPr>
        <p:spPr>
          <a:xfrm>
            <a:off x="2157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Shape 15"/>
          <p:cNvSpPr/>
          <p:nvPr/>
        </p:nvSpPr>
        <p:spPr>
          <a:xfrm>
            <a:off x="29628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16"/>
          <p:cNvSpPr/>
          <p:nvPr/>
        </p:nvSpPr>
        <p:spPr>
          <a:xfrm>
            <a:off x="29628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17"/>
          <p:cNvSpPr/>
          <p:nvPr/>
        </p:nvSpPr>
        <p:spPr>
          <a:xfrm>
            <a:off x="29628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Shape 18"/>
          <p:cNvSpPr/>
          <p:nvPr/>
        </p:nvSpPr>
        <p:spPr>
          <a:xfrm>
            <a:off x="3767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19"/>
          <p:cNvSpPr/>
          <p:nvPr/>
        </p:nvSpPr>
        <p:spPr>
          <a:xfrm>
            <a:off x="3767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0"/>
          <p:cNvSpPr/>
          <p:nvPr/>
        </p:nvSpPr>
        <p:spPr>
          <a:xfrm>
            <a:off x="3767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Shape 21"/>
          <p:cNvSpPr/>
          <p:nvPr/>
        </p:nvSpPr>
        <p:spPr>
          <a:xfrm>
            <a:off x="4572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22"/>
          <p:cNvSpPr/>
          <p:nvPr/>
        </p:nvSpPr>
        <p:spPr>
          <a:xfrm>
            <a:off x="4572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23"/>
          <p:cNvSpPr/>
          <p:nvPr/>
        </p:nvSpPr>
        <p:spPr>
          <a:xfrm>
            <a:off x="4572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24"/>
          <p:cNvSpPr/>
          <p:nvPr/>
        </p:nvSpPr>
        <p:spPr>
          <a:xfrm>
            <a:off x="5806440" y="2468880"/>
            <a:ext cx="548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5"/>
          <p:cNvSpPr/>
          <p:nvPr/>
        </p:nvSpPr>
        <p:spPr>
          <a:xfrm>
            <a:off x="64922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Shape 26"/>
          <p:cNvSpPr/>
          <p:nvPr/>
        </p:nvSpPr>
        <p:spPr>
          <a:xfrm>
            <a:off x="6492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27"/>
          <p:cNvSpPr/>
          <p:nvPr/>
        </p:nvSpPr>
        <p:spPr>
          <a:xfrm>
            <a:off x="6492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28"/>
          <p:cNvSpPr/>
          <p:nvPr/>
        </p:nvSpPr>
        <p:spPr>
          <a:xfrm>
            <a:off x="6492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Shape 29"/>
          <p:cNvSpPr/>
          <p:nvPr/>
        </p:nvSpPr>
        <p:spPr>
          <a:xfrm>
            <a:off x="7296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0"/>
          <p:cNvSpPr/>
          <p:nvPr/>
        </p:nvSpPr>
        <p:spPr>
          <a:xfrm>
            <a:off x="7296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1"/>
          <p:cNvSpPr/>
          <p:nvPr/>
        </p:nvSpPr>
        <p:spPr>
          <a:xfrm>
            <a:off x="7296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2"/>
          <p:cNvSpPr/>
          <p:nvPr/>
        </p:nvSpPr>
        <p:spPr>
          <a:xfrm>
            <a:off x="81014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33"/>
          <p:cNvSpPr/>
          <p:nvPr/>
        </p:nvSpPr>
        <p:spPr>
          <a:xfrm>
            <a:off x="81014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34"/>
          <p:cNvSpPr/>
          <p:nvPr/>
        </p:nvSpPr>
        <p:spPr>
          <a:xfrm>
            <a:off x="81014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Shape 35"/>
          <p:cNvSpPr/>
          <p:nvPr/>
        </p:nvSpPr>
        <p:spPr>
          <a:xfrm>
            <a:off x="8906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36"/>
          <p:cNvSpPr/>
          <p:nvPr/>
        </p:nvSpPr>
        <p:spPr>
          <a:xfrm>
            <a:off x="8906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37"/>
          <p:cNvSpPr/>
          <p:nvPr/>
        </p:nvSpPr>
        <p:spPr>
          <a:xfrm>
            <a:off x="8906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Shape 38"/>
          <p:cNvSpPr/>
          <p:nvPr/>
        </p:nvSpPr>
        <p:spPr>
          <a:xfrm>
            <a:off x="9711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39"/>
          <p:cNvSpPr/>
          <p:nvPr/>
        </p:nvSpPr>
        <p:spPr>
          <a:xfrm>
            <a:off x="9711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0"/>
          <p:cNvSpPr/>
          <p:nvPr/>
        </p:nvSpPr>
        <p:spPr>
          <a:xfrm>
            <a:off x="9711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41"/>
          <p:cNvSpPr/>
          <p:nvPr/>
        </p:nvSpPr>
        <p:spPr>
          <a:xfrm>
            <a:off x="105156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2"/>
          <p:cNvSpPr/>
          <p:nvPr/>
        </p:nvSpPr>
        <p:spPr>
          <a:xfrm>
            <a:off x="105156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43"/>
          <p:cNvSpPr/>
          <p:nvPr/>
        </p:nvSpPr>
        <p:spPr>
          <a:xfrm>
            <a:off x="105156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44"/>
          <p:cNvSpPr/>
          <p:nvPr/>
        </p:nvSpPr>
        <p:spPr>
          <a:xfrm>
            <a:off x="548640" y="3977640"/>
            <a:ext cx="1109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sort()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rearranges 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 in place —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original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order is gone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By default it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sorts smallest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 largest —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pass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reverse=True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for largest to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smallest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5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 4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3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4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sorted() vs. .sort() — Not the Same Thing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2"/>
          <p:cNvSpPr/>
          <p:nvPr/>
        </p:nvSpPr>
        <p:spPr>
          <a:xfrm>
            <a:off x="457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Shape 3"/>
          <p:cNvSpPr/>
          <p:nvPr/>
        </p:nvSpPr>
        <p:spPr>
          <a:xfrm>
            <a:off x="731520" y="187452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7" name="Image 1" descr="icons/exchange.png"/>
          <p:cNvPicPr/>
          <p:nvPr/>
        </p:nvPicPr>
        <p:blipFill>
          <a:blip r:embed="rId2"/>
          <a:stretch/>
        </p:blipFill>
        <p:spPr>
          <a:xfrm>
            <a:off x="800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8" name="Text 4"/>
          <p:cNvSpPr/>
          <p:nvPr/>
        </p:nvSpPr>
        <p:spPr>
          <a:xfrm>
            <a:off x="1325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.sort()  — a 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5"/>
          <p:cNvSpPr/>
          <p:nvPr/>
        </p:nvSpPr>
        <p:spPr>
          <a:xfrm>
            <a:off x="731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Changes the original list directly, permanently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Returns None — do NOT write l1 = l1.sort()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Only works on lists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Shape 6"/>
          <p:cNvSpPr/>
          <p:nvPr/>
        </p:nvSpPr>
        <p:spPr>
          <a:xfrm>
            <a:off x="6172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7"/>
          <p:cNvSpPr/>
          <p:nvPr/>
        </p:nvSpPr>
        <p:spPr>
          <a:xfrm>
            <a:off x="6446520" y="1874520"/>
            <a:ext cx="456840" cy="45684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22" name="Image 2" descr="icons/copy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3" name="Text 8"/>
          <p:cNvSpPr/>
          <p:nvPr/>
        </p:nvSpPr>
        <p:spPr>
          <a:xfrm>
            <a:off x="7040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sorted()  — a function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 9"/>
          <p:cNvSpPr/>
          <p:nvPr/>
        </p:nvSpPr>
        <p:spPr>
          <a:xfrm>
            <a:off x="6446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Leaves the original list untouched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Returns a brand new, sorted list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Works on lists, tuples, and more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10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29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0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sorted() in Action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sorted() whenever you want a sorted view, but need to keep the original order intact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safer default when you are not sure yet whether you'll need the original order later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 = sorted(l1)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print(result)   # [1, 2, 7, 8, 15, 21]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       # [1, 8, 7, 2, 21, 15]  &lt;- unchanged!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734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Shape 0"/>
          <p:cNvSpPr/>
          <p:nvPr/>
        </p:nvSpPr>
        <p:spPr>
          <a:xfrm>
            <a:off x="-1828800" y="521208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38" name="Image 0" descr="icons/so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9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.reverse() — Flip the Order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Shape 3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4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  -&gt;  l1.reverse()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742" name="Text 5"/>
          <p:cNvSpPr/>
          <p:nvPr/>
        </p:nvSpPr>
        <p:spPr>
          <a:xfrm>
            <a:off x="5486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Shape 6"/>
          <p:cNvSpPr/>
          <p:nvPr/>
        </p:nvSpPr>
        <p:spPr>
          <a:xfrm>
            <a:off x="5486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7"/>
          <p:cNvSpPr/>
          <p:nvPr/>
        </p:nvSpPr>
        <p:spPr>
          <a:xfrm>
            <a:off x="5486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8"/>
          <p:cNvSpPr/>
          <p:nvPr/>
        </p:nvSpPr>
        <p:spPr>
          <a:xfrm>
            <a:off x="5486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Shape 9"/>
          <p:cNvSpPr/>
          <p:nvPr/>
        </p:nvSpPr>
        <p:spPr>
          <a:xfrm>
            <a:off x="1353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10"/>
          <p:cNvSpPr/>
          <p:nvPr/>
        </p:nvSpPr>
        <p:spPr>
          <a:xfrm>
            <a:off x="1353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Text 11"/>
          <p:cNvSpPr/>
          <p:nvPr/>
        </p:nvSpPr>
        <p:spPr>
          <a:xfrm>
            <a:off x="1353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12"/>
          <p:cNvSpPr/>
          <p:nvPr/>
        </p:nvSpPr>
        <p:spPr>
          <a:xfrm>
            <a:off x="2157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13"/>
          <p:cNvSpPr/>
          <p:nvPr/>
        </p:nvSpPr>
        <p:spPr>
          <a:xfrm>
            <a:off x="2157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Text 14"/>
          <p:cNvSpPr/>
          <p:nvPr/>
        </p:nvSpPr>
        <p:spPr>
          <a:xfrm>
            <a:off x="2157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Shape 15"/>
          <p:cNvSpPr/>
          <p:nvPr/>
        </p:nvSpPr>
        <p:spPr>
          <a:xfrm>
            <a:off x="29628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Text 16"/>
          <p:cNvSpPr/>
          <p:nvPr/>
        </p:nvSpPr>
        <p:spPr>
          <a:xfrm>
            <a:off x="29628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 17"/>
          <p:cNvSpPr/>
          <p:nvPr/>
        </p:nvSpPr>
        <p:spPr>
          <a:xfrm>
            <a:off x="29628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18"/>
          <p:cNvSpPr/>
          <p:nvPr/>
        </p:nvSpPr>
        <p:spPr>
          <a:xfrm>
            <a:off x="3767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 19"/>
          <p:cNvSpPr/>
          <p:nvPr/>
        </p:nvSpPr>
        <p:spPr>
          <a:xfrm>
            <a:off x="3767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20"/>
          <p:cNvSpPr/>
          <p:nvPr/>
        </p:nvSpPr>
        <p:spPr>
          <a:xfrm>
            <a:off x="3767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21"/>
          <p:cNvSpPr/>
          <p:nvPr/>
        </p:nvSpPr>
        <p:spPr>
          <a:xfrm>
            <a:off x="4572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 22"/>
          <p:cNvSpPr/>
          <p:nvPr/>
        </p:nvSpPr>
        <p:spPr>
          <a:xfrm>
            <a:off x="4572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 23"/>
          <p:cNvSpPr/>
          <p:nvPr/>
        </p:nvSpPr>
        <p:spPr>
          <a:xfrm>
            <a:off x="4572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24"/>
          <p:cNvSpPr/>
          <p:nvPr/>
        </p:nvSpPr>
        <p:spPr>
          <a:xfrm>
            <a:off x="5806440" y="2468880"/>
            <a:ext cx="548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25"/>
          <p:cNvSpPr/>
          <p:nvPr/>
        </p:nvSpPr>
        <p:spPr>
          <a:xfrm>
            <a:off x="64922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26"/>
          <p:cNvSpPr/>
          <p:nvPr/>
        </p:nvSpPr>
        <p:spPr>
          <a:xfrm>
            <a:off x="6492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27"/>
          <p:cNvSpPr/>
          <p:nvPr/>
        </p:nvSpPr>
        <p:spPr>
          <a:xfrm>
            <a:off x="6492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28"/>
          <p:cNvSpPr/>
          <p:nvPr/>
        </p:nvSpPr>
        <p:spPr>
          <a:xfrm>
            <a:off x="6492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29"/>
          <p:cNvSpPr/>
          <p:nvPr/>
        </p:nvSpPr>
        <p:spPr>
          <a:xfrm>
            <a:off x="7296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30"/>
          <p:cNvSpPr/>
          <p:nvPr/>
        </p:nvSpPr>
        <p:spPr>
          <a:xfrm>
            <a:off x="7296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31"/>
          <p:cNvSpPr/>
          <p:nvPr/>
        </p:nvSpPr>
        <p:spPr>
          <a:xfrm>
            <a:off x="7296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Shape 32"/>
          <p:cNvSpPr/>
          <p:nvPr/>
        </p:nvSpPr>
        <p:spPr>
          <a:xfrm>
            <a:off x="81014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33"/>
          <p:cNvSpPr/>
          <p:nvPr/>
        </p:nvSpPr>
        <p:spPr>
          <a:xfrm>
            <a:off x="81014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34"/>
          <p:cNvSpPr/>
          <p:nvPr/>
        </p:nvSpPr>
        <p:spPr>
          <a:xfrm>
            <a:off x="81014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Shape 35"/>
          <p:cNvSpPr/>
          <p:nvPr/>
        </p:nvSpPr>
        <p:spPr>
          <a:xfrm>
            <a:off x="8906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Text 36"/>
          <p:cNvSpPr/>
          <p:nvPr/>
        </p:nvSpPr>
        <p:spPr>
          <a:xfrm>
            <a:off x="8906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 37"/>
          <p:cNvSpPr/>
          <p:nvPr/>
        </p:nvSpPr>
        <p:spPr>
          <a:xfrm>
            <a:off x="8906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Shape 38"/>
          <p:cNvSpPr/>
          <p:nvPr/>
        </p:nvSpPr>
        <p:spPr>
          <a:xfrm>
            <a:off x="9711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39"/>
          <p:cNvSpPr/>
          <p:nvPr/>
        </p:nvSpPr>
        <p:spPr>
          <a:xfrm>
            <a:off x="9711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40"/>
          <p:cNvSpPr/>
          <p:nvPr/>
        </p:nvSpPr>
        <p:spPr>
          <a:xfrm>
            <a:off x="9711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41"/>
          <p:cNvSpPr/>
          <p:nvPr/>
        </p:nvSpPr>
        <p:spPr>
          <a:xfrm>
            <a:off x="105156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Text 42"/>
          <p:cNvSpPr/>
          <p:nvPr/>
        </p:nvSpPr>
        <p:spPr>
          <a:xfrm>
            <a:off x="105156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43"/>
          <p:cNvSpPr/>
          <p:nvPr/>
        </p:nvSpPr>
        <p:spPr>
          <a:xfrm>
            <a:off x="105156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 44"/>
          <p:cNvSpPr/>
          <p:nvPr/>
        </p:nvSpPr>
        <p:spPr>
          <a:xfrm>
            <a:off x="548640" y="3977640"/>
            <a:ext cx="1109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reverse() simply flips the current order — it does NOT sort the values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that is already sorted, once reversed, becomes largest to smallest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45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Text 4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6" name="Image 0" descr="icons/min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7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del and .clear() — Two More Ways to Remove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 removes an item by index — like pop(), but does not return the value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 can also delete the entire list at once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clear() empties the whole list, but keeps the (now empty) list itself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del l1[0]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   # [8,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l1.clear()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   # []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791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Sessio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5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bini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ng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Lists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: +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and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*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+ joins two lists together into a brand new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 repeats a list a given number of times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[1, 2]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 = [3, 4]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 + b)   # [1, 2, 3, 4]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 * 3)   # [1, 2, 1, 2, 1, 2]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00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4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5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Mutable Multiplication Trap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[[]]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 3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look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like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mak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es 3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sepa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rate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emp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— it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doe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actu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ally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mak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es 3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refe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renc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SAM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inne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ngin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"cop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y"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silen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tly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nges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all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of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— a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clas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sic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real-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worl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and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rvie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grid = [[]] * 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grid[0].append(1)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print(grid)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print(id(grid[0]))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print(id(grid[1]))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print(id(grid[2]))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[[1], [1], [1]]   &lt;- all three changed!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the safe way: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grid = [[] for _ in range(3)]   # (loops covered next session)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09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3" name="Image 0" descr="icons/cop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Copying Gotcha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3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6" name="Text 4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l2 = l1   (this does NOT make a copy!)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17" name="Text 5"/>
          <p:cNvSpPr/>
          <p:nvPr/>
        </p:nvSpPr>
        <p:spPr>
          <a:xfrm>
            <a:off x="1188720" y="2286000"/>
            <a:ext cx="731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ntarell"/>
                <a:ea typeface="Consolas"/>
              </a:rPr>
              <a:t>l1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18" name="Text 6"/>
          <p:cNvSpPr/>
          <p:nvPr/>
        </p:nvSpPr>
        <p:spPr>
          <a:xfrm>
            <a:off x="1188720" y="2743200"/>
            <a:ext cx="731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ntarell"/>
                <a:ea typeface="Consolas"/>
              </a:rPr>
              <a:t>l2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19" name="Shape 7"/>
          <p:cNvSpPr/>
          <p:nvPr/>
        </p:nvSpPr>
        <p:spPr>
          <a:xfrm>
            <a:off x="2194560" y="242316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Text 8"/>
          <p:cNvSpPr/>
          <p:nvPr/>
        </p:nvSpPr>
        <p:spPr>
          <a:xfrm>
            <a:off x="2194560" y="242316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Shape 9"/>
          <p:cNvSpPr/>
          <p:nvPr/>
        </p:nvSpPr>
        <p:spPr>
          <a:xfrm>
            <a:off x="2935080" y="242316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0"/>
          <p:cNvSpPr/>
          <p:nvPr/>
        </p:nvSpPr>
        <p:spPr>
          <a:xfrm>
            <a:off x="2935080" y="242316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1"/>
          <p:cNvSpPr/>
          <p:nvPr/>
        </p:nvSpPr>
        <p:spPr>
          <a:xfrm>
            <a:off x="3675960" y="242316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Text 12"/>
          <p:cNvSpPr/>
          <p:nvPr/>
        </p:nvSpPr>
        <p:spPr>
          <a:xfrm>
            <a:off x="3675960" y="242316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Text 13"/>
          <p:cNvSpPr/>
          <p:nvPr/>
        </p:nvSpPr>
        <p:spPr>
          <a:xfrm>
            <a:off x="4846320" y="2331720"/>
            <a:ext cx="3657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Both names point to the exact same boxes.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Change l2, and l1 changes too.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14"/>
          <p:cNvSpPr/>
          <p:nvPr/>
        </p:nvSpPr>
        <p:spPr>
          <a:xfrm>
            <a:off x="1188720" y="4206240"/>
            <a:ext cx="731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ntarell"/>
                <a:ea typeface="Consolas"/>
              </a:rPr>
              <a:t>l1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27" name="Shape 15"/>
          <p:cNvSpPr/>
          <p:nvPr/>
        </p:nvSpPr>
        <p:spPr>
          <a:xfrm>
            <a:off x="2194560" y="434340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 16"/>
          <p:cNvSpPr/>
          <p:nvPr/>
        </p:nvSpPr>
        <p:spPr>
          <a:xfrm>
            <a:off x="2194560" y="434340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Shape 17"/>
          <p:cNvSpPr/>
          <p:nvPr/>
        </p:nvSpPr>
        <p:spPr>
          <a:xfrm>
            <a:off x="2935080" y="434340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18"/>
          <p:cNvSpPr/>
          <p:nvPr/>
        </p:nvSpPr>
        <p:spPr>
          <a:xfrm>
            <a:off x="2935080" y="434340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Shape 19"/>
          <p:cNvSpPr/>
          <p:nvPr/>
        </p:nvSpPr>
        <p:spPr>
          <a:xfrm>
            <a:off x="3675960" y="434340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Text 20"/>
          <p:cNvSpPr/>
          <p:nvPr/>
        </p:nvSpPr>
        <p:spPr>
          <a:xfrm>
            <a:off x="3675960" y="434340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1"/>
          <p:cNvSpPr/>
          <p:nvPr/>
        </p:nvSpPr>
        <p:spPr>
          <a:xfrm>
            <a:off x="7589520" y="4206240"/>
            <a:ext cx="731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C98A2B"/>
                </a:solidFill>
                <a:effectLst/>
                <a:uFillTx/>
                <a:latin typeface="Cantarell"/>
                <a:ea typeface="Consolas"/>
              </a:rPr>
              <a:t>l3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34" name="Shape 22"/>
          <p:cNvSpPr/>
          <p:nvPr/>
        </p:nvSpPr>
        <p:spPr>
          <a:xfrm>
            <a:off x="8595360" y="434340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23"/>
          <p:cNvSpPr/>
          <p:nvPr/>
        </p:nvSpPr>
        <p:spPr>
          <a:xfrm>
            <a:off x="8595360" y="434340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4"/>
          <p:cNvSpPr/>
          <p:nvPr/>
        </p:nvSpPr>
        <p:spPr>
          <a:xfrm>
            <a:off x="9335880" y="434340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25"/>
          <p:cNvSpPr/>
          <p:nvPr/>
        </p:nvSpPr>
        <p:spPr>
          <a:xfrm>
            <a:off x="9335880" y="434340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Shape 26"/>
          <p:cNvSpPr/>
          <p:nvPr/>
        </p:nvSpPr>
        <p:spPr>
          <a:xfrm>
            <a:off x="10076760" y="434340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 27"/>
          <p:cNvSpPr/>
          <p:nvPr/>
        </p:nvSpPr>
        <p:spPr>
          <a:xfrm>
            <a:off x="10076760" y="434340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Text 28"/>
          <p:cNvSpPr/>
          <p:nvPr/>
        </p:nvSpPr>
        <p:spPr>
          <a:xfrm>
            <a:off x="2194560" y="50749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l3 = l1.copy()  -&gt;  two completely separate lists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29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30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45" name="Image 0" descr="icons/cop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Shallow Copy Gotcha — Nested Lists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.copy() only copies ONE level deep — this is called a shallow copy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your list contains other lists inside it, those inner lists are still shared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Changing a nested item through the "copy" still changes the original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9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original = [1, 2, [3, 4]]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shallow = original.copy()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shallow[2].append(5)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print(original)   # [1, 2, [3, 4, 5]]  &lt;- changed too!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real fix: import copy; copy.deepcopy(original)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50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4" name="Image 0" descr="icons/cop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5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Shallow Copy vs. Deep Copy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shallow copy — .copy(), list(x), or [:] — copies the outer list only. Nested lists inside are still shared with the original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deep copy copies everything, all the way down. The result is completely independent, with nothing shared at all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Python's built-in copy module provides deepcopy() for exactly this situation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8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import copy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original = [1, 2, [3, 4]]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shallow = original.copy()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deep = copy.deepcopy(original)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shallow[2].append(5)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print(original)   # [1, 2, [3, 4, 5]]  &lt;- changed! (shared)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deep[2].append(9)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print(original)   # [1, 2, [3, 4, 5]]  &lt;- unchanged (independent)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59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3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min(), max(), and sum()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These three built-in functions work directly on a list of numbers — no method needed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min() and max() find the smallest and largest values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sum() adds every value in the list together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7, 2, 21,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print(min(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l1))   #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print(max(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l1))   # 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print(sum(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l1))   # 54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68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2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Using a List as a Stack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4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6" name="Image 1" descr="icons/layergroup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7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Last In,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First Out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(LIFO)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append() + pop() together turn a plain list into a stack — a real, widely-used data structure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last item you added is always the first one you remove — like a stack of plates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examples: a browser's "back" button, and "undo" history in any app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append() adds to the top; pop() (no argument) removes from the top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3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Stack in Action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exact same append()/pop() you already know — just used with intention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pattern shows up constantly in real interview questions and real applications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history = []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history.append("Page 1")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history.append("Page 2")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history.append("Page 3")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print(history.pop())   # "Page 3"  &lt;- the most recent page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print(history)         # ["Page 1", "Page 2"]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88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1" name="Image 0" descr="icons/bol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2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Front vs. Back Matters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3" name="Shape 2"/>
          <p:cNvSpPr/>
          <p:nvPr/>
        </p:nvSpPr>
        <p:spPr>
          <a:xfrm>
            <a:off x="457200" y="1508760"/>
            <a:ext cx="5522760" cy="489168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3"/>
          <p:cNvSpPr/>
          <p:nvPr/>
        </p:nvSpPr>
        <p:spPr>
          <a:xfrm>
            <a:off x="294444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5" name="Image 1" descr="icons/bolt.png"/>
          <p:cNvPicPr/>
          <p:nvPr/>
        </p:nvPicPr>
        <p:blipFill>
          <a:blip r:embed="rId2"/>
          <a:stretch/>
        </p:blipFill>
        <p:spPr>
          <a:xfrm>
            <a:off x="302652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6" name="Text 4"/>
          <p:cNvSpPr/>
          <p:nvPr/>
        </p:nvSpPr>
        <p:spPr>
          <a:xfrm>
            <a:off x="548640" y="271764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append() / pop()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Text 5"/>
          <p:cNvSpPr/>
          <p:nvPr/>
        </p:nvSpPr>
        <p:spPr>
          <a:xfrm>
            <a:off x="603360" y="3101760"/>
            <a:ext cx="523008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Fast — </a:t>
            </a: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works at the </a:t>
            </a: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end, nothing </a:t>
            </a: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needs to </a:t>
            </a: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shift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6"/>
          <p:cNvSpPr/>
          <p:nvPr/>
        </p:nvSpPr>
        <p:spPr>
          <a:xfrm>
            <a:off x="6208920" y="1508760"/>
            <a:ext cx="5522760" cy="489168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9" name="Shape 7"/>
          <p:cNvSpPr/>
          <p:nvPr/>
        </p:nvSpPr>
        <p:spPr>
          <a:xfrm>
            <a:off x="869580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0" name="Image 2" descr="icons/warning.png"/>
          <p:cNvPicPr/>
          <p:nvPr/>
        </p:nvPicPr>
        <p:blipFill>
          <a:blip r:embed="rId3"/>
          <a:stretch/>
        </p:blipFill>
        <p:spPr>
          <a:xfrm>
            <a:off x="877824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1" name="Text 8"/>
          <p:cNvSpPr/>
          <p:nvPr/>
        </p:nvSpPr>
        <p:spPr>
          <a:xfrm>
            <a:off x="6300360" y="271764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insert(0, x) / pop(0)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" name="Text 9"/>
          <p:cNvSpPr/>
          <p:nvPr/>
        </p:nvSpPr>
        <p:spPr>
          <a:xfrm>
            <a:off x="6355080" y="3101760"/>
            <a:ext cx="523008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Slower — everything after index 0 has to shift over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Text 10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7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8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Checking Membership: in / not in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already met in and not in back in the operators session — they work on lists too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checks whether a value exists anywhere in the list, without needing to know its index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Returns a plain True or False, ready to use directly inside an if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print(7 in l1)        # True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print(100 in l1)      # False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print(100 not in l1)  # True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912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6" name="Image 0" descr="icons/balanc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7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Equality — == Compares Values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== checks whether two lists contain the same values, in the same order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different from checking if they are the literal same list in memory (that's what is is for — a topic for another day)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 =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 == b)   # True  -&gt; same values, same order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 == [3, 2, 1])   # False -&gt; order matters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921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25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Lists — A List Inside a List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can hold anything — including other lists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how you represent grid-like or table-like data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two sets of square brackets to reach an item inside the inner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grid = [[1, 2, 3], [4, 5, 6]]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print(grid[0])      #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print(grid[0][1])   # 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print(grid[1][2])   # 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930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1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34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5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Checking for an Empty List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ls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—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ls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my_list = []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if not my_list: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print("The list is empty")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else: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print("The list has items")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939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3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Strings ↔ Lists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list() breaks a string into a list of its individual characters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"".join(a_list) glues a list of strings back into one single string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bridge between strings and lists is used constantly in real programs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word = "hello"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chars = list(word)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print(chars)          # ['h', 'e', 'l', 'l', 'o']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back = "".join(chars)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print(back)           # "hello"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948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2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Converting Between List and Tuple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list() turns almost any collection into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tuple() does the same, but produces an immutable tuple instead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Handy when you need to "unlock" a tuple temporarily, edit it as a list, then lock it again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5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a_tuple =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(1, 2, 3)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a_list =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list(a_tupl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print(a_lis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t)        # [1,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back_to_t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uple =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tuple(a_lis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print(back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_to_tuple)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# (1, 2, 3)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60" name="Image 0" descr="icons/thlis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1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Methods Cheat Sheet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2" name="Shape 2"/>
          <p:cNvSpPr/>
          <p:nvPr/>
        </p:nvSpPr>
        <p:spPr>
          <a:xfrm>
            <a:off x="457200" y="150876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3"/>
          <p:cNvSpPr/>
          <p:nvPr/>
        </p:nvSpPr>
        <p:spPr>
          <a:xfrm>
            <a:off x="2067840" y="168624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64" name="Image 1" descr="icons/pluscircle.png"/>
          <p:cNvPicPr/>
          <p:nvPr/>
        </p:nvPicPr>
        <p:blipFill>
          <a:blip r:embed="rId2"/>
          <a:stretch/>
        </p:blipFill>
        <p:spPr>
          <a:xfrm>
            <a:off x="2125440" y="174384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5" name="Text 4"/>
          <p:cNvSpPr/>
          <p:nvPr/>
        </p:nvSpPr>
        <p:spPr>
          <a:xfrm>
            <a:off x="548640" y="21438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append(x)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5"/>
          <p:cNvSpPr/>
          <p:nvPr/>
        </p:nvSpPr>
        <p:spPr>
          <a:xfrm>
            <a:off x="603360" y="252756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Adds x to the end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7" name="Shape 6"/>
          <p:cNvSpPr/>
          <p:nvPr/>
        </p:nvSpPr>
        <p:spPr>
          <a:xfrm>
            <a:off x="4291560" y="150876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7"/>
          <p:cNvSpPr/>
          <p:nvPr/>
        </p:nvSpPr>
        <p:spPr>
          <a:xfrm>
            <a:off x="5902200" y="168624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69" name="Image 2" descr="icons/pluscircle.png"/>
          <p:cNvPicPr/>
          <p:nvPr/>
        </p:nvPicPr>
        <p:blipFill>
          <a:blip r:embed="rId3"/>
          <a:stretch/>
        </p:blipFill>
        <p:spPr>
          <a:xfrm>
            <a:off x="5959800" y="174384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0" name="Text 8"/>
          <p:cNvSpPr/>
          <p:nvPr/>
        </p:nvSpPr>
        <p:spPr>
          <a:xfrm>
            <a:off x="4383000" y="21438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extend(list)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9"/>
          <p:cNvSpPr/>
          <p:nvPr/>
        </p:nvSpPr>
        <p:spPr>
          <a:xfrm>
            <a:off x="4437720" y="252756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Adds each item from another list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10"/>
          <p:cNvSpPr/>
          <p:nvPr/>
        </p:nvSpPr>
        <p:spPr>
          <a:xfrm>
            <a:off x="8125920" y="150876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" name="Shape 11"/>
          <p:cNvSpPr/>
          <p:nvPr/>
        </p:nvSpPr>
        <p:spPr>
          <a:xfrm>
            <a:off x="9736560" y="168624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4" name="Image 3" descr="icons/pluscircle.png"/>
          <p:cNvPicPr/>
          <p:nvPr/>
        </p:nvPicPr>
        <p:blipFill>
          <a:blip r:embed="rId4"/>
          <a:stretch/>
        </p:blipFill>
        <p:spPr>
          <a:xfrm>
            <a:off x="9794160" y="174384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5" name="Text 12"/>
          <p:cNvSpPr/>
          <p:nvPr/>
        </p:nvSpPr>
        <p:spPr>
          <a:xfrm>
            <a:off x="8217360" y="21438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insert(i, 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13"/>
          <p:cNvSpPr/>
          <p:nvPr/>
        </p:nvSpPr>
        <p:spPr>
          <a:xfrm>
            <a:off x="8272440" y="252756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Adds x at index 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7" name="Shape 14"/>
          <p:cNvSpPr/>
          <p:nvPr/>
        </p:nvSpPr>
        <p:spPr>
          <a:xfrm>
            <a:off x="457200" y="321552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Shape 15"/>
          <p:cNvSpPr/>
          <p:nvPr/>
        </p:nvSpPr>
        <p:spPr>
          <a:xfrm>
            <a:off x="2067840" y="339300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9" name="Image 4" descr="icons/minuscircle.png"/>
          <p:cNvPicPr/>
          <p:nvPr/>
        </p:nvPicPr>
        <p:blipFill>
          <a:blip r:embed="rId5"/>
          <a:stretch/>
        </p:blipFill>
        <p:spPr>
          <a:xfrm>
            <a:off x="2125440" y="345060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0" name="Text 16"/>
          <p:cNvSpPr/>
          <p:nvPr/>
        </p:nvSpPr>
        <p:spPr>
          <a:xfrm>
            <a:off x="548640" y="385056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pop(i)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17"/>
          <p:cNvSpPr/>
          <p:nvPr/>
        </p:nvSpPr>
        <p:spPr>
          <a:xfrm>
            <a:off x="603360" y="423468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Removes index i, returns 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" name="Shape 18"/>
          <p:cNvSpPr/>
          <p:nvPr/>
        </p:nvSpPr>
        <p:spPr>
          <a:xfrm>
            <a:off x="4291560" y="321552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3" name="Shape 19"/>
          <p:cNvSpPr/>
          <p:nvPr/>
        </p:nvSpPr>
        <p:spPr>
          <a:xfrm>
            <a:off x="5902200" y="339300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4" name="Image 5" descr="icons/minuscircle.png"/>
          <p:cNvPicPr/>
          <p:nvPr/>
        </p:nvPicPr>
        <p:blipFill>
          <a:blip r:embed="rId6"/>
          <a:stretch/>
        </p:blipFill>
        <p:spPr>
          <a:xfrm>
            <a:off x="5959800" y="345060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5" name="Text 20"/>
          <p:cNvSpPr/>
          <p:nvPr/>
        </p:nvSpPr>
        <p:spPr>
          <a:xfrm>
            <a:off x="4383000" y="385056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remove(x)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21"/>
          <p:cNvSpPr/>
          <p:nvPr/>
        </p:nvSpPr>
        <p:spPr>
          <a:xfrm>
            <a:off x="4437720" y="423468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Removes first match of 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Shape 22"/>
          <p:cNvSpPr/>
          <p:nvPr/>
        </p:nvSpPr>
        <p:spPr>
          <a:xfrm>
            <a:off x="8125920" y="321552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23"/>
          <p:cNvSpPr/>
          <p:nvPr/>
        </p:nvSpPr>
        <p:spPr>
          <a:xfrm>
            <a:off x="9736560" y="339300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9" name="Image 6" descr="icons/sort.png"/>
          <p:cNvPicPr/>
          <p:nvPr/>
        </p:nvPicPr>
        <p:blipFill>
          <a:blip r:embed="rId7"/>
          <a:stretch/>
        </p:blipFill>
        <p:spPr>
          <a:xfrm>
            <a:off x="9794160" y="345060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0" name="Text 24"/>
          <p:cNvSpPr/>
          <p:nvPr/>
        </p:nvSpPr>
        <p:spPr>
          <a:xfrm>
            <a:off x="8217360" y="385056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sort()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25"/>
          <p:cNvSpPr/>
          <p:nvPr/>
        </p:nvSpPr>
        <p:spPr>
          <a:xfrm>
            <a:off x="8272440" y="423468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Reorders smallest to largest, in place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2" name="Shape 26"/>
          <p:cNvSpPr/>
          <p:nvPr/>
        </p:nvSpPr>
        <p:spPr>
          <a:xfrm>
            <a:off x="457200" y="492264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27"/>
          <p:cNvSpPr/>
          <p:nvPr/>
        </p:nvSpPr>
        <p:spPr>
          <a:xfrm>
            <a:off x="2067840" y="509976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94" name="Image 7" descr="icons/sort.png"/>
          <p:cNvPicPr/>
          <p:nvPr/>
        </p:nvPicPr>
        <p:blipFill>
          <a:blip r:embed="rId8"/>
          <a:stretch/>
        </p:blipFill>
        <p:spPr>
          <a:xfrm>
            <a:off x="2125440" y="515772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5" name="Text 28"/>
          <p:cNvSpPr/>
          <p:nvPr/>
        </p:nvSpPr>
        <p:spPr>
          <a:xfrm>
            <a:off x="548640" y="55573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reverse(</a:t>
            </a: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29"/>
          <p:cNvSpPr/>
          <p:nvPr/>
        </p:nvSpPr>
        <p:spPr>
          <a:xfrm>
            <a:off x="603360" y="594144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Flips the current order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30"/>
          <p:cNvSpPr/>
          <p:nvPr/>
        </p:nvSpPr>
        <p:spPr>
          <a:xfrm>
            <a:off x="4291560" y="492264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31"/>
          <p:cNvSpPr/>
          <p:nvPr/>
        </p:nvSpPr>
        <p:spPr>
          <a:xfrm>
            <a:off x="5902200" y="509976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99" name="Image 8" descr="icons/search.png"/>
          <p:cNvPicPr/>
          <p:nvPr/>
        </p:nvPicPr>
        <p:blipFill>
          <a:blip r:embed="rId9"/>
          <a:stretch/>
        </p:blipFill>
        <p:spPr>
          <a:xfrm>
            <a:off x="5959800" y="515772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0" name="Text 32"/>
          <p:cNvSpPr/>
          <p:nvPr/>
        </p:nvSpPr>
        <p:spPr>
          <a:xfrm>
            <a:off x="4383000" y="55573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index(x) / count(x)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 33"/>
          <p:cNvSpPr/>
          <p:nvPr/>
        </p:nvSpPr>
        <p:spPr>
          <a:xfrm>
            <a:off x="4437720" y="594144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Finds position / counts matches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Shape 34"/>
          <p:cNvSpPr/>
          <p:nvPr/>
        </p:nvSpPr>
        <p:spPr>
          <a:xfrm>
            <a:off x="8125920" y="492264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3" name="Shape 35"/>
          <p:cNvSpPr/>
          <p:nvPr/>
        </p:nvSpPr>
        <p:spPr>
          <a:xfrm>
            <a:off x="9736560" y="509976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4" name="Image 9" descr="icons/copy.png"/>
          <p:cNvPicPr/>
          <p:nvPr/>
        </p:nvPicPr>
        <p:blipFill>
          <a:blip r:embed="rId10"/>
          <a:stretch/>
        </p:blipFill>
        <p:spPr>
          <a:xfrm>
            <a:off x="9794160" y="515772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5" name="Text 36"/>
          <p:cNvSpPr/>
          <p:nvPr/>
        </p:nvSpPr>
        <p:spPr>
          <a:xfrm>
            <a:off x="8217360" y="55573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copy()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37"/>
          <p:cNvSpPr/>
          <p:nvPr/>
        </p:nvSpPr>
        <p:spPr>
          <a:xfrm>
            <a:off x="8272440" y="594144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Shallow copy — one level deep only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38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8" name="Text 39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11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Lists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Shape 5"/>
          <p:cNvSpPr/>
          <p:nvPr/>
        </p:nvSpPr>
        <p:spPr>
          <a:xfrm>
            <a:off x="822960" y="242316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6"/>
          <p:cNvSpPr/>
          <p:nvPr/>
        </p:nvSpPr>
        <p:spPr>
          <a:xfrm>
            <a:off x="822960" y="242316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7"/>
          <p:cNvSpPr/>
          <p:nvPr/>
        </p:nvSpPr>
        <p:spPr>
          <a:xfrm>
            <a:off x="1418400" y="242316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list with your 3 favorite foods, and print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8"/>
          <p:cNvSpPr/>
          <p:nvPr/>
        </p:nvSpPr>
        <p:spPr>
          <a:xfrm>
            <a:off x="822960" y="286308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 9"/>
          <p:cNvSpPr/>
          <p:nvPr/>
        </p:nvSpPr>
        <p:spPr>
          <a:xfrm>
            <a:off x="822960" y="286308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Text 10"/>
          <p:cNvSpPr/>
          <p:nvPr/>
        </p:nvSpPr>
        <p:spPr>
          <a:xfrm>
            <a:off x="1418400" y="286308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the length of your list using len()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Shape 11"/>
          <p:cNvSpPr/>
          <p:nvPr/>
        </p:nvSpPr>
        <p:spPr>
          <a:xfrm>
            <a:off x="822960" y="330336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12"/>
          <p:cNvSpPr/>
          <p:nvPr/>
        </p:nvSpPr>
        <p:spPr>
          <a:xfrm>
            <a:off x="822960" y="330336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 13"/>
          <p:cNvSpPr/>
          <p:nvPr/>
        </p:nvSpPr>
        <p:spPr>
          <a:xfrm>
            <a:off x="1418400" y="330336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the item at index 1 in your 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Shape 14"/>
          <p:cNvSpPr/>
          <p:nvPr/>
        </p:nvSpPr>
        <p:spPr>
          <a:xfrm>
            <a:off x="822960" y="374328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5"/>
          <p:cNvSpPr/>
          <p:nvPr/>
        </p:nvSpPr>
        <p:spPr>
          <a:xfrm>
            <a:off x="822960" y="374328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6" name="Text 16"/>
          <p:cNvSpPr/>
          <p:nvPr/>
        </p:nvSpPr>
        <p:spPr>
          <a:xfrm>
            <a:off x="1418400" y="374328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Change the second item in your list to something else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Shape 17"/>
          <p:cNvSpPr/>
          <p:nvPr/>
        </p:nvSpPr>
        <p:spPr>
          <a:xfrm>
            <a:off x="822960" y="418356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 18"/>
          <p:cNvSpPr/>
          <p:nvPr/>
        </p:nvSpPr>
        <p:spPr>
          <a:xfrm>
            <a:off x="822960" y="418356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19"/>
          <p:cNvSpPr/>
          <p:nvPr/>
        </p:nvSpPr>
        <p:spPr>
          <a:xfrm>
            <a:off x="1418400" y="418356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the LAST item in your list using a negative index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0"/>
          <p:cNvSpPr/>
          <p:nvPr/>
        </p:nvSpPr>
        <p:spPr>
          <a:xfrm>
            <a:off x="822960" y="462348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Text 21"/>
          <p:cNvSpPr/>
          <p:nvPr/>
        </p:nvSpPr>
        <p:spPr>
          <a:xfrm>
            <a:off x="822960" y="462348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2" name="Text 22"/>
          <p:cNvSpPr/>
          <p:nvPr/>
        </p:nvSpPr>
        <p:spPr>
          <a:xfrm>
            <a:off x="1418400" y="462348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slicing to print just the first two items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Shape 23"/>
          <p:cNvSpPr/>
          <p:nvPr/>
        </p:nvSpPr>
        <p:spPr>
          <a:xfrm>
            <a:off x="822960" y="506340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 24"/>
          <p:cNvSpPr/>
          <p:nvPr/>
        </p:nvSpPr>
        <p:spPr>
          <a:xfrm>
            <a:off x="822960" y="506340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5" name="Text 25"/>
          <p:cNvSpPr/>
          <p:nvPr/>
        </p:nvSpPr>
        <p:spPr>
          <a:xfrm>
            <a:off x="1418400" y="506340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Check whether a value is in your list using 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6" name="Shape 26"/>
          <p:cNvSpPr/>
          <p:nvPr/>
        </p:nvSpPr>
        <p:spPr>
          <a:xfrm>
            <a:off x="822960" y="550368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Text 27"/>
          <p:cNvSpPr/>
          <p:nvPr/>
        </p:nvSpPr>
        <p:spPr>
          <a:xfrm>
            <a:off x="822960" y="550368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28"/>
          <p:cNvSpPr/>
          <p:nvPr/>
        </p:nvSpPr>
        <p:spPr>
          <a:xfrm>
            <a:off x="1418400" y="550368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sorted() on a list of numbers WITHOUT changing the original — print both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 29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0" name="Text 30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44" name="Image 0" descr="icons/lock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5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Tuples — The List That Cannot Change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Text 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0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Tuple?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2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3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4" name="Image 1" descr="icons/lock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5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Ordered.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Locked.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Never changes.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tuple stores multiple values together, exactly like a list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key difference: a tuple is immutable — once created, it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can never be changed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tuple for values that should stay fixed, like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coordinates or days of the week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Written with round brackets ( ) instead of square brackets [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]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1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Tuples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3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Round brackets create a tuple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 empty tuple is just ()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tuple with more than one item works exactly like a list, just with ( 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4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()              # empty tuple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(1, 7, 2)        # tuple with 3 items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print(type(a))       # &lt;class 'tuple'&gt;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066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70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More Ways to Create a Tuple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2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parentheses are actually optional — commas alone are what make a tuple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tuple() function builds a tuple from almost any other collection, just like list()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Converting a list into a tuple is a common way to "lock" it once you're done editing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3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1, 7, 2             # no parentheses at all — still a tuple!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print(type(a))          # &lt;class 'tuple'&gt;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 = tuple()              # () — an empty tuple, another way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 = tuple([1, 2, 3])     # (1, 2, 3) — from a 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 = tuple("abc")         # ('a', 'b', 'c') — from a string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075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8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79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0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Single-Element Tuple Trap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1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83" name="Image 1" descr="icons/warning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4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sneaky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comma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5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= (1) does NOT make a tuple — Python just sees a number in brackets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single-item tuple needs a trailing comma: a = (1,)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That one comma is the only thing that tells Python "this is a tuple, not just a number"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one of the most common tuple mistakes — check for the comma if something looks wrong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6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0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Tuples Are Immutable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2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Trying to change an item inside a tuple raises a TypeError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whole point of a tuple — it is a promise that the data will not change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3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(1, 7,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a[0] =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TypeError: 'tuple' object does not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support item assignment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095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8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9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 Indexing &amp; Slicing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Indexing and slicing work exactly the same as they do for lists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only thing that is different about a tuple is that you cannot modify it afterward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2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(1, 7,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print(a[0])     #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print(a[0:2])   # (1, 7)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104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5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07" name="Image 0" descr="icons/hashta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8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 Methods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2"/>
          <p:cNvSpPr/>
          <p:nvPr/>
        </p:nvSpPr>
        <p:spPr>
          <a:xfrm>
            <a:off x="457200" y="1508760"/>
            <a:ext cx="5522760" cy="489168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0" name="Shape 3"/>
          <p:cNvSpPr/>
          <p:nvPr/>
        </p:nvSpPr>
        <p:spPr>
          <a:xfrm>
            <a:off x="294444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1" name="Image 1" descr="icons/hashtag.png"/>
          <p:cNvPicPr/>
          <p:nvPr/>
        </p:nvPicPr>
        <p:blipFill>
          <a:blip r:embed="rId2"/>
          <a:stretch/>
        </p:blipFill>
        <p:spPr>
          <a:xfrm>
            <a:off x="302652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2" name="Text 4"/>
          <p:cNvSpPr/>
          <p:nvPr/>
        </p:nvSpPr>
        <p:spPr>
          <a:xfrm>
            <a:off x="548640" y="271764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count(x)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3" name="Text 5"/>
          <p:cNvSpPr/>
          <p:nvPr/>
        </p:nvSpPr>
        <p:spPr>
          <a:xfrm>
            <a:off x="603360" y="3101760"/>
            <a:ext cx="523008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a.count(1) — how many times 1 appears in 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Shape 6"/>
          <p:cNvSpPr/>
          <p:nvPr/>
        </p:nvSpPr>
        <p:spPr>
          <a:xfrm>
            <a:off x="6208920" y="1508760"/>
            <a:ext cx="5522760" cy="489168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5" name="Shape 7"/>
          <p:cNvSpPr/>
          <p:nvPr/>
        </p:nvSpPr>
        <p:spPr>
          <a:xfrm>
            <a:off x="869580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6" name="Image 2" descr="icons/search.png"/>
          <p:cNvPicPr/>
          <p:nvPr/>
        </p:nvPicPr>
        <p:blipFill>
          <a:blip r:embed="rId3"/>
          <a:stretch/>
        </p:blipFill>
        <p:spPr>
          <a:xfrm>
            <a:off x="877824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7" name="Text 8"/>
          <p:cNvSpPr/>
          <p:nvPr/>
        </p:nvSpPr>
        <p:spPr>
          <a:xfrm>
            <a:off x="6300360" y="271764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index(x)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8" name="Text 9"/>
          <p:cNvSpPr/>
          <p:nvPr/>
        </p:nvSpPr>
        <p:spPr>
          <a:xfrm>
            <a:off x="6355080" y="3101760"/>
            <a:ext cx="523008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a.index(1) — the position of the first 1 in 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9" name="Text 10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3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 Packing &amp; Unpacking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Packi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ng: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ng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sever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value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toget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her,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ma-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separ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ated,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quiet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es a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tuple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Unpa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cking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: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assig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ning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tuple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straig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into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sever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varia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bles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once,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num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ber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of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varia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bles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must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matc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 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num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ber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of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value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exact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ly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7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packing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point = 4,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(point))   #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&lt;class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'tuple'&gt;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</a:t>
            </a: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unpacking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x, y =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point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print(x)   #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print(y)   #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128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9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32" name="Image 0" descr="icons/cu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Negative Indices, Slicing &amp; Combining Tuples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4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trick you learned for lists works on tuples too — negative indices, slicing, steps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only real difference: the result of slicing a tuple is still a tuple, never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+ and * work exactly like they do for lists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5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(1, 7, 2, 9, 4)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print(a[-1])       #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print(a[1:3])      # (7,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print(a[::-1])     # (4, 9, 2, 7, 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 + (5, 6))  # (1, 7, 2, 9, 4, 5, 6)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print((1, 2) * 2)  # (1, 2, 1,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137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41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More Ways to Access Tuple Values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3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Unpacking is actually the most natural way to read a tuple's values — used constantly in real code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Star unpacking works on tuples too, exactly like it does on lists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index() finds a value's position, the same as it does on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4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point = (4, 7, 9)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x, y, z = point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print(x, y, z)        # 4 7 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first, *rest = point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print(first)   #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print(rest)    # [7, 9]   &lt;- note: rest becomes a list, not a tuple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print(point.index(7))   #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146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7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50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Tuples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Just like lists, a tuple can hold other tuples inside it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Useful for representing fixed, related groups of data — like a set of coordinates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3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4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points =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((0, 0), (3,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4), (6, 8))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print(poin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ts[1])       #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(3, 4)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print(poin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ts[1][0])   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# 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155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58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9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 vs.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les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—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en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Use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Whi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0" name="Shape 2"/>
          <p:cNvSpPr/>
          <p:nvPr/>
        </p:nvSpPr>
        <p:spPr>
          <a:xfrm>
            <a:off x="457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1" name="Shape 3"/>
          <p:cNvSpPr/>
          <p:nvPr/>
        </p:nvSpPr>
        <p:spPr>
          <a:xfrm>
            <a:off x="731520" y="187452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62" name="Image 1" descr="icons/boxes.png"/>
          <p:cNvPicPr/>
          <p:nvPr/>
        </p:nvPicPr>
        <p:blipFill>
          <a:blip r:embed="rId2"/>
          <a:stretch/>
        </p:blipFill>
        <p:spPr>
          <a:xfrm>
            <a:off x="800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3" name="Text 4"/>
          <p:cNvSpPr/>
          <p:nvPr/>
        </p:nvSpPr>
        <p:spPr>
          <a:xfrm>
            <a:off x="1325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Use a List When...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 5"/>
          <p:cNvSpPr/>
          <p:nvPr/>
        </p:nvSpPr>
        <p:spPr>
          <a:xfrm>
            <a:off x="731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data will change — items added, removed, or reordered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need methods like append(), sort(), remove()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a shopping list, or student scores you keep updating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Shape 6"/>
          <p:cNvSpPr/>
          <p:nvPr/>
        </p:nvSpPr>
        <p:spPr>
          <a:xfrm>
            <a:off x="6172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6" name="Shape 7"/>
          <p:cNvSpPr/>
          <p:nvPr/>
        </p:nvSpPr>
        <p:spPr>
          <a:xfrm>
            <a:off x="6446520" y="1874520"/>
            <a:ext cx="456840" cy="45684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67" name="Image 2" descr="icons/lock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8" name="Text 8"/>
          <p:cNvSpPr/>
          <p:nvPr/>
        </p:nvSpPr>
        <p:spPr>
          <a:xfrm>
            <a:off x="7040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Use a Tuple When...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 9"/>
          <p:cNvSpPr/>
          <p:nvPr/>
        </p:nvSpPr>
        <p:spPr>
          <a:xfrm>
            <a:off x="6446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data should never change once it is set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want to protect it from accidental edits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a date of birth, GPS coordinates, days of the week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10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3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74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5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Tuples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6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7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8" name="Shape 5"/>
          <p:cNvSpPr/>
          <p:nvPr/>
        </p:nvSpPr>
        <p:spPr>
          <a:xfrm>
            <a:off x="822960" y="24231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9" name="Text 6"/>
          <p:cNvSpPr/>
          <p:nvPr/>
        </p:nvSpPr>
        <p:spPr>
          <a:xfrm>
            <a:off x="822960" y="2423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7"/>
          <p:cNvSpPr/>
          <p:nvPr/>
        </p:nvSpPr>
        <p:spPr>
          <a:xfrm>
            <a:off x="1435680" y="24231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tuple with 3 numbers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1" name="Shape 8"/>
          <p:cNvSpPr/>
          <p:nvPr/>
        </p:nvSpPr>
        <p:spPr>
          <a:xfrm>
            <a:off x="822960" y="30099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Text 9"/>
          <p:cNvSpPr/>
          <p:nvPr/>
        </p:nvSpPr>
        <p:spPr>
          <a:xfrm>
            <a:off x="822960" y="3009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3" name="Text 10"/>
          <p:cNvSpPr/>
          <p:nvPr/>
        </p:nvSpPr>
        <p:spPr>
          <a:xfrm>
            <a:off x="1435680" y="30099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negative index to print the last item in your tuple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4" name="Shape 11"/>
          <p:cNvSpPr/>
          <p:nvPr/>
        </p:nvSpPr>
        <p:spPr>
          <a:xfrm>
            <a:off x="822960" y="35967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12"/>
          <p:cNvSpPr/>
          <p:nvPr/>
        </p:nvSpPr>
        <p:spPr>
          <a:xfrm>
            <a:off x="822960" y="35967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13"/>
          <p:cNvSpPr/>
          <p:nvPr/>
        </p:nvSpPr>
        <p:spPr>
          <a:xfrm>
            <a:off x="1435680" y="35967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changing one value in your tuple, and read the error Python gives you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14"/>
          <p:cNvSpPr/>
          <p:nvPr/>
        </p:nvSpPr>
        <p:spPr>
          <a:xfrm>
            <a:off x="822960" y="41835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8" name="Text 15"/>
          <p:cNvSpPr/>
          <p:nvPr/>
        </p:nvSpPr>
        <p:spPr>
          <a:xfrm>
            <a:off x="822960" y="4183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9" name="Text 16"/>
          <p:cNvSpPr/>
          <p:nvPr/>
        </p:nvSpPr>
        <p:spPr>
          <a:xfrm>
            <a:off x="1435680" y="41835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Combine two small tuples together using +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0" name="Shape 17"/>
          <p:cNvSpPr/>
          <p:nvPr/>
        </p:nvSpPr>
        <p:spPr>
          <a:xfrm>
            <a:off x="822960" y="477000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18"/>
          <p:cNvSpPr/>
          <p:nvPr/>
        </p:nvSpPr>
        <p:spPr>
          <a:xfrm>
            <a:off x="822960" y="47700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2" name="Text 19"/>
          <p:cNvSpPr/>
          <p:nvPr/>
        </p:nvSpPr>
        <p:spPr>
          <a:xfrm>
            <a:off x="1435680" y="477000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count() to count how many times a number appears in a tuple you make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3" name="Shape 20"/>
          <p:cNvSpPr/>
          <p:nvPr/>
        </p:nvSpPr>
        <p:spPr>
          <a:xfrm>
            <a:off x="822960" y="535680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4" name="Text 21"/>
          <p:cNvSpPr/>
          <p:nvPr/>
        </p:nvSpPr>
        <p:spPr>
          <a:xfrm>
            <a:off x="822960" y="53568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22"/>
          <p:cNvSpPr/>
          <p:nvPr/>
        </p:nvSpPr>
        <p:spPr>
          <a:xfrm>
            <a:off x="1435680" y="535680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Pack three values into one line, then unpack them into three variables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23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7" name="Text 24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00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Lists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3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4" name="Shape 5"/>
          <p:cNvSpPr/>
          <p:nvPr/>
        </p:nvSpPr>
        <p:spPr>
          <a:xfrm>
            <a:off x="822960" y="2423160"/>
            <a:ext cx="420120" cy="42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05" name="Image 1" descr="icons/checkdouble.png"/>
          <p:cNvPicPr/>
          <p:nvPr/>
        </p:nvPicPr>
        <p:blipFill>
          <a:blip r:embed="rId2"/>
          <a:stretch/>
        </p:blipFill>
        <p:spPr>
          <a:xfrm>
            <a:off x="885960" y="2486160"/>
            <a:ext cx="294120" cy="29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6" name="Shape 6"/>
          <p:cNvSpPr/>
          <p:nvPr/>
        </p:nvSpPr>
        <p:spPr>
          <a:xfrm>
            <a:off x="1417320" y="2441520"/>
            <a:ext cx="420120" cy="3837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1417320" y="2441520"/>
            <a:ext cx="420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8" name="Text 8"/>
          <p:cNvSpPr/>
          <p:nvPr/>
        </p:nvSpPr>
        <p:spPr>
          <a:xfrm>
            <a:off x="2011680" y="2423160"/>
            <a:ext cx="941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program to sum a list with 4 numbers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22960" y="3596760"/>
            <a:ext cx="420120" cy="42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10" name="Image 2" descr="icons/checkdouble.png"/>
          <p:cNvPicPr/>
          <p:nvPr/>
        </p:nvPicPr>
        <p:blipFill>
          <a:blip r:embed="rId3"/>
          <a:stretch/>
        </p:blipFill>
        <p:spPr>
          <a:xfrm>
            <a:off x="885960" y="3659760"/>
            <a:ext cx="294120" cy="29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1" name="Shape 10"/>
          <p:cNvSpPr/>
          <p:nvPr/>
        </p:nvSpPr>
        <p:spPr>
          <a:xfrm>
            <a:off x="1417320" y="3614760"/>
            <a:ext cx="420120" cy="3837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2" name="Text 11"/>
          <p:cNvSpPr/>
          <p:nvPr/>
        </p:nvSpPr>
        <p:spPr>
          <a:xfrm>
            <a:off x="1417320" y="3614760"/>
            <a:ext cx="420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3" name="Text 12"/>
          <p:cNvSpPr/>
          <p:nvPr/>
        </p:nvSpPr>
        <p:spPr>
          <a:xfrm>
            <a:off x="2011680" y="3596760"/>
            <a:ext cx="941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program to store seven fruits in a list entered by the user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3"/>
          <p:cNvSpPr/>
          <p:nvPr/>
        </p:nvSpPr>
        <p:spPr>
          <a:xfrm>
            <a:off x="822960" y="4770000"/>
            <a:ext cx="420120" cy="42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15" name="Image 3" descr="icons/checkdouble.png"/>
          <p:cNvPicPr/>
          <p:nvPr/>
        </p:nvPicPr>
        <p:blipFill>
          <a:blip r:embed="rId4"/>
          <a:stretch/>
        </p:blipFill>
        <p:spPr>
          <a:xfrm>
            <a:off x="885960" y="4833360"/>
            <a:ext cx="294120" cy="29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6" name="Shape 14"/>
          <p:cNvSpPr/>
          <p:nvPr/>
        </p:nvSpPr>
        <p:spPr>
          <a:xfrm>
            <a:off x="1417320" y="4788360"/>
            <a:ext cx="420120" cy="3837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7" name="Text 15"/>
          <p:cNvSpPr/>
          <p:nvPr/>
        </p:nvSpPr>
        <p:spPr>
          <a:xfrm>
            <a:off x="1417320" y="4788360"/>
            <a:ext cx="420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8" name="Text 16"/>
          <p:cNvSpPr/>
          <p:nvPr/>
        </p:nvSpPr>
        <p:spPr>
          <a:xfrm>
            <a:off x="2011680" y="4770000"/>
            <a:ext cx="941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program to accept marks of 6 students and display them in a sorted manner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9" name="Text 1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0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3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y's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Ta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sk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—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Pa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rt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B: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pl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5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</a:t>
            </a: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tasks </a:t>
            </a: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— do </a:t>
            </a: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them </a:t>
            </a: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 </a:t>
            </a: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7" name="Shape 5"/>
          <p:cNvSpPr/>
          <p:nvPr/>
        </p:nvSpPr>
        <p:spPr>
          <a:xfrm>
            <a:off x="822960" y="2423160"/>
            <a:ext cx="420120" cy="42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8" name="Image 1" descr="icons/checkdouble.png"/>
          <p:cNvPicPr/>
          <p:nvPr/>
        </p:nvPicPr>
        <p:blipFill>
          <a:blip r:embed="rId2"/>
          <a:stretch/>
        </p:blipFill>
        <p:spPr>
          <a:xfrm>
            <a:off x="885960" y="2486160"/>
            <a:ext cx="294120" cy="29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9" name="Shape 6"/>
          <p:cNvSpPr/>
          <p:nvPr/>
        </p:nvSpPr>
        <p:spPr>
          <a:xfrm>
            <a:off x="1417320" y="2441520"/>
            <a:ext cx="420120" cy="3837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0" name="Text 7"/>
          <p:cNvSpPr/>
          <p:nvPr/>
        </p:nvSpPr>
        <p:spPr>
          <a:xfrm>
            <a:off x="1417320" y="2441520"/>
            <a:ext cx="420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 8"/>
          <p:cNvSpPr/>
          <p:nvPr/>
        </p:nvSpPr>
        <p:spPr>
          <a:xfrm>
            <a:off x="2011680" y="2423160"/>
            <a:ext cx="941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Check that a tuple type cannot be changed in Python — try editing one and observe the error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2" name="Shape 9"/>
          <p:cNvSpPr/>
          <p:nvPr/>
        </p:nvSpPr>
        <p:spPr>
          <a:xfrm>
            <a:off x="822960" y="4183560"/>
            <a:ext cx="420120" cy="42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33" name="Image 2" descr="icons/checkdouble.png"/>
          <p:cNvPicPr/>
          <p:nvPr/>
        </p:nvPicPr>
        <p:blipFill>
          <a:blip r:embed="rId3"/>
          <a:stretch/>
        </p:blipFill>
        <p:spPr>
          <a:xfrm>
            <a:off x="885960" y="4246560"/>
            <a:ext cx="294120" cy="29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4" name="Shape 10"/>
          <p:cNvSpPr/>
          <p:nvPr/>
        </p:nvSpPr>
        <p:spPr>
          <a:xfrm>
            <a:off x="1417320" y="4201560"/>
            <a:ext cx="420120" cy="3837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5" name="Text 11"/>
          <p:cNvSpPr/>
          <p:nvPr/>
        </p:nvSpPr>
        <p:spPr>
          <a:xfrm>
            <a:off x="1417320" y="4201560"/>
            <a:ext cx="420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6" name="Text 12"/>
          <p:cNvSpPr/>
          <p:nvPr/>
        </p:nvSpPr>
        <p:spPr>
          <a:xfrm>
            <a:off x="2011680" y="4183560"/>
            <a:ext cx="941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program to count the number of zeros in a tuple you create with at least 3 zeros in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7" name="Text 13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8" name="Text 14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0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1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42" name="Image 0" descr="icons/task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3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4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It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All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Tog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eth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5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Two small projects using everything from this course so far — variables, operators, conditionals, and today's lists &amp; tuples.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6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72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8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49" name="Image 0" descr="icons/task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0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1: Class Grade Report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1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2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3" name="Image 1" descr="icons/task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4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loops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needed —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just indexing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5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two lists: 5 student names, and their 5 matching scores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Using direct indexing (l1[0], l1[1]...), print each student's name, score, and whether they Pass or Fail (40 or above passes)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the highest score using max(), and the class average using sum() and len()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Bonus: use sorted() to also show the scores ranked, without changing your original list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7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0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2: Contact Card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2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3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4" name="Image 1" descr="icons/lock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5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Ties </a:t>
            </a: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togeth</a:t>
            </a: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tuples </a:t>
            </a: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f-</a:t>
            </a: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strings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Store a friend's name, age, and phone number together in a single tuple — this is personal data that shouldn't accidentally change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a formatted "contact card" sentence using all three values together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to update their age directly inside the tuple, and let Python's error prove why a tuple was the right choice here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Then show the correct way to "update" it: build a brand new tuple with the changed age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2" name="Image 0" descr="icons/boxe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3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 list can grow, shrink, and change.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 tuple, once made, stays exactly as it is.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 session: loops — now that lists exist, this is where they finally pay off.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75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253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2026-07-31T04:17:26Z</dcterms:created>
  <dc:creator>Course Instructor</dc:creator>
  <dc:description/>
  <dc:language>en-US</dc:language>
  <cp:lastModifiedBy/>
  <dcterms:modified xsi:type="dcterms:W3CDTF">2026-07-31T20:40:49Z</dcterms:modified>
  <cp:revision>47</cp:revision>
  <dc:subject>PptxGenJS Presentation</dc:subject>
  <dc:title>Lists &amp; Tuples — Session 5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75</vt:i4>
  </property>
  <property fmtid="{D5CDD505-2E9C-101B-9397-08002B2CF9AE}" pid="3" name="PresentationFormat">
    <vt:lpwstr>On-screen Show (16:9)</vt:lpwstr>
  </property>
  <property fmtid="{D5CDD505-2E9C-101B-9397-08002B2CF9AE}" pid="4" name="Slides">
    <vt:i4>75</vt:i4>
  </property>
</Properties>
</file>