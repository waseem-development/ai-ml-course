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65.xml" ContentType="application/vnd.openxmlformats-officedocument.presentationml.slide+xml"/>
  <Override PartName="/ppt/slides/slide61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72.xml" ContentType="application/vnd.openxmlformats-officedocument.presentationml.slide+xml"/>
  <Override PartName="/ppt/slides/slide36.xml" ContentType="application/vnd.openxmlformats-officedocument.presentationml.slide+xml"/>
  <Override PartName="/ppt/slides/slide71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4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49.xml" ContentType="application/vnd.openxmlformats-officedocument.presentationml.slide+xml"/>
  <Override PartName="/ppt/slides/slide75.xml" ContentType="application/vnd.openxmlformats-officedocument.presentationml.slide+xml"/>
  <Override PartName="/ppt/slides/slide60.xml" ContentType="application/vnd.openxmlformats-officedocument.presentationml.slide+xml"/>
  <Override PartName="/ppt/slides/slide14.xml" ContentType="application/vnd.openxmlformats-officedocument.presentationml.slide+xml"/>
  <Override PartName="/ppt/slides/slide73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6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74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0D91817-7D62-4E08-9174-6A36D7B1205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slide. No loops yet this session — that is next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30E366-B139-48D0-8E0D-4867725750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B17F4C-1E57-4671-96E2-D382166D59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F3F4B8-9E90-47F2-89D6-6419E5A3E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5B470C-9A6F-4EA8-AB0A-478BCDE617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0F4AC4-6D09-4282-BB40-45A6DB7C8E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5378D1-238E-462F-AADF-4CCD88062D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discussion point: Python is the only one here with no separate character type.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9B65BE-6081-429C-BD43-0E7931522A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Worth pointing out: Python and Java give you rich built-ins here; C makes you build most of this yourself.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950C65-1B1F-4C96-9A24-2A796DBCF4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79D9B7-C505-404E-9B67-41C08B23EF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647A2E-D201-4470-99DE-0763DB272D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Nice map to show where today fits in the bigger picture.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D6646D-D4F6-46DC-B56F-3F44BF4A94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DE3D03-F11F-4BF9-8C64-AD62285ED0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DE8761-C08A-47B6-9132-A99F003395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24C753-3E23-4414-B957-E6B6566F95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8EF078-BBF8-4AD2-B06B-55EFAAAC08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8E698F-3A40-4353-AF2B-77722C32BE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7D8271-F338-440D-B91C-028CD6D63B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33D46E-5A03-4D3B-A847-647B25A46C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stent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"error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are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norma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l"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philos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ophy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086BF4-53CF-4252-B506-E948F2C4F0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49ECED-442E-43F2-AE95-A8A12AC0D8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[::-1] reverse trick is worth calling out explicitly — very commonly used in real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6DAB2D-72EC-46CC-80CE-37BC2A221A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 unpacking is a genuinely handy real-world Python idiom, worth showing off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8ED74B-D889-47FC-8FAC-723A7F987D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001788-FE4F-47D4-A843-82758743D8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E01EE9-D22F-46CB-86A4-38E7FDD299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FA06FF-FD2D-47A3-8CE9-F6C88F644D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Directly answers "can I control where append() adds?" — no, by design.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EF05AC-81EB-48DC-B5D5-F2E425EBF6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Genuinely one of the highest-value gotchas for real-world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5ECA37-BFB2-4156-B2A5-1889A5C8AB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3E7D5B-AF24-42FA-883F-B9FB21DAF3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common point of confusion — worth demoing live rather than just describing.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786F2B-D3C0-48EB-A53B-2722E79BCA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E78DA6-46D6-4D3C-BE3C-D85C1CA04E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Directly addresses the "pop with 0" and negative-argument confusion.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9D4CFA-4694-48F9-9CF7-7A79C9EAA0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817776-DD69-4928-A504-E9EA0190F2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list equivalents of the tuple methods coming up later today.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F2B1DE-9C40-4BF3-AF4B-6B136F2BCC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63B9BD-E887-47D7-950F-7A21774BAA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6B0E99-1020-4AD6-A694-ACFD9D8139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very common real bug: calling l1.sort() and being confused when it returns None.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EF012A-C4BD-4192-B371-5B53F21CF0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9C3FC7-A0DE-4BB6-ABBD-62B4D9C441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FE04E3-2DC2-4795-A48A-60B19CBD76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C33F61-F55D-4770-B5DE-B15024DE1D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well-known DSA interview gotcha — worth flagging even before loops are formally taught.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8BB18F-2E1C-47BE-8E7B-B75365AECE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one of the most common real bugs beginners hit — worth extra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C291D2-D884-45E2-B99F-5C697CEFDC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precisely the bug that "list of lists" (grids, matrices) beginners hit constantly.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3F8A4C-F489-4AFF-BAA1-9F297FEFD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direct fix to the gotcha on the previous slide — worth running both side by side live.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ADD375-0383-4B65-8C7E-84D646F21C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031FC0-D326-43EA-8F3B-FEDD334291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49E563-FB70-4C3F-B4FB-B8D832136B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genuinely important DSA concept, and it costs nothing extra to teach — same methods, just named intent.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8E53E8-5691-44A1-84E4-545662FC9B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first honest taste of time complexity — full Big-O comes later in the course, but the intuition starts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01787A-B0AF-456C-88BA-9915EF8E2B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7281C7-5024-4EB7-93ED-C51AB34158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818A13-71C7-494C-9E65-414805CA62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Just a taste for today — nested data gets much more use once loops exist.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CE69DF-5005-4D6A-999B-77D3517DD4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35259-8224-417C-8C1A-B6F12249CD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A18C2D-B129-406A-97F3-7B2D9B884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7CCE81-7787-4E36-B38D-D939EB614D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Fast recap before the practice 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6DFFF6-4B22-43B4-9E98-784E00F469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485941-CFD3-4FB7-BC13-B8A2B62E84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9A87E2-5929-450F-8BFF-7A5ED95C30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7D5015-DFE6-4AD6-A79B-F4995FBB31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D3FF784-B507-4BF9-9F23-703C3F305B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23C0B6-D8D0-4165-AF92-3939BBC8B6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C2FF4E-D3F4-4D04-BF84-BD7766AD24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Ties directly into today's practice: "check that a tuple cannot be changed."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AD2ADA-14E9-473D-AF1B-26717EB19E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D9ACCB-3975-47EA-AFB9-A1EFD23110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Tuples only have these two methods — far fewer than lists, since nothing about them can change.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6FB924-F44D-486E-A51C-6C329A819C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714B8B-6EF4-467A-8EBD-CCF10408EB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62E12E-4863-4D47-A061-7885F83EB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Worth pointing out the *rest quirk: star-unpacking always produces a list for the leftover part, even from a tuple.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5AAED-6254-4A74-A9B5-60143738EC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23730F-B868-4F12-962A-92710E1871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B75070-25F6-4277-B804-C94C64F820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F137D1-DC0C-44A5-9DA6-2E9D502B36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AF15D3-636D-485A-AEF9-3C1A03815E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281361-0725-4D20-ACD3-ECAD267E0D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92045D-AE17-4754-8B1F-F7061F17D6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DE6632-DBF3-419C-B7EE-A6E567B27A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BB96EB-056B-452E-B7F0-5958AD024B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by asking students to explain, in their own words, when they would choose a tuple over a list.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9F0A4F-308C-4BD4-85A2-716CF2119D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image" Target="../media/image17.png"/><Relationship Id="rId10" Type="http://schemas.openxmlformats.org/officeDocument/2006/relationships/image" Target="../media/image2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8.png"/><Relationship Id="rId3" Type="http://schemas.openxmlformats.org/officeDocument/2006/relationships/image" Target="../media/image18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8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080" cy="64000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080" cy="64000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000" cy="11880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thlist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240" cy="83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Lists &amp; Tuples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Storing and Organizing Multiple Values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10515600" y="-13716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icons/thlis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We'r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Cove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ring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60020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21720" y="165528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icons/tag.png"/>
          <p:cNvPicPr/>
          <p:nvPr/>
        </p:nvPicPr>
        <p:blipFill>
          <a:blip r:embed="rId2"/>
          <a:stretch/>
        </p:blipFill>
        <p:spPr>
          <a:xfrm>
            <a:off x="664200" y="169776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1325880" y="160020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Data types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&amp; data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structures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primitive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vs. non-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primitive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57200" y="208476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21720" y="213984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2" descr="icons/boxes.png"/>
          <p:cNvPicPr/>
          <p:nvPr/>
        </p:nvPicPr>
        <p:blipFill>
          <a:blip r:embed="rId3"/>
          <a:stretch/>
        </p:blipFill>
        <p:spPr>
          <a:xfrm>
            <a:off x="664200" y="218232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1325880" y="208476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a list? Indexing, negative indexing &amp; advanced slicing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57200" y="256932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21720" y="262440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3" descr="icons/pluscircle.png"/>
          <p:cNvPicPr/>
          <p:nvPr/>
        </p:nvPicPr>
        <p:blipFill>
          <a:blip r:embed="rId4"/>
          <a:stretch/>
        </p:blipFill>
        <p:spPr>
          <a:xfrm>
            <a:off x="664200" y="266688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1325880" y="256932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append(),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extend(),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insert() —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including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negative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indices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57200" y="305424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621720" y="310932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4" descr="icons/minuscircle.png"/>
          <p:cNvPicPr/>
          <p:nvPr/>
        </p:nvPicPr>
        <p:blipFill>
          <a:blip r:embed="rId5"/>
          <a:stretch/>
        </p:blipFill>
        <p:spPr>
          <a:xfrm>
            <a:off x="664200" y="315144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4"/>
          <p:cNvSpPr/>
          <p:nvPr/>
        </p:nvSpPr>
        <p:spPr>
          <a:xfrm>
            <a:off x="1325880" y="305424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Removing items: pop() — three ways — &amp; remove()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57200" y="353880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21720" y="359388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5" descr="icons/sort.png"/>
          <p:cNvPicPr/>
          <p:nvPr/>
        </p:nvPicPr>
        <p:blipFill>
          <a:blip r:embed="rId6"/>
          <a:stretch/>
        </p:blipFill>
        <p:spPr>
          <a:xfrm>
            <a:off x="664200" y="363636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1325880" y="353880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Reordering: sort() vs. sorted(), and reverse()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402336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621720" y="407844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6" descr="icons/chart.png"/>
          <p:cNvPicPr/>
          <p:nvPr/>
        </p:nvPicPr>
        <p:blipFill>
          <a:blip r:embed="rId7"/>
          <a:stretch/>
        </p:blipFill>
        <p:spPr>
          <a:xfrm>
            <a:off x="664200" y="412092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0"/>
          <p:cNvSpPr/>
          <p:nvPr/>
        </p:nvSpPr>
        <p:spPr>
          <a:xfrm>
            <a:off x="1325880" y="402336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min(), max(), sum(), membership, equality &amp; nested lists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457200" y="450792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21720" y="456300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7" descr="icons/bolt.png"/>
          <p:cNvPicPr/>
          <p:nvPr/>
        </p:nvPicPr>
        <p:blipFill>
          <a:blip r:embed="rId8"/>
          <a:stretch/>
        </p:blipFill>
        <p:spPr>
          <a:xfrm>
            <a:off x="664200" y="460548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3"/>
          <p:cNvSpPr/>
          <p:nvPr/>
        </p:nvSpPr>
        <p:spPr>
          <a:xfrm>
            <a:off x="1325880" y="450792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Lists as stacks, and a taste of time complexity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457200" y="499248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621720" y="504756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8" descr="icons/lock.png"/>
          <p:cNvPicPr/>
          <p:nvPr/>
        </p:nvPicPr>
        <p:blipFill>
          <a:blip r:embed="rId9"/>
          <a:stretch/>
        </p:blipFill>
        <p:spPr>
          <a:xfrm>
            <a:off x="664200" y="509004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6"/>
          <p:cNvSpPr/>
          <p:nvPr/>
        </p:nvSpPr>
        <p:spPr>
          <a:xfrm>
            <a:off x="1325880" y="499248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Tuples —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list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cannot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change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7"/>
          <p:cNvSpPr/>
          <p:nvPr/>
        </p:nvSpPr>
        <p:spPr>
          <a:xfrm>
            <a:off x="457200" y="547740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8"/>
          <p:cNvSpPr/>
          <p:nvPr/>
        </p:nvSpPr>
        <p:spPr>
          <a:xfrm>
            <a:off x="621720" y="553248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9" descr="icons/boxopen.png"/>
          <p:cNvPicPr/>
          <p:nvPr/>
        </p:nvPicPr>
        <p:blipFill>
          <a:blip r:embed="rId10"/>
          <a:stretch/>
        </p:blipFill>
        <p:spPr>
          <a:xfrm>
            <a:off x="664200" y="557460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9"/>
          <p:cNvSpPr/>
          <p:nvPr/>
        </p:nvSpPr>
        <p:spPr>
          <a:xfrm>
            <a:off x="1325880" y="547740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Tuple packing, unpacking &amp; nested tuples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0"/>
          <p:cNvSpPr/>
          <p:nvPr/>
        </p:nvSpPr>
        <p:spPr>
          <a:xfrm>
            <a:off x="457200" y="5961960"/>
            <a:ext cx="11273760" cy="392400"/>
          </a:xfrm>
          <a:prstGeom prst="roundRect">
            <a:avLst>
              <a:gd name="adj" fmla="val 1627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1"/>
          <p:cNvSpPr/>
          <p:nvPr/>
        </p:nvSpPr>
        <p:spPr>
          <a:xfrm>
            <a:off x="621720" y="6017040"/>
            <a:ext cx="282240" cy="282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0" descr="icons/tasks.png"/>
          <p:cNvPicPr/>
          <p:nvPr/>
        </p:nvPicPr>
        <p:blipFill>
          <a:blip r:embed="rId11"/>
          <a:stretch/>
        </p:blipFill>
        <p:spPr>
          <a:xfrm>
            <a:off x="664200" y="605952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32"/>
          <p:cNvSpPr/>
          <p:nvPr/>
        </p:nvSpPr>
        <p:spPr>
          <a:xfrm>
            <a:off x="1325880" y="5961960"/>
            <a:ext cx="100576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Two mini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projects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tying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everything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together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3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4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icons/tag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Data Types &amp; Data Structures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 little vocabulary before we touch a single list.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0" descr="icons/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Data Type?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1" descr="icons/tag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label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for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single value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data type tells Python what kind of value something is — a number, some text, true/false, and so 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decides what you're allowed to do with that value — you can add two numbers, but not two booleans the same way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already met four of these in an earlier session: int, float, str, and bool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Tuples 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Sessio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Data Structure?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" descr="icons/layergrou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way 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hold many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values at once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data structure organizes and stores multiple values together, so you can manage them as one group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Instead of creating 100 separate variables for 100 student names, a data structure holds all 100 in one place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data structure is built out of data types — a list of scores is a structure full of int values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Lists and tuples, today's whole topic, are both data structures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Primitive vs. Non-Primitive — The Big Split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1" descr="icons/square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Primitive Types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Hold exactly one single 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Simple, fixed in size, stored directly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Examples: int, float, bool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2" descr="icons/boxopen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Non-Primitive Types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Can hold many values, or a whole collection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Built out of primitive types (or even other non-primitives)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Examples: list, tuple, dictionary, array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Primitive Types — Across Languages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457200" y="1691640"/>
            <a:ext cx="2818080" cy="50220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457200" y="1691640"/>
            <a:ext cx="281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Concept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3276000" y="1691640"/>
            <a:ext cx="2818080" cy="50220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3276000" y="1691640"/>
            <a:ext cx="281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6094440" y="1691640"/>
            <a:ext cx="2818080" cy="50220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6094440" y="1691640"/>
            <a:ext cx="281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8913240" y="1691640"/>
            <a:ext cx="2818080" cy="50220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8913240" y="1691640"/>
            <a:ext cx="281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Java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457200" y="2194560"/>
            <a:ext cx="2818080" cy="566280"/>
          </a:xfrm>
          <a:prstGeom prst="rect">
            <a:avLst/>
          </a:prstGeom>
          <a:solidFill>
            <a:srgbClr val="F1F3EC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548640" y="2194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Whole number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3276000" y="2194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3367440" y="2194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6094440" y="2194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6185880" y="2194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6"/>
          <p:cNvSpPr/>
          <p:nvPr/>
        </p:nvSpPr>
        <p:spPr>
          <a:xfrm>
            <a:off x="8913240" y="2194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9004680" y="2194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457200" y="2761560"/>
            <a:ext cx="2818080" cy="566280"/>
          </a:xfrm>
          <a:prstGeom prst="rect">
            <a:avLst/>
          </a:prstGeom>
          <a:solidFill>
            <a:srgbClr val="F1F3EC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548640" y="2761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Decimal number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3276000" y="2761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3367440" y="2761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float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6094440" y="2761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6185880" y="2761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float / double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4"/>
          <p:cNvSpPr/>
          <p:nvPr/>
        </p:nvSpPr>
        <p:spPr>
          <a:xfrm>
            <a:off x="8913240" y="2761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5"/>
          <p:cNvSpPr/>
          <p:nvPr/>
        </p:nvSpPr>
        <p:spPr>
          <a:xfrm>
            <a:off x="9004680" y="2761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float / double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6"/>
          <p:cNvSpPr/>
          <p:nvPr/>
        </p:nvSpPr>
        <p:spPr>
          <a:xfrm>
            <a:off x="457200" y="3328560"/>
            <a:ext cx="2818080" cy="566280"/>
          </a:xfrm>
          <a:prstGeom prst="rect">
            <a:avLst/>
          </a:prstGeom>
          <a:solidFill>
            <a:srgbClr val="F1F3EC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7"/>
          <p:cNvSpPr/>
          <p:nvPr/>
        </p:nvSpPr>
        <p:spPr>
          <a:xfrm>
            <a:off x="548640" y="3328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True or False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8"/>
          <p:cNvSpPr/>
          <p:nvPr/>
        </p:nvSpPr>
        <p:spPr>
          <a:xfrm>
            <a:off x="3276000" y="3328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9"/>
          <p:cNvSpPr/>
          <p:nvPr/>
        </p:nvSpPr>
        <p:spPr>
          <a:xfrm>
            <a:off x="3367440" y="3328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bool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0"/>
          <p:cNvSpPr/>
          <p:nvPr/>
        </p:nvSpPr>
        <p:spPr>
          <a:xfrm>
            <a:off x="6094440" y="3328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1"/>
          <p:cNvSpPr/>
          <p:nvPr/>
        </p:nvSpPr>
        <p:spPr>
          <a:xfrm>
            <a:off x="6185880" y="3328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no true bool (0/1)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2"/>
          <p:cNvSpPr/>
          <p:nvPr/>
        </p:nvSpPr>
        <p:spPr>
          <a:xfrm>
            <a:off x="8913240" y="3328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3"/>
          <p:cNvSpPr/>
          <p:nvPr/>
        </p:nvSpPr>
        <p:spPr>
          <a:xfrm>
            <a:off x="9004680" y="3328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boolean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4"/>
          <p:cNvSpPr/>
          <p:nvPr/>
        </p:nvSpPr>
        <p:spPr>
          <a:xfrm>
            <a:off x="457200" y="3895200"/>
            <a:ext cx="2818080" cy="566280"/>
          </a:xfrm>
          <a:prstGeom prst="rect">
            <a:avLst/>
          </a:prstGeom>
          <a:solidFill>
            <a:srgbClr val="F1F3EC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5"/>
          <p:cNvSpPr/>
          <p:nvPr/>
        </p:nvSpPr>
        <p:spPr>
          <a:xfrm>
            <a:off x="548640" y="389520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Single character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6"/>
          <p:cNvSpPr/>
          <p:nvPr/>
        </p:nvSpPr>
        <p:spPr>
          <a:xfrm>
            <a:off x="3276000" y="389520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7"/>
          <p:cNvSpPr/>
          <p:nvPr/>
        </p:nvSpPr>
        <p:spPr>
          <a:xfrm>
            <a:off x="3367440" y="389520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no separate type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8"/>
          <p:cNvSpPr/>
          <p:nvPr/>
        </p:nvSpPr>
        <p:spPr>
          <a:xfrm>
            <a:off x="6094440" y="389520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9"/>
          <p:cNvSpPr/>
          <p:nvPr/>
        </p:nvSpPr>
        <p:spPr>
          <a:xfrm>
            <a:off x="6185880" y="389520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char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0"/>
          <p:cNvSpPr/>
          <p:nvPr/>
        </p:nvSpPr>
        <p:spPr>
          <a:xfrm>
            <a:off x="8913240" y="389520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1"/>
          <p:cNvSpPr/>
          <p:nvPr/>
        </p:nvSpPr>
        <p:spPr>
          <a:xfrm>
            <a:off x="9004680" y="389520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char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2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3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Non-Primitive Types — Across Languages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457200" y="1691640"/>
            <a:ext cx="2818080" cy="50220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457200" y="1691640"/>
            <a:ext cx="281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Concept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3276000" y="1691640"/>
            <a:ext cx="2818080" cy="50220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3276000" y="1691640"/>
            <a:ext cx="281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6094440" y="1691640"/>
            <a:ext cx="2818080" cy="50220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6094440" y="1691640"/>
            <a:ext cx="281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8913240" y="1691640"/>
            <a:ext cx="2818080" cy="50220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8913240" y="1691640"/>
            <a:ext cx="281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Java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0"/>
          <p:cNvSpPr/>
          <p:nvPr/>
        </p:nvSpPr>
        <p:spPr>
          <a:xfrm>
            <a:off x="457200" y="2194560"/>
            <a:ext cx="2818080" cy="566280"/>
          </a:xfrm>
          <a:prstGeom prst="rect">
            <a:avLst/>
          </a:prstGeom>
          <a:solidFill>
            <a:srgbClr val="EFDFB8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548640" y="2194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Ordered collection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2"/>
          <p:cNvSpPr/>
          <p:nvPr/>
        </p:nvSpPr>
        <p:spPr>
          <a:xfrm>
            <a:off x="3276000" y="2194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3367440" y="219492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4"/>
          <p:cNvSpPr/>
          <p:nvPr/>
        </p:nvSpPr>
        <p:spPr>
          <a:xfrm>
            <a:off x="6094440" y="2194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6185880" y="2194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6"/>
          <p:cNvSpPr/>
          <p:nvPr/>
        </p:nvSpPr>
        <p:spPr>
          <a:xfrm>
            <a:off x="8913240" y="2194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9004680" y="2194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ArrayList / 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8"/>
          <p:cNvSpPr/>
          <p:nvPr/>
        </p:nvSpPr>
        <p:spPr>
          <a:xfrm>
            <a:off x="457200" y="2761560"/>
            <a:ext cx="2818080" cy="566280"/>
          </a:xfrm>
          <a:prstGeom prst="rect">
            <a:avLst/>
          </a:prstGeom>
          <a:solidFill>
            <a:srgbClr val="EFDFB8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9"/>
          <p:cNvSpPr/>
          <p:nvPr/>
        </p:nvSpPr>
        <p:spPr>
          <a:xfrm>
            <a:off x="548640" y="2761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Fixed collection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0"/>
          <p:cNvSpPr/>
          <p:nvPr/>
        </p:nvSpPr>
        <p:spPr>
          <a:xfrm>
            <a:off x="3276000" y="2761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1"/>
          <p:cNvSpPr/>
          <p:nvPr/>
        </p:nvSpPr>
        <p:spPr>
          <a:xfrm>
            <a:off x="3367440" y="2761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tuple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2"/>
          <p:cNvSpPr/>
          <p:nvPr/>
        </p:nvSpPr>
        <p:spPr>
          <a:xfrm>
            <a:off x="6094440" y="2761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3"/>
          <p:cNvSpPr/>
          <p:nvPr/>
        </p:nvSpPr>
        <p:spPr>
          <a:xfrm>
            <a:off x="6185880" y="2761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const 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4"/>
          <p:cNvSpPr/>
          <p:nvPr/>
        </p:nvSpPr>
        <p:spPr>
          <a:xfrm>
            <a:off x="8913240" y="2761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5"/>
          <p:cNvSpPr/>
          <p:nvPr/>
        </p:nvSpPr>
        <p:spPr>
          <a:xfrm>
            <a:off x="9004680" y="2761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final 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6"/>
          <p:cNvSpPr/>
          <p:nvPr/>
        </p:nvSpPr>
        <p:spPr>
          <a:xfrm>
            <a:off x="457200" y="3328560"/>
            <a:ext cx="2818080" cy="566280"/>
          </a:xfrm>
          <a:prstGeom prst="rect">
            <a:avLst/>
          </a:prstGeom>
          <a:solidFill>
            <a:srgbClr val="EFDFB8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7"/>
          <p:cNvSpPr/>
          <p:nvPr/>
        </p:nvSpPr>
        <p:spPr>
          <a:xfrm>
            <a:off x="548640" y="3328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Key-value pairs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8"/>
          <p:cNvSpPr/>
          <p:nvPr/>
        </p:nvSpPr>
        <p:spPr>
          <a:xfrm>
            <a:off x="3276000" y="3328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9"/>
          <p:cNvSpPr/>
          <p:nvPr/>
        </p:nvSpPr>
        <p:spPr>
          <a:xfrm>
            <a:off x="3367440" y="3328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dict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0"/>
          <p:cNvSpPr/>
          <p:nvPr/>
        </p:nvSpPr>
        <p:spPr>
          <a:xfrm>
            <a:off x="6094440" y="3328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1"/>
          <p:cNvSpPr/>
          <p:nvPr/>
        </p:nvSpPr>
        <p:spPr>
          <a:xfrm>
            <a:off x="6185880" y="3328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no built-in (struct)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2"/>
          <p:cNvSpPr/>
          <p:nvPr/>
        </p:nvSpPr>
        <p:spPr>
          <a:xfrm>
            <a:off x="8913240" y="332856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3"/>
          <p:cNvSpPr/>
          <p:nvPr/>
        </p:nvSpPr>
        <p:spPr>
          <a:xfrm>
            <a:off x="9004680" y="332856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HashMap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4"/>
          <p:cNvSpPr/>
          <p:nvPr/>
        </p:nvSpPr>
        <p:spPr>
          <a:xfrm>
            <a:off x="457200" y="3895200"/>
            <a:ext cx="2818080" cy="566280"/>
          </a:xfrm>
          <a:prstGeom prst="rect">
            <a:avLst/>
          </a:prstGeom>
          <a:solidFill>
            <a:srgbClr val="EFDFB8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5"/>
          <p:cNvSpPr/>
          <p:nvPr/>
        </p:nvSpPr>
        <p:spPr>
          <a:xfrm>
            <a:off x="548640" y="389520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Text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6"/>
          <p:cNvSpPr/>
          <p:nvPr/>
        </p:nvSpPr>
        <p:spPr>
          <a:xfrm>
            <a:off x="3276000" y="389520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7"/>
          <p:cNvSpPr/>
          <p:nvPr/>
        </p:nvSpPr>
        <p:spPr>
          <a:xfrm>
            <a:off x="3367440" y="389520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str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8"/>
          <p:cNvSpPr/>
          <p:nvPr/>
        </p:nvSpPr>
        <p:spPr>
          <a:xfrm>
            <a:off x="6094440" y="389520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9"/>
          <p:cNvSpPr/>
          <p:nvPr/>
        </p:nvSpPr>
        <p:spPr>
          <a:xfrm>
            <a:off x="6185880" y="389520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char 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0"/>
          <p:cNvSpPr/>
          <p:nvPr/>
        </p:nvSpPr>
        <p:spPr>
          <a:xfrm>
            <a:off x="8913240" y="3895200"/>
            <a:ext cx="2818080" cy="56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1"/>
          <p:cNvSpPr/>
          <p:nvPr/>
        </p:nvSpPr>
        <p:spPr>
          <a:xfrm>
            <a:off x="9004680" y="3895200"/>
            <a:ext cx="2635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String (an object!)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2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3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icons/boxopen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Python's Twist: Everything Is an Object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1" descr="icons/boxopen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Even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single number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is an object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C and Java, primitive types are raw values sitting directly in memory — fast and simple, but rigid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Python, even a simple integer is secretly an object with extra information attached to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part of why Python feels more flexible and consistent, but runs a little slower than 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Proof you've already seen: type() works on every single value, even numbers — because everything truly is an object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Do Strings Fit?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1" descr="icons/fon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little bit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of both worlds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Strings hold text, but they are technically an ordered sequence of characters, not one indivisible value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makes a string feel simple like a primitive, but structured enough to be indexed and sliced — just like a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We will go deeper on strings in an upcoming session — for today, just know they blur the line a little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icons/thlis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Python's Data Structures — What's Coming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45720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198576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1" descr="icons/boxes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4"/>
          <p:cNvSpPr/>
          <p:nvPr/>
        </p:nvSpPr>
        <p:spPr>
          <a:xfrm>
            <a:off x="54864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0336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Today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429156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7"/>
          <p:cNvSpPr/>
          <p:nvPr/>
        </p:nvSpPr>
        <p:spPr>
          <a:xfrm>
            <a:off x="582012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2" descr="icons/lock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8"/>
          <p:cNvSpPr/>
          <p:nvPr/>
        </p:nvSpPr>
        <p:spPr>
          <a:xfrm>
            <a:off x="438300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443772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Today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812592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965448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3" descr="icons/font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12"/>
          <p:cNvSpPr/>
          <p:nvPr/>
        </p:nvSpPr>
        <p:spPr>
          <a:xfrm>
            <a:off x="821736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827244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Already introduced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4"/>
          <p:cNvSpPr/>
          <p:nvPr/>
        </p:nvSpPr>
        <p:spPr>
          <a:xfrm>
            <a:off x="45720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5"/>
          <p:cNvSpPr/>
          <p:nvPr/>
        </p:nvSpPr>
        <p:spPr>
          <a:xfrm>
            <a:off x="198576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4" descr="icons/hashtag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16"/>
          <p:cNvSpPr/>
          <p:nvPr/>
        </p:nvSpPr>
        <p:spPr>
          <a:xfrm>
            <a:off x="54864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Dictionary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7"/>
          <p:cNvSpPr/>
          <p:nvPr/>
        </p:nvSpPr>
        <p:spPr>
          <a:xfrm>
            <a:off x="60336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Coming soon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8"/>
          <p:cNvSpPr/>
          <p:nvPr/>
        </p:nvSpPr>
        <p:spPr>
          <a:xfrm>
            <a:off x="429156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9"/>
          <p:cNvSpPr/>
          <p:nvPr/>
        </p:nvSpPr>
        <p:spPr>
          <a:xfrm>
            <a:off x="582012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5" descr="icons/search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20"/>
          <p:cNvSpPr/>
          <p:nvPr/>
        </p:nvSpPr>
        <p:spPr>
          <a:xfrm>
            <a:off x="438300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1"/>
          <p:cNvSpPr/>
          <p:nvPr/>
        </p:nvSpPr>
        <p:spPr>
          <a:xfrm>
            <a:off x="443772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Coming soon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2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0" descr="icons/checkdoub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Quick Recap: Primitive vs. Non-Primitive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45720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198576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1" descr="icons/squar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4"/>
          <p:cNvSpPr/>
          <p:nvPr/>
        </p:nvSpPr>
        <p:spPr>
          <a:xfrm>
            <a:off x="54864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60336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429156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>
            <a:off x="582012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2" descr="icons/square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8"/>
          <p:cNvSpPr/>
          <p:nvPr/>
        </p:nvSpPr>
        <p:spPr>
          <a:xfrm>
            <a:off x="438300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float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443772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812592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965448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3" descr="icons/squar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12"/>
          <p:cNvSpPr/>
          <p:nvPr/>
        </p:nvSpPr>
        <p:spPr>
          <a:xfrm>
            <a:off x="821736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827244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4"/>
          <p:cNvSpPr/>
          <p:nvPr/>
        </p:nvSpPr>
        <p:spPr>
          <a:xfrm>
            <a:off x="45720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5"/>
          <p:cNvSpPr/>
          <p:nvPr/>
        </p:nvSpPr>
        <p:spPr>
          <a:xfrm>
            <a:off x="198576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4" descr="icons/boxopen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16"/>
          <p:cNvSpPr/>
          <p:nvPr/>
        </p:nvSpPr>
        <p:spPr>
          <a:xfrm>
            <a:off x="54864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60336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Non-Primitive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429156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582012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5" descr="icons/boxopen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20"/>
          <p:cNvSpPr/>
          <p:nvPr/>
        </p:nvSpPr>
        <p:spPr>
          <a:xfrm>
            <a:off x="438300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443772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Non-Primitive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2"/>
          <p:cNvSpPr/>
          <p:nvPr/>
        </p:nvSpPr>
        <p:spPr>
          <a:xfrm>
            <a:off x="812592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3"/>
          <p:cNvSpPr/>
          <p:nvPr/>
        </p:nvSpPr>
        <p:spPr>
          <a:xfrm>
            <a:off x="965448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1" name="Image 6" descr="icons/boxopen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 24"/>
          <p:cNvSpPr/>
          <p:nvPr/>
        </p:nvSpPr>
        <p:spPr>
          <a:xfrm>
            <a:off x="821736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dict / 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5"/>
          <p:cNvSpPr/>
          <p:nvPr/>
        </p:nvSpPr>
        <p:spPr>
          <a:xfrm>
            <a:off x="827244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Non-Primitive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0" descr="icons/boxe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Is a List?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List Is a Row of Numbered Boxes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Image 1" descr="icons/boxe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Ordered.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Changeable.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Mixed types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allowed.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stores several values together, in one single variable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box has a position, called an index, starting at 0 — not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can hold any data type, even mixed together in the same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Unlike a tuple (later today), a list can be changed after it's created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Creating a List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Square brackets [ ] create a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Items are separated by commas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exact list — mixing int, int, and str — is completely valid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print(type(l1))   # &lt;class 'list'&gt;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More Ways to Create a List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list() function builds a list from almost any other collection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can turn a string into a list of its characters, or a range into a list of numbers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Multiplying an empty-ish list is a quick way to pre-fill it with repeated values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list()             # [] — an empty list, another way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list("abc")        # ['a', 'b', 'c']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 = list(range(5))     # [0, 1, 2, 3,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 = [0] * 5            # [0, 0, 0, 0, 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 Indexing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"waseem"]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2926080" y="237744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2926080" y="237744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2926080" y="302652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7"/>
          <p:cNvSpPr/>
          <p:nvPr/>
        </p:nvSpPr>
        <p:spPr>
          <a:xfrm>
            <a:off x="4443840" y="237744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4443840" y="237744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4443840" y="302652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5961960" y="237744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5961960" y="237744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"waseem"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2"/>
          <p:cNvSpPr/>
          <p:nvPr/>
        </p:nvSpPr>
        <p:spPr>
          <a:xfrm>
            <a:off x="5961960" y="302652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548640" y="3840480"/>
            <a:ext cx="110908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alibri"/>
              </a:rPr>
              <a:t>l1[0]  →  7      (the box at index 0)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alibri"/>
              </a:rPr>
              <a:t>l1[1]  →  9      (the box at index 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Indexes always start counting from 0, not 1 — this trips up almost everyone at first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Negative Indexing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2926080" y="265176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2926080" y="265176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2926080" y="330084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2926080" y="239580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98A2B"/>
                </a:solidFill>
                <a:effectLst/>
                <a:uFillTx/>
                <a:latin typeface="Consolas"/>
                <a:ea typeface="Consolas"/>
              </a:rPr>
              <a:t>-3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4443840" y="265176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4443840" y="265176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0"/>
          <p:cNvSpPr/>
          <p:nvPr/>
        </p:nvSpPr>
        <p:spPr>
          <a:xfrm>
            <a:off x="4443840" y="330084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4443840" y="239580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98A2B"/>
                </a:solidFill>
                <a:effectLst/>
                <a:uFillTx/>
                <a:latin typeface="Consolas"/>
                <a:ea typeface="Consolas"/>
              </a:rPr>
              <a:t>-2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5961960" y="265176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3"/>
          <p:cNvSpPr/>
          <p:nvPr/>
        </p:nvSpPr>
        <p:spPr>
          <a:xfrm>
            <a:off x="5961960" y="265176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"harry"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5961960" y="330084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5961960" y="239580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98A2B"/>
                </a:solidFill>
                <a:effectLst/>
                <a:uFillTx/>
                <a:latin typeface="Consolas"/>
                <a:ea typeface="Consolas"/>
              </a:rPr>
              <a:t>-1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6"/>
          <p:cNvSpPr/>
          <p:nvPr/>
        </p:nvSpPr>
        <p:spPr>
          <a:xfrm>
            <a:off x="548640" y="4023360"/>
            <a:ext cx="110908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Negative indexes count backward from the end — -1 is always the last item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l1[-1]  →  "harry"       l1[-2]  →  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Useful when you want "the last item" without needing to know the list's length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1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Out-of-Range: A Very Normal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of 3 items only has valid indexes 0, 1, and 2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Asking for an index that does not exist raises an IndexError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completely normal — read the error, fix the index, move 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print(l1[70])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IndexError: list index out of range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0" descr="icons/cu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 Slicing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  -&gt;  l1[0:2]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2926080" y="237744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2926080" y="237744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2926080" y="302652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7"/>
          <p:cNvSpPr/>
          <p:nvPr/>
        </p:nvSpPr>
        <p:spPr>
          <a:xfrm>
            <a:off x="4443840" y="237744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8"/>
          <p:cNvSpPr/>
          <p:nvPr/>
        </p:nvSpPr>
        <p:spPr>
          <a:xfrm>
            <a:off x="4443840" y="237744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9"/>
          <p:cNvSpPr/>
          <p:nvPr/>
        </p:nvSpPr>
        <p:spPr>
          <a:xfrm>
            <a:off x="4443840" y="302652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0"/>
          <p:cNvSpPr/>
          <p:nvPr/>
        </p:nvSpPr>
        <p:spPr>
          <a:xfrm>
            <a:off x="5961960" y="2377440"/>
            <a:ext cx="146232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1"/>
          <p:cNvSpPr/>
          <p:nvPr/>
        </p:nvSpPr>
        <p:spPr>
          <a:xfrm>
            <a:off x="5961960" y="2377440"/>
            <a:ext cx="146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"harry"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2"/>
          <p:cNvSpPr/>
          <p:nvPr/>
        </p:nvSpPr>
        <p:spPr>
          <a:xfrm>
            <a:off x="5961960" y="302652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3"/>
          <p:cNvSpPr/>
          <p:nvPr/>
        </p:nvSpPr>
        <p:spPr>
          <a:xfrm>
            <a:off x="548640" y="3840480"/>
            <a:ext cx="110908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slice l1[start:stop] grabs a whole range of items at once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l1[0:2]  →  [7, 9]      — starts at index 0, stops right before index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highlighted boxes are what gets included — the "stop" index itself is never included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4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0" descr="icons/cu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Advanced Slicing — Negatives &amp; Steps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Slicing accepts negative indices too — count from the end, just like regular negative indexing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third number after a second colon sets a step — "every Nth item"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step of -1 walks backward through the whole list — a quick way to reverse it without changing the original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print(l1[-3:-1])   # [2, 21]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print(l1[:3])      # [1, 8, 7]   (start left out = from the beginning)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print(l1[3:])      # [2, 21, 15] (stop left out = to the end)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print(l1[::2])     # [1, 7, 21]  (every 2nd item)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print(l1[::-1])    # [15, 21, 2, 7, 8, 1]  (reversed!)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6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More Ways to Access List Values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Unpacking works on lists too, not just tuples — one value per variable, in order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Star unpacking lets one variable "soak up" everything left over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index() finds the position of a value, the reverse of normal indexing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a, b, c, d, e, f = l1        # unpack all 6 into 6 variables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print(a, f)                  # 1 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first, *rest = l1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print(first) 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print(rest)    # [8,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print(l1.index(21))   #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0" descr="icons/rule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len() — How Many Items?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len()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tells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exact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ly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how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item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are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a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Very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ul for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king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list's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size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befo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work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ing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print(len(l1))   #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0" descr="icons/sort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LIST METHODS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Before &amp; After — Watch the List Change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Every method below uses the same starting list: l1 = [1, 8, 7, 2, 21, 15]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-1828800" y="521208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.append(8) — Add to the End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3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4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l1 = [1, 8, 7, 2, 21, 15]  -&gt;  l1.append(8)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5"/>
          <p:cNvSpPr/>
          <p:nvPr/>
        </p:nvSpPr>
        <p:spPr>
          <a:xfrm>
            <a:off x="5486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6"/>
          <p:cNvSpPr/>
          <p:nvPr/>
        </p:nvSpPr>
        <p:spPr>
          <a:xfrm>
            <a:off x="5486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7"/>
          <p:cNvSpPr/>
          <p:nvPr/>
        </p:nvSpPr>
        <p:spPr>
          <a:xfrm>
            <a:off x="5486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8"/>
          <p:cNvSpPr/>
          <p:nvPr/>
        </p:nvSpPr>
        <p:spPr>
          <a:xfrm>
            <a:off x="5486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9"/>
          <p:cNvSpPr/>
          <p:nvPr/>
        </p:nvSpPr>
        <p:spPr>
          <a:xfrm>
            <a:off x="1353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0"/>
          <p:cNvSpPr/>
          <p:nvPr/>
        </p:nvSpPr>
        <p:spPr>
          <a:xfrm>
            <a:off x="1353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1"/>
          <p:cNvSpPr/>
          <p:nvPr/>
        </p:nvSpPr>
        <p:spPr>
          <a:xfrm>
            <a:off x="1353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2"/>
          <p:cNvSpPr/>
          <p:nvPr/>
        </p:nvSpPr>
        <p:spPr>
          <a:xfrm>
            <a:off x="2157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3"/>
          <p:cNvSpPr/>
          <p:nvPr/>
        </p:nvSpPr>
        <p:spPr>
          <a:xfrm>
            <a:off x="2157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4"/>
          <p:cNvSpPr/>
          <p:nvPr/>
        </p:nvSpPr>
        <p:spPr>
          <a:xfrm>
            <a:off x="2157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5"/>
          <p:cNvSpPr/>
          <p:nvPr/>
        </p:nvSpPr>
        <p:spPr>
          <a:xfrm>
            <a:off x="29628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6"/>
          <p:cNvSpPr/>
          <p:nvPr/>
        </p:nvSpPr>
        <p:spPr>
          <a:xfrm>
            <a:off x="29628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7"/>
          <p:cNvSpPr/>
          <p:nvPr/>
        </p:nvSpPr>
        <p:spPr>
          <a:xfrm>
            <a:off x="29628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8"/>
          <p:cNvSpPr/>
          <p:nvPr/>
        </p:nvSpPr>
        <p:spPr>
          <a:xfrm>
            <a:off x="3767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9"/>
          <p:cNvSpPr/>
          <p:nvPr/>
        </p:nvSpPr>
        <p:spPr>
          <a:xfrm>
            <a:off x="3767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0"/>
          <p:cNvSpPr/>
          <p:nvPr/>
        </p:nvSpPr>
        <p:spPr>
          <a:xfrm>
            <a:off x="3767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1"/>
          <p:cNvSpPr/>
          <p:nvPr/>
        </p:nvSpPr>
        <p:spPr>
          <a:xfrm>
            <a:off x="4572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2"/>
          <p:cNvSpPr/>
          <p:nvPr/>
        </p:nvSpPr>
        <p:spPr>
          <a:xfrm>
            <a:off x="4572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3"/>
          <p:cNvSpPr/>
          <p:nvPr/>
        </p:nvSpPr>
        <p:spPr>
          <a:xfrm>
            <a:off x="4572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4"/>
          <p:cNvSpPr/>
          <p:nvPr/>
        </p:nvSpPr>
        <p:spPr>
          <a:xfrm>
            <a:off x="5806440" y="246888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5"/>
          <p:cNvSpPr/>
          <p:nvPr/>
        </p:nvSpPr>
        <p:spPr>
          <a:xfrm>
            <a:off x="64922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6"/>
          <p:cNvSpPr/>
          <p:nvPr/>
        </p:nvSpPr>
        <p:spPr>
          <a:xfrm>
            <a:off x="6492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7"/>
          <p:cNvSpPr/>
          <p:nvPr/>
        </p:nvSpPr>
        <p:spPr>
          <a:xfrm>
            <a:off x="6492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8"/>
          <p:cNvSpPr/>
          <p:nvPr/>
        </p:nvSpPr>
        <p:spPr>
          <a:xfrm>
            <a:off x="6492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9"/>
          <p:cNvSpPr/>
          <p:nvPr/>
        </p:nvSpPr>
        <p:spPr>
          <a:xfrm>
            <a:off x="7296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0"/>
          <p:cNvSpPr/>
          <p:nvPr/>
        </p:nvSpPr>
        <p:spPr>
          <a:xfrm>
            <a:off x="7296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31"/>
          <p:cNvSpPr/>
          <p:nvPr/>
        </p:nvSpPr>
        <p:spPr>
          <a:xfrm>
            <a:off x="7296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32"/>
          <p:cNvSpPr/>
          <p:nvPr/>
        </p:nvSpPr>
        <p:spPr>
          <a:xfrm>
            <a:off x="81014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33"/>
          <p:cNvSpPr/>
          <p:nvPr/>
        </p:nvSpPr>
        <p:spPr>
          <a:xfrm>
            <a:off x="81014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4"/>
          <p:cNvSpPr/>
          <p:nvPr/>
        </p:nvSpPr>
        <p:spPr>
          <a:xfrm>
            <a:off x="81014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5"/>
          <p:cNvSpPr/>
          <p:nvPr/>
        </p:nvSpPr>
        <p:spPr>
          <a:xfrm>
            <a:off x="8906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6"/>
          <p:cNvSpPr/>
          <p:nvPr/>
        </p:nvSpPr>
        <p:spPr>
          <a:xfrm>
            <a:off x="8906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7"/>
          <p:cNvSpPr/>
          <p:nvPr/>
        </p:nvSpPr>
        <p:spPr>
          <a:xfrm>
            <a:off x="8906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8"/>
          <p:cNvSpPr/>
          <p:nvPr/>
        </p:nvSpPr>
        <p:spPr>
          <a:xfrm>
            <a:off x="9711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39"/>
          <p:cNvSpPr/>
          <p:nvPr/>
        </p:nvSpPr>
        <p:spPr>
          <a:xfrm>
            <a:off x="9711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40"/>
          <p:cNvSpPr/>
          <p:nvPr/>
        </p:nvSpPr>
        <p:spPr>
          <a:xfrm>
            <a:off x="9711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41"/>
          <p:cNvSpPr/>
          <p:nvPr/>
        </p:nvSpPr>
        <p:spPr>
          <a:xfrm>
            <a:off x="105156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2"/>
          <p:cNvSpPr/>
          <p:nvPr/>
        </p:nvSpPr>
        <p:spPr>
          <a:xfrm>
            <a:off x="105156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43"/>
          <p:cNvSpPr/>
          <p:nvPr/>
        </p:nvSpPr>
        <p:spPr>
          <a:xfrm>
            <a:off x="105156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44"/>
          <p:cNvSpPr/>
          <p:nvPr/>
        </p:nvSpPr>
        <p:spPr>
          <a:xfrm>
            <a:off x="113202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5"/>
          <p:cNvSpPr/>
          <p:nvPr/>
        </p:nvSpPr>
        <p:spPr>
          <a:xfrm>
            <a:off x="113202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6"/>
          <p:cNvSpPr/>
          <p:nvPr/>
        </p:nvSpPr>
        <p:spPr>
          <a:xfrm>
            <a:off x="113202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7"/>
          <p:cNvSpPr/>
          <p:nvPr/>
        </p:nvSpPr>
        <p:spPr>
          <a:xfrm>
            <a:off x="548640" y="3977640"/>
            <a:ext cx="11090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append() always adds the new item at the very end of the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list grows by exactly one item, and nothing else moves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3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Does append() Take an Index?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 — append() always adds to the end, no matter what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only ever accepts the value to add, never a position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you need a specific position, that's exactly what insert() is for, next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2,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l1.append(4)       # fine — adds 4 to the end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l1.append(0, 4)    # TypeError — append() takes no 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2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extend() vs. append() — A Common Mix-Up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append() adds its argument as ONE single item — even if that argument is itself a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extend() adds each item from another list individually, one by one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Mixing these two up is one of the most common real bugs beginners write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2,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l2 = [1, 2,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l1.append([4, 5])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   # [1, 2, 3, [4, 5]]   &lt;- a nested list!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l2.extend([4, 5])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print(l2)   # [1, 2, 3, 4, 5]     &lt;- flat, as expected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-1828800" y="521208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1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.insert(3, 8) — Add at a Specific Spot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3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4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l1.insert(3, 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5"/>
          <p:cNvSpPr/>
          <p:nvPr/>
        </p:nvSpPr>
        <p:spPr>
          <a:xfrm>
            <a:off x="5486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6"/>
          <p:cNvSpPr/>
          <p:nvPr/>
        </p:nvSpPr>
        <p:spPr>
          <a:xfrm>
            <a:off x="5486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7"/>
          <p:cNvSpPr/>
          <p:nvPr/>
        </p:nvSpPr>
        <p:spPr>
          <a:xfrm>
            <a:off x="5486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8"/>
          <p:cNvSpPr/>
          <p:nvPr/>
        </p:nvSpPr>
        <p:spPr>
          <a:xfrm>
            <a:off x="5486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9"/>
          <p:cNvSpPr/>
          <p:nvPr/>
        </p:nvSpPr>
        <p:spPr>
          <a:xfrm>
            <a:off x="1353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0"/>
          <p:cNvSpPr/>
          <p:nvPr/>
        </p:nvSpPr>
        <p:spPr>
          <a:xfrm>
            <a:off x="1353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1"/>
          <p:cNvSpPr/>
          <p:nvPr/>
        </p:nvSpPr>
        <p:spPr>
          <a:xfrm>
            <a:off x="1353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2"/>
          <p:cNvSpPr/>
          <p:nvPr/>
        </p:nvSpPr>
        <p:spPr>
          <a:xfrm>
            <a:off x="2157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3"/>
          <p:cNvSpPr/>
          <p:nvPr/>
        </p:nvSpPr>
        <p:spPr>
          <a:xfrm>
            <a:off x="2157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4"/>
          <p:cNvSpPr/>
          <p:nvPr/>
        </p:nvSpPr>
        <p:spPr>
          <a:xfrm>
            <a:off x="2157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5"/>
          <p:cNvSpPr/>
          <p:nvPr/>
        </p:nvSpPr>
        <p:spPr>
          <a:xfrm>
            <a:off x="29628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6"/>
          <p:cNvSpPr/>
          <p:nvPr/>
        </p:nvSpPr>
        <p:spPr>
          <a:xfrm>
            <a:off x="29628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7"/>
          <p:cNvSpPr/>
          <p:nvPr/>
        </p:nvSpPr>
        <p:spPr>
          <a:xfrm>
            <a:off x="29628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8"/>
          <p:cNvSpPr/>
          <p:nvPr/>
        </p:nvSpPr>
        <p:spPr>
          <a:xfrm>
            <a:off x="3767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9"/>
          <p:cNvSpPr/>
          <p:nvPr/>
        </p:nvSpPr>
        <p:spPr>
          <a:xfrm>
            <a:off x="3767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0"/>
          <p:cNvSpPr/>
          <p:nvPr/>
        </p:nvSpPr>
        <p:spPr>
          <a:xfrm>
            <a:off x="3767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1"/>
          <p:cNvSpPr/>
          <p:nvPr/>
        </p:nvSpPr>
        <p:spPr>
          <a:xfrm>
            <a:off x="4572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22"/>
          <p:cNvSpPr/>
          <p:nvPr/>
        </p:nvSpPr>
        <p:spPr>
          <a:xfrm>
            <a:off x="4572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23"/>
          <p:cNvSpPr/>
          <p:nvPr/>
        </p:nvSpPr>
        <p:spPr>
          <a:xfrm>
            <a:off x="4572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4"/>
          <p:cNvSpPr/>
          <p:nvPr/>
        </p:nvSpPr>
        <p:spPr>
          <a:xfrm>
            <a:off x="5806440" y="246888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5"/>
          <p:cNvSpPr/>
          <p:nvPr/>
        </p:nvSpPr>
        <p:spPr>
          <a:xfrm>
            <a:off x="64922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6"/>
          <p:cNvSpPr/>
          <p:nvPr/>
        </p:nvSpPr>
        <p:spPr>
          <a:xfrm>
            <a:off x="6492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7"/>
          <p:cNvSpPr/>
          <p:nvPr/>
        </p:nvSpPr>
        <p:spPr>
          <a:xfrm>
            <a:off x="6492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8"/>
          <p:cNvSpPr/>
          <p:nvPr/>
        </p:nvSpPr>
        <p:spPr>
          <a:xfrm>
            <a:off x="6492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29"/>
          <p:cNvSpPr/>
          <p:nvPr/>
        </p:nvSpPr>
        <p:spPr>
          <a:xfrm>
            <a:off x="7296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30"/>
          <p:cNvSpPr/>
          <p:nvPr/>
        </p:nvSpPr>
        <p:spPr>
          <a:xfrm>
            <a:off x="7296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1"/>
          <p:cNvSpPr/>
          <p:nvPr/>
        </p:nvSpPr>
        <p:spPr>
          <a:xfrm>
            <a:off x="7296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32"/>
          <p:cNvSpPr/>
          <p:nvPr/>
        </p:nvSpPr>
        <p:spPr>
          <a:xfrm>
            <a:off x="81014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33"/>
          <p:cNvSpPr/>
          <p:nvPr/>
        </p:nvSpPr>
        <p:spPr>
          <a:xfrm>
            <a:off x="81014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34"/>
          <p:cNvSpPr/>
          <p:nvPr/>
        </p:nvSpPr>
        <p:spPr>
          <a:xfrm>
            <a:off x="81014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35"/>
          <p:cNvSpPr/>
          <p:nvPr/>
        </p:nvSpPr>
        <p:spPr>
          <a:xfrm>
            <a:off x="8906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36"/>
          <p:cNvSpPr/>
          <p:nvPr/>
        </p:nvSpPr>
        <p:spPr>
          <a:xfrm>
            <a:off x="8906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7"/>
          <p:cNvSpPr/>
          <p:nvPr/>
        </p:nvSpPr>
        <p:spPr>
          <a:xfrm>
            <a:off x="8906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38"/>
          <p:cNvSpPr/>
          <p:nvPr/>
        </p:nvSpPr>
        <p:spPr>
          <a:xfrm>
            <a:off x="9711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9"/>
          <p:cNvSpPr/>
          <p:nvPr/>
        </p:nvSpPr>
        <p:spPr>
          <a:xfrm>
            <a:off x="9711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40"/>
          <p:cNvSpPr/>
          <p:nvPr/>
        </p:nvSpPr>
        <p:spPr>
          <a:xfrm>
            <a:off x="9711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41"/>
          <p:cNvSpPr/>
          <p:nvPr/>
        </p:nvSpPr>
        <p:spPr>
          <a:xfrm>
            <a:off x="105156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42"/>
          <p:cNvSpPr/>
          <p:nvPr/>
        </p:nvSpPr>
        <p:spPr>
          <a:xfrm>
            <a:off x="105156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43"/>
          <p:cNvSpPr/>
          <p:nvPr/>
        </p:nvSpPr>
        <p:spPr>
          <a:xfrm>
            <a:off x="105156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44"/>
          <p:cNvSpPr/>
          <p:nvPr/>
        </p:nvSpPr>
        <p:spPr>
          <a:xfrm>
            <a:off x="113202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45"/>
          <p:cNvSpPr/>
          <p:nvPr/>
        </p:nvSpPr>
        <p:spPr>
          <a:xfrm>
            <a:off x="113202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46"/>
          <p:cNvSpPr/>
          <p:nvPr/>
        </p:nvSpPr>
        <p:spPr>
          <a:xfrm>
            <a:off x="113202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47"/>
          <p:cNvSpPr/>
          <p:nvPr/>
        </p:nvSpPr>
        <p:spPr>
          <a:xfrm>
            <a:off x="548640" y="3977640"/>
            <a:ext cx="11090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insert(index, value) pushes the new item into that exact position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Everything that was already at or after that index shifts one spot to the right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4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4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2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insert() With a Negative Index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insert() accepts negative indices too — they count from the end, same as everywhere else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-1 means "insert right before the last item", not "insert at the very end"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 truly insert at the end, append() is simpler and clearer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l1.insert(-1, 99)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[1, 8, 7, 2, 21, 99,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99 lands BEFORE the last item, not after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0"/>
          <p:cNvSpPr/>
          <p:nvPr/>
        </p:nvSpPr>
        <p:spPr>
          <a:xfrm>
            <a:off x="-1828800" y="521208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1" name="Image 0" descr="icons/min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.pop(2) — Remove by Position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3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4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l1.pop(2)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5"/>
          <p:cNvSpPr/>
          <p:nvPr/>
        </p:nvSpPr>
        <p:spPr>
          <a:xfrm>
            <a:off x="5486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6"/>
          <p:cNvSpPr/>
          <p:nvPr/>
        </p:nvSpPr>
        <p:spPr>
          <a:xfrm>
            <a:off x="5486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7"/>
          <p:cNvSpPr/>
          <p:nvPr/>
        </p:nvSpPr>
        <p:spPr>
          <a:xfrm>
            <a:off x="5486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8"/>
          <p:cNvSpPr/>
          <p:nvPr/>
        </p:nvSpPr>
        <p:spPr>
          <a:xfrm>
            <a:off x="5486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9"/>
          <p:cNvSpPr/>
          <p:nvPr/>
        </p:nvSpPr>
        <p:spPr>
          <a:xfrm>
            <a:off x="1353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0"/>
          <p:cNvSpPr/>
          <p:nvPr/>
        </p:nvSpPr>
        <p:spPr>
          <a:xfrm>
            <a:off x="1353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1"/>
          <p:cNvSpPr/>
          <p:nvPr/>
        </p:nvSpPr>
        <p:spPr>
          <a:xfrm>
            <a:off x="1353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2"/>
          <p:cNvSpPr/>
          <p:nvPr/>
        </p:nvSpPr>
        <p:spPr>
          <a:xfrm>
            <a:off x="2157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E9C3BE"/>
          </a:solidFill>
          <a:ln w="19050">
            <a:solidFill>
              <a:srgbClr val="A54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3"/>
          <p:cNvSpPr/>
          <p:nvPr/>
        </p:nvSpPr>
        <p:spPr>
          <a:xfrm>
            <a:off x="2157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5473F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4"/>
          <p:cNvSpPr/>
          <p:nvPr/>
        </p:nvSpPr>
        <p:spPr>
          <a:xfrm>
            <a:off x="2157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5"/>
          <p:cNvSpPr/>
          <p:nvPr/>
        </p:nvSpPr>
        <p:spPr>
          <a:xfrm>
            <a:off x="29628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6"/>
          <p:cNvSpPr/>
          <p:nvPr/>
        </p:nvSpPr>
        <p:spPr>
          <a:xfrm>
            <a:off x="29628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7"/>
          <p:cNvSpPr/>
          <p:nvPr/>
        </p:nvSpPr>
        <p:spPr>
          <a:xfrm>
            <a:off x="29628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8"/>
          <p:cNvSpPr/>
          <p:nvPr/>
        </p:nvSpPr>
        <p:spPr>
          <a:xfrm>
            <a:off x="3767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9"/>
          <p:cNvSpPr/>
          <p:nvPr/>
        </p:nvSpPr>
        <p:spPr>
          <a:xfrm>
            <a:off x="3767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0"/>
          <p:cNvSpPr/>
          <p:nvPr/>
        </p:nvSpPr>
        <p:spPr>
          <a:xfrm>
            <a:off x="3767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21"/>
          <p:cNvSpPr/>
          <p:nvPr/>
        </p:nvSpPr>
        <p:spPr>
          <a:xfrm>
            <a:off x="4572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22"/>
          <p:cNvSpPr/>
          <p:nvPr/>
        </p:nvSpPr>
        <p:spPr>
          <a:xfrm>
            <a:off x="4572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23"/>
          <p:cNvSpPr/>
          <p:nvPr/>
        </p:nvSpPr>
        <p:spPr>
          <a:xfrm>
            <a:off x="4572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24"/>
          <p:cNvSpPr/>
          <p:nvPr/>
        </p:nvSpPr>
        <p:spPr>
          <a:xfrm>
            <a:off x="5806440" y="246888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25"/>
          <p:cNvSpPr/>
          <p:nvPr/>
        </p:nvSpPr>
        <p:spPr>
          <a:xfrm>
            <a:off x="64922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26"/>
          <p:cNvSpPr/>
          <p:nvPr/>
        </p:nvSpPr>
        <p:spPr>
          <a:xfrm>
            <a:off x="6492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7"/>
          <p:cNvSpPr/>
          <p:nvPr/>
        </p:nvSpPr>
        <p:spPr>
          <a:xfrm>
            <a:off x="6492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8"/>
          <p:cNvSpPr/>
          <p:nvPr/>
        </p:nvSpPr>
        <p:spPr>
          <a:xfrm>
            <a:off x="6492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29"/>
          <p:cNvSpPr/>
          <p:nvPr/>
        </p:nvSpPr>
        <p:spPr>
          <a:xfrm>
            <a:off x="7296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30"/>
          <p:cNvSpPr/>
          <p:nvPr/>
        </p:nvSpPr>
        <p:spPr>
          <a:xfrm>
            <a:off x="7296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31"/>
          <p:cNvSpPr/>
          <p:nvPr/>
        </p:nvSpPr>
        <p:spPr>
          <a:xfrm>
            <a:off x="7296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2"/>
          <p:cNvSpPr/>
          <p:nvPr/>
        </p:nvSpPr>
        <p:spPr>
          <a:xfrm>
            <a:off x="81014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33"/>
          <p:cNvSpPr/>
          <p:nvPr/>
        </p:nvSpPr>
        <p:spPr>
          <a:xfrm>
            <a:off x="81014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34"/>
          <p:cNvSpPr/>
          <p:nvPr/>
        </p:nvSpPr>
        <p:spPr>
          <a:xfrm>
            <a:off x="81014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35"/>
          <p:cNvSpPr/>
          <p:nvPr/>
        </p:nvSpPr>
        <p:spPr>
          <a:xfrm>
            <a:off x="8906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36"/>
          <p:cNvSpPr/>
          <p:nvPr/>
        </p:nvSpPr>
        <p:spPr>
          <a:xfrm>
            <a:off x="8906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37"/>
          <p:cNvSpPr/>
          <p:nvPr/>
        </p:nvSpPr>
        <p:spPr>
          <a:xfrm>
            <a:off x="8906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38"/>
          <p:cNvSpPr/>
          <p:nvPr/>
        </p:nvSpPr>
        <p:spPr>
          <a:xfrm>
            <a:off x="9711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39"/>
          <p:cNvSpPr/>
          <p:nvPr/>
        </p:nvSpPr>
        <p:spPr>
          <a:xfrm>
            <a:off x="9711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40"/>
          <p:cNvSpPr/>
          <p:nvPr/>
        </p:nvSpPr>
        <p:spPr>
          <a:xfrm>
            <a:off x="9711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41"/>
          <p:cNvSpPr/>
          <p:nvPr/>
        </p:nvSpPr>
        <p:spPr>
          <a:xfrm>
            <a:off x="548640" y="3520440"/>
            <a:ext cx="1109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l1.pop(2) removes the item at index 2, shifts everything after it left, and RETURNS the removed value → 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42"/>
          <p:cNvSpPr/>
          <p:nvPr/>
        </p:nvSpPr>
        <p:spPr>
          <a:xfrm>
            <a:off x="548640" y="3977640"/>
            <a:ext cx="11090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pop() is the only removal method that gives the value back to you — you can store it in a variable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Without an index, pop() removes the last item by default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43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44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7" name="Image 0" descr="icons/min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pop() — Three Ways to Call 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pop() with no argument removes the LAST item — the most common way it's used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pop(0) removes the FIRST item — everything after it shifts left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pop(-1) is the same as calling pop() with nothing — explicit, but identical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l1.pop()      # removes 15 (the last item)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l1.pop(0)     # removes 1 (the first item)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l1.pop(-1)    # same as pop() with nothing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-1828800" y="521208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6" name="Image 0" descr="icons/min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.remove(21) — Remove by Value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3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4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l1.remove(21)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5"/>
          <p:cNvSpPr/>
          <p:nvPr/>
        </p:nvSpPr>
        <p:spPr>
          <a:xfrm>
            <a:off x="5486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6"/>
          <p:cNvSpPr/>
          <p:nvPr/>
        </p:nvSpPr>
        <p:spPr>
          <a:xfrm>
            <a:off x="5486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7"/>
          <p:cNvSpPr/>
          <p:nvPr/>
        </p:nvSpPr>
        <p:spPr>
          <a:xfrm>
            <a:off x="5486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8"/>
          <p:cNvSpPr/>
          <p:nvPr/>
        </p:nvSpPr>
        <p:spPr>
          <a:xfrm>
            <a:off x="5486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9"/>
          <p:cNvSpPr/>
          <p:nvPr/>
        </p:nvSpPr>
        <p:spPr>
          <a:xfrm>
            <a:off x="1353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10"/>
          <p:cNvSpPr/>
          <p:nvPr/>
        </p:nvSpPr>
        <p:spPr>
          <a:xfrm>
            <a:off x="1353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1"/>
          <p:cNvSpPr/>
          <p:nvPr/>
        </p:nvSpPr>
        <p:spPr>
          <a:xfrm>
            <a:off x="1353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2"/>
          <p:cNvSpPr/>
          <p:nvPr/>
        </p:nvSpPr>
        <p:spPr>
          <a:xfrm>
            <a:off x="2157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3"/>
          <p:cNvSpPr/>
          <p:nvPr/>
        </p:nvSpPr>
        <p:spPr>
          <a:xfrm>
            <a:off x="2157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4"/>
          <p:cNvSpPr/>
          <p:nvPr/>
        </p:nvSpPr>
        <p:spPr>
          <a:xfrm>
            <a:off x="2157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5"/>
          <p:cNvSpPr/>
          <p:nvPr/>
        </p:nvSpPr>
        <p:spPr>
          <a:xfrm>
            <a:off x="29628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6"/>
          <p:cNvSpPr/>
          <p:nvPr/>
        </p:nvSpPr>
        <p:spPr>
          <a:xfrm>
            <a:off x="29628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7"/>
          <p:cNvSpPr/>
          <p:nvPr/>
        </p:nvSpPr>
        <p:spPr>
          <a:xfrm>
            <a:off x="29628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18"/>
          <p:cNvSpPr/>
          <p:nvPr/>
        </p:nvSpPr>
        <p:spPr>
          <a:xfrm>
            <a:off x="3767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E9C3BE"/>
          </a:solidFill>
          <a:ln w="19050">
            <a:solidFill>
              <a:srgbClr val="A54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9"/>
          <p:cNvSpPr/>
          <p:nvPr/>
        </p:nvSpPr>
        <p:spPr>
          <a:xfrm>
            <a:off x="3767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5473F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0"/>
          <p:cNvSpPr/>
          <p:nvPr/>
        </p:nvSpPr>
        <p:spPr>
          <a:xfrm>
            <a:off x="3767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21"/>
          <p:cNvSpPr/>
          <p:nvPr/>
        </p:nvSpPr>
        <p:spPr>
          <a:xfrm>
            <a:off x="4572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22"/>
          <p:cNvSpPr/>
          <p:nvPr/>
        </p:nvSpPr>
        <p:spPr>
          <a:xfrm>
            <a:off x="4572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3"/>
          <p:cNvSpPr/>
          <p:nvPr/>
        </p:nvSpPr>
        <p:spPr>
          <a:xfrm>
            <a:off x="4572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4"/>
          <p:cNvSpPr/>
          <p:nvPr/>
        </p:nvSpPr>
        <p:spPr>
          <a:xfrm>
            <a:off x="5806440" y="246888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5"/>
          <p:cNvSpPr/>
          <p:nvPr/>
        </p:nvSpPr>
        <p:spPr>
          <a:xfrm>
            <a:off x="64922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26"/>
          <p:cNvSpPr/>
          <p:nvPr/>
        </p:nvSpPr>
        <p:spPr>
          <a:xfrm>
            <a:off x="6492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7"/>
          <p:cNvSpPr/>
          <p:nvPr/>
        </p:nvSpPr>
        <p:spPr>
          <a:xfrm>
            <a:off x="6492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28"/>
          <p:cNvSpPr/>
          <p:nvPr/>
        </p:nvSpPr>
        <p:spPr>
          <a:xfrm>
            <a:off x="6492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29"/>
          <p:cNvSpPr/>
          <p:nvPr/>
        </p:nvSpPr>
        <p:spPr>
          <a:xfrm>
            <a:off x="7296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30"/>
          <p:cNvSpPr/>
          <p:nvPr/>
        </p:nvSpPr>
        <p:spPr>
          <a:xfrm>
            <a:off x="7296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31"/>
          <p:cNvSpPr/>
          <p:nvPr/>
        </p:nvSpPr>
        <p:spPr>
          <a:xfrm>
            <a:off x="7296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32"/>
          <p:cNvSpPr/>
          <p:nvPr/>
        </p:nvSpPr>
        <p:spPr>
          <a:xfrm>
            <a:off x="81014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33"/>
          <p:cNvSpPr/>
          <p:nvPr/>
        </p:nvSpPr>
        <p:spPr>
          <a:xfrm>
            <a:off x="81014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34"/>
          <p:cNvSpPr/>
          <p:nvPr/>
        </p:nvSpPr>
        <p:spPr>
          <a:xfrm>
            <a:off x="81014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35"/>
          <p:cNvSpPr/>
          <p:nvPr/>
        </p:nvSpPr>
        <p:spPr>
          <a:xfrm>
            <a:off x="8906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36"/>
          <p:cNvSpPr/>
          <p:nvPr/>
        </p:nvSpPr>
        <p:spPr>
          <a:xfrm>
            <a:off x="8906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37"/>
          <p:cNvSpPr/>
          <p:nvPr/>
        </p:nvSpPr>
        <p:spPr>
          <a:xfrm>
            <a:off x="8906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38"/>
          <p:cNvSpPr/>
          <p:nvPr/>
        </p:nvSpPr>
        <p:spPr>
          <a:xfrm>
            <a:off x="9711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39"/>
          <p:cNvSpPr/>
          <p:nvPr/>
        </p:nvSpPr>
        <p:spPr>
          <a:xfrm>
            <a:off x="9711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40"/>
          <p:cNvSpPr/>
          <p:nvPr/>
        </p:nvSpPr>
        <p:spPr>
          <a:xfrm>
            <a:off x="9711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41"/>
          <p:cNvSpPr/>
          <p:nvPr/>
        </p:nvSpPr>
        <p:spPr>
          <a:xfrm>
            <a:off x="548640" y="3977640"/>
            <a:ext cx="11090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remove() searches for the first item that matches the value you gave it, and deletes that one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the value appears more than once, only the first match is removed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the value is not found at all, Python raises a ValueError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42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43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0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More List Methods: index() and count()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2"/>
          <p:cNvSpPr/>
          <p:nvPr/>
        </p:nvSpPr>
        <p:spPr>
          <a:xfrm>
            <a:off x="457200" y="1508760"/>
            <a:ext cx="5522400" cy="489132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3"/>
          <p:cNvSpPr/>
          <p:nvPr/>
        </p:nvSpPr>
        <p:spPr>
          <a:xfrm>
            <a:off x="294444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4" name="Image 1" descr="icons/search.png"/>
          <p:cNvPicPr/>
          <p:nvPr/>
        </p:nvPicPr>
        <p:blipFill>
          <a:blip r:embed="rId2"/>
          <a:stretch/>
        </p:blipFill>
        <p:spPr>
          <a:xfrm>
            <a:off x="302652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Text 4"/>
          <p:cNvSpPr/>
          <p:nvPr/>
        </p:nvSpPr>
        <p:spPr>
          <a:xfrm>
            <a:off x="548640" y="271764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l1.index(21)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5"/>
          <p:cNvSpPr/>
          <p:nvPr/>
        </p:nvSpPr>
        <p:spPr>
          <a:xfrm>
            <a:off x="603360" y="3101760"/>
            <a:ext cx="522972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Returns the position of the first 21 in the list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6"/>
          <p:cNvSpPr/>
          <p:nvPr/>
        </p:nvSpPr>
        <p:spPr>
          <a:xfrm>
            <a:off x="6208920" y="1508760"/>
            <a:ext cx="5522400" cy="489132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7"/>
          <p:cNvSpPr/>
          <p:nvPr/>
        </p:nvSpPr>
        <p:spPr>
          <a:xfrm>
            <a:off x="869580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9" name="Image 2" descr="icons/hashtag.png"/>
          <p:cNvPicPr/>
          <p:nvPr/>
        </p:nvPicPr>
        <p:blipFill>
          <a:blip r:embed="rId3"/>
          <a:stretch/>
        </p:blipFill>
        <p:spPr>
          <a:xfrm>
            <a:off x="877824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Text 8"/>
          <p:cNvSpPr/>
          <p:nvPr/>
        </p:nvSpPr>
        <p:spPr>
          <a:xfrm>
            <a:off x="6300360" y="271764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l1.count(8)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9"/>
          <p:cNvSpPr/>
          <p:nvPr/>
        </p:nvSpPr>
        <p:spPr>
          <a:xfrm>
            <a:off x="6355080" y="3101760"/>
            <a:ext cx="522972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Returns how many times 8 appears in the list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-1828800" y="521208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6" name="Image 0" descr="icons/so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.sort() — Reorder Smallest to Largest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3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4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l1.sort()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5"/>
          <p:cNvSpPr/>
          <p:nvPr/>
        </p:nvSpPr>
        <p:spPr>
          <a:xfrm>
            <a:off x="5486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6"/>
          <p:cNvSpPr/>
          <p:nvPr/>
        </p:nvSpPr>
        <p:spPr>
          <a:xfrm>
            <a:off x="5486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7"/>
          <p:cNvSpPr/>
          <p:nvPr/>
        </p:nvSpPr>
        <p:spPr>
          <a:xfrm>
            <a:off x="5486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8"/>
          <p:cNvSpPr/>
          <p:nvPr/>
        </p:nvSpPr>
        <p:spPr>
          <a:xfrm>
            <a:off x="5486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9"/>
          <p:cNvSpPr/>
          <p:nvPr/>
        </p:nvSpPr>
        <p:spPr>
          <a:xfrm>
            <a:off x="1353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0"/>
          <p:cNvSpPr/>
          <p:nvPr/>
        </p:nvSpPr>
        <p:spPr>
          <a:xfrm>
            <a:off x="1353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1"/>
          <p:cNvSpPr/>
          <p:nvPr/>
        </p:nvSpPr>
        <p:spPr>
          <a:xfrm>
            <a:off x="1353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12"/>
          <p:cNvSpPr/>
          <p:nvPr/>
        </p:nvSpPr>
        <p:spPr>
          <a:xfrm>
            <a:off x="2157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13"/>
          <p:cNvSpPr/>
          <p:nvPr/>
        </p:nvSpPr>
        <p:spPr>
          <a:xfrm>
            <a:off x="2157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14"/>
          <p:cNvSpPr/>
          <p:nvPr/>
        </p:nvSpPr>
        <p:spPr>
          <a:xfrm>
            <a:off x="2157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15"/>
          <p:cNvSpPr/>
          <p:nvPr/>
        </p:nvSpPr>
        <p:spPr>
          <a:xfrm>
            <a:off x="29628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6"/>
          <p:cNvSpPr/>
          <p:nvPr/>
        </p:nvSpPr>
        <p:spPr>
          <a:xfrm>
            <a:off x="29628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17"/>
          <p:cNvSpPr/>
          <p:nvPr/>
        </p:nvSpPr>
        <p:spPr>
          <a:xfrm>
            <a:off x="29628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8"/>
          <p:cNvSpPr/>
          <p:nvPr/>
        </p:nvSpPr>
        <p:spPr>
          <a:xfrm>
            <a:off x="3767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19"/>
          <p:cNvSpPr/>
          <p:nvPr/>
        </p:nvSpPr>
        <p:spPr>
          <a:xfrm>
            <a:off x="3767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0"/>
          <p:cNvSpPr/>
          <p:nvPr/>
        </p:nvSpPr>
        <p:spPr>
          <a:xfrm>
            <a:off x="3767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21"/>
          <p:cNvSpPr/>
          <p:nvPr/>
        </p:nvSpPr>
        <p:spPr>
          <a:xfrm>
            <a:off x="4572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22"/>
          <p:cNvSpPr/>
          <p:nvPr/>
        </p:nvSpPr>
        <p:spPr>
          <a:xfrm>
            <a:off x="4572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3"/>
          <p:cNvSpPr/>
          <p:nvPr/>
        </p:nvSpPr>
        <p:spPr>
          <a:xfrm>
            <a:off x="4572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24"/>
          <p:cNvSpPr/>
          <p:nvPr/>
        </p:nvSpPr>
        <p:spPr>
          <a:xfrm>
            <a:off x="5806440" y="246888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5"/>
          <p:cNvSpPr/>
          <p:nvPr/>
        </p:nvSpPr>
        <p:spPr>
          <a:xfrm>
            <a:off x="64922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26"/>
          <p:cNvSpPr/>
          <p:nvPr/>
        </p:nvSpPr>
        <p:spPr>
          <a:xfrm>
            <a:off x="6492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27"/>
          <p:cNvSpPr/>
          <p:nvPr/>
        </p:nvSpPr>
        <p:spPr>
          <a:xfrm>
            <a:off x="6492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28"/>
          <p:cNvSpPr/>
          <p:nvPr/>
        </p:nvSpPr>
        <p:spPr>
          <a:xfrm>
            <a:off x="6492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29"/>
          <p:cNvSpPr/>
          <p:nvPr/>
        </p:nvSpPr>
        <p:spPr>
          <a:xfrm>
            <a:off x="7296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30"/>
          <p:cNvSpPr/>
          <p:nvPr/>
        </p:nvSpPr>
        <p:spPr>
          <a:xfrm>
            <a:off x="7296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31"/>
          <p:cNvSpPr/>
          <p:nvPr/>
        </p:nvSpPr>
        <p:spPr>
          <a:xfrm>
            <a:off x="7296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32"/>
          <p:cNvSpPr/>
          <p:nvPr/>
        </p:nvSpPr>
        <p:spPr>
          <a:xfrm>
            <a:off x="81014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33"/>
          <p:cNvSpPr/>
          <p:nvPr/>
        </p:nvSpPr>
        <p:spPr>
          <a:xfrm>
            <a:off x="81014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34"/>
          <p:cNvSpPr/>
          <p:nvPr/>
        </p:nvSpPr>
        <p:spPr>
          <a:xfrm>
            <a:off x="81014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35"/>
          <p:cNvSpPr/>
          <p:nvPr/>
        </p:nvSpPr>
        <p:spPr>
          <a:xfrm>
            <a:off x="8906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36"/>
          <p:cNvSpPr/>
          <p:nvPr/>
        </p:nvSpPr>
        <p:spPr>
          <a:xfrm>
            <a:off x="8906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37"/>
          <p:cNvSpPr/>
          <p:nvPr/>
        </p:nvSpPr>
        <p:spPr>
          <a:xfrm>
            <a:off x="8906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38"/>
          <p:cNvSpPr/>
          <p:nvPr/>
        </p:nvSpPr>
        <p:spPr>
          <a:xfrm>
            <a:off x="9711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39"/>
          <p:cNvSpPr/>
          <p:nvPr/>
        </p:nvSpPr>
        <p:spPr>
          <a:xfrm>
            <a:off x="9711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40"/>
          <p:cNvSpPr/>
          <p:nvPr/>
        </p:nvSpPr>
        <p:spPr>
          <a:xfrm>
            <a:off x="9711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41"/>
          <p:cNvSpPr/>
          <p:nvPr/>
        </p:nvSpPr>
        <p:spPr>
          <a:xfrm>
            <a:off x="105156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42"/>
          <p:cNvSpPr/>
          <p:nvPr/>
        </p:nvSpPr>
        <p:spPr>
          <a:xfrm>
            <a:off x="105156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43"/>
          <p:cNvSpPr/>
          <p:nvPr/>
        </p:nvSpPr>
        <p:spPr>
          <a:xfrm>
            <a:off x="105156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44"/>
          <p:cNvSpPr/>
          <p:nvPr/>
        </p:nvSpPr>
        <p:spPr>
          <a:xfrm>
            <a:off x="548640" y="3977640"/>
            <a:ext cx="11090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sort() rearranges the list in place — the original order is gone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By default it sorts smallest to largest — pass reverse=True for largest to smallest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45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4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3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sorted() vs. .sort() — Not the Same Thing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7" name="Image 1" descr="icons/exchange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8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.sort()  — a method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Changes the original list directly, permanently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Returns None — do NOT write l1 = l1.sort()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Only works on lists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2" name="Image 2" descr="icons/copy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sorted()  — a function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Leaves the original list untouched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Returns a brand new, sorted list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Works on lists, tuples, and more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9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sorted() in Action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sorted() whenever you want a sorted view, but need to keep the original order intact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safer default when you are not sure yet whether you'll need the original order later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result = sorted(l1)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print(result)   # [1, 2, 7, 8, 15, 21]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       # [1, 8, 7, 2, 21, 15]  &lt;- unchanged!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Shape 0"/>
          <p:cNvSpPr/>
          <p:nvPr/>
        </p:nvSpPr>
        <p:spPr>
          <a:xfrm>
            <a:off x="-1828800" y="521208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8" name="Image 0" descr="icons/so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.reverse() — Flip the Order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3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4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l1.reverse()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5"/>
          <p:cNvSpPr/>
          <p:nvPr/>
        </p:nvSpPr>
        <p:spPr>
          <a:xfrm>
            <a:off x="5486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6"/>
          <p:cNvSpPr/>
          <p:nvPr/>
        </p:nvSpPr>
        <p:spPr>
          <a:xfrm>
            <a:off x="5486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7"/>
          <p:cNvSpPr/>
          <p:nvPr/>
        </p:nvSpPr>
        <p:spPr>
          <a:xfrm>
            <a:off x="5486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8"/>
          <p:cNvSpPr/>
          <p:nvPr/>
        </p:nvSpPr>
        <p:spPr>
          <a:xfrm>
            <a:off x="5486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9"/>
          <p:cNvSpPr/>
          <p:nvPr/>
        </p:nvSpPr>
        <p:spPr>
          <a:xfrm>
            <a:off x="1353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10"/>
          <p:cNvSpPr/>
          <p:nvPr/>
        </p:nvSpPr>
        <p:spPr>
          <a:xfrm>
            <a:off x="1353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11"/>
          <p:cNvSpPr/>
          <p:nvPr/>
        </p:nvSpPr>
        <p:spPr>
          <a:xfrm>
            <a:off x="1353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12"/>
          <p:cNvSpPr/>
          <p:nvPr/>
        </p:nvSpPr>
        <p:spPr>
          <a:xfrm>
            <a:off x="2157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3"/>
          <p:cNvSpPr/>
          <p:nvPr/>
        </p:nvSpPr>
        <p:spPr>
          <a:xfrm>
            <a:off x="2157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4"/>
          <p:cNvSpPr/>
          <p:nvPr/>
        </p:nvSpPr>
        <p:spPr>
          <a:xfrm>
            <a:off x="2157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5"/>
          <p:cNvSpPr/>
          <p:nvPr/>
        </p:nvSpPr>
        <p:spPr>
          <a:xfrm>
            <a:off x="29628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6"/>
          <p:cNvSpPr/>
          <p:nvPr/>
        </p:nvSpPr>
        <p:spPr>
          <a:xfrm>
            <a:off x="29628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17"/>
          <p:cNvSpPr/>
          <p:nvPr/>
        </p:nvSpPr>
        <p:spPr>
          <a:xfrm>
            <a:off x="29628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8"/>
          <p:cNvSpPr/>
          <p:nvPr/>
        </p:nvSpPr>
        <p:spPr>
          <a:xfrm>
            <a:off x="3767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19"/>
          <p:cNvSpPr/>
          <p:nvPr/>
        </p:nvSpPr>
        <p:spPr>
          <a:xfrm>
            <a:off x="3767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0"/>
          <p:cNvSpPr/>
          <p:nvPr/>
        </p:nvSpPr>
        <p:spPr>
          <a:xfrm>
            <a:off x="3767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21"/>
          <p:cNvSpPr/>
          <p:nvPr/>
        </p:nvSpPr>
        <p:spPr>
          <a:xfrm>
            <a:off x="4572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22"/>
          <p:cNvSpPr/>
          <p:nvPr/>
        </p:nvSpPr>
        <p:spPr>
          <a:xfrm>
            <a:off x="4572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23"/>
          <p:cNvSpPr/>
          <p:nvPr/>
        </p:nvSpPr>
        <p:spPr>
          <a:xfrm>
            <a:off x="4572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24"/>
          <p:cNvSpPr/>
          <p:nvPr/>
        </p:nvSpPr>
        <p:spPr>
          <a:xfrm>
            <a:off x="5806440" y="246888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25"/>
          <p:cNvSpPr/>
          <p:nvPr/>
        </p:nvSpPr>
        <p:spPr>
          <a:xfrm>
            <a:off x="6492240" y="21488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26"/>
          <p:cNvSpPr/>
          <p:nvPr/>
        </p:nvSpPr>
        <p:spPr>
          <a:xfrm>
            <a:off x="64922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27"/>
          <p:cNvSpPr/>
          <p:nvPr/>
        </p:nvSpPr>
        <p:spPr>
          <a:xfrm>
            <a:off x="64922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28"/>
          <p:cNvSpPr/>
          <p:nvPr/>
        </p:nvSpPr>
        <p:spPr>
          <a:xfrm>
            <a:off x="64922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29"/>
          <p:cNvSpPr/>
          <p:nvPr/>
        </p:nvSpPr>
        <p:spPr>
          <a:xfrm>
            <a:off x="72968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30"/>
          <p:cNvSpPr/>
          <p:nvPr/>
        </p:nvSpPr>
        <p:spPr>
          <a:xfrm>
            <a:off x="72968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31"/>
          <p:cNvSpPr/>
          <p:nvPr/>
        </p:nvSpPr>
        <p:spPr>
          <a:xfrm>
            <a:off x="72968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32"/>
          <p:cNvSpPr/>
          <p:nvPr/>
        </p:nvSpPr>
        <p:spPr>
          <a:xfrm>
            <a:off x="810144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33"/>
          <p:cNvSpPr/>
          <p:nvPr/>
        </p:nvSpPr>
        <p:spPr>
          <a:xfrm>
            <a:off x="810144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34"/>
          <p:cNvSpPr/>
          <p:nvPr/>
        </p:nvSpPr>
        <p:spPr>
          <a:xfrm>
            <a:off x="810144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35"/>
          <p:cNvSpPr/>
          <p:nvPr/>
        </p:nvSpPr>
        <p:spPr>
          <a:xfrm>
            <a:off x="89064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36"/>
          <p:cNvSpPr/>
          <p:nvPr/>
        </p:nvSpPr>
        <p:spPr>
          <a:xfrm>
            <a:off x="89064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37"/>
          <p:cNvSpPr/>
          <p:nvPr/>
        </p:nvSpPr>
        <p:spPr>
          <a:xfrm>
            <a:off x="89064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38"/>
          <p:cNvSpPr/>
          <p:nvPr/>
        </p:nvSpPr>
        <p:spPr>
          <a:xfrm>
            <a:off x="97110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39"/>
          <p:cNvSpPr/>
          <p:nvPr/>
        </p:nvSpPr>
        <p:spPr>
          <a:xfrm>
            <a:off x="97110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40"/>
          <p:cNvSpPr/>
          <p:nvPr/>
        </p:nvSpPr>
        <p:spPr>
          <a:xfrm>
            <a:off x="97110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41"/>
          <p:cNvSpPr/>
          <p:nvPr/>
        </p:nvSpPr>
        <p:spPr>
          <a:xfrm>
            <a:off x="10515600" y="2514600"/>
            <a:ext cx="74916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42"/>
          <p:cNvSpPr/>
          <p:nvPr/>
        </p:nvSpPr>
        <p:spPr>
          <a:xfrm>
            <a:off x="10515600" y="2514600"/>
            <a:ext cx="7491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43"/>
          <p:cNvSpPr/>
          <p:nvPr/>
        </p:nvSpPr>
        <p:spPr>
          <a:xfrm>
            <a:off x="10515600" y="3163680"/>
            <a:ext cx="74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44"/>
          <p:cNvSpPr/>
          <p:nvPr/>
        </p:nvSpPr>
        <p:spPr>
          <a:xfrm>
            <a:off x="548640" y="3977640"/>
            <a:ext cx="11090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reverse() simply flips the current order — it does NOT sort the values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that is already sorted, once reversed, becomes largest to smallest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45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4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6" name="Image 0" descr="icons/min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del and .clear() — Two More Ways to Remove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del removes an item by index — like pop(), but does not return the value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del can also delete the entire list at once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clear() empties the whole list, but keeps the (now empty) list itself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del l1[0]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   # [8,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l1.clear()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   # []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5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Combining Lists: + and *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+ joins two lists together into a brand new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* repeats a list a given number of times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[1, 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[3,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+ b)   # [1, 2, 3,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* 3)   # [1, 2, 1, 2, 1, 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4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Mutable Multiplication Trap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[[]] * 3 looks like it makes 3 separate empty lists — it does not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actually makes 3 references to the SAME inner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Changing one "copy" silently changes all of them — a classic real-world and interview bug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grid = [[]] *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grid[0].append(1)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print(grid)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print(id(grid[0]))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print(id(grid[1]))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print(id(grid[2]))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[[1], [1], [1]]   &lt;- all three changed!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the safe way: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grid = [[] for _ in range(3)]   # (loops covered next session)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3" name="Image 0" descr="icons/copy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Copying Gotcha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3"/>
          <p:cNvSpPr/>
          <p:nvPr/>
        </p:nvSpPr>
        <p:spPr>
          <a:xfrm>
            <a:off x="548640" y="1417320"/>
            <a:ext cx="11090880" cy="50220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4"/>
          <p:cNvSpPr/>
          <p:nvPr/>
        </p:nvSpPr>
        <p:spPr>
          <a:xfrm>
            <a:off x="731520" y="1417320"/>
            <a:ext cx="1072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l2 = l1   (this does NOT make a copy!)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5"/>
          <p:cNvSpPr/>
          <p:nvPr/>
        </p:nvSpPr>
        <p:spPr>
          <a:xfrm>
            <a:off x="1188720" y="228600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ntarell"/>
                <a:ea typeface="Consolas"/>
              </a:rPr>
              <a:t>l1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6"/>
          <p:cNvSpPr/>
          <p:nvPr/>
        </p:nvSpPr>
        <p:spPr>
          <a:xfrm>
            <a:off x="1188720" y="274320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ntarell"/>
                <a:ea typeface="Consolas"/>
              </a:rPr>
              <a:t>l2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7"/>
          <p:cNvSpPr/>
          <p:nvPr/>
        </p:nvSpPr>
        <p:spPr>
          <a:xfrm>
            <a:off x="2194560" y="242316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8"/>
          <p:cNvSpPr/>
          <p:nvPr/>
        </p:nvSpPr>
        <p:spPr>
          <a:xfrm>
            <a:off x="2194560" y="242316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9"/>
          <p:cNvSpPr/>
          <p:nvPr/>
        </p:nvSpPr>
        <p:spPr>
          <a:xfrm>
            <a:off x="2935080" y="242316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0"/>
          <p:cNvSpPr/>
          <p:nvPr/>
        </p:nvSpPr>
        <p:spPr>
          <a:xfrm>
            <a:off x="2935080" y="242316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11"/>
          <p:cNvSpPr/>
          <p:nvPr/>
        </p:nvSpPr>
        <p:spPr>
          <a:xfrm>
            <a:off x="3675960" y="242316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12"/>
          <p:cNvSpPr/>
          <p:nvPr/>
        </p:nvSpPr>
        <p:spPr>
          <a:xfrm>
            <a:off x="3675960" y="242316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13"/>
          <p:cNvSpPr/>
          <p:nvPr/>
        </p:nvSpPr>
        <p:spPr>
          <a:xfrm>
            <a:off x="4846320" y="2331720"/>
            <a:ext cx="3656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Both names point to the exact same boxes.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Change l2, and l1 changes too.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14"/>
          <p:cNvSpPr/>
          <p:nvPr/>
        </p:nvSpPr>
        <p:spPr>
          <a:xfrm>
            <a:off x="1188720" y="420624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ntarell"/>
                <a:ea typeface="Consolas"/>
              </a:rPr>
              <a:t>l1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15"/>
          <p:cNvSpPr/>
          <p:nvPr/>
        </p:nvSpPr>
        <p:spPr>
          <a:xfrm>
            <a:off x="2194560" y="434340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16"/>
          <p:cNvSpPr/>
          <p:nvPr/>
        </p:nvSpPr>
        <p:spPr>
          <a:xfrm>
            <a:off x="2194560" y="434340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17"/>
          <p:cNvSpPr/>
          <p:nvPr/>
        </p:nvSpPr>
        <p:spPr>
          <a:xfrm>
            <a:off x="2935080" y="434340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18"/>
          <p:cNvSpPr/>
          <p:nvPr/>
        </p:nvSpPr>
        <p:spPr>
          <a:xfrm>
            <a:off x="2935080" y="434340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19"/>
          <p:cNvSpPr/>
          <p:nvPr/>
        </p:nvSpPr>
        <p:spPr>
          <a:xfrm>
            <a:off x="3675960" y="434340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20"/>
          <p:cNvSpPr/>
          <p:nvPr/>
        </p:nvSpPr>
        <p:spPr>
          <a:xfrm>
            <a:off x="3675960" y="434340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21"/>
          <p:cNvSpPr/>
          <p:nvPr/>
        </p:nvSpPr>
        <p:spPr>
          <a:xfrm>
            <a:off x="7589520" y="420624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98A2B"/>
                </a:solidFill>
                <a:effectLst/>
                <a:uFillTx/>
                <a:latin typeface="Cantarell"/>
                <a:ea typeface="Consolas"/>
              </a:rPr>
              <a:t>l3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22"/>
          <p:cNvSpPr/>
          <p:nvPr/>
        </p:nvSpPr>
        <p:spPr>
          <a:xfrm>
            <a:off x="8595360" y="434340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23"/>
          <p:cNvSpPr/>
          <p:nvPr/>
        </p:nvSpPr>
        <p:spPr>
          <a:xfrm>
            <a:off x="8595360" y="434340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24"/>
          <p:cNvSpPr/>
          <p:nvPr/>
        </p:nvSpPr>
        <p:spPr>
          <a:xfrm>
            <a:off x="9335880" y="434340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25"/>
          <p:cNvSpPr/>
          <p:nvPr/>
        </p:nvSpPr>
        <p:spPr>
          <a:xfrm>
            <a:off x="9335880" y="434340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26"/>
          <p:cNvSpPr/>
          <p:nvPr/>
        </p:nvSpPr>
        <p:spPr>
          <a:xfrm>
            <a:off x="10076760" y="4343400"/>
            <a:ext cx="685080" cy="62100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27"/>
          <p:cNvSpPr/>
          <p:nvPr/>
        </p:nvSpPr>
        <p:spPr>
          <a:xfrm>
            <a:off x="10076760" y="4343400"/>
            <a:ext cx="685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28"/>
          <p:cNvSpPr/>
          <p:nvPr/>
        </p:nvSpPr>
        <p:spPr>
          <a:xfrm>
            <a:off x="2194560" y="50749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l3 = l1.copy()  -&gt;  two completely separate lists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2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3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5" name="Image 0" descr="icons/copy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Shallow Copy Gotcha — Nested Lists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.copy() only copies ONE level deep — this is called a shallow copy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your list contains other lists inside it, those inner lists are still shared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Changing a nested item through the "copy" still changes the original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original = [1, 2, [3, 4]]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shallow = original.copy()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shallow[2].append(5)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print(original)   # [1, 2, [3, 4, 5]]  &lt;- changed too!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real fix: import copy; copy.deepcopy(original)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4" name="Image 0" descr="icons/copy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Shallow Copy vs. Deep Copy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shallow copy — .copy(), list(x), or [:] — copies the outer list only. Nested lists inside are still shared with the original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deep copy copies everything, all the way down. The result is completely independent, with nothing shared at all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Python's built-in copy module provides deepcopy() for exactly this situation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copy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original = [1, 2, [3, 4]]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shallow = original.copy()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deep = copy.deepcopy(original)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shallow[2].append(5)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print(original)   # [1, 2, [3, 4, 5]]  &lt;- changed! (shared)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deep[2].append(9)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print(original)   # [1, 2, [3, 4, 5]]  &lt;- unchanged (independent)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3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min(), max(), and sum()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three built-in functions work directly on a list of numbers — no method needed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min() and max() find the smallest and largest values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sum() adds every value in the list together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print(min(l1)) 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print(max(l1))   # 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print(sum(l1))   # 54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2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Using a List as a Stack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6" name="Image 1" descr="icons/layergrou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7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Last In,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First Out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(LIFO)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append() + pop() together turn a plain list into a stack — a real, widely-used data structure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last item you added is always the first one you remove — LIFO (Last in first out) like a stack of plates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Real examples: a browser's "back" button, and "undo" history in any 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append() adds to the top; pop() (no argument) removes from the top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3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Stack in Action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exact same append()/pop() you already know — just used with intention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single pattern shows up constantly in real interview questions and real applications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history = []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history.append("Page 1")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history.append("Page 2")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history.append("Page 3")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print(history.pop())   # "Page 3"  &lt;- the most recent page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print(history)         # ["Page 1", "Page 2"]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1" name="Image 0" descr="icons/bol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Why Front vs. Back Matters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2"/>
          <p:cNvSpPr/>
          <p:nvPr/>
        </p:nvSpPr>
        <p:spPr>
          <a:xfrm>
            <a:off x="457200" y="1508760"/>
            <a:ext cx="5522400" cy="489132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3"/>
          <p:cNvSpPr/>
          <p:nvPr/>
        </p:nvSpPr>
        <p:spPr>
          <a:xfrm>
            <a:off x="294444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5" name="Image 1" descr="icons/bolt.png"/>
          <p:cNvPicPr/>
          <p:nvPr/>
        </p:nvPicPr>
        <p:blipFill>
          <a:blip r:embed="rId2"/>
          <a:stretch/>
        </p:blipFill>
        <p:spPr>
          <a:xfrm>
            <a:off x="302652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6" name="Text 4"/>
          <p:cNvSpPr/>
          <p:nvPr/>
        </p:nvSpPr>
        <p:spPr>
          <a:xfrm>
            <a:off x="548640" y="271764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append() / pop()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5"/>
          <p:cNvSpPr/>
          <p:nvPr/>
        </p:nvSpPr>
        <p:spPr>
          <a:xfrm>
            <a:off x="603360" y="3101760"/>
            <a:ext cx="522972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Fast — works at the end, nothing needs to shift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6"/>
          <p:cNvSpPr/>
          <p:nvPr/>
        </p:nvSpPr>
        <p:spPr>
          <a:xfrm>
            <a:off x="6208920" y="1508760"/>
            <a:ext cx="5522400" cy="489132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7"/>
          <p:cNvSpPr/>
          <p:nvPr/>
        </p:nvSpPr>
        <p:spPr>
          <a:xfrm>
            <a:off x="869580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0" name="Image 2" descr="icons/warning.png"/>
          <p:cNvPicPr/>
          <p:nvPr/>
        </p:nvPicPr>
        <p:blipFill>
          <a:blip r:embed="rId3"/>
          <a:stretch/>
        </p:blipFill>
        <p:spPr>
          <a:xfrm>
            <a:off x="877824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1" name="Text 8"/>
          <p:cNvSpPr/>
          <p:nvPr/>
        </p:nvSpPr>
        <p:spPr>
          <a:xfrm>
            <a:off x="6300360" y="271764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insert(0, x) / pop(0)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9"/>
          <p:cNvSpPr/>
          <p:nvPr/>
        </p:nvSpPr>
        <p:spPr>
          <a:xfrm>
            <a:off x="6355080" y="3101760"/>
            <a:ext cx="522972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Slower — everything after index 0 has to shift over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7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Checking Membership: in / not 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already met in and not in back in the operators session — they work on lists too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checks whether a value exists anywhere in the list, without needing to know its index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Returns a plain True or False, ready to use directly inside an if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print(7 in l1)    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print(100 in l1)   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print(100 not in l1)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6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 Equality — == Compares Values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== checks whether two lists contain the same values, in the same order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different from checking if they are the literal same list in memory (that's what is is for — a topic for another day)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[1, 2,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[1, 2,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== b)   # True  -&gt; same values, same order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== [3, 2, 1])   # False -&gt; order matters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5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Lists — A List Inside a List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can hold anything — including other lists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how you represent grid-like or table-like data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two sets of square brackets to reach an item inside the inner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grid = [[1, 2, 3], [4, 5, 6]]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print(grid[0])      # [1, 2,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print(grid[0][1])   #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print(grid[1][2])   #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4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ec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ki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fo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pt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emp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"fals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y"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trea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ts it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Fals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 a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ditio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clea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nest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mos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mon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way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 if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has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anyt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hing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it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my_list =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[]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not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my_list: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print("The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list is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empty")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print("The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list has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items")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3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Strings ↔ Lists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list() breaks a string into a list of its individual characters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"".join(a_list) glues a list of strings back into one single string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bridge between strings and lists is used constantly in real programs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word = "hello"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chars = list(word)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print(chars)          # ['h', 'e', 'l', 'l', 'o']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back = "".join(chars)    # " ".join(chars),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", ".join(chars)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print(back)           # "hello"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2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Converting Between List and Tuple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list() turns almost any collection into a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tuple() does the same, but produces an immutable tuple instead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Handy when you need to "unlock" a tuple temporarily, edit it as a list, then lock it again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a_tuple = (1, 2,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a_list = list(a_tuple)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print(a_list)        # [1, 2,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back_to_tuple = tuple(a_list)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print(back_to_tuple) # (1, 2,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0" name="Image 0" descr="icons/thlis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1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 Methods Cheat Sheet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2"/>
          <p:cNvSpPr/>
          <p:nvPr/>
        </p:nvSpPr>
        <p:spPr>
          <a:xfrm>
            <a:off x="457200" y="150876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3"/>
          <p:cNvSpPr/>
          <p:nvPr/>
        </p:nvSpPr>
        <p:spPr>
          <a:xfrm>
            <a:off x="2067840" y="168624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4" name="Image 1" descr="icons/pluscircle.png"/>
          <p:cNvPicPr/>
          <p:nvPr/>
        </p:nvPicPr>
        <p:blipFill>
          <a:blip r:embed="rId2"/>
          <a:stretch/>
        </p:blipFill>
        <p:spPr>
          <a:xfrm>
            <a:off x="2125440" y="174384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5" name="Text 4"/>
          <p:cNvSpPr/>
          <p:nvPr/>
        </p:nvSpPr>
        <p:spPr>
          <a:xfrm>
            <a:off x="548640" y="21438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append(x)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5"/>
          <p:cNvSpPr/>
          <p:nvPr/>
        </p:nvSpPr>
        <p:spPr>
          <a:xfrm>
            <a:off x="603360" y="252756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Adds x to the end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6"/>
          <p:cNvSpPr/>
          <p:nvPr/>
        </p:nvSpPr>
        <p:spPr>
          <a:xfrm>
            <a:off x="4291560" y="150876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7"/>
          <p:cNvSpPr/>
          <p:nvPr/>
        </p:nvSpPr>
        <p:spPr>
          <a:xfrm>
            <a:off x="5902200" y="168624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9" name="Image 2" descr="icons/pluscircle.png"/>
          <p:cNvPicPr/>
          <p:nvPr/>
        </p:nvPicPr>
        <p:blipFill>
          <a:blip r:embed="rId3"/>
          <a:stretch/>
        </p:blipFill>
        <p:spPr>
          <a:xfrm>
            <a:off x="5959800" y="174384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0" name="Text 8"/>
          <p:cNvSpPr/>
          <p:nvPr/>
        </p:nvSpPr>
        <p:spPr>
          <a:xfrm>
            <a:off x="4383000" y="21438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extend(list)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9"/>
          <p:cNvSpPr/>
          <p:nvPr/>
        </p:nvSpPr>
        <p:spPr>
          <a:xfrm>
            <a:off x="4437720" y="252756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Adds each item from another list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10"/>
          <p:cNvSpPr/>
          <p:nvPr/>
        </p:nvSpPr>
        <p:spPr>
          <a:xfrm>
            <a:off x="8125920" y="150876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11"/>
          <p:cNvSpPr/>
          <p:nvPr/>
        </p:nvSpPr>
        <p:spPr>
          <a:xfrm>
            <a:off x="9736560" y="168624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4" name="Image 3" descr="icons/pluscircle.png"/>
          <p:cNvPicPr/>
          <p:nvPr/>
        </p:nvPicPr>
        <p:blipFill>
          <a:blip r:embed="rId4"/>
          <a:stretch/>
        </p:blipFill>
        <p:spPr>
          <a:xfrm>
            <a:off x="9794160" y="174384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5" name="Text 12"/>
          <p:cNvSpPr/>
          <p:nvPr/>
        </p:nvSpPr>
        <p:spPr>
          <a:xfrm>
            <a:off x="8217360" y="21438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insert(i, 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13"/>
          <p:cNvSpPr/>
          <p:nvPr/>
        </p:nvSpPr>
        <p:spPr>
          <a:xfrm>
            <a:off x="8272440" y="252756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Adds x at index 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14"/>
          <p:cNvSpPr/>
          <p:nvPr/>
        </p:nvSpPr>
        <p:spPr>
          <a:xfrm>
            <a:off x="457200" y="321552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15"/>
          <p:cNvSpPr/>
          <p:nvPr/>
        </p:nvSpPr>
        <p:spPr>
          <a:xfrm>
            <a:off x="2067840" y="339300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9" name="Image 4" descr="icons/minuscircle.png"/>
          <p:cNvPicPr/>
          <p:nvPr/>
        </p:nvPicPr>
        <p:blipFill>
          <a:blip r:embed="rId5"/>
          <a:stretch/>
        </p:blipFill>
        <p:spPr>
          <a:xfrm>
            <a:off x="2125440" y="345060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0" name="Text 16"/>
          <p:cNvSpPr/>
          <p:nvPr/>
        </p:nvSpPr>
        <p:spPr>
          <a:xfrm>
            <a:off x="548640" y="385056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pop(i)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 17"/>
          <p:cNvSpPr/>
          <p:nvPr/>
        </p:nvSpPr>
        <p:spPr>
          <a:xfrm>
            <a:off x="603360" y="423468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Remov</a:t>
            </a: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es </a:t>
            </a: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index i, </a:t>
            </a: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returns </a:t>
            </a: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18"/>
          <p:cNvSpPr/>
          <p:nvPr/>
        </p:nvSpPr>
        <p:spPr>
          <a:xfrm>
            <a:off x="4291560" y="321552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19"/>
          <p:cNvSpPr/>
          <p:nvPr/>
        </p:nvSpPr>
        <p:spPr>
          <a:xfrm>
            <a:off x="5902200" y="339300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4" name="Image 5" descr="icons/minuscircle.png"/>
          <p:cNvPicPr/>
          <p:nvPr/>
        </p:nvPicPr>
        <p:blipFill>
          <a:blip r:embed="rId6"/>
          <a:stretch/>
        </p:blipFill>
        <p:spPr>
          <a:xfrm>
            <a:off x="5959800" y="345060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5" name="Text 20"/>
          <p:cNvSpPr/>
          <p:nvPr/>
        </p:nvSpPr>
        <p:spPr>
          <a:xfrm>
            <a:off x="4383000" y="385056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remove(x)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 21"/>
          <p:cNvSpPr/>
          <p:nvPr/>
        </p:nvSpPr>
        <p:spPr>
          <a:xfrm>
            <a:off x="4437720" y="423468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Removes first match of 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22"/>
          <p:cNvSpPr/>
          <p:nvPr/>
        </p:nvSpPr>
        <p:spPr>
          <a:xfrm>
            <a:off x="8125920" y="321552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23"/>
          <p:cNvSpPr/>
          <p:nvPr/>
        </p:nvSpPr>
        <p:spPr>
          <a:xfrm>
            <a:off x="9736560" y="339300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9" name="Image 6" descr="icons/sort.png"/>
          <p:cNvPicPr/>
          <p:nvPr/>
        </p:nvPicPr>
        <p:blipFill>
          <a:blip r:embed="rId7"/>
          <a:stretch/>
        </p:blipFill>
        <p:spPr>
          <a:xfrm>
            <a:off x="9794160" y="345060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0" name="Text 24"/>
          <p:cNvSpPr/>
          <p:nvPr/>
        </p:nvSpPr>
        <p:spPr>
          <a:xfrm>
            <a:off x="8217360" y="385056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sort()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 25"/>
          <p:cNvSpPr/>
          <p:nvPr/>
        </p:nvSpPr>
        <p:spPr>
          <a:xfrm>
            <a:off x="8272440" y="423468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Reorders smallest to largest, in place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26"/>
          <p:cNvSpPr/>
          <p:nvPr/>
        </p:nvSpPr>
        <p:spPr>
          <a:xfrm>
            <a:off x="457200" y="492264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27"/>
          <p:cNvSpPr/>
          <p:nvPr/>
        </p:nvSpPr>
        <p:spPr>
          <a:xfrm>
            <a:off x="2067840" y="509976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4" name="Image 7" descr="icons/sort.png"/>
          <p:cNvPicPr/>
          <p:nvPr/>
        </p:nvPicPr>
        <p:blipFill>
          <a:blip r:embed="rId8"/>
          <a:stretch/>
        </p:blipFill>
        <p:spPr>
          <a:xfrm>
            <a:off x="2125440" y="515772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5" name="Text 28"/>
          <p:cNvSpPr/>
          <p:nvPr/>
        </p:nvSpPr>
        <p:spPr>
          <a:xfrm>
            <a:off x="548640" y="55573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reverse()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29"/>
          <p:cNvSpPr/>
          <p:nvPr/>
        </p:nvSpPr>
        <p:spPr>
          <a:xfrm>
            <a:off x="603360" y="594144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Flips the current order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30"/>
          <p:cNvSpPr/>
          <p:nvPr/>
        </p:nvSpPr>
        <p:spPr>
          <a:xfrm>
            <a:off x="4291560" y="492264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31"/>
          <p:cNvSpPr/>
          <p:nvPr/>
        </p:nvSpPr>
        <p:spPr>
          <a:xfrm>
            <a:off x="5902200" y="509976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9" name="Image 8" descr="icons/search.png"/>
          <p:cNvPicPr/>
          <p:nvPr/>
        </p:nvPicPr>
        <p:blipFill>
          <a:blip r:embed="rId9"/>
          <a:stretch/>
        </p:blipFill>
        <p:spPr>
          <a:xfrm>
            <a:off x="5959800" y="515772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0" name="Text 32"/>
          <p:cNvSpPr/>
          <p:nvPr/>
        </p:nvSpPr>
        <p:spPr>
          <a:xfrm>
            <a:off x="4383000" y="55573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index(x) / count(x)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 33"/>
          <p:cNvSpPr/>
          <p:nvPr/>
        </p:nvSpPr>
        <p:spPr>
          <a:xfrm>
            <a:off x="4437720" y="594144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Finds position / counts matches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34"/>
          <p:cNvSpPr/>
          <p:nvPr/>
        </p:nvSpPr>
        <p:spPr>
          <a:xfrm>
            <a:off x="8125920" y="4922640"/>
            <a:ext cx="3605040" cy="1477440"/>
          </a:xfrm>
          <a:prstGeom prst="roundRect">
            <a:avLst>
              <a:gd name="adj" fmla="val 4948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Shape 35"/>
          <p:cNvSpPr/>
          <p:nvPr/>
        </p:nvSpPr>
        <p:spPr>
          <a:xfrm>
            <a:off x="9736560" y="5099760"/>
            <a:ext cx="383760" cy="38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4" name="Image 9" descr="icons/copy.png"/>
          <p:cNvPicPr/>
          <p:nvPr/>
        </p:nvPicPr>
        <p:blipFill>
          <a:blip r:embed="rId10"/>
          <a:stretch/>
        </p:blipFill>
        <p:spPr>
          <a:xfrm>
            <a:off x="9794160" y="5157720"/>
            <a:ext cx="268200" cy="2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5" name="Text 36"/>
          <p:cNvSpPr/>
          <p:nvPr/>
        </p:nvSpPr>
        <p:spPr>
          <a:xfrm>
            <a:off x="8217360" y="55573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copy()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Text 37"/>
          <p:cNvSpPr/>
          <p:nvPr/>
        </p:nvSpPr>
        <p:spPr>
          <a:xfrm>
            <a:off x="8272440" y="5941440"/>
            <a:ext cx="3312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Shallow copy — one level deep only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3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 3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1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Lists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5"/>
          <p:cNvSpPr/>
          <p:nvPr/>
        </p:nvSpPr>
        <p:spPr>
          <a:xfrm>
            <a:off x="822960" y="2423160"/>
            <a:ext cx="366120" cy="3661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6"/>
          <p:cNvSpPr/>
          <p:nvPr/>
        </p:nvSpPr>
        <p:spPr>
          <a:xfrm>
            <a:off x="822960" y="2423160"/>
            <a:ext cx="366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7"/>
          <p:cNvSpPr/>
          <p:nvPr/>
        </p:nvSpPr>
        <p:spPr>
          <a:xfrm>
            <a:off x="1418400" y="2423160"/>
            <a:ext cx="9599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a list with your 3 favorite foods, and print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8"/>
          <p:cNvSpPr/>
          <p:nvPr/>
        </p:nvSpPr>
        <p:spPr>
          <a:xfrm>
            <a:off x="822960" y="2863080"/>
            <a:ext cx="366120" cy="3661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9"/>
          <p:cNvSpPr/>
          <p:nvPr/>
        </p:nvSpPr>
        <p:spPr>
          <a:xfrm>
            <a:off x="822960" y="2863080"/>
            <a:ext cx="366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 10"/>
          <p:cNvSpPr/>
          <p:nvPr/>
        </p:nvSpPr>
        <p:spPr>
          <a:xfrm>
            <a:off x="1418400" y="2863080"/>
            <a:ext cx="9599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length of your list using len()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Shape 11"/>
          <p:cNvSpPr/>
          <p:nvPr/>
        </p:nvSpPr>
        <p:spPr>
          <a:xfrm>
            <a:off x="822960" y="3303360"/>
            <a:ext cx="366120" cy="3661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12"/>
          <p:cNvSpPr/>
          <p:nvPr/>
        </p:nvSpPr>
        <p:spPr>
          <a:xfrm>
            <a:off x="822960" y="3303360"/>
            <a:ext cx="366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13"/>
          <p:cNvSpPr/>
          <p:nvPr/>
        </p:nvSpPr>
        <p:spPr>
          <a:xfrm>
            <a:off x="1418400" y="3303360"/>
            <a:ext cx="9599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item at index 1 in your 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14"/>
          <p:cNvSpPr/>
          <p:nvPr/>
        </p:nvSpPr>
        <p:spPr>
          <a:xfrm>
            <a:off x="822960" y="3743280"/>
            <a:ext cx="366120" cy="3661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15"/>
          <p:cNvSpPr/>
          <p:nvPr/>
        </p:nvSpPr>
        <p:spPr>
          <a:xfrm>
            <a:off x="822960" y="3743280"/>
            <a:ext cx="366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Text 16"/>
          <p:cNvSpPr/>
          <p:nvPr/>
        </p:nvSpPr>
        <p:spPr>
          <a:xfrm>
            <a:off x="1418400" y="3743280"/>
            <a:ext cx="9599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Change the second item in your list to something else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Shape 17"/>
          <p:cNvSpPr/>
          <p:nvPr/>
        </p:nvSpPr>
        <p:spPr>
          <a:xfrm>
            <a:off x="822960" y="4183560"/>
            <a:ext cx="366120" cy="3661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18"/>
          <p:cNvSpPr/>
          <p:nvPr/>
        </p:nvSpPr>
        <p:spPr>
          <a:xfrm>
            <a:off x="822960" y="4183560"/>
            <a:ext cx="366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19"/>
          <p:cNvSpPr/>
          <p:nvPr/>
        </p:nvSpPr>
        <p:spPr>
          <a:xfrm>
            <a:off x="1418400" y="4183560"/>
            <a:ext cx="9599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LAST item in your list using a negative index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20"/>
          <p:cNvSpPr/>
          <p:nvPr/>
        </p:nvSpPr>
        <p:spPr>
          <a:xfrm>
            <a:off x="822960" y="4623480"/>
            <a:ext cx="366120" cy="3661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 21"/>
          <p:cNvSpPr/>
          <p:nvPr/>
        </p:nvSpPr>
        <p:spPr>
          <a:xfrm>
            <a:off x="822960" y="4623480"/>
            <a:ext cx="366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22"/>
          <p:cNvSpPr/>
          <p:nvPr/>
        </p:nvSpPr>
        <p:spPr>
          <a:xfrm>
            <a:off x="1418400" y="4623480"/>
            <a:ext cx="9599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slicing to print just the first two items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Shape 23"/>
          <p:cNvSpPr/>
          <p:nvPr/>
        </p:nvSpPr>
        <p:spPr>
          <a:xfrm>
            <a:off x="822960" y="5063400"/>
            <a:ext cx="366120" cy="3661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 24"/>
          <p:cNvSpPr/>
          <p:nvPr/>
        </p:nvSpPr>
        <p:spPr>
          <a:xfrm>
            <a:off x="822960" y="5063400"/>
            <a:ext cx="366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Text 25"/>
          <p:cNvSpPr/>
          <p:nvPr/>
        </p:nvSpPr>
        <p:spPr>
          <a:xfrm>
            <a:off x="1418400" y="5063400"/>
            <a:ext cx="9599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whether a value is in your list using 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26"/>
          <p:cNvSpPr/>
          <p:nvPr/>
        </p:nvSpPr>
        <p:spPr>
          <a:xfrm>
            <a:off x="822960" y="5503680"/>
            <a:ext cx="366120" cy="3661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27"/>
          <p:cNvSpPr/>
          <p:nvPr/>
        </p:nvSpPr>
        <p:spPr>
          <a:xfrm>
            <a:off x="822960" y="5503680"/>
            <a:ext cx="366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28"/>
          <p:cNvSpPr/>
          <p:nvPr/>
        </p:nvSpPr>
        <p:spPr>
          <a:xfrm>
            <a:off x="1418400" y="5503680"/>
            <a:ext cx="9599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sorted() on a list of numbers WITHOUT </a:t>
            </a: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changing the original — print both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 2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Text 3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4" name="Image 0" descr="icons/lock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5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Tuples — The List That Cannot Change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56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0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Tuple?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4" name="Image 1" descr="icons/loc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5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Ordered.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Locked.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Never changes.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tuple stores multiple values together, exactly like a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key difference: a tuple is immutable — once created, it can never be changed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 tuple for values that should stay fixed, like coordinates or days of the week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Written with round brackets ( ) instead of square brackets [ ]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1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Creating Tuples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Round brackets create a tuple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empty tuple is just ()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tuple with more than one item works exactly like a list, just with ( 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()              # empty tuple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(1, 7, 2)        # tuple with 3 items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print(type(a))       # &lt;class 'tuple'&gt;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0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More Ways to Create a Tuple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parentheses are actually optional — commas alone are what make a tuple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tuple() function builds a tuple from almost any other collection, just like list()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Converting a list into a tuple is a common way to "lock" it once you're done editing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1, 7, 2             # no parentheses at all — still a tuple!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print(type(a))          # &lt;class 'tuple'&gt;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tuple()              # () — an empty tuple, another way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 = tuple([1, 2, 3])     # (1, 2, 3) — from a 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 = tuple("abc")         # ('a', 'b', 'c') — from a string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9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Single-Element Tuple Trap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3" name="Image 1" descr="icons/warning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4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One sneaky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= (1) does NOT make a tuple — Python just sees a number in brackets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single-item tuple needs a trailing comma: a = (1,)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one comma is the only thing that tells Python "this is a tuple, not just a number"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one of the most common tuple mistakes — check for the comma if something looks wrong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0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Tuples Are Immutable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Trying to change an item inside a tuple raises a TypeError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whole point of a tuple — it is a promise that the data will not change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(1, 7,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a[0] =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TypeError: 'tuple' object does not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support item assignment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9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 Indexing &amp; Slicing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Indexing and slicing work exactly the same as they do for lists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only thing that is different about a tuple is that you cannot modify it afterward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(1, 7,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print(a[0])   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print(a[0:2])   # (1, 7)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7" name="Image 0" descr="icons/hash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8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 Methods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2"/>
          <p:cNvSpPr/>
          <p:nvPr/>
        </p:nvSpPr>
        <p:spPr>
          <a:xfrm>
            <a:off x="457200" y="1508760"/>
            <a:ext cx="5522400" cy="489132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Shape 3"/>
          <p:cNvSpPr/>
          <p:nvPr/>
        </p:nvSpPr>
        <p:spPr>
          <a:xfrm>
            <a:off x="294444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1" name="Image 1" descr="icons/hashtag.png"/>
          <p:cNvPicPr/>
          <p:nvPr/>
        </p:nvPicPr>
        <p:blipFill>
          <a:blip r:embed="rId2"/>
          <a:stretch/>
        </p:blipFill>
        <p:spPr>
          <a:xfrm>
            <a:off x="302652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2" name="Text 4"/>
          <p:cNvSpPr/>
          <p:nvPr/>
        </p:nvSpPr>
        <p:spPr>
          <a:xfrm>
            <a:off x="548640" y="271764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count(x)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Text 5"/>
          <p:cNvSpPr/>
          <p:nvPr/>
        </p:nvSpPr>
        <p:spPr>
          <a:xfrm>
            <a:off x="603360" y="3101760"/>
            <a:ext cx="522972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a.count(1) — how many times 1 appears in 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6"/>
          <p:cNvSpPr/>
          <p:nvPr/>
        </p:nvSpPr>
        <p:spPr>
          <a:xfrm>
            <a:off x="6208920" y="1508760"/>
            <a:ext cx="5522400" cy="489132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7"/>
          <p:cNvSpPr/>
          <p:nvPr/>
        </p:nvSpPr>
        <p:spPr>
          <a:xfrm>
            <a:off x="869580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6" name="Image 2" descr="icons/search.png"/>
          <p:cNvPicPr/>
          <p:nvPr/>
        </p:nvPicPr>
        <p:blipFill>
          <a:blip r:embed="rId3"/>
          <a:stretch/>
        </p:blipFill>
        <p:spPr>
          <a:xfrm>
            <a:off x="877824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7" name="Text 8"/>
          <p:cNvSpPr/>
          <p:nvPr/>
        </p:nvSpPr>
        <p:spPr>
          <a:xfrm>
            <a:off x="6300360" y="271764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index(x)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Text 9"/>
          <p:cNvSpPr/>
          <p:nvPr/>
        </p:nvSpPr>
        <p:spPr>
          <a:xfrm>
            <a:off x="6355080" y="3101760"/>
            <a:ext cx="522972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a.index(1) — the position of the first 1 in 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3" name="Image 0" descr="icons/boxopen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 Packing &amp; Unpacking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Packing: writing several values together, comma-separated, quietly creates a tuple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Unpacking: assigning a tuple straight into several variables at once, in one line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number of variables must match the number of values exactly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packing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point = 4,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print(type(point))   # &lt;class 'tuple'&gt;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unpacking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x, y = point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print(x)   #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print(y)   #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2" name="Image 0" descr="icons/cu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Negative Indices, Slicing &amp; Combining Tuples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trick you learned for lists works on tuples too — negative indices, slicing, steps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only real difference: the result of slicing a tuple is still a tuple, never a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+ and * work exactly like they do for lists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(1, 7, 2, 9, 4)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print(a[-1])       #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print(a[1:3])      # (7,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print(a[::-1])     # (4, 9, 2, 7, 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+ (5, 6))  # (1, 7, 2, 9, 4, 5, 6)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print((1, 2) * 2)  # (1, 2, 1,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1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More Ways to Access Tuple Values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Unpacking is actually the most natural way to read a tuple's values — used constantly in real code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Star unpacking works on tuples too, exactly like it does on lists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index() finds a value's position, the same as it does on a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point = (4, 7, 9)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x, y, z = point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print(x, y, z)        # 4 7 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first, *rest = point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print(first)   #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print(rest)    # [7, 9]   &lt;- note: rest becomes a list, not a tuple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print(point.index(7)) 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0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Tuples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Just like lists, a tuple can hold other tuples inside it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Useful for representing fixed, related groups of data — like a set of coordinates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points = ((0, 0), (3, 4), (6, 8))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print(points[1])       # (3, 4)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print(points[1][0])    #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8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9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Lists vs. Tuples — When to Use Which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2" name="Image 1" descr="icons/boxes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3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Use a List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data will change — items added, removed, or reordered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need methods like append(), sort(), remove()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a shopping list, or student scores you keep updating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7" name="Image 2" descr="icons/lock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8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Use a Tuple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data should never change once it is 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want to protect it from accidental edits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a date of birth, GPS coordinates, days of the week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4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Tuples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a tuple with 3 numbers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8"/>
          <p:cNvSpPr/>
          <p:nvPr/>
        </p:nvSpPr>
        <p:spPr>
          <a:xfrm>
            <a:off x="822960" y="30099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2" name="Text 9"/>
          <p:cNvSpPr/>
          <p:nvPr/>
        </p:nvSpPr>
        <p:spPr>
          <a:xfrm>
            <a:off x="822960" y="30099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 10"/>
          <p:cNvSpPr/>
          <p:nvPr/>
        </p:nvSpPr>
        <p:spPr>
          <a:xfrm>
            <a:off x="1435680" y="30099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 negative index to print the last item in your tuple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Shape 11"/>
          <p:cNvSpPr/>
          <p:nvPr/>
        </p:nvSpPr>
        <p:spPr>
          <a:xfrm>
            <a:off x="822960" y="35967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12"/>
          <p:cNvSpPr/>
          <p:nvPr/>
        </p:nvSpPr>
        <p:spPr>
          <a:xfrm>
            <a:off x="822960" y="3596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 13"/>
          <p:cNvSpPr/>
          <p:nvPr/>
        </p:nvSpPr>
        <p:spPr>
          <a:xfrm>
            <a:off x="1435680" y="35967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changing one value in your tuple, and read the error Python gives you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14"/>
          <p:cNvSpPr/>
          <p:nvPr/>
        </p:nvSpPr>
        <p:spPr>
          <a:xfrm>
            <a:off x="822960" y="41835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 15"/>
          <p:cNvSpPr/>
          <p:nvPr/>
        </p:nvSpPr>
        <p:spPr>
          <a:xfrm>
            <a:off x="822960" y="4183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 16"/>
          <p:cNvSpPr/>
          <p:nvPr/>
        </p:nvSpPr>
        <p:spPr>
          <a:xfrm>
            <a:off x="1435680" y="41835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Combine two small tuples together using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Shape 17"/>
          <p:cNvSpPr/>
          <p:nvPr/>
        </p:nvSpPr>
        <p:spPr>
          <a:xfrm>
            <a:off x="822960" y="477000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18"/>
          <p:cNvSpPr/>
          <p:nvPr/>
        </p:nvSpPr>
        <p:spPr>
          <a:xfrm>
            <a:off x="822960" y="47700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 19"/>
          <p:cNvSpPr/>
          <p:nvPr/>
        </p:nvSpPr>
        <p:spPr>
          <a:xfrm>
            <a:off x="1435680" y="477000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count() to count how many times a number appears in a tuple you make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Shape 20"/>
          <p:cNvSpPr/>
          <p:nvPr/>
        </p:nvSpPr>
        <p:spPr>
          <a:xfrm>
            <a:off x="822960" y="535680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4" name="Text 21"/>
          <p:cNvSpPr/>
          <p:nvPr/>
        </p:nvSpPr>
        <p:spPr>
          <a:xfrm>
            <a:off x="822960" y="53568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22"/>
          <p:cNvSpPr/>
          <p:nvPr/>
        </p:nvSpPr>
        <p:spPr>
          <a:xfrm>
            <a:off x="1435680" y="535680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Pack three values into one line, then unpack them into three variables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23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24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0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Lists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Shape 5"/>
          <p:cNvSpPr/>
          <p:nvPr/>
        </p:nvSpPr>
        <p:spPr>
          <a:xfrm>
            <a:off x="822960" y="24231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5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6" name="Shape 6"/>
          <p:cNvSpPr/>
          <p:nvPr/>
        </p:nvSpPr>
        <p:spPr>
          <a:xfrm>
            <a:off x="1417320" y="244152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Text 7"/>
          <p:cNvSpPr/>
          <p:nvPr/>
        </p:nvSpPr>
        <p:spPr>
          <a:xfrm>
            <a:off x="1417320" y="244152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Text 8"/>
          <p:cNvSpPr/>
          <p:nvPr/>
        </p:nvSpPr>
        <p:spPr>
          <a:xfrm>
            <a:off x="2011680" y="24231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program to sum a list with 4 numbers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Shape 9"/>
          <p:cNvSpPr/>
          <p:nvPr/>
        </p:nvSpPr>
        <p:spPr>
          <a:xfrm>
            <a:off x="822960" y="35967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0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6597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1" name="Shape 10"/>
          <p:cNvSpPr/>
          <p:nvPr/>
        </p:nvSpPr>
        <p:spPr>
          <a:xfrm>
            <a:off x="1417320" y="36147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Text 11"/>
          <p:cNvSpPr/>
          <p:nvPr/>
        </p:nvSpPr>
        <p:spPr>
          <a:xfrm>
            <a:off x="1417320" y="36147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Text 12"/>
          <p:cNvSpPr/>
          <p:nvPr/>
        </p:nvSpPr>
        <p:spPr>
          <a:xfrm>
            <a:off x="2011680" y="35967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program to store seven fruits in a list entered by the user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13"/>
          <p:cNvSpPr/>
          <p:nvPr/>
        </p:nvSpPr>
        <p:spPr>
          <a:xfrm>
            <a:off x="822960" y="477000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5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8333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6" name="Shape 14"/>
          <p:cNvSpPr/>
          <p:nvPr/>
        </p:nvSpPr>
        <p:spPr>
          <a:xfrm>
            <a:off x="1417320" y="47883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15"/>
          <p:cNvSpPr/>
          <p:nvPr/>
        </p:nvSpPr>
        <p:spPr>
          <a:xfrm>
            <a:off x="1417320" y="47883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 16"/>
          <p:cNvSpPr/>
          <p:nvPr/>
        </p:nvSpPr>
        <p:spPr>
          <a:xfrm>
            <a:off x="2011680" y="477000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program to accept marks of 6 students and display them in a sorted manner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Text 1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3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Tuples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Shape 5"/>
          <p:cNvSpPr/>
          <p:nvPr/>
        </p:nvSpPr>
        <p:spPr>
          <a:xfrm>
            <a:off x="822960" y="24231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8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9" name="Shape 6"/>
          <p:cNvSpPr/>
          <p:nvPr/>
        </p:nvSpPr>
        <p:spPr>
          <a:xfrm>
            <a:off x="1417320" y="244152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Text 7"/>
          <p:cNvSpPr/>
          <p:nvPr/>
        </p:nvSpPr>
        <p:spPr>
          <a:xfrm>
            <a:off x="1417320" y="244152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 8"/>
          <p:cNvSpPr/>
          <p:nvPr/>
        </p:nvSpPr>
        <p:spPr>
          <a:xfrm>
            <a:off x="2011680" y="24231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that a tuple type cannot be changed in Python — try editing one and observe the error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Shape 9"/>
          <p:cNvSpPr/>
          <p:nvPr/>
        </p:nvSpPr>
        <p:spPr>
          <a:xfrm>
            <a:off x="822960" y="41835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3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42465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4" name="Shape 10"/>
          <p:cNvSpPr/>
          <p:nvPr/>
        </p:nvSpPr>
        <p:spPr>
          <a:xfrm>
            <a:off x="1417320" y="42015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Text 11"/>
          <p:cNvSpPr/>
          <p:nvPr/>
        </p:nvSpPr>
        <p:spPr>
          <a:xfrm>
            <a:off x="1417320" y="42015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Text 12"/>
          <p:cNvSpPr/>
          <p:nvPr/>
        </p:nvSpPr>
        <p:spPr>
          <a:xfrm>
            <a:off x="2011680" y="41835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program to count the number of zeros in a tuple you create with at least 3 zeros in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 13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Text 14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1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2" name="Image 0" descr="icons/task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3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4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Put It All Together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Two small projects using everything from this course so far — variables, operators, conditionals, and today's lists &amp; tuples.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6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72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9" name="Image 0" descr="icons/task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1: Class Grade Report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3" name="Image 1" descr="icons/task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4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 loops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needed 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just indexing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have two lists: 5 student names, and their 5 matching scores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Using direct indexing (l1[0], l1[1]...), print each student's name, score, and whether they Pass or Fail (40 or above passes)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highest score using max(), and the class average using sum() and len()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Bonus: use sorted() to also show the scores ranked, without changing your original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0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2: Contact Card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4" name="Image 1" descr="icons/loc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5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Ties together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tuples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f-strings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Store a friend's name, age, and phone number together in a single tuple — this is personal data that shouldn't accidentally change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a formatted "contact card" sentence using all three values together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to update their age directly inside the tuple, and let Python's error prove why a tuple was the right choice here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Then show the correct way to "update" it: build a brand new tuple with the changed 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0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1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2" name="Image 0" descr="icons/boxe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3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4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list can grow, shrink, and change.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tuple, once made, stays exactly as it is.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loops — now that lists exist, this is where they finally pay off.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75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2026-07-31T04:17:26Z</dcterms:created>
  <dc:creator>Course Instructor</dc:creator>
  <dc:description/>
  <dc:language>en-US</dc:language>
  <cp:lastModifiedBy/>
  <dcterms:modified xsi:type="dcterms:W3CDTF">2026-08-02T23:29:55Z</dcterms:modified>
  <cp:revision>52</cp:revision>
  <dc:subject>PptxGenJS Presentation</dc:subject>
  <dc:title>Lists &amp; Tuples — Session 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75</vt:i4>
  </property>
  <property fmtid="{D5CDD505-2E9C-101B-9397-08002B2CF9AE}" pid="3" name="PresentationFormat">
    <vt:lpwstr>On-screen Show (16:9)</vt:lpwstr>
  </property>
  <property fmtid="{D5CDD505-2E9C-101B-9397-08002B2CF9AE}" pid="4" name="Slides">
    <vt:i4>75</vt:i4>
  </property>
</Properties>
</file>