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5.xml" ContentType="application/vnd.openxmlformats-officedocument.presentationml.slide+xml"/>
  <Override PartName="/ppt/slides/slide61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72.xml" ContentType="application/vnd.openxmlformats-officedocument.presentationml.slide+xml"/>
  <Override PartName="/ppt/slides/slide36.xml" ContentType="application/vnd.openxmlformats-officedocument.presentationml.slide+xml"/>
  <Override PartName="/ppt/slides/slide71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0.xml" ContentType="application/vnd.openxmlformats-officedocument.presentationml.slide+xml"/>
  <Override PartName="/ppt/slides/slide14.xml" ContentType="application/vnd.openxmlformats-officedocument.presentationml.slide+xml"/>
  <Override PartName="/ppt/slides/slide73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74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DB3E22-7008-4D4D-ACF4-FF25D7614C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No loops yet this session — that is next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1C21F7-1412-41E6-B95E-D33C38F026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701FF7-6DEC-4AFA-95D2-00128CA270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C83C35-6252-4506-BF1D-6A20DF9535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3A51B1-2736-415C-AC7A-B97D24D532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FF05BF-6F75-450B-8B3D-4A1BDD34B1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0008E5-B2B9-4FF8-B39F-5ED896E728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Good discussion point: Python is the only one here with no separate character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B408EA-6955-4360-9FE5-5E201B139D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out: Python and Java give you rich built-ins here; C makes you build most of this yourself.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5C057B-FAAD-459B-A1B5-719B528758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9C1711-33D9-415C-A012-F50CA67D0F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AAB22-BC48-4CAE-A5FF-E3F1B3B195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Nice map to show where today fits in the bigger picture.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0AAA22-8EB7-483D-91E9-1FF2C11187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78451B-403F-4895-B0D3-81890A8582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DE485C-3FBD-4153-AC5F-2B69151C32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BC6129-D3DA-405C-8C4B-57E04E3A1D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2B385A-9DBD-408C-9899-FBD9AFAB75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C42C3B-96D4-44E1-9F50-EBF0B0808D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64062E-B3AA-402C-ADD3-6705CA95C2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B493CD-A651-4811-ABF8-C73A84DBF4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Consistent with the "errors are normal" philosophy from Session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1AE57-9FC5-400C-9FA9-23B09ECF36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636DAA-1D93-4E28-9FCF-5A450E1D5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[::-1] reverse trick is worth calling out explicitly — very commonly used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5A7499-E0B2-4800-B0D9-10005180F5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unpacking is a genuinely handy real-world Python idiom, worth showing off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BDC2D5-EC59-4162-8D9F-0A8B28E4D9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3D7399-56B6-4EBA-8085-FDFD9A9001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FFC61C-4DE6-4AA2-BDB3-8F09702EDC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6B568-348A-4A7E-A365-5F64299E03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Directly answers "can I control where append() adds?" — no, by design.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439C7E-62F8-4AC8-A655-8776B70242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Genuinely one of the highest-value gotchas for real-world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07E3AD-00F4-44A4-868D-04B5EF9DBC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A7283A-7970-4472-B98E-0D68814517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 live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rather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descri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B3D9C1-C38C-41BF-801A-56A66F3DFE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204481-D409-4F94-84EE-4C00E96EA4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ectl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"po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0"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ativ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EACBC5-04D3-411A-ABD4-676043A50C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97F67F-5EE5-4B93-87BD-A6962556F7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list equivalents of the tuple methods coming up later today.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EA3079-2A72-49E7-8E48-1DB96E8A6A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B1DE10-DD6A-43EB-B542-BC397A4CC6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6EBDEC-B860-4987-8ADF-75C096FD8D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bug: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callin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l1.sor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t()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2C4D18-12F6-4DC4-89DD-A6A1E11175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A034F1-0535-4E1F-81DE-C0BAD63227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DDD3E-61B0-4490-9E1F-3098BD8768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565BA1-577E-4117-B0FB-35E0FED28A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well-known DSA interview gotcha — worth flagging even before loops are formally taught.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80358A-F196-40F2-8FB5-2CD394DA3D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one of the most common real bugs beginners hit — worth extra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1217EA-A31C-493C-9E84-604312037A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the bug that "list of lists" (grids, matrices) beginners hit constantly.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E0E833-15F8-4286-AAFE-0683CDEEB4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direct fix to the gotcha on the previous slide — worth running both side by side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469367-9182-45AC-B25F-1E8B94994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AAB456-FB91-4CE8-968B-DC51EE0693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4622E-DD75-4BC5-BB71-86A1B1964D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 DSA concept, and it costs nothing extra to teach — same methods, just named intent.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78E93-A653-47D4-914B-E9E6EC4451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first honest taste of time complexity — full Big-O comes later in the course, but the intuition starts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3AF43B-C148-4D92-AFBE-60D14DD0BA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897954-EC3E-45D4-AB9B-4CE95CACB0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0D3D2B-993A-4C86-BAE5-B29C12C6F1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a taste for today — nested data gets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much more use once loops exist.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1B6113-7D6B-4AD8-B264-A28B218ADC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7DCE3C-AE52-4C72-B6FC-FCA37FA284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90E51A-29EE-4E9E-9078-9BC7E6B8B1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29D967-5D69-4A19-8074-FBD490953E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 recap before the practice set.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A82464-37B7-4CCB-A81D-342B55C41E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0E6D8B-1DF3-4994-94A1-7CAE99E4F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F4069B-0505-43E8-9A7E-41B2FC2885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E89597-9FB7-414A-943E-1739358104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B3B6BC-A26F-41EF-9004-133A33BEB8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B91671-43D3-4E97-8854-1CBE4A7522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C37555-EA59-490B-A562-34C9B0197D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directly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into today's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practice: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"check that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tuple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cannot be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changed."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57FAA0-C10B-4632-A9C9-8352E19444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DB29EE-5043-4081-AACF-C3ABEE5373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Tuples only have these two methods — far fewer than lists, since nothing about them can change.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2F4F6F-F5CF-4DC2-9D3F-C78A74B187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9251D5-553A-4047-8A81-B79B09C3CF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BF4AB4-A5BA-4782-A225-81EE5231D0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pointing out the *rest quirk: star-unpacking always produces a list for the leftover part, even from a tuple.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BD859C-CB1C-43C5-A1BB-77C8094B78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882FF8-DE4D-41F8-A6A7-49198E1AFA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468A31-D986-4CB3-8776-A7CD77ECEB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152F62-D2E7-4C7B-93EE-EB91B4AB5D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1138A4-AF4E-4D34-9DD5-EB75971981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33269C-2A2E-4EBE-88FC-8E8FF03F1E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2DC4C6-CE82-4C00-BCEB-16033F79D0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114EA7-5A71-46BB-93D3-AEE9801031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23FFFD-9736-40AF-A324-C3C0403AE1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asking students to explain, in their own words, when they would choose a tuple over a list.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F936E2-8D12-4AAA-8419-2939D5F53E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image" Target="../media/image17.png"/><Relationship Id="rId10" Type="http://schemas.openxmlformats.org/officeDocument/2006/relationships/image" Target="../media/image2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8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thlist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1600" cy="83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Lists &amp; Tuples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Storing and Organizing Multiple Values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We'r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Cove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ring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552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tag.png"/>
          <p:cNvPicPr/>
          <p:nvPr/>
        </p:nvPicPr>
        <p:blipFill>
          <a:blip r:embed="rId2"/>
          <a:stretch/>
        </p:blipFill>
        <p:spPr>
          <a:xfrm>
            <a:off x="664200" y="169776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 types &amp; data structures — primitive vs. non-primitive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847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1398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boxes.png"/>
          <p:cNvPicPr/>
          <p:nvPr/>
        </p:nvPicPr>
        <p:blipFill>
          <a:blip r:embed="rId3"/>
          <a:stretch/>
        </p:blipFill>
        <p:spPr>
          <a:xfrm>
            <a:off x="664200" y="21823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0847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a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list?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Indexi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ng,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negati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ve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indexi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 &amp;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advan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ced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slicing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56932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62440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pluscircle.png"/>
          <p:cNvPicPr/>
          <p:nvPr/>
        </p:nvPicPr>
        <p:blipFill>
          <a:blip r:embed="rId4"/>
          <a:stretch/>
        </p:blipFill>
        <p:spPr>
          <a:xfrm>
            <a:off x="664200" y="266688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56932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append(), extend(), insert() — including negative indices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05424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10932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minuscircle.png"/>
          <p:cNvPicPr/>
          <p:nvPr/>
        </p:nvPicPr>
        <p:blipFill>
          <a:blip r:embed="rId5"/>
          <a:stretch/>
        </p:blipFill>
        <p:spPr>
          <a:xfrm>
            <a:off x="664200" y="315144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05424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items: pop() — three ways — &amp; remove()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5388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5938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sort.png"/>
          <p:cNvPicPr/>
          <p:nvPr/>
        </p:nvPicPr>
        <p:blipFill>
          <a:blip r:embed="rId6"/>
          <a:stretch/>
        </p:blipFill>
        <p:spPr>
          <a:xfrm>
            <a:off x="664200" y="363636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5388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Reordering: sort() vs. sorted(), and reverse()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0233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0784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chart.png"/>
          <p:cNvPicPr/>
          <p:nvPr/>
        </p:nvPicPr>
        <p:blipFill>
          <a:blip r:embed="rId7"/>
          <a:stretch/>
        </p:blipFill>
        <p:spPr>
          <a:xfrm>
            <a:off x="664200" y="41209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0233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min(), max(), sum(), membership, equality &amp; nested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50792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56300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bolt.png"/>
          <p:cNvPicPr/>
          <p:nvPr/>
        </p:nvPicPr>
        <p:blipFill>
          <a:blip r:embed="rId8"/>
          <a:stretch/>
        </p:blipFill>
        <p:spPr>
          <a:xfrm>
            <a:off x="664200" y="460548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50792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as stacks, and a taste of time complexity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499248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04756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lock.png"/>
          <p:cNvPicPr/>
          <p:nvPr/>
        </p:nvPicPr>
        <p:blipFill>
          <a:blip r:embed="rId9"/>
          <a:stretch/>
        </p:blipFill>
        <p:spPr>
          <a:xfrm>
            <a:off x="664200" y="509004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499248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Tuples — the list that cannot change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47740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53248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boxopen.png"/>
          <p:cNvPicPr/>
          <p:nvPr/>
        </p:nvPicPr>
        <p:blipFill>
          <a:blip r:embed="rId10"/>
          <a:stretch/>
        </p:blipFill>
        <p:spPr>
          <a:xfrm>
            <a:off x="664200" y="557460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47740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 packing, unpacking &amp; nested tuples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457200" y="5961960"/>
            <a:ext cx="11274120" cy="392760"/>
          </a:xfrm>
          <a:prstGeom prst="roundRect">
            <a:avLst>
              <a:gd name="adj" fmla="val 1627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1"/>
          <p:cNvSpPr/>
          <p:nvPr/>
        </p:nvSpPr>
        <p:spPr>
          <a:xfrm>
            <a:off x="621720" y="6017040"/>
            <a:ext cx="282600" cy="282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0" descr="icons/tasks.png"/>
          <p:cNvPicPr/>
          <p:nvPr/>
        </p:nvPicPr>
        <p:blipFill>
          <a:blip r:embed="rId11"/>
          <a:stretch/>
        </p:blipFill>
        <p:spPr>
          <a:xfrm>
            <a:off x="664200" y="6059520"/>
            <a:ext cx="197640" cy="19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32"/>
          <p:cNvSpPr/>
          <p:nvPr/>
        </p:nvSpPr>
        <p:spPr>
          <a:xfrm>
            <a:off x="1325880" y="5961960"/>
            <a:ext cx="100580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projects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everything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0" descr="icons/ta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0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Types &amp; Data Structures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little vocabulary before we touch a single list.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icons/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 Is 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Typ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1" descr="icons/ta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label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value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type tells Python what kind of value something is — a number, some text, true/false, and so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decides what you're allowed to do with that value — you can add two numbers, but not two booleans the same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four of these in an earlier session: int, float, str, and bool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 Is 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ctur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way to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hold many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values at once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data structure organizes and stores multiple values together, so you can manage them as one group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Instead of creating 100 separate variables for 100 student names, a data structure holds all 100 in one place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data structure is built out of data types — a list of scores is a structure full of int values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and tuples, today's whole topic, are both data structures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icons/squa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vs. Non-Primitive — The Big Split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1" descr="icons/squar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Primitive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Hold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exact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singl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Simpl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e,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fixed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size,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direc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ples: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int,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float, </a:t>
            </a: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2" descr="icons/boxopen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Non-Primitive Types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hold many values, or a whole collection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 out of primitive types (or even other non-primitives)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Examples: list, tuple, dictionary, array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457200" y="2194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5486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Whole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327600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33674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60944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61858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9132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90046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57200" y="2761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5486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Decimal number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327600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33674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60944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61858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9132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90046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float / double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457200" y="332856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5486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True or False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327600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33674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60944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61858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true bool (0/1)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9132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90046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boolean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457200" y="3895200"/>
            <a:ext cx="2818440" cy="566640"/>
          </a:xfrm>
          <a:prstGeom prst="rect">
            <a:avLst/>
          </a:prstGeom>
          <a:solidFill>
            <a:srgbClr val="F1F3EC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5486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Single character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6"/>
          <p:cNvSpPr/>
          <p:nvPr/>
        </p:nvSpPr>
        <p:spPr>
          <a:xfrm>
            <a:off x="327600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7"/>
          <p:cNvSpPr/>
          <p:nvPr/>
        </p:nvSpPr>
        <p:spPr>
          <a:xfrm>
            <a:off x="33674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separate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60944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1858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89132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1"/>
          <p:cNvSpPr/>
          <p:nvPr/>
        </p:nvSpPr>
        <p:spPr>
          <a:xfrm>
            <a:off x="90046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Non-Primitive Types — Across Languages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4572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Concept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7600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60944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solidFill>
            <a:srgbClr val="13312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8913240" y="1691640"/>
            <a:ext cx="281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457200" y="2194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54864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Ordered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327600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3367440" y="219492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0944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1858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8913240" y="2194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9004680" y="2194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ArrayList /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3" name="Shape 18"/>
          <p:cNvSpPr/>
          <p:nvPr/>
        </p:nvSpPr>
        <p:spPr>
          <a:xfrm>
            <a:off x="457200" y="2761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9"/>
          <p:cNvSpPr/>
          <p:nvPr/>
        </p:nvSpPr>
        <p:spPr>
          <a:xfrm>
            <a:off x="5486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Fixed collection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0"/>
          <p:cNvSpPr/>
          <p:nvPr/>
        </p:nvSpPr>
        <p:spPr>
          <a:xfrm>
            <a:off x="327600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1"/>
          <p:cNvSpPr/>
          <p:nvPr/>
        </p:nvSpPr>
        <p:spPr>
          <a:xfrm>
            <a:off x="336744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7" name="Shape 22"/>
          <p:cNvSpPr/>
          <p:nvPr/>
        </p:nvSpPr>
        <p:spPr>
          <a:xfrm>
            <a:off x="60944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3"/>
          <p:cNvSpPr/>
          <p:nvPr/>
        </p:nvSpPr>
        <p:spPr>
          <a:xfrm>
            <a:off x="61858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const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9" name="Shape 24"/>
          <p:cNvSpPr/>
          <p:nvPr/>
        </p:nvSpPr>
        <p:spPr>
          <a:xfrm>
            <a:off x="8913240" y="2761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5"/>
          <p:cNvSpPr/>
          <p:nvPr/>
        </p:nvSpPr>
        <p:spPr>
          <a:xfrm>
            <a:off x="9004680" y="2761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final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1" name="Shape 26"/>
          <p:cNvSpPr/>
          <p:nvPr/>
        </p:nvSpPr>
        <p:spPr>
          <a:xfrm>
            <a:off x="457200" y="332856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7"/>
          <p:cNvSpPr/>
          <p:nvPr/>
        </p:nvSpPr>
        <p:spPr>
          <a:xfrm>
            <a:off x="5486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Key-value pairs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8"/>
          <p:cNvSpPr/>
          <p:nvPr/>
        </p:nvSpPr>
        <p:spPr>
          <a:xfrm>
            <a:off x="327600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9"/>
          <p:cNvSpPr/>
          <p:nvPr/>
        </p:nvSpPr>
        <p:spPr>
          <a:xfrm>
            <a:off x="336744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dict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5" name="Shape 30"/>
          <p:cNvSpPr/>
          <p:nvPr/>
        </p:nvSpPr>
        <p:spPr>
          <a:xfrm>
            <a:off x="60944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1"/>
          <p:cNvSpPr/>
          <p:nvPr/>
        </p:nvSpPr>
        <p:spPr>
          <a:xfrm>
            <a:off x="61858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no built-in (struct)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7" name="Shape 32"/>
          <p:cNvSpPr/>
          <p:nvPr/>
        </p:nvSpPr>
        <p:spPr>
          <a:xfrm>
            <a:off x="8913240" y="332856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3"/>
          <p:cNvSpPr/>
          <p:nvPr/>
        </p:nvSpPr>
        <p:spPr>
          <a:xfrm>
            <a:off x="9004680" y="332856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HashMap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89" name="Shape 34"/>
          <p:cNvSpPr/>
          <p:nvPr/>
        </p:nvSpPr>
        <p:spPr>
          <a:xfrm>
            <a:off x="457200" y="3895200"/>
            <a:ext cx="2818440" cy="566640"/>
          </a:xfrm>
          <a:prstGeom prst="rect">
            <a:avLst/>
          </a:prstGeom>
          <a:solidFill>
            <a:srgbClr val="EFDFB8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5"/>
          <p:cNvSpPr/>
          <p:nvPr/>
        </p:nvSpPr>
        <p:spPr>
          <a:xfrm>
            <a:off x="5486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6"/>
          <p:cNvSpPr/>
          <p:nvPr/>
        </p:nvSpPr>
        <p:spPr>
          <a:xfrm>
            <a:off x="327600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7"/>
          <p:cNvSpPr/>
          <p:nvPr/>
        </p:nvSpPr>
        <p:spPr>
          <a:xfrm>
            <a:off x="336744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3" name="Shape 38"/>
          <p:cNvSpPr/>
          <p:nvPr/>
        </p:nvSpPr>
        <p:spPr>
          <a:xfrm>
            <a:off x="60944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9"/>
          <p:cNvSpPr/>
          <p:nvPr/>
        </p:nvSpPr>
        <p:spPr>
          <a:xfrm>
            <a:off x="61858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char array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5" name="Shape 40"/>
          <p:cNvSpPr/>
          <p:nvPr/>
        </p:nvSpPr>
        <p:spPr>
          <a:xfrm>
            <a:off x="8913240" y="3895200"/>
            <a:ext cx="281844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1"/>
          <p:cNvSpPr/>
          <p:nvPr/>
        </p:nvSpPr>
        <p:spPr>
          <a:xfrm>
            <a:off x="9004680" y="3895200"/>
            <a:ext cx="2635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String (an object!)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7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on's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Twis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t: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ythi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ng Is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an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Obje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1" descr="icons/boxopen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Even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single number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is an object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 and Java, primitive types are raw values sitting directly in memory — fast and simple, but rigid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Python, even a simple integer is secretly an object with extra information attached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part of why Python feels more flexible and consistent, but runs a little slower than 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Proof you've already seen: type() works on every single value, even numbers — because everything truly is an object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0" descr="icons/fon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Do Strings Fit?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1" descr="icons/fon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little bit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of both worlds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Strings hold text, but they are technically an ordered sequence of characters, not one indivisible value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makes a string feel simple like a primitive, but structured enough to be indexed and sliced — just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We will go deeper on strings in an upcoming session — for today, just know they blur the line a little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Python's Data Structures — What's Coming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"/>
          <p:cNvSpPr/>
          <p:nvPr/>
        </p:nvSpPr>
        <p:spPr>
          <a:xfrm>
            <a:off x="45720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"/>
          <p:cNvSpPr/>
          <p:nvPr/>
        </p:nvSpPr>
        <p:spPr>
          <a:xfrm>
            <a:off x="198576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 1" descr="icons/boxes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Text 4"/>
          <p:cNvSpPr/>
          <p:nvPr/>
        </p:nvSpPr>
        <p:spPr>
          <a:xfrm>
            <a:off x="54864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0336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429156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582012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2" descr="icons/lock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8"/>
          <p:cNvSpPr/>
          <p:nvPr/>
        </p:nvSpPr>
        <p:spPr>
          <a:xfrm>
            <a:off x="438300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43772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0"/>
          <p:cNvSpPr/>
          <p:nvPr/>
        </p:nvSpPr>
        <p:spPr>
          <a:xfrm>
            <a:off x="812592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965448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" name="Image 3" descr="icons/font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" name="Text 12"/>
          <p:cNvSpPr/>
          <p:nvPr/>
        </p:nvSpPr>
        <p:spPr>
          <a:xfrm>
            <a:off x="821736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827244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Already introduced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4"/>
          <p:cNvSpPr/>
          <p:nvPr/>
        </p:nvSpPr>
        <p:spPr>
          <a:xfrm>
            <a:off x="45720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5"/>
          <p:cNvSpPr/>
          <p:nvPr/>
        </p:nvSpPr>
        <p:spPr>
          <a:xfrm>
            <a:off x="198576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4" descr="icons/hashtag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16"/>
          <p:cNvSpPr/>
          <p:nvPr/>
        </p:nvSpPr>
        <p:spPr>
          <a:xfrm>
            <a:off x="54864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Dictionary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"/>
          <p:cNvSpPr/>
          <p:nvPr/>
        </p:nvSpPr>
        <p:spPr>
          <a:xfrm>
            <a:off x="60336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8"/>
          <p:cNvSpPr/>
          <p:nvPr/>
        </p:nvSpPr>
        <p:spPr>
          <a:xfrm>
            <a:off x="429156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9"/>
          <p:cNvSpPr/>
          <p:nvPr/>
        </p:nvSpPr>
        <p:spPr>
          <a:xfrm>
            <a:off x="582012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5" descr="icons/search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20"/>
          <p:cNvSpPr/>
          <p:nvPr/>
        </p:nvSpPr>
        <p:spPr>
          <a:xfrm>
            <a:off x="438300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1"/>
          <p:cNvSpPr/>
          <p:nvPr/>
        </p:nvSpPr>
        <p:spPr>
          <a:xfrm>
            <a:off x="443772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Coming soon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Quick Recap: Primitive vs. Non-Primitive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45720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198576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icons/square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4"/>
          <p:cNvSpPr/>
          <p:nvPr/>
        </p:nvSpPr>
        <p:spPr>
          <a:xfrm>
            <a:off x="54864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60336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6"/>
          <p:cNvSpPr/>
          <p:nvPr/>
        </p:nvSpPr>
        <p:spPr>
          <a:xfrm>
            <a:off x="429156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582012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2" descr="icons/square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8"/>
          <p:cNvSpPr/>
          <p:nvPr/>
        </p:nvSpPr>
        <p:spPr>
          <a:xfrm>
            <a:off x="438300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443772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812592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965448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3" descr="icons/square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12"/>
          <p:cNvSpPr/>
          <p:nvPr/>
        </p:nvSpPr>
        <p:spPr>
          <a:xfrm>
            <a:off x="821736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bool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827244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45720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198576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Image 4" descr="icons/boxopen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Text 16"/>
          <p:cNvSpPr/>
          <p:nvPr/>
        </p:nvSpPr>
        <p:spPr>
          <a:xfrm>
            <a:off x="54864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60336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8"/>
          <p:cNvSpPr/>
          <p:nvPr/>
        </p:nvSpPr>
        <p:spPr>
          <a:xfrm>
            <a:off x="429156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582012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5" descr="icons/boxopen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20"/>
          <p:cNvSpPr/>
          <p:nvPr/>
        </p:nvSpPr>
        <p:spPr>
          <a:xfrm>
            <a:off x="438300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1"/>
          <p:cNvSpPr/>
          <p:nvPr/>
        </p:nvSpPr>
        <p:spPr>
          <a:xfrm>
            <a:off x="443772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2"/>
          <p:cNvSpPr/>
          <p:nvPr/>
        </p:nvSpPr>
        <p:spPr>
          <a:xfrm>
            <a:off x="812592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3"/>
          <p:cNvSpPr/>
          <p:nvPr/>
        </p:nvSpPr>
        <p:spPr>
          <a:xfrm>
            <a:off x="965448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6" descr="icons/boxopen.png"/>
          <p:cNvPicPr/>
          <p:nvPr/>
        </p:nvPicPr>
        <p:blipFill>
          <a:blip r:embed="rId7"/>
          <a:stretch/>
        </p:blipFill>
        <p:spPr>
          <a:xfrm>
            <a:off x="973692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4"/>
          <p:cNvSpPr/>
          <p:nvPr/>
        </p:nvSpPr>
        <p:spPr>
          <a:xfrm>
            <a:off x="821736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/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827244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Non-Primitive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 Is a List?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List Is a Row of Numbered Boxes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Image 1" descr="icons/boxe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Changeable.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Mixed types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allowed.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stores several values together, in one single variable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has a position, called an index, starting at 0 — not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can hold any data type, even mixed together in the same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 (later today), a list can be changed after it's created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6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Square brackets [ ] create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Items are separated by commas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list — mixing int, int, and str — is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print(type(l1))   # &lt;class 'list'&gt;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Way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to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ate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list() function builds a list from almost any other collection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can turn a string into a list of its characters, or a range into a list of numbers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Multiplying an empty-ish list is a quick way to pre-fill it with repeated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list()             # [] — an empty list,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list("abc")        # ['a', 'b', 'c']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list(range(5))     # [0, 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[0] * 5            # [0, 0, 0, 0, 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2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"waseem"]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27" name="Shape 4"/>
          <p:cNvSpPr/>
          <p:nvPr/>
        </p:nvSpPr>
        <p:spPr>
          <a:xfrm>
            <a:off x="292608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5"/>
          <p:cNvSpPr/>
          <p:nvPr/>
        </p:nvSpPr>
        <p:spPr>
          <a:xfrm>
            <a:off x="292608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6"/>
          <p:cNvSpPr/>
          <p:nvPr/>
        </p:nvSpPr>
        <p:spPr>
          <a:xfrm>
            <a:off x="292608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7"/>
          <p:cNvSpPr/>
          <p:nvPr/>
        </p:nvSpPr>
        <p:spPr>
          <a:xfrm>
            <a:off x="444384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444384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444384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596196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1"/>
          <p:cNvSpPr/>
          <p:nvPr/>
        </p:nvSpPr>
        <p:spPr>
          <a:xfrm>
            <a:off x="596196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"waseem"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596196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548640" y="384048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l1[0]  →  7      (the box at index 0)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alibri"/>
              </a:rPr>
              <a:t>l1[1]  →  9      (the box at index 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Indexes always start counting from 0, not 1 — this trips up almost everyone at first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4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Indexing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292608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292608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292608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7"/>
          <p:cNvSpPr/>
          <p:nvPr/>
        </p:nvSpPr>
        <p:spPr>
          <a:xfrm>
            <a:off x="292608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8"/>
          <p:cNvSpPr/>
          <p:nvPr/>
        </p:nvSpPr>
        <p:spPr>
          <a:xfrm>
            <a:off x="444384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44384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0"/>
          <p:cNvSpPr/>
          <p:nvPr/>
        </p:nvSpPr>
        <p:spPr>
          <a:xfrm>
            <a:off x="444384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1"/>
          <p:cNvSpPr/>
          <p:nvPr/>
        </p:nvSpPr>
        <p:spPr>
          <a:xfrm>
            <a:off x="444384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2"/>
          <p:cNvSpPr/>
          <p:nvPr/>
        </p:nvSpPr>
        <p:spPr>
          <a:xfrm>
            <a:off x="5961960" y="2651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5961960" y="265176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5961960" y="330084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5"/>
          <p:cNvSpPr/>
          <p:nvPr/>
        </p:nvSpPr>
        <p:spPr>
          <a:xfrm>
            <a:off x="5961960" y="239580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98A2B"/>
                </a:solidFill>
                <a:effectLst/>
                <a:uFillTx/>
                <a:latin typeface="Consolas"/>
                <a:ea typeface="Consolas"/>
              </a:rPr>
              <a:t>-1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6"/>
          <p:cNvSpPr/>
          <p:nvPr/>
        </p:nvSpPr>
        <p:spPr>
          <a:xfrm>
            <a:off x="548640" y="402336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Nega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tive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xes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coun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back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ward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from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end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-1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last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l1[-1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]  →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"harr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y"    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l1[-2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]  → 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ul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whe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want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last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out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need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ing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kno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list's 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lengt</a:t>
            </a: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Out-of-Range: A Very Normal Error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has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valid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0,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1,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Askin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 for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does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raise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plete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 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error,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fix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mov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print(l1[70])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IndexError: list index out of range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3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[7, 9, "harry"]  -&gt;  l1[0:2]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292608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292608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292608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7"/>
          <p:cNvSpPr/>
          <p:nvPr/>
        </p:nvSpPr>
        <p:spPr>
          <a:xfrm>
            <a:off x="444384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444384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444384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5961960" y="237744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1"/>
          <p:cNvSpPr/>
          <p:nvPr/>
        </p:nvSpPr>
        <p:spPr>
          <a:xfrm>
            <a:off x="5961960" y="2377440"/>
            <a:ext cx="14626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"harry"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2"/>
          <p:cNvSpPr/>
          <p:nvPr/>
        </p:nvSpPr>
        <p:spPr>
          <a:xfrm>
            <a:off x="5961960" y="3026520"/>
            <a:ext cx="146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548640" y="3840480"/>
            <a:ext cx="11091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slice l1[start:stop] grabs a whole range of items at once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l1[0:2]  →  [7, 9]      — starts at index 0, stops right before index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highlighted boxes are what gets included — the "stop" index itself is never included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Advanced Slicing — Negatives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Steps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Slicing accepts negative indices too — count from the end, just like regular negative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third number after a second colon sets a step — "every Nth item"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step of -1 walks backward through the whole list — a quick way to reverse it without changing the original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print(l1[-3:-1])   # [2,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print(l1[:3])      # [1, 8, 7]   (start left out = from the beginning)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print(l1[3:])      # [2, 21, 15] (stop left out = to the end)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print(l1[::2])     # [1, 7, 21]  (every 2nd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print(l1[::-1])    # [15, 21, 2, 7, 8, 1]  (reversed!)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Access List 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works on lists too, not just tuples — one value per variable, in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lets one variable "soak up" everything left over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the position of a value, the reverse of normal indexing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a, b, c, d, e, f = l1        # unpack all 6 into 6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print(a, f)                  # 1 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l1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print(l1.index(21))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5" name="Image 0" descr="icons/rul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len() — How Many Items?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len() tells you exactly how many items are in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Very useful for checking a list's size before working with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print(len(l1))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1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5" name="Image 0" descr="icons/so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LIST METHODS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Before &amp; After — Watch the List 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method below uses the same starting list: l1 = [1, 8, 7, 2, 21, 15]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.append(8) — Add to the End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l1 = [1, 8, 7, 2, 21, 15]  -&gt;  l1.append(8)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4"/>
          <p:cNvSpPr/>
          <p:nvPr/>
        </p:nvSpPr>
        <p:spPr>
          <a:xfrm>
            <a:off x="113202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5"/>
          <p:cNvSpPr/>
          <p:nvPr/>
        </p:nvSpPr>
        <p:spPr>
          <a:xfrm>
            <a:off x="113202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6"/>
          <p:cNvSpPr/>
          <p:nvPr/>
        </p:nvSpPr>
        <p:spPr>
          <a:xfrm>
            <a:off x="113202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7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always adds the new item at the very end of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list grows by exactly one item, and nothing else moves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Does append() Take an Index?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— append() always adds to the end, no matter what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only ever accepts the value to add, never a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need a specific position, that's exactly what insert() is for, next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l1.append(4)       # fine — adds 4 to the end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l1.append(0, 4)    # TypeError — append() takes no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7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extend() vs. append() — A Common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Mix-Up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its argument as ONE single item — even if that argument is itself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extend() adds each item from another list individually, one by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Mixing these two up is one of the most common real bugs beginners write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l1.append([4,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[1, 2, 3, [4, 5]]   &lt;- a nested list!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l2.extend([4, 5])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print(l2)   # [1, 2, 3, 4, 5]     &lt;- flat, as expected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8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1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.insert(3, 8) — Add at a Specific Spot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l1.insert(3, 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4"/>
          <p:cNvSpPr/>
          <p:nvPr/>
        </p:nvSpPr>
        <p:spPr>
          <a:xfrm>
            <a:off x="113202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5"/>
          <p:cNvSpPr/>
          <p:nvPr/>
        </p:nvSpPr>
        <p:spPr>
          <a:xfrm>
            <a:off x="113202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46"/>
          <p:cNvSpPr/>
          <p:nvPr/>
        </p:nvSpPr>
        <p:spPr>
          <a:xfrm>
            <a:off x="113202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47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insert(index, value) pushes the new item into that exact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Everything that was already at or after that index shifts one spot to the right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4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4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2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insert() With a Negative Index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insert() accepts negative indices too — they count from the end, same as everywhere else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-1 means "insert right before the last item", not "insert at the very end"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truly insert at the end, append() is simpler and clearer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l1.insert(-1, 99)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[1, 8, 7, 2, 21, 99,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99 lands BEFORE the last item, not after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54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1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.pop(2) — Remove by Position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l1.pop(2)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41"/>
          <p:cNvSpPr/>
          <p:nvPr/>
        </p:nvSpPr>
        <p:spPr>
          <a:xfrm>
            <a:off x="548640" y="352044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l1.pop(2) removes the item at index 2, shifts everything after it left, </a:t>
            </a:r>
            <a:r>
              <a:rPr lang="en-US" sz="13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and RETURNS the removed value → 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42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is the only removal method that gives the value back to you — you can store it in a variable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an index, pop() removes the last item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4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pop() — Three Ways to Call It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 with no argument removes the LAST item — the most common way it's used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pop(0) removes the FIRST item — everything after it shifts left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pop(-1) is the same as calling pop() with nothing — explicit, but identical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l1.pop()      # removes 15 (the last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l1.pop(0)     # removes 1 (the first item)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l1.pop(-1)    # same as pop() with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nothing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0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mov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e(2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1)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mov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by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l1.remove(21)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E9C3BE"/>
          </a:solidFill>
          <a:ln w="19050">
            <a:solidFill>
              <a:srgbClr val="A54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5473F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41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searches for the first item that matches the value you gave it, and deletes that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appears more than once, only the first match is removed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value is not found at all, Python raises a ValueError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4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4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0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List Methods: index() and count()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4" name="Image 1" descr="icons/search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l1.index(21)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the position of the first 21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9" name="Image 2" descr="icons/hashta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0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l1.count(8)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Returns how many times 8 appears in the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6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.sort() — Reorder Smallest to Largest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l1.sort()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670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4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sort() rearranges the list in place — the original order is gone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 it sorts smallest to largest — pass reverse=True for largest to 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5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4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ed()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vs. .s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ort()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Sam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Thin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7" name="Image 1" descr="icons/exchang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8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.sort()  — a 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Changes the original list directly, permanently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None — do NOT write l1 = l1.sort()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 works on lists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2" name="Image 2" descr="icons/cop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sorted()  — a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Leaves the original list untouched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brand new, sorted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Works on lists, tuples, and more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sorted()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whenever you want a sorted view, but need to keep the original order intact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safer default when you are not sure yet whether you'll need the original order later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sorted(l1)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[1, 2, 7, 8, 15, 21]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    # [1, 8, 7, 2, 21, 15]  &lt;- unchanged!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3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hape 0"/>
          <p:cNvSpPr/>
          <p:nvPr/>
        </p:nvSpPr>
        <p:spPr>
          <a:xfrm>
            <a:off x="-1828800" y="521208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8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.reverse() — Flip the Order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  -&gt;  l1.reverse()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42" name="Text 5"/>
          <p:cNvSpPr/>
          <p:nvPr/>
        </p:nvSpPr>
        <p:spPr>
          <a:xfrm>
            <a:off x="5486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Shape 6"/>
          <p:cNvSpPr/>
          <p:nvPr/>
        </p:nvSpPr>
        <p:spPr>
          <a:xfrm>
            <a:off x="5486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7"/>
          <p:cNvSpPr/>
          <p:nvPr/>
        </p:nvSpPr>
        <p:spPr>
          <a:xfrm>
            <a:off x="5486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8"/>
          <p:cNvSpPr/>
          <p:nvPr/>
        </p:nvSpPr>
        <p:spPr>
          <a:xfrm>
            <a:off x="5486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9"/>
          <p:cNvSpPr/>
          <p:nvPr/>
        </p:nvSpPr>
        <p:spPr>
          <a:xfrm>
            <a:off x="1353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0"/>
          <p:cNvSpPr/>
          <p:nvPr/>
        </p:nvSpPr>
        <p:spPr>
          <a:xfrm>
            <a:off x="1353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11"/>
          <p:cNvSpPr/>
          <p:nvPr/>
        </p:nvSpPr>
        <p:spPr>
          <a:xfrm>
            <a:off x="1353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12"/>
          <p:cNvSpPr/>
          <p:nvPr/>
        </p:nvSpPr>
        <p:spPr>
          <a:xfrm>
            <a:off x="2157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3"/>
          <p:cNvSpPr/>
          <p:nvPr/>
        </p:nvSpPr>
        <p:spPr>
          <a:xfrm>
            <a:off x="2157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14"/>
          <p:cNvSpPr/>
          <p:nvPr/>
        </p:nvSpPr>
        <p:spPr>
          <a:xfrm>
            <a:off x="2157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5"/>
          <p:cNvSpPr/>
          <p:nvPr/>
        </p:nvSpPr>
        <p:spPr>
          <a:xfrm>
            <a:off x="29628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16"/>
          <p:cNvSpPr/>
          <p:nvPr/>
        </p:nvSpPr>
        <p:spPr>
          <a:xfrm>
            <a:off x="29628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17"/>
          <p:cNvSpPr/>
          <p:nvPr/>
        </p:nvSpPr>
        <p:spPr>
          <a:xfrm>
            <a:off x="29628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18"/>
          <p:cNvSpPr/>
          <p:nvPr/>
        </p:nvSpPr>
        <p:spPr>
          <a:xfrm>
            <a:off x="3767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19"/>
          <p:cNvSpPr/>
          <p:nvPr/>
        </p:nvSpPr>
        <p:spPr>
          <a:xfrm>
            <a:off x="3767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20"/>
          <p:cNvSpPr/>
          <p:nvPr/>
        </p:nvSpPr>
        <p:spPr>
          <a:xfrm>
            <a:off x="3767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21"/>
          <p:cNvSpPr/>
          <p:nvPr/>
        </p:nvSpPr>
        <p:spPr>
          <a:xfrm>
            <a:off x="4572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22"/>
          <p:cNvSpPr/>
          <p:nvPr/>
        </p:nvSpPr>
        <p:spPr>
          <a:xfrm>
            <a:off x="4572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23"/>
          <p:cNvSpPr/>
          <p:nvPr/>
        </p:nvSpPr>
        <p:spPr>
          <a:xfrm>
            <a:off x="4572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24"/>
          <p:cNvSpPr/>
          <p:nvPr/>
        </p:nvSpPr>
        <p:spPr>
          <a:xfrm>
            <a:off x="5806440" y="2468880"/>
            <a:ext cx="548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25"/>
          <p:cNvSpPr/>
          <p:nvPr/>
        </p:nvSpPr>
        <p:spPr>
          <a:xfrm>
            <a:off x="6492240" y="2148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26"/>
          <p:cNvSpPr/>
          <p:nvPr/>
        </p:nvSpPr>
        <p:spPr>
          <a:xfrm>
            <a:off x="64922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7"/>
          <p:cNvSpPr/>
          <p:nvPr/>
        </p:nvSpPr>
        <p:spPr>
          <a:xfrm>
            <a:off x="64922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28"/>
          <p:cNvSpPr/>
          <p:nvPr/>
        </p:nvSpPr>
        <p:spPr>
          <a:xfrm>
            <a:off x="64922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29"/>
          <p:cNvSpPr/>
          <p:nvPr/>
        </p:nvSpPr>
        <p:spPr>
          <a:xfrm>
            <a:off x="72968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30"/>
          <p:cNvSpPr/>
          <p:nvPr/>
        </p:nvSpPr>
        <p:spPr>
          <a:xfrm>
            <a:off x="72968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31"/>
          <p:cNvSpPr/>
          <p:nvPr/>
        </p:nvSpPr>
        <p:spPr>
          <a:xfrm>
            <a:off x="72968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32"/>
          <p:cNvSpPr/>
          <p:nvPr/>
        </p:nvSpPr>
        <p:spPr>
          <a:xfrm>
            <a:off x="810144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33"/>
          <p:cNvSpPr/>
          <p:nvPr/>
        </p:nvSpPr>
        <p:spPr>
          <a:xfrm>
            <a:off x="810144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34"/>
          <p:cNvSpPr/>
          <p:nvPr/>
        </p:nvSpPr>
        <p:spPr>
          <a:xfrm>
            <a:off x="810144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35"/>
          <p:cNvSpPr/>
          <p:nvPr/>
        </p:nvSpPr>
        <p:spPr>
          <a:xfrm>
            <a:off x="89064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36"/>
          <p:cNvSpPr/>
          <p:nvPr/>
        </p:nvSpPr>
        <p:spPr>
          <a:xfrm>
            <a:off x="89064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37"/>
          <p:cNvSpPr/>
          <p:nvPr/>
        </p:nvSpPr>
        <p:spPr>
          <a:xfrm>
            <a:off x="89064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Shape 38"/>
          <p:cNvSpPr/>
          <p:nvPr/>
        </p:nvSpPr>
        <p:spPr>
          <a:xfrm>
            <a:off x="97110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39"/>
          <p:cNvSpPr/>
          <p:nvPr/>
        </p:nvSpPr>
        <p:spPr>
          <a:xfrm>
            <a:off x="97110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40"/>
          <p:cNvSpPr/>
          <p:nvPr/>
        </p:nvSpPr>
        <p:spPr>
          <a:xfrm>
            <a:off x="97110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41"/>
          <p:cNvSpPr/>
          <p:nvPr/>
        </p:nvSpPr>
        <p:spPr>
          <a:xfrm>
            <a:off x="10515600" y="2514600"/>
            <a:ext cx="74952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2"/>
          <p:cNvSpPr/>
          <p:nvPr/>
        </p:nvSpPr>
        <p:spPr>
          <a:xfrm>
            <a:off x="10515600" y="2514600"/>
            <a:ext cx="7495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43"/>
          <p:cNvSpPr/>
          <p:nvPr/>
        </p:nvSpPr>
        <p:spPr>
          <a:xfrm>
            <a:off x="10515600" y="3163680"/>
            <a:ext cx="749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B564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44"/>
          <p:cNvSpPr/>
          <p:nvPr/>
        </p:nvSpPr>
        <p:spPr>
          <a:xfrm>
            <a:off x="548640" y="3977640"/>
            <a:ext cx="1109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reverse() simply flips the current order — it does NOT sort the values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that is already sorted, once reversed, becomes largest to smallest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45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4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del and .clear() — Two More Ways to Remove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like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pop()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but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does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also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entir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clear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empt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whol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list,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keep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(now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empt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y) 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itself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l1[0]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l1.clear()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print(l1)   #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9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5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Lists: + and *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joins two lists together into a brand new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repeats a list a given number of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b)   # [1, 2, 3, 4]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* 3)   # [1, 2, 1, 2, 1, 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0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4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Multiplication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[[]] *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looks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like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empt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 lists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does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actua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3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ence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SAM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inner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"cop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y"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silent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all 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them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classi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view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[[]]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*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grid[0].ap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pend(1)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id[0]))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id[1]))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print(id(gr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id[2]))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[[1], [1], </a:t>
            </a: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[1]]   &lt;- all </a:t>
            </a: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three </a:t>
            </a: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changed!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safe </a:t>
            </a: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way: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[[]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_ in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range(3)]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# (loops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covered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next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session)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0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3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Copying Gotcha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3"/>
          <p:cNvSpPr/>
          <p:nvPr/>
        </p:nvSpPr>
        <p:spPr>
          <a:xfrm>
            <a:off x="548640" y="1417320"/>
            <a:ext cx="11091240" cy="50256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4"/>
          <p:cNvSpPr/>
          <p:nvPr/>
        </p:nvSpPr>
        <p:spPr>
          <a:xfrm>
            <a:off x="731520" y="1417320"/>
            <a:ext cx="10725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l2 =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 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(this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does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NOT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mak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 a 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copy!</a:t>
            </a: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7" name="Text 5"/>
          <p:cNvSpPr/>
          <p:nvPr/>
        </p:nvSpPr>
        <p:spPr>
          <a:xfrm>
            <a:off x="1188720" y="228600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8" name="Text 6"/>
          <p:cNvSpPr/>
          <p:nvPr/>
        </p:nvSpPr>
        <p:spPr>
          <a:xfrm>
            <a:off x="1188720" y="274320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19" name="Shape 7"/>
          <p:cNvSpPr/>
          <p:nvPr/>
        </p:nvSpPr>
        <p:spPr>
          <a:xfrm>
            <a:off x="219456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8"/>
          <p:cNvSpPr/>
          <p:nvPr/>
        </p:nvSpPr>
        <p:spPr>
          <a:xfrm>
            <a:off x="219456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Shape 9"/>
          <p:cNvSpPr/>
          <p:nvPr/>
        </p:nvSpPr>
        <p:spPr>
          <a:xfrm>
            <a:off x="293508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0"/>
          <p:cNvSpPr/>
          <p:nvPr/>
        </p:nvSpPr>
        <p:spPr>
          <a:xfrm>
            <a:off x="293508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1"/>
          <p:cNvSpPr/>
          <p:nvPr/>
        </p:nvSpPr>
        <p:spPr>
          <a:xfrm>
            <a:off x="3675960" y="242316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12"/>
          <p:cNvSpPr/>
          <p:nvPr/>
        </p:nvSpPr>
        <p:spPr>
          <a:xfrm>
            <a:off x="3675960" y="242316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13"/>
          <p:cNvSpPr/>
          <p:nvPr/>
        </p:nvSpPr>
        <p:spPr>
          <a:xfrm>
            <a:off x="4846320" y="2331720"/>
            <a:ext cx="3657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Both names point to the exact same boxes.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Change l2, and l1 changes too.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14"/>
          <p:cNvSpPr/>
          <p:nvPr/>
        </p:nvSpPr>
        <p:spPr>
          <a:xfrm>
            <a:off x="1188720" y="420624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ntarell"/>
                <a:ea typeface="Consolas"/>
              </a:rPr>
              <a:t>l1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27" name="Shape 15"/>
          <p:cNvSpPr/>
          <p:nvPr/>
        </p:nvSpPr>
        <p:spPr>
          <a:xfrm>
            <a:off x="21945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16"/>
          <p:cNvSpPr/>
          <p:nvPr/>
        </p:nvSpPr>
        <p:spPr>
          <a:xfrm>
            <a:off x="21945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17"/>
          <p:cNvSpPr/>
          <p:nvPr/>
        </p:nvSpPr>
        <p:spPr>
          <a:xfrm>
            <a:off x="293508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18"/>
          <p:cNvSpPr/>
          <p:nvPr/>
        </p:nvSpPr>
        <p:spPr>
          <a:xfrm>
            <a:off x="293508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19"/>
          <p:cNvSpPr/>
          <p:nvPr/>
        </p:nvSpPr>
        <p:spPr>
          <a:xfrm>
            <a:off x="36759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0"/>
          <p:cNvSpPr/>
          <p:nvPr/>
        </p:nvSpPr>
        <p:spPr>
          <a:xfrm>
            <a:off x="36759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1"/>
          <p:cNvSpPr/>
          <p:nvPr/>
        </p:nvSpPr>
        <p:spPr>
          <a:xfrm>
            <a:off x="7589520" y="4206240"/>
            <a:ext cx="731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98A2B"/>
                </a:solidFill>
                <a:effectLst/>
                <a:uFillTx/>
                <a:latin typeface="Cantarell"/>
                <a:ea typeface="Consolas"/>
              </a:rPr>
              <a:t>l3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34" name="Shape 22"/>
          <p:cNvSpPr/>
          <p:nvPr/>
        </p:nvSpPr>
        <p:spPr>
          <a:xfrm>
            <a:off x="85953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23"/>
          <p:cNvSpPr/>
          <p:nvPr/>
        </p:nvSpPr>
        <p:spPr>
          <a:xfrm>
            <a:off x="85953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4"/>
          <p:cNvSpPr/>
          <p:nvPr/>
        </p:nvSpPr>
        <p:spPr>
          <a:xfrm>
            <a:off x="933588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25"/>
          <p:cNvSpPr/>
          <p:nvPr/>
        </p:nvSpPr>
        <p:spPr>
          <a:xfrm>
            <a:off x="933588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Shape 26"/>
          <p:cNvSpPr/>
          <p:nvPr/>
        </p:nvSpPr>
        <p:spPr>
          <a:xfrm>
            <a:off x="10076760" y="4343400"/>
            <a:ext cx="685440" cy="62136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27"/>
          <p:cNvSpPr/>
          <p:nvPr/>
        </p:nvSpPr>
        <p:spPr>
          <a:xfrm>
            <a:off x="10076760" y="4343400"/>
            <a:ext cx="685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28"/>
          <p:cNvSpPr/>
          <p:nvPr/>
        </p:nvSpPr>
        <p:spPr>
          <a:xfrm>
            <a:off x="2194560" y="50749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l3 = </a:t>
            </a: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l1.copy()  </a:t>
            </a: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-&gt;  two </a:t>
            </a: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completely </a:t>
            </a: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separate </a:t>
            </a: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lists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29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30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5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Shallow Copy Gotcha — Nested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.copy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copie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level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deep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calle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shall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ains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other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it,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thos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inner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still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share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throu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gh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"cop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y"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still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origi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 too!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real fix: import copy;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5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Tuples  ·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4" name="Image 0" descr="icons/cop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Shallow Copy vs. Deep Copy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shall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.c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opy()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list(x)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or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[:] 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copie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outer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only.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are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still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share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origi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deep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copie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all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way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dow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n.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resul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 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plete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pend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ent,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share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 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on's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mod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ule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provi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deep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copy(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) for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exact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situat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import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original = [1, 2, [3, 4]]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 = original.copy()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 = copy.deepcopy(original)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shallow[2].append(5)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changed! (shared)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deep[2].append(9)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print(original)   # [1, 2, [3, 4, 5]]  &lt;- unchanged (independent)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5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3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min(), max(), and sum()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Thes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three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ions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work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direc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no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meth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need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min()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max(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) find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large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sum(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)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print(min(l1))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print(max(l1))   #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print(sum(l1))   # 54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6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2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Using a List as a Stack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6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Last In,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First 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(LIFO)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+ pop() together turn a plain list into a stack — a real, widely-used data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last item you added is always the first one you remove — like a stack of plates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examples: a browser's "back" button, and "undo" history in any 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append() adds to the top; pop() (no argument) removes from the 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3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Stack in Action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exact same append()/pop() you already know — just used with intention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shows up constantly in real interview questions and real applications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 1")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 2")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history.append("Pag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 3")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print(history.pop())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# "Page 3"  &lt;- the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most recent page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print(history)    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["Page 1", "Page 2"]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8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1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Front vs. Back Matters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5" name="Image 1" descr="icons/bolt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6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append() / pop()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Fast — works at the end, nothing needs to shift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0" name="Image 2" descr="icons/warning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1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insert(0, x) / pop(0)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Slower — everything after index 0 has to shift over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7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king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mbe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rshi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p: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/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met in and not in back in the operators session — they work on lists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checks whether a value exists anywhere in the list, without needing to know its index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Returns a plain True or False, ready to use directly inside an if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l1 = [1, 8, 7, 2, 21, 15]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print(7 in l1)      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in l1)      # False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print(100 not in l1)  #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12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6" name="Image 0" descr="icons/balanc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Equ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ality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==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== checks whether two lists contain the same values, in the same order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different from checking if they are the literal same list in memory (that's what is is for — a topic for another day)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b)   # True  -&gt; same values, same order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== [3, 2, 1])   # False -&gt; order matters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2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5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Lists — A List Inside a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hold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anyt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inclu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other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how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repre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sent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grid-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like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table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-like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squa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brack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ets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 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item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inner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print(grid[0])      #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print(grid[0][1])   # 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print(grid[1][2])   #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4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for an Empty List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empt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 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"falsy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 —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treat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False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clean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est,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most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mon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way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 if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has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anyt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it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 all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my_list =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if not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my_list: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print("The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list is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print("The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list has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items")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3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3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Strings ↔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breaks a string into a list of its individual characters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"".join(a_list) glues a list of strings back into one single string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bridge between strings and lists is used constantly in real programs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 =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chars = list(word)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print(chars)          # ['h', 'e', 'l', 'l', 'o']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 = "".join(chars)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print(back)           # "hello"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4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2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Converting Between List and Tuple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list() turns almost any collection into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tuple() does the same, but produces an immutable tuple instead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Handy when you need to "unlock" a tuple temporarily, edit it as a list, then lock it again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a_tuple = 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a_list = list(a_tuple)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print(a_list)        # [1, 2, 3]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back_to_tuple = tuple(a_list)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print(back_to_tuple) # (1, 2,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0" name="Image 0" descr="icons/thlis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Methods Cheat Sheet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2"/>
          <p:cNvSpPr/>
          <p:nvPr/>
        </p:nvSpPr>
        <p:spPr>
          <a:xfrm>
            <a:off x="45720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3"/>
          <p:cNvSpPr/>
          <p:nvPr/>
        </p:nvSpPr>
        <p:spPr>
          <a:xfrm>
            <a:off x="206784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4" name="Image 1" descr="icons/pluscircle.png"/>
          <p:cNvPicPr/>
          <p:nvPr/>
        </p:nvPicPr>
        <p:blipFill>
          <a:blip r:embed="rId2"/>
          <a:stretch/>
        </p:blipFill>
        <p:spPr>
          <a:xfrm>
            <a:off x="212544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5" name="Text 4"/>
          <p:cNvSpPr/>
          <p:nvPr/>
        </p:nvSpPr>
        <p:spPr>
          <a:xfrm>
            <a:off x="54864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append(x)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5"/>
          <p:cNvSpPr/>
          <p:nvPr/>
        </p:nvSpPr>
        <p:spPr>
          <a:xfrm>
            <a:off x="60336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to the end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Shape 6"/>
          <p:cNvSpPr/>
          <p:nvPr/>
        </p:nvSpPr>
        <p:spPr>
          <a:xfrm>
            <a:off x="429156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7"/>
          <p:cNvSpPr/>
          <p:nvPr/>
        </p:nvSpPr>
        <p:spPr>
          <a:xfrm>
            <a:off x="590220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9" name="Image 2" descr="icons/pluscircle.png"/>
          <p:cNvPicPr/>
          <p:nvPr/>
        </p:nvPicPr>
        <p:blipFill>
          <a:blip r:embed="rId3"/>
          <a:stretch/>
        </p:blipFill>
        <p:spPr>
          <a:xfrm>
            <a:off x="595980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0" name="Text 8"/>
          <p:cNvSpPr/>
          <p:nvPr/>
        </p:nvSpPr>
        <p:spPr>
          <a:xfrm>
            <a:off x="438300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extend(list)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9"/>
          <p:cNvSpPr/>
          <p:nvPr/>
        </p:nvSpPr>
        <p:spPr>
          <a:xfrm>
            <a:off x="443772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each item from another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10"/>
          <p:cNvSpPr/>
          <p:nvPr/>
        </p:nvSpPr>
        <p:spPr>
          <a:xfrm>
            <a:off x="8125920" y="150876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11"/>
          <p:cNvSpPr/>
          <p:nvPr/>
        </p:nvSpPr>
        <p:spPr>
          <a:xfrm>
            <a:off x="9736560" y="168624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4" name="Image 3" descr="icons/pluscircle.png"/>
          <p:cNvPicPr/>
          <p:nvPr/>
        </p:nvPicPr>
        <p:blipFill>
          <a:blip r:embed="rId4"/>
          <a:stretch/>
        </p:blipFill>
        <p:spPr>
          <a:xfrm>
            <a:off x="9794160" y="174384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5" name="Text 12"/>
          <p:cNvSpPr/>
          <p:nvPr/>
        </p:nvSpPr>
        <p:spPr>
          <a:xfrm>
            <a:off x="8217360" y="21438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insert(i, 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13"/>
          <p:cNvSpPr/>
          <p:nvPr/>
        </p:nvSpPr>
        <p:spPr>
          <a:xfrm>
            <a:off x="8272440" y="252756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Adds x at index 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14"/>
          <p:cNvSpPr/>
          <p:nvPr/>
        </p:nvSpPr>
        <p:spPr>
          <a:xfrm>
            <a:off x="45720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5"/>
          <p:cNvSpPr/>
          <p:nvPr/>
        </p:nvSpPr>
        <p:spPr>
          <a:xfrm>
            <a:off x="206784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9" name="Image 4" descr="icons/minuscircle.png"/>
          <p:cNvPicPr/>
          <p:nvPr/>
        </p:nvPicPr>
        <p:blipFill>
          <a:blip r:embed="rId5"/>
          <a:stretch/>
        </p:blipFill>
        <p:spPr>
          <a:xfrm>
            <a:off x="212544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0" name="Text 16"/>
          <p:cNvSpPr/>
          <p:nvPr/>
        </p:nvSpPr>
        <p:spPr>
          <a:xfrm>
            <a:off x="54864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pop(i)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17"/>
          <p:cNvSpPr/>
          <p:nvPr/>
        </p:nvSpPr>
        <p:spPr>
          <a:xfrm>
            <a:off x="60336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index i, returns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18"/>
          <p:cNvSpPr/>
          <p:nvPr/>
        </p:nvSpPr>
        <p:spPr>
          <a:xfrm>
            <a:off x="429156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19"/>
          <p:cNvSpPr/>
          <p:nvPr/>
        </p:nvSpPr>
        <p:spPr>
          <a:xfrm>
            <a:off x="590220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4" name="Image 5" descr="icons/minuscircle.png"/>
          <p:cNvPicPr/>
          <p:nvPr/>
        </p:nvPicPr>
        <p:blipFill>
          <a:blip r:embed="rId6"/>
          <a:stretch/>
        </p:blipFill>
        <p:spPr>
          <a:xfrm>
            <a:off x="595980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5" name="Text 20"/>
          <p:cNvSpPr/>
          <p:nvPr/>
        </p:nvSpPr>
        <p:spPr>
          <a:xfrm>
            <a:off x="438300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remove(</a:t>
            </a: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21"/>
          <p:cNvSpPr/>
          <p:nvPr/>
        </p:nvSpPr>
        <p:spPr>
          <a:xfrm>
            <a:off x="443772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Removes first match of 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22"/>
          <p:cNvSpPr/>
          <p:nvPr/>
        </p:nvSpPr>
        <p:spPr>
          <a:xfrm>
            <a:off x="8125920" y="321552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23"/>
          <p:cNvSpPr/>
          <p:nvPr/>
        </p:nvSpPr>
        <p:spPr>
          <a:xfrm>
            <a:off x="9736560" y="339300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9" name="Image 6" descr="icons/sort.png"/>
          <p:cNvPicPr/>
          <p:nvPr/>
        </p:nvPicPr>
        <p:blipFill>
          <a:blip r:embed="rId7"/>
          <a:stretch/>
        </p:blipFill>
        <p:spPr>
          <a:xfrm>
            <a:off x="9794160" y="345060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0" name="Text 24"/>
          <p:cNvSpPr/>
          <p:nvPr/>
        </p:nvSpPr>
        <p:spPr>
          <a:xfrm>
            <a:off x="8217360" y="385056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sort()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25"/>
          <p:cNvSpPr/>
          <p:nvPr/>
        </p:nvSpPr>
        <p:spPr>
          <a:xfrm>
            <a:off x="8272440" y="423468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Reorders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smallest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largest,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 place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26"/>
          <p:cNvSpPr/>
          <p:nvPr/>
        </p:nvSpPr>
        <p:spPr>
          <a:xfrm>
            <a:off x="45720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27"/>
          <p:cNvSpPr/>
          <p:nvPr/>
        </p:nvSpPr>
        <p:spPr>
          <a:xfrm>
            <a:off x="206784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4" name="Image 7" descr="icons/sort.png"/>
          <p:cNvPicPr/>
          <p:nvPr/>
        </p:nvPicPr>
        <p:blipFill>
          <a:blip r:embed="rId8"/>
          <a:stretch/>
        </p:blipFill>
        <p:spPr>
          <a:xfrm>
            <a:off x="212544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5" name="Text 28"/>
          <p:cNvSpPr/>
          <p:nvPr/>
        </p:nvSpPr>
        <p:spPr>
          <a:xfrm>
            <a:off x="54864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reverse()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29"/>
          <p:cNvSpPr/>
          <p:nvPr/>
        </p:nvSpPr>
        <p:spPr>
          <a:xfrm>
            <a:off x="60336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Flips the current order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30"/>
          <p:cNvSpPr/>
          <p:nvPr/>
        </p:nvSpPr>
        <p:spPr>
          <a:xfrm>
            <a:off x="429156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31"/>
          <p:cNvSpPr/>
          <p:nvPr/>
        </p:nvSpPr>
        <p:spPr>
          <a:xfrm>
            <a:off x="590220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9" name="Image 8" descr="icons/search.png"/>
          <p:cNvPicPr/>
          <p:nvPr/>
        </p:nvPicPr>
        <p:blipFill>
          <a:blip r:embed="rId9"/>
          <a:stretch/>
        </p:blipFill>
        <p:spPr>
          <a:xfrm>
            <a:off x="595980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0" name="Text 32"/>
          <p:cNvSpPr/>
          <p:nvPr/>
        </p:nvSpPr>
        <p:spPr>
          <a:xfrm>
            <a:off x="438300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 </a:t>
            </a: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/ </a:t>
            </a: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33"/>
          <p:cNvSpPr/>
          <p:nvPr/>
        </p:nvSpPr>
        <p:spPr>
          <a:xfrm>
            <a:off x="443772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Finds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position /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counts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matches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34"/>
          <p:cNvSpPr/>
          <p:nvPr/>
        </p:nvSpPr>
        <p:spPr>
          <a:xfrm>
            <a:off x="8125920" y="4922640"/>
            <a:ext cx="3605400" cy="1477800"/>
          </a:xfrm>
          <a:prstGeom prst="roundRect">
            <a:avLst>
              <a:gd name="adj" fmla="val 4948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35"/>
          <p:cNvSpPr/>
          <p:nvPr/>
        </p:nvSpPr>
        <p:spPr>
          <a:xfrm>
            <a:off x="9736560" y="5099760"/>
            <a:ext cx="384120" cy="38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4" name="Image 9" descr="icons/copy.png"/>
          <p:cNvPicPr/>
          <p:nvPr/>
        </p:nvPicPr>
        <p:blipFill>
          <a:blip r:embed="rId10"/>
          <a:stretch/>
        </p:blipFill>
        <p:spPr>
          <a:xfrm>
            <a:off x="9794160" y="5157720"/>
            <a:ext cx="268560" cy="2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5" name="Text 36"/>
          <p:cNvSpPr/>
          <p:nvPr/>
        </p:nvSpPr>
        <p:spPr>
          <a:xfrm>
            <a:off x="8217360" y="55573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copy()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37"/>
          <p:cNvSpPr/>
          <p:nvPr/>
        </p:nvSpPr>
        <p:spPr>
          <a:xfrm>
            <a:off x="8272440" y="5941440"/>
            <a:ext cx="33127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Shallow copy — one level deep only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3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1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5"/>
          <p:cNvSpPr/>
          <p:nvPr/>
        </p:nvSpPr>
        <p:spPr>
          <a:xfrm>
            <a:off x="822960" y="24231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"/>
          <p:cNvSpPr/>
          <p:nvPr/>
        </p:nvSpPr>
        <p:spPr>
          <a:xfrm>
            <a:off x="822960" y="24231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7"/>
          <p:cNvSpPr/>
          <p:nvPr/>
        </p:nvSpPr>
        <p:spPr>
          <a:xfrm>
            <a:off x="1418400" y="24231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list with your 3 favorite foods, and print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8"/>
          <p:cNvSpPr/>
          <p:nvPr/>
        </p:nvSpPr>
        <p:spPr>
          <a:xfrm>
            <a:off x="822960" y="28630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9"/>
          <p:cNvSpPr/>
          <p:nvPr/>
        </p:nvSpPr>
        <p:spPr>
          <a:xfrm>
            <a:off x="822960" y="28630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10"/>
          <p:cNvSpPr/>
          <p:nvPr/>
        </p:nvSpPr>
        <p:spPr>
          <a:xfrm>
            <a:off x="1418400" y="28630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length of your list using len()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1"/>
          <p:cNvSpPr/>
          <p:nvPr/>
        </p:nvSpPr>
        <p:spPr>
          <a:xfrm>
            <a:off x="822960" y="33033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2"/>
          <p:cNvSpPr/>
          <p:nvPr/>
        </p:nvSpPr>
        <p:spPr>
          <a:xfrm>
            <a:off x="822960" y="33033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13"/>
          <p:cNvSpPr/>
          <p:nvPr/>
        </p:nvSpPr>
        <p:spPr>
          <a:xfrm>
            <a:off x="1418400" y="33033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item at index 1 in your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4"/>
          <p:cNvSpPr/>
          <p:nvPr/>
        </p:nvSpPr>
        <p:spPr>
          <a:xfrm>
            <a:off x="822960" y="37432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5"/>
          <p:cNvSpPr/>
          <p:nvPr/>
        </p:nvSpPr>
        <p:spPr>
          <a:xfrm>
            <a:off x="822960" y="37432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16"/>
          <p:cNvSpPr/>
          <p:nvPr/>
        </p:nvSpPr>
        <p:spPr>
          <a:xfrm>
            <a:off x="1418400" y="37432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 the second item in your list to something else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7"/>
          <p:cNvSpPr/>
          <p:nvPr/>
        </p:nvSpPr>
        <p:spPr>
          <a:xfrm>
            <a:off x="822960" y="418356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8"/>
          <p:cNvSpPr/>
          <p:nvPr/>
        </p:nvSpPr>
        <p:spPr>
          <a:xfrm>
            <a:off x="822960" y="418356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19"/>
          <p:cNvSpPr/>
          <p:nvPr/>
        </p:nvSpPr>
        <p:spPr>
          <a:xfrm>
            <a:off x="1418400" y="418356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LAST item in your list using a negative index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0"/>
          <p:cNvSpPr/>
          <p:nvPr/>
        </p:nvSpPr>
        <p:spPr>
          <a:xfrm>
            <a:off x="822960" y="46234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1"/>
          <p:cNvSpPr/>
          <p:nvPr/>
        </p:nvSpPr>
        <p:spPr>
          <a:xfrm>
            <a:off x="822960" y="46234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22"/>
          <p:cNvSpPr/>
          <p:nvPr/>
        </p:nvSpPr>
        <p:spPr>
          <a:xfrm>
            <a:off x="1418400" y="46234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slicing to print just the first two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Shape 23"/>
          <p:cNvSpPr/>
          <p:nvPr/>
        </p:nvSpPr>
        <p:spPr>
          <a:xfrm>
            <a:off x="822960" y="506340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4"/>
          <p:cNvSpPr/>
          <p:nvPr/>
        </p:nvSpPr>
        <p:spPr>
          <a:xfrm>
            <a:off x="822960" y="506340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25"/>
          <p:cNvSpPr/>
          <p:nvPr/>
        </p:nvSpPr>
        <p:spPr>
          <a:xfrm>
            <a:off x="1418400" y="506340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whether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 is in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your list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using 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26"/>
          <p:cNvSpPr/>
          <p:nvPr/>
        </p:nvSpPr>
        <p:spPr>
          <a:xfrm>
            <a:off x="822960" y="5503680"/>
            <a:ext cx="366480" cy="3664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27"/>
          <p:cNvSpPr/>
          <p:nvPr/>
        </p:nvSpPr>
        <p:spPr>
          <a:xfrm>
            <a:off x="822960" y="5503680"/>
            <a:ext cx="36648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28"/>
          <p:cNvSpPr/>
          <p:nvPr/>
        </p:nvSpPr>
        <p:spPr>
          <a:xfrm>
            <a:off x="1418400" y="5503680"/>
            <a:ext cx="9599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on a list of numbers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changing the original — print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29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30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4" name="Image 0" descr="icons/loc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Tuples — The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List That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Cannot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Change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Tuple?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Ordered.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Locked.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Never changes.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stores multiple values together, exactly like a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key difference: a tuple is immutable — once created, it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never be changed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tuple for values that should stay fixed, like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coordinates or days of the week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Written with round brackets ( ) instead of square brackets [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1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brackets create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empty tuple is just 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tuple with more than one item works exactly like a list, just with ( 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()           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# empty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tuple with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3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(a))       #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&lt;class </a:t>
            </a: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6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Way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to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te a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parentheses are actually optional — commas alone are what make a 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tuple() function builds a tuple from almost any other collection, just like list()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into a tuple is a common way to "lock" it once you're done editing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1, 7, 2             # no parentheses at all — still a tuple!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print(type(a))       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 = tuple()              # () — an empty tuple, another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 = tuple([1, 2, 3])     # (1, 2, 3) — from a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 = tuple("abc")         # ('a', 'b', 'c') — from a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7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9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Single-Element Tuple Trap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83" name="Image 1" descr="icons/warnin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sneaky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comma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= (1) does NOT make a tuple — Python just sees a number in brackets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single-item tuple needs a trailing comma: a = (1,)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one comma is the only thing that tells Python "this is a tuple, not just a number"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most common tuple mistakes — check for the comma if something looks wrong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Are Immutable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Trying to change an item inside a tuple raises a TypeError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whole point of a tuple — it is a promise that the data will not change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a[0] =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TypeError: 'tuple' object does not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support item assignment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9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9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Indexing &amp; Slicing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Indexing and slicing work exactly the same as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thing that is different about a tuple is that you cannot modify it afterward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print(a[0])  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print(a[0:2])   # (1, 7)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07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8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Met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hods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2"/>
          <p:cNvSpPr/>
          <p:nvPr/>
        </p:nvSpPr>
        <p:spPr>
          <a:xfrm>
            <a:off x="45720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Shape 3"/>
          <p:cNvSpPr/>
          <p:nvPr/>
        </p:nvSpPr>
        <p:spPr>
          <a:xfrm>
            <a:off x="294444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1" name="Image 1" descr="icons/hashtag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2" name="Text 4"/>
          <p:cNvSpPr/>
          <p:nvPr/>
        </p:nvSpPr>
        <p:spPr>
          <a:xfrm>
            <a:off x="54864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count(x)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0336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a.count(1)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— how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many times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 appears in </a:t>
            </a: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6"/>
          <p:cNvSpPr/>
          <p:nvPr/>
        </p:nvSpPr>
        <p:spPr>
          <a:xfrm>
            <a:off x="6208920" y="1508760"/>
            <a:ext cx="5522760" cy="489168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Shape 7"/>
          <p:cNvSpPr/>
          <p:nvPr/>
        </p:nvSpPr>
        <p:spPr>
          <a:xfrm>
            <a:off x="86958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6" name="Image 2" descr="icons/search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7" name="Text 8"/>
          <p:cNvSpPr/>
          <p:nvPr/>
        </p:nvSpPr>
        <p:spPr>
          <a:xfrm>
            <a:off x="6300360" y="271764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index(x)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9"/>
          <p:cNvSpPr/>
          <p:nvPr/>
        </p:nvSpPr>
        <p:spPr>
          <a:xfrm>
            <a:off x="6355080" y="3101760"/>
            <a:ext cx="523008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a.index(1) — the position of the first 1 in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3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 Packing &amp; Unpacking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ng: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sever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her,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ma-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ated,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quiet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es 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cking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assig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ning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tuple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straig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into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sever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varia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bles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once,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varia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bles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matc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 the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ber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value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exact</a:t>
            </a: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4, 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print(type(point))   # &lt;class 'tuple'&gt;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unpacking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print(y)   # 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2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2" name="Image 0" descr="icons/cu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Negative Indices, Slicing &amp; Combining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trick you learned for lists works on tuples too — negative indices, slicing, steps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only real difference: the result of slicing a tuple is still a tuple, never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+ and * work exactly like they do for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 = (1, 7, 2, 9,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print(a[-1])    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print(a[1:3])      # (7,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print(a[::-1])     # (4, 9, 2, 7, 1)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 + (5, 6))  # (1, 7, 2, 9, 4, 5, 6)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print((1, 2) * 2)  # (1, 2, 1,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3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1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More Ways to Access Tuple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Values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Unpacking is actually the most natural way to read a tuple's values — used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 unpacking works on tuples too, exactly like it does on lists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index() finds a value's position, the same as it does on a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x, y, z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print(x, y, z)        # 4 7 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first, *rest = point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print(first)   #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print(rest)    # [7, 9]   &lt;- note: rest becomes a list, not a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print(point.index(7))   #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4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0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Just like lists, a tuple can hold other tuples inside 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representing fixed, related groups of data — like a set of coordinates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points = ((0, 0), (3, 4), (6, 8))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print(points[1])       # (3, 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print(points[1][0])    #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5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8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9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vs.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ple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ich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2" name="Image 1" descr="icons/boxe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a List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will change — items added, removed, or reordered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need methods like append(), sort(), remove()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shopping list, or student scores you keep updating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7" name="Image 2" descr="icons/lock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a Tuple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should never change once it is 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want to protect it from accidental edits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a date of birth, GPS coordinates, days of the week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4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tice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— 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</a:t>
            </a: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tuple with 3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Shape 8"/>
          <p:cNvSpPr/>
          <p:nvPr/>
        </p:nvSpPr>
        <p:spPr>
          <a:xfrm>
            <a:off x="822960" y="30099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9"/>
          <p:cNvSpPr/>
          <p:nvPr/>
        </p:nvSpPr>
        <p:spPr>
          <a:xfrm>
            <a:off x="822960" y="300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10"/>
          <p:cNvSpPr/>
          <p:nvPr/>
        </p:nvSpPr>
        <p:spPr>
          <a:xfrm>
            <a:off x="1435680" y="30099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negative index to print the last item in your tuple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Shape 11"/>
          <p:cNvSpPr/>
          <p:nvPr/>
        </p:nvSpPr>
        <p:spPr>
          <a:xfrm>
            <a:off x="822960" y="35967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12"/>
          <p:cNvSpPr/>
          <p:nvPr/>
        </p:nvSpPr>
        <p:spPr>
          <a:xfrm>
            <a:off x="822960" y="3596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13"/>
          <p:cNvSpPr/>
          <p:nvPr/>
        </p:nvSpPr>
        <p:spPr>
          <a:xfrm>
            <a:off x="1435680" y="35967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changing one value in your tuple, and read the error Python gives you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14"/>
          <p:cNvSpPr/>
          <p:nvPr/>
        </p:nvSpPr>
        <p:spPr>
          <a:xfrm>
            <a:off x="822960" y="4183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15"/>
          <p:cNvSpPr/>
          <p:nvPr/>
        </p:nvSpPr>
        <p:spPr>
          <a:xfrm>
            <a:off x="822960" y="4183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6"/>
          <p:cNvSpPr/>
          <p:nvPr/>
        </p:nvSpPr>
        <p:spPr>
          <a:xfrm>
            <a:off x="1435680" y="4183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two small tuples together using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Shape 17"/>
          <p:cNvSpPr/>
          <p:nvPr/>
        </p:nvSpPr>
        <p:spPr>
          <a:xfrm>
            <a:off x="822960" y="477000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18"/>
          <p:cNvSpPr/>
          <p:nvPr/>
        </p:nvSpPr>
        <p:spPr>
          <a:xfrm>
            <a:off x="822960" y="4770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19"/>
          <p:cNvSpPr/>
          <p:nvPr/>
        </p:nvSpPr>
        <p:spPr>
          <a:xfrm>
            <a:off x="1435680" y="477000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count() to count how many times a number appears in a tuple you make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Shape 20"/>
          <p:cNvSpPr/>
          <p:nvPr/>
        </p:nvSpPr>
        <p:spPr>
          <a:xfrm>
            <a:off x="822960" y="535680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21"/>
          <p:cNvSpPr/>
          <p:nvPr/>
        </p:nvSpPr>
        <p:spPr>
          <a:xfrm>
            <a:off x="822960" y="5356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22"/>
          <p:cNvSpPr/>
          <p:nvPr/>
        </p:nvSpPr>
        <p:spPr>
          <a:xfrm>
            <a:off x="1435680" y="535680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 three values into one line, then unpack them into three variables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2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2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0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Lists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Shape 5"/>
          <p:cNvSpPr/>
          <p:nvPr/>
        </p:nvSpPr>
        <p:spPr>
          <a:xfrm>
            <a:off x="822960" y="24231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5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6" name="Shape 6"/>
          <p:cNvSpPr/>
          <p:nvPr/>
        </p:nvSpPr>
        <p:spPr>
          <a:xfrm>
            <a:off x="1417320" y="24415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1417320" y="24415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8"/>
          <p:cNvSpPr/>
          <p:nvPr/>
        </p:nvSpPr>
        <p:spPr>
          <a:xfrm>
            <a:off x="2011680" y="24231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 to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sum a list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 4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22960" y="35967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0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1" name="Shape 10"/>
          <p:cNvSpPr/>
          <p:nvPr/>
        </p:nvSpPr>
        <p:spPr>
          <a:xfrm>
            <a:off x="1417320" y="36147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1"/>
          <p:cNvSpPr/>
          <p:nvPr/>
        </p:nvSpPr>
        <p:spPr>
          <a:xfrm>
            <a:off x="1417320" y="36147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12"/>
          <p:cNvSpPr/>
          <p:nvPr/>
        </p:nvSpPr>
        <p:spPr>
          <a:xfrm>
            <a:off x="2011680" y="35967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 to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seven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fruits in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entered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the user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3"/>
          <p:cNvSpPr/>
          <p:nvPr/>
        </p:nvSpPr>
        <p:spPr>
          <a:xfrm>
            <a:off x="822960" y="477000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5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6" name="Shape 14"/>
          <p:cNvSpPr/>
          <p:nvPr/>
        </p:nvSpPr>
        <p:spPr>
          <a:xfrm>
            <a:off x="1417320" y="47883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5"/>
          <p:cNvSpPr/>
          <p:nvPr/>
        </p:nvSpPr>
        <p:spPr>
          <a:xfrm>
            <a:off x="1417320" y="47883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16"/>
          <p:cNvSpPr/>
          <p:nvPr/>
        </p:nvSpPr>
        <p:spPr>
          <a:xfrm>
            <a:off x="2011680" y="477000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accept marks of 6 students and display them in a sorted manner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1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3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Tuples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5"/>
          <p:cNvSpPr/>
          <p:nvPr/>
        </p:nvSpPr>
        <p:spPr>
          <a:xfrm>
            <a:off x="822960" y="24231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8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9" name="Shape 6"/>
          <p:cNvSpPr/>
          <p:nvPr/>
        </p:nvSpPr>
        <p:spPr>
          <a:xfrm>
            <a:off x="1417320" y="24415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7"/>
          <p:cNvSpPr/>
          <p:nvPr/>
        </p:nvSpPr>
        <p:spPr>
          <a:xfrm>
            <a:off x="1417320" y="24415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8"/>
          <p:cNvSpPr/>
          <p:nvPr/>
        </p:nvSpPr>
        <p:spPr>
          <a:xfrm>
            <a:off x="2011680" y="24231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that a tuple type cannot be changed in Python — try editing one and observe the error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2" name="Shape 9"/>
          <p:cNvSpPr/>
          <p:nvPr/>
        </p:nvSpPr>
        <p:spPr>
          <a:xfrm>
            <a:off x="822960" y="41835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3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42465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4" name="Shape 10"/>
          <p:cNvSpPr/>
          <p:nvPr/>
        </p:nvSpPr>
        <p:spPr>
          <a:xfrm>
            <a:off x="1417320" y="42015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Text 11"/>
          <p:cNvSpPr/>
          <p:nvPr/>
        </p:nvSpPr>
        <p:spPr>
          <a:xfrm>
            <a:off x="1417320" y="42015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2"/>
          <p:cNvSpPr/>
          <p:nvPr/>
        </p:nvSpPr>
        <p:spPr>
          <a:xfrm>
            <a:off x="2011680" y="41835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program to count the number of zeros in a tuple you create with at least 3 zeros in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1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2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small projects using everything from this course so far — variables, operators, conditionals, and today's lists &amp; tuples.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9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Class Grade Report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3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loops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needed 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just indexing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lists: 5 student names, and their 5 matching scores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Using direct indexing (l1[0], l1[1]...), print each student's name, score, and whether they Pass or Fail (40 or above passes)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highest score using max(), and the class average using sum() and len()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Bonus: use sorted() to also show the scores ranked, without changing your original list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0" name="Image 0" descr="icons/loc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Contact Card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4" name="Image 1" descr="icons/loc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Ties together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tuples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f-strings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a friend's name, age, and phone number together in a single tuple — this is personal data that shouldn't accidentally </a:t>
            </a: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change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a formatted "contact card" sentence using all three values together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to update their age directly inside the tuple, and let Python's error prove why a tuple was the right choice 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show the correct way to "update" it: build a brand new tuple with the changed 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Lists &amp; Tuples  </a:t>
            </a: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·  Session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2" name="Image 0" descr="icons/boxe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list can grow, shrink, and change.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tuple, once made, stays exactly as it is.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loops — now that lists exist, this is where they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426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2026-07-31T04:17:26Z</dcterms:created>
  <dc:creator>Course Instructor</dc:creator>
  <dc:description/>
  <dc:language>en-US</dc:language>
  <cp:lastModifiedBy/>
  <dcterms:modified xsi:type="dcterms:W3CDTF">2026-07-31T23:43:28Z</dcterms:modified>
  <cp:revision>48</cp:revision>
  <dc:subject>PptxGenJS Presentation</dc:subject>
  <dc:title>Lists &amp; Tuples — Session 5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75</vt:i4>
  </property>
  <property fmtid="{D5CDD505-2E9C-101B-9397-08002B2CF9AE}" pid="3" name="PresentationFormat">
    <vt:lpwstr>On-screen Show (16:9)</vt:lpwstr>
  </property>
  <property fmtid="{D5CDD505-2E9C-101B-9397-08002B2CF9AE}" pid="4" name="Slides">
    <vt:i4>75</vt:i4>
  </property>
</Properties>
</file>