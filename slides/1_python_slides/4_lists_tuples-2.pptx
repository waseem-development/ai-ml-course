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5.xml" ContentType="application/vnd.openxmlformats-officedocument.presentationml.slide+xml"/>
  <Override PartName="/ppt/slides/slide61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72.xml" ContentType="application/vnd.openxmlformats-officedocument.presentationml.slide+xml"/>
  <Override PartName="/ppt/slides/slide36.xml" ContentType="application/vnd.openxmlformats-officedocument.presentationml.slide+xml"/>
  <Override PartName="/ppt/slides/slide71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0.xml" ContentType="application/vnd.openxmlformats-officedocument.presentationml.slide+xml"/>
  <Override PartName="/ppt/slides/slide14.xml" ContentType="application/vnd.openxmlformats-officedocument.presentationml.slide+xml"/>
  <Override PartName="/ppt/slides/slide73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74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C68461A-BD70-46AF-9E8A-DE1C004781C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No loops yet this session — that is next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0E2786-A36E-4AE2-9690-0283087D77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2E4605-C76B-47CD-A0D5-CAB325A537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AE48AA-4DC8-4E60-B5C5-077391827C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3BAD52-32F4-4B6E-B42A-326E8A6E7C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CA5D-36BB-4D79-9595-1C5EA8EAC8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BBB893-4079-42B1-8E59-D6BB10972D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discussion point: Python is the only one here with no separate character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DE84B6-ECF4-46BA-BCD1-611E904B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out: Python and Java give you rich built-ins here; C makes you build most of this yourself.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EF6B12-261E-40FD-A185-198BD832FE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7014D6-1FAB-47CF-93E8-FB769536D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A709D0-C9B1-47F6-B835-76E080F368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Nice map to show where today fits in the bigger picture.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791EC6-1120-48BD-BD38-ED4205D028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32A250-CC1C-46DD-8E1E-B3366E11F6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23706B-5A91-411D-8441-810E474A52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201648-2681-4C9B-85A2-7DD5654DD0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6745A9-EF29-4C3D-ACD3-E61611F7B2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419294-EF7E-4F32-94E5-913F12DE7A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8E22E5-21A9-4625-85D7-4BF97AC2F7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57CDD9-21C5-4AB9-88D6-F44362DF1B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Consistent with the "errors are normal" philosophy from Session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3E6C3B-EC7D-4BEF-A318-93C70A6354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044069-0D90-45B7-BD05-DF3ADB00B6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[::-1] reverse trick is worth calling out explicitly — very commonly used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48CCB9-E9CA-41D7-A2EF-9549CD204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unpacking is a genuinely handy real-world Python idiom, worth showing off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DADFB6-EFDE-4F23-97B5-D6EFE5D2BC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A76B5D-0730-451B-A5C7-A4EB3647F3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151E6F-B4D1-4999-B526-D65E729900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1BF84F-27B9-452F-9375-2B53F951B9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answers "can I control where append() adds?" — no, by design.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257004-F4B9-45EB-AAB2-C496CEB0EA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Genuinely one of the highest-value gotchas for real-world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104ADA-A420-48DF-AE9A-479400038E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F10CAC-DCC2-4251-AE67-36AB7DD31B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common point of confusion — worth demoing live rather than just describing.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BA0EBF-B48D-431D-BC47-596DCA9CD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4FBABF-0904-4C5B-B557-7B072F16C8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addresses the "pop with 0" and negative-argument confusion.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00AA8E-CBDC-46E7-84FF-86FF7FF659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0B264D-81B2-440F-867E-89040C7636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list equivalents of the tuple methods coming up later today.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B1AD00-8E44-46E7-B6F8-A380A6FF0E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5E4FBD-9ECC-4CEE-9A9F-59A01EE744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4C2C2C-413F-40FD-8080-83ED83ADF7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very common real bug: calling l1.sort() and being confused when it returns None.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6954EB-0133-41DD-8F78-7BBBADBDF4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95769C-420B-4099-A01A-95FC120BCD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D9A068-B784-4F4B-9118-F405E1D172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322903-CD8B-4884-B81A-7AEAC8BB6D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well-known DSA interview gotcha — worth flagging even before loops are formally taught.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541E1D-D7B9-46BB-B5A6-E697F02762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one of the most common real bugs beginners hit — worth extra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1E3163-C497-4A39-99F4-040FC02EC7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the bug that "list of lists" (grids, matrices) beginners hit constantly.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E78AE3-9701-4010-A0E6-CD09DC1BEB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direct fix to the gotcha on the previous slide — worth running both side by side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E247E5-8518-493D-B92C-B505D2333E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18BDB8-BAE4-4BA0-891F-CF76E5417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F571EB-364A-415D-B3D7-CB2875DDD8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 DSA concept, and it costs nothing extra to teach — same methods, just named intent.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9C2314-91E8-46D1-AFC0-E0DB93FD15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first honest taste of time complexity — full Big-O comes later in the course, but the intuition starts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840559-3E06-4426-A2DD-F3B35ED07A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696E05-A2B3-4D35-AC04-788F9E85EB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386D81-3C0E-4C02-B3F9-CFEF2A044E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a taste for today — nested data gets much more use once loops exist.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7B675F-AC7B-408E-B971-66B2B5CB05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E1EF31-0B15-4C0A-8AFB-E6BC573659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16C0A5-0E55-479D-A590-7F30365466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051C2A-FB31-4B39-89D0-A0E555193C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 recap before the practice set.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F7A687-30B6-40CF-94C1-7050189261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642FF5-5073-4FCB-9D3F-AC5C4124FD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584567-DCF3-484F-A447-138664F75B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2D24AD-CD8B-40B4-9B63-97AF4FA8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0B06E3-1D70-4ED6-A6F1-1CB8BB0875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90CD2A-B069-4485-B6B4-495117EC7E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513686-1273-4B35-A29E-C2522FF978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directly into today's practice: "check that a tuple cannot be changed."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19E093-39BD-402C-86C9-97963C5C4B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CC6C09-05AE-4C0F-B808-02065F2C5F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Tuples only have these two methods — far fewer than lists, since nothing about them can change.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094B35-2326-4B3C-AA22-B725EF30A6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A16E09-0B1C-42FB-B2FD-ACCB23CB33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3D82FC-C1FB-4529-99F9-724986B81F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 the *rest quirk: star-unpacking always produces a list for the leftover part, even from a tuple.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C6880E-51A4-4AB3-ACFC-30823B5699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CF71E-E6B7-4B6E-9B3E-43C0B58910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13D731-843B-4649-B1C5-0F8791E782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DE53D2-E48E-4B70-9888-1FC380AA14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049DC6-9364-45A3-BB9F-DE87B23AD0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076592-2D05-4094-938D-BAF486BB4A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06BA55-C43C-42B2-87F7-56E8E8E1CD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EEC8D5-6575-4614-965F-154E11A7A4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D1A329-7034-4DBE-8B19-46892589EE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asking students to explain, in their own words, when they would choose a tuple over a list.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36164B-AC3B-40CC-BB7C-9BE5338BF6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image" Target="../media/image17.png"/><Relationship Id="rId10" Type="http://schemas.openxmlformats.org/officeDocument/2006/relationships/image" Target="../media/image2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640" cy="11876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thlist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0880" cy="83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0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Lists &amp; Tuples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Storing and Organizing Multiple Values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5528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tag.png"/>
          <p:cNvPicPr/>
          <p:nvPr/>
        </p:nvPicPr>
        <p:blipFill>
          <a:blip r:embed="rId2"/>
          <a:stretch/>
        </p:blipFill>
        <p:spPr>
          <a:xfrm>
            <a:off x="664200" y="169776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 types &amp; data structures — primitive vs. non-primitive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8476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13984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boxes.png"/>
          <p:cNvPicPr/>
          <p:nvPr/>
        </p:nvPicPr>
        <p:blipFill>
          <a:blip r:embed="rId3"/>
          <a:stretch/>
        </p:blipFill>
        <p:spPr>
          <a:xfrm>
            <a:off x="664200" y="218232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08476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a list? Indexing, negative indexing &amp; advanced slicing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56932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62440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pluscircle.png"/>
          <p:cNvPicPr/>
          <p:nvPr/>
        </p:nvPicPr>
        <p:blipFill>
          <a:blip r:embed="rId4"/>
          <a:stretch/>
        </p:blipFill>
        <p:spPr>
          <a:xfrm>
            <a:off x="664200" y="266688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56932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append(), extend(), insert() — including negative indices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05424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10932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minuscircle.png"/>
          <p:cNvPicPr/>
          <p:nvPr/>
        </p:nvPicPr>
        <p:blipFill>
          <a:blip r:embed="rId5"/>
          <a:stretch/>
        </p:blipFill>
        <p:spPr>
          <a:xfrm>
            <a:off x="664200" y="315144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05424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items: pop() — three ways — &amp; remove()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53880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59388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sort.png"/>
          <p:cNvPicPr/>
          <p:nvPr/>
        </p:nvPicPr>
        <p:blipFill>
          <a:blip r:embed="rId6"/>
          <a:stretch/>
        </p:blipFill>
        <p:spPr>
          <a:xfrm>
            <a:off x="664200" y="363636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53880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Reordering: sort() vs. sorted(), and reverse()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02336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07844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chart.png"/>
          <p:cNvPicPr/>
          <p:nvPr/>
        </p:nvPicPr>
        <p:blipFill>
          <a:blip r:embed="rId7"/>
          <a:stretch/>
        </p:blipFill>
        <p:spPr>
          <a:xfrm>
            <a:off x="664200" y="412092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02336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min(), max(), sum(), membership, equality &amp; nested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50792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56300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bolt.png"/>
          <p:cNvPicPr/>
          <p:nvPr/>
        </p:nvPicPr>
        <p:blipFill>
          <a:blip r:embed="rId8"/>
          <a:stretch/>
        </p:blipFill>
        <p:spPr>
          <a:xfrm>
            <a:off x="664200" y="460548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50792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as stacks, and a taste of time complexity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499248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04756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lock.png"/>
          <p:cNvPicPr/>
          <p:nvPr/>
        </p:nvPicPr>
        <p:blipFill>
          <a:blip r:embed="rId9"/>
          <a:stretch/>
        </p:blipFill>
        <p:spPr>
          <a:xfrm>
            <a:off x="664200" y="509004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499248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Tuples — the list that cannot change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47740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53248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boxopen.png"/>
          <p:cNvPicPr/>
          <p:nvPr/>
        </p:nvPicPr>
        <p:blipFill>
          <a:blip r:embed="rId10"/>
          <a:stretch/>
        </p:blipFill>
        <p:spPr>
          <a:xfrm>
            <a:off x="664200" y="557460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47740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 packing, unpacking &amp; nested tuples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457200" y="5961960"/>
            <a:ext cx="11273400" cy="39204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1"/>
          <p:cNvSpPr/>
          <p:nvPr/>
        </p:nvSpPr>
        <p:spPr>
          <a:xfrm>
            <a:off x="621720" y="6017040"/>
            <a:ext cx="281880" cy="281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0" descr="icons/tasks.png"/>
          <p:cNvPicPr/>
          <p:nvPr/>
        </p:nvPicPr>
        <p:blipFill>
          <a:blip r:embed="rId11"/>
          <a:stretch/>
        </p:blipFill>
        <p:spPr>
          <a:xfrm>
            <a:off x="664200" y="605952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32"/>
          <p:cNvSpPr/>
          <p:nvPr/>
        </p:nvSpPr>
        <p:spPr>
          <a:xfrm>
            <a:off x="1325880" y="5961960"/>
            <a:ext cx="100573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tying everything together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3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0" descr="icons/ta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0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Types &amp; Data Structures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little vocabulary before we touch a single list.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icons/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Data Type?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1" descr="icons/ta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label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value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type tells Python what kind of value something is — a number, some text, true/false, and so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decides what you're allowed to do with that value — you can add two numbers, but not two booleans the same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four of these in an earlier session: int, float, str, and bool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Data Structure?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way to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hold many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values at once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structure organizes and stores multiple values together, so you can manage them as one group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Instead of creating 100 separate variables for 100 student names, a data structure holds all 100 in one place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data structure is built out of data types — a list of scores is a structure full of int 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and tuples, today's whole topic, are both data structures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icons/squa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vs. Non-Primitive — The Big Split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1" descr="icons/squar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Primitive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Hold exactly one single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Simple, fixed in size, stored directly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Examples: int, float, 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2" descr="icons/boxopen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Non-Primitive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hold many values, or a whole collection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 out of primitive types (or even other non-primitives)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Examples: list, tuple, dictionary, array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45720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45720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327600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327600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609444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09444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891324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891324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457200" y="2194560"/>
            <a:ext cx="2817720" cy="56592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54864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Whole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327600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336744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609444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618588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91324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900468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57200" y="2761560"/>
            <a:ext cx="2817720" cy="56592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54864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Decimal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327600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336744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609444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618588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91324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900468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457200" y="3328560"/>
            <a:ext cx="2817720" cy="56592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54864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True or False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327600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336744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609444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618588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true bool (0/1)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91324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900468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boolean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457200" y="3895200"/>
            <a:ext cx="2817720" cy="56592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54864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Single character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6"/>
          <p:cNvSpPr/>
          <p:nvPr/>
        </p:nvSpPr>
        <p:spPr>
          <a:xfrm>
            <a:off x="327600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7"/>
          <p:cNvSpPr/>
          <p:nvPr/>
        </p:nvSpPr>
        <p:spPr>
          <a:xfrm>
            <a:off x="336744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separate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609444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18588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891324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1"/>
          <p:cNvSpPr/>
          <p:nvPr/>
        </p:nvSpPr>
        <p:spPr>
          <a:xfrm>
            <a:off x="900468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Non-Primitive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"/>
          <p:cNvSpPr/>
          <p:nvPr/>
        </p:nvSpPr>
        <p:spPr>
          <a:xfrm>
            <a:off x="45720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45720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7600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7600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609444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609444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8913240" y="1691640"/>
            <a:ext cx="2817720" cy="50184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8913240" y="1691640"/>
            <a:ext cx="281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457200" y="2194560"/>
            <a:ext cx="2817720" cy="56592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54864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Ordered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327600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3367440" y="219492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09444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18588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8913240" y="2194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9004680" y="2194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ArrayList /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8"/>
          <p:cNvSpPr/>
          <p:nvPr/>
        </p:nvSpPr>
        <p:spPr>
          <a:xfrm>
            <a:off x="457200" y="2761560"/>
            <a:ext cx="2817720" cy="56592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9"/>
          <p:cNvSpPr/>
          <p:nvPr/>
        </p:nvSpPr>
        <p:spPr>
          <a:xfrm>
            <a:off x="54864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Fixed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0"/>
          <p:cNvSpPr/>
          <p:nvPr/>
        </p:nvSpPr>
        <p:spPr>
          <a:xfrm>
            <a:off x="327600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1"/>
          <p:cNvSpPr/>
          <p:nvPr/>
        </p:nvSpPr>
        <p:spPr>
          <a:xfrm>
            <a:off x="336744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2"/>
          <p:cNvSpPr/>
          <p:nvPr/>
        </p:nvSpPr>
        <p:spPr>
          <a:xfrm>
            <a:off x="609444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3"/>
          <p:cNvSpPr/>
          <p:nvPr/>
        </p:nvSpPr>
        <p:spPr>
          <a:xfrm>
            <a:off x="618588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const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4"/>
          <p:cNvSpPr/>
          <p:nvPr/>
        </p:nvSpPr>
        <p:spPr>
          <a:xfrm>
            <a:off x="8913240" y="2761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5"/>
          <p:cNvSpPr/>
          <p:nvPr/>
        </p:nvSpPr>
        <p:spPr>
          <a:xfrm>
            <a:off x="9004680" y="2761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final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6"/>
          <p:cNvSpPr/>
          <p:nvPr/>
        </p:nvSpPr>
        <p:spPr>
          <a:xfrm>
            <a:off x="457200" y="3328560"/>
            <a:ext cx="2817720" cy="56592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7"/>
          <p:cNvSpPr/>
          <p:nvPr/>
        </p:nvSpPr>
        <p:spPr>
          <a:xfrm>
            <a:off x="54864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Key-value pairs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8"/>
          <p:cNvSpPr/>
          <p:nvPr/>
        </p:nvSpPr>
        <p:spPr>
          <a:xfrm>
            <a:off x="327600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9"/>
          <p:cNvSpPr/>
          <p:nvPr/>
        </p:nvSpPr>
        <p:spPr>
          <a:xfrm>
            <a:off x="336744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dict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0"/>
          <p:cNvSpPr/>
          <p:nvPr/>
        </p:nvSpPr>
        <p:spPr>
          <a:xfrm>
            <a:off x="609444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1"/>
          <p:cNvSpPr/>
          <p:nvPr/>
        </p:nvSpPr>
        <p:spPr>
          <a:xfrm>
            <a:off x="618588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built-in (struct)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32"/>
          <p:cNvSpPr/>
          <p:nvPr/>
        </p:nvSpPr>
        <p:spPr>
          <a:xfrm>
            <a:off x="8913240" y="332856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3"/>
          <p:cNvSpPr/>
          <p:nvPr/>
        </p:nvSpPr>
        <p:spPr>
          <a:xfrm>
            <a:off x="9004680" y="332856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HashMap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4"/>
          <p:cNvSpPr/>
          <p:nvPr/>
        </p:nvSpPr>
        <p:spPr>
          <a:xfrm>
            <a:off x="457200" y="3895200"/>
            <a:ext cx="2817720" cy="56592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5"/>
          <p:cNvSpPr/>
          <p:nvPr/>
        </p:nvSpPr>
        <p:spPr>
          <a:xfrm>
            <a:off x="54864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6"/>
          <p:cNvSpPr/>
          <p:nvPr/>
        </p:nvSpPr>
        <p:spPr>
          <a:xfrm>
            <a:off x="327600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7"/>
          <p:cNvSpPr/>
          <p:nvPr/>
        </p:nvSpPr>
        <p:spPr>
          <a:xfrm>
            <a:off x="336744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38"/>
          <p:cNvSpPr/>
          <p:nvPr/>
        </p:nvSpPr>
        <p:spPr>
          <a:xfrm>
            <a:off x="609444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9"/>
          <p:cNvSpPr/>
          <p:nvPr/>
        </p:nvSpPr>
        <p:spPr>
          <a:xfrm>
            <a:off x="618588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0"/>
          <p:cNvSpPr/>
          <p:nvPr/>
        </p:nvSpPr>
        <p:spPr>
          <a:xfrm>
            <a:off x="8913240" y="3895200"/>
            <a:ext cx="2817720" cy="56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1"/>
          <p:cNvSpPr/>
          <p:nvPr/>
        </p:nvSpPr>
        <p:spPr>
          <a:xfrm>
            <a:off x="9004680" y="3895200"/>
            <a:ext cx="2634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String (an object!)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2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3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Python's Twist: Everything Is an Object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1" descr="icons/boxopen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Even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number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is an object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 and Java, primitive types are raw values sitting directly in memory — fast and simple, but rigid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Python, even a simple integer is secretly an object with extra information attached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part of why Python feels more flexible and consistent, but runs a little slower than 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Proof you've already seen: type() works on every single value, even numbers — because everything truly is an object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0" descr="icons/fon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Do Strings Fit?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1" descr="icons/fon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little bit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of both worlds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Strings hold text, but they are technically an ordered sequence of characters, not one indivisible value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makes a string feel simple like a primitive, but structured enough to be indexed and sliced — just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We will go deeper on strings in an upcoming session — for today, just know they blur the line a little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Python's Data Structures — What's Coming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"/>
          <p:cNvSpPr/>
          <p:nvPr/>
        </p:nvSpPr>
        <p:spPr>
          <a:xfrm>
            <a:off x="45720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"/>
          <p:cNvSpPr/>
          <p:nvPr/>
        </p:nvSpPr>
        <p:spPr>
          <a:xfrm>
            <a:off x="198576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 1" descr="icons/boxes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Text 4"/>
          <p:cNvSpPr/>
          <p:nvPr/>
        </p:nvSpPr>
        <p:spPr>
          <a:xfrm>
            <a:off x="54864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0336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429156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582012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2" descr="icons/lock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8"/>
          <p:cNvSpPr/>
          <p:nvPr/>
        </p:nvSpPr>
        <p:spPr>
          <a:xfrm>
            <a:off x="438300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43772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0"/>
          <p:cNvSpPr/>
          <p:nvPr/>
        </p:nvSpPr>
        <p:spPr>
          <a:xfrm>
            <a:off x="812592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965448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" name="Image 3" descr="icons/font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" name="Text 12"/>
          <p:cNvSpPr/>
          <p:nvPr/>
        </p:nvSpPr>
        <p:spPr>
          <a:xfrm>
            <a:off x="821736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827244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Already introduced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4"/>
          <p:cNvSpPr/>
          <p:nvPr/>
        </p:nvSpPr>
        <p:spPr>
          <a:xfrm>
            <a:off x="45720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5"/>
          <p:cNvSpPr/>
          <p:nvPr/>
        </p:nvSpPr>
        <p:spPr>
          <a:xfrm>
            <a:off x="1985760" y="434880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4" descr="icons/hashtag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16"/>
          <p:cNvSpPr/>
          <p:nvPr/>
        </p:nvSpPr>
        <p:spPr>
          <a:xfrm>
            <a:off x="548640" y="49705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Dictionary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"/>
          <p:cNvSpPr/>
          <p:nvPr/>
        </p:nvSpPr>
        <p:spPr>
          <a:xfrm>
            <a:off x="603360" y="535464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8"/>
          <p:cNvSpPr/>
          <p:nvPr/>
        </p:nvSpPr>
        <p:spPr>
          <a:xfrm>
            <a:off x="429156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9"/>
          <p:cNvSpPr/>
          <p:nvPr/>
        </p:nvSpPr>
        <p:spPr>
          <a:xfrm>
            <a:off x="5820120" y="434880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5" descr="icons/search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20"/>
          <p:cNvSpPr/>
          <p:nvPr/>
        </p:nvSpPr>
        <p:spPr>
          <a:xfrm>
            <a:off x="4383000" y="49705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1"/>
          <p:cNvSpPr/>
          <p:nvPr/>
        </p:nvSpPr>
        <p:spPr>
          <a:xfrm>
            <a:off x="4437720" y="535464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2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Quick Recap: Primitive vs. Non-Primitive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45720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198576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icons/square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4"/>
          <p:cNvSpPr/>
          <p:nvPr/>
        </p:nvSpPr>
        <p:spPr>
          <a:xfrm>
            <a:off x="54864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60336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6"/>
          <p:cNvSpPr/>
          <p:nvPr/>
        </p:nvSpPr>
        <p:spPr>
          <a:xfrm>
            <a:off x="429156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582012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2" descr="icons/square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8"/>
          <p:cNvSpPr/>
          <p:nvPr/>
        </p:nvSpPr>
        <p:spPr>
          <a:xfrm>
            <a:off x="438300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443772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812592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9654480" y="178848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3" descr="icons/square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12"/>
          <p:cNvSpPr/>
          <p:nvPr/>
        </p:nvSpPr>
        <p:spPr>
          <a:xfrm>
            <a:off x="8217360" y="24102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8272440" y="279432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45720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1985760" y="434880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Image 4" descr="icons/boxopen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Text 16"/>
          <p:cNvSpPr/>
          <p:nvPr/>
        </p:nvSpPr>
        <p:spPr>
          <a:xfrm>
            <a:off x="548640" y="49705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603360" y="535464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8"/>
          <p:cNvSpPr/>
          <p:nvPr/>
        </p:nvSpPr>
        <p:spPr>
          <a:xfrm>
            <a:off x="429156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5820120" y="434880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5" descr="icons/boxopen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20"/>
          <p:cNvSpPr/>
          <p:nvPr/>
        </p:nvSpPr>
        <p:spPr>
          <a:xfrm>
            <a:off x="4383000" y="49705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1"/>
          <p:cNvSpPr/>
          <p:nvPr/>
        </p:nvSpPr>
        <p:spPr>
          <a:xfrm>
            <a:off x="4437720" y="535464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2"/>
          <p:cNvSpPr/>
          <p:nvPr/>
        </p:nvSpPr>
        <p:spPr>
          <a:xfrm>
            <a:off x="812592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3"/>
          <p:cNvSpPr/>
          <p:nvPr/>
        </p:nvSpPr>
        <p:spPr>
          <a:xfrm>
            <a:off x="9654480" y="434880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6" descr="icons/boxopen.png"/>
          <p:cNvPicPr/>
          <p:nvPr/>
        </p:nvPicPr>
        <p:blipFill>
          <a:blip r:embed="rId7"/>
          <a:stretch/>
        </p:blipFill>
        <p:spPr>
          <a:xfrm>
            <a:off x="9736920" y="443124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4"/>
          <p:cNvSpPr/>
          <p:nvPr/>
        </p:nvSpPr>
        <p:spPr>
          <a:xfrm>
            <a:off x="8217360" y="49705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/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8272440" y="5354640"/>
            <a:ext cx="3312000" cy="9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 Is a List?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List Is a Row of Numbered Boxes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Image 1" descr="icons/boxe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Changeable.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Mixed types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allowed.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stores several values together, in one single variable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has a position, called an index, starting at 0 — not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can hold any data type, even mixed together in the same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 (later today), a list can be changed after it's created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6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Square brackets [ ] create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Items are separated by commas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list — mixing int, int, and str — is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print(type(l1))   # &lt;class 'list'&gt;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Create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list() function builds a list from almost any other collection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can turn a string into a list of its characters, or a range into a list of numbers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Multiplying an empty-ish list is a quick way to pre-fill it with repeated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list()             # [] — an empty list,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list("abc")        # ['a', 'b', 'c']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list(range(5))     # [0, 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[0] * 5            # [0, 0, 0, 0, 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"waseem"]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"/>
          <p:cNvSpPr/>
          <p:nvPr/>
        </p:nvSpPr>
        <p:spPr>
          <a:xfrm>
            <a:off x="292608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5"/>
          <p:cNvSpPr/>
          <p:nvPr/>
        </p:nvSpPr>
        <p:spPr>
          <a:xfrm>
            <a:off x="292608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6"/>
          <p:cNvSpPr/>
          <p:nvPr/>
        </p:nvSpPr>
        <p:spPr>
          <a:xfrm>
            <a:off x="292608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7"/>
          <p:cNvSpPr/>
          <p:nvPr/>
        </p:nvSpPr>
        <p:spPr>
          <a:xfrm>
            <a:off x="444384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444384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444384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596196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1"/>
          <p:cNvSpPr/>
          <p:nvPr/>
        </p:nvSpPr>
        <p:spPr>
          <a:xfrm>
            <a:off x="596196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"waseem"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596196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548640" y="3840480"/>
            <a:ext cx="110905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l1[0]  →  7      (the box at index 0)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l1[1]  →  9      (the box at index 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Indexes always start counting from 0, not 1 — this trips up almost everyone at first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4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2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3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2926080" y="265176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2926080" y="265176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2926080" y="330084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7"/>
          <p:cNvSpPr/>
          <p:nvPr/>
        </p:nvSpPr>
        <p:spPr>
          <a:xfrm>
            <a:off x="2926080" y="239580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8"/>
          <p:cNvSpPr/>
          <p:nvPr/>
        </p:nvSpPr>
        <p:spPr>
          <a:xfrm>
            <a:off x="4443840" y="265176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443840" y="265176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0"/>
          <p:cNvSpPr/>
          <p:nvPr/>
        </p:nvSpPr>
        <p:spPr>
          <a:xfrm>
            <a:off x="4443840" y="330084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1"/>
          <p:cNvSpPr/>
          <p:nvPr/>
        </p:nvSpPr>
        <p:spPr>
          <a:xfrm>
            <a:off x="4443840" y="239580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2"/>
          <p:cNvSpPr/>
          <p:nvPr/>
        </p:nvSpPr>
        <p:spPr>
          <a:xfrm>
            <a:off x="5961960" y="265176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5961960" y="265176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5961960" y="330084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5"/>
          <p:cNvSpPr/>
          <p:nvPr/>
        </p:nvSpPr>
        <p:spPr>
          <a:xfrm>
            <a:off x="5961960" y="239580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6"/>
          <p:cNvSpPr/>
          <p:nvPr/>
        </p:nvSpPr>
        <p:spPr>
          <a:xfrm>
            <a:off x="548640" y="4023360"/>
            <a:ext cx="110905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Negative indexes count backward from the end — -1 is always the last item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l1[-1]  →  "harry"       l1[-2]  → 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when you want "the last item" without needing to know the list's length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Out-of-Range: A Very Normal Error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of 3 items only has valid indexes 0, 1, and 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Asking for an index that does not exist raises an IndexError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completely normal — read the error, fix the index, move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print(l1[70])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IndexError: list index out of range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3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  -&gt;  l1[0:2]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292608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292608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292608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7"/>
          <p:cNvSpPr/>
          <p:nvPr/>
        </p:nvSpPr>
        <p:spPr>
          <a:xfrm>
            <a:off x="444384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444384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444384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5961960" y="2377440"/>
            <a:ext cx="146196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1"/>
          <p:cNvSpPr/>
          <p:nvPr/>
        </p:nvSpPr>
        <p:spPr>
          <a:xfrm>
            <a:off x="5961960" y="2377440"/>
            <a:ext cx="1461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2"/>
          <p:cNvSpPr/>
          <p:nvPr/>
        </p:nvSpPr>
        <p:spPr>
          <a:xfrm>
            <a:off x="5961960" y="3026520"/>
            <a:ext cx="1461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548640" y="3840480"/>
            <a:ext cx="110905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slice l1[start:stop] grabs a whole range of items at once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l1[0:2]  →  [7, 9]      — starts at index 0, stops right before index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highlighted boxes are what gets included — the "stop" index itself is never included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Advanced Slicing — Negatives &amp; Steps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Slicing accepts negative indices too — count from the end, just like regular negative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third number after a second colon sets a step — "every Nth item"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step of -1 walks backward through the whole list — a quick way to reverse it without changing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print(l1[-3:-1])   # [2,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print(l1[:3])      # [1, 8, 7]   (start left out = from the beginning)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print(l1[3:])      # [2, 21, 15] (stop left out = to the end)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print(l1[::2])     # [1, 7, 21]  (every 2nd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print(l1[::-1])    # [15, 21, 2, 7, 8, 1]  (reversed!)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Access List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works on lists too, not just tuples — one value per variable, in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lets one variable "soak up" everything left over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the position of a value, the reverse of normal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a, b, c, d, e, f = l1        # unpack all 6 into 6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print(a, f)                  # 1 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l1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print(l1.index(21))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5" name="Image 0" descr="icons/rul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len() — How Many Items?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len() tells you exactly how many items are in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Very useful for checking a list's size before working with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print(len(l1))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5" name="Image 0" descr="icons/so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LIST METHODS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Before &amp; After — Watch the List 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method below uses the same starting list: l1 = [1, 8, 7, 2, 21, 15]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.append(8) — Add to the End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l1 = [1, 8, 7, 2, 21, 15]  -&gt;  l1.append(8)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41"/>
          <p:cNvSpPr/>
          <p:nvPr/>
        </p:nvSpPr>
        <p:spPr>
          <a:xfrm>
            <a:off x="105156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42"/>
          <p:cNvSpPr/>
          <p:nvPr/>
        </p:nvSpPr>
        <p:spPr>
          <a:xfrm>
            <a:off x="105156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43"/>
          <p:cNvSpPr/>
          <p:nvPr/>
        </p:nvSpPr>
        <p:spPr>
          <a:xfrm>
            <a:off x="105156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4"/>
          <p:cNvSpPr/>
          <p:nvPr/>
        </p:nvSpPr>
        <p:spPr>
          <a:xfrm>
            <a:off x="113202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5"/>
          <p:cNvSpPr/>
          <p:nvPr/>
        </p:nvSpPr>
        <p:spPr>
          <a:xfrm>
            <a:off x="113202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6"/>
          <p:cNvSpPr/>
          <p:nvPr/>
        </p:nvSpPr>
        <p:spPr>
          <a:xfrm>
            <a:off x="113202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7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always adds the new item at the very end of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 grows by exactly one item, and nothing else moves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8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9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Does append() Take an Index?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— append() always adds to the end, no matter what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only ever accepts the value to add, never a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need a specific position, that's exactly what insert() is for, next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l1.append(4)       # fine — adds 4 to the end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l1.append(0, 4)    # TypeError — append() takes no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extend() vs. append() — A Common Mix-Up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its argument as ONE single item — even if that argument is itself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extend() adds each item from another list individually, one by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Mixing these two up is one of the most common real bugs beginners write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[1, 2, 3, [4, 5]]   &lt;- a nested list!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l2.extend([4,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print(l2)   # [1, 2, 3, 4, 5]     &lt;- flat, as expected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1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.insert(3, 8) — Add at a Specific Spot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l1.insert(3, 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41"/>
          <p:cNvSpPr/>
          <p:nvPr/>
        </p:nvSpPr>
        <p:spPr>
          <a:xfrm>
            <a:off x="105156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42"/>
          <p:cNvSpPr/>
          <p:nvPr/>
        </p:nvSpPr>
        <p:spPr>
          <a:xfrm>
            <a:off x="105156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43"/>
          <p:cNvSpPr/>
          <p:nvPr/>
        </p:nvSpPr>
        <p:spPr>
          <a:xfrm>
            <a:off x="105156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4"/>
          <p:cNvSpPr/>
          <p:nvPr/>
        </p:nvSpPr>
        <p:spPr>
          <a:xfrm>
            <a:off x="113202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5"/>
          <p:cNvSpPr/>
          <p:nvPr/>
        </p:nvSpPr>
        <p:spPr>
          <a:xfrm>
            <a:off x="113202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46"/>
          <p:cNvSpPr/>
          <p:nvPr/>
        </p:nvSpPr>
        <p:spPr>
          <a:xfrm>
            <a:off x="113202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47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insert(index, value) pushes the new item into that exact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Everything that was already at or after that index shifts one spot to the right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48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49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insert() With a Negative Index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insert() accepts negative indices too — they count from the end, same as everywhere else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-1 means "insert right before the last item", not "insert at the very end"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truly insert at the end, append() is simpler and clearer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l1.insert(-1, 99)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[1, 8, 7, 2, 21, 99,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99 lands BEFORE the last item, not after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1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.pop(2) — Remove by Position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l1.pop(2)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41"/>
          <p:cNvSpPr/>
          <p:nvPr/>
        </p:nvSpPr>
        <p:spPr>
          <a:xfrm>
            <a:off x="548640" y="3520440"/>
            <a:ext cx="11090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l1.pop(2) removes the item at index 2, shifts everything after it left, and RETURNS the removed value → 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42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is the only removal method that gives the value back to you — you can store it in a variable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an index, pop() removes the last item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43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pop() — Three Ways to Call 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with no argument removes the LAST item — the most common way it's used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pop(0) removes the FIRST item — everything after it shifts left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pop(-1) is the same as calling pop() with nothing — explicit, but identical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l1.pop()      # removes 15 (the last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l1.pop(0)     # removes 1 (the first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l1.pop(-1)    # same as pop() with nothing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.remove(21) — Remove by Value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l1.remove(21)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41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searches for the first item that matches the value you gave it, and deletes that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appears more than once, only the first match is removed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is not found at all, Python raises a ValueError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42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43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List Methods: index() and count()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45720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294444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4" name="Image 1" descr="icons/search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Text 4"/>
          <p:cNvSpPr/>
          <p:nvPr/>
        </p:nvSpPr>
        <p:spPr>
          <a:xfrm>
            <a:off x="54864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l1.index(21)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5"/>
          <p:cNvSpPr/>
          <p:nvPr/>
        </p:nvSpPr>
        <p:spPr>
          <a:xfrm>
            <a:off x="60336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the position of the first 21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6"/>
          <p:cNvSpPr/>
          <p:nvPr/>
        </p:nvSpPr>
        <p:spPr>
          <a:xfrm>
            <a:off x="620892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7"/>
          <p:cNvSpPr/>
          <p:nvPr/>
        </p:nvSpPr>
        <p:spPr>
          <a:xfrm>
            <a:off x="869580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9" name="Image 2" descr="icons/hashta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0" name="Text 8"/>
          <p:cNvSpPr/>
          <p:nvPr/>
        </p:nvSpPr>
        <p:spPr>
          <a:xfrm>
            <a:off x="630036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l1.count(8)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9"/>
          <p:cNvSpPr/>
          <p:nvPr/>
        </p:nvSpPr>
        <p:spPr>
          <a:xfrm>
            <a:off x="635508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how many times 8 appears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6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.sort() — Reorder Smallest to Largest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l1.sort()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41"/>
          <p:cNvSpPr/>
          <p:nvPr/>
        </p:nvSpPr>
        <p:spPr>
          <a:xfrm>
            <a:off x="105156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2"/>
          <p:cNvSpPr/>
          <p:nvPr/>
        </p:nvSpPr>
        <p:spPr>
          <a:xfrm>
            <a:off x="105156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43"/>
          <p:cNvSpPr/>
          <p:nvPr/>
        </p:nvSpPr>
        <p:spPr>
          <a:xfrm>
            <a:off x="105156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4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sort() rearranges the list in place — the original order is gone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 it sorts smallest to largest — pass reverse=True for largest to 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5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4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sorted() vs. .sort() — Not the Same Thing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7" name="Image 1" descr="icons/exchang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8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.sort()  — a 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Changes the original list directly, permanently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None — do NOT write l1 = l1.sort()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 works on lists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2" name="Image 2" descr="icons/cop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sorted()  — a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Leaves the original list untouched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brand new, sorted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Works on lists, tuples, and more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sorted()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whenever you want a sorted view, but need to keep the original order intact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safer default when you are not sure yet whether you'll need the original order later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sorted(l1)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[1, 2, 7, 8, 15,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    # [1, 8, 7, 2, 21, 15]  &lt;- unchanged!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hape 0"/>
          <p:cNvSpPr/>
          <p:nvPr/>
        </p:nvSpPr>
        <p:spPr>
          <a:xfrm>
            <a:off x="-1828800" y="521208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8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9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.reverse() — Flip the Order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l1.reverse()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5"/>
          <p:cNvSpPr/>
          <p:nvPr/>
        </p:nvSpPr>
        <p:spPr>
          <a:xfrm>
            <a:off x="5486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Shape 6"/>
          <p:cNvSpPr/>
          <p:nvPr/>
        </p:nvSpPr>
        <p:spPr>
          <a:xfrm>
            <a:off x="5486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7"/>
          <p:cNvSpPr/>
          <p:nvPr/>
        </p:nvSpPr>
        <p:spPr>
          <a:xfrm>
            <a:off x="5486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8"/>
          <p:cNvSpPr/>
          <p:nvPr/>
        </p:nvSpPr>
        <p:spPr>
          <a:xfrm>
            <a:off x="5486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9"/>
          <p:cNvSpPr/>
          <p:nvPr/>
        </p:nvSpPr>
        <p:spPr>
          <a:xfrm>
            <a:off x="1353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0"/>
          <p:cNvSpPr/>
          <p:nvPr/>
        </p:nvSpPr>
        <p:spPr>
          <a:xfrm>
            <a:off x="1353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11"/>
          <p:cNvSpPr/>
          <p:nvPr/>
        </p:nvSpPr>
        <p:spPr>
          <a:xfrm>
            <a:off x="1353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12"/>
          <p:cNvSpPr/>
          <p:nvPr/>
        </p:nvSpPr>
        <p:spPr>
          <a:xfrm>
            <a:off x="2157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3"/>
          <p:cNvSpPr/>
          <p:nvPr/>
        </p:nvSpPr>
        <p:spPr>
          <a:xfrm>
            <a:off x="2157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14"/>
          <p:cNvSpPr/>
          <p:nvPr/>
        </p:nvSpPr>
        <p:spPr>
          <a:xfrm>
            <a:off x="2157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5"/>
          <p:cNvSpPr/>
          <p:nvPr/>
        </p:nvSpPr>
        <p:spPr>
          <a:xfrm>
            <a:off x="29628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16"/>
          <p:cNvSpPr/>
          <p:nvPr/>
        </p:nvSpPr>
        <p:spPr>
          <a:xfrm>
            <a:off x="29628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17"/>
          <p:cNvSpPr/>
          <p:nvPr/>
        </p:nvSpPr>
        <p:spPr>
          <a:xfrm>
            <a:off x="29628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18"/>
          <p:cNvSpPr/>
          <p:nvPr/>
        </p:nvSpPr>
        <p:spPr>
          <a:xfrm>
            <a:off x="3767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19"/>
          <p:cNvSpPr/>
          <p:nvPr/>
        </p:nvSpPr>
        <p:spPr>
          <a:xfrm>
            <a:off x="3767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20"/>
          <p:cNvSpPr/>
          <p:nvPr/>
        </p:nvSpPr>
        <p:spPr>
          <a:xfrm>
            <a:off x="3767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21"/>
          <p:cNvSpPr/>
          <p:nvPr/>
        </p:nvSpPr>
        <p:spPr>
          <a:xfrm>
            <a:off x="4572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22"/>
          <p:cNvSpPr/>
          <p:nvPr/>
        </p:nvSpPr>
        <p:spPr>
          <a:xfrm>
            <a:off x="4572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23"/>
          <p:cNvSpPr/>
          <p:nvPr/>
        </p:nvSpPr>
        <p:spPr>
          <a:xfrm>
            <a:off x="4572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24"/>
          <p:cNvSpPr/>
          <p:nvPr/>
        </p:nvSpPr>
        <p:spPr>
          <a:xfrm>
            <a:off x="5806440" y="2468880"/>
            <a:ext cx="547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5"/>
          <p:cNvSpPr/>
          <p:nvPr/>
        </p:nvSpPr>
        <p:spPr>
          <a:xfrm>
            <a:off x="6492240" y="21488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26"/>
          <p:cNvSpPr/>
          <p:nvPr/>
        </p:nvSpPr>
        <p:spPr>
          <a:xfrm>
            <a:off x="64922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7"/>
          <p:cNvSpPr/>
          <p:nvPr/>
        </p:nvSpPr>
        <p:spPr>
          <a:xfrm>
            <a:off x="64922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28"/>
          <p:cNvSpPr/>
          <p:nvPr/>
        </p:nvSpPr>
        <p:spPr>
          <a:xfrm>
            <a:off x="64922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29"/>
          <p:cNvSpPr/>
          <p:nvPr/>
        </p:nvSpPr>
        <p:spPr>
          <a:xfrm>
            <a:off x="72968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30"/>
          <p:cNvSpPr/>
          <p:nvPr/>
        </p:nvSpPr>
        <p:spPr>
          <a:xfrm>
            <a:off x="72968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31"/>
          <p:cNvSpPr/>
          <p:nvPr/>
        </p:nvSpPr>
        <p:spPr>
          <a:xfrm>
            <a:off x="72968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32"/>
          <p:cNvSpPr/>
          <p:nvPr/>
        </p:nvSpPr>
        <p:spPr>
          <a:xfrm>
            <a:off x="810144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33"/>
          <p:cNvSpPr/>
          <p:nvPr/>
        </p:nvSpPr>
        <p:spPr>
          <a:xfrm>
            <a:off x="810144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4"/>
          <p:cNvSpPr/>
          <p:nvPr/>
        </p:nvSpPr>
        <p:spPr>
          <a:xfrm>
            <a:off x="810144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35"/>
          <p:cNvSpPr/>
          <p:nvPr/>
        </p:nvSpPr>
        <p:spPr>
          <a:xfrm>
            <a:off x="89064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36"/>
          <p:cNvSpPr/>
          <p:nvPr/>
        </p:nvSpPr>
        <p:spPr>
          <a:xfrm>
            <a:off x="89064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37"/>
          <p:cNvSpPr/>
          <p:nvPr/>
        </p:nvSpPr>
        <p:spPr>
          <a:xfrm>
            <a:off x="89064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Shape 38"/>
          <p:cNvSpPr/>
          <p:nvPr/>
        </p:nvSpPr>
        <p:spPr>
          <a:xfrm>
            <a:off x="97110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39"/>
          <p:cNvSpPr/>
          <p:nvPr/>
        </p:nvSpPr>
        <p:spPr>
          <a:xfrm>
            <a:off x="97110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40"/>
          <p:cNvSpPr/>
          <p:nvPr/>
        </p:nvSpPr>
        <p:spPr>
          <a:xfrm>
            <a:off x="97110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41"/>
          <p:cNvSpPr/>
          <p:nvPr/>
        </p:nvSpPr>
        <p:spPr>
          <a:xfrm>
            <a:off x="10515600" y="2514600"/>
            <a:ext cx="74880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2"/>
          <p:cNvSpPr/>
          <p:nvPr/>
        </p:nvSpPr>
        <p:spPr>
          <a:xfrm>
            <a:off x="10515600" y="2514600"/>
            <a:ext cx="74880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43"/>
          <p:cNvSpPr/>
          <p:nvPr/>
        </p:nvSpPr>
        <p:spPr>
          <a:xfrm>
            <a:off x="10515600" y="3163680"/>
            <a:ext cx="748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44"/>
          <p:cNvSpPr/>
          <p:nvPr/>
        </p:nvSpPr>
        <p:spPr>
          <a:xfrm>
            <a:off x="548640" y="3977640"/>
            <a:ext cx="11090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reverse() simply flips the current order — it does NOT sort the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that is already sorted, once reversed, becomes largest to 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45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4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del and .clear() — Two More Ways to Remove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an item by index — like pop(), but does not return the value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can also delete the entire list at once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clear() empties the whole list, but keeps the (now empty) list itself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l1[0]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l1.clear()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5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Lists: + and *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joins two lists together into a brand new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repeats a list a given number of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b)   # [1,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* 3)   # [1, 2, 1, 2, 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4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Multiplication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[[]] * 3 looks like it makes 3 separate empty lists — it does not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actually makes 3 references to the SAME inner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Changing one "copy" silently changes all of them — a classic real-world and interview bug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[[]] *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grid[0].append(1)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print(id(grid[0]))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print(id(grid[1]))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print(id(grid[2]))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[[1], [1], [1]]   &lt;- all three 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safe way: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 for _ in range(3)]   # (loops covered next session)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3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Copying Gotcha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3"/>
          <p:cNvSpPr/>
          <p:nvPr/>
        </p:nvSpPr>
        <p:spPr>
          <a:xfrm>
            <a:off x="548640" y="1417320"/>
            <a:ext cx="11090520" cy="50184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4"/>
          <p:cNvSpPr/>
          <p:nvPr/>
        </p:nvSpPr>
        <p:spPr>
          <a:xfrm>
            <a:off x="731520" y="1417320"/>
            <a:ext cx="10724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l1   (this does NOT make a copy!)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5"/>
          <p:cNvSpPr/>
          <p:nvPr/>
        </p:nvSpPr>
        <p:spPr>
          <a:xfrm>
            <a:off x="1188720" y="2286000"/>
            <a:ext cx="730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6"/>
          <p:cNvSpPr/>
          <p:nvPr/>
        </p:nvSpPr>
        <p:spPr>
          <a:xfrm>
            <a:off x="1188720" y="2743200"/>
            <a:ext cx="730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7"/>
          <p:cNvSpPr/>
          <p:nvPr/>
        </p:nvSpPr>
        <p:spPr>
          <a:xfrm>
            <a:off x="2194560" y="242316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8"/>
          <p:cNvSpPr/>
          <p:nvPr/>
        </p:nvSpPr>
        <p:spPr>
          <a:xfrm>
            <a:off x="2194560" y="242316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Shape 9"/>
          <p:cNvSpPr/>
          <p:nvPr/>
        </p:nvSpPr>
        <p:spPr>
          <a:xfrm>
            <a:off x="2935080" y="242316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0"/>
          <p:cNvSpPr/>
          <p:nvPr/>
        </p:nvSpPr>
        <p:spPr>
          <a:xfrm>
            <a:off x="2935080" y="242316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1"/>
          <p:cNvSpPr/>
          <p:nvPr/>
        </p:nvSpPr>
        <p:spPr>
          <a:xfrm>
            <a:off x="3675960" y="242316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12"/>
          <p:cNvSpPr/>
          <p:nvPr/>
        </p:nvSpPr>
        <p:spPr>
          <a:xfrm>
            <a:off x="3675960" y="242316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13"/>
          <p:cNvSpPr/>
          <p:nvPr/>
        </p:nvSpPr>
        <p:spPr>
          <a:xfrm>
            <a:off x="4846320" y="2331720"/>
            <a:ext cx="36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Both names point to the exact same boxes.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Change l2, and l1 changes too.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4"/>
          <p:cNvSpPr/>
          <p:nvPr/>
        </p:nvSpPr>
        <p:spPr>
          <a:xfrm>
            <a:off x="1188720" y="4206240"/>
            <a:ext cx="730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15"/>
          <p:cNvSpPr/>
          <p:nvPr/>
        </p:nvSpPr>
        <p:spPr>
          <a:xfrm>
            <a:off x="219456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16"/>
          <p:cNvSpPr/>
          <p:nvPr/>
        </p:nvSpPr>
        <p:spPr>
          <a:xfrm>
            <a:off x="219456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17"/>
          <p:cNvSpPr/>
          <p:nvPr/>
        </p:nvSpPr>
        <p:spPr>
          <a:xfrm>
            <a:off x="293508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18"/>
          <p:cNvSpPr/>
          <p:nvPr/>
        </p:nvSpPr>
        <p:spPr>
          <a:xfrm>
            <a:off x="293508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19"/>
          <p:cNvSpPr/>
          <p:nvPr/>
        </p:nvSpPr>
        <p:spPr>
          <a:xfrm>
            <a:off x="367596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0"/>
          <p:cNvSpPr/>
          <p:nvPr/>
        </p:nvSpPr>
        <p:spPr>
          <a:xfrm>
            <a:off x="367596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1"/>
          <p:cNvSpPr/>
          <p:nvPr/>
        </p:nvSpPr>
        <p:spPr>
          <a:xfrm>
            <a:off x="7589520" y="4206240"/>
            <a:ext cx="730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98A2B"/>
                </a:solidFill>
                <a:effectLst/>
                <a:uFillTx/>
                <a:latin typeface="Cantarell"/>
                <a:ea typeface="Consolas"/>
              </a:rPr>
              <a:t>l3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Shape 22"/>
          <p:cNvSpPr/>
          <p:nvPr/>
        </p:nvSpPr>
        <p:spPr>
          <a:xfrm>
            <a:off x="859536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23"/>
          <p:cNvSpPr/>
          <p:nvPr/>
        </p:nvSpPr>
        <p:spPr>
          <a:xfrm>
            <a:off x="859536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4"/>
          <p:cNvSpPr/>
          <p:nvPr/>
        </p:nvSpPr>
        <p:spPr>
          <a:xfrm>
            <a:off x="933588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25"/>
          <p:cNvSpPr/>
          <p:nvPr/>
        </p:nvSpPr>
        <p:spPr>
          <a:xfrm>
            <a:off x="933588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Shape 26"/>
          <p:cNvSpPr/>
          <p:nvPr/>
        </p:nvSpPr>
        <p:spPr>
          <a:xfrm>
            <a:off x="10076760" y="4343400"/>
            <a:ext cx="684720" cy="62064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27"/>
          <p:cNvSpPr/>
          <p:nvPr/>
        </p:nvSpPr>
        <p:spPr>
          <a:xfrm>
            <a:off x="10076760" y="4343400"/>
            <a:ext cx="6847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28"/>
          <p:cNvSpPr/>
          <p:nvPr/>
        </p:nvSpPr>
        <p:spPr>
          <a:xfrm>
            <a:off x="2194560" y="5074920"/>
            <a:ext cx="7314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l3 = l1.copy()  -&gt;  two completely separate lists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29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3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5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Shallow Copy Gotcha — Nested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.copy() only copies ONE level deep — this is called a shallow copy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your list contains other lists inside it, those inner lists are still shared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Changing a nested item through the "copy" still changes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 too!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real fix: import copy;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4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Shallow Copy vs. Deep Copy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shallow copy — .copy(), list(x), or [:] — copies the outer list only. Nested lists inside are still shared with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deep copy copies everything, all the way down. The result is completely independent, with nothing shared at all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Python's built-in copy module provides deepcopy() for exactly this situation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import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 =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changed! (shared)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deep[2].append(9)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unchanged (independent)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3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min(), max(), and sum()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These three built-in functions work directly on a list of numbers — no method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 and max() find the smallest and largest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sum() adds every value in the list together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print(min(l1))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print(max(l1))   #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print(sum(l1))   # 54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2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Using a List as a Stack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6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7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Last In,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First 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(LIFO)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+ pop() together turn a plain list into a stack — a real, widely-used data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last item you added is always the first one you remove — LIFO (Last in first out) like a stack of plates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examples: a browser's "back" button, and "undo" history in any 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to the top; pop() (no argument) removes from the 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3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Stack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exact same append()/pop() you already know — just used with intention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shows up constantly in real interview questions and real applications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1")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2")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3")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print(history.pop())   # "Page 3"  &lt;- the most recent page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print(history)         # ["Page 1", "Page 2"]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Front vs. Back Matters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2"/>
          <p:cNvSpPr/>
          <p:nvPr/>
        </p:nvSpPr>
        <p:spPr>
          <a:xfrm>
            <a:off x="45720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3"/>
          <p:cNvSpPr/>
          <p:nvPr/>
        </p:nvSpPr>
        <p:spPr>
          <a:xfrm>
            <a:off x="294444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5" name="Image 1" descr="icons/bolt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6" name="Text 4"/>
          <p:cNvSpPr/>
          <p:nvPr/>
        </p:nvSpPr>
        <p:spPr>
          <a:xfrm>
            <a:off x="54864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append() / pop()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5"/>
          <p:cNvSpPr/>
          <p:nvPr/>
        </p:nvSpPr>
        <p:spPr>
          <a:xfrm>
            <a:off x="60336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Fast — works at the end, nothing needs to shift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6"/>
          <p:cNvSpPr/>
          <p:nvPr/>
        </p:nvSpPr>
        <p:spPr>
          <a:xfrm>
            <a:off x="620892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7"/>
          <p:cNvSpPr/>
          <p:nvPr/>
        </p:nvSpPr>
        <p:spPr>
          <a:xfrm>
            <a:off x="869580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0" name="Image 2" descr="icons/warnin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1" name="Text 8"/>
          <p:cNvSpPr/>
          <p:nvPr/>
        </p:nvSpPr>
        <p:spPr>
          <a:xfrm>
            <a:off x="630036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insert(0, x) / pop(0)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9"/>
          <p:cNvSpPr/>
          <p:nvPr/>
        </p:nvSpPr>
        <p:spPr>
          <a:xfrm>
            <a:off x="635508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Slower — everything after index 0 has to shift over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7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Membership: in / not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in and not in back in the operators session — they work on lists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checks whether a value exists anywhere in the list, without needing to know its index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plain True or False, ready to use directly inside an if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print(7 in l1)      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in l1)      # False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not in l1)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6" name="Image 0" descr="icons/balanc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Equality — == Compares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== checks whether two lists contain the same values, in the same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different from checking if they are the literal same list in memory (that's what is is for — a topic for another day)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b)   # True  -&gt; same values, same order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[3, 2, 1])   # False -&gt; order matters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Lists — A List Inside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can hold anything — including other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you represent grid-like or table-like data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two sets of square brackets to reach an item inside the inner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print(grid[0])      #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print(grid[0][1])   # 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print(grid[1][2])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4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for an Empty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empty list is "falsy" — Python treats it as False inside a condition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cleanest, most common way to check if a list has anything in it at all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my_list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if not my_list: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print("The list is empty")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print("The list has items")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Strings ↔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breaks a string into a list of its individual characters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"".join(a_list) glues a list of strings back into one single string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bridge between strings and lists is used constantly in real programs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 =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chars = list(word)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print(chars)          # ['h', 'e', 'l', 'l', 'o']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 = "".join(chars)    # " ".join(chars), ", ".join(chars)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print(back)           #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2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Converting Between List and Tuple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turns almost any collection into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tuple() does the same, but produces an immutable tuple instead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Handy when you need to "unlock" a tuple temporarily, edit it as a list, then lock it again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a_tuple = 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a_list = list(a_tuple)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print(a_list)        #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back_to_tuple = tuple(a_list)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print(back_to_tuple) # 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Methods Cheat Sheet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2"/>
          <p:cNvSpPr/>
          <p:nvPr/>
        </p:nvSpPr>
        <p:spPr>
          <a:xfrm>
            <a:off x="457200" y="150876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3"/>
          <p:cNvSpPr/>
          <p:nvPr/>
        </p:nvSpPr>
        <p:spPr>
          <a:xfrm>
            <a:off x="2067840" y="168624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4" name="Image 1" descr="icons/pluscircle.png"/>
          <p:cNvPicPr/>
          <p:nvPr/>
        </p:nvPicPr>
        <p:blipFill>
          <a:blip r:embed="rId2"/>
          <a:stretch/>
        </p:blipFill>
        <p:spPr>
          <a:xfrm>
            <a:off x="2125440" y="174384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5" name="Text 4"/>
          <p:cNvSpPr/>
          <p:nvPr/>
        </p:nvSpPr>
        <p:spPr>
          <a:xfrm>
            <a:off x="548640" y="21438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5"/>
          <p:cNvSpPr/>
          <p:nvPr/>
        </p:nvSpPr>
        <p:spPr>
          <a:xfrm>
            <a:off x="603360" y="252756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to the end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Shape 6"/>
          <p:cNvSpPr/>
          <p:nvPr/>
        </p:nvSpPr>
        <p:spPr>
          <a:xfrm>
            <a:off x="4291560" y="150876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7"/>
          <p:cNvSpPr/>
          <p:nvPr/>
        </p:nvSpPr>
        <p:spPr>
          <a:xfrm>
            <a:off x="5902200" y="168624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9" name="Image 2" descr="icons/pluscircle.png"/>
          <p:cNvPicPr/>
          <p:nvPr/>
        </p:nvPicPr>
        <p:blipFill>
          <a:blip r:embed="rId3"/>
          <a:stretch/>
        </p:blipFill>
        <p:spPr>
          <a:xfrm>
            <a:off x="5959800" y="174384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0" name="Text 8"/>
          <p:cNvSpPr/>
          <p:nvPr/>
        </p:nvSpPr>
        <p:spPr>
          <a:xfrm>
            <a:off x="4383000" y="21438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extend(list)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9"/>
          <p:cNvSpPr/>
          <p:nvPr/>
        </p:nvSpPr>
        <p:spPr>
          <a:xfrm>
            <a:off x="4437720" y="252756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each item from another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10"/>
          <p:cNvSpPr/>
          <p:nvPr/>
        </p:nvSpPr>
        <p:spPr>
          <a:xfrm>
            <a:off x="8125920" y="150876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11"/>
          <p:cNvSpPr/>
          <p:nvPr/>
        </p:nvSpPr>
        <p:spPr>
          <a:xfrm>
            <a:off x="9736560" y="168624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4" name="Image 3" descr="icons/pluscircle.png"/>
          <p:cNvPicPr/>
          <p:nvPr/>
        </p:nvPicPr>
        <p:blipFill>
          <a:blip r:embed="rId4"/>
          <a:stretch/>
        </p:blipFill>
        <p:spPr>
          <a:xfrm>
            <a:off x="9794160" y="174384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5" name="Text 12"/>
          <p:cNvSpPr/>
          <p:nvPr/>
        </p:nvSpPr>
        <p:spPr>
          <a:xfrm>
            <a:off x="8217360" y="214380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insert(i, 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13"/>
          <p:cNvSpPr/>
          <p:nvPr/>
        </p:nvSpPr>
        <p:spPr>
          <a:xfrm>
            <a:off x="8272440" y="252756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at index 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14"/>
          <p:cNvSpPr/>
          <p:nvPr/>
        </p:nvSpPr>
        <p:spPr>
          <a:xfrm>
            <a:off x="457200" y="321552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5"/>
          <p:cNvSpPr/>
          <p:nvPr/>
        </p:nvSpPr>
        <p:spPr>
          <a:xfrm>
            <a:off x="2067840" y="339300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9" name="Image 4" descr="icons/minuscircle.png"/>
          <p:cNvPicPr/>
          <p:nvPr/>
        </p:nvPicPr>
        <p:blipFill>
          <a:blip r:embed="rId5"/>
          <a:stretch/>
        </p:blipFill>
        <p:spPr>
          <a:xfrm>
            <a:off x="2125440" y="345060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0" name="Text 16"/>
          <p:cNvSpPr/>
          <p:nvPr/>
        </p:nvSpPr>
        <p:spPr>
          <a:xfrm>
            <a:off x="548640" y="385056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17"/>
          <p:cNvSpPr/>
          <p:nvPr/>
        </p:nvSpPr>
        <p:spPr>
          <a:xfrm>
            <a:off x="603360" y="423468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index i, returns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18"/>
          <p:cNvSpPr/>
          <p:nvPr/>
        </p:nvSpPr>
        <p:spPr>
          <a:xfrm>
            <a:off x="4291560" y="321552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19"/>
          <p:cNvSpPr/>
          <p:nvPr/>
        </p:nvSpPr>
        <p:spPr>
          <a:xfrm>
            <a:off x="5902200" y="339300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4" name="Image 5" descr="icons/minuscircle.png"/>
          <p:cNvPicPr/>
          <p:nvPr/>
        </p:nvPicPr>
        <p:blipFill>
          <a:blip r:embed="rId6"/>
          <a:stretch/>
        </p:blipFill>
        <p:spPr>
          <a:xfrm>
            <a:off x="5959800" y="345060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5" name="Text 20"/>
          <p:cNvSpPr/>
          <p:nvPr/>
        </p:nvSpPr>
        <p:spPr>
          <a:xfrm>
            <a:off x="4383000" y="385056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remove(x)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21"/>
          <p:cNvSpPr/>
          <p:nvPr/>
        </p:nvSpPr>
        <p:spPr>
          <a:xfrm>
            <a:off x="4437720" y="423468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first match of 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22"/>
          <p:cNvSpPr/>
          <p:nvPr/>
        </p:nvSpPr>
        <p:spPr>
          <a:xfrm>
            <a:off x="8125920" y="321552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23"/>
          <p:cNvSpPr/>
          <p:nvPr/>
        </p:nvSpPr>
        <p:spPr>
          <a:xfrm>
            <a:off x="9736560" y="339300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9" name="Image 6" descr="icons/sort.png"/>
          <p:cNvPicPr/>
          <p:nvPr/>
        </p:nvPicPr>
        <p:blipFill>
          <a:blip r:embed="rId7"/>
          <a:stretch/>
        </p:blipFill>
        <p:spPr>
          <a:xfrm>
            <a:off x="9794160" y="345060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0" name="Text 24"/>
          <p:cNvSpPr/>
          <p:nvPr/>
        </p:nvSpPr>
        <p:spPr>
          <a:xfrm>
            <a:off x="8217360" y="385056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25"/>
          <p:cNvSpPr/>
          <p:nvPr/>
        </p:nvSpPr>
        <p:spPr>
          <a:xfrm>
            <a:off x="8272440" y="423468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Reorders smallest to largest, in place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26"/>
          <p:cNvSpPr/>
          <p:nvPr/>
        </p:nvSpPr>
        <p:spPr>
          <a:xfrm>
            <a:off x="457200" y="492264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27"/>
          <p:cNvSpPr/>
          <p:nvPr/>
        </p:nvSpPr>
        <p:spPr>
          <a:xfrm>
            <a:off x="2067840" y="509976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4" name="Image 7" descr="icons/sort.png"/>
          <p:cNvPicPr/>
          <p:nvPr/>
        </p:nvPicPr>
        <p:blipFill>
          <a:blip r:embed="rId8"/>
          <a:stretch/>
        </p:blipFill>
        <p:spPr>
          <a:xfrm>
            <a:off x="2125440" y="515772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5" name="Text 28"/>
          <p:cNvSpPr/>
          <p:nvPr/>
        </p:nvSpPr>
        <p:spPr>
          <a:xfrm>
            <a:off x="548640" y="55573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reverse()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29"/>
          <p:cNvSpPr/>
          <p:nvPr/>
        </p:nvSpPr>
        <p:spPr>
          <a:xfrm>
            <a:off x="603360" y="594144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Flips the current order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30"/>
          <p:cNvSpPr/>
          <p:nvPr/>
        </p:nvSpPr>
        <p:spPr>
          <a:xfrm>
            <a:off x="4291560" y="492264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31"/>
          <p:cNvSpPr/>
          <p:nvPr/>
        </p:nvSpPr>
        <p:spPr>
          <a:xfrm>
            <a:off x="5902200" y="509976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9" name="Image 8" descr="icons/search.png"/>
          <p:cNvPicPr/>
          <p:nvPr/>
        </p:nvPicPr>
        <p:blipFill>
          <a:blip r:embed="rId9"/>
          <a:stretch/>
        </p:blipFill>
        <p:spPr>
          <a:xfrm>
            <a:off x="5959800" y="515772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0" name="Text 32"/>
          <p:cNvSpPr/>
          <p:nvPr/>
        </p:nvSpPr>
        <p:spPr>
          <a:xfrm>
            <a:off x="4383000" y="55573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 / 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33"/>
          <p:cNvSpPr/>
          <p:nvPr/>
        </p:nvSpPr>
        <p:spPr>
          <a:xfrm>
            <a:off x="4437720" y="594144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Finds position / counts matches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34"/>
          <p:cNvSpPr/>
          <p:nvPr/>
        </p:nvSpPr>
        <p:spPr>
          <a:xfrm>
            <a:off x="8125920" y="4922640"/>
            <a:ext cx="3604680" cy="147708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35"/>
          <p:cNvSpPr/>
          <p:nvPr/>
        </p:nvSpPr>
        <p:spPr>
          <a:xfrm>
            <a:off x="9736560" y="509976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4" name="Image 9" descr="icons/copy.png"/>
          <p:cNvPicPr/>
          <p:nvPr/>
        </p:nvPicPr>
        <p:blipFill>
          <a:blip r:embed="rId10"/>
          <a:stretch/>
        </p:blipFill>
        <p:spPr>
          <a:xfrm>
            <a:off x="9794160" y="5157720"/>
            <a:ext cx="267840" cy="2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5" name="Text 36"/>
          <p:cNvSpPr/>
          <p:nvPr/>
        </p:nvSpPr>
        <p:spPr>
          <a:xfrm>
            <a:off x="8217360" y="5557320"/>
            <a:ext cx="3421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copy()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37"/>
          <p:cNvSpPr/>
          <p:nvPr/>
        </p:nvSpPr>
        <p:spPr>
          <a:xfrm>
            <a:off x="8272440" y="5941440"/>
            <a:ext cx="331200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Shallow copy — one level deep only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38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9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1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5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7"/>
          <p:cNvSpPr/>
          <p:nvPr/>
        </p:nvSpPr>
        <p:spPr>
          <a:xfrm>
            <a:off x="1418400" y="242316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list with your 3 favorite foods, and print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8"/>
          <p:cNvSpPr/>
          <p:nvPr/>
        </p:nvSpPr>
        <p:spPr>
          <a:xfrm>
            <a:off x="822960" y="286308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9"/>
          <p:cNvSpPr/>
          <p:nvPr/>
        </p:nvSpPr>
        <p:spPr>
          <a:xfrm>
            <a:off x="822960" y="286308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10"/>
          <p:cNvSpPr/>
          <p:nvPr/>
        </p:nvSpPr>
        <p:spPr>
          <a:xfrm>
            <a:off x="1418400" y="286308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length of your list using len()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1"/>
          <p:cNvSpPr/>
          <p:nvPr/>
        </p:nvSpPr>
        <p:spPr>
          <a:xfrm>
            <a:off x="822960" y="330336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2"/>
          <p:cNvSpPr/>
          <p:nvPr/>
        </p:nvSpPr>
        <p:spPr>
          <a:xfrm>
            <a:off x="822960" y="330336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13"/>
          <p:cNvSpPr/>
          <p:nvPr/>
        </p:nvSpPr>
        <p:spPr>
          <a:xfrm>
            <a:off x="1418400" y="330336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item at index 1 in your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4"/>
          <p:cNvSpPr/>
          <p:nvPr/>
        </p:nvSpPr>
        <p:spPr>
          <a:xfrm>
            <a:off x="822960" y="374328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5"/>
          <p:cNvSpPr/>
          <p:nvPr/>
        </p:nvSpPr>
        <p:spPr>
          <a:xfrm>
            <a:off x="822960" y="374328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16"/>
          <p:cNvSpPr/>
          <p:nvPr/>
        </p:nvSpPr>
        <p:spPr>
          <a:xfrm>
            <a:off x="1418400" y="374328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 the second item in your list to something else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7"/>
          <p:cNvSpPr/>
          <p:nvPr/>
        </p:nvSpPr>
        <p:spPr>
          <a:xfrm>
            <a:off x="822960" y="418356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8"/>
          <p:cNvSpPr/>
          <p:nvPr/>
        </p:nvSpPr>
        <p:spPr>
          <a:xfrm>
            <a:off x="822960" y="418356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19"/>
          <p:cNvSpPr/>
          <p:nvPr/>
        </p:nvSpPr>
        <p:spPr>
          <a:xfrm>
            <a:off x="1418400" y="418356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LAST item in your list using a negative index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0"/>
          <p:cNvSpPr/>
          <p:nvPr/>
        </p:nvSpPr>
        <p:spPr>
          <a:xfrm>
            <a:off x="822960" y="462348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1"/>
          <p:cNvSpPr/>
          <p:nvPr/>
        </p:nvSpPr>
        <p:spPr>
          <a:xfrm>
            <a:off x="822960" y="462348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22"/>
          <p:cNvSpPr/>
          <p:nvPr/>
        </p:nvSpPr>
        <p:spPr>
          <a:xfrm>
            <a:off x="1418400" y="462348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slicing to print just the first two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Shape 23"/>
          <p:cNvSpPr/>
          <p:nvPr/>
        </p:nvSpPr>
        <p:spPr>
          <a:xfrm>
            <a:off x="822960" y="506340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4"/>
          <p:cNvSpPr/>
          <p:nvPr/>
        </p:nvSpPr>
        <p:spPr>
          <a:xfrm>
            <a:off x="822960" y="506340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25"/>
          <p:cNvSpPr/>
          <p:nvPr/>
        </p:nvSpPr>
        <p:spPr>
          <a:xfrm>
            <a:off x="1418400" y="506340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whether a value is in your list using 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26"/>
          <p:cNvSpPr/>
          <p:nvPr/>
        </p:nvSpPr>
        <p:spPr>
          <a:xfrm>
            <a:off x="822960" y="5503680"/>
            <a:ext cx="365760" cy="365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27"/>
          <p:cNvSpPr/>
          <p:nvPr/>
        </p:nvSpPr>
        <p:spPr>
          <a:xfrm>
            <a:off x="822960" y="5503680"/>
            <a:ext cx="365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28"/>
          <p:cNvSpPr/>
          <p:nvPr/>
        </p:nvSpPr>
        <p:spPr>
          <a:xfrm>
            <a:off x="1418400" y="5503680"/>
            <a:ext cx="9599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on a list of numbers WITHOUT changing the original — print both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29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3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4" name="Image 0" descr="icons/loc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5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Tuples — The List That Cannot 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Tuple?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Locked.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Never changes.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stores multiple values together, exactly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key difference: a tuple is immutable — once created, it can never be changed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tuple for values that should stay fixed, like coordinates or days of the week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Written with round brackets ( ) instead of square brackets [ 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1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brackets create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empty tuple is just 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with more than one item works exactly like a list, just with ( 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()              # empty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        # tuple with 3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print(type(a))    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Create a Tuple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parentheses are actually optional — commas alone are what make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tuple() function builds a tuple from almost any other collection, just like list()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into a tuple is a common way to "lock" it once you're done editing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1, 7, 2             # no parentheses at all — still a tuple!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print(type(a))       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tuple()              # () — an empty tuple,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tuple([1, 2, 3])     # (1, 2, 3) — from a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tuple("abc")         # ('a', 'b', 'c') — from a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9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Single-Element Tuple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83" name="Image 1" descr="icons/warnin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sneaky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comma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= (1) does NOT make a tuple — Python just sees a number in brackets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single-item tuple needs a trailing comma: a = (1,)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one comma is the only thing that tells Python "this is a tuple, not just a number"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most common tuple mistakes — check for the comma if something looks wrong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Are Immutable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Trying to change an item inside a tuple raises a TypeError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whole point of a tuple — it is a promise that the data will not change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a[0] =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TypeError: 'tuple' object does not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support item assignment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9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Indexing &amp;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Indexing and slicing work exactly the same as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thing that is different about a tuple is that you cannot modify it afterward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print(a[0])  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print(a[0:2])   # (1, 7)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7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8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Methods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2"/>
          <p:cNvSpPr/>
          <p:nvPr/>
        </p:nvSpPr>
        <p:spPr>
          <a:xfrm>
            <a:off x="45720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Shape 3"/>
          <p:cNvSpPr/>
          <p:nvPr/>
        </p:nvSpPr>
        <p:spPr>
          <a:xfrm>
            <a:off x="294444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1" name="Image 1" descr="icons/hashtag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2" name="Text 4"/>
          <p:cNvSpPr/>
          <p:nvPr/>
        </p:nvSpPr>
        <p:spPr>
          <a:xfrm>
            <a:off x="54864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0336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a.count(1) — how many times 1 appears in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6"/>
          <p:cNvSpPr/>
          <p:nvPr/>
        </p:nvSpPr>
        <p:spPr>
          <a:xfrm>
            <a:off x="6208920" y="1508760"/>
            <a:ext cx="5522040" cy="489096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Shape 7"/>
          <p:cNvSpPr/>
          <p:nvPr/>
        </p:nvSpPr>
        <p:spPr>
          <a:xfrm>
            <a:off x="8695800" y="20959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6" name="Image 2" descr="icons/search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7" name="Text 8"/>
          <p:cNvSpPr/>
          <p:nvPr/>
        </p:nvSpPr>
        <p:spPr>
          <a:xfrm>
            <a:off x="6300360" y="2717640"/>
            <a:ext cx="533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9"/>
          <p:cNvSpPr/>
          <p:nvPr/>
        </p:nvSpPr>
        <p:spPr>
          <a:xfrm>
            <a:off x="6355080" y="3101760"/>
            <a:ext cx="5229360" cy="32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a.index(1) — the position of the first 1 in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3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Packing &amp; Unpacking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Packing: writing several values together, comma-separated, quietly creates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Unpacking: assigning a tuple straight into several variables at once, in one 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number of variables must match the number of values exactly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4, 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print(type(point))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unpacking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print(y)   # 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2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Indices, Slicing &amp; Combining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trick you learned for lists works on tuples too — negative indices, slicing, steps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real difference: the result of slicing a tuple is still a tuple, never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and * work exactly like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2, 9,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print(a[-1])    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print(a[1:3])      # (7,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print(a[::-1])     # (4, 9, 2, 7, 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(5, 6))  # (1, 7, 2, 9, 4, 5, 6)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print((1, 2) * 2)  # (1, 2, 1,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1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Access Tuple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is actually the most natural way to read a tuple's values — used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works on tuples too, exactly like it does on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a value's position, the same as it does on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y, z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print(x, y, z)        # 4 7 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[7, 9]   &lt;- note: rest becomes a list, not a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print(point.index(7))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Shape 0"/>
          <p:cNvSpPr/>
          <p:nvPr/>
        </p:nvSpPr>
        <p:spPr>
          <a:xfrm>
            <a:off x="-1828800" y="512064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0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3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Just like lists, a tuple can hold other tuples inside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representing fixed, related groups of data — like a set of coordinates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Shape 4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5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points = ((0, 0), (3, 4), (6, 8))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print(points[1])       # (3,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print(points[1][0])    #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6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8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9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vs. Tuples — When to Use Which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2" name="Image 1" descr="icons/boxe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a List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will change — items added, removed, or reordered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need methods like append(), sort(), remove()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shopping list, or student scores you keep updating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7" name="Image 2" descr="icons/lock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a Tuple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should never change once it is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want to protect it from accidental edits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date of birth, GPS coordinates, days of the week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10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4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tuple with 3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Shape 8"/>
          <p:cNvSpPr/>
          <p:nvPr/>
        </p:nvSpPr>
        <p:spPr>
          <a:xfrm>
            <a:off x="822960" y="30099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9"/>
          <p:cNvSpPr/>
          <p:nvPr/>
        </p:nvSpPr>
        <p:spPr>
          <a:xfrm>
            <a:off x="822960" y="30099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10"/>
          <p:cNvSpPr/>
          <p:nvPr/>
        </p:nvSpPr>
        <p:spPr>
          <a:xfrm>
            <a:off x="1435680" y="30099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negative index to print the last item in your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Shape 11"/>
          <p:cNvSpPr/>
          <p:nvPr/>
        </p:nvSpPr>
        <p:spPr>
          <a:xfrm>
            <a:off x="822960" y="35967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12"/>
          <p:cNvSpPr/>
          <p:nvPr/>
        </p:nvSpPr>
        <p:spPr>
          <a:xfrm>
            <a:off x="822960" y="35967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13"/>
          <p:cNvSpPr/>
          <p:nvPr/>
        </p:nvSpPr>
        <p:spPr>
          <a:xfrm>
            <a:off x="1435680" y="35967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changing one value in your tuple, and read the error Python gives you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14"/>
          <p:cNvSpPr/>
          <p:nvPr/>
        </p:nvSpPr>
        <p:spPr>
          <a:xfrm>
            <a:off x="822960" y="41835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15"/>
          <p:cNvSpPr/>
          <p:nvPr/>
        </p:nvSpPr>
        <p:spPr>
          <a:xfrm>
            <a:off x="822960" y="41835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6"/>
          <p:cNvSpPr/>
          <p:nvPr/>
        </p:nvSpPr>
        <p:spPr>
          <a:xfrm>
            <a:off x="1435680" y="41835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two small tuples together using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Shape 17"/>
          <p:cNvSpPr/>
          <p:nvPr/>
        </p:nvSpPr>
        <p:spPr>
          <a:xfrm>
            <a:off x="822960" y="477000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18"/>
          <p:cNvSpPr/>
          <p:nvPr/>
        </p:nvSpPr>
        <p:spPr>
          <a:xfrm>
            <a:off x="822960" y="477000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19"/>
          <p:cNvSpPr/>
          <p:nvPr/>
        </p:nvSpPr>
        <p:spPr>
          <a:xfrm>
            <a:off x="1435680" y="477000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count() to count how many times a number appears in a tuple you make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Shape 20"/>
          <p:cNvSpPr/>
          <p:nvPr/>
        </p:nvSpPr>
        <p:spPr>
          <a:xfrm>
            <a:off x="822960" y="535680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21"/>
          <p:cNvSpPr/>
          <p:nvPr/>
        </p:nvSpPr>
        <p:spPr>
          <a:xfrm>
            <a:off x="822960" y="535680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22"/>
          <p:cNvSpPr/>
          <p:nvPr/>
        </p:nvSpPr>
        <p:spPr>
          <a:xfrm>
            <a:off x="1435680" y="535680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 three values into one line, then unpack them into three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23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2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0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Shape 5"/>
          <p:cNvSpPr/>
          <p:nvPr/>
        </p:nvSpPr>
        <p:spPr>
          <a:xfrm>
            <a:off x="822960" y="2423160"/>
            <a:ext cx="419400" cy="41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5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400" cy="2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6" name="Shape 6"/>
          <p:cNvSpPr/>
          <p:nvPr/>
        </p:nvSpPr>
        <p:spPr>
          <a:xfrm>
            <a:off x="1417320" y="2441520"/>
            <a:ext cx="419400" cy="38304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1417320" y="2441520"/>
            <a:ext cx="419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8"/>
          <p:cNvSpPr/>
          <p:nvPr/>
        </p:nvSpPr>
        <p:spPr>
          <a:xfrm>
            <a:off x="2011680" y="2423160"/>
            <a:ext cx="9417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sum a list with 4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22960" y="3596760"/>
            <a:ext cx="419400" cy="41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0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3400" cy="2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1" name="Shape 10"/>
          <p:cNvSpPr/>
          <p:nvPr/>
        </p:nvSpPr>
        <p:spPr>
          <a:xfrm>
            <a:off x="1417320" y="3614760"/>
            <a:ext cx="419400" cy="38304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1"/>
          <p:cNvSpPr/>
          <p:nvPr/>
        </p:nvSpPr>
        <p:spPr>
          <a:xfrm>
            <a:off x="1417320" y="3614760"/>
            <a:ext cx="419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12"/>
          <p:cNvSpPr/>
          <p:nvPr/>
        </p:nvSpPr>
        <p:spPr>
          <a:xfrm>
            <a:off x="2011680" y="3596760"/>
            <a:ext cx="9417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store seven fruits in a list entered by the user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3"/>
          <p:cNvSpPr/>
          <p:nvPr/>
        </p:nvSpPr>
        <p:spPr>
          <a:xfrm>
            <a:off x="822960" y="4770000"/>
            <a:ext cx="419400" cy="41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5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3400" cy="2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6" name="Shape 14"/>
          <p:cNvSpPr/>
          <p:nvPr/>
        </p:nvSpPr>
        <p:spPr>
          <a:xfrm>
            <a:off x="1417320" y="4788360"/>
            <a:ext cx="419400" cy="38304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5"/>
          <p:cNvSpPr/>
          <p:nvPr/>
        </p:nvSpPr>
        <p:spPr>
          <a:xfrm>
            <a:off x="1417320" y="4788360"/>
            <a:ext cx="419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16"/>
          <p:cNvSpPr/>
          <p:nvPr/>
        </p:nvSpPr>
        <p:spPr>
          <a:xfrm>
            <a:off x="2011680" y="4770000"/>
            <a:ext cx="9417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accept marks of 6 students and display them in a sorted manner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1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3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5"/>
          <p:cNvSpPr/>
          <p:nvPr/>
        </p:nvSpPr>
        <p:spPr>
          <a:xfrm>
            <a:off x="822960" y="2423160"/>
            <a:ext cx="419400" cy="41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8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400" cy="2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9" name="Shape 6"/>
          <p:cNvSpPr/>
          <p:nvPr/>
        </p:nvSpPr>
        <p:spPr>
          <a:xfrm>
            <a:off x="1417320" y="2441520"/>
            <a:ext cx="419400" cy="38304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7"/>
          <p:cNvSpPr/>
          <p:nvPr/>
        </p:nvSpPr>
        <p:spPr>
          <a:xfrm>
            <a:off x="1417320" y="2441520"/>
            <a:ext cx="419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8"/>
          <p:cNvSpPr/>
          <p:nvPr/>
        </p:nvSpPr>
        <p:spPr>
          <a:xfrm>
            <a:off x="2011680" y="2423160"/>
            <a:ext cx="9417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that a tuple type cannot be changed in Python — try editing one and observe the error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2" name="Shape 9"/>
          <p:cNvSpPr/>
          <p:nvPr/>
        </p:nvSpPr>
        <p:spPr>
          <a:xfrm>
            <a:off x="822960" y="4183560"/>
            <a:ext cx="419400" cy="419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3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4246560"/>
            <a:ext cx="293400" cy="2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4" name="Shape 10"/>
          <p:cNvSpPr/>
          <p:nvPr/>
        </p:nvSpPr>
        <p:spPr>
          <a:xfrm>
            <a:off x="1417320" y="4201560"/>
            <a:ext cx="419400" cy="38304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Text 11"/>
          <p:cNvSpPr/>
          <p:nvPr/>
        </p:nvSpPr>
        <p:spPr>
          <a:xfrm>
            <a:off x="1417320" y="4201560"/>
            <a:ext cx="419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2"/>
          <p:cNvSpPr/>
          <p:nvPr/>
        </p:nvSpPr>
        <p:spPr>
          <a:xfrm>
            <a:off x="2011680" y="4183560"/>
            <a:ext cx="9417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count the number of zeros in a tuple you create with at least 3 zeros in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13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2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3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small projects using everything from this course so far — variables, operators, conditionals, and today's lists &amp; tuples.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9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Class Grade Report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3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loops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needed 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just indexing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lists: 5 student names, and their 5 matching scores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Using direct indexing (l1[0], l1[1]...), print each student's name, score, and whether they Pass or Fail (40 or above passes)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highest score using max(), and the class average using sum() and len()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Bonus: use sorted() to also show the scores ranked, without changing your original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Contact Card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Ties together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f-strings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a friend's name, age, and phone number together in a single tuple — this is personal data that shouldn't accidentally change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a formatted "contact card" sentence using all three values together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to update their age directly inside the tuple, and let Python's error prove why a tuple was the right choice 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show the correct way to "update" it: build a brand new tuple with the changed 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7"/>
          <p:cNvSpPr/>
          <p:nvPr/>
        </p:nvSpPr>
        <p:spPr>
          <a:xfrm>
            <a:off x="457200" y="644652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2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3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list can grow, shrink, and change.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tuple, once made, stays exactly as it is.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loops — now that lists exist, this is where they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715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2026-07-31T04:17:26Z</dcterms:created>
  <dc:creator>Course Instructor</dc:creator>
  <dc:description/>
  <dc:language>en-US</dc:language>
  <cp:lastModifiedBy/>
  <dcterms:modified xsi:type="dcterms:W3CDTF">2026-08-07T23:20:05Z</dcterms:modified>
  <cp:revision>53</cp:revision>
  <dc:subject>PptxGenJS Presentation</dc:subject>
  <dc:title>Lists &amp; Tuples — Session 5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75</vt:i4>
  </property>
  <property fmtid="{D5CDD505-2E9C-101B-9397-08002B2CF9AE}" pid="3" name="PresentationFormat">
    <vt:lpwstr>On-screen Show (16:9)</vt:lpwstr>
  </property>
  <property fmtid="{D5CDD505-2E9C-101B-9397-08002B2CF9AE}" pid="4" name="Slides">
    <vt:i4>75</vt:i4>
  </property>
</Properties>
</file>