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53.xml" ContentType="application/vnd.openxmlformats-officedocument.presentationml.slide+xml"/>
  <Override PartName="/ppt/slides/slide24.xml" ContentType="application/vnd.openxmlformats-officedocument.presentationml.slide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4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C6DEB2A-B24E-4D3D-8AA3-672E9B5299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Quick recap of Session 3 before diving in: variables, data types, casting.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6611B6-FB54-479A-8EE5-77730AB5BC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1436A3-7A4A-44DE-BBDC-43E04A4D29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00B364-E39B-4A83-92C5-200BA289BA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194A54-5434-4E65-93D1-1067F9CB2C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payoff moment — same idea, three forms: picture, plain English, real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D80AD2-6146-425C-A9F9-F66CCB0A2E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54530-F6C6-404D-8842-AAD8786241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4CF30C-F201-4201-93D8-E58C076B76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83D1CB-A380-45BE-A46B-131F698EC8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one of the two ideas worth slowing down for today — most beginners have never seen these before.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1D1E61-30D8-4FD9-AC78-40B58783D8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operator never changes — only where the numbers come from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D8118C-EDAF-4DCA-A568-0C5FEE7C59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956B2B-7311-451E-AA2F-E236F37FCB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3 is a great callback to the // and % slide just before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7311AE-102F-4DA6-A86E-61773E0B9A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comparison always produces exactly one thing: True or False.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DE56BC-E069-480E-8B28-60BBE9BE59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A77C67-1481-4173-A0F0-2D5185161A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BBDF44-494A-48A8-A40F-8FE34D501D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4 is a fun surprise for anyone who has coded in another language before.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352434-FFE4-47DA-A1A7-DFB249B505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2D297C-0817-4FEB-9128-802FFE900A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B1C6EF-8D5D-4156-A025-74F3E1EDD8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4A60B2-308F-4543-B18A-B02AF41B6F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3 previews the login example we'll build with if/else next.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8F4C19-843E-46E7-B682-88F055374B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4A5C4E-E0D5-4E87-B534-92A8A33A53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BODMAS from school — Python just applies it automatically, every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C8CF48-0077-4C65-BF51-1E9A54BD86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D3705A-D4CE-4EB8-8EC6-B44D22D3C0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Nice capstone moment — ties arithmetic, comparison, and logical operators together in one picture.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F718FD-5C36-4187-92D3-7888A287B3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F49963-EBE7-42D7-9AF4-DE35197EF4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07EE89-050B-4DE2-A741-E65DE0354C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152FDF-DA6D-4090-9C4C-9EE8AD8357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That's genuinely all they need — resist the urge to teach the full formal symbol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248751-328C-42B1-B1CE-0647780DF4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this on the board with the class before revealing it here — much stronger than showing the finished picture cold.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E84F43-A12D-4BE9-99C9-FD940AF1A1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6B3998-2D44-45E8-9951-9B9A851694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9FC691-2C9B-45AA-8A60-7BBA9EC492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18C06A-AB45-438C-AB9C-7F9F0B17A7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FB8D52-680D-4ED1-86BE-E663D2581F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3429B6-5EC3-41B7-B3D9-289F33DCC5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44A316-9125-4BA6-94BE-8D677202B1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Even/Odd reuses % from the arithmetic section — a nice callback.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356B01-2F9E-4675-8F61-9E11E1A128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5A6766-E7C1-4E87-BB67-B7F7A50A4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44A24E-74B4-4783-B044-9611550F0F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Nice full-circle moment — reuses input() and casting from last session too.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FA7D18-9AD0-4EA6-AD4E-944E31DD0E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Leave the * and / branches unfinished on purpose — filling them in is Task 10.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91E29E-CD04-4808-9080-9A5464477C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1AEE25-97AC-43F7-8B4D-521CB96982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BC8E8A-B8DE-4529-8E1F-63109A8E9E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shortcut pattern also works for //=, %=, and **= — no need to dwell on those today.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2F53B5-9CCB-4F16-A822-E282BD677B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F64473-C7C0-4908-8AA7-1147C7C75F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Letting them see the actual SyntaxError live is more memorable than just being told it doesn't exist.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DED622-07B8-4112-B874-7B79EFD968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work on the binary (1s and 0s) form of a number — rare in everyday Python, common in low-level programming.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B34A66-159D-48B2-A577-C93A2CF15D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EC22D5-E4FD-402E-BD86-0DA7F32625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2B7BFB-A19A-4E81-ACE2-E2255B54D8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44D610-3859-47C6-8B9D-BD37593C7F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students predict the printed output before running each 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49C1CA-8498-48B2-9D9F-9640FA6D80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599682-F026-41E2-9C91-D85A263E36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CF636D-5447-4264-AFD7-89FFA7ED64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EEFAB7-5EE0-4449-9A67-0164120307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D00D5D-4B18-4B63-A5FC-C5C23539A9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having 2-3 students describe their Task 1 pseudocode out 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AA6F5C-76F5-45AE-A115-8B63DA230B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000" cy="11880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codebranch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240" cy="83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&amp;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it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al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Teac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hing 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Your 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Pro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gra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m 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Mak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Deci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sion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5816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flagcheckered.png"/>
          <p:cNvPicPr/>
          <p:nvPr/>
        </p:nvPicPr>
        <p:blipFill>
          <a:blip r:embed="rId2"/>
          <a:stretch/>
        </p:blipFill>
        <p:spPr>
          <a:xfrm>
            <a:off x="666720" y="170316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71600" y="160020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Planning before coding — pseudocode &amp; flowcharts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14272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20068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calculator.png"/>
          <p:cNvPicPr/>
          <p:nvPr/>
        </p:nvPicPr>
        <p:blipFill>
          <a:blip r:embed="rId3"/>
          <a:stretch/>
        </p:blipFill>
        <p:spPr>
          <a:xfrm>
            <a:off x="666720" y="224568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71600" y="214272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Arithmetic operators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68524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274320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divide.png"/>
          <p:cNvPicPr/>
          <p:nvPr/>
        </p:nvPicPr>
        <p:blipFill>
          <a:blip r:embed="rId4"/>
          <a:stretch/>
        </p:blipFill>
        <p:spPr>
          <a:xfrm>
            <a:off x="666720" y="278820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71600" y="268524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Floor division (//) and modulo (%)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22776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28572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balance.png"/>
          <p:cNvPicPr/>
          <p:nvPr/>
        </p:nvPicPr>
        <p:blipFill>
          <a:blip r:embed="rId5"/>
          <a:stretch/>
        </p:blipFill>
        <p:spPr>
          <a:xfrm>
            <a:off x="666720" y="333072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71600" y="322776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Comparison operators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377028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382824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puzzle.png"/>
          <p:cNvPicPr/>
          <p:nvPr/>
        </p:nvPicPr>
        <p:blipFill>
          <a:blip r:embed="rId6"/>
          <a:stretch/>
        </p:blipFill>
        <p:spPr>
          <a:xfrm>
            <a:off x="666720" y="387324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71600" y="377028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Logical operators — and, or, not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431280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437112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calculator.png"/>
          <p:cNvPicPr/>
          <p:nvPr/>
        </p:nvPicPr>
        <p:blipFill>
          <a:blip r:embed="rId7"/>
          <a:stretch/>
        </p:blipFill>
        <p:spPr>
          <a:xfrm>
            <a:off x="666720" y="441576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71600" y="431280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Operator precedence &amp; the BODMAS rule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485532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491364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codebranch.png"/>
          <p:cNvPicPr/>
          <p:nvPr/>
        </p:nvPicPr>
        <p:blipFill>
          <a:blip r:embed="rId8"/>
          <a:stretch/>
        </p:blipFill>
        <p:spPr>
          <a:xfrm>
            <a:off x="666720" y="495828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71600" y="485532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/ elif / else — making real decisions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457200" y="539784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621720" y="545616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8" descr="icons/codebranch.png"/>
          <p:cNvPicPr/>
          <p:nvPr/>
        </p:nvPicPr>
        <p:blipFill>
          <a:blip r:embed="rId9"/>
          <a:stretch/>
        </p:blipFill>
        <p:spPr>
          <a:xfrm>
            <a:off x="666720" y="550080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1371600" y="539784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Nested if — a decision inside a decision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7"/>
          <p:cNvSpPr/>
          <p:nvPr/>
        </p:nvSpPr>
        <p:spPr>
          <a:xfrm>
            <a:off x="457200" y="5940720"/>
            <a:ext cx="11273760" cy="41364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621720" y="5998680"/>
            <a:ext cx="297720" cy="297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9" descr="icons/square.png"/>
          <p:cNvPicPr/>
          <p:nvPr/>
        </p:nvPicPr>
        <p:blipFill>
          <a:blip r:embed="rId10"/>
          <a:stretch/>
        </p:blipFill>
        <p:spPr>
          <a:xfrm>
            <a:off x="666720" y="6043320"/>
            <a:ext cx="208080" cy="2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9"/>
          <p:cNvSpPr/>
          <p:nvPr/>
        </p:nvSpPr>
        <p:spPr>
          <a:xfrm>
            <a:off x="1371600" y="5940720"/>
            <a:ext cx="1005768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Bonus: assignment, bitwise, identity, membership &amp; escape sequences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0" descr="icons/flagcheckered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Plan Before You Code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The best programmers write the least code first — on paper.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Pseudocode?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icons/listol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Plain English,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step by step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Pseudocode is just your plan, written in plain English — not real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has no strict rules, no syntax to get right, and nothing can "error out"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write it so you can think clearly, before worrying about Python's exact grammar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"IF it is raining, THEN take an umbrella, ELSE don't"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Pseudocode → Python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Ask: is it raining?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yes → take an umbrella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 → don't take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exact same plan, now in real Python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is_raining = True   # try changing this to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is_raining: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print("Take an umbrella")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print("Don't take one")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Planning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384480" y="1564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pseudocode for checking if a year is a leap year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1435680" y="35967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822960" y="315000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822960" y="31500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1435680" y="307800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Turn your own morning routine into 5 simple pseudocode steps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icons/calculator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Operators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 Operators — The Basics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1" descr="icons/calculator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  Addition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+ 2  →  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2" descr="icons/calculator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−  Subtraction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5 - 2  → 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3" descr="icons/calculator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  Multiplication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* 2  →  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4" descr="icons/calculator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/  Division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/ 2  →  2.5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5" descr="icons/calculator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**  Exponent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** 2  →  25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icons/divid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Floor Division (//) and Modulo (%)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// gives you the whole-number part of a division, and throws away the 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% gives you only the remainder — nothing else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Together, they split a number into "how many whole groups" and "what's left over"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very common use: checking even or odd — any number % 2 is 0 only when it's even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print(17 // 5)   # 3   -&gt; 5 fits into 17 three whole times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print(17 % 5)    # 2   -&gt; with 2 left over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print(10 % 2)    # 0   -&gt; even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print(7 % 2)     # 1   -&gt; odd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Arithmetic: Numbers vs.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Directly on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+ 3)   # 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print(5 - 3)   #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* 3)   # 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/ 3)   # 1.666...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// 3)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print(5 % 3)   #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** 3)  # 125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The Same Math, on Variables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+ b)   # 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- b)   #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* b)   # 30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/ b)   # 3.333...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// b)  #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% b)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** b)  # 1000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Simple Adder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num1 = float(input("Enter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num2 = float(input("Enter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print("Sum:", num1 +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Area of a Rectangle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length = float(input("Enter length: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width = float(input("Enter width: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area = length * width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print("Area:", area)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 Mini Programs (3 &amp; 4)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3. Minutes → Hours &amp; Minutes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502920" y="201204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total_minutes = int(input("Enter total minutes: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hours = total_minutes // 60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minutes = total_minutes % 60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print(hours, "hours and", minutes, "minutes")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4. Average of Three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float(input("Enter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float(input("Enter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 = float(input("Enter third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average = (a + b + c) /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print("Average:", average)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1" descr="icons/balanc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==  Equal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== 5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2" descr="icons/balanc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!=  Not equal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!= 3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3" descr="icons/balanc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&lt;  Less than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3 &lt; 5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4" descr="icons/balanc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&gt;  Greater than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&gt; 3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5" descr="icons/balance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&lt;=  Less or equal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&lt;= 5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812592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965448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6" descr="icons/balance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24"/>
          <p:cNvSpPr/>
          <p:nvPr/>
        </p:nvSpPr>
        <p:spPr>
          <a:xfrm>
            <a:off x="821736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&gt;=  Greater or equal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5"/>
          <p:cNvSpPr/>
          <p:nvPr/>
        </p:nvSpPr>
        <p:spPr>
          <a:xfrm>
            <a:off x="827244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&gt;= 6  →  False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Comparison: Numbers vs.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Directly on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== 5)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!= 3)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print(3 &lt; 5)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&gt; 3)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&lt;= 5)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&gt;= 6)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The Same Checks, on Variables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voting_age = 18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== voting_age)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!= voting_age)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&lt; voting_age)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 voting_age)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&lt;= voting_age)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&gt;= voting_age)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Are Two Numbers Equal?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num1 = int(input("Enter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num2 = int(input("Enter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print(num1 ==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Voting Eligibility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&gt;= 18)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 Mini Programs (3 &amp; 4)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3. Compare Two Scores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score1 = int(input("Enter score 1: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score2 = int(input("Enter score 2: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print(score1 &gt; score2)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print(score1 &lt; score2)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4. Chained Range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 = int(input("Enter a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True only if number is between 1 and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 &lt;= number &lt;= 10)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45720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198576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1" descr="icons/puzzle.png"/>
          <p:cNvPicPr/>
          <p:nvPr/>
        </p:nvPicPr>
        <p:blipFill>
          <a:blip r:embed="rId2"/>
          <a:stretch/>
        </p:blipFill>
        <p:spPr>
          <a:xfrm>
            <a:off x="206820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4"/>
          <p:cNvSpPr/>
          <p:nvPr/>
        </p:nvSpPr>
        <p:spPr>
          <a:xfrm>
            <a:off x="54864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60336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only if BOTH sides are true — age &gt;= 18 and has_id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429156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582012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2" descr="icons/puzzle.png"/>
          <p:cNvPicPr/>
          <p:nvPr/>
        </p:nvPicPr>
        <p:blipFill>
          <a:blip r:embed="rId3"/>
          <a:stretch/>
        </p:blipFill>
        <p:spPr>
          <a:xfrm>
            <a:off x="590256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8"/>
          <p:cNvSpPr/>
          <p:nvPr/>
        </p:nvSpPr>
        <p:spPr>
          <a:xfrm>
            <a:off x="438300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443772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if AT LEAST ONE side is true — is_weekend or is_holiday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0"/>
          <p:cNvSpPr/>
          <p:nvPr/>
        </p:nvSpPr>
        <p:spPr>
          <a:xfrm>
            <a:off x="812592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965448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3" descr="icons/puzzle.png"/>
          <p:cNvPicPr/>
          <p:nvPr/>
        </p:nvPicPr>
        <p:blipFill>
          <a:blip r:embed="rId4"/>
          <a:stretch/>
        </p:blipFill>
        <p:spPr>
          <a:xfrm>
            <a:off x="973692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2"/>
          <p:cNvSpPr/>
          <p:nvPr/>
        </p:nvSpPr>
        <p:spPr>
          <a:xfrm>
            <a:off x="821736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827244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Flips True to False, and False to True — not is_raining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Logical: Direct Values vs.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Directly on True / False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print(True and False)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print(True or False)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print(not True)      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On Variables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is_sunny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is_weekend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print(is_sunny and is_weekend)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print(is_sunny or is_weekend)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print(not is_sunny)           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Can You Watch the Movie?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has_ticket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&gt;= 13 and has_ticket)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Good Day for a Picnic?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is_sunny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is_windy =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print(is_sunny and not is_windy)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Mini Programs (3 &amp; 4)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3. Simple Login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username = input("Username: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password = input("Password: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correct_username = "admin"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correct_password = "1234"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print(username == correct_username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and password == correct_password)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4. Discount Eligibility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is_member =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total_spent = 120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print(is_member or total_spent &gt; 100)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Operator Precedence — What Runs First?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1" descr="icons/calculato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 already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know this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an expression has more than one operator, Python must decide which one to calculate first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order is called operator precedence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learned this rule in school — it's called BODMAS (or PEMDAS)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Brackets → Orders (powers) → Division &amp; Multiplication → Addition &amp; Subtraction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BODMAS, Step by Step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457200" y="150876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294444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1" descr="icons/square.png"/>
          <p:cNvPicPr/>
          <p:nvPr/>
        </p:nvPicPr>
        <p:blipFill>
          <a:blip r:embed="rId2"/>
          <a:stretch/>
        </p:blipFill>
        <p:spPr>
          <a:xfrm>
            <a:off x="30265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4"/>
          <p:cNvSpPr/>
          <p:nvPr/>
        </p:nvSpPr>
        <p:spPr>
          <a:xfrm>
            <a:off x="548640" y="241020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 — Brackets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603360" y="279432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Always calculated first  ( 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6208920" y="150876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869580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icons/calculator.png"/>
          <p:cNvPicPr/>
          <p:nvPr/>
        </p:nvPicPr>
        <p:blipFill>
          <a:blip r:embed="rId3"/>
          <a:stretch/>
        </p:blipFill>
        <p:spPr>
          <a:xfrm>
            <a:off x="877824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8"/>
          <p:cNvSpPr/>
          <p:nvPr/>
        </p:nvSpPr>
        <p:spPr>
          <a:xfrm>
            <a:off x="6300360" y="241020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 — Orders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6355080" y="279432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Powers / exponents  **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0"/>
          <p:cNvSpPr/>
          <p:nvPr/>
        </p:nvSpPr>
        <p:spPr>
          <a:xfrm>
            <a:off x="457200" y="406908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1"/>
          <p:cNvSpPr/>
          <p:nvPr/>
        </p:nvSpPr>
        <p:spPr>
          <a:xfrm>
            <a:off x="294444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 3" descr="icons/divide.png"/>
          <p:cNvPicPr/>
          <p:nvPr/>
        </p:nvPicPr>
        <p:blipFill>
          <a:blip r:embed="rId4"/>
          <a:stretch/>
        </p:blipFill>
        <p:spPr>
          <a:xfrm>
            <a:off x="30265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12"/>
          <p:cNvSpPr/>
          <p:nvPr/>
        </p:nvSpPr>
        <p:spPr>
          <a:xfrm>
            <a:off x="548640" y="497052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DM — Division &amp; Multiplication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603360" y="535464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Left to right  /  //  *  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4"/>
          <p:cNvSpPr/>
          <p:nvPr/>
        </p:nvSpPr>
        <p:spPr>
          <a:xfrm>
            <a:off x="6208920" y="406908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5"/>
          <p:cNvSpPr/>
          <p:nvPr/>
        </p:nvSpPr>
        <p:spPr>
          <a:xfrm>
            <a:off x="869580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4" descr="icons/square.png"/>
          <p:cNvPicPr/>
          <p:nvPr/>
        </p:nvPicPr>
        <p:blipFill>
          <a:blip r:embed="rId5"/>
          <a:stretch/>
        </p:blipFill>
        <p:spPr>
          <a:xfrm>
            <a:off x="877824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16"/>
          <p:cNvSpPr/>
          <p:nvPr/>
        </p:nvSpPr>
        <p:spPr>
          <a:xfrm>
            <a:off x="6300360" y="497052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AS — Addition &amp; Subtraction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7"/>
          <p:cNvSpPr/>
          <p:nvPr/>
        </p:nvSpPr>
        <p:spPr>
          <a:xfrm>
            <a:off x="6355080" y="535464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Left to right  +  -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BODMAS in Python — Worked Examples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follows this exact order automatically — you never need to tell it to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an expression feels unclear, add your own brackets to make the order obvious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predicting each answer before reading the comment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print(2 + 3 * 4)         # 14, not 20 — multiplication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print((2 + 3) * 4)       # 20 — brackets override the order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print(2 ** 3 + 1)        # 9 — exponent before addition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print(10 - 2 * 3 // 2)   # 7  -&gt;  2*3=6, 6//2=3, 10-3=7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Full Order (Arithmetic, Comparison &amp; Logic)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1" descr="icons/squar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1. Brackets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( 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7" name="Image 2" descr="icons/calculator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2. Exponent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**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3" descr="icons/divid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3. × 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*  /  //  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4" descr="icons/squar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4. + −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+  -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5" descr="icons/balance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5. Comparisons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==  !=  &lt;  &gt;  &lt;=  &gt;=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2"/>
          <p:cNvSpPr/>
          <p:nvPr/>
        </p:nvSpPr>
        <p:spPr>
          <a:xfrm>
            <a:off x="812592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965448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6" descr="icons/puzzle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4"/>
          <p:cNvSpPr/>
          <p:nvPr/>
        </p:nvSpPr>
        <p:spPr>
          <a:xfrm>
            <a:off x="821736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6. not, and, 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827244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that order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result of 17 // 5 and 17 % 5, without looking back at the earlier slide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822960" y="29566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822960" y="29566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0"/>
          <p:cNvSpPr/>
          <p:nvPr/>
        </p:nvSpPr>
        <p:spPr>
          <a:xfrm>
            <a:off x="1435680" y="29566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Store two numbers in variables and print their sum, difference, and product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1"/>
          <p:cNvSpPr/>
          <p:nvPr/>
        </p:nvSpPr>
        <p:spPr>
          <a:xfrm>
            <a:off x="822960" y="34898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2"/>
          <p:cNvSpPr/>
          <p:nvPr/>
        </p:nvSpPr>
        <p:spPr>
          <a:xfrm>
            <a:off x="822960" y="3489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3"/>
          <p:cNvSpPr/>
          <p:nvPr/>
        </p:nvSpPr>
        <p:spPr>
          <a:xfrm>
            <a:off x="1435680" y="3489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comparison expression checking if 25 is greater than 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4"/>
          <p:cNvSpPr/>
          <p:nvPr/>
        </p:nvSpPr>
        <p:spPr>
          <a:xfrm>
            <a:off x="822960" y="40233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822960" y="40233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6"/>
          <p:cNvSpPr/>
          <p:nvPr/>
        </p:nvSpPr>
        <p:spPr>
          <a:xfrm>
            <a:off x="1435680" y="40233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and to check if a number is between 10 and 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7"/>
          <p:cNvSpPr/>
          <p:nvPr/>
        </p:nvSpPr>
        <p:spPr>
          <a:xfrm>
            <a:off x="822960" y="45568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8"/>
          <p:cNvSpPr/>
          <p:nvPr/>
        </p:nvSpPr>
        <p:spPr>
          <a:xfrm>
            <a:off x="822960" y="4556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9"/>
          <p:cNvSpPr/>
          <p:nvPr/>
        </p:nvSpPr>
        <p:spPr>
          <a:xfrm>
            <a:off x="1435680" y="4556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not to flip a True value to False, and print the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822960" y="50900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1"/>
          <p:cNvSpPr/>
          <p:nvPr/>
        </p:nvSpPr>
        <p:spPr>
          <a:xfrm>
            <a:off x="822960" y="50900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2"/>
          <p:cNvSpPr/>
          <p:nvPr/>
        </p:nvSpPr>
        <p:spPr>
          <a:xfrm>
            <a:off x="1435680" y="50900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 the output of 2 ** 3 // 2 on paper before you run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822960" y="576072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Let students actually try these before revealing any answers.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0" descr="icons/codebranch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Making Decisions With if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31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32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8" name="Image 1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36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Flowchart?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3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11" descr="icons/codebranch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37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picture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of your plan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8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flowchart is the same plan as pseudocode, but drawn as a picture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shape means something specific — you'll only ever need three of them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Following the arrows shows you exactly what your program will do, and in what order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Great for decisions especially — you can literally see every path your code could take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35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12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4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3 Shapes You Need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6"/>
          <p:cNvSpPr/>
          <p:nvPr/>
        </p:nvSpPr>
        <p:spPr>
          <a:xfrm>
            <a:off x="45720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2"/>
          <p:cNvSpPr/>
          <p:nvPr/>
        </p:nvSpPr>
        <p:spPr>
          <a:xfrm>
            <a:off x="54864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Oval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43"/>
          <p:cNvSpPr/>
          <p:nvPr/>
        </p:nvSpPr>
        <p:spPr>
          <a:xfrm>
            <a:off x="60336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Start or End of the whole process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37"/>
          <p:cNvSpPr/>
          <p:nvPr/>
        </p:nvSpPr>
        <p:spPr>
          <a:xfrm>
            <a:off x="429156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38"/>
          <p:cNvSpPr/>
          <p:nvPr/>
        </p:nvSpPr>
        <p:spPr>
          <a:xfrm>
            <a:off x="582012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13" descr="icons/square.png"/>
          <p:cNvPicPr/>
          <p:nvPr/>
        </p:nvPicPr>
        <p:blipFill>
          <a:blip r:embed="rId2"/>
          <a:stretch/>
        </p:blipFill>
        <p:spPr>
          <a:xfrm>
            <a:off x="590256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44"/>
          <p:cNvSpPr/>
          <p:nvPr/>
        </p:nvSpPr>
        <p:spPr>
          <a:xfrm>
            <a:off x="438300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Rectangle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5"/>
          <p:cNvSpPr/>
          <p:nvPr/>
        </p:nvSpPr>
        <p:spPr>
          <a:xfrm>
            <a:off x="443772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One step or action to perform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39"/>
          <p:cNvSpPr/>
          <p:nvPr/>
        </p:nvSpPr>
        <p:spPr>
          <a:xfrm>
            <a:off x="812592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0"/>
          <p:cNvSpPr/>
          <p:nvPr/>
        </p:nvSpPr>
        <p:spPr>
          <a:xfrm>
            <a:off x="965448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6"/>
          <p:cNvSpPr/>
          <p:nvPr/>
        </p:nvSpPr>
        <p:spPr>
          <a:xfrm>
            <a:off x="821736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Diamond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7"/>
          <p:cNvSpPr/>
          <p:nvPr/>
        </p:nvSpPr>
        <p:spPr>
          <a:xfrm>
            <a:off x="827244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decision — always has a Yes and a No path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4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1"/>
          <p:cNvSpPr/>
          <p:nvPr/>
        </p:nvSpPr>
        <p:spPr>
          <a:xfrm>
            <a:off x="1968480" y="20962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2040480" y="2238840"/>
            <a:ext cx="424800" cy="275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 rot="1535400">
            <a:off x="9793080" y="2249640"/>
            <a:ext cx="228240" cy="228240"/>
          </a:xfrm>
          <a:prstGeom prst="diamond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2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14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50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Idea to Flowchart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43"/>
          <p:cNvSpPr/>
          <p:nvPr/>
        </p:nvSpPr>
        <p:spPr>
          <a:xfrm>
            <a:off x="4997160" y="1600200"/>
            <a:ext cx="2193840" cy="5022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1"/>
          <p:cNvSpPr/>
          <p:nvPr/>
        </p:nvSpPr>
        <p:spPr>
          <a:xfrm>
            <a:off x="4997160" y="1600200"/>
            <a:ext cx="2193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44"/>
          <p:cNvSpPr/>
          <p:nvPr/>
        </p:nvSpPr>
        <p:spPr>
          <a:xfrm>
            <a:off x="4448520" y="2377440"/>
            <a:ext cx="3291120" cy="867960"/>
          </a:xfrm>
          <a:prstGeom prst="diamond">
            <a:avLst/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2"/>
          <p:cNvSpPr/>
          <p:nvPr/>
        </p:nvSpPr>
        <p:spPr>
          <a:xfrm>
            <a:off x="4448520" y="2377440"/>
            <a:ext cx="3291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it raining?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3"/>
          <p:cNvSpPr/>
          <p:nvPr/>
        </p:nvSpPr>
        <p:spPr>
          <a:xfrm>
            <a:off x="5637240" y="32734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4"/>
          <p:cNvSpPr/>
          <p:nvPr/>
        </p:nvSpPr>
        <p:spPr>
          <a:xfrm>
            <a:off x="1371600" y="3566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YES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55"/>
          <p:cNvSpPr/>
          <p:nvPr/>
        </p:nvSpPr>
        <p:spPr>
          <a:xfrm>
            <a:off x="8074080" y="3566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5473F"/>
                </a:solidFill>
                <a:effectLst/>
                <a:uFillTx/>
                <a:latin typeface="Calibri"/>
                <a:ea typeface="Calibri"/>
              </a:rPr>
              <a:t>NO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45"/>
          <p:cNvSpPr/>
          <p:nvPr/>
        </p:nvSpPr>
        <p:spPr>
          <a:xfrm>
            <a:off x="1371600" y="3886200"/>
            <a:ext cx="2742480" cy="685080"/>
          </a:xfrm>
          <a:prstGeom prst="roundRect">
            <a:avLst>
              <a:gd name="adj" fmla="val 8000"/>
            </a:avLst>
          </a:prstGeom>
          <a:solidFill>
            <a:srgbClr val="F1F3EC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56"/>
          <p:cNvSpPr/>
          <p:nvPr/>
        </p:nvSpPr>
        <p:spPr>
          <a:xfrm>
            <a:off x="1371600" y="3886200"/>
            <a:ext cx="2742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an umbrella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46"/>
          <p:cNvSpPr/>
          <p:nvPr/>
        </p:nvSpPr>
        <p:spPr>
          <a:xfrm>
            <a:off x="8074080" y="3886200"/>
            <a:ext cx="2742480" cy="685080"/>
          </a:xfrm>
          <a:prstGeom prst="roundRect">
            <a:avLst>
              <a:gd name="adj" fmla="val 8000"/>
            </a:avLst>
          </a:prstGeom>
          <a:solidFill>
            <a:srgbClr val="F1F3EC"/>
          </a:solidFill>
          <a:ln w="12700">
            <a:solidFill>
              <a:srgbClr val="A54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7"/>
          <p:cNvSpPr/>
          <p:nvPr/>
        </p:nvSpPr>
        <p:spPr>
          <a:xfrm>
            <a:off x="8074080" y="3886200"/>
            <a:ext cx="2742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Don't take 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8"/>
          <p:cNvSpPr/>
          <p:nvPr/>
        </p:nvSpPr>
        <p:spPr>
          <a:xfrm>
            <a:off x="5637240" y="46177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7"/>
          <p:cNvSpPr/>
          <p:nvPr/>
        </p:nvSpPr>
        <p:spPr>
          <a:xfrm>
            <a:off x="4997160" y="4919400"/>
            <a:ext cx="2193840" cy="502200"/>
          </a:xfrm>
          <a:prstGeom prst="ellipse">
            <a:avLst/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9"/>
          <p:cNvSpPr/>
          <p:nvPr/>
        </p:nvSpPr>
        <p:spPr>
          <a:xfrm>
            <a:off x="4997160" y="4919400"/>
            <a:ext cx="2193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6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6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5943600" y="2057400"/>
            <a:ext cx="360" cy="3200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if Statement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checks a condition, and only runs the code below it when that condition is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indented lines are what actually run — Python uses indentation instead of curly braces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condition is False, Python simply skips that whole block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&gt;=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print("You can vote")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if / else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 covers every other case — anything that didn't match the if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Exactly one of the two blocks will always run. Never both, never neither.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&gt;=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print("You can vote")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print("Not old enough yet")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if / elif / else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elif lets you check more conditions, one after another, in order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checks each one top to bottom, and stops at the very first True it finds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 still catches anything that matched none of the conditions above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 = 82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score &gt;= 90: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A")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80: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B")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70: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C")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F")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if — An if Inside an if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0" name="Image 1" descr="icons/codebranch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inside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nested if is simply an if statement placed inside another if statement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inner if only even runs if the outer condition was already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when a second decision only makes sense after the first has already been decided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Analogy: first check if the door is unlocked — only then check if your key actually fits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7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if — In Code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Notice the extra indentation — the inner if sits one full level deeper than the outer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uses that indentation to know exactly which if belongs to which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inner if/else only gets checked at all when age &gt;= 18 is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has_id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&gt;=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has_id: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print("Entry allowed")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print("Bring your ID next time")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print("Too young to enter")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5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if vs. elif — Which One?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9" name="Image 1" descr="icons/listol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Use elif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checking different values of the SAME thing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 ever one branch should run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turning a score into a single letter grade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Image 2" descr="icons/codebranch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Use Nested if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second check only matters if the first was already True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combining two separate, related conditions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old enough AND has a valid 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1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Conditional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3"/>
          <p:cNvSpPr/>
          <p:nvPr/>
        </p:nvSpPr>
        <p:spPr>
          <a:xfrm>
            <a:off x="502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Even or Odd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"/>
          <p:cNvSpPr/>
          <p:nvPr/>
        </p:nvSpPr>
        <p:spPr>
          <a:xfrm>
            <a:off x="502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5"/>
          <p:cNvSpPr/>
          <p:nvPr/>
        </p:nvSpPr>
        <p:spPr>
          <a:xfrm>
            <a:off x="822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 = int(input("Enter a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number % 2 ==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print("Even")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print("Odd")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6"/>
          <p:cNvSpPr/>
          <p:nvPr/>
        </p:nvSpPr>
        <p:spPr>
          <a:xfrm>
            <a:off x="6217920" y="169164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Simple Login System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7"/>
          <p:cNvSpPr/>
          <p:nvPr/>
        </p:nvSpPr>
        <p:spPr>
          <a:xfrm>
            <a:off x="6217920" y="2103120"/>
            <a:ext cx="5394240" cy="393120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8"/>
          <p:cNvSpPr/>
          <p:nvPr/>
        </p:nvSpPr>
        <p:spPr>
          <a:xfrm>
            <a:off x="6537960" y="2377440"/>
            <a:ext cx="4754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username = input("Username: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password = input("Password: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username == "admin" and password == "1234":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print("Login successful")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print("Login failed")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3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Program: Ticket Price by Age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Four age groups, four prices — a perfect fit for if / elif / else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elif only needs to check one boundary, since anything caught above it never reaches this 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tracing a few different ages through this by hand before running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&lt; 5: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age &lt;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age &lt; 60: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print("Ticket price: $" + str(price))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1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Mistakes With if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5" name="Image 1" descr="icons/warning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Common Mistakes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Using = instead of ==  (if age = 18 is an error)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Forgetting the colon  :  at the end of the 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Mixing tabs and spaces for indentation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Writing "else if" instead of Python's elif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0" name="Image 2" descr="icons/checkdouble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The Fix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Always use == when comparing two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if, elif, and else line ends with a colon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spaces only — most editors handle this automatically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Remember: it's one word — elif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Flowchart to Code — One Full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diamond in a flowchart becomes an if, elif, or else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rectangle becomes the code that runs inside that block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Planning first — even briefly — is faster than debugging confused code later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 = int(input("Enter your score: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score &gt;= 90: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"A"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80: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"B"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70: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"C"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"F"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print("Your grade is:", grade)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6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Bonus Challenge: Build a Calculator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one program uses almost everything from today — variables, operators, and conditionals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Ask for two numbers and an operator, then use if/elif/else to decide what to compute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Two branches below are left for you to finish — that's tonight's Task 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4"/>
          <p:cNvSpPr/>
          <p:nvPr/>
        </p:nvSpPr>
        <p:spPr>
          <a:xfrm>
            <a:off x="5486400" y="1691640"/>
            <a:ext cx="6217200" cy="4937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num1 = float(input("Enter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num2 = float(input("Enter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operator = input("Choose an operator (+, -, *, /):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operator == "+":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print(num1 +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operator == "-":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print(num1 -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operator == "*":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    # your turn: multiply num1 and num2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operator == "/":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    # your turn: divide num1 by num2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print("Not a valid operator")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5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Conditionals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if/else that checks if a number is positive or negative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8"/>
          <p:cNvSpPr/>
          <p:nvPr/>
        </p:nvSpPr>
        <p:spPr>
          <a:xfrm>
            <a:off x="822960" y="312732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9"/>
          <p:cNvSpPr/>
          <p:nvPr/>
        </p:nvSpPr>
        <p:spPr>
          <a:xfrm>
            <a:off x="822960" y="3127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0"/>
          <p:cNvSpPr/>
          <p:nvPr/>
        </p:nvSpPr>
        <p:spPr>
          <a:xfrm>
            <a:off x="1435680" y="312732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if/elif/else that labels a temperature as Cold, Warm, or Hot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1"/>
          <p:cNvSpPr/>
          <p:nvPr/>
        </p:nvSpPr>
        <p:spPr>
          <a:xfrm>
            <a:off x="822960" y="38314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2"/>
          <p:cNvSpPr/>
          <p:nvPr/>
        </p:nvSpPr>
        <p:spPr>
          <a:xfrm>
            <a:off x="822960" y="3831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3"/>
          <p:cNvSpPr/>
          <p:nvPr/>
        </p:nvSpPr>
        <p:spPr>
          <a:xfrm>
            <a:off x="1435680" y="38314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and inside an if to check discount eligibility (is_member and total_spent &gt; 50)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14"/>
          <p:cNvSpPr/>
          <p:nvPr/>
        </p:nvSpPr>
        <p:spPr>
          <a:xfrm>
            <a:off x="822960" y="45352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5"/>
          <p:cNvSpPr/>
          <p:nvPr/>
        </p:nvSpPr>
        <p:spPr>
          <a:xfrm>
            <a:off x="822960" y="4535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6"/>
          <p:cNvSpPr/>
          <p:nvPr/>
        </p:nvSpPr>
        <p:spPr>
          <a:xfrm>
            <a:off x="1435680" y="45352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if/else that checks if a piece of text is empty ("" means empty)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7"/>
          <p:cNvSpPr/>
          <p:nvPr/>
        </p:nvSpPr>
        <p:spPr>
          <a:xfrm>
            <a:off x="822960" y="52394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8"/>
          <p:cNvSpPr/>
          <p:nvPr/>
        </p:nvSpPr>
        <p:spPr>
          <a:xfrm>
            <a:off x="822960" y="523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9"/>
          <p:cNvSpPr/>
          <p:nvPr/>
        </p:nvSpPr>
        <p:spPr>
          <a:xfrm>
            <a:off x="1435680" y="52394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nested if: check age &gt;= 18 first, then check has_ticket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9" name="Image 0" descr="icons/squar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BONUS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Few More Operators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Optional for today — good to know these exist.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5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Assignment Shortcut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2"/>
          <p:cNvSpPr/>
          <p:nvPr/>
        </p:nvSpPr>
        <p:spPr>
          <a:xfrm>
            <a:off x="457200" y="150876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"/>
          <p:cNvSpPr/>
          <p:nvPr/>
        </p:nvSpPr>
        <p:spPr>
          <a:xfrm>
            <a:off x="294444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9" name="Image 1" descr="icons/square.png"/>
          <p:cNvPicPr/>
          <p:nvPr/>
        </p:nvPicPr>
        <p:blipFill>
          <a:blip r:embed="rId2"/>
          <a:stretch/>
        </p:blipFill>
        <p:spPr>
          <a:xfrm>
            <a:off x="30265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Text 4"/>
          <p:cNvSpPr/>
          <p:nvPr/>
        </p:nvSpPr>
        <p:spPr>
          <a:xfrm>
            <a:off x="548640" y="241020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5"/>
          <p:cNvSpPr/>
          <p:nvPr/>
        </p:nvSpPr>
        <p:spPr>
          <a:xfrm>
            <a:off x="603360" y="279432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+= 3  is short for  x = x + 3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6"/>
          <p:cNvSpPr/>
          <p:nvPr/>
        </p:nvSpPr>
        <p:spPr>
          <a:xfrm>
            <a:off x="6208920" y="150876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869580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4" name="Image 2" descr="icons/square.png"/>
          <p:cNvPicPr/>
          <p:nvPr/>
        </p:nvPicPr>
        <p:blipFill>
          <a:blip r:embed="rId3"/>
          <a:stretch/>
        </p:blipFill>
        <p:spPr>
          <a:xfrm>
            <a:off x="877824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5" name="Text 8"/>
          <p:cNvSpPr/>
          <p:nvPr/>
        </p:nvSpPr>
        <p:spPr>
          <a:xfrm>
            <a:off x="6300360" y="241020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-=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9"/>
          <p:cNvSpPr/>
          <p:nvPr/>
        </p:nvSpPr>
        <p:spPr>
          <a:xfrm>
            <a:off x="6355080" y="279432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-= 3  is short for  x = x - 3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0"/>
          <p:cNvSpPr/>
          <p:nvPr/>
        </p:nvSpPr>
        <p:spPr>
          <a:xfrm>
            <a:off x="457200" y="406908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1"/>
          <p:cNvSpPr/>
          <p:nvPr/>
        </p:nvSpPr>
        <p:spPr>
          <a:xfrm>
            <a:off x="294444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9" name="Image 3" descr="icons/square.png"/>
          <p:cNvPicPr/>
          <p:nvPr/>
        </p:nvPicPr>
        <p:blipFill>
          <a:blip r:embed="rId4"/>
          <a:stretch/>
        </p:blipFill>
        <p:spPr>
          <a:xfrm>
            <a:off x="30265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 12"/>
          <p:cNvSpPr/>
          <p:nvPr/>
        </p:nvSpPr>
        <p:spPr>
          <a:xfrm>
            <a:off x="548640" y="497052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3"/>
          <p:cNvSpPr/>
          <p:nvPr/>
        </p:nvSpPr>
        <p:spPr>
          <a:xfrm>
            <a:off x="603360" y="535464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*= 3  is short for  x = x *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4"/>
          <p:cNvSpPr/>
          <p:nvPr/>
        </p:nvSpPr>
        <p:spPr>
          <a:xfrm>
            <a:off x="6208920" y="406908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5"/>
          <p:cNvSpPr/>
          <p:nvPr/>
        </p:nvSpPr>
        <p:spPr>
          <a:xfrm>
            <a:off x="869580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4" name="Image 4" descr="icons/square.png"/>
          <p:cNvPicPr/>
          <p:nvPr/>
        </p:nvPicPr>
        <p:blipFill>
          <a:blip r:embed="rId5"/>
          <a:stretch/>
        </p:blipFill>
        <p:spPr>
          <a:xfrm>
            <a:off x="877824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 16"/>
          <p:cNvSpPr/>
          <p:nvPr/>
        </p:nvSpPr>
        <p:spPr>
          <a:xfrm>
            <a:off x="6300360" y="497052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/=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7"/>
          <p:cNvSpPr/>
          <p:nvPr/>
        </p:nvSpPr>
        <p:spPr>
          <a:xfrm>
            <a:off x="6355080" y="535464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/= 3  is short for  x = x /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0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Increment &amp; Decrement — Python's Twist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4" name="Image 1" descr="icons/warning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What Other Languages 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C, Java, and JavaScript have i++ and i--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i++ means "increase i by 1"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i-- means "decrease i by 1"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Typing this in Python causes a SyntaxError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9" name="Image 2" descr="icons/checkdouble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What Python Actually Does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has no ++ or -- operators at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i += 1 instead of i++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i -= 1 instead of i--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It's one extra character to type — that's the whole trade-off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6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Increment &amp; Decrement, in Real Python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the += and -= you just saw, used the way most people actually reach for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typing x++ yourself and read the error Python gives you — it's a good one to recognize early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 +=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print(x)   #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 -=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print(x)   # back to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x++       &lt;- would raise a SyntaxError in Python, try it!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4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Bitwise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1" descr="icons/squar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&amp;  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&amp; 3  →  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Image 2" descr="icons/squar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|  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| 3  →  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8" name="Image 3" descr="icons/squar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^  XOR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^ 3  →  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3" name="Image 4" descr="icons/squar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~ 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~5  →  -6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8" name="Image 5" descr="icons/square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&lt;&lt;  Left Shift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&lt;&lt; 1  →  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2"/>
          <p:cNvSpPr/>
          <p:nvPr/>
        </p:nvSpPr>
        <p:spPr>
          <a:xfrm>
            <a:off x="812592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23"/>
          <p:cNvSpPr/>
          <p:nvPr/>
        </p:nvSpPr>
        <p:spPr>
          <a:xfrm>
            <a:off x="965448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3" name="Image 6" descr="icons/square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4" name="Text 24"/>
          <p:cNvSpPr/>
          <p:nvPr/>
        </p:nvSpPr>
        <p:spPr>
          <a:xfrm>
            <a:off x="821736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&gt;&gt;  Right Shift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5"/>
          <p:cNvSpPr/>
          <p:nvPr/>
        </p:nvSpPr>
        <p:spPr>
          <a:xfrm>
            <a:off x="827244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&gt;&gt; 1  →  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2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2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0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Identity &amp; Membership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checks whether two variables point to the exact same object — different from ==, which only checks if the values are equal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checks whether something exists inside a list, string, or similar collection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Both read almost like plain English once you see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fruits = ["apple", "banana", "mango"]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print("banana" in fruits)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print("grape" not in fruits)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None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is None)         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9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Escape Sequences — Special Characters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3" name="Image 1" descr="icons/fon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backslash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with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special job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Some characters are hard to type directly inside a string, like a new line or a quote mark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escape sequence starts with a backslash \ and tells Python "treat the next character specially"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two you'll use constantly: \n for a new line, and \t for a tab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9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Escape Sequences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3" name="Image 1" descr="icons/font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Starts a new line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8" name="Image 2" descr="icons/font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a tab space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3" name="Image 3" descr="icons/font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\\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single backslash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8" name="Image 4" descr="icons/font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\'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single quote mark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3" name="Image 5" descr="icons/font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double quote mark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0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Escape Sequences in Action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Notice \n starts a new line right in the middle of one print() statement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the backslash before a matching quote, Python would think the string ended too early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print("Line one\nLine two")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print("Name:\tAmeer")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print("She said \"hello\"")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print('It\'s a nice day')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print("Path: C:\\Users\\Ameer")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9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Bonus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+= to add 5 to a variable, then print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8"/>
          <p:cNvSpPr/>
          <p:nvPr/>
        </p:nvSpPr>
        <p:spPr>
          <a:xfrm>
            <a:off x="822960" y="33033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9"/>
          <p:cNvSpPr/>
          <p:nvPr/>
        </p:nvSpPr>
        <p:spPr>
          <a:xfrm>
            <a:off x="822960" y="33033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0"/>
          <p:cNvSpPr/>
          <p:nvPr/>
        </p:nvSpPr>
        <p:spPr>
          <a:xfrm>
            <a:off x="1435680" y="33033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if "cat" is in a list of animals using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1"/>
          <p:cNvSpPr/>
          <p:nvPr/>
        </p:nvSpPr>
        <p:spPr>
          <a:xfrm>
            <a:off x="822960" y="41835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2"/>
          <p:cNvSpPr/>
          <p:nvPr/>
        </p:nvSpPr>
        <p:spPr>
          <a:xfrm>
            <a:off x="822960" y="4183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13"/>
          <p:cNvSpPr/>
          <p:nvPr/>
        </p:nvSpPr>
        <p:spPr>
          <a:xfrm>
            <a:off x="1435680" y="4183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6 &amp; 3 and 6 | 3 — predict the answers before running them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4"/>
          <p:cNvSpPr/>
          <p:nvPr/>
        </p:nvSpPr>
        <p:spPr>
          <a:xfrm>
            <a:off x="822960" y="506340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5"/>
          <p:cNvSpPr/>
          <p:nvPr/>
        </p:nvSpPr>
        <p:spPr>
          <a:xfrm>
            <a:off x="822960" y="50634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6"/>
          <p:cNvSpPr/>
          <p:nvPr/>
        </p:nvSpPr>
        <p:spPr>
          <a:xfrm>
            <a:off x="1435680" y="506340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your name and a hobby on two separate lines, using one print() and \n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1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9" name="Image 0" descr="icons/flagcheckered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Plan First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5"/>
          <p:cNvSpPr/>
          <p:nvPr/>
        </p:nvSpPr>
        <p:spPr>
          <a:xfrm>
            <a:off x="822960" y="24231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Shape 6"/>
          <p:cNvSpPr/>
          <p:nvPr/>
        </p:nvSpPr>
        <p:spPr>
          <a:xfrm>
            <a:off x="1417320" y="24415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7"/>
          <p:cNvSpPr/>
          <p:nvPr/>
        </p:nvSpPr>
        <p:spPr>
          <a:xfrm>
            <a:off x="1417320" y="24415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8"/>
          <p:cNvSpPr/>
          <p:nvPr/>
        </p:nvSpPr>
        <p:spPr>
          <a:xfrm>
            <a:off x="2011680" y="24231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pseudocode (plain English) for checking if a number is even or odd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9"/>
          <p:cNvSpPr/>
          <p:nvPr/>
        </p:nvSpPr>
        <p:spPr>
          <a:xfrm>
            <a:off x="822960" y="33033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9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3663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Shape 10"/>
          <p:cNvSpPr/>
          <p:nvPr/>
        </p:nvSpPr>
        <p:spPr>
          <a:xfrm>
            <a:off x="1417320" y="33217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11"/>
          <p:cNvSpPr/>
          <p:nvPr/>
        </p:nvSpPr>
        <p:spPr>
          <a:xfrm>
            <a:off x="1417320" y="33217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2"/>
          <p:cNvSpPr/>
          <p:nvPr/>
        </p:nvSpPr>
        <p:spPr>
          <a:xfrm>
            <a:off x="2011680" y="33033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Sketch a simple flowchart for that same idea, using today's 3 shapes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3"/>
          <p:cNvSpPr/>
          <p:nvPr/>
        </p:nvSpPr>
        <p:spPr>
          <a:xfrm>
            <a:off x="822960" y="41835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4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2465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5" name="Shape 14"/>
          <p:cNvSpPr/>
          <p:nvPr/>
        </p:nvSpPr>
        <p:spPr>
          <a:xfrm>
            <a:off x="1417320" y="42015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5"/>
          <p:cNvSpPr/>
          <p:nvPr/>
        </p:nvSpPr>
        <p:spPr>
          <a:xfrm>
            <a:off x="1417320" y="42015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16"/>
          <p:cNvSpPr/>
          <p:nvPr/>
        </p:nvSpPr>
        <p:spPr>
          <a:xfrm>
            <a:off x="2011680" y="41835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every arithmetic operator once in a script, and print each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17"/>
          <p:cNvSpPr/>
          <p:nvPr/>
        </p:nvSpPr>
        <p:spPr>
          <a:xfrm>
            <a:off x="822960" y="506340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9" name="Image 4" descr="icons/checkdouble.png"/>
          <p:cNvPicPr/>
          <p:nvPr/>
        </p:nvPicPr>
        <p:blipFill>
          <a:blip r:embed="rId5"/>
          <a:stretch/>
        </p:blipFill>
        <p:spPr>
          <a:xfrm>
            <a:off x="885960" y="51267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Shape 18"/>
          <p:cNvSpPr/>
          <p:nvPr/>
        </p:nvSpPr>
        <p:spPr>
          <a:xfrm>
            <a:off x="1417320" y="50817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9"/>
          <p:cNvSpPr/>
          <p:nvPr/>
        </p:nvSpPr>
        <p:spPr>
          <a:xfrm>
            <a:off x="1417320" y="50817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20"/>
          <p:cNvSpPr/>
          <p:nvPr/>
        </p:nvSpPr>
        <p:spPr>
          <a:xfrm>
            <a:off x="2011680" y="506340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% to actually check if a number is even or odd, in real Python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21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22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7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Operators &amp; Conditionals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Image 1" descr="icons/checkdouble.png"/>
          <p:cNvPicPr/>
          <p:nvPr/>
        </p:nvPicPr>
        <p:blipFill>
          <a:blip r:embed="rId2"/>
          <a:stretch/>
        </p:blipFill>
        <p:spPr>
          <a:xfrm>
            <a:off x="883440" y="24836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Shape 6"/>
          <p:cNvSpPr/>
          <p:nvPr/>
        </p:nvSpPr>
        <p:spPr>
          <a:xfrm>
            <a:off x="1417320" y="24321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7"/>
          <p:cNvSpPr/>
          <p:nvPr/>
        </p:nvSpPr>
        <p:spPr>
          <a:xfrm>
            <a:off x="1417320" y="24321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8"/>
          <p:cNvSpPr/>
          <p:nvPr/>
        </p:nvSpPr>
        <p:spPr>
          <a:xfrm>
            <a:off x="2011680" y="24231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one comparison operator expression and print the True/False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9"/>
          <p:cNvSpPr/>
          <p:nvPr/>
        </p:nvSpPr>
        <p:spPr>
          <a:xfrm>
            <a:off x="822960" y="28803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7" name="Image 2" descr="icons/checkdouble.png"/>
          <p:cNvPicPr/>
          <p:nvPr/>
        </p:nvPicPr>
        <p:blipFill>
          <a:blip r:embed="rId3"/>
          <a:stretch/>
        </p:blipFill>
        <p:spPr>
          <a:xfrm>
            <a:off x="883440" y="29408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Shape 10"/>
          <p:cNvSpPr/>
          <p:nvPr/>
        </p:nvSpPr>
        <p:spPr>
          <a:xfrm>
            <a:off x="1417320" y="28893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11"/>
          <p:cNvSpPr/>
          <p:nvPr/>
        </p:nvSpPr>
        <p:spPr>
          <a:xfrm>
            <a:off x="1417320" y="28893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12"/>
          <p:cNvSpPr/>
          <p:nvPr/>
        </p:nvSpPr>
        <p:spPr>
          <a:xfrm>
            <a:off x="2011680" y="28803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Combine two conditions using and, then again using or — print both results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13"/>
          <p:cNvSpPr/>
          <p:nvPr/>
        </p:nvSpPr>
        <p:spPr>
          <a:xfrm>
            <a:off x="822960" y="33375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2" name="Image 3" descr="icons/checkdouble.png"/>
          <p:cNvPicPr/>
          <p:nvPr/>
        </p:nvPicPr>
        <p:blipFill>
          <a:blip r:embed="rId4"/>
          <a:stretch/>
        </p:blipFill>
        <p:spPr>
          <a:xfrm>
            <a:off x="883440" y="33980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Shape 14"/>
          <p:cNvSpPr/>
          <p:nvPr/>
        </p:nvSpPr>
        <p:spPr>
          <a:xfrm>
            <a:off x="1417320" y="33465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15"/>
          <p:cNvSpPr/>
          <p:nvPr/>
        </p:nvSpPr>
        <p:spPr>
          <a:xfrm>
            <a:off x="1417320" y="33465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6"/>
          <p:cNvSpPr/>
          <p:nvPr/>
        </p:nvSpPr>
        <p:spPr>
          <a:xfrm>
            <a:off x="2011680" y="33375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if/else that checks if someone is old enough to vote (age &gt;= 18)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17"/>
          <p:cNvSpPr/>
          <p:nvPr/>
        </p:nvSpPr>
        <p:spPr>
          <a:xfrm>
            <a:off x="822960" y="37947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7" name="Image 4" descr="icons/checkdouble.png"/>
          <p:cNvPicPr/>
          <p:nvPr/>
        </p:nvPicPr>
        <p:blipFill>
          <a:blip r:embed="rId5"/>
          <a:stretch/>
        </p:blipFill>
        <p:spPr>
          <a:xfrm>
            <a:off x="883440" y="38552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8" name="Shape 18"/>
          <p:cNvSpPr/>
          <p:nvPr/>
        </p:nvSpPr>
        <p:spPr>
          <a:xfrm>
            <a:off x="1417320" y="38037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19"/>
          <p:cNvSpPr/>
          <p:nvPr/>
        </p:nvSpPr>
        <p:spPr>
          <a:xfrm>
            <a:off x="1417320" y="38037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20"/>
          <p:cNvSpPr/>
          <p:nvPr/>
        </p:nvSpPr>
        <p:spPr>
          <a:xfrm>
            <a:off x="2011680" y="37947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if/elif/else that assigns a letter grade from a score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21"/>
          <p:cNvSpPr/>
          <p:nvPr/>
        </p:nvSpPr>
        <p:spPr>
          <a:xfrm>
            <a:off x="822960" y="42519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2" name="Image 5" descr="icons/checkdouble.png"/>
          <p:cNvPicPr/>
          <p:nvPr/>
        </p:nvPicPr>
        <p:blipFill>
          <a:blip r:embed="rId6"/>
          <a:stretch/>
        </p:blipFill>
        <p:spPr>
          <a:xfrm>
            <a:off x="883440" y="43124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Shape 22"/>
          <p:cNvSpPr/>
          <p:nvPr/>
        </p:nvSpPr>
        <p:spPr>
          <a:xfrm>
            <a:off x="1417320" y="42609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23"/>
          <p:cNvSpPr/>
          <p:nvPr/>
        </p:nvSpPr>
        <p:spPr>
          <a:xfrm>
            <a:off x="1417320" y="42609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24"/>
          <p:cNvSpPr/>
          <p:nvPr/>
        </p:nvSpPr>
        <p:spPr>
          <a:xfrm>
            <a:off x="2011680" y="42519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nested if: check age &gt;= 18 first, then check has_ticket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25"/>
          <p:cNvSpPr/>
          <p:nvPr/>
        </p:nvSpPr>
        <p:spPr>
          <a:xfrm>
            <a:off x="822960" y="47091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7" name="Image 6" descr="icons/checkdouble.png"/>
          <p:cNvPicPr/>
          <p:nvPr/>
        </p:nvPicPr>
        <p:blipFill>
          <a:blip r:embed="rId7"/>
          <a:stretch/>
        </p:blipFill>
        <p:spPr>
          <a:xfrm>
            <a:off x="883440" y="47696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8" name="Shape 26"/>
          <p:cNvSpPr/>
          <p:nvPr/>
        </p:nvSpPr>
        <p:spPr>
          <a:xfrm>
            <a:off x="1417320" y="47181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27"/>
          <p:cNvSpPr/>
          <p:nvPr/>
        </p:nvSpPr>
        <p:spPr>
          <a:xfrm>
            <a:off x="1417320" y="47181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28"/>
          <p:cNvSpPr/>
          <p:nvPr/>
        </p:nvSpPr>
        <p:spPr>
          <a:xfrm>
            <a:off x="2011680" y="47091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Turn your Task 1 pseudocode and Task 2 flowchart into real, working Python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9"/>
          <p:cNvSpPr/>
          <p:nvPr/>
        </p:nvSpPr>
        <p:spPr>
          <a:xfrm>
            <a:off x="822960" y="51663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2" name="Image 7" descr="icons/checkdouble.png"/>
          <p:cNvPicPr/>
          <p:nvPr/>
        </p:nvPicPr>
        <p:blipFill>
          <a:blip r:embed="rId8"/>
          <a:stretch/>
        </p:blipFill>
        <p:spPr>
          <a:xfrm>
            <a:off x="883440" y="52268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Shape 30"/>
          <p:cNvSpPr/>
          <p:nvPr/>
        </p:nvSpPr>
        <p:spPr>
          <a:xfrm>
            <a:off x="1417320" y="51753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31"/>
          <p:cNvSpPr/>
          <p:nvPr/>
        </p:nvSpPr>
        <p:spPr>
          <a:xfrm>
            <a:off x="1417320" y="51753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32"/>
          <p:cNvSpPr/>
          <p:nvPr/>
        </p:nvSpPr>
        <p:spPr>
          <a:xfrm>
            <a:off x="2011680" y="5166360"/>
            <a:ext cx="9417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simple calculator: ask for two numbers and an operator (+ - * /), then use if/elif/else to print the correct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33"/>
          <p:cNvSpPr/>
          <p:nvPr/>
        </p:nvSpPr>
        <p:spPr>
          <a:xfrm>
            <a:off x="822960" y="576072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11 core tasks in total — due before our next class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3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3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DC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1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C: Bonus (Optional)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DC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5"/>
          <p:cNvSpPr/>
          <p:nvPr/>
        </p:nvSpPr>
        <p:spPr>
          <a:xfrm>
            <a:off x="822960" y="24231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6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7" name="Shape 6"/>
          <p:cNvSpPr/>
          <p:nvPr/>
        </p:nvSpPr>
        <p:spPr>
          <a:xfrm>
            <a:off x="1417320" y="24415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7"/>
          <p:cNvSpPr/>
          <p:nvPr/>
        </p:nvSpPr>
        <p:spPr>
          <a:xfrm>
            <a:off x="1417320" y="24415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8"/>
          <p:cNvSpPr/>
          <p:nvPr/>
        </p:nvSpPr>
        <p:spPr>
          <a:xfrm>
            <a:off x="2011680" y="24231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+= to add 5 to a variable, then print the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9"/>
          <p:cNvSpPr/>
          <p:nvPr/>
        </p:nvSpPr>
        <p:spPr>
          <a:xfrm>
            <a:off x="822960" y="348984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1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55320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Shape 10"/>
          <p:cNvSpPr/>
          <p:nvPr/>
        </p:nvSpPr>
        <p:spPr>
          <a:xfrm>
            <a:off x="1417320" y="350820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11"/>
          <p:cNvSpPr/>
          <p:nvPr/>
        </p:nvSpPr>
        <p:spPr>
          <a:xfrm>
            <a:off x="1417320" y="350820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12"/>
          <p:cNvSpPr/>
          <p:nvPr/>
        </p:nvSpPr>
        <p:spPr>
          <a:xfrm>
            <a:off x="2011680" y="348984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6 &amp; 3 and 6 | 3 in Python — predict the answers before running them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13"/>
          <p:cNvSpPr/>
          <p:nvPr/>
        </p:nvSpPr>
        <p:spPr>
          <a:xfrm>
            <a:off x="822960" y="455688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6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61988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7" name="Shape 14"/>
          <p:cNvSpPr/>
          <p:nvPr/>
        </p:nvSpPr>
        <p:spPr>
          <a:xfrm>
            <a:off x="1417320" y="457488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5"/>
          <p:cNvSpPr/>
          <p:nvPr/>
        </p:nvSpPr>
        <p:spPr>
          <a:xfrm>
            <a:off x="1417320" y="457488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6"/>
          <p:cNvSpPr/>
          <p:nvPr/>
        </p:nvSpPr>
        <p:spPr>
          <a:xfrm>
            <a:off x="2011680" y="455688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if "cat" is in a list of animals using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7"/>
          <p:cNvSpPr/>
          <p:nvPr/>
        </p:nvSpPr>
        <p:spPr>
          <a:xfrm>
            <a:off x="822960" y="576072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Optional — try these only if Parts A &amp; B are already done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1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1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6" name="Image 0" descr="icons/codebranch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7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You can now make your program think.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Every if is a fork in the road your code can take.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Lists and Tuples — Non-primitive Data Structures.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2026-07-25T14:42:41Z</dcterms:created>
  <dc:creator>Course Instructor</dc:creator>
  <dc:description/>
  <dc:language>en-US</dc:language>
  <cp:lastModifiedBy/>
  <dcterms:modified xsi:type="dcterms:W3CDTF">2026-07-31T21:11:55Z</dcterms:modified>
  <cp:revision>23</cp:revision>
  <dc:subject>PptxGenJS Presentation</dc:subject>
  <dc:title>Operators &amp; Conditionals — Session 4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55</vt:i4>
  </property>
  <property fmtid="{D5CDD505-2E9C-101B-9397-08002B2CF9AE}" pid="3" name="PresentationFormat">
    <vt:lpwstr>On-screen Show (16:9)</vt:lpwstr>
  </property>
  <property fmtid="{D5CDD505-2E9C-101B-9397-08002B2CF9AE}" pid="4" name="Slides">
    <vt:i4>55</vt:i4>
  </property>
</Properties>
</file>