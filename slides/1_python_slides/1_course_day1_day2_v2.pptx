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43.xml" ContentType="application/vnd.openxmlformats-officedocument.presentationml.slide+xml"/>
  <Override PartName="/ppt/slides/slide42.xml" ContentType="application/vnd.openxmlformats-officedocument.presentationml.slide+xml"/>
  <Override PartName="/ppt/slides/slide17.xml" ContentType="application/vnd.openxmlformats-officedocument.presentationml.slide+xml"/>
  <Override PartName="/ppt/slides/slide40.xml" ContentType="application/vnd.openxmlformats-officedocument.presentationml.slide+xml"/>
  <Override PartName="/ppt/slides/slide8.xml" ContentType="application/vnd.openxmlformats-officedocument.presentationml.slide+xml"/>
  <Override PartName="/ppt/slides/slide46.xml" ContentType="application/vnd.openxmlformats-officedocument.presentationml.slide+xml"/>
  <Override PartName="/ppt/slides/slide27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66.xml" ContentType="application/vnd.openxmlformats-officedocument.presentationml.slide+xml"/>
  <Override PartName="/ppt/slides/slide41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58.xml" ContentType="application/vnd.openxmlformats-officedocument.presentationml.slide+xml"/>
  <Override PartName="/ppt/slides/slide15.xml" ContentType="application/vnd.openxmlformats-officedocument.presentationml.slide+xml"/>
  <Override PartName="/ppt/slides/slide65.xml" ContentType="application/vnd.openxmlformats-officedocument.presentationml.slide+xml"/>
  <Override PartName="/ppt/slides/slide16.xml" ContentType="application/vnd.openxmlformats-officedocument.presentationml.slide+xml"/>
  <Override PartName="/ppt/slides/slide47.xml" ContentType="application/vnd.openxmlformats-officedocument.presentationml.slide+xml"/>
  <Override PartName="/ppt/slides/slide61.xml" ContentType="application/vnd.openxmlformats-officedocument.presentationml.slide+xml"/>
  <Override PartName="/ppt/slides/slide14.xml" ContentType="application/vnd.openxmlformats-officedocument.presentationml.slide+xml"/>
  <Override PartName="/ppt/slides/slide12.xml" ContentType="application/vnd.openxmlformats-officedocument.presentationml.slide+xml"/>
  <Override PartName="/ppt/slides/slide28.xml" ContentType="application/vnd.openxmlformats-officedocument.presentationml.slide+xml"/>
  <Override PartName="/ppt/slides/slide70.xml" ContentType="application/vnd.openxmlformats-officedocument.presentationml.slide+xml"/>
  <Override PartName="/ppt/slides/slide37.xml" ContentType="application/vnd.openxmlformats-officedocument.presentationml.slide+xml"/>
  <Override PartName="/ppt/slides/slide69.xml" ContentType="application/vnd.openxmlformats-officedocument.presentationml.slide+xml"/>
  <Override PartName="/ppt/slides/slide29.xml" ContentType="application/vnd.openxmlformats-officedocument.presentationml.slide+xml"/>
  <Override PartName="/ppt/slides/slide10.xml" ContentType="application/vnd.openxmlformats-officedocument.presentationml.slide+xml"/>
  <Override PartName="/ppt/slides/slide71.xml" ContentType="application/vnd.openxmlformats-officedocument.presentationml.slide+xml"/>
  <Override PartName="/ppt/slides/slide35.xml" ContentType="application/vnd.openxmlformats-officedocument.presentationml.slide+xml"/>
  <Override PartName="/ppt/slides/slide64.xml" ContentType="application/vnd.openxmlformats-officedocument.presentationml.slide+xml"/>
  <Override PartName="/ppt/slides/slide63.xml" ContentType="application/vnd.openxmlformats-officedocument.presentationml.slide+xml"/>
  <Override PartName="/ppt/slides/slide67.xml" ContentType="application/vnd.openxmlformats-officedocument.presentationml.slide+xml"/>
  <Override PartName="/ppt/slides/slide62.xml" ContentType="application/vnd.openxmlformats-officedocument.presentationml.slide+xml"/>
  <Override PartName="/ppt/slides/slide48.xml" ContentType="application/vnd.openxmlformats-officedocument.presentationml.slide+xml"/>
  <Override PartName="/ppt/slides/slide31.xml" ContentType="application/vnd.openxmlformats-officedocument.presentationml.slide+xml"/>
  <Override PartName="/ppt/slides/slide6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49.xml" ContentType="application/vnd.openxmlformats-officedocument.presentationml.slide+xml"/>
  <Override PartName="/ppt/slides/slide68.xml" ContentType="application/vnd.openxmlformats-officedocument.presentationml.slide+xml"/>
  <Override PartName="/ppt/slides/slide21.xml" ContentType="application/vnd.openxmlformats-officedocument.presentationml.slide+xml"/>
  <Override PartName="/ppt/slides/slide26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59.xml" ContentType="application/vnd.openxmlformats-officedocument.presentationml.slide+xml"/>
  <Override PartName="/ppt/slides/slide56.xml" ContentType="application/vnd.openxmlformats-officedocument.presentationml.slide+xml"/>
  <Override PartName="/ppt/slides/slide50.xml" ContentType="application/vnd.openxmlformats-officedocument.presentationml.slide+xml"/>
  <Override PartName="/ppt/slides/slide24.xml" ContentType="application/vnd.openxmlformats-officedocument.presentationml.slide+xml"/>
  <Override PartName="/ppt/slides/slide52.xml" ContentType="application/vnd.openxmlformats-officedocument.presentationml.slide+xml"/>
  <Override PartName="/ppt/slides/slide30.xml" ContentType="application/vnd.openxmlformats-officedocument.presentationml.slide+xml"/>
  <Override PartName="/ppt/slides/slide39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9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38.xml" ContentType="application/vnd.openxmlformats-officedocument.presentationml.slide+xml"/>
  <Override PartName="/ppt/notesSlides/notesSlide46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slide" Target="slides/slide65.xml"/><Relationship Id="rId70" Type="http://schemas.openxmlformats.org/officeDocument/2006/relationships/slide" Target="slides/slide66.xml"/><Relationship Id="rId71" Type="http://schemas.openxmlformats.org/officeDocument/2006/relationships/slide" Target="slides/slide67.xml"/><Relationship Id="rId72" Type="http://schemas.openxmlformats.org/officeDocument/2006/relationships/slide" Target="slides/slide68.xml"/><Relationship Id="rId73" Type="http://schemas.openxmlformats.org/officeDocument/2006/relationships/slide" Target="slides/slide69.xml"/><Relationship Id="rId74" Type="http://schemas.openxmlformats.org/officeDocument/2006/relationships/slide" Target="slides/slide70.xml"/><Relationship Id="rId75" Type="http://schemas.openxmlformats.org/officeDocument/2006/relationships/slide" Target="slides/slide71.xml"/><Relationship Id="rId7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389EF44-A09B-4B03-AFB2-4681CB2EFF2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_rels/notesSlide53.xml.rels><?xml version="1.0" encoding="UTF-8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
</Relationships>
</file>

<file path=ppt/notesSlides/_rels/notesSlide54.xml.rels><?xml version="1.0" encoding="UTF-8"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
</Relationships>
</file>

<file path=ppt/notesSlides/_rels/notesSlide55.xml.rels><?xml version="1.0" encoding="UTF-8"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
</Relationships>
</file>

<file path=ppt/notesSlides/_rels/notesSlide56.xml.rels><?xml version="1.0" encoding="UTF-8"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
</Relationships>
</file>

<file path=ppt/notesSlides/_rels/notesSlide57.xml.rels><?xml version="1.0" encoding="UTF-8"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
</Relationships>
</file>

<file path=ppt/notesSlides/_rels/notesSlide58.xml.rels><?xml version="1.0" encoding="UTF-8"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
</Relationships>
</file>

<file path=ppt/notesSlides/_rels/notesSlide59.xml.rels><?xml version="1.0" encoding="UTF-8"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
</Relationships>
</file>

<file path=ppt/notesSlides/_rels/notesSlide60.xml.rels><?xml version="1.0" encoding="UTF-8"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
</Relationships>
</file>

<file path=ppt/notesSlides/_rels/notesSlide61.xml.rels><?xml version="1.0" encoding="UTF-8"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
</Relationships>
</file>

<file path=ppt/notesSlides/_rels/notesSlide62.xml.rels><?xml version="1.0" encoding="UTF-8"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
</Relationships>
</file>

<file path=ppt/notesSlides/_rels/notesSlide63.xml.rels><?xml version="1.0" encoding="UTF-8"?>
<Relationships xmlns="http://schemas.openxmlformats.org/package/2006/relationships"><Relationship Id="rId1" Type="http://schemas.openxmlformats.org/officeDocument/2006/relationships/slide" Target="../slides/slide63.xml"/><Relationship Id="rId2" Type="http://schemas.openxmlformats.org/officeDocument/2006/relationships/notesMaster" Target="../notesMasters/notesMaster1.xml"/>
</Relationships>
</file>

<file path=ppt/notesSlides/_rels/notesSlide64.xml.rels><?xml version="1.0" encoding="UTF-8"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
</Relationships>
</file>

<file path=ppt/notesSlides/_rels/notesSlide65.xml.rels><?xml version="1.0" encoding="UTF-8"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
</Relationships>
</file>

<file path=ppt/notesSlides/_rels/notesSlide66.xml.rels><?xml version="1.0" encoding="UTF-8"?>
<Relationships xmlns="http://schemas.openxmlformats.org/package/2006/relationships"><Relationship Id="rId1" Type="http://schemas.openxmlformats.org/officeDocument/2006/relationships/slide" Target="../slides/slide66.xml"/><Relationship Id="rId2" Type="http://schemas.openxmlformats.org/officeDocument/2006/relationships/notesMaster" Target="../notesMasters/notesMaster1.xml"/>
</Relationships>
</file>

<file path=ppt/notesSlides/_rels/notesSlide67.xml.rels><?xml version="1.0" encoding="UTF-8"?>
<Relationships xmlns="http://schemas.openxmlformats.org/package/2006/relationships"><Relationship Id="rId1" Type="http://schemas.openxmlformats.org/officeDocument/2006/relationships/slide" Target="../slides/slide67.xml"/><Relationship Id="rId2" Type="http://schemas.openxmlformats.org/officeDocument/2006/relationships/notesMaster" Target="../notesMasters/notesMaster1.xml"/>
</Relationships>
</file>

<file path=ppt/notesSlides/_rels/notesSlide68.xml.rels><?xml version="1.0" encoding="UTF-8"?>
<Relationships xmlns="http://schemas.openxmlformats.org/package/2006/relationships"><Relationship Id="rId1" Type="http://schemas.openxmlformats.org/officeDocument/2006/relationships/slide" Target="../slides/slide68.xml"/><Relationship Id="rId2" Type="http://schemas.openxmlformats.org/officeDocument/2006/relationships/notesMaster" Target="../notesMasters/notesMaster1.xml"/>
</Relationships>
</file>

<file path=ppt/notesSlides/_rels/notesSlide69.xml.rels><?xml version="1.0" encoding="UTF-8"?>
<Relationships xmlns="http://schemas.openxmlformats.org/package/2006/relationships"><Relationship Id="rId1" Type="http://schemas.openxmlformats.org/officeDocument/2006/relationships/slide" Target="../slides/slide69.xml"/><Relationship Id="rId2" Type="http://schemas.openxmlformats.org/officeDocument/2006/relationships/notesMaster" Target="../notesMasters/notesMaster1.xml"/>
</Relationships>
</file>

<file path=ppt/notesSlides/_rels/notesSlide70.xml.rels><?xml version="1.0" encoding="UTF-8"?>
<Relationships xmlns="http://schemas.openxmlformats.org/package/2006/relationships"><Relationship Id="rId1" Type="http://schemas.openxmlformats.org/officeDocument/2006/relationships/slide" Target="../slides/slide70.xml"/><Relationship Id="rId2" Type="http://schemas.openxmlformats.org/officeDocument/2006/relationships/notesMaster" Target="../notesMasters/notesMaster1.xml"/>
</Relationships>
</file>

<file path=ppt/notesSlides/_rels/notesSlide71.xml.rels><?xml version="1.0" encoding="UTF-8"?>
<Relationships xmlns="http://schemas.openxmlformats.org/package/2006/relationships"><Relationship Id="rId1" Type="http://schemas.openxmlformats.org/officeDocument/2006/relationships/slide" Target="../slides/slide7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Welcome slide. Keep it warm and simple.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FAAB055-309C-4DCC-833E-C58BA8C403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Quick preview only — each item gets its own slide.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BFB2596-38C1-4E5D-8E00-F256881AFC9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 the sandwich exercise live here.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16F07F1-CF5D-4EE9-B24F-55260A954EA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Keep the state idea simple — do not call it a literal finite state machine.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E614A18-DEC2-4D58-A2C9-CC9124B6D50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7B52C82-E003-44DE-9C94-340B8E94675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4425315-0CDE-4E7F-B590-6BB0C67CB82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Say this close to word-for-word.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2BCA2AF-9D33-42B9-A0D0-9E2840343D6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Close with: every phase exists because the next one needs 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FC17CC6-A71E-4C47-90E8-6A5AAF7AED9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B004CCD-EE9E-4472-B0C9-BF3BE313EDB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16FD758-0ABC-4A41-8FC6-E97AEB7B58F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9DF2BB2-D41F-4BC6-BDB9-57D81B7A16E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EF71B32-BB9E-442E-9E23-8E9775F0E68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5EE3936-33C3-4B2D-986B-0957B738F68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F7BC816-B1A5-48FC-A95D-3C7C071ED7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2E35475-425E-4E82-9BE8-BAC5D69568A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B42AE08-47A0-4E8B-B9BD-968C9A69196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0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EF87EC9-5876-4EA8-B633-35EAAB1A4C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3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91EF79F-BF18-4F8C-88A2-FD4220D5986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6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BCB6074-D382-4311-BDDA-B0EF68B626A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9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D8531F0-7EBA-4D09-963D-627AC0CE0D0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2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E03F78C-971D-4855-9A52-5C1F27FBB25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5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4B70AF9-6183-4C7B-8BB9-65E923157A6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8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2E8722C-889D-4654-B7AE-A2EF5B7344C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1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19C6543-5B73-4C3C-AAFA-55027A855B7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4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B4EED07-1D10-41D7-BC53-6FA1A1E27C0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7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20AE8CB-7440-4D94-B11C-4B2F5D4A79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0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CC24197-D8CD-441A-8129-7BB0897A41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3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D00185B-0AAE-4F54-BF00-F0937A0D085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6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2DAB17A-2741-4243-964D-7457D746219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9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ED776A8-0EB8-4B39-8705-64E00BA8DD9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2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D63C286-EBEA-43BD-880B-30EAAC2205F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5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0FA6987-AD90-4CFD-B60C-B5BC22AB7A0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9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8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E0A24E5-D122-4A69-89AE-85C2DBD5C3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0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1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54F8774-40A9-40CC-BB82-5A5ADA8E810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0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4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F71A373-61B5-45DC-AB33-7C35266B062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0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7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F04DE3D-7C0A-4DA1-8708-EE38D39F70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0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0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814B8E6-8858-4187-8DDA-B7D994748D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0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3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F227BED-68DA-4DE2-A5C2-28388E2EA1E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0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6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BA16916-8771-455F-B59B-25BF82A5754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0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9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B0FEC01-481C-4D68-A19D-75362341B66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0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2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00271D8-58A5-41F3-99BF-AB7825F604C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0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5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05E866E-04F3-4FFA-A1C0-F8B32B220A1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0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8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5E61BD8-4B4B-4F8D-85E1-85B26968646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0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1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5190212-D8E8-43FE-9B98-593C49831D4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0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4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06E3EBF-BDF4-44ED-AB12-7DBB42BED6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0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7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BD15AE1-C17A-4B4A-8379-C7D55A565DD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0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0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1D36314-9DF9-429F-9D7C-26E5AFF0C61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0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3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279821A-4AE2-46E9-AF41-F9A98A3829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0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6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4BEA959-7173-4D8E-8297-B7FAF3CB91A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0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9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4E838FA-D6A5-42FF-9D2B-A1E1A3DD46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0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2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803806C-5763-44E8-AD02-48CD3CC586C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0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5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4B9A5AD-D21A-4216-9095-A300040C81E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0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8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A6B533A-AE15-44EE-A13D-6A551F6B8EF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0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1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DD88C47-3A12-4D57-B617-DBCBA8246E7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0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4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15E37B9-FE1C-4C00-BCDA-6C1CF5EBA2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0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7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65CA7E4-56BE-4E8E-8561-6C024902166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0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0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ED7553B-A692-407E-83AE-3AD576734B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0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3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220453C-6010-4DEE-A8AA-A7B1A0E1594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0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6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86D8AE8-5EDC-41BF-9333-E6BFF9FB90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0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Fast recap before moving to career paths.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9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5541674-3A9A-49DB-93FA-6C7B7AA3927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0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2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8C16D09-80EC-4C8F-99FE-BD5FE6F382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0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5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B7A1BCE-8EB7-4FED-91F4-4E60C18DA40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0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8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B7D1DF3-49BC-476A-9CDF-FD4487727FC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0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1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78F8638-DAFC-4540-A32F-0A6ED38A57B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0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4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39336A3-9168-42ED-9829-A3233FC547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0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7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76ADE80-8AC7-411A-BE77-5FB0C3C586A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0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0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94A3E09-FA37-44F2-B864-6C19A095A90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1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3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09559E7-E3E4-40B7-97C4-E6A8B8B40C5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1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6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648624A-DF94-4072-A203-69DE980C2A3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1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9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DEC0307-8460-4045-8BC8-B42983E7F52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1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warm. Confirm the Day 1 task deadline before dismissing.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2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8DA0A12-F1DA-4FF8-848E-6370568FD3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0.png"/><Relationship Id="rId4" Type="http://schemas.openxmlformats.org/officeDocument/2006/relationships/image" Target="../media/image20.png"/><Relationship Id="rId5" Type="http://schemas.openxmlformats.org/officeDocument/2006/relationships/image" Target="../media/image20.png"/><Relationship Id="rId6" Type="http://schemas.openxmlformats.org/officeDocument/2006/relationships/image" Target="../media/image20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1.png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22.png"/><Relationship Id="rId6" Type="http://schemas.openxmlformats.org/officeDocument/2006/relationships/image" Target="../media/image10.png"/><Relationship Id="rId7" Type="http://schemas.openxmlformats.org/officeDocument/2006/relationships/image" Target="../media/image23.png"/><Relationship Id="rId8" Type="http://schemas.openxmlformats.org/officeDocument/2006/relationships/image" Target="../media/image1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3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40.png"/><Relationship Id="rId3" Type="http://schemas.openxmlformats.org/officeDocument/2006/relationships/image" Target="../media/image27.png"/><Relationship Id="rId4" Type="http://schemas.openxmlformats.org/officeDocument/2006/relationships/image" Target="../media/image25.png"/><Relationship Id="rId5" Type="http://schemas.openxmlformats.org/officeDocument/2006/relationships/image" Target="../media/image29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image" Target="../media/image4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4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4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4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0.png"/><Relationship Id="rId3" Type="http://schemas.openxmlformats.org/officeDocument/2006/relationships/image" Target="../media/image25.png"/><Relationship Id="rId4" Type="http://schemas.openxmlformats.org/officeDocument/2006/relationships/image" Target="../media/image42.png"/><Relationship Id="rId5" Type="http://schemas.openxmlformats.org/officeDocument/2006/relationships/image" Target="../media/image13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26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0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image" Target="../media/image44.png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25.png"/><Relationship Id="rId6" Type="http://schemas.openxmlformats.org/officeDocument/2006/relationships/image" Target="../media/image45.png"/><Relationship Id="rId7" Type="http://schemas.openxmlformats.org/officeDocument/2006/relationships/image" Target="../media/image43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image" Target="../media/image4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4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image" Target="../media/image4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7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3.png"/><Relationship Id="rId6" Type="http://schemas.openxmlformats.org/officeDocument/2006/relationships/image" Target="../media/image46.png"/><Relationship Id="rId7" Type="http://schemas.openxmlformats.org/officeDocument/2006/relationships/image" Target="../media/image2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9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0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-2286000" y="3657600"/>
            <a:ext cx="6399360" cy="639936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8229600" y="-2743200"/>
            <a:ext cx="6399360" cy="639936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5500080" y="914400"/>
            <a:ext cx="1187280" cy="11872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" name="Image 0" descr="icons/laptop.png"/>
          <p:cNvPicPr/>
          <p:nvPr/>
        </p:nvPicPr>
        <p:blipFill>
          <a:blip r:embed="rId1"/>
          <a:stretch/>
        </p:blipFill>
        <p:spPr>
          <a:xfrm>
            <a:off x="5678280" y="1092600"/>
            <a:ext cx="830520" cy="83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Text 3"/>
          <p:cNvSpPr/>
          <p:nvPr/>
        </p:nvSpPr>
        <p:spPr>
          <a:xfrm>
            <a:off x="914400" y="2377440"/>
            <a:ext cx="1035864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Code, Data &amp; </a:t>
            </a: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Decisions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914400" y="3383280"/>
            <a:ext cx="1035864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From First Principles to Real-World AI &amp; Data Science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914400" y="3977640"/>
            <a:ext cx="103586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Day 1 &amp; 2  ·  Orientation and The Big Picture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914400" y="6126480"/>
            <a:ext cx="103586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E9C93"/>
                </a:solidFill>
                <a:effectLst/>
                <a:uFillTx/>
                <a:latin typeface="Calibri"/>
                <a:ea typeface="Calibri"/>
              </a:rPr>
              <a:t>BS(CS), 6th Semester — University of Bahrain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7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/>
          <p:cNvSpPr/>
          <p:nvPr/>
        </p:nvSpPr>
        <p:spPr>
          <a:xfrm>
            <a:off x="10515600" y="-1371600"/>
            <a:ext cx="3656160" cy="365616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" name="Image 0" descr="icons/calendar.png"/>
          <p:cNvPicPr/>
          <p:nvPr/>
        </p:nvPicPr>
        <p:blipFill>
          <a:blip r:embed="rId1"/>
          <a:stretch/>
        </p:blipFill>
        <p:spPr>
          <a:xfrm>
            <a:off x="553320" y="55332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Text 2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Day 1 — Where We Begin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3"/>
          <p:cNvSpPr/>
          <p:nvPr/>
        </p:nvSpPr>
        <p:spPr>
          <a:xfrm>
            <a:off x="457200" y="1600200"/>
            <a:ext cx="11273040" cy="576000"/>
          </a:xfrm>
          <a:prstGeom prst="roundRect">
            <a:avLst>
              <a:gd name="adj" fmla="val 1108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4"/>
          <p:cNvSpPr/>
          <p:nvPr/>
        </p:nvSpPr>
        <p:spPr>
          <a:xfrm>
            <a:off x="621720" y="1681200"/>
            <a:ext cx="414360" cy="414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" name="Image 1" descr="icons/code.png"/>
          <p:cNvPicPr/>
          <p:nvPr/>
        </p:nvPicPr>
        <p:blipFill>
          <a:blip r:embed="rId2"/>
          <a:stretch/>
        </p:blipFill>
        <p:spPr>
          <a:xfrm>
            <a:off x="684000" y="1743480"/>
            <a:ext cx="289440" cy="28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Text 5"/>
          <p:cNvSpPr/>
          <p:nvPr/>
        </p:nvSpPr>
        <p:spPr>
          <a:xfrm>
            <a:off x="1325880" y="1600200"/>
            <a:ext cx="10056960" cy="57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What is programming?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6"/>
          <p:cNvSpPr/>
          <p:nvPr/>
        </p:nvSpPr>
        <p:spPr>
          <a:xfrm>
            <a:off x="457200" y="2296440"/>
            <a:ext cx="11273040" cy="576000"/>
          </a:xfrm>
          <a:prstGeom prst="roundRect">
            <a:avLst>
              <a:gd name="adj" fmla="val 1108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7"/>
          <p:cNvSpPr/>
          <p:nvPr/>
        </p:nvSpPr>
        <p:spPr>
          <a:xfrm>
            <a:off x="621720" y="2377440"/>
            <a:ext cx="414360" cy="414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" name="Image 2" descr="icons/microchip.png"/>
          <p:cNvPicPr/>
          <p:nvPr/>
        </p:nvPicPr>
        <p:blipFill>
          <a:blip r:embed="rId3"/>
          <a:stretch/>
        </p:blipFill>
        <p:spPr>
          <a:xfrm>
            <a:off x="684000" y="2439720"/>
            <a:ext cx="289440" cy="28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Text 8"/>
          <p:cNvSpPr/>
          <p:nvPr/>
        </p:nvSpPr>
        <p:spPr>
          <a:xfrm>
            <a:off x="1325880" y="2296440"/>
            <a:ext cx="10056960" cy="57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How does a computer "think"?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9"/>
          <p:cNvSpPr/>
          <p:nvPr/>
        </p:nvSpPr>
        <p:spPr>
          <a:xfrm>
            <a:off x="457200" y="2992680"/>
            <a:ext cx="11273040" cy="576000"/>
          </a:xfrm>
          <a:prstGeom prst="roundRect">
            <a:avLst>
              <a:gd name="adj" fmla="val 1108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0"/>
          <p:cNvSpPr/>
          <p:nvPr/>
        </p:nvSpPr>
        <p:spPr>
          <a:xfrm>
            <a:off x="621720" y="3073680"/>
            <a:ext cx="414360" cy="414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" name="Image 3" descr="icons/exchange.png"/>
          <p:cNvPicPr/>
          <p:nvPr/>
        </p:nvPicPr>
        <p:blipFill>
          <a:blip r:embed="rId4"/>
          <a:stretch/>
        </p:blipFill>
        <p:spPr>
          <a:xfrm>
            <a:off x="684000" y="3135960"/>
            <a:ext cx="289440" cy="28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Text 11"/>
          <p:cNvSpPr/>
          <p:nvPr/>
        </p:nvSpPr>
        <p:spPr>
          <a:xfrm>
            <a:off x="1325880" y="2992680"/>
            <a:ext cx="10056960" cy="57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Compiled vs. interpreted languages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2"/>
          <p:cNvSpPr/>
          <p:nvPr/>
        </p:nvSpPr>
        <p:spPr>
          <a:xfrm>
            <a:off x="457200" y="3688920"/>
            <a:ext cx="11273040" cy="576000"/>
          </a:xfrm>
          <a:prstGeom prst="roundRect">
            <a:avLst>
              <a:gd name="adj" fmla="val 1108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3"/>
          <p:cNvSpPr/>
          <p:nvPr/>
        </p:nvSpPr>
        <p:spPr>
          <a:xfrm>
            <a:off x="621720" y="3769920"/>
            <a:ext cx="414360" cy="414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" name="Image 4" descr="icons/python.png"/>
          <p:cNvPicPr/>
          <p:nvPr/>
        </p:nvPicPr>
        <p:blipFill>
          <a:blip r:embed="rId5"/>
          <a:stretch/>
        </p:blipFill>
        <p:spPr>
          <a:xfrm>
            <a:off x="684000" y="3832200"/>
            <a:ext cx="289440" cy="28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Text 14"/>
          <p:cNvSpPr/>
          <p:nvPr/>
        </p:nvSpPr>
        <p:spPr>
          <a:xfrm>
            <a:off x="1325880" y="3688920"/>
            <a:ext cx="10056960" cy="57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Why we use Python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5"/>
          <p:cNvSpPr/>
          <p:nvPr/>
        </p:nvSpPr>
        <p:spPr>
          <a:xfrm>
            <a:off x="457200" y="4385160"/>
            <a:ext cx="11273040" cy="576000"/>
          </a:xfrm>
          <a:prstGeom prst="roundRect">
            <a:avLst>
              <a:gd name="adj" fmla="val 1108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6"/>
          <p:cNvSpPr/>
          <p:nvPr/>
        </p:nvSpPr>
        <p:spPr>
          <a:xfrm>
            <a:off x="621720" y="4466160"/>
            <a:ext cx="414360" cy="414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" name="Image 5" descr="icons/lightbulb.png"/>
          <p:cNvPicPr/>
          <p:nvPr/>
        </p:nvPicPr>
        <p:blipFill>
          <a:blip r:embed="rId6"/>
          <a:stretch/>
        </p:blipFill>
        <p:spPr>
          <a:xfrm>
            <a:off x="684000" y="4528440"/>
            <a:ext cx="289440" cy="28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Text 17"/>
          <p:cNvSpPr/>
          <p:nvPr/>
        </p:nvSpPr>
        <p:spPr>
          <a:xfrm>
            <a:off x="1325880" y="4385160"/>
            <a:ext cx="10056960" cy="57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Why this course exists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8"/>
          <p:cNvSpPr/>
          <p:nvPr/>
        </p:nvSpPr>
        <p:spPr>
          <a:xfrm>
            <a:off x="457200" y="5081400"/>
            <a:ext cx="11273040" cy="576000"/>
          </a:xfrm>
          <a:prstGeom prst="roundRect">
            <a:avLst>
              <a:gd name="adj" fmla="val 1108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9"/>
          <p:cNvSpPr/>
          <p:nvPr/>
        </p:nvSpPr>
        <p:spPr>
          <a:xfrm>
            <a:off x="621720" y="5162400"/>
            <a:ext cx="414360" cy="414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" name="Image 6" descr="icons/route.png"/>
          <p:cNvPicPr/>
          <p:nvPr/>
        </p:nvPicPr>
        <p:blipFill>
          <a:blip r:embed="rId7"/>
          <a:stretch/>
        </p:blipFill>
        <p:spPr>
          <a:xfrm>
            <a:off x="684000" y="5224680"/>
            <a:ext cx="289440" cy="28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Text 20"/>
          <p:cNvSpPr/>
          <p:nvPr/>
        </p:nvSpPr>
        <p:spPr>
          <a:xfrm>
            <a:off x="1325880" y="5081400"/>
            <a:ext cx="10056960" cy="57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Our 16-week roadmap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1"/>
          <p:cNvSpPr/>
          <p:nvPr/>
        </p:nvSpPr>
        <p:spPr>
          <a:xfrm>
            <a:off x="457200" y="5777640"/>
            <a:ext cx="11273040" cy="576000"/>
          </a:xfrm>
          <a:prstGeom prst="roundRect">
            <a:avLst>
              <a:gd name="adj" fmla="val 1108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2"/>
          <p:cNvSpPr/>
          <p:nvPr/>
        </p:nvSpPr>
        <p:spPr>
          <a:xfrm>
            <a:off x="621720" y="5858640"/>
            <a:ext cx="414360" cy="414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" name="Image 7" descr="icons/toolbox.png"/>
          <p:cNvPicPr/>
          <p:nvPr/>
        </p:nvPicPr>
        <p:blipFill>
          <a:blip r:embed="rId8"/>
          <a:stretch/>
        </p:blipFill>
        <p:spPr>
          <a:xfrm>
            <a:off x="684000" y="5920920"/>
            <a:ext cx="289440" cy="28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Text 23"/>
          <p:cNvSpPr/>
          <p:nvPr/>
        </p:nvSpPr>
        <p:spPr>
          <a:xfrm>
            <a:off x="1325880" y="5777640"/>
            <a:ext cx="10056960" cy="57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Tools to install before next class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4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5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/>
          <p:cNvSpPr/>
          <p:nvPr/>
        </p:nvSpPr>
        <p:spPr>
          <a:xfrm>
            <a:off x="10515600" y="5669280"/>
            <a:ext cx="3198960" cy="319896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" name="Image 0" descr="icons/code.png"/>
          <p:cNvPicPr/>
          <p:nvPr/>
        </p:nvPicPr>
        <p:blipFill>
          <a:blip r:embed="rId1"/>
          <a:stretch/>
        </p:blipFill>
        <p:spPr>
          <a:xfrm>
            <a:off x="553320" y="55332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Text 2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Programming = Giving Clear Instructions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457200" y="1554480"/>
            <a:ext cx="3656160" cy="466200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4"/>
          <p:cNvSpPr/>
          <p:nvPr/>
        </p:nvSpPr>
        <p:spPr>
          <a:xfrm>
            <a:off x="1508760" y="2194560"/>
            <a:ext cx="1553040" cy="1553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9" name="Image 1" descr="icons/code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6840" cy="10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Text 5"/>
          <p:cNvSpPr/>
          <p:nvPr/>
        </p:nvSpPr>
        <p:spPr>
          <a:xfrm>
            <a:off x="640080" y="3977640"/>
            <a:ext cx="329040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"Say exactly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you mean"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6"/>
          <p:cNvSpPr/>
          <p:nvPr/>
        </p:nvSpPr>
        <p:spPr>
          <a:xfrm>
            <a:off x="4572000" y="1737360"/>
            <a:ext cx="7130880" cy="41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People understand hints and context. Computers do not.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program is just a list of simple steps. This list is called an algorithm.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Try this: tell someone how to make a sandwich, step by step. You will find gaps you never noticed.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Programming means noticing your own gaps before the computer does.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7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8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0"/>
          <p:cNvSpPr/>
          <p:nvPr/>
        </p:nvSpPr>
        <p:spPr>
          <a:xfrm>
            <a:off x="10515600" y="5669280"/>
            <a:ext cx="3198960" cy="319896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" name="Image 0" descr="icons/microchip.png"/>
          <p:cNvPicPr/>
          <p:nvPr/>
        </p:nvPicPr>
        <p:blipFill>
          <a:blip r:embed="rId1"/>
          <a:stretch/>
        </p:blipFill>
        <p:spPr>
          <a:xfrm>
            <a:off x="553320" y="55332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Text 2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Inside a Computer: Just Switches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3"/>
          <p:cNvSpPr/>
          <p:nvPr/>
        </p:nvSpPr>
        <p:spPr>
          <a:xfrm>
            <a:off x="457200" y="1554480"/>
            <a:ext cx="3656160" cy="466200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4"/>
          <p:cNvSpPr/>
          <p:nvPr/>
        </p:nvSpPr>
        <p:spPr>
          <a:xfrm>
            <a:off x="1508760" y="2194560"/>
            <a:ext cx="1553040" cy="1553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0" name="Image 1" descr="icons/microchip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6840" cy="10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Text 5"/>
          <p:cNvSpPr/>
          <p:nvPr/>
        </p:nvSpPr>
        <p:spPr>
          <a:xfrm>
            <a:off x="640080" y="3977640"/>
            <a:ext cx="329040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2 states only: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on / off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6"/>
          <p:cNvSpPr/>
          <p:nvPr/>
        </p:nvSpPr>
        <p:spPr>
          <a:xfrm>
            <a:off x="4572000" y="1737360"/>
            <a:ext cx="7130880" cy="41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computer is made of billions of tiny switches called transistors.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Each switch is either on or off. We call this 1 and 0.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program is like a path — each step moves you to the next point on that path.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Nothing "understands" your code. That is why we must be exact.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7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8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0"/>
          <p:cNvSpPr/>
          <p:nvPr/>
        </p:nvSpPr>
        <p:spPr>
          <a:xfrm>
            <a:off x="-1828800" y="5029200"/>
            <a:ext cx="3656160" cy="365616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7" name="Image 0" descr="icons/exchange.png"/>
          <p:cNvPicPr/>
          <p:nvPr/>
        </p:nvPicPr>
        <p:blipFill>
          <a:blip r:embed="rId1"/>
          <a:stretch/>
        </p:blipFill>
        <p:spPr>
          <a:xfrm>
            <a:off x="553320" y="55332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 2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Two Ways to Run Code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3"/>
          <p:cNvSpPr/>
          <p:nvPr/>
        </p:nvSpPr>
        <p:spPr>
          <a:xfrm>
            <a:off x="822960" y="1828800"/>
            <a:ext cx="5119200" cy="4204800"/>
          </a:xfrm>
          <a:prstGeom prst="roundRect">
            <a:avLst>
              <a:gd name="adj" fmla="val 173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4"/>
          <p:cNvSpPr/>
          <p:nvPr/>
        </p:nvSpPr>
        <p:spPr>
          <a:xfrm>
            <a:off x="1097280" y="2057400"/>
            <a:ext cx="45705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Compiled (C/C++, Java)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5"/>
          <p:cNvSpPr/>
          <p:nvPr/>
        </p:nvSpPr>
        <p:spPr>
          <a:xfrm>
            <a:off x="1280160" y="2743200"/>
            <a:ext cx="4204800" cy="54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6"/>
          <p:cNvSpPr/>
          <p:nvPr/>
        </p:nvSpPr>
        <p:spPr>
          <a:xfrm>
            <a:off x="1280160" y="2743200"/>
            <a:ext cx="420480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Code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7"/>
          <p:cNvSpPr/>
          <p:nvPr/>
        </p:nvSpPr>
        <p:spPr>
          <a:xfrm>
            <a:off x="1280160" y="3291840"/>
            <a:ext cx="42048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8A2B"/>
                </a:solidFill>
                <a:effectLst/>
                <a:uFillTx/>
                <a:latin typeface="Calibri"/>
                <a:ea typeface="Calibri"/>
              </a:rPr>
              <a:t>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8"/>
          <p:cNvSpPr/>
          <p:nvPr/>
        </p:nvSpPr>
        <p:spPr>
          <a:xfrm>
            <a:off x="1280160" y="3657600"/>
            <a:ext cx="4204800" cy="54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9"/>
          <p:cNvSpPr/>
          <p:nvPr/>
        </p:nvSpPr>
        <p:spPr>
          <a:xfrm>
            <a:off x="1280160" y="3657600"/>
            <a:ext cx="420480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Compiler Translates It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0"/>
          <p:cNvSpPr/>
          <p:nvPr/>
        </p:nvSpPr>
        <p:spPr>
          <a:xfrm>
            <a:off x="1280160" y="4206240"/>
            <a:ext cx="42048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8A2B"/>
                </a:solidFill>
                <a:effectLst/>
                <a:uFillTx/>
                <a:latin typeface="Calibri"/>
                <a:ea typeface="Calibri"/>
              </a:rPr>
              <a:t>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1"/>
          <p:cNvSpPr/>
          <p:nvPr/>
        </p:nvSpPr>
        <p:spPr>
          <a:xfrm>
            <a:off x="1280160" y="4572000"/>
            <a:ext cx="4204800" cy="54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2"/>
          <p:cNvSpPr/>
          <p:nvPr/>
        </p:nvSpPr>
        <p:spPr>
          <a:xfrm>
            <a:off x="1280160" y="4572000"/>
            <a:ext cx="420480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Computer Runs It Fast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3"/>
          <p:cNvSpPr/>
          <p:nvPr/>
        </p:nvSpPr>
        <p:spPr>
          <a:xfrm>
            <a:off x="6400800" y="1828800"/>
            <a:ext cx="5119200" cy="4204800"/>
          </a:xfrm>
          <a:prstGeom prst="roundRect">
            <a:avLst>
              <a:gd name="adj" fmla="val 173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4"/>
          <p:cNvSpPr/>
          <p:nvPr/>
        </p:nvSpPr>
        <p:spPr>
          <a:xfrm>
            <a:off x="6675120" y="2057400"/>
            <a:ext cx="45705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Interpreted (Python)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5"/>
          <p:cNvSpPr/>
          <p:nvPr/>
        </p:nvSpPr>
        <p:spPr>
          <a:xfrm>
            <a:off x="6858000" y="2743200"/>
            <a:ext cx="4204800" cy="54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6"/>
          <p:cNvSpPr/>
          <p:nvPr/>
        </p:nvSpPr>
        <p:spPr>
          <a:xfrm>
            <a:off x="6858000" y="2743200"/>
            <a:ext cx="420480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Code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7"/>
          <p:cNvSpPr/>
          <p:nvPr/>
        </p:nvSpPr>
        <p:spPr>
          <a:xfrm>
            <a:off x="6858000" y="3291840"/>
            <a:ext cx="42048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8A2B"/>
                </a:solidFill>
                <a:effectLst/>
                <a:uFillTx/>
                <a:latin typeface="Calibri"/>
                <a:ea typeface="Calibri"/>
              </a:rPr>
              <a:t>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8"/>
          <p:cNvSpPr/>
          <p:nvPr/>
        </p:nvSpPr>
        <p:spPr>
          <a:xfrm>
            <a:off x="6858000" y="3657600"/>
            <a:ext cx="4204800" cy="54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9"/>
          <p:cNvSpPr/>
          <p:nvPr/>
        </p:nvSpPr>
        <p:spPr>
          <a:xfrm>
            <a:off x="6858000" y="3657600"/>
            <a:ext cx="420480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Interpreter Reads Each Line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0"/>
          <p:cNvSpPr/>
          <p:nvPr/>
        </p:nvSpPr>
        <p:spPr>
          <a:xfrm>
            <a:off x="6858000" y="4206240"/>
            <a:ext cx="42048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8A2B"/>
                </a:solidFill>
                <a:effectLst/>
                <a:uFillTx/>
                <a:latin typeface="Calibri"/>
                <a:ea typeface="Calibri"/>
              </a:rPr>
              <a:t>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1"/>
          <p:cNvSpPr/>
          <p:nvPr/>
        </p:nvSpPr>
        <p:spPr>
          <a:xfrm>
            <a:off x="6858000" y="4572000"/>
            <a:ext cx="4204800" cy="54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2"/>
          <p:cNvSpPr/>
          <p:nvPr/>
        </p:nvSpPr>
        <p:spPr>
          <a:xfrm>
            <a:off x="6858000" y="4572000"/>
            <a:ext cx="420480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Runs Right Away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3"/>
          <p:cNvSpPr/>
          <p:nvPr/>
        </p:nvSpPr>
        <p:spPr>
          <a:xfrm>
            <a:off x="822960" y="6172200"/>
            <a:ext cx="105415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Simple rule: Compiled = runs fast. Interpreted (Python) = lets you test ideas fast.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4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5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0"/>
          <p:cNvSpPr/>
          <p:nvPr/>
        </p:nvSpPr>
        <p:spPr>
          <a:xfrm>
            <a:off x="10515600" y="-1371600"/>
            <a:ext cx="3198960" cy="319896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4" name="Image 0" descr="icons/python.png"/>
          <p:cNvPicPr/>
          <p:nvPr/>
        </p:nvPicPr>
        <p:blipFill>
          <a:blip r:embed="rId1"/>
          <a:stretch/>
        </p:blipFill>
        <p:spPr>
          <a:xfrm>
            <a:off x="553320" y="55332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ext 2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Why Python? (And Its Limits)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3"/>
          <p:cNvSpPr/>
          <p:nvPr/>
        </p:nvSpPr>
        <p:spPr>
          <a:xfrm>
            <a:off x="457200" y="1645920"/>
            <a:ext cx="5347800" cy="4479120"/>
          </a:xfrm>
          <a:prstGeom prst="roundRect">
            <a:avLst>
              <a:gd name="adj" fmla="val 163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4"/>
          <p:cNvSpPr/>
          <p:nvPr/>
        </p:nvSpPr>
        <p:spPr>
          <a:xfrm>
            <a:off x="731520" y="1828800"/>
            <a:ext cx="47991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Why Python Is Great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5"/>
          <p:cNvSpPr/>
          <p:nvPr/>
        </p:nvSpPr>
        <p:spPr>
          <a:xfrm>
            <a:off x="731520" y="2331720"/>
            <a:ext cx="4799160" cy="347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Reads almost like English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All the best data tools live here (NumPy, Pandas, scikit-learn)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200-line C++ program can be 20 lines in Python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Fewer strict rules — easier to turn an idea into working code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6"/>
          <p:cNvSpPr/>
          <p:nvPr/>
        </p:nvSpPr>
        <p:spPr>
          <a:xfrm>
            <a:off x="6172200" y="1645920"/>
            <a:ext cx="5347800" cy="4479120"/>
          </a:xfrm>
          <a:prstGeom prst="roundRect">
            <a:avLst>
              <a:gd name="adj" fmla="val 163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7"/>
          <p:cNvSpPr/>
          <p:nvPr/>
        </p:nvSpPr>
        <p:spPr>
          <a:xfrm>
            <a:off x="6446520" y="1828800"/>
            <a:ext cx="47991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A5473F"/>
                </a:solidFill>
                <a:effectLst/>
                <a:uFillTx/>
                <a:latin typeface="Cambria"/>
                <a:ea typeface="Cambria"/>
              </a:rPr>
              <a:t>Where It Falls Short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8"/>
          <p:cNvSpPr/>
          <p:nvPr/>
        </p:nvSpPr>
        <p:spPr>
          <a:xfrm>
            <a:off x="6446520" y="2331720"/>
            <a:ext cx="4799160" cy="347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Runs slower than compiled languages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Not built for parallel processing (a detail called the GIL)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Not a great fit for mobile apps or embedded devices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Its speed in data work often comes from C code running underneath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9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0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0"/>
          <p:cNvSpPr/>
          <p:nvPr/>
        </p:nvSpPr>
        <p:spPr>
          <a:xfrm>
            <a:off x="-1828800" y="4114800"/>
            <a:ext cx="5484960" cy="548496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"/>
          <p:cNvSpPr/>
          <p:nvPr/>
        </p:nvSpPr>
        <p:spPr>
          <a:xfrm>
            <a:off x="9601200" y="-2286000"/>
            <a:ext cx="5484960" cy="548496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2"/>
          <p:cNvSpPr/>
          <p:nvPr/>
        </p:nvSpPr>
        <p:spPr>
          <a:xfrm>
            <a:off x="5591520" y="731520"/>
            <a:ext cx="1004400" cy="100440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7" name="Image 0" descr="icons/lightbulb.png"/>
          <p:cNvPicPr/>
          <p:nvPr/>
        </p:nvPicPr>
        <p:blipFill>
          <a:blip r:embed="rId1"/>
          <a:stretch/>
        </p:blipFill>
        <p:spPr>
          <a:xfrm>
            <a:off x="5742360" y="882360"/>
            <a:ext cx="7027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Text 3"/>
          <p:cNvSpPr/>
          <p:nvPr/>
        </p:nvSpPr>
        <p:spPr>
          <a:xfrm>
            <a:off x="914400" y="1965960"/>
            <a:ext cx="103586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WHY THIS COURSE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4"/>
          <p:cNvSpPr/>
          <p:nvPr/>
        </p:nvSpPr>
        <p:spPr>
          <a:xfrm>
            <a:off x="914400" y="2377440"/>
            <a:ext cx="10358640" cy="20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"You are not here to become computer scientists or software engineers.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You are here so your research never waits on someone else."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5"/>
          <p:cNvSpPr/>
          <p:nvPr/>
        </p:nvSpPr>
        <p:spPr>
          <a:xfrm>
            <a:off x="1463040" y="4572000"/>
            <a:ext cx="926136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And if you enjoy it — this is a real path into data science.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0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3" name="Image 0" descr="icons/route.png"/>
          <p:cNvPicPr/>
          <p:nvPr/>
        </p:nvPicPr>
        <p:blipFill>
          <a:blip r:embed="rId1"/>
          <a:stretch/>
        </p:blipFill>
        <p:spPr>
          <a:xfrm>
            <a:off x="553320" y="55332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Text 1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The 16-Week Journey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2"/>
          <p:cNvSpPr/>
          <p:nvPr/>
        </p:nvSpPr>
        <p:spPr>
          <a:xfrm>
            <a:off x="457200" y="1508760"/>
            <a:ext cx="3604320" cy="233028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3"/>
          <p:cNvSpPr/>
          <p:nvPr/>
        </p:nvSpPr>
        <p:spPr>
          <a:xfrm>
            <a:off x="1976760" y="1788480"/>
            <a:ext cx="565560" cy="5655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7" name="Image 1" descr="icons/code.png"/>
          <p:cNvPicPr/>
          <p:nvPr/>
        </p:nvPicPr>
        <p:blipFill>
          <a:blip r:embed="rId2"/>
          <a:stretch/>
        </p:blipFill>
        <p:spPr>
          <a:xfrm>
            <a:off x="2061720" y="1873440"/>
            <a:ext cx="39528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Text 4"/>
          <p:cNvSpPr/>
          <p:nvPr/>
        </p:nvSpPr>
        <p:spPr>
          <a:xfrm>
            <a:off x="567000" y="2428560"/>
            <a:ext cx="33847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1 · Orientation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621720" y="2812680"/>
            <a:ext cx="3275280" cy="98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Week 1 — what a computer is, why Python, first code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6"/>
          <p:cNvSpPr/>
          <p:nvPr/>
        </p:nvSpPr>
        <p:spPr>
          <a:xfrm>
            <a:off x="4291560" y="1508760"/>
            <a:ext cx="3604320" cy="233028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7"/>
          <p:cNvSpPr/>
          <p:nvPr/>
        </p:nvSpPr>
        <p:spPr>
          <a:xfrm>
            <a:off x="5811120" y="1788480"/>
            <a:ext cx="565560" cy="5655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2" name="Image 2" descr="icons/sitemap.png"/>
          <p:cNvPicPr/>
          <p:nvPr/>
        </p:nvPicPr>
        <p:blipFill>
          <a:blip r:embed="rId3"/>
          <a:stretch/>
        </p:blipFill>
        <p:spPr>
          <a:xfrm>
            <a:off x="5896080" y="1873440"/>
            <a:ext cx="39528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Text 8"/>
          <p:cNvSpPr/>
          <p:nvPr/>
        </p:nvSpPr>
        <p:spPr>
          <a:xfrm>
            <a:off x="4401360" y="2428560"/>
            <a:ext cx="33847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2 · Python Core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9"/>
          <p:cNvSpPr/>
          <p:nvPr/>
        </p:nvSpPr>
        <p:spPr>
          <a:xfrm>
            <a:off x="4456080" y="2812680"/>
            <a:ext cx="3275280" cy="98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Weeks 2–4 — functions, lists, dicts, files, errors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10"/>
          <p:cNvSpPr/>
          <p:nvPr/>
        </p:nvSpPr>
        <p:spPr>
          <a:xfrm>
            <a:off x="8125920" y="1508760"/>
            <a:ext cx="3604320" cy="233028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1"/>
          <p:cNvSpPr/>
          <p:nvPr/>
        </p:nvSpPr>
        <p:spPr>
          <a:xfrm>
            <a:off x="9645480" y="1788480"/>
            <a:ext cx="565560" cy="5655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7" name="Image 3" descr="icons/chart.png"/>
          <p:cNvPicPr/>
          <p:nvPr/>
        </p:nvPicPr>
        <p:blipFill>
          <a:blip r:embed="rId4"/>
          <a:stretch/>
        </p:blipFill>
        <p:spPr>
          <a:xfrm>
            <a:off x="9730440" y="1873440"/>
            <a:ext cx="39528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Text 12"/>
          <p:cNvSpPr/>
          <p:nvPr/>
        </p:nvSpPr>
        <p:spPr>
          <a:xfrm>
            <a:off x="8235720" y="2428560"/>
            <a:ext cx="33847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3 · Stats &amp; Math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3"/>
          <p:cNvSpPr/>
          <p:nvPr/>
        </p:nvSpPr>
        <p:spPr>
          <a:xfrm>
            <a:off x="8290440" y="2812680"/>
            <a:ext cx="3275280" cy="98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Weeks 5–7 — just the math the next phase needs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4"/>
          <p:cNvSpPr/>
          <p:nvPr/>
        </p:nvSpPr>
        <p:spPr>
          <a:xfrm>
            <a:off x="457200" y="4069080"/>
            <a:ext cx="3604320" cy="233028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5"/>
          <p:cNvSpPr/>
          <p:nvPr/>
        </p:nvSpPr>
        <p:spPr>
          <a:xfrm>
            <a:off x="1976760" y="4348800"/>
            <a:ext cx="565560" cy="5655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2" name="Image 4" descr="icons/network.png"/>
          <p:cNvPicPr/>
          <p:nvPr/>
        </p:nvPicPr>
        <p:blipFill>
          <a:blip r:embed="rId5"/>
          <a:stretch/>
        </p:blipFill>
        <p:spPr>
          <a:xfrm>
            <a:off x="2061720" y="4433760"/>
            <a:ext cx="39528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Text 16"/>
          <p:cNvSpPr/>
          <p:nvPr/>
        </p:nvSpPr>
        <p:spPr>
          <a:xfrm>
            <a:off x="567000" y="4988880"/>
            <a:ext cx="33847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4 · NumPy, Pandas, Viz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7"/>
          <p:cNvSpPr/>
          <p:nvPr/>
        </p:nvSpPr>
        <p:spPr>
          <a:xfrm>
            <a:off x="621720" y="5373000"/>
            <a:ext cx="3275280" cy="98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Weeks 8–10 — the real tools of data work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8"/>
          <p:cNvSpPr/>
          <p:nvPr/>
        </p:nvSpPr>
        <p:spPr>
          <a:xfrm>
            <a:off x="4291560" y="4069080"/>
            <a:ext cx="3604320" cy="233028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9"/>
          <p:cNvSpPr/>
          <p:nvPr/>
        </p:nvSpPr>
        <p:spPr>
          <a:xfrm>
            <a:off x="5811120" y="4348800"/>
            <a:ext cx="565560" cy="5655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7" name="Image 5" descr="icons/eye.png"/>
          <p:cNvPicPr/>
          <p:nvPr/>
        </p:nvPicPr>
        <p:blipFill>
          <a:blip r:embed="rId6"/>
          <a:stretch/>
        </p:blipFill>
        <p:spPr>
          <a:xfrm>
            <a:off x="5896080" y="4433760"/>
            <a:ext cx="39528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Text 20"/>
          <p:cNvSpPr/>
          <p:nvPr/>
        </p:nvSpPr>
        <p:spPr>
          <a:xfrm>
            <a:off x="4401360" y="4988880"/>
            <a:ext cx="33847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5 · EDA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1"/>
          <p:cNvSpPr/>
          <p:nvPr/>
        </p:nvSpPr>
        <p:spPr>
          <a:xfrm>
            <a:off x="4456080" y="5373000"/>
            <a:ext cx="3275280" cy="98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Weeks 11–12 — reading a real dataset before modeling it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22"/>
          <p:cNvSpPr/>
          <p:nvPr/>
        </p:nvSpPr>
        <p:spPr>
          <a:xfrm>
            <a:off x="8125920" y="4069080"/>
            <a:ext cx="3604320" cy="233028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23"/>
          <p:cNvSpPr/>
          <p:nvPr/>
        </p:nvSpPr>
        <p:spPr>
          <a:xfrm>
            <a:off x="9645480" y="4348800"/>
            <a:ext cx="565560" cy="5655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2" name="Image 6" descr="icons/brain.png"/>
          <p:cNvPicPr/>
          <p:nvPr/>
        </p:nvPicPr>
        <p:blipFill>
          <a:blip r:embed="rId7"/>
          <a:stretch/>
        </p:blipFill>
        <p:spPr>
          <a:xfrm>
            <a:off x="9730440" y="4433760"/>
            <a:ext cx="39528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Text 24"/>
          <p:cNvSpPr/>
          <p:nvPr/>
        </p:nvSpPr>
        <p:spPr>
          <a:xfrm>
            <a:off x="8235720" y="4988880"/>
            <a:ext cx="33847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6 · ML + Capstone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5"/>
          <p:cNvSpPr/>
          <p:nvPr/>
        </p:nvSpPr>
        <p:spPr>
          <a:xfrm>
            <a:off x="8290440" y="5373000"/>
            <a:ext cx="3275280" cy="98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Weeks 13–16 — first models, and a project of your own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6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7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0"/>
          <p:cNvSpPr/>
          <p:nvPr/>
        </p:nvSpPr>
        <p:spPr>
          <a:xfrm>
            <a:off x="-1828800" y="4114800"/>
            <a:ext cx="5484960" cy="548496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"/>
          <p:cNvSpPr/>
          <p:nvPr/>
        </p:nvSpPr>
        <p:spPr>
          <a:xfrm>
            <a:off x="9601200" y="-2286000"/>
            <a:ext cx="5484960" cy="548496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2"/>
          <p:cNvSpPr/>
          <p:nvPr/>
        </p:nvSpPr>
        <p:spPr>
          <a:xfrm>
            <a:off x="5591520" y="731520"/>
            <a:ext cx="1004400" cy="100440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0" name="Image 0" descr="icons/toolbox.png"/>
          <p:cNvPicPr/>
          <p:nvPr/>
        </p:nvPicPr>
        <p:blipFill>
          <a:blip r:embed="rId1"/>
          <a:stretch/>
        </p:blipFill>
        <p:spPr>
          <a:xfrm>
            <a:off x="5742360" y="882360"/>
            <a:ext cx="7027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Text 3"/>
          <p:cNvSpPr/>
          <p:nvPr/>
        </p:nvSpPr>
        <p:spPr>
          <a:xfrm>
            <a:off x="914400" y="1965960"/>
            <a:ext cx="103586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BEFORE NEXT CLASS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4"/>
          <p:cNvSpPr/>
          <p:nvPr/>
        </p:nvSpPr>
        <p:spPr>
          <a:xfrm>
            <a:off x="914400" y="2377440"/>
            <a:ext cx="10358640" cy="20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Tools You Will Need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5"/>
          <p:cNvSpPr/>
          <p:nvPr/>
        </p:nvSpPr>
        <p:spPr>
          <a:xfrm>
            <a:off x="1463040" y="4572000"/>
            <a:ext cx="926136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Five simple tools — install them before our next session.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0"/>
          <p:cNvSpPr/>
          <p:nvPr/>
        </p:nvSpPr>
        <p:spPr>
          <a:xfrm>
            <a:off x="10515600" y="5669280"/>
            <a:ext cx="3198960" cy="319896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7" name="Image 0" descr="icons/anaconda.png"/>
          <p:cNvPicPr/>
          <p:nvPr/>
        </p:nvPicPr>
        <p:blipFill>
          <a:blip r:embed="rId1"/>
          <a:stretch/>
        </p:blipFill>
        <p:spPr>
          <a:xfrm>
            <a:off x="553320" y="55332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Text 2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Miniconda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3"/>
          <p:cNvSpPr/>
          <p:nvPr/>
        </p:nvSpPr>
        <p:spPr>
          <a:xfrm>
            <a:off x="457200" y="1554480"/>
            <a:ext cx="3656160" cy="466200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4"/>
          <p:cNvSpPr/>
          <p:nvPr/>
        </p:nvSpPr>
        <p:spPr>
          <a:xfrm>
            <a:off x="1508760" y="2194560"/>
            <a:ext cx="1553040" cy="1553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1" name="Image 1" descr="icons/anaconda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6840" cy="10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Text 5"/>
          <p:cNvSpPr/>
          <p:nvPr/>
        </p:nvSpPr>
        <p:spPr>
          <a:xfrm>
            <a:off x="640080" y="3977640"/>
            <a:ext cx="329040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Manages Python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and its tools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6"/>
          <p:cNvSpPr/>
          <p:nvPr/>
        </p:nvSpPr>
        <p:spPr>
          <a:xfrm>
            <a:off x="4572000" y="1737360"/>
            <a:ext cx="7130880" cy="41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Miniconda installs Python on your computer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 also creates separate, clean workspaces called "environments" for each project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stops different projects from breaking each other's tools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Think of it as a toolbox manager for all your Python projects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7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8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0"/>
          <p:cNvSpPr/>
          <p:nvPr/>
        </p:nvSpPr>
        <p:spPr>
          <a:xfrm>
            <a:off x="10515600" y="5669280"/>
            <a:ext cx="3198960" cy="319896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8" name="Image 0" descr="icons/laptop.png"/>
          <p:cNvPicPr/>
          <p:nvPr/>
        </p:nvPicPr>
        <p:blipFill>
          <a:blip r:embed="rId1"/>
          <a:stretch/>
        </p:blipFill>
        <p:spPr>
          <a:xfrm>
            <a:off x="553320" y="55332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Text 2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Visual Studio Code (VS Code)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3"/>
          <p:cNvSpPr/>
          <p:nvPr/>
        </p:nvSpPr>
        <p:spPr>
          <a:xfrm>
            <a:off x="457200" y="1554480"/>
            <a:ext cx="3656160" cy="466200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4"/>
          <p:cNvSpPr/>
          <p:nvPr/>
        </p:nvSpPr>
        <p:spPr>
          <a:xfrm>
            <a:off x="1508760" y="2194560"/>
            <a:ext cx="1553040" cy="1553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2" name="Image 1" descr="icons/laptop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6840" cy="10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3" name="Text 5"/>
          <p:cNvSpPr/>
          <p:nvPr/>
        </p:nvSpPr>
        <p:spPr>
          <a:xfrm>
            <a:off x="640080" y="3977640"/>
            <a:ext cx="329040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Where you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write your code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6"/>
          <p:cNvSpPr/>
          <p:nvPr/>
        </p:nvSpPr>
        <p:spPr>
          <a:xfrm>
            <a:off x="4572000" y="1737360"/>
            <a:ext cx="7130880" cy="41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VS Code is a free, popular code editor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 highlights your code in color, so mistakes are easy to spot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 has helpful extensions — small add-ons for Python, Jupyter notebooks, and more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the app you will open every single class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7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8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0"/>
          <p:cNvSpPr/>
          <p:nvPr/>
        </p:nvSpPr>
        <p:spPr>
          <a:xfrm>
            <a:off x="10515600" y="5669280"/>
            <a:ext cx="3198960" cy="319896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9" name="Image 0" descr="icons/gitalt.png"/>
          <p:cNvPicPr/>
          <p:nvPr/>
        </p:nvPicPr>
        <p:blipFill>
          <a:blip r:embed="rId1"/>
          <a:stretch/>
        </p:blipFill>
        <p:spPr>
          <a:xfrm>
            <a:off x="553320" y="55332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Text 2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Git — Version Control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3"/>
          <p:cNvSpPr/>
          <p:nvPr/>
        </p:nvSpPr>
        <p:spPr>
          <a:xfrm>
            <a:off x="457200" y="1554480"/>
            <a:ext cx="3656160" cy="466200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4"/>
          <p:cNvSpPr/>
          <p:nvPr/>
        </p:nvSpPr>
        <p:spPr>
          <a:xfrm>
            <a:off x="1508760" y="2194560"/>
            <a:ext cx="1553040" cy="1553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3" name="Image 1" descr="icons/gitalt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6840" cy="10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Text 5"/>
          <p:cNvSpPr/>
          <p:nvPr/>
        </p:nvSpPr>
        <p:spPr>
          <a:xfrm>
            <a:off x="640080" y="3977640"/>
            <a:ext cx="329040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"Save points"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for your code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6"/>
          <p:cNvSpPr/>
          <p:nvPr/>
        </p:nvSpPr>
        <p:spPr>
          <a:xfrm>
            <a:off x="4572000" y="1737360"/>
            <a:ext cx="7130880" cy="41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Git saves snapshots of your code as you work — like checkpoints in a game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If you break something, you can go back to an earlier snapshot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 also lets many people work on the same project without overwriting each other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Git runs on your own computer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7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8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0"/>
          <p:cNvSpPr/>
          <p:nvPr/>
        </p:nvSpPr>
        <p:spPr>
          <a:xfrm>
            <a:off x="10515600" y="5669280"/>
            <a:ext cx="3198960" cy="319896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0" name="Image 0" descr="icons/github.png"/>
          <p:cNvPicPr/>
          <p:nvPr/>
        </p:nvPicPr>
        <p:blipFill>
          <a:blip r:embed="rId1"/>
          <a:stretch/>
        </p:blipFill>
        <p:spPr>
          <a:xfrm>
            <a:off x="553320" y="55332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Text 2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GitHub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3"/>
          <p:cNvSpPr/>
          <p:nvPr/>
        </p:nvSpPr>
        <p:spPr>
          <a:xfrm>
            <a:off x="457200" y="1554480"/>
            <a:ext cx="3656160" cy="466200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4"/>
          <p:cNvSpPr/>
          <p:nvPr/>
        </p:nvSpPr>
        <p:spPr>
          <a:xfrm>
            <a:off x="1508760" y="2194560"/>
            <a:ext cx="1553040" cy="1553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4" name="Image 1" descr="icons/github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6840" cy="10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5" name="Text 5"/>
          <p:cNvSpPr/>
          <p:nvPr/>
        </p:nvSpPr>
        <p:spPr>
          <a:xfrm>
            <a:off x="640080" y="3977640"/>
            <a:ext cx="329040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Your code's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online home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6"/>
          <p:cNvSpPr/>
          <p:nvPr/>
        </p:nvSpPr>
        <p:spPr>
          <a:xfrm>
            <a:off x="4572000" y="1737360"/>
            <a:ext cx="7130880" cy="41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GitHub stores your Git snapshots online, safely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 lets you share your code, back it up, and show it to others (like future employers)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 connect Git (on your computer) to GitHub (online) so the two stay in sync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Almost every professional programmer and researcher uses GitHub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7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8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0"/>
          <p:cNvSpPr/>
          <p:nvPr/>
        </p:nvSpPr>
        <p:spPr>
          <a:xfrm>
            <a:off x="10515600" y="5669280"/>
            <a:ext cx="3198960" cy="319896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1" name="Image 0" descr="icons/ubuntu.png"/>
          <p:cNvPicPr/>
          <p:nvPr/>
        </p:nvPicPr>
        <p:blipFill>
          <a:blip r:embed="rId1"/>
          <a:stretch/>
        </p:blipFill>
        <p:spPr>
          <a:xfrm>
            <a:off x="553320" y="55332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Text 2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Linux / Ubuntu (Optional)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3"/>
          <p:cNvSpPr/>
          <p:nvPr/>
        </p:nvSpPr>
        <p:spPr>
          <a:xfrm>
            <a:off x="457200" y="1554480"/>
            <a:ext cx="3656160" cy="466200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4"/>
          <p:cNvSpPr/>
          <p:nvPr/>
        </p:nvSpPr>
        <p:spPr>
          <a:xfrm>
            <a:off x="1508760" y="2194560"/>
            <a:ext cx="1553040" cy="1553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5" name="Image 1" descr="icons/ubuntu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6840" cy="10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6" name="Text 5"/>
          <p:cNvSpPr/>
          <p:nvPr/>
        </p:nvSpPr>
        <p:spPr>
          <a:xfrm>
            <a:off x="640080" y="3977640"/>
            <a:ext cx="329040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Optional —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not required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6"/>
          <p:cNvSpPr/>
          <p:nvPr/>
        </p:nvSpPr>
        <p:spPr>
          <a:xfrm>
            <a:off x="4572000" y="1737360"/>
            <a:ext cx="7130880" cy="41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Linux is another operating system, like Windows or macOS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Ubuntu is a beginner-friendly version of Linux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Many data science and AI tools were originally built for Linux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 do NOT need it for this course — Windows or macOS work perfectly fine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7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8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0"/>
          <p:cNvSpPr/>
          <p:nvPr/>
        </p:nvSpPr>
        <p:spPr>
          <a:xfrm>
            <a:off x="-1828800" y="5029200"/>
            <a:ext cx="3656160" cy="365616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2" name="Image 0" descr="icons/tasks.png"/>
          <p:cNvPicPr/>
          <p:nvPr/>
        </p:nvPicPr>
        <p:blipFill>
          <a:blip r:embed="rId1"/>
          <a:stretch/>
        </p:blipFill>
        <p:spPr>
          <a:xfrm>
            <a:off x="553320" y="55332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" name="Text 2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Day 1 Task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3"/>
          <p:cNvSpPr/>
          <p:nvPr/>
        </p:nvSpPr>
        <p:spPr>
          <a:xfrm>
            <a:off x="457200" y="1600200"/>
            <a:ext cx="11273040" cy="4479120"/>
          </a:xfrm>
          <a:prstGeom prst="roundRect">
            <a:avLst>
              <a:gd name="adj" fmla="val 2041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4"/>
          <p:cNvSpPr/>
          <p:nvPr/>
        </p:nvSpPr>
        <p:spPr>
          <a:xfrm>
            <a:off x="822960" y="1874520"/>
            <a:ext cx="105141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Set Up Your Coding Environment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5"/>
          <p:cNvSpPr/>
          <p:nvPr/>
        </p:nvSpPr>
        <p:spPr>
          <a:xfrm>
            <a:off x="822960" y="2514600"/>
            <a:ext cx="410040" cy="410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7" name="Image 1" descr="icons/check.png"/>
          <p:cNvPicPr/>
          <p:nvPr/>
        </p:nvPicPr>
        <p:blipFill>
          <a:blip r:embed="rId2"/>
          <a:stretch/>
        </p:blipFill>
        <p:spPr>
          <a:xfrm>
            <a:off x="884520" y="2576160"/>
            <a:ext cx="286560" cy="28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Text 6"/>
          <p:cNvSpPr/>
          <p:nvPr/>
        </p:nvSpPr>
        <p:spPr>
          <a:xfrm>
            <a:off x="1417320" y="2514600"/>
            <a:ext cx="987408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Install Miniconda on your computer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7"/>
          <p:cNvSpPr/>
          <p:nvPr/>
        </p:nvSpPr>
        <p:spPr>
          <a:xfrm>
            <a:off x="822960" y="3136320"/>
            <a:ext cx="410040" cy="410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0" name="Image 2" descr="icons/check.png"/>
          <p:cNvPicPr/>
          <p:nvPr/>
        </p:nvPicPr>
        <p:blipFill>
          <a:blip r:embed="rId3"/>
          <a:stretch/>
        </p:blipFill>
        <p:spPr>
          <a:xfrm>
            <a:off x="884520" y="3198240"/>
            <a:ext cx="286560" cy="28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1" name="Text 8"/>
          <p:cNvSpPr/>
          <p:nvPr/>
        </p:nvSpPr>
        <p:spPr>
          <a:xfrm>
            <a:off x="1417320" y="3136320"/>
            <a:ext cx="987408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Install VS Code on your computer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9"/>
          <p:cNvSpPr/>
          <p:nvPr/>
        </p:nvSpPr>
        <p:spPr>
          <a:xfrm>
            <a:off x="822960" y="3758040"/>
            <a:ext cx="410040" cy="410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3" name="Image 3" descr="icons/check.png"/>
          <p:cNvPicPr/>
          <p:nvPr/>
        </p:nvPicPr>
        <p:blipFill>
          <a:blip r:embed="rId4"/>
          <a:stretch/>
        </p:blipFill>
        <p:spPr>
          <a:xfrm>
            <a:off x="884520" y="3819960"/>
            <a:ext cx="286560" cy="28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4" name="Text 10"/>
          <p:cNvSpPr/>
          <p:nvPr/>
        </p:nvSpPr>
        <p:spPr>
          <a:xfrm>
            <a:off x="1417320" y="3758040"/>
            <a:ext cx="987408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Install Git on your computer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11"/>
          <p:cNvSpPr/>
          <p:nvPr/>
        </p:nvSpPr>
        <p:spPr>
          <a:xfrm>
            <a:off x="822960" y="4380120"/>
            <a:ext cx="410040" cy="410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6" name="Image 4" descr="icons/check.png"/>
          <p:cNvPicPr/>
          <p:nvPr/>
        </p:nvPicPr>
        <p:blipFill>
          <a:blip r:embed="rId5"/>
          <a:stretch/>
        </p:blipFill>
        <p:spPr>
          <a:xfrm>
            <a:off x="884520" y="4441680"/>
            <a:ext cx="286560" cy="28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" name="Text 12"/>
          <p:cNvSpPr/>
          <p:nvPr/>
        </p:nvSpPr>
        <p:spPr>
          <a:xfrm>
            <a:off x="1417320" y="4380120"/>
            <a:ext cx="987408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Create your own GitHub account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13"/>
          <p:cNvSpPr/>
          <p:nvPr/>
        </p:nvSpPr>
        <p:spPr>
          <a:xfrm>
            <a:off x="822960" y="5001840"/>
            <a:ext cx="410040" cy="410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9" name="Image 5" descr="icons/check.png"/>
          <p:cNvPicPr/>
          <p:nvPr/>
        </p:nvPicPr>
        <p:blipFill>
          <a:blip r:embed="rId6"/>
          <a:stretch/>
        </p:blipFill>
        <p:spPr>
          <a:xfrm>
            <a:off x="884520" y="5063400"/>
            <a:ext cx="286560" cy="28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0" name="Text 14"/>
          <p:cNvSpPr/>
          <p:nvPr/>
        </p:nvSpPr>
        <p:spPr>
          <a:xfrm>
            <a:off x="1417320" y="5001840"/>
            <a:ext cx="987408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Connect Git (your computer) to your GitHub account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5"/>
          <p:cNvSpPr/>
          <p:nvPr/>
        </p:nvSpPr>
        <p:spPr>
          <a:xfrm>
            <a:off x="822960" y="5623560"/>
            <a:ext cx="105141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Due before our next class · Ask in the group chat if you get stuck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6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7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0"/>
          <p:cNvSpPr/>
          <p:nvPr/>
        </p:nvSpPr>
        <p:spPr>
          <a:xfrm>
            <a:off x="-1828800" y="4114800"/>
            <a:ext cx="5484960" cy="548496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1"/>
          <p:cNvSpPr/>
          <p:nvPr/>
        </p:nvSpPr>
        <p:spPr>
          <a:xfrm>
            <a:off x="9601200" y="-2286000"/>
            <a:ext cx="5484960" cy="548496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2"/>
          <p:cNvSpPr/>
          <p:nvPr/>
        </p:nvSpPr>
        <p:spPr>
          <a:xfrm>
            <a:off x="5591520" y="731520"/>
            <a:ext cx="1004400" cy="100440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7" name="Image 0" descr="icons/laptop.png"/>
          <p:cNvPicPr/>
          <p:nvPr/>
        </p:nvPicPr>
        <p:blipFill>
          <a:blip r:embed="rId1"/>
          <a:stretch/>
        </p:blipFill>
        <p:spPr>
          <a:xfrm>
            <a:off x="5742360" y="882360"/>
            <a:ext cx="7027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Text 3"/>
          <p:cNvSpPr/>
          <p:nvPr/>
        </p:nvSpPr>
        <p:spPr>
          <a:xfrm>
            <a:off x="914400" y="2377440"/>
            <a:ext cx="10358640" cy="20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Day 1 gave you the foundations.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Day 2 shows you where they lead.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4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0"/>
          <p:cNvSpPr/>
          <p:nvPr/>
        </p:nvSpPr>
        <p:spPr>
          <a:xfrm>
            <a:off x="10515600" y="-1371600"/>
            <a:ext cx="3656160" cy="365616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2" name="Image 0" descr="icons/calendar.png"/>
          <p:cNvPicPr/>
          <p:nvPr/>
        </p:nvPicPr>
        <p:blipFill>
          <a:blip r:embed="rId1"/>
          <a:stretch/>
        </p:blipFill>
        <p:spPr>
          <a:xfrm>
            <a:off x="553320" y="55332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3" name="Text 2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Day 2 — Where This Takes You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3"/>
          <p:cNvSpPr/>
          <p:nvPr/>
        </p:nvSpPr>
        <p:spPr>
          <a:xfrm>
            <a:off x="457200" y="1600200"/>
            <a:ext cx="11273040" cy="576000"/>
          </a:xfrm>
          <a:prstGeom prst="roundRect">
            <a:avLst>
              <a:gd name="adj" fmla="val 1108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4"/>
          <p:cNvSpPr/>
          <p:nvPr/>
        </p:nvSpPr>
        <p:spPr>
          <a:xfrm>
            <a:off x="621720" y="1681200"/>
            <a:ext cx="414360" cy="414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6" name="Image 1" descr="icons/language.png"/>
          <p:cNvPicPr/>
          <p:nvPr/>
        </p:nvPicPr>
        <p:blipFill>
          <a:blip r:embed="rId2"/>
          <a:stretch/>
        </p:blipFill>
        <p:spPr>
          <a:xfrm>
            <a:off x="684000" y="1743480"/>
            <a:ext cx="289440" cy="28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7" name="Text 5"/>
          <p:cNvSpPr/>
          <p:nvPr/>
        </p:nvSpPr>
        <p:spPr>
          <a:xfrm>
            <a:off x="1325880" y="1600200"/>
            <a:ext cx="10056960" cy="57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What does "Intelligence" mean?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6"/>
          <p:cNvSpPr/>
          <p:nvPr/>
        </p:nvSpPr>
        <p:spPr>
          <a:xfrm>
            <a:off x="457200" y="2296440"/>
            <a:ext cx="11273040" cy="576000"/>
          </a:xfrm>
          <a:prstGeom prst="roundRect">
            <a:avLst>
              <a:gd name="adj" fmla="val 1108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7"/>
          <p:cNvSpPr/>
          <p:nvPr/>
        </p:nvSpPr>
        <p:spPr>
          <a:xfrm>
            <a:off x="621720" y="2377440"/>
            <a:ext cx="414360" cy="414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0" name="Image 2" descr="icons/toolbox.png"/>
          <p:cNvPicPr/>
          <p:nvPr/>
        </p:nvPicPr>
        <p:blipFill>
          <a:blip r:embed="rId3"/>
          <a:stretch/>
        </p:blipFill>
        <p:spPr>
          <a:xfrm>
            <a:off x="684000" y="2439720"/>
            <a:ext cx="289440" cy="28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1" name="Text 8"/>
          <p:cNvSpPr/>
          <p:nvPr/>
        </p:nvSpPr>
        <p:spPr>
          <a:xfrm>
            <a:off x="1325880" y="2296440"/>
            <a:ext cx="10056960" cy="57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What does "Artificial" mean?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9"/>
          <p:cNvSpPr/>
          <p:nvPr/>
        </p:nvSpPr>
        <p:spPr>
          <a:xfrm>
            <a:off x="457200" y="2992680"/>
            <a:ext cx="11273040" cy="576000"/>
          </a:xfrm>
          <a:prstGeom prst="roundRect">
            <a:avLst>
              <a:gd name="adj" fmla="val 1108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10"/>
          <p:cNvSpPr/>
          <p:nvPr/>
        </p:nvSpPr>
        <p:spPr>
          <a:xfrm>
            <a:off x="621720" y="3073680"/>
            <a:ext cx="414360" cy="414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4" name="Image 3" descr="icons/brain.png"/>
          <p:cNvPicPr/>
          <p:nvPr/>
        </p:nvPicPr>
        <p:blipFill>
          <a:blip r:embed="rId4"/>
          <a:stretch/>
        </p:blipFill>
        <p:spPr>
          <a:xfrm>
            <a:off x="684000" y="3135960"/>
            <a:ext cx="289440" cy="28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5" name="Text 11"/>
          <p:cNvSpPr/>
          <p:nvPr/>
        </p:nvSpPr>
        <p:spPr>
          <a:xfrm>
            <a:off x="1325880" y="2992680"/>
            <a:ext cx="10056960" cy="57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What is Artificial Intelligence?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12"/>
          <p:cNvSpPr/>
          <p:nvPr/>
        </p:nvSpPr>
        <p:spPr>
          <a:xfrm>
            <a:off x="457200" y="3688920"/>
            <a:ext cx="11273040" cy="576000"/>
          </a:xfrm>
          <a:prstGeom prst="roundRect">
            <a:avLst>
              <a:gd name="adj" fmla="val 1108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13"/>
          <p:cNvSpPr/>
          <p:nvPr/>
        </p:nvSpPr>
        <p:spPr>
          <a:xfrm>
            <a:off x="621720" y="3769920"/>
            <a:ext cx="414360" cy="414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8" name="Image 4" descr="icons/landmark.png"/>
          <p:cNvPicPr/>
          <p:nvPr/>
        </p:nvPicPr>
        <p:blipFill>
          <a:blip r:embed="rId5"/>
          <a:stretch/>
        </p:blipFill>
        <p:spPr>
          <a:xfrm>
            <a:off x="684000" y="3832200"/>
            <a:ext cx="289440" cy="28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Text 14"/>
          <p:cNvSpPr/>
          <p:nvPr/>
        </p:nvSpPr>
        <p:spPr>
          <a:xfrm>
            <a:off x="1325880" y="3688920"/>
            <a:ext cx="10056960" cy="57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short history of AI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5"/>
          <p:cNvSpPr/>
          <p:nvPr/>
        </p:nvSpPr>
        <p:spPr>
          <a:xfrm>
            <a:off x="457200" y="4385160"/>
            <a:ext cx="11273040" cy="576000"/>
          </a:xfrm>
          <a:prstGeom prst="roundRect">
            <a:avLst>
              <a:gd name="adj" fmla="val 1108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6"/>
          <p:cNvSpPr/>
          <p:nvPr/>
        </p:nvSpPr>
        <p:spPr>
          <a:xfrm>
            <a:off x="621720" y="4466160"/>
            <a:ext cx="414360" cy="414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2" name="Image 5" descr="icons/sitemap.png"/>
          <p:cNvPicPr/>
          <p:nvPr/>
        </p:nvPicPr>
        <p:blipFill>
          <a:blip r:embed="rId6"/>
          <a:stretch/>
        </p:blipFill>
        <p:spPr>
          <a:xfrm>
            <a:off x="684000" y="4528440"/>
            <a:ext cx="289440" cy="28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3" name="Text 17"/>
          <p:cNvSpPr/>
          <p:nvPr/>
        </p:nvSpPr>
        <p:spPr>
          <a:xfrm>
            <a:off x="1325880" y="4385160"/>
            <a:ext cx="10056960" cy="57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main areas of AI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8"/>
          <p:cNvSpPr/>
          <p:nvPr/>
        </p:nvSpPr>
        <p:spPr>
          <a:xfrm>
            <a:off x="457200" y="5081400"/>
            <a:ext cx="11273040" cy="576000"/>
          </a:xfrm>
          <a:prstGeom prst="roundRect">
            <a:avLst>
              <a:gd name="adj" fmla="val 1108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19"/>
          <p:cNvSpPr/>
          <p:nvPr/>
        </p:nvSpPr>
        <p:spPr>
          <a:xfrm>
            <a:off x="621720" y="5162400"/>
            <a:ext cx="414360" cy="414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6" name="Image 6" descr="icons/flask.png"/>
          <p:cNvPicPr/>
          <p:nvPr/>
        </p:nvPicPr>
        <p:blipFill>
          <a:blip r:embed="rId7"/>
          <a:stretch/>
        </p:blipFill>
        <p:spPr>
          <a:xfrm>
            <a:off x="684000" y="5224680"/>
            <a:ext cx="289440" cy="28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7" name="Text 20"/>
          <p:cNvSpPr/>
          <p:nvPr/>
        </p:nvSpPr>
        <p:spPr>
          <a:xfrm>
            <a:off x="1325880" y="5081400"/>
            <a:ext cx="10056960" cy="57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Real research examples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21"/>
          <p:cNvSpPr/>
          <p:nvPr/>
        </p:nvSpPr>
        <p:spPr>
          <a:xfrm>
            <a:off x="457200" y="5777640"/>
            <a:ext cx="11273040" cy="576000"/>
          </a:xfrm>
          <a:prstGeom prst="roundRect">
            <a:avLst>
              <a:gd name="adj" fmla="val 1108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22"/>
          <p:cNvSpPr/>
          <p:nvPr/>
        </p:nvSpPr>
        <p:spPr>
          <a:xfrm>
            <a:off x="621720" y="5858640"/>
            <a:ext cx="414360" cy="414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0" name="Image 7" descr="icons/chart.png"/>
          <p:cNvPicPr/>
          <p:nvPr/>
        </p:nvPicPr>
        <p:blipFill>
          <a:blip r:embed="rId8"/>
          <a:stretch/>
        </p:blipFill>
        <p:spPr>
          <a:xfrm>
            <a:off x="684000" y="5920920"/>
            <a:ext cx="289440" cy="28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1" name="Text 23"/>
          <p:cNvSpPr/>
          <p:nvPr/>
        </p:nvSpPr>
        <p:spPr>
          <a:xfrm>
            <a:off x="1325880" y="5777640"/>
            <a:ext cx="10056960" cy="57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What is Data Science?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24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25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Shape 0"/>
          <p:cNvSpPr/>
          <p:nvPr/>
        </p:nvSpPr>
        <p:spPr>
          <a:xfrm>
            <a:off x="-1828800" y="4114800"/>
            <a:ext cx="5484960" cy="548496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1"/>
          <p:cNvSpPr/>
          <p:nvPr/>
        </p:nvSpPr>
        <p:spPr>
          <a:xfrm>
            <a:off x="9601200" y="-2286000"/>
            <a:ext cx="5484960" cy="548496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2"/>
          <p:cNvSpPr/>
          <p:nvPr/>
        </p:nvSpPr>
        <p:spPr>
          <a:xfrm>
            <a:off x="5591520" y="731520"/>
            <a:ext cx="1004400" cy="100440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7" name="Image 0" descr="icons/language.png"/>
          <p:cNvPicPr/>
          <p:nvPr/>
        </p:nvPicPr>
        <p:blipFill>
          <a:blip r:embed="rId1"/>
          <a:stretch/>
        </p:blipFill>
        <p:spPr>
          <a:xfrm>
            <a:off x="5742360" y="882360"/>
            <a:ext cx="7027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8" name="Text 3"/>
          <p:cNvSpPr/>
          <p:nvPr/>
        </p:nvSpPr>
        <p:spPr>
          <a:xfrm>
            <a:off x="914400" y="1965960"/>
            <a:ext cx="103586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UNDERSTANDING INTELLIGENCE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4"/>
          <p:cNvSpPr/>
          <p:nvPr/>
        </p:nvSpPr>
        <p:spPr>
          <a:xfrm>
            <a:off x="914400" y="2377440"/>
            <a:ext cx="10358640" cy="20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What Does "Intelligence" Actually Mean?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5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hape 0"/>
          <p:cNvSpPr/>
          <p:nvPr/>
        </p:nvSpPr>
        <p:spPr>
          <a:xfrm>
            <a:off x="8961120" y="-2011680"/>
            <a:ext cx="5484960" cy="548496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"/>
          <p:cNvSpPr/>
          <p:nvPr/>
        </p:nvSpPr>
        <p:spPr>
          <a:xfrm>
            <a:off x="548640" y="411480"/>
            <a:ext cx="10971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INTELLIGENCE · WORD ORIGIN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2"/>
          <p:cNvSpPr/>
          <p:nvPr/>
        </p:nvSpPr>
        <p:spPr>
          <a:xfrm>
            <a:off x="5362920" y="1234440"/>
            <a:ext cx="1461600" cy="14616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4" name="Image 0" descr="icons/language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2760" cy="102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5" name="Text 3"/>
          <p:cNvSpPr/>
          <p:nvPr/>
        </p:nvSpPr>
        <p:spPr>
          <a:xfrm>
            <a:off x="914400" y="2834640"/>
            <a:ext cx="103586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Where Does the Word Come From?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4"/>
          <p:cNvSpPr/>
          <p:nvPr/>
        </p:nvSpPr>
        <p:spPr>
          <a:xfrm>
            <a:off x="1828800" y="3566160"/>
            <a:ext cx="852984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There is no single agreed definition of "intelligence" — even experts disagree.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It is a noun, and it comes from the Latin word "Intelliger", which means "to understand."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5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Shape 0"/>
          <p:cNvSpPr/>
          <p:nvPr/>
        </p:nvSpPr>
        <p:spPr>
          <a:xfrm>
            <a:off x="8961120" y="-2011680"/>
            <a:ext cx="5484960" cy="548496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"/>
          <p:cNvSpPr/>
          <p:nvPr/>
        </p:nvSpPr>
        <p:spPr>
          <a:xfrm>
            <a:off x="548640" y="411480"/>
            <a:ext cx="10971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INTELLIGENCE · THE TWO PARTS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2"/>
          <p:cNvSpPr/>
          <p:nvPr/>
        </p:nvSpPr>
        <p:spPr>
          <a:xfrm>
            <a:off x="5362920" y="1234440"/>
            <a:ext cx="1461600" cy="14616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2" name="Image 0" descr="icons/gradcap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2760" cy="102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3" name="Text 3"/>
          <p:cNvSpPr/>
          <p:nvPr/>
        </p:nvSpPr>
        <p:spPr>
          <a:xfrm>
            <a:off x="914400" y="2834640"/>
            <a:ext cx="103586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To Understand, Then To Learn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4"/>
          <p:cNvSpPr/>
          <p:nvPr/>
        </p:nvSpPr>
        <p:spPr>
          <a:xfrm>
            <a:off x="1828800" y="3566160"/>
            <a:ext cx="852984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Intelligence has two connected ideas: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1) To understand something.  2) To learn from it.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We always understand first — and only then can we truly learn.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5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0"/>
          <p:cNvSpPr/>
          <p:nvPr/>
        </p:nvSpPr>
        <p:spPr>
          <a:xfrm>
            <a:off x="8961120" y="-2011680"/>
            <a:ext cx="5484960" cy="548496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"/>
          <p:cNvSpPr/>
          <p:nvPr/>
        </p:nvSpPr>
        <p:spPr>
          <a:xfrm>
            <a:off x="548640" y="411480"/>
            <a:ext cx="10971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INTELLIGENCE · DEFINITION 1 OF 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2"/>
          <p:cNvSpPr/>
          <p:nvPr/>
        </p:nvSpPr>
        <p:spPr>
          <a:xfrm>
            <a:off x="5362920" y="1234440"/>
            <a:ext cx="1461600" cy="14616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0" name="Image 0" descr="icons/layergroup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2760" cy="102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1" name="Text 3"/>
          <p:cNvSpPr/>
          <p:nvPr/>
        </p:nvSpPr>
        <p:spPr>
          <a:xfrm>
            <a:off x="914400" y="2834640"/>
            <a:ext cx="103586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Capacity to Acquire Capacity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4"/>
          <p:cNvSpPr/>
          <p:nvPr/>
        </p:nvSpPr>
        <p:spPr>
          <a:xfrm>
            <a:off x="1828800" y="3566160"/>
            <a:ext cx="852984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Intelligence is not just what you know — it is how ready you are to gain new abilities.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5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Shape 0"/>
          <p:cNvSpPr/>
          <p:nvPr/>
        </p:nvSpPr>
        <p:spPr>
          <a:xfrm>
            <a:off x="8961120" y="-2011680"/>
            <a:ext cx="5484960" cy="548496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"/>
          <p:cNvSpPr/>
          <p:nvPr/>
        </p:nvSpPr>
        <p:spPr>
          <a:xfrm>
            <a:off x="548640" y="411480"/>
            <a:ext cx="10971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INTELLIGENCE · DEFINITION 2 OF 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2"/>
          <p:cNvSpPr/>
          <p:nvPr/>
        </p:nvSpPr>
        <p:spPr>
          <a:xfrm>
            <a:off x="5362920" y="1234440"/>
            <a:ext cx="1461600" cy="14616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8" name="Image 0" descr="icons/brain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2760" cy="102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9" name="Text 3"/>
          <p:cNvSpPr/>
          <p:nvPr/>
        </p:nvSpPr>
        <p:spPr>
          <a:xfrm>
            <a:off x="914400" y="2834640"/>
            <a:ext cx="103586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Ability to Reason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4"/>
          <p:cNvSpPr/>
          <p:nvPr/>
        </p:nvSpPr>
        <p:spPr>
          <a:xfrm>
            <a:off x="1828800" y="3566160"/>
            <a:ext cx="852984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Intelligence is the skill of thinking things through logically, step by step.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5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0"/>
          <p:cNvSpPr/>
          <p:nvPr/>
        </p:nvSpPr>
        <p:spPr>
          <a:xfrm>
            <a:off x="8961120" y="-2011680"/>
            <a:ext cx="5484960" cy="548496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"/>
          <p:cNvSpPr/>
          <p:nvPr/>
        </p:nvSpPr>
        <p:spPr>
          <a:xfrm>
            <a:off x="548640" y="411480"/>
            <a:ext cx="10971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INTELLIGENCE · DEFINITION 3 OF 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2"/>
          <p:cNvSpPr/>
          <p:nvPr/>
        </p:nvSpPr>
        <p:spPr>
          <a:xfrm>
            <a:off x="5362920" y="1234440"/>
            <a:ext cx="1461600" cy="14616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6" name="Image 0" descr="icons/balance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2760" cy="102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7" name="Text 3"/>
          <p:cNvSpPr/>
          <p:nvPr/>
        </p:nvSpPr>
        <p:spPr>
          <a:xfrm>
            <a:off x="914400" y="2834640"/>
            <a:ext cx="103586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Ability to Judge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4"/>
          <p:cNvSpPr/>
          <p:nvPr/>
        </p:nvSpPr>
        <p:spPr>
          <a:xfrm>
            <a:off x="1828800" y="3566160"/>
            <a:ext cx="852984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Intelligence means being able to weigh choices and decide what is right or best.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5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0"/>
          <p:cNvSpPr/>
          <p:nvPr/>
        </p:nvSpPr>
        <p:spPr>
          <a:xfrm>
            <a:off x="8961120" y="-2011680"/>
            <a:ext cx="5484960" cy="548496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1"/>
          <p:cNvSpPr/>
          <p:nvPr/>
        </p:nvSpPr>
        <p:spPr>
          <a:xfrm>
            <a:off x="548640" y="411480"/>
            <a:ext cx="10971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INTELLIGENCE · DEFINITION 4 OF 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2"/>
          <p:cNvSpPr/>
          <p:nvPr/>
        </p:nvSpPr>
        <p:spPr>
          <a:xfrm>
            <a:off x="5362920" y="1234440"/>
            <a:ext cx="1461600" cy="14616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4" name="Image 0" descr="icons/puzzle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2760" cy="102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5" name="Text 3"/>
          <p:cNvSpPr/>
          <p:nvPr/>
        </p:nvSpPr>
        <p:spPr>
          <a:xfrm>
            <a:off x="914400" y="2834640"/>
            <a:ext cx="103586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Ability to Relate Concepts and Situations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4"/>
          <p:cNvSpPr/>
          <p:nvPr/>
        </p:nvSpPr>
        <p:spPr>
          <a:xfrm>
            <a:off x="1828800" y="3566160"/>
            <a:ext cx="852984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Intelligence means connecting what you already know to a brand-new situation.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5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hape 0"/>
          <p:cNvSpPr/>
          <p:nvPr/>
        </p:nvSpPr>
        <p:spPr>
          <a:xfrm>
            <a:off x="8961120" y="-2011680"/>
            <a:ext cx="5484960" cy="548496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1"/>
          <p:cNvSpPr/>
          <p:nvPr/>
        </p:nvSpPr>
        <p:spPr>
          <a:xfrm>
            <a:off x="548640" y="411480"/>
            <a:ext cx="10971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INTELLIGENCE · DEFINITION 5 OF 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2"/>
          <p:cNvSpPr/>
          <p:nvPr/>
        </p:nvSpPr>
        <p:spPr>
          <a:xfrm>
            <a:off x="5088600" y="1051560"/>
            <a:ext cx="2010240" cy="318600"/>
          </a:xfrm>
          <a:prstGeom prst="roundRect">
            <a:avLst>
              <a:gd name="adj" fmla="val 48571"/>
            </a:avLst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3"/>
          <p:cNvSpPr/>
          <p:nvPr/>
        </p:nvSpPr>
        <p:spPr>
          <a:xfrm>
            <a:off x="5088600" y="1051560"/>
            <a:ext cx="20102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★ ONE OF THE BEST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4"/>
          <p:cNvSpPr/>
          <p:nvPr/>
        </p:nvSpPr>
        <p:spPr>
          <a:xfrm>
            <a:off x="5362920" y="1508760"/>
            <a:ext cx="1461600" cy="14616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4" name="Image 0" descr="icons/water.png"/>
          <p:cNvPicPr/>
          <p:nvPr/>
        </p:nvPicPr>
        <p:blipFill>
          <a:blip r:embed="rId1"/>
          <a:stretch/>
        </p:blipFill>
        <p:spPr>
          <a:xfrm>
            <a:off x="5582520" y="1728360"/>
            <a:ext cx="1022760" cy="102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5" name="Text 5"/>
          <p:cNvSpPr/>
          <p:nvPr/>
        </p:nvSpPr>
        <p:spPr>
          <a:xfrm>
            <a:off x="914400" y="3108960"/>
            <a:ext cx="103586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Ability to Handle Situations Flexibly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6"/>
          <p:cNvSpPr/>
          <p:nvPr/>
        </p:nvSpPr>
        <p:spPr>
          <a:xfrm>
            <a:off x="1828800" y="3840480"/>
            <a:ext cx="852984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This is often called one of the best definitions of intelligence: the ability to adapt — to bend, not break — when a situation changes. This is also called resilience.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7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8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0"/>
          <p:cNvSpPr/>
          <p:nvPr/>
        </p:nvSpPr>
        <p:spPr>
          <a:xfrm>
            <a:off x="8961120" y="-2011680"/>
            <a:ext cx="5484960" cy="548496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1"/>
          <p:cNvSpPr/>
          <p:nvPr/>
        </p:nvSpPr>
        <p:spPr>
          <a:xfrm>
            <a:off x="548640" y="411480"/>
            <a:ext cx="10971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INTELLIGENCE · DEFINITION 6 OF 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2"/>
          <p:cNvSpPr/>
          <p:nvPr/>
        </p:nvSpPr>
        <p:spPr>
          <a:xfrm>
            <a:off x="5362920" y="1234440"/>
            <a:ext cx="1461600" cy="14616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2" name="Image 0" descr="icons/bullseye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2760" cy="102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3" name="Text 3"/>
          <p:cNvSpPr/>
          <p:nvPr/>
        </p:nvSpPr>
        <p:spPr>
          <a:xfrm>
            <a:off x="914400" y="2834640"/>
            <a:ext cx="103586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Goal-Oriented Behavior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4"/>
          <p:cNvSpPr/>
          <p:nvPr/>
        </p:nvSpPr>
        <p:spPr>
          <a:xfrm>
            <a:off x="1828800" y="3566160"/>
            <a:ext cx="852984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Intelligence is behavior aimed at a clear goal — adapting your actions until you reach it.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5"/>
          <p:cNvSpPr/>
          <p:nvPr/>
        </p:nvSpPr>
        <p:spPr>
          <a:xfrm>
            <a:off x="914400" y="6172200"/>
            <a:ext cx="103586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— Robert Sternberg &amp; Salter, Definition of Intelligence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6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7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Shape 0"/>
          <p:cNvSpPr/>
          <p:nvPr/>
        </p:nvSpPr>
        <p:spPr>
          <a:xfrm>
            <a:off x="8961120" y="-2011680"/>
            <a:ext cx="5484960" cy="548496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1"/>
          <p:cNvSpPr/>
          <p:nvPr/>
        </p:nvSpPr>
        <p:spPr>
          <a:xfrm>
            <a:off x="548640" y="411480"/>
            <a:ext cx="10971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INTELLIGENCE · DEFINITION 7 OF 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2"/>
          <p:cNvSpPr/>
          <p:nvPr/>
        </p:nvSpPr>
        <p:spPr>
          <a:xfrm>
            <a:off x="5362920" y="1234440"/>
            <a:ext cx="1461600" cy="14616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1" name="Image 0" descr="icons/history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2760" cy="102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2" name="Text 3"/>
          <p:cNvSpPr/>
          <p:nvPr/>
        </p:nvSpPr>
        <p:spPr>
          <a:xfrm>
            <a:off x="914400" y="2834640"/>
            <a:ext cx="103586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Ability to Take Profit from Experience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4"/>
          <p:cNvSpPr/>
          <p:nvPr/>
        </p:nvSpPr>
        <p:spPr>
          <a:xfrm>
            <a:off x="1828800" y="3566160"/>
            <a:ext cx="852984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Intelligent behavior means learning from your past — using old experience to do better next time.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5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Shape 0"/>
          <p:cNvSpPr/>
          <p:nvPr/>
        </p:nvSpPr>
        <p:spPr>
          <a:xfrm>
            <a:off x="8961120" y="-2011680"/>
            <a:ext cx="5484960" cy="548496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1"/>
          <p:cNvSpPr/>
          <p:nvPr/>
        </p:nvSpPr>
        <p:spPr>
          <a:xfrm>
            <a:off x="548640" y="411480"/>
            <a:ext cx="10971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INTELLIGENCE · DEFINITION 8 OF 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2"/>
          <p:cNvSpPr/>
          <p:nvPr/>
        </p:nvSpPr>
        <p:spPr>
          <a:xfrm>
            <a:off x="5362920" y="1234440"/>
            <a:ext cx="1461600" cy="14616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9" name="Image 0" descr="icons/coins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2760" cy="102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0" name="Text 3"/>
          <p:cNvSpPr/>
          <p:nvPr/>
        </p:nvSpPr>
        <p:spPr>
          <a:xfrm>
            <a:off x="914400" y="2834640"/>
            <a:ext cx="103586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Proper Use of Limited Resources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4"/>
          <p:cNvSpPr/>
          <p:nvPr/>
        </p:nvSpPr>
        <p:spPr>
          <a:xfrm>
            <a:off x="1828800" y="3566160"/>
            <a:ext cx="852984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Intelligence means using what little time, energy, or resources you have in the smartest possible way to reach your goal.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5"/>
          <p:cNvSpPr/>
          <p:nvPr/>
        </p:nvSpPr>
        <p:spPr>
          <a:xfrm>
            <a:off x="914400" y="6172200"/>
            <a:ext cx="103586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— Ray Kurzweil (American computer scientist and author), Definition of Intelligence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6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7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Shape 0"/>
          <p:cNvSpPr/>
          <p:nvPr/>
        </p:nvSpPr>
        <p:spPr>
          <a:xfrm>
            <a:off x="8961120" y="-2011680"/>
            <a:ext cx="5484960" cy="548496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1"/>
          <p:cNvSpPr/>
          <p:nvPr/>
        </p:nvSpPr>
        <p:spPr>
          <a:xfrm>
            <a:off x="548640" y="411480"/>
            <a:ext cx="10971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INTELLIGENCE · DEFINITION 9 OF 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2"/>
          <p:cNvSpPr/>
          <p:nvPr/>
        </p:nvSpPr>
        <p:spPr>
          <a:xfrm>
            <a:off x="5362920" y="1234440"/>
            <a:ext cx="1461600" cy="14616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8" name="Image 0" descr="icons/chartline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2760" cy="102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9" name="Text 3"/>
          <p:cNvSpPr/>
          <p:nvPr/>
        </p:nvSpPr>
        <p:spPr>
          <a:xfrm>
            <a:off x="914400" y="2834640"/>
            <a:ext cx="103586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Getting Better Over Time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4"/>
          <p:cNvSpPr/>
          <p:nvPr/>
        </p:nvSpPr>
        <p:spPr>
          <a:xfrm>
            <a:off x="1828800" y="3566160"/>
            <a:ext cx="852984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One simple, powerful idea: if something keeps improving with practice and experience, that is intelligence.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5"/>
          <p:cNvSpPr/>
          <p:nvPr/>
        </p:nvSpPr>
        <p:spPr>
          <a:xfrm>
            <a:off x="914400" y="6172200"/>
            <a:ext cx="103586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— Roger Schank (American computer scientist), Definition of Intelligence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6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7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Shape 0"/>
          <p:cNvSpPr/>
          <p:nvPr/>
        </p:nvSpPr>
        <p:spPr>
          <a:xfrm>
            <a:off x="8961120" y="-2011680"/>
            <a:ext cx="5484960" cy="548496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1"/>
          <p:cNvSpPr/>
          <p:nvPr/>
        </p:nvSpPr>
        <p:spPr>
          <a:xfrm>
            <a:off x="548640" y="411480"/>
            <a:ext cx="10971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ARTIFICIAL · WORD ORIGIN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2"/>
          <p:cNvSpPr/>
          <p:nvPr/>
        </p:nvSpPr>
        <p:spPr>
          <a:xfrm>
            <a:off x="5362920" y="1234440"/>
            <a:ext cx="1461600" cy="14616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7" name="Image 0" descr="icons/language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2760" cy="102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8" name="Text 3"/>
          <p:cNvSpPr/>
          <p:nvPr/>
        </p:nvSpPr>
        <p:spPr>
          <a:xfrm>
            <a:off x="914400" y="2834640"/>
            <a:ext cx="103586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Does "Artificial" Mean?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4"/>
          <p:cNvSpPr/>
          <p:nvPr/>
        </p:nvSpPr>
        <p:spPr>
          <a:xfrm>
            <a:off x="1828800" y="3566160"/>
            <a:ext cx="852984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"Artificial" is an adjective. It comes from the Latin word "Artificium."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Some researchers trace it further back to "Artefact" — meaning something man-made, not natural.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5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Shape 0"/>
          <p:cNvSpPr/>
          <p:nvPr/>
        </p:nvSpPr>
        <p:spPr>
          <a:xfrm>
            <a:off x="8961120" y="-2011680"/>
            <a:ext cx="5484960" cy="548496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"/>
          <p:cNvSpPr/>
          <p:nvPr/>
        </p:nvSpPr>
        <p:spPr>
          <a:xfrm>
            <a:off x="548640" y="411480"/>
            <a:ext cx="10971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ARTIFICIAL · IN SIMPLE WORDS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2"/>
          <p:cNvSpPr/>
          <p:nvPr/>
        </p:nvSpPr>
        <p:spPr>
          <a:xfrm>
            <a:off x="5362920" y="1234440"/>
            <a:ext cx="1461600" cy="14616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5" name="Image 0" descr="icons/toolbox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2760" cy="102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6" name="Text 3"/>
          <p:cNvSpPr/>
          <p:nvPr/>
        </p:nvSpPr>
        <p:spPr>
          <a:xfrm>
            <a:off x="914400" y="2834640"/>
            <a:ext cx="103586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Artificial = Man-Made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4"/>
          <p:cNvSpPr/>
          <p:nvPr/>
        </p:nvSpPr>
        <p:spPr>
          <a:xfrm>
            <a:off x="1828800" y="3566160"/>
            <a:ext cx="852984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 natural lake is made by nature. An artificial lake is built by people.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In the same way, "Artificial Intelligence" means intelligence that is built by people — not born naturally.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5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hape 0"/>
          <p:cNvSpPr/>
          <p:nvPr/>
        </p:nvSpPr>
        <p:spPr>
          <a:xfrm>
            <a:off x="-1828800" y="4114800"/>
            <a:ext cx="5484960" cy="548496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1"/>
          <p:cNvSpPr/>
          <p:nvPr/>
        </p:nvSpPr>
        <p:spPr>
          <a:xfrm>
            <a:off x="9601200" y="-2286000"/>
            <a:ext cx="5484960" cy="548496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2"/>
          <p:cNvSpPr/>
          <p:nvPr/>
        </p:nvSpPr>
        <p:spPr>
          <a:xfrm>
            <a:off x="5591520" y="731520"/>
            <a:ext cx="1004400" cy="100440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3" name="Image 0" descr="icons/brain.png"/>
          <p:cNvPicPr/>
          <p:nvPr/>
        </p:nvPicPr>
        <p:blipFill>
          <a:blip r:embed="rId1"/>
          <a:stretch/>
        </p:blipFill>
        <p:spPr>
          <a:xfrm>
            <a:off x="5742360" y="882360"/>
            <a:ext cx="7027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4" name="Text 3"/>
          <p:cNvSpPr/>
          <p:nvPr/>
        </p:nvSpPr>
        <p:spPr>
          <a:xfrm>
            <a:off x="914400" y="2377440"/>
            <a:ext cx="10358640" cy="20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Artificial  +  Intelligence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"Man-made" ability to understand, reason, and learn.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4"/>
          <p:cNvSpPr/>
          <p:nvPr/>
        </p:nvSpPr>
        <p:spPr>
          <a:xfrm>
            <a:off x="1463040" y="4572000"/>
            <a:ext cx="926136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Now let's look at how experts formally define this field.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5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32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Shape 0"/>
          <p:cNvSpPr/>
          <p:nvPr/>
        </p:nvSpPr>
        <p:spPr>
          <a:xfrm>
            <a:off x="-1828800" y="4114800"/>
            <a:ext cx="5484960" cy="548496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1"/>
          <p:cNvSpPr/>
          <p:nvPr/>
        </p:nvSpPr>
        <p:spPr>
          <a:xfrm>
            <a:off x="9601200" y="-2286000"/>
            <a:ext cx="5484960" cy="548496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2"/>
          <p:cNvSpPr/>
          <p:nvPr/>
        </p:nvSpPr>
        <p:spPr>
          <a:xfrm>
            <a:off x="5591520" y="731520"/>
            <a:ext cx="1004400" cy="100440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0" name="Image 0" descr="icons/brain.png"/>
          <p:cNvPicPr/>
          <p:nvPr/>
        </p:nvPicPr>
        <p:blipFill>
          <a:blip r:embed="rId1"/>
          <a:stretch/>
        </p:blipFill>
        <p:spPr>
          <a:xfrm>
            <a:off x="5742360" y="882360"/>
            <a:ext cx="7027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1" name="Text 3"/>
          <p:cNvSpPr/>
          <p:nvPr/>
        </p:nvSpPr>
        <p:spPr>
          <a:xfrm>
            <a:off x="914400" y="1965960"/>
            <a:ext cx="103586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FORMAL DEFINITIONS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4"/>
          <p:cNvSpPr/>
          <p:nvPr/>
        </p:nvSpPr>
        <p:spPr>
          <a:xfrm>
            <a:off x="914400" y="2377440"/>
            <a:ext cx="10358640" cy="20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How Do Experts Define Artificial Intelligence?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5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33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Shape 0"/>
          <p:cNvSpPr/>
          <p:nvPr/>
        </p:nvSpPr>
        <p:spPr>
          <a:xfrm>
            <a:off x="8961120" y="-2011680"/>
            <a:ext cx="5484960" cy="548496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1"/>
          <p:cNvSpPr/>
          <p:nvPr/>
        </p:nvSpPr>
        <p:spPr>
          <a:xfrm>
            <a:off x="548640" y="411480"/>
            <a:ext cx="10971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AI DEFINITIONS · 1 OF 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2"/>
          <p:cNvSpPr/>
          <p:nvPr/>
        </p:nvSpPr>
        <p:spPr>
          <a:xfrm>
            <a:off x="5362920" y="1234440"/>
            <a:ext cx="1461600" cy="14616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7" name="Image 0" descr="icons/brain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2760" cy="102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8" name="Text 3"/>
          <p:cNvSpPr/>
          <p:nvPr/>
        </p:nvSpPr>
        <p:spPr>
          <a:xfrm>
            <a:off x="914400" y="2834640"/>
            <a:ext cx="103586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The General Definition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4"/>
          <p:cNvSpPr/>
          <p:nvPr/>
        </p:nvSpPr>
        <p:spPr>
          <a:xfrm>
            <a:off x="1828800" y="3566160"/>
            <a:ext cx="852984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AI is the ability of a system to understand, learn, gain knowledge, and use that knowledge in the right way.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5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Shape 0"/>
          <p:cNvSpPr/>
          <p:nvPr/>
        </p:nvSpPr>
        <p:spPr>
          <a:xfrm>
            <a:off x="8961120" y="-2011680"/>
            <a:ext cx="5484960" cy="548496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1"/>
          <p:cNvSpPr/>
          <p:nvPr/>
        </p:nvSpPr>
        <p:spPr>
          <a:xfrm>
            <a:off x="548640" y="411480"/>
            <a:ext cx="10971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AI DEFINITIONS · 2 OF 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2"/>
          <p:cNvSpPr/>
          <p:nvPr/>
        </p:nvSpPr>
        <p:spPr>
          <a:xfrm>
            <a:off x="5362920" y="1234440"/>
            <a:ext cx="1461600" cy="14616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5" name="Image 0" descr="icons/users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2760" cy="102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6" name="Text 3"/>
          <p:cNvSpPr/>
          <p:nvPr/>
        </p:nvSpPr>
        <p:spPr>
          <a:xfrm>
            <a:off x="914400" y="2834640"/>
            <a:ext cx="103586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Buchanan's Definition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4"/>
          <p:cNvSpPr/>
          <p:nvPr/>
        </p:nvSpPr>
        <p:spPr>
          <a:xfrm>
            <a:off x="1828800" y="3566160"/>
            <a:ext cx="852984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AI is the part of computer science that solves problems which humans, right now, can still do better than computers.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5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Shape 0"/>
          <p:cNvSpPr/>
          <p:nvPr/>
        </p:nvSpPr>
        <p:spPr>
          <a:xfrm>
            <a:off x="8961120" y="-2011680"/>
            <a:ext cx="5484960" cy="548496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1"/>
          <p:cNvSpPr/>
          <p:nvPr/>
        </p:nvSpPr>
        <p:spPr>
          <a:xfrm>
            <a:off x="548640" y="411480"/>
            <a:ext cx="10971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AI DEFINITIONS · 3 OF 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2"/>
          <p:cNvSpPr/>
          <p:nvPr/>
        </p:nvSpPr>
        <p:spPr>
          <a:xfrm>
            <a:off x="5362920" y="1234440"/>
            <a:ext cx="1461600" cy="14616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3" name="Image 0" descr="icons/hashtag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2760" cy="102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4" name="Text 3"/>
          <p:cNvSpPr/>
          <p:nvPr/>
        </p:nvSpPr>
        <p:spPr>
          <a:xfrm>
            <a:off x="914400" y="2834640"/>
            <a:ext cx="103586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Buchanan's Symbolic AI Definition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4"/>
          <p:cNvSpPr/>
          <p:nvPr/>
        </p:nvSpPr>
        <p:spPr>
          <a:xfrm>
            <a:off x="1828800" y="3566160"/>
            <a:ext cx="852984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AI can solve problems by turning information into symbols, then using simple rules of thumb (called heuristics) on those symbols.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5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"/>
          <p:cNvSpPr/>
          <p:nvPr/>
        </p:nvSpPr>
        <p:spPr>
          <a:xfrm>
            <a:off x="2260800" y="5401800"/>
            <a:ext cx="7705800" cy="54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Heuristics:  are mental shortcuts or "rules of thumb" that allow the brain to solve problems and make quick judgments with minimal effort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Shape 0"/>
          <p:cNvSpPr/>
          <p:nvPr/>
        </p:nvSpPr>
        <p:spPr>
          <a:xfrm>
            <a:off x="8961120" y="-2011680"/>
            <a:ext cx="5484960" cy="548496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1"/>
          <p:cNvSpPr/>
          <p:nvPr/>
        </p:nvSpPr>
        <p:spPr>
          <a:xfrm>
            <a:off x="548640" y="411480"/>
            <a:ext cx="10971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AI DEFINITIONS · 4 OF 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2"/>
          <p:cNvSpPr/>
          <p:nvPr/>
        </p:nvSpPr>
        <p:spPr>
          <a:xfrm>
            <a:off x="5362920" y="1234440"/>
            <a:ext cx="1461600" cy="14616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2" name="Image 0" descr="icons/lightbulb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2760" cy="102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3" name="Text 3"/>
          <p:cNvSpPr/>
          <p:nvPr/>
        </p:nvSpPr>
        <p:spPr>
          <a:xfrm>
            <a:off x="914400" y="2834640"/>
            <a:ext cx="103586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Making Computers Smart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4"/>
          <p:cNvSpPr/>
          <p:nvPr/>
        </p:nvSpPr>
        <p:spPr>
          <a:xfrm>
            <a:off x="1828800" y="3566160"/>
            <a:ext cx="852984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In simple words, AI is the area of computer science used to make computers "smart."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5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Shape 0"/>
          <p:cNvSpPr/>
          <p:nvPr/>
        </p:nvSpPr>
        <p:spPr>
          <a:xfrm>
            <a:off x="8961120" y="-2011680"/>
            <a:ext cx="5484960" cy="548496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1"/>
          <p:cNvSpPr/>
          <p:nvPr/>
        </p:nvSpPr>
        <p:spPr>
          <a:xfrm>
            <a:off x="548640" y="411480"/>
            <a:ext cx="10971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AI DEFINITIONS · 5 OF 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2"/>
          <p:cNvSpPr/>
          <p:nvPr/>
        </p:nvSpPr>
        <p:spPr>
          <a:xfrm>
            <a:off x="5362920" y="1234440"/>
            <a:ext cx="1461600" cy="14616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0" name="Image 0" descr="icons/cogs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2760" cy="102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1" name="Text 3"/>
          <p:cNvSpPr/>
          <p:nvPr/>
        </p:nvSpPr>
        <p:spPr>
          <a:xfrm>
            <a:off x="914400" y="2834640"/>
            <a:ext cx="103586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Automation of Intelligent Behavior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4"/>
          <p:cNvSpPr/>
          <p:nvPr/>
        </p:nvSpPr>
        <p:spPr>
          <a:xfrm>
            <a:off x="1828800" y="3566160"/>
            <a:ext cx="852984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AI is the branch of computer science that automates behavior we would normally call "intelligent."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5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Shape 0"/>
          <p:cNvSpPr/>
          <p:nvPr/>
        </p:nvSpPr>
        <p:spPr>
          <a:xfrm>
            <a:off x="8961120" y="-2011680"/>
            <a:ext cx="5484960" cy="548496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1"/>
          <p:cNvSpPr/>
          <p:nvPr/>
        </p:nvSpPr>
        <p:spPr>
          <a:xfrm>
            <a:off x="548640" y="411480"/>
            <a:ext cx="10971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AI DEFINITIONS · 6 OF 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2"/>
          <p:cNvSpPr/>
          <p:nvPr/>
        </p:nvSpPr>
        <p:spPr>
          <a:xfrm>
            <a:off x="5362920" y="1234440"/>
            <a:ext cx="1461600" cy="14616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8" name="Image 0" descr="icons/satellite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2760" cy="102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9" name="Text 3"/>
          <p:cNvSpPr/>
          <p:nvPr/>
        </p:nvSpPr>
        <p:spPr>
          <a:xfrm>
            <a:off x="914400" y="2834640"/>
            <a:ext cx="103586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Intelligent Agents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4"/>
          <p:cNvSpPr/>
          <p:nvPr/>
        </p:nvSpPr>
        <p:spPr>
          <a:xfrm>
            <a:off x="1828800" y="3566160"/>
            <a:ext cx="852984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AI designs "agents" — programs that can sense their surroundings and take action to reach a goal.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5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Shape 0"/>
          <p:cNvSpPr/>
          <p:nvPr/>
        </p:nvSpPr>
        <p:spPr>
          <a:xfrm>
            <a:off x="8961120" y="-2011680"/>
            <a:ext cx="5484960" cy="548496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1"/>
          <p:cNvSpPr/>
          <p:nvPr/>
        </p:nvSpPr>
        <p:spPr>
          <a:xfrm>
            <a:off x="548640" y="411480"/>
            <a:ext cx="10971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AI DEFINITIONS · 7 OF 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Shape 2"/>
          <p:cNvSpPr/>
          <p:nvPr/>
        </p:nvSpPr>
        <p:spPr>
          <a:xfrm>
            <a:off x="5362920" y="1234440"/>
            <a:ext cx="1461600" cy="14616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6" name="Image 0" descr="icons/chartline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2760" cy="102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7" name="Text 3"/>
          <p:cNvSpPr/>
          <p:nvPr/>
        </p:nvSpPr>
        <p:spPr>
          <a:xfrm>
            <a:off x="914400" y="2834640"/>
            <a:ext cx="103586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Learning From Experience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4"/>
          <p:cNvSpPr/>
          <p:nvPr/>
        </p:nvSpPr>
        <p:spPr>
          <a:xfrm>
            <a:off x="1828800" y="3566160"/>
            <a:ext cx="852984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AI solves hard problems by learning from experience, and getting better at it over time.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5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Shape 0"/>
          <p:cNvSpPr/>
          <p:nvPr/>
        </p:nvSpPr>
        <p:spPr>
          <a:xfrm>
            <a:off x="8961120" y="-2011680"/>
            <a:ext cx="5484960" cy="548496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1"/>
          <p:cNvSpPr/>
          <p:nvPr/>
        </p:nvSpPr>
        <p:spPr>
          <a:xfrm>
            <a:off x="548640" y="411480"/>
            <a:ext cx="10971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AI DEFINITIONS · 8 OF 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Shape 2"/>
          <p:cNvSpPr/>
          <p:nvPr/>
        </p:nvSpPr>
        <p:spPr>
          <a:xfrm>
            <a:off x="5362920" y="1234440"/>
            <a:ext cx="1461600" cy="146160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4" name="Image 0" descr="icons/mask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2760" cy="102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5" name="Text 3"/>
          <p:cNvSpPr/>
          <p:nvPr/>
        </p:nvSpPr>
        <p:spPr>
          <a:xfrm>
            <a:off x="914400" y="2834640"/>
            <a:ext cx="103586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Mimicking Human Behavior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4"/>
          <p:cNvSpPr/>
          <p:nvPr/>
        </p:nvSpPr>
        <p:spPr>
          <a:xfrm>
            <a:off x="1828800" y="3566160"/>
            <a:ext cx="852984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AI is a branch of computer science where machines are taught to mimic human intelligence and behavior.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5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Shape 0"/>
          <p:cNvSpPr/>
          <p:nvPr/>
        </p:nvSpPr>
        <p:spPr>
          <a:xfrm>
            <a:off x="-1828800" y="4114800"/>
            <a:ext cx="5484960" cy="548496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Shape 1"/>
          <p:cNvSpPr/>
          <p:nvPr/>
        </p:nvSpPr>
        <p:spPr>
          <a:xfrm>
            <a:off x="9601200" y="-2286000"/>
            <a:ext cx="5484960" cy="548496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2"/>
          <p:cNvSpPr/>
          <p:nvPr/>
        </p:nvSpPr>
        <p:spPr>
          <a:xfrm>
            <a:off x="5591520" y="731520"/>
            <a:ext cx="1004400" cy="100440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2" name="Image 0" descr="icons/landmark.png"/>
          <p:cNvPicPr/>
          <p:nvPr/>
        </p:nvPicPr>
        <p:blipFill>
          <a:blip r:embed="rId1"/>
          <a:stretch/>
        </p:blipFill>
        <p:spPr>
          <a:xfrm>
            <a:off x="5742360" y="882360"/>
            <a:ext cx="7027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3" name="Text 3"/>
          <p:cNvSpPr/>
          <p:nvPr/>
        </p:nvSpPr>
        <p:spPr>
          <a:xfrm>
            <a:off x="914400" y="1965960"/>
            <a:ext cx="103586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A SHORT STORY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4"/>
          <p:cNvSpPr/>
          <p:nvPr/>
        </p:nvSpPr>
        <p:spPr>
          <a:xfrm>
            <a:off x="914400" y="2377440"/>
            <a:ext cx="10358640" cy="20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 Short History of Artificial Intelligence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5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42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Shape 0"/>
          <p:cNvSpPr/>
          <p:nvPr/>
        </p:nvSpPr>
        <p:spPr>
          <a:xfrm>
            <a:off x="10515600" y="5669280"/>
            <a:ext cx="3198960" cy="3198960"/>
          </a:xfrm>
          <a:prstGeom prst="ellipse">
            <a:avLst/>
          </a:prstGeom>
          <a:solidFill>
            <a:srgbClr val="F3E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8" name="Image 0" descr="icons/cogs.png"/>
          <p:cNvPicPr/>
          <p:nvPr/>
        </p:nvPicPr>
        <p:blipFill>
          <a:blip r:embed="rId1"/>
          <a:stretch/>
        </p:blipFill>
        <p:spPr>
          <a:xfrm>
            <a:off x="553320" y="55332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9" name="Text 2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Al-Jazari (12th Century)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3"/>
          <p:cNvSpPr/>
          <p:nvPr/>
        </p:nvSpPr>
        <p:spPr>
          <a:xfrm>
            <a:off x="457200" y="1554480"/>
            <a:ext cx="3656160" cy="4662000"/>
          </a:xfrm>
          <a:prstGeom prst="roundRect">
            <a:avLst>
              <a:gd name="adj" fmla="val 2500"/>
            </a:avLst>
          </a:prstGeom>
          <a:solidFill>
            <a:srgbClr val="F3E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4"/>
          <p:cNvSpPr/>
          <p:nvPr/>
        </p:nvSpPr>
        <p:spPr>
          <a:xfrm>
            <a:off x="1508760" y="2194560"/>
            <a:ext cx="1553040" cy="1553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2" name="Image 1" descr="icons/cogs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6840" cy="10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3" name="Text 5"/>
          <p:cNvSpPr/>
          <p:nvPr/>
        </p:nvSpPr>
        <p:spPr>
          <a:xfrm>
            <a:off x="640080" y="3977640"/>
            <a:ext cx="329040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1200s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Early Machines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6"/>
          <p:cNvSpPr/>
          <p:nvPr/>
        </p:nvSpPr>
        <p:spPr>
          <a:xfrm>
            <a:off x="4320000" y="1737360"/>
            <a:ext cx="7130880" cy="41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One of the earliest inventors of programmable, mechanical machines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Built automatic devices, water clocks, and human-shaped robots (automata)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Wrote a famous book: "The Book of Knowledge of Ingenious Mechanical Devices"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His work laid the groundwork for robotics and automation, centuries early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7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8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Shape 0"/>
          <p:cNvSpPr/>
          <p:nvPr/>
        </p:nvSpPr>
        <p:spPr>
          <a:xfrm>
            <a:off x="10515600" y="5669280"/>
            <a:ext cx="3198960" cy="3198960"/>
          </a:xfrm>
          <a:prstGeom prst="ellipse">
            <a:avLst/>
          </a:prstGeom>
          <a:solidFill>
            <a:srgbClr val="F3E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9" name="Image 0" descr="icons/usersecret.png"/>
          <p:cNvPicPr/>
          <p:nvPr/>
        </p:nvPicPr>
        <p:blipFill>
          <a:blip r:embed="rId1"/>
          <a:stretch/>
        </p:blipFill>
        <p:spPr>
          <a:xfrm>
            <a:off x="553320" y="55332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0" name="Text 2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Alan Turing (1930s–1950s)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Shape 3"/>
          <p:cNvSpPr/>
          <p:nvPr/>
        </p:nvSpPr>
        <p:spPr>
          <a:xfrm>
            <a:off x="457200" y="1554480"/>
            <a:ext cx="3656160" cy="4662000"/>
          </a:xfrm>
          <a:prstGeom prst="roundRect">
            <a:avLst>
              <a:gd name="adj" fmla="val 2500"/>
            </a:avLst>
          </a:prstGeom>
          <a:solidFill>
            <a:srgbClr val="F3E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Shape 4"/>
          <p:cNvSpPr/>
          <p:nvPr/>
        </p:nvSpPr>
        <p:spPr>
          <a:xfrm>
            <a:off x="1508760" y="2194560"/>
            <a:ext cx="1553040" cy="1553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3" name="Image 1" descr="icons/usersecret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6840" cy="10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4" name="Text 5"/>
          <p:cNvSpPr/>
          <p:nvPr/>
        </p:nvSpPr>
        <p:spPr>
          <a:xfrm>
            <a:off x="640080" y="3977640"/>
            <a:ext cx="329040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1936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The Turing Machine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6"/>
          <p:cNvSpPr/>
          <p:nvPr/>
        </p:nvSpPr>
        <p:spPr>
          <a:xfrm>
            <a:off x="4392000" y="1341360"/>
            <a:ext cx="7130880" cy="41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British mathematician who first asked: "Can machines think?"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Introduced the Turing Machine — the theory behind all modern computers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 1950, wrote the paper "Computing Machinery and Intelligence"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Created the famous Turing Test to check if a machine can act intelligently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Turing machine is a simple mathematical model of a computer. Invented by Alan Turing, it explains how any computer problem is solved.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7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8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Shape 0"/>
          <p:cNvSpPr/>
          <p:nvPr/>
        </p:nvSpPr>
        <p:spPr>
          <a:xfrm>
            <a:off x="10515600" y="5669280"/>
            <a:ext cx="3198960" cy="3198960"/>
          </a:xfrm>
          <a:prstGeom prst="ellipse">
            <a:avLst/>
          </a:prstGeom>
          <a:solidFill>
            <a:srgbClr val="F3E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0" name="Image 0" descr="icons/landmark.png"/>
          <p:cNvPicPr/>
          <p:nvPr/>
        </p:nvPicPr>
        <p:blipFill>
          <a:blip r:embed="rId1"/>
          <a:stretch/>
        </p:blipFill>
        <p:spPr>
          <a:xfrm>
            <a:off x="553320" y="55332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1" name="Text 2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The Dartmouth Conference (1956)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Shape 3"/>
          <p:cNvSpPr/>
          <p:nvPr/>
        </p:nvSpPr>
        <p:spPr>
          <a:xfrm>
            <a:off x="457200" y="1554480"/>
            <a:ext cx="3656160" cy="4662000"/>
          </a:xfrm>
          <a:prstGeom prst="roundRect">
            <a:avLst>
              <a:gd name="adj" fmla="val 2500"/>
            </a:avLst>
          </a:prstGeom>
          <a:solidFill>
            <a:srgbClr val="F3E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Shape 4"/>
          <p:cNvSpPr/>
          <p:nvPr/>
        </p:nvSpPr>
        <p:spPr>
          <a:xfrm>
            <a:off x="1508760" y="2194560"/>
            <a:ext cx="1553040" cy="1553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4" name="Image 1" descr="icons/landmark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6840" cy="10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5" name="Text 5"/>
          <p:cNvSpPr/>
          <p:nvPr/>
        </p:nvSpPr>
        <p:spPr>
          <a:xfrm>
            <a:off x="640080" y="3977640"/>
            <a:ext cx="329040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1956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AI Is Born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6"/>
          <p:cNvSpPr/>
          <p:nvPr/>
        </p:nvSpPr>
        <p:spPr>
          <a:xfrm>
            <a:off x="4572000" y="1737360"/>
            <a:ext cx="7130880" cy="41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summer research meeting that officially created AI as its own field of study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Organized by John McCarthy, Marvin Minsky, Claude Shannon, and Nathaniel Rochester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John McCarthy coined the actual term "Artificial Intelligence" here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event marks the true "birthday" of AI as a science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7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8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Shape 0"/>
          <p:cNvSpPr/>
          <p:nvPr/>
        </p:nvSpPr>
        <p:spPr>
          <a:xfrm>
            <a:off x="10515600" y="5669280"/>
            <a:ext cx="3198960" cy="3198960"/>
          </a:xfrm>
          <a:prstGeom prst="ellipse">
            <a:avLst/>
          </a:prstGeom>
          <a:solidFill>
            <a:srgbClr val="F3E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1" name="Image 0" descr="icons/snowflake.png"/>
          <p:cNvPicPr/>
          <p:nvPr/>
        </p:nvPicPr>
        <p:blipFill>
          <a:blip r:embed="rId1"/>
          <a:stretch/>
        </p:blipFill>
        <p:spPr>
          <a:xfrm>
            <a:off x="553320" y="55332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2" name="Text 2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The First AI Winter (1970s)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3"/>
          <p:cNvSpPr/>
          <p:nvPr/>
        </p:nvSpPr>
        <p:spPr>
          <a:xfrm>
            <a:off x="457200" y="1554480"/>
            <a:ext cx="3656160" cy="4662000"/>
          </a:xfrm>
          <a:prstGeom prst="roundRect">
            <a:avLst>
              <a:gd name="adj" fmla="val 2500"/>
            </a:avLst>
          </a:prstGeom>
          <a:solidFill>
            <a:srgbClr val="F3E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Shape 4"/>
          <p:cNvSpPr/>
          <p:nvPr/>
        </p:nvSpPr>
        <p:spPr>
          <a:xfrm>
            <a:off x="1508760" y="2194560"/>
            <a:ext cx="1553040" cy="1553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5" name="Image 1" descr="icons/snowflake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6840" cy="10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Text 5"/>
          <p:cNvSpPr/>
          <p:nvPr/>
        </p:nvSpPr>
        <p:spPr>
          <a:xfrm>
            <a:off x="640080" y="3977640"/>
            <a:ext cx="329040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1970s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Progress Slows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6"/>
          <p:cNvSpPr/>
          <p:nvPr/>
        </p:nvSpPr>
        <p:spPr>
          <a:xfrm>
            <a:off x="4572000" y="1737360"/>
            <a:ext cx="7130880" cy="41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Interest and funding in AI research dropped sharply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Computers were still too weak — not enough power or memory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Many earlier promises about AI turned out to be too optimistic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Researchers focused more on theory than on working, practical systems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7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8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Shape 0"/>
          <p:cNvSpPr/>
          <p:nvPr/>
        </p:nvSpPr>
        <p:spPr>
          <a:xfrm>
            <a:off x="10515600" y="5669280"/>
            <a:ext cx="3198960" cy="3198960"/>
          </a:xfrm>
          <a:prstGeom prst="ellipse">
            <a:avLst/>
          </a:prstGeom>
          <a:solidFill>
            <a:srgbClr val="F3E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Shape 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32" name="Image 0" descr="icons/chartline.png"/>
          <p:cNvPicPr/>
          <p:nvPr/>
        </p:nvPicPr>
        <p:blipFill>
          <a:blip r:embed="rId1"/>
          <a:stretch/>
        </p:blipFill>
        <p:spPr>
          <a:xfrm>
            <a:off x="553320" y="55332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3" name="Text 2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AI Revival (1980s–1990s)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Shape 3"/>
          <p:cNvSpPr/>
          <p:nvPr/>
        </p:nvSpPr>
        <p:spPr>
          <a:xfrm>
            <a:off x="457200" y="1554480"/>
            <a:ext cx="3656160" cy="4662000"/>
          </a:xfrm>
          <a:prstGeom prst="roundRect">
            <a:avLst>
              <a:gd name="adj" fmla="val 2500"/>
            </a:avLst>
          </a:prstGeom>
          <a:solidFill>
            <a:srgbClr val="F3E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Shape 4"/>
          <p:cNvSpPr/>
          <p:nvPr/>
        </p:nvSpPr>
        <p:spPr>
          <a:xfrm>
            <a:off x="1508760" y="2194560"/>
            <a:ext cx="1553040" cy="1553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36" name="Image 1" descr="icons/chartline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6840" cy="10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7" name="Text 5"/>
          <p:cNvSpPr/>
          <p:nvPr/>
        </p:nvSpPr>
        <p:spPr>
          <a:xfrm>
            <a:off x="640080" y="3977640"/>
            <a:ext cx="329040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1980s–90s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AI Returns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6"/>
          <p:cNvSpPr/>
          <p:nvPr/>
        </p:nvSpPr>
        <p:spPr>
          <a:xfrm>
            <a:off x="4343400" y="2057400"/>
            <a:ext cx="7130880" cy="41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Expert Systems became popular and genuinely useful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Computers became faster and more powerful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lot more digital data became available to learn from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Machine Learning made real, practical progress during this time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7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 8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Shape 0"/>
          <p:cNvSpPr/>
          <p:nvPr/>
        </p:nvSpPr>
        <p:spPr>
          <a:xfrm>
            <a:off x="-1828800" y="4114800"/>
            <a:ext cx="5484960" cy="548496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Shape 1"/>
          <p:cNvSpPr/>
          <p:nvPr/>
        </p:nvSpPr>
        <p:spPr>
          <a:xfrm>
            <a:off x="9601200" y="-2286000"/>
            <a:ext cx="5484960" cy="548496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Shape 2"/>
          <p:cNvSpPr/>
          <p:nvPr/>
        </p:nvSpPr>
        <p:spPr>
          <a:xfrm>
            <a:off x="5591520" y="731520"/>
            <a:ext cx="1004400" cy="100440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44" name="Image 0" descr="icons/sitemap.png"/>
          <p:cNvPicPr/>
          <p:nvPr/>
        </p:nvPicPr>
        <p:blipFill>
          <a:blip r:embed="rId1"/>
          <a:stretch/>
        </p:blipFill>
        <p:spPr>
          <a:xfrm>
            <a:off x="5742360" y="882360"/>
            <a:ext cx="7027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5" name="Text 3"/>
          <p:cNvSpPr/>
          <p:nvPr/>
        </p:nvSpPr>
        <p:spPr>
          <a:xfrm>
            <a:off x="914400" y="1965960"/>
            <a:ext cx="103586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THE BUILDING BLOCKS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 4"/>
          <p:cNvSpPr/>
          <p:nvPr/>
        </p:nvSpPr>
        <p:spPr>
          <a:xfrm>
            <a:off x="914400" y="2377440"/>
            <a:ext cx="10358640" cy="20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The Main Areas of Artificial Intelligence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5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48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Shape 0"/>
          <p:cNvSpPr/>
          <p:nvPr/>
        </p:nvSpPr>
        <p:spPr>
          <a:xfrm>
            <a:off x="10515600" y="5669280"/>
            <a:ext cx="3198960" cy="319896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Shape 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0" name="Image 0" descr="icons/sitemap.png"/>
          <p:cNvPicPr/>
          <p:nvPr/>
        </p:nvPicPr>
        <p:blipFill>
          <a:blip r:embed="rId1"/>
          <a:stretch/>
        </p:blipFill>
        <p:spPr>
          <a:xfrm>
            <a:off x="553320" y="55332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1" name="Text 2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Expert Systems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Shape 3"/>
          <p:cNvSpPr/>
          <p:nvPr/>
        </p:nvSpPr>
        <p:spPr>
          <a:xfrm>
            <a:off x="457200" y="1554480"/>
            <a:ext cx="3656160" cy="466200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Shape 4"/>
          <p:cNvSpPr/>
          <p:nvPr/>
        </p:nvSpPr>
        <p:spPr>
          <a:xfrm>
            <a:off x="1508760" y="2194560"/>
            <a:ext cx="1553040" cy="1553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4" name="Image 1" descr="icons/sitemap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6840" cy="10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5" name="Text 5"/>
          <p:cNvSpPr/>
          <p:nvPr/>
        </p:nvSpPr>
        <p:spPr>
          <a:xfrm>
            <a:off x="640080" y="3977640"/>
            <a:ext cx="329040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Rules from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human experts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 6"/>
          <p:cNvSpPr/>
          <p:nvPr/>
        </p:nvSpPr>
        <p:spPr>
          <a:xfrm>
            <a:off x="4572000" y="1737360"/>
            <a:ext cx="7130880" cy="21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Expert Systems are programs built to copy the decision-making of a real human expert, using stored knowledge and rules.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Shape 7"/>
          <p:cNvSpPr/>
          <p:nvPr/>
        </p:nvSpPr>
        <p:spPr>
          <a:xfrm>
            <a:off x="4572000" y="4023360"/>
            <a:ext cx="7130880" cy="1735920"/>
          </a:xfrm>
          <a:prstGeom prst="roundRect">
            <a:avLst>
              <a:gd name="adj" fmla="val 421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8"/>
          <p:cNvSpPr/>
          <p:nvPr/>
        </p:nvSpPr>
        <p:spPr>
          <a:xfrm>
            <a:off x="4800600" y="4206240"/>
            <a:ext cx="667368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Used for:  </a:t>
            </a:r>
            <a:r>
              <a:rPr lang="en-US" sz="14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medical diagnosis, financial advice, technical troubleshooting, decision support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9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 10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Shape 0"/>
          <p:cNvSpPr/>
          <p:nvPr/>
        </p:nvSpPr>
        <p:spPr>
          <a:xfrm>
            <a:off x="10515600" y="5669280"/>
            <a:ext cx="3198960" cy="319896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Shape 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3" name="Image 0" descr="icons/layergroup.png"/>
          <p:cNvPicPr/>
          <p:nvPr/>
        </p:nvPicPr>
        <p:blipFill>
          <a:blip r:embed="rId1"/>
          <a:stretch/>
        </p:blipFill>
        <p:spPr>
          <a:xfrm>
            <a:off x="553320" y="55332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4" name="Text 2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Machine Learning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Shape 3"/>
          <p:cNvSpPr/>
          <p:nvPr/>
        </p:nvSpPr>
        <p:spPr>
          <a:xfrm>
            <a:off x="457200" y="1554480"/>
            <a:ext cx="3656160" cy="466200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Shape 4"/>
          <p:cNvSpPr/>
          <p:nvPr/>
        </p:nvSpPr>
        <p:spPr>
          <a:xfrm>
            <a:off x="1508760" y="2194560"/>
            <a:ext cx="1553040" cy="1553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7" name="Image 1" descr="icons/layergroup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6840" cy="10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8" name="Text 5"/>
          <p:cNvSpPr/>
          <p:nvPr/>
        </p:nvSpPr>
        <p:spPr>
          <a:xfrm>
            <a:off x="640080" y="3977640"/>
            <a:ext cx="329040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Learning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from data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 6"/>
          <p:cNvSpPr/>
          <p:nvPr/>
        </p:nvSpPr>
        <p:spPr>
          <a:xfrm>
            <a:off x="4572000" y="1737360"/>
            <a:ext cx="7130880" cy="21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Machine Learning lets a computer find patterns in data by itself — instead of a human writing every single rule by hand.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Shape 7"/>
          <p:cNvSpPr/>
          <p:nvPr/>
        </p:nvSpPr>
        <p:spPr>
          <a:xfrm>
            <a:off x="4572000" y="4023360"/>
            <a:ext cx="7130880" cy="1735920"/>
          </a:xfrm>
          <a:prstGeom prst="roundRect">
            <a:avLst>
              <a:gd name="adj" fmla="val 421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 8"/>
          <p:cNvSpPr/>
          <p:nvPr/>
        </p:nvSpPr>
        <p:spPr>
          <a:xfrm>
            <a:off x="4800600" y="4206240"/>
            <a:ext cx="667368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Used for:  </a:t>
            </a:r>
            <a:r>
              <a:rPr lang="en-US" sz="14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predictions, recommendation systems, fraud detection, speech recognition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 9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 10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Shape 25"/>
          <p:cNvSpPr/>
          <p:nvPr/>
        </p:nvSpPr>
        <p:spPr>
          <a:xfrm>
            <a:off x="10515600" y="5669280"/>
            <a:ext cx="3198960" cy="319896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Shape 26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6" name="Image 9" descr="icons/layergroup.png"/>
          <p:cNvPicPr/>
          <p:nvPr/>
        </p:nvPicPr>
        <p:blipFill>
          <a:blip r:embed="rId1"/>
          <a:stretch/>
        </p:blipFill>
        <p:spPr>
          <a:xfrm>
            <a:off x="553320" y="55332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7" name="Text 28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Machine Learning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Shape 27"/>
          <p:cNvSpPr/>
          <p:nvPr/>
        </p:nvSpPr>
        <p:spPr>
          <a:xfrm>
            <a:off x="457200" y="1554480"/>
            <a:ext cx="3656160" cy="466200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Shape 28"/>
          <p:cNvSpPr/>
          <p:nvPr/>
        </p:nvSpPr>
        <p:spPr>
          <a:xfrm>
            <a:off x="1508760" y="2194560"/>
            <a:ext cx="1553040" cy="1553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0" name="Image 10" descr="icons/layergroup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6840" cy="10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1" name="Text 29"/>
          <p:cNvSpPr/>
          <p:nvPr/>
        </p:nvSpPr>
        <p:spPr>
          <a:xfrm>
            <a:off x="640080" y="3977640"/>
            <a:ext cx="329040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Learning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from data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Text 30"/>
          <p:cNvSpPr/>
          <p:nvPr/>
        </p:nvSpPr>
        <p:spPr>
          <a:xfrm>
            <a:off x="4572000" y="1737360"/>
            <a:ext cx="7130880" cy="21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Machine Learning lets a computer find patterns in data by itself — instead of a human writing every single rule by hand.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Shape 29"/>
          <p:cNvSpPr/>
          <p:nvPr/>
        </p:nvSpPr>
        <p:spPr>
          <a:xfrm>
            <a:off x="4572000" y="4023360"/>
            <a:ext cx="7130880" cy="1735920"/>
          </a:xfrm>
          <a:prstGeom prst="roundRect">
            <a:avLst>
              <a:gd name="adj" fmla="val 421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 31"/>
          <p:cNvSpPr/>
          <p:nvPr/>
        </p:nvSpPr>
        <p:spPr>
          <a:xfrm>
            <a:off x="4800600" y="4206240"/>
            <a:ext cx="667368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Used for:  </a:t>
            </a:r>
            <a:r>
              <a:rPr lang="en-US" sz="14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predictions, recommendation systems, fraud detection, speech recognition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 32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 33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Shape 0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8" name="Image 0" descr="icons/layergroup.png"/>
          <p:cNvPicPr/>
          <p:nvPr/>
        </p:nvPicPr>
        <p:blipFill>
          <a:blip r:embed="rId1"/>
          <a:stretch/>
        </p:blipFill>
        <p:spPr>
          <a:xfrm>
            <a:off x="553320" y="55332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9" name="Text 1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Machine Learning — 4 Types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Shape 2"/>
          <p:cNvSpPr/>
          <p:nvPr/>
        </p:nvSpPr>
        <p:spPr>
          <a:xfrm>
            <a:off x="457200" y="1508760"/>
            <a:ext cx="5521680" cy="233028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Shape 3"/>
          <p:cNvSpPr/>
          <p:nvPr/>
        </p:nvSpPr>
        <p:spPr>
          <a:xfrm>
            <a:off x="2935080" y="1788480"/>
            <a:ext cx="565560" cy="5655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92" name="Image 1" descr="icons/book.png"/>
          <p:cNvPicPr/>
          <p:nvPr/>
        </p:nvPicPr>
        <p:blipFill>
          <a:blip r:embed="rId2"/>
          <a:stretch/>
        </p:blipFill>
        <p:spPr>
          <a:xfrm>
            <a:off x="3020400" y="1873440"/>
            <a:ext cx="39528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3" name="Text 4"/>
          <p:cNvSpPr/>
          <p:nvPr/>
        </p:nvSpPr>
        <p:spPr>
          <a:xfrm>
            <a:off x="567000" y="2428560"/>
            <a:ext cx="53020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Supervised Learning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Text 5"/>
          <p:cNvSpPr/>
          <p:nvPr/>
        </p:nvSpPr>
        <p:spPr>
          <a:xfrm>
            <a:off x="621720" y="2812680"/>
            <a:ext cx="5192280" cy="98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Learns from labeled examples — each has a known correct answer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Shape 6"/>
          <p:cNvSpPr/>
          <p:nvPr/>
        </p:nvSpPr>
        <p:spPr>
          <a:xfrm>
            <a:off x="6208920" y="1508760"/>
            <a:ext cx="5521680" cy="233028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Shape 7"/>
          <p:cNvSpPr/>
          <p:nvPr/>
        </p:nvSpPr>
        <p:spPr>
          <a:xfrm>
            <a:off x="8686800" y="1788480"/>
            <a:ext cx="565560" cy="5655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97" name="Image 2" descr="icons/puzzle.png"/>
          <p:cNvPicPr/>
          <p:nvPr/>
        </p:nvPicPr>
        <p:blipFill>
          <a:blip r:embed="rId3"/>
          <a:stretch/>
        </p:blipFill>
        <p:spPr>
          <a:xfrm>
            <a:off x="8771760" y="1873440"/>
            <a:ext cx="39528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8" name="Text 8"/>
          <p:cNvSpPr/>
          <p:nvPr/>
        </p:nvSpPr>
        <p:spPr>
          <a:xfrm>
            <a:off x="6318360" y="2428560"/>
            <a:ext cx="53020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Unsupervised Learning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 9"/>
          <p:cNvSpPr/>
          <p:nvPr/>
        </p:nvSpPr>
        <p:spPr>
          <a:xfrm>
            <a:off x="6373440" y="2812680"/>
            <a:ext cx="5192280" cy="98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Finds hidden patterns in data with no labels at all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Shape 10"/>
          <p:cNvSpPr/>
          <p:nvPr/>
        </p:nvSpPr>
        <p:spPr>
          <a:xfrm>
            <a:off x="457200" y="4069080"/>
            <a:ext cx="5521680" cy="233028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Shape 11"/>
          <p:cNvSpPr/>
          <p:nvPr/>
        </p:nvSpPr>
        <p:spPr>
          <a:xfrm>
            <a:off x="2935080" y="4348800"/>
            <a:ext cx="565560" cy="5655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02" name="Image 3" descr="icons/layergroup.png"/>
          <p:cNvPicPr/>
          <p:nvPr/>
        </p:nvPicPr>
        <p:blipFill>
          <a:blip r:embed="rId4"/>
          <a:stretch/>
        </p:blipFill>
        <p:spPr>
          <a:xfrm>
            <a:off x="3020400" y="4433760"/>
            <a:ext cx="39528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3" name="Text 12"/>
          <p:cNvSpPr/>
          <p:nvPr/>
        </p:nvSpPr>
        <p:spPr>
          <a:xfrm>
            <a:off x="567000" y="4988880"/>
            <a:ext cx="53020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Semi-Supervised Learning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Text 13"/>
          <p:cNvSpPr/>
          <p:nvPr/>
        </p:nvSpPr>
        <p:spPr>
          <a:xfrm>
            <a:off x="621720" y="5373000"/>
            <a:ext cx="5192280" cy="98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Learns from a mix of labeled and unlabeled data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Shape 14"/>
          <p:cNvSpPr/>
          <p:nvPr/>
        </p:nvSpPr>
        <p:spPr>
          <a:xfrm>
            <a:off x="6208920" y="4069080"/>
            <a:ext cx="5521680" cy="233028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Shape 15"/>
          <p:cNvSpPr/>
          <p:nvPr/>
        </p:nvSpPr>
        <p:spPr>
          <a:xfrm>
            <a:off x="8686800" y="4348800"/>
            <a:ext cx="565560" cy="5655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07" name="Image 4" descr="icons/bullseye.png"/>
          <p:cNvPicPr/>
          <p:nvPr/>
        </p:nvPicPr>
        <p:blipFill>
          <a:blip r:embed="rId5"/>
          <a:stretch/>
        </p:blipFill>
        <p:spPr>
          <a:xfrm>
            <a:off x="8771760" y="4433760"/>
            <a:ext cx="39528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8" name="Text 16"/>
          <p:cNvSpPr/>
          <p:nvPr/>
        </p:nvSpPr>
        <p:spPr>
          <a:xfrm>
            <a:off x="6318360" y="4988880"/>
            <a:ext cx="53020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Reinforcement Learning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17"/>
          <p:cNvSpPr/>
          <p:nvPr/>
        </p:nvSpPr>
        <p:spPr>
          <a:xfrm>
            <a:off x="6373440" y="5373000"/>
            <a:ext cx="5192280" cy="98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Learns by trial and error, earning rewards for good choices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 18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 19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Shape 35"/>
          <p:cNvSpPr/>
          <p:nvPr/>
        </p:nvSpPr>
        <p:spPr>
          <a:xfrm>
            <a:off x="10515600" y="5669280"/>
            <a:ext cx="3198960" cy="319896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Shape 3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4" name="Text 35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1A1A"/>
                </a:solidFill>
                <a:effectLst/>
                <a:uFillTx/>
                <a:latin typeface="Georgia"/>
                <a:ea typeface="Georgia"/>
              </a:rPr>
              <a:t>Artificial Neural Networks (ANN)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Shape 32"/>
          <p:cNvSpPr/>
          <p:nvPr/>
        </p:nvSpPr>
        <p:spPr>
          <a:xfrm>
            <a:off x="457200" y="1554480"/>
            <a:ext cx="3656160" cy="466200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Shape 33"/>
          <p:cNvSpPr/>
          <p:nvPr/>
        </p:nvSpPr>
        <p:spPr>
          <a:xfrm>
            <a:off x="1508760" y="2194560"/>
            <a:ext cx="1553040" cy="1553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 36"/>
          <p:cNvSpPr/>
          <p:nvPr/>
        </p:nvSpPr>
        <p:spPr>
          <a:xfrm>
            <a:off x="640080" y="3977640"/>
            <a:ext cx="329040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A1A1A"/>
                </a:solidFill>
                <a:effectLst/>
                <a:uFillTx/>
                <a:latin typeface="Georgia"/>
                <a:ea typeface="Georgia"/>
              </a:rPr>
              <a:t>Inspired by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A1A1A"/>
                </a:solidFill>
                <a:effectLst/>
                <a:uFillTx/>
                <a:latin typeface="Georgia"/>
                <a:ea typeface="Georgia"/>
              </a:rPr>
              <a:t>the brain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Text 37"/>
          <p:cNvSpPr/>
          <p:nvPr/>
        </p:nvSpPr>
        <p:spPr>
          <a:xfrm>
            <a:off x="4572000" y="1737360"/>
            <a:ext cx="7130880" cy="21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An Artificial Neural Network is a computing system made of connected "neurons" (nodes), loosely inspired by the human brain.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Each connection has a weight. During training, the network adjusts these weights so its outputs get closer and closer to the correct answer.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Shape 34"/>
          <p:cNvSpPr/>
          <p:nvPr/>
        </p:nvSpPr>
        <p:spPr>
          <a:xfrm>
            <a:off x="4572000" y="4023360"/>
            <a:ext cx="7130880" cy="1735920"/>
          </a:xfrm>
          <a:prstGeom prst="roundRect">
            <a:avLst>
              <a:gd name="adj" fmla="val 421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Text 38"/>
          <p:cNvSpPr/>
          <p:nvPr/>
        </p:nvSpPr>
        <p:spPr>
          <a:xfrm>
            <a:off x="4800600" y="4206240"/>
            <a:ext cx="667368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F6E5F"/>
                </a:solidFill>
                <a:effectLst/>
                <a:uFillTx/>
                <a:latin typeface="Arial"/>
                <a:ea typeface="Arial"/>
              </a:rPr>
              <a:t>Used for:  </a:t>
            </a:r>
            <a:r>
              <a:rPr lang="en-US" sz="140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image recognition, speech translation, self-driving cars, chatbots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Text 39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 40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3" name="Image 12" descr="icon.png"/>
          <p:cNvPicPr/>
          <p:nvPr/>
        </p:nvPicPr>
        <p:blipFill>
          <a:blip r:embed="rId1"/>
          <a:stretch/>
        </p:blipFill>
        <p:spPr>
          <a:xfrm>
            <a:off x="1792800" y="2514600"/>
            <a:ext cx="977400" cy="977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4" name="Image 13" descr="icon.png"/>
          <p:cNvPicPr/>
          <p:nvPr/>
        </p:nvPicPr>
        <p:blipFill>
          <a:blip r:embed="rId2"/>
          <a:stretch/>
        </p:blipFill>
        <p:spPr>
          <a:xfrm>
            <a:off x="525600" y="553680"/>
            <a:ext cx="474480" cy="474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Shape 0"/>
          <p:cNvSpPr/>
          <p:nvPr/>
        </p:nvSpPr>
        <p:spPr>
          <a:xfrm>
            <a:off x="10515600" y="5669280"/>
            <a:ext cx="3198960" cy="319896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Shape 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27" name="Image 0" descr="icons/dna.png"/>
          <p:cNvPicPr/>
          <p:nvPr/>
        </p:nvPicPr>
        <p:blipFill>
          <a:blip r:embed="rId1"/>
          <a:stretch/>
        </p:blipFill>
        <p:spPr>
          <a:xfrm>
            <a:off x="553320" y="55332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8" name="Text 2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Evolutionary Algorithms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Shape 3"/>
          <p:cNvSpPr/>
          <p:nvPr/>
        </p:nvSpPr>
        <p:spPr>
          <a:xfrm>
            <a:off x="457200" y="1554480"/>
            <a:ext cx="3656160" cy="466200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Shape 4"/>
          <p:cNvSpPr/>
          <p:nvPr/>
        </p:nvSpPr>
        <p:spPr>
          <a:xfrm>
            <a:off x="1508760" y="2194560"/>
            <a:ext cx="1553040" cy="1553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31" name="Image 1" descr="icons/dna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6840" cy="10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2" name="Text 5"/>
          <p:cNvSpPr/>
          <p:nvPr/>
        </p:nvSpPr>
        <p:spPr>
          <a:xfrm>
            <a:off x="640080" y="3977640"/>
            <a:ext cx="329040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Inspired by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evolution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Text 6"/>
          <p:cNvSpPr/>
          <p:nvPr/>
        </p:nvSpPr>
        <p:spPr>
          <a:xfrm>
            <a:off x="4572000" y="1737360"/>
            <a:ext cx="7130880" cy="21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These methods borrow ideas from natural evolution — testing many possible solutions, and keeping the best ones over many rounds.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Shape 7"/>
          <p:cNvSpPr/>
          <p:nvPr/>
        </p:nvSpPr>
        <p:spPr>
          <a:xfrm>
            <a:off x="4572000" y="4023360"/>
            <a:ext cx="7130880" cy="1735920"/>
          </a:xfrm>
          <a:prstGeom prst="roundRect">
            <a:avLst>
              <a:gd name="adj" fmla="val 421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Text 8"/>
          <p:cNvSpPr/>
          <p:nvPr/>
        </p:nvSpPr>
        <p:spPr>
          <a:xfrm>
            <a:off x="4800600" y="4206240"/>
            <a:ext cx="667368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Used for:  </a:t>
            </a:r>
            <a:r>
              <a:rPr lang="en-US" sz="14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optimization problems, scheduling, engineering design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Text 9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Text 10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Shape 0"/>
          <p:cNvSpPr/>
          <p:nvPr/>
        </p:nvSpPr>
        <p:spPr>
          <a:xfrm>
            <a:off x="10515600" y="5669280"/>
            <a:ext cx="3198960" cy="319896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Shape 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40" name="Image 0" descr="icons/eye.png"/>
          <p:cNvPicPr/>
          <p:nvPr/>
        </p:nvPicPr>
        <p:blipFill>
          <a:blip r:embed="rId1"/>
          <a:stretch/>
        </p:blipFill>
        <p:spPr>
          <a:xfrm>
            <a:off x="553320" y="55332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1" name="Text 2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Computer Vision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Shape 3"/>
          <p:cNvSpPr/>
          <p:nvPr/>
        </p:nvSpPr>
        <p:spPr>
          <a:xfrm>
            <a:off x="457200" y="1554480"/>
            <a:ext cx="3656160" cy="466200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Shape 4"/>
          <p:cNvSpPr/>
          <p:nvPr/>
        </p:nvSpPr>
        <p:spPr>
          <a:xfrm>
            <a:off x="1508760" y="2194560"/>
            <a:ext cx="1553040" cy="1553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44" name="Image 1" descr="icons/eye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6840" cy="10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5" name="Text 5"/>
          <p:cNvSpPr/>
          <p:nvPr/>
        </p:nvSpPr>
        <p:spPr>
          <a:xfrm>
            <a:off x="640080" y="3977640"/>
            <a:ext cx="329040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Machines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that "see"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Text 6"/>
          <p:cNvSpPr/>
          <p:nvPr/>
        </p:nvSpPr>
        <p:spPr>
          <a:xfrm>
            <a:off x="4572000" y="1737360"/>
            <a:ext cx="7130880" cy="21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Computer Vision lets a computer understand and interpret images and videos, much like a human eye and brain would.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Shape 7"/>
          <p:cNvSpPr/>
          <p:nvPr/>
        </p:nvSpPr>
        <p:spPr>
          <a:xfrm>
            <a:off x="4572000" y="4023360"/>
            <a:ext cx="7130880" cy="1735920"/>
          </a:xfrm>
          <a:prstGeom prst="roundRect">
            <a:avLst>
              <a:gd name="adj" fmla="val 421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Text 8"/>
          <p:cNvSpPr/>
          <p:nvPr/>
        </p:nvSpPr>
        <p:spPr>
          <a:xfrm>
            <a:off x="4800600" y="4206240"/>
            <a:ext cx="667368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Used for:  </a:t>
            </a:r>
            <a:r>
              <a:rPr lang="en-US" sz="14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facial recognition, medical imaging, self-driving cars, security cameras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Text 9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Text 10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Shape 0"/>
          <p:cNvSpPr/>
          <p:nvPr/>
        </p:nvSpPr>
        <p:spPr>
          <a:xfrm>
            <a:off x="10515600" y="5669280"/>
            <a:ext cx="3198960" cy="319896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Shape 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53" name="Image 0" descr="icons/robot.png"/>
          <p:cNvPicPr/>
          <p:nvPr/>
        </p:nvPicPr>
        <p:blipFill>
          <a:blip r:embed="rId1"/>
          <a:stretch/>
        </p:blipFill>
        <p:spPr>
          <a:xfrm>
            <a:off x="553320" y="55332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4" name="Text 2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Robotics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Shape 3"/>
          <p:cNvSpPr/>
          <p:nvPr/>
        </p:nvSpPr>
        <p:spPr>
          <a:xfrm>
            <a:off x="457200" y="1554480"/>
            <a:ext cx="3656160" cy="466200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Shape 4"/>
          <p:cNvSpPr/>
          <p:nvPr/>
        </p:nvSpPr>
        <p:spPr>
          <a:xfrm>
            <a:off x="1508760" y="2194560"/>
            <a:ext cx="1553040" cy="1553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57" name="Image 1" descr="icons/robot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6840" cy="10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8" name="Text 5"/>
          <p:cNvSpPr/>
          <p:nvPr/>
        </p:nvSpPr>
        <p:spPr>
          <a:xfrm>
            <a:off x="640080" y="3977640"/>
            <a:ext cx="329040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AI with 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physical body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Text 6"/>
          <p:cNvSpPr/>
          <p:nvPr/>
        </p:nvSpPr>
        <p:spPr>
          <a:xfrm>
            <a:off x="4572000" y="1737360"/>
            <a:ext cx="7130880" cy="21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Robotics combines AI with physical machines, so robots can sense their surroundings, plan, and act on their own.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Shape 7"/>
          <p:cNvSpPr/>
          <p:nvPr/>
        </p:nvSpPr>
        <p:spPr>
          <a:xfrm>
            <a:off x="4572000" y="4023360"/>
            <a:ext cx="7130880" cy="1735920"/>
          </a:xfrm>
          <a:prstGeom prst="roundRect">
            <a:avLst>
              <a:gd name="adj" fmla="val 421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Text 8"/>
          <p:cNvSpPr/>
          <p:nvPr/>
        </p:nvSpPr>
        <p:spPr>
          <a:xfrm>
            <a:off x="4800600" y="4206240"/>
            <a:ext cx="667368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Used for:  </a:t>
            </a:r>
            <a:r>
              <a:rPr lang="en-US" sz="14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manufacturing, healthcare, military, space exploration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Text 9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Text 10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Shape 0"/>
          <p:cNvSpPr/>
          <p:nvPr/>
        </p:nvSpPr>
        <p:spPr>
          <a:xfrm>
            <a:off x="10515600" y="5669280"/>
            <a:ext cx="3198960" cy="319896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Shape 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6" name="Image 0" descr="icons/comments.png"/>
          <p:cNvPicPr/>
          <p:nvPr/>
        </p:nvPicPr>
        <p:blipFill>
          <a:blip r:embed="rId1"/>
          <a:stretch/>
        </p:blipFill>
        <p:spPr>
          <a:xfrm>
            <a:off x="553320" y="55332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7" name="Text 2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Natural Language Processing (NLP)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Shape 3"/>
          <p:cNvSpPr/>
          <p:nvPr/>
        </p:nvSpPr>
        <p:spPr>
          <a:xfrm>
            <a:off x="457200" y="1554480"/>
            <a:ext cx="3656160" cy="466200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Shape 4"/>
          <p:cNvSpPr/>
          <p:nvPr/>
        </p:nvSpPr>
        <p:spPr>
          <a:xfrm>
            <a:off x="1508760" y="2194560"/>
            <a:ext cx="1553040" cy="1553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70" name="Image 1" descr="icons/comments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6840" cy="10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1" name="Text 5"/>
          <p:cNvSpPr/>
          <p:nvPr/>
        </p:nvSpPr>
        <p:spPr>
          <a:xfrm>
            <a:off x="640080" y="3977640"/>
            <a:ext cx="329040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Machines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that "talk"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Text 6"/>
          <p:cNvSpPr/>
          <p:nvPr/>
        </p:nvSpPr>
        <p:spPr>
          <a:xfrm>
            <a:off x="4572000" y="1737360"/>
            <a:ext cx="7130880" cy="21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NLP lets a computer understand, process, and even generate human language — written or spoken.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Shape 7"/>
          <p:cNvSpPr/>
          <p:nvPr/>
        </p:nvSpPr>
        <p:spPr>
          <a:xfrm>
            <a:off x="4572000" y="4023360"/>
            <a:ext cx="7130880" cy="1735920"/>
          </a:xfrm>
          <a:prstGeom prst="roundRect">
            <a:avLst>
              <a:gd name="adj" fmla="val 421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Text 8"/>
          <p:cNvSpPr/>
          <p:nvPr/>
        </p:nvSpPr>
        <p:spPr>
          <a:xfrm>
            <a:off x="4800600" y="4206240"/>
            <a:ext cx="667368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Used for:  </a:t>
            </a:r>
            <a:r>
              <a:rPr lang="en-US" sz="14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chatbots, translation, speech recognition, sentiment analysis, virtual assistants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Text 9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Text 10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Shape 0"/>
          <p:cNvSpPr/>
          <p:nvPr/>
        </p:nvSpPr>
        <p:spPr>
          <a:xfrm>
            <a:off x="10515600" y="5669280"/>
            <a:ext cx="3198960" cy="319896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Shape 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79" name="Image 0" descr="icons/swarm.png"/>
          <p:cNvPicPr/>
          <p:nvPr/>
        </p:nvPicPr>
        <p:blipFill>
          <a:blip r:embed="rId1"/>
          <a:stretch/>
        </p:blipFill>
        <p:spPr>
          <a:xfrm>
            <a:off x="553320" y="55332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0" name="Text 2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Swarm Intelligence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Shape 3"/>
          <p:cNvSpPr/>
          <p:nvPr/>
        </p:nvSpPr>
        <p:spPr>
          <a:xfrm>
            <a:off x="457200" y="1554480"/>
            <a:ext cx="3656160" cy="466200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Shape 4"/>
          <p:cNvSpPr/>
          <p:nvPr/>
        </p:nvSpPr>
        <p:spPr>
          <a:xfrm>
            <a:off x="1508760" y="2194560"/>
            <a:ext cx="1553040" cy="1553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83" name="Image 1" descr="icons/swarm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6840" cy="10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4" name="Text 5"/>
          <p:cNvSpPr/>
          <p:nvPr/>
        </p:nvSpPr>
        <p:spPr>
          <a:xfrm>
            <a:off x="640080" y="3977640"/>
            <a:ext cx="329040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Inspired by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ants &amp; bees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 6"/>
          <p:cNvSpPr/>
          <p:nvPr/>
        </p:nvSpPr>
        <p:spPr>
          <a:xfrm>
            <a:off x="4572000" y="1737360"/>
            <a:ext cx="7130880" cy="21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Swarm Intelligence copies how groups of simple animals — ants, bees, birds, fish — solve problems together, with no single leader.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Shape 7"/>
          <p:cNvSpPr/>
          <p:nvPr/>
        </p:nvSpPr>
        <p:spPr>
          <a:xfrm>
            <a:off x="4572000" y="4023360"/>
            <a:ext cx="7130880" cy="1735920"/>
          </a:xfrm>
          <a:prstGeom prst="roundRect">
            <a:avLst>
              <a:gd name="adj" fmla="val 421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Text 8"/>
          <p:cNvSpPr/>
          <p:nvPr/>
        </p:nvSpPr>
        <p:spPr>
          <a:xfrm>
            <a:off x="4800600" y="4206240"/>
            <a:ext cx="667368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Used for:  </a:t>
            </a:r>
            <a:r>
              <a:rPr lang="en-US" sz="14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optimization, delivery routing, scheduling, distributed problem-solving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Text 9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Text 10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Shape 0"/>
          <p:cNvSpPr/>
          <p:nvPr/>
        </p:nvSpPr>
        <p:spPr>
          <a:xfrm>
            <a:off x="10515600" y="5669280"/>
            <a:ext cx="3198960" cy="319896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Shape 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92" name="Image 0" descr="icons/balance.png"/>
          <p:cNvPicPr/>
          <p:nvPr/>
        </p:nvPicPr>
        <p:blipFill>
          <a:blip r:embed="rId1"/>
          <a:stretch/>
        </p:blipFill>
        <p:spPr>
          <a:xfrm>
            <a:off x="553320" y="55332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3" name="Text 2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AI Ethics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Shape 3"/>
          <p:cNvSpPr/>
          <p:nvPr/>
        </p:nvSpPr>
        <p:spPr>
          <a:xfrm>
            <a:off x="457200" y="1554480"/>
            <a:ext cx="3656160" cy="466200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Shape 4"/>
          <p:cNvSpPr/>
          <p:nvPr/>
        </p:nvSpPr>
        <p:spPr>
          <a:xfrm>
            <a:off x="1508760" y="2194560"/>
            <a:ext cx="1553040" cy="1553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96" name="Image 1" descr="icons/balance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6840" cy="10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7" name="Text 5"/>
          <p:cNvSpPr/>
          <p:nvPr/>
        </p:nvSpPr>
        <p:spPr>
          <a:xfrm>
            <a:off x="640080" y="3977640"/>
            <a:ext cx="329040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Building AI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responsibly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Text 6"/>
          <p:cNvSpPr/>
          <p:nvPr/>
        </p:nvSpPr>
        <p:spPr>
          <a:xfrm>
            <a:off x="4572000" y="1737360"/>
            <a:ext cx="7130880" cy="21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AI Ethics makes sure AI systems are built fairly and safely for everyone — this area is growing quickly as AI spreads.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Shape 7"/>
          <p:cNvSpPr/>
          <p:nvPr/>
        </p:nvSpPr>
        <p:spPr>
          <a:xfrm>
            <a:off x="4572000" y="4023360"/>
            <a:ext cx="7130880" cy="1735920"/>
          </a:xfrm>
          <a:prstGeom prst="roundRect">
            <a:avLst>
              <a:gd name="adj" fmla="val 421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Text 8"/>
          <p:cNvSpPr/>
          <p:nvPr/>
        </p:nvSpPr>
        <p:spPr>
          <a:xfrm>
            <a:off x="4800600" y="4206240"/>
            <a:ext cx="667368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Used for:  </a:t>
            </a:r>
            <a:r>
              <a:rPr lang="en-US" sz="14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fairness, bias, privacy, transparency, accountability, safety, security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Text 9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Text 10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Shape 0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04" name="Image 0" descr="icons/sitemap.png"/>
          <p:cNvPicPr/>
          <p:nvPr/>
        </p:nvPicPr>
        <p:blipFill>
          <a:blip r:embed="rId1"/>
          <a:stretch/>
        </p:blipFill>
        <p:spPr>
          <a:xfrm>
            <a:off x="553320" y="55332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5" name="Text 1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AI Fields at a Glance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Shape 2"/>
          <p:cNvSpPr/>
          <p:nvPr/>
        </p:nvSpPr>
        <p:spPr>
          <a:xfrm>
            <a:off x="457200" y="1508760"/>
            <a:ext cx="2645640" cy="233028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Shape 3"/>
          <p:cNvSpPr/>
          <p:nvPr/>
        </p:nvSpPr>
        <p:spPr>
          <a:xfrm>
            <a:off x="1497240" y="1788480"/>
            <a:ext cx="565560" cy="5655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08" name="Image 1" descr="icons/sitemap.png"/>
          <p:cNvPicPr/>
          <p:nvPr/>
        </p:nvPicPr>
        <p:blipFill>
          <a:blip r:embed="rId2"/>
          <a:stretch/>
        </p:blipFill>
        <p:spPr>
          <a:xfrm>
            <a:off x="1582200" y="1873440"/>
            <a:ext cx="39528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9" name="Text 4"/>
          <p:cNvSpPr/>
          <p:nvPr/>
        </p:nvSpPr>
        <p:spPr>
          <a:xfrm>
            <a:off x="567000" y="2428560"/>
            <a:ext cx="24264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Expert Systems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Shape 5"/>
          <p:cNvSpPr/>
          <p:nvPr/>
        </p:nvSpPr>
        <p:spPr>
          <a:xfrm>
            <a:off x="3332880" y="1508760"/>
            <a:ext cx="2645640" cy="233028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Shape 6"/>
          <p:cNvSpPr/>
          <p:nvPr/>
        </p:nvSpPr>
        <p:spPr>
          <a:xfrm>
            <a:off x="4373280" y="1788480"/>
            <a:ext cx="565560" cy="5655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12" name="Image 2" descr="icons/layergroup.png"/>
          <p:cNvPicPr/>
          <p:nvPr/>
        </p:nvPicPr>
        <p:blipFill>
          <a:blip r:embed="rId3"/>
          <a:stretch/>
        </p:blipFill>
        <p:spPr>
          <a:xfrm>
            <a:off x="4458240" y="1873440"/>
            <a:ext cx="39528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3" name="Text 7"/>
          <p:cNvSpPr/>
          <p:nvPr/>
        </p:nvSpPr>
        <p:spPr>
          <a:xfrm>
            <a:off x="3442680" y="2428560"/>
            <a:ext cx="24264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Machine Learning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Shape 8"/>
          <p:cNvSpPr/>
          <p:nvPr/>
        </p:nvSpPr>
        <p:spPr>
          <a:xfrm>
            <a:off x="6208920" y="1508760"/>
            <a:ext cx="2645640" cy="233028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Shape 9"/>
          <p:cNvSpPr/>
          <p:nvPr/>
        </p:nvSpPr>
        <p:spPr>
          <a:xfrm>
            <a:off x="7248960" y="1788480"/>
            <a:ext cx="565560" cy="5655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16" name="Image 3" descr="icons/dna.png"/>
          <p:cNvPicPr/>
          <p:nvPr/>
        </p:nvPicPr>
        <p:blipFill>
          <a:blip r:embed="rId4"/>
          <a:stretch/>
        </p:blipFill>
        <p:spPr>
          <a:xfrm>
            <a:off x="7333920" y="1873440"/>
            <a:ext cx="39528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7" name="Text 10"/>
          <p:cNvSpPr/>
          <p:nvPr/>
        </p:nvSpPr>
        <p:spPr>
          <a:xfrm>
            <a:off x="6318360" y="2428560"/>
            <a:ext cx="24264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Evolutionary Algorithms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Shape 11"/>
          <p:cNvSpPr/>
          <p:nvPr/>
        </p:nvSpPr>
        <p:spPr>
          <a:xfrm>
            <a:off x="9084600" y="1508760"/>
            <a:ext cx="2645640" cy="233028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Shape 12"/>
          <p:cNvSpPr/>
          <p:nvPr/>
        </p:nvSpPr>
        <p:spPr>
          <a:xfrm>
            <a:off x="10124640" y="1788480"/>
            <a:ext cx="565560" cy="5655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20" name="Image 4" descr="icons/eye.png"/>
          <p:cNvPicPr/>
          <p:nvPr/>
        </p:nvPicPr>
        <p:blipFill>
          <a:blip r:embed="rId5"/>
          <a:stretch/>
        </p:blipFill>
        <p:spPr>
          <a:xfrm>
            <a:off x="10209600" y="1873440"/>
            <a:ext cx="39528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1" name="Text 13"/>
          <p:cNvSpPr/>
          <p:nvPr/>
        </p:nvSpPr>
        <p:spPr>
          <a:xfrm>
            <a:off x="9194400" y="2428560"/>
            <a:ext cx="24264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Computer Vision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Shape 14"/>
          <p:cNvSpPr/>
          <p:nvPr/>
        </p:nvSpPr>
        <p:spPr>
          <a:xfrm>
            <a:off x="457200" y="4069080"/>
            <a:ext cx="2645640" cy="233028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Shape 15"/>
          <p:cNvSpPr/>
          <p:nvPr/>
        </p:nvSpPr>
        <p:spPr>
          <a:xfrm>
            <a:off x="1497240" y="4348800"/>
            <a:ext cx="565560" cy="5655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24" name="Image 5" descr="icons/robot.png"/>
          <p:cNvPicPr/>
          <p:nvPr/>
        </p:nvPicPr>
        <p:blipFill>
          <a:blip r:embed="rId6"/>
          <a:stretch/>
        </p:blipFill>
        <p:spPr>
          <a:xfrm>
            <a:off x="1582200" y="4433760"/>
            <a:ext cx="39528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5" name="Text 16"/>
          <p:cNvSpPr/>
          <p:nvPr/>
        </p:nvSpPr>
        <p:spPr>
          <a:xfrm>
            <a:off x="567000" y="4988880"/>
            <a:ext cx="24264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Robotics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Shape 17"/>
          <p:cNvSpPr/>
          <p:nvPr/>
        </p:nvSpPr>
        <p:spPr>
          <a:xfrm>
            <a:off x="3332880" y="4069080"/>
            <a:ext cx="2645640" cy="233028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Shape 18"/>
          <p:cNvSpPr/>
          <p:nvPr/>
        </p:nvSpPr>
        <p:spPr>
          <a:xfrm>
            <a:off x="4373280" y="4348800"/>
            <a:ext cx="565560" cy="5655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28" name="Image 6" descr="icons/comments.png"/>
          <p:cNvPicPr/>
          <p:nvPr/>
        </p:nvPicPr>
        <p:blipFill>
          <a:blip r:embed="rId7"/>
          <a:stretch/>
        </p:blipFill>
        <p:spPr>
          <a:xfrm>
            <a:off x="4458240" y="4433760"/>
            <a:ext cx="39528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9" name="Text 19"/>
          <p:cNvSpPr/>
          <p:nvPr/>
        </p:nvSpPr>
        <p:spPr>
          <a:xfrm>
            <a:off x="3442680" y="4988880"/>
            <a:ext cx="24264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NLP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Shape 20"/>
          <p:cNvSpPr/>
          <p:nvPr/>
        </p:nvSpPr>
        <p:spPr>
          <a:xfrm>
            <a:off x="6208920" y="4069080"/>
            <a:ext cx="2645640" cy="233028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Shape 21"/>
          <p:cNvSpPr/>
          <p:nvPr/>
        </p:nvSpPr>
        <p:spPr>
          <a:xfrm>
            <a:off x="7248960" y="4348800"/>
            <a:ext cx="565560" cy="5655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32" name="Image 7" descr="icons/swarm.png"/>
          <p:cNvPicPr/>
          <p:nvPr/>
        </p:nvPicPr>
        <p:blipFill>
          <a:blip r:embed="rId8"/>
          <a:stretch/>
        </p:blipFill>
        <p:spPr>
          <a:xfrm>
            <a:off x="7333920" y="4433760"/>
            <a:ext cx="39528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3" name="Text 22"/>
          <p:cNvSpPr/>
          <p:nvPr/>
        </p:nvSpPr>
        <p:spPr>
          <a:xfrm>
            <a:off x="6318360" y="4988880"/>
            <a:ext cx="24264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Swarm Intelligence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Shape 23"/>
          <p:cNvSpPr/>
          <p:nvPr/>
        </p:nvSpPr>
        <p:spPr>
          <a:xfrm>
            <a:off x="9084600" y="4069080"/>
            <a:ext cx="2645640" cy="233028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Shape 24"/>
          <p:cNvSpPr/>
          <p:nvPr/>
        </p:nvSpPr>
        <p:spPr>
          <a:xfrm>
            <a:off x="10124640" y="4348800"/>
            <a:ext cx="565560" cy="5655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36" name="Image 8" descr="icons/balance.png"/>
          <p:cNvPicPr/>
          <p:nvPr/>
        </p:nvPicPr>
        <p:blipFill>
          <a:blip r:embed="rId9"/>
          <a:stretch/>
        </p:blipFill>
        <p:spPr>
          <a:xfrm>
            <a:off x="10209600" y="4433760"/>
            <a:ext cx="39528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7" name="Text 25"/>
          <p:cNvSpPr/>
          <p:nvPr/>
        </p:nvSpPr>
        <p:spPr>
          <a:xfrm>
            <a:off x="9194400" y="4988880"/>
            <a:ext cx="24264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AI Ethics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Text 26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Text 27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Shape 0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41" name="Image 0" descr="icons/briefcase.png"/>
          <p:cNvPicPr/>
          <p:nvPr/>
        </p:nvPicPr>
        <p:blipFill>
          <a:blip r:embed="rId1"/>
          <a:stretch/>
        </p:blipFill>
        <p:spPr>
          <a:xfrm>
            <a:off x="553320" y="55332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2" name="Text 1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Career Paths in AI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Shape 2"/>
          <p:cNvSpPr/>
          <p:nvPr/>
        </p:nvSpPr>
        <p:spPr>
          <a:xfrm>
            <a:off x="457200" y="1508760"/>
            <a:ext cx="3604320" cy="233028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Shape 3"/>
          <p:cNvSpPr/>
          <p:nvPr/>
        </p:nvSpPr>
        <p:spPr>
          <a:xfrm>
            <a:off x="1976760" y="1788480"/>
            <a:ext cx="565560" cy="5655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45" name="Image 1" descr="icons/comments.png"/>
          <p:cNvPicPr/>
          <p:nvPr/>
        </p:nvPicPr>
        <p:blipFill>
          <a:blip r:embed="rId2"/>
          <a:stretch/>
        </p:blipFill>
        <p:spPr>
          <a:xfrm>
            <a:off x="2061720" y="1873440"/>
            <a:ext cx="39528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6" name="Text 4"/>
          <p:cNvSpPr/>
          <p:nvPr/>
        </p:nvSpPr>
        <p:spPr>
          <a:xfrm>
            <a:off x="567000" y="2428560"/>
            <a:ext cx="33847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NLP Engineer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Text 5"/>
          <p:cNvSpPr/>
          <p:nvPr/>
        </p:nvSpPr>
        <p:spPr>
          <a:xfrm>
            <a:off x="621720" y="2812680"/>
            <a:ext cx="3275280" cy="98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Builds chatbots, translators, and language tools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Shape 6"/>
          <p:cNvSpPr/>
          <p:nvPr/>
        </p:nvSpPr>
        <p:spPr>
          <a:xfrm>
            <a:off x="4291560" y="1508760"/>
            <a:ext cx="3604320" cy="233028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Shape 7"/>
          <p:cNvSpPr/>
          <p:nvPr/>
        </p:nvSpPr>
        <p:spPr>
          <a:xfrm>
            <a:off x="5811120" y="1788480"/>
            <a:ext cx="565560" cy="5655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50" name="Image 2" descr="icons/eye.png"/>
          <p:cNvPicPr/>
          <p:nvPr/>
        </p:nvPicPr>
        <p:blipFill>
          <a:blip r:embed="rId3"/>
          <a:stretch/>
        </p:blipFill>
        <p:spPr>
          <a:xfrm>
            <a:off x="5896080" y="1873440"/>
            <a:ext cx="39528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1" name="Text 8"/>
          <p:cNvSpPr/>
          <p:nvPr/>
        </p:nvSpPr>
        <p:spPr>
          <a:xfrm>
            <a:off x="4401360" y="2428560"/>
            <a:ext cx="33847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Computer Vision Engineer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Text 9"/>
          <p:cNvSpPr/>
          <p:nvPr/>
        </p:nvSpPr>
        <p:spPr>
          <a:xfrm>
            <a:off x="4456080" y="2812680"/>
            <a:ext cx="3275280" cy="98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Builds systems that understand images &amp; video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Shape 10"/>
          <p:cNvSpPr/>
          <p:nvPr/>
        </p:nvSpPr>
        <p:spPr>
          <a:xfrm>
            <a:off x="8125920" y="1508760"/>
            <a:ext cx="3604320" cy="233028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Shape 11"/>
          <p:cNvSpPr/>
          <p:nvPr/>
        </p:nvSpPr>
        <p:spPr>
          <a:xfrm>
            <a:off x="9645480" y="1788480"/>
            <a:ext cx="565560" cy="5655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55" name="Image 3" descr="icons/sitemap.png"/>
          <p:cNvPicPr/>
          <p:nvPr/>
        </p:nvPicPr>
        <p:blipFill>
          <a:blip r:embed="rId4"/>
          <a:stretch/>
        </p:blipFill>
        <p:spPr>
          <a:xfrm>
            <a:off x="9730440" y="1873440"/>
            <a:ext cx="39528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6" name="Text 12"/>
          <p:cNvSpPr/>
          <p:nvPr/>
        </p:nvSpPr>
        <p:spPr>
          <a:xfrm>
            <a:off x="8235720" y="2428560"/>
            <a:ext cx="33847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Expert System Developer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Text 13"/>
          <p:cNvSpPr/>
          <p:nvPr/>
        </p:nvSpPr>
        <p:spPr>
          <a:xfrm>
            <a:off x="8290440" y="2812680"/>
            <a:ext cx="3275280" cy="98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Builds rule-based decision tools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Shape 14"/>
          <p:cNvSpPr/>
          <p:nvPr/>
        </p:nvSpPr>
        <p:spPr>
          <a:xfrm>
            <a:off x="457200" y="4069080"/>
            <a:ext cx="3604320" cy="233028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Shape 15"/>
          <p:cNvSpPr/>
          <p:nvPr/>
        </p:nvSpPr>
        <p:spPr>
          <a:xfrm>
            <a:off x="1976760" y="4348800"/>
            <a:ext cx="565560" cy="5655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60" name="Image 4" descr="icons/layergroup.png"/>
          <p:cNvPicPr/>
          <p:nvPr/>
        </p:nvPicPr>
        <p:blipFill>
          <a:blip r:embed="rId5"/>
          <a:stretch/>
        </p:blipFill>
        <p:spPr>
          <a:xfrm>
            <a:off x="2061720" y="4433760"/>
            <a:ext cx="39528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1" name="Text 16"/>
          <p:cNvSpPr/>
          <p:nvPr/>
        </p:nvSpPr>
        <p:spPr>
          <a:xfrm>
            <a:off x="567000" y="4988880"/>
            <a:ext cx="33847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Machine Learning Engineer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Text 17"/>
          <p:cNvSpPr/>
          <p:nvPr/>
        </p:nvSpPr>
        <p:spPr>
          <a:xfrm>
            <a:off x="621720" y="5373000"/>
            <a:ext cx="3275280" cy="98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Builds and trains learning models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Shape 18"/>
          <p:cNvSpPr/>
          <p:nvPr/>
        </p:nvSpPr>
        <p:spPr>
          <a:xfrm>
            <a:off x="4291560" y="4069080"/>
            <a:ext cx="3604320" cy="233028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Shape 19"/>
          <p:cNvSpPr/>
          <p:nvPr/>
        </p:nvSpPr>
        <p:spPr>
          <a:xfrm>
            <a:off x="5811120" y="4348800"/>
            <a:ext cx="565560" cy="5655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65" name="Image 5" descr="icons/swarm.png"/>
          <p:cNvPicPr/>
          <p:nvPr/>
        </p:nvPicPr>
        <p:blipFill>
          <a:blip r:embed="rId6"/>
          <a:stretch/>
        </p:blipFill>
        <p:spPr>
          <a:xfrm>
            <a:off x="5896080" y="4433760"/>
            <a:ext cx="39528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6" name="Text 20"/>
          <p:cNvSpPr/>
          <p:nvPr/>
        </p:nvSpPr>
        <p:spPr>
          <a:xfrm>
            <a:off x="4401360" y="4988880"/>
            <a:ext cx="33847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Optimization Researcher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Text 21"/>
          <p:cNvSpPr/>
          <p:nvPr/>
        </p:nvSpPr>
        <p:spPr>
          <a:xfrm>
            <a:off x="4456080" y="5373000"/>
            <a:ext cx="3275280" cy="98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Works on swarm &amp; evolutionary methods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Shape 22"/>
          <p:cNvSpPr/>
          <p:nvPr/>
        </p:nvSpPr>
        <p:spPr>
          <a:xfrm>
            <a:off x="8125920" y="4069080"/>
            <a:ext cx="3604320" cy="233028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Shape 23"/>
          <p:cNvSpPr/>
          <p:nvPr/>
        </p:nvSpPr>
        <p:spPr>
          <a:xfrm>
            <a:off x="9645480" y="4348800"/>
            <a:ext cx="565560" cy="5655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70" name="Image 6" descr="icons/robot.png"/>
          <p:cNvPicPr/>
          <p:nvPr/>
        </p:nvPicPr>
        <p:blipFill>
          <a:blip r:embed="rId7"/>
          <a:stretch/>
        </p:blipFill>
        <p:spPr>
          <a:xfrm>
            <a:off x="9730440" y="4433760"/>
            <a:ext cx="39528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1" name="Text 24"/>
          <p:cNvSpPr/>
          <p:nvPr/>
        </p:nvSpPr>
        <p:spPr>
          <a:xfrm>
            <a:off x="8235720" y="4988880"/>
            <a:ext cx="33847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Robotics Engineer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Text 25"/>
          <p:cNvSpPr/>
          <p:nvPr/>
        </p:nvSpPr>
        <p:spPr>
          <a:xfrm>
            <a:off x="8290440" y="5373000"/>
            <a:ext cx="3275280" cy="98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Builds physical, autonomous machines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Text 26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Text 27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Shape 0"/>
          <p:cNvSpPr/>
          <p:nvPr/>
        </p:nvSpPr>
        <p:spPr>
          <a:xfrm>
            <a:off x="-1828800" y="4114800"/>
            <a:ext cx="5484960" cy="548496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6" name="Shape 1"/>
          <p:cNvSpPr/>
          <p:nvPr/>
        </p:nvSpPr>
        <p:spPr>
          <a:xfrm>
            <a:off x="9601200" y="-2286000"/>
            <a:ext cx="5484960" cy="548496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7" name="Shape 2"/>
          <p:cNvSpPr/>
          <p:nvPr/>
        </p:nvSpPr>
        <p:spPr>
          <a:xfrm>
            <a:off x="5591520" y="731520"/>
            <a:ext cx="1004400" cy="100440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78" name="Image 0" descr="icons/flask.png"/>
          <p:cNvPicPr/>
          <p:nvPr/>
        </p:nvPicPr>
        <p:blipFill>
          <a:blip r:embed="rId1"/>
          <a:stretch/>
        </p:blipFill>
        <p:spPr>
          <a:xfrm>
            <a:off x="5742360" y="882360"/>
            <a:ext cx="7027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9" name="Text 3"/>
          <p:cNvSpPr/>
          <p:nvPr/>
        </p:nvSpPr>
        <p:spPr>
          <a:xfrm>
            <a:off x="914400" y="1965960"/>
            <a:ext cx="103586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REAL RESEARCH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0" name="Text 4"/>
          <p:cNvSpPr/>
          <p:nvPr/>
        </p:nvSpPr>
        <p:spPr>
          <a:xfrm>
            <a:off x="914400" y="2377440"/>
            <a:ext cx="10358640" cy="20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Where This Shows Up in the Real World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1" name="Text 5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60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Shape 0"/>
          <p:cNvSpPr/>
          <p:nvPr/>
        </p:nvSpPr>
        <p:spPr>
          <a:xfrm>
            <a:off x="10515600" y="5669280"/>
            <a:ext cx="3198960" cy="319896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Shape 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84" name="Image 0" descr="icons/flask.png"/>
          <p:cNvPicPr/>
          <p:nvPr/>
        </p:nvPicPr>
        <p:blipFill>
          <a:blip r:embed="rId1"/>
          <a:stretch/>
        </p:blipFill>
        <p:spPr>
          <a:xfrm>
            <a:off x="553320" y="55332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5" name="Text 2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How This Course Helps Your Research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Shape 3"/>
          <p:cNvSpPr/>
          <p:nvPr/>
        </p:nvSpPr>
        <p:spPr>
          <a:xfrm>
            <a:off x="457200" y="1554480"/>
            <a:ext cx="3656160" cy="466200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Shape 4"/>
          <p:cNvSpPr/>
          <p:nvPr/>
        </p:nvSpPr>
        <p:spPr>
          <a:xfrm>
            <a:off x="1508760" y="2194560"/>
            <a:ext cx="1553040" cy="1553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88" name="Image 1" descr="icons/flask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6840" cy="10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9" name="Text 5"/>
          <p:cNvSpPr/>
          <p:nvPr/>
        </p:nvSpPr>
        <p:spPr>
          <a:xfrm>
            <a:off x="640080" y="3977640"/>
            <a:ext cx="329040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Same tools,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every field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Text 6"/>
          <p:cNvSpPr/>
          <p:nvPr/>
        </p:nvSpPr>
        <p:spPr>
          <a:xfrm>
            <a:off x="4572000" y="1737360"/>
            <a:ext cx="7130880" cy="41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Every field now creates more data than people can check by hand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tools in this course — Python, statistics, EDA, ML — are used in almost every research field today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 do not need to become an AI expert. You just need enough skill to ask your data a question, and get a real answer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Text 7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Text 8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Shape 0"/>
          <p:cNvSpPr/>
          <p:nvPr/>
        </p:nvSpPr>
        <p:spPr>
          <a:xfrm>
            <a:off x="10515600" y="5669280"/>
            <a:ext cx="3198960" cy="319896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Shape 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95" name="Image 0" descr="icons/seedling.png"/>
          <p:cNvPicPr/>
          <p:nvPr/>
        </p:nvPicPr>
        <p:blipFill>
          <a:blip r:embed="rId1"/>
          <a:stretch/>
        </p:blipFill>
        <p:spPr>
          <a:xfrm>
            <a:off x="553320" y="55332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6" name="Text 2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Case Study: Agriculture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Shape 3"/>
          <p:cNvSpPr/>
          <p:nvPr/>
        </p:nvSpPr>
        <p:spPr>
          <a:xfrm>
            <a:off x="457200" y="1554480"/>
            <a:ext cx="3656160" cy="466200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Shape 4"/>
          <p:cNvSpPr/>
          <p:nvPr/>
        </p:nvSpPr>
        <p:spPr>
          <a:xfrm>
            <a:off x="1508760" y="2194560"/>
            <a:ext cx="1553040" cy="1553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99" name="Image 1" descr="icons/seedling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6840" cy="10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0" name="Text 5"/>
          <p:cNvSpPr/>
          <p:nvPr/>
        </p:nvSpPr>
        <p:spPr>
          <a:xfrm>
            <a:off x="640080" y="3977640"/>
            <a:ext cx="329040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Precision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farming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Text 6"/>
          <p:cNvSpPr/>
          <p:nvPr/>
        </p:nvSpPr>
        <p:spPr>
          <a:xfrm>
            <a:off x="4572000" y="1737360"/>
            <a:ext cx="7130880" cy="41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Predicting crop yield using soil, weather, and satellite data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Computer Vision spotting plant disease from leaf photos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Sensors (soil moisture, temperature) automating watering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Text 7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Text 8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Shape 0"/>
          <p:cNvSpPr/>
          <p:nvPr/>
        </p:nvSpPr>
        <p:spPr>
          <a:xfrm>
            <a:off x="10515600" y="5669280"/>
            <a:ext cx="3198960" cy="319896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Shape 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06" name="Image 0" descr="icons/robot.png"/>
          <p:cNvPicPr/>
          <p:nvPr/>
        </p:nvPicPr>
        <p:blipFill>
          <a:blip r:embed="rId1"/>
          <a:stretch/>
        </p:blipFill>
        <p:spPr>
          <a:xfrm>
            <a:off x="553320" y="55332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7" name="Text 2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Case Study: Robotics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8" name="Shape 3"/>
          <p:cNvSpPr/>
          <p:nvPr/>
        </p:nvSpPr>
        <p:spPr>
          <a:xfrm>
            <a:off x="457200" y="1554480"/>
            <a:ext cx="3656160" cy="466200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Shape 4"/>
          <p:cNvSpPr/>
          <p:nvPr/>
        </p:nvSpPr>
        <p:spPr>
          <a:xfrm>
            <a:off x="1508760" y="2194560"/>
            <a:ext cx="1553040" cy="1553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10" name="Image 1" descr="icons/robot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6840" cy="10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1" name="Text 5"/>
          <p:cNvSpPr/>
          <p:nvPr/>
        </p:nvSpPr>
        <p:spPr>
          <a:xfrm>
            <a:off x="640080" y="3977640"/>
            <a:ext cx="329040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Perception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+ action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2" name="Text 6"/>
          <p:cNvSpPr/>
          <p:nvPr/>
        </p:nvSpPr>
        <p:spPr>
          <a:xfrm>
            <a:off x="4572000" y="1737360"/>
            <a:ext cx="7130880" cy="41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Combining camera, LiDAR, and motion data into one picture of the world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Path-planning — deciding the best route using probability and math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Reinforcement Learning — robots improving through trial and error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Text 7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Text 8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Shape 0"/>
          <p:cNvSpPr/>
          <p:nvPr/>
        </p:nvSpPr>
        <p:spPr>
          <a:xfrm>
            <a:off x="10515600" y="5669280"/>
            <a:ext cx="3198960" cy="319896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Shape 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17" name="Image 0" descr="icons/car.png"/>
          <p:cNvPicPr/>
          <p:nvPr/>
        </p:nvPicPr>
        <p:blipFill>
          <a:blip r:embed="rId1"/>
          <a:stretch/>
        </p:blipFill>
        <p:spPr>
          <a:xfrm>
            <a:off x="553320" y="55332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8" name="Text 2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Case Study: Self-Driving Cars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Shape 3"/>
          <p:cNvSpPr/>
          <p:nvPr/>
        </p:nvSpPr>
        <p:spPr>
          <a:xfrm>
            <a:off x="457200" y="1554480"/>
            <a:ext cx="3656160" cy="466200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Shape 4"/>
          <p:cNvSpPr/>
          <p:nvPr/>
        </p:nvSpPr>
        <p:spPr>
          <a:xfrm>
            <a:off x="1508760" y="2194560"/>
            <a:ext cx="1553040" cy="1553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21" name="Image 1" descr="icons/car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6840" cy="10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2" name="Text 5"/>
          <p:cNvSpPr/>
          <p:nvPr/>
        </p:nvSpPr>
        <p:spPr>
          <a:xfrm>
            <a:off x="640080" y="3977640"/>
            <a:ext cx="329040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Millions of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miles of data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3" name="Text 6"/>
          <p:cNvSpPr/>
          <p:nvPr/>
        </p:nvSpPr>
        <p:spPr>
          <a:xfrm>
            <a:off x="4572000" y="1737360"/>
            <a:ext cx="7130880" cy="41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Computer Vision spotting lanes, signs, and people in real time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Huge labeled datasets — the same EDA &amp; cleaning skills from this course apply directly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Decision-making models trained on real driving data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Text 7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Text 8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Shape 0"/>
          <p:cNvSpPr/>
          <p:nvPr/>
        </p:nvSpPr>
        <p:spPr>
          <a:xfrm>
            <a:off x="10515600" y="5669280"/>
            <a:ext cx="3198960" cy="319896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7" name="Shape 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28" name="Image 0" descr="icons/chart.png"/>
          <p:cNvPicPr/>
          <p:nvPr/>
        </p:nvPicPr>
        <p:blipFill>
          <a:blip r:embed="rId1"/>
          <a:stretch/>
        </p:blipFill>
        <p:spPr>
          <a:xfrm>
            <a:off x="553320" y="55332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9" name="Text 2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Case Study: Any Research Project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Shape 3"/>
          <p:cNvSpPr/>
          <p:nvPr/>
        </p:nvSpPr>
        <p:spPr>
          <a:xfrm>
            <a:off x="457200" y="1554480"/>
            <a:ext cx="3656160" cy="466200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Shape 4"/>
          <p:cNvSpPr/>
          <p:nvPr/>
        </p:nvSpPr>
        <p:spPr>
          <a:xfrm>
            <a:off x="1508760" y="2194560"/>
            <a:ext cx="1553040" cy="1553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32" name="Image 1" descr="icons/chart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6840" cy="10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3" name="Text 5"/>
          <p:cNvSpPr/>
          <p:nvPr/>
        </p:nvSpPr>
        <p:spPr>
          <a:xfrm>
            <a:off x="640080" y="3977640"/>
            <a:ext cx="329040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Faster,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stronger work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Text 6"/>
          <p:cNvSpPr/>
          <p:nvPr/>
        </p:nvSpPr>
        <p:spPr>
          <a:xfrm>
            <a:off x="4572000" y="1737360"/>
            <a:ext cx="7130880" cy="41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Automating data cleaning that used to take days by hand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Statistical tests to check — or challenge — a hypothesis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Charts and visuals that make a thesis or paper much stronger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Text 7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6" name="Text 8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Shape 0"/>
          <p:cNvSpPr/>
          <p:nvPr/>
        </p:nvSpPr>
        <p:spPr>
          <a:xfrm>
            <a:off x="10515600" y="5669280"/>
            <a:ext cx="3198960" cy="319896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8" name="Shape 1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39" name="Image 0" descr="icons/chart.png"/>
          <p:cNvPicPr/>
          <p:nvPr/>
        </p:nvPicPr>
        <p:blipFill>
          <a:blip r:embed="rId1"/>
          <a:stretch/>
        </p:blipFill>
        <p:spPr>
          <a:xfrm>
            <a:off x="553320" y="55332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0" name="Text 2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Is Data Science?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1" name="Shape 3"/>
          <p:cNvSpPr/>
          <p:nvPr/>
        </p:nvSpPr>
        <p:spPr>
          <a:xfrm>
            <a:off x="457200" y="1554480"/>
            <a:ext cx="3656160" cy="466200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2" name="Shape 4"/>
          <p:cNvSpPr/>
          <p:nvPr/>
        </p:nvSpPr>
        <p:spPr>
          <a:xfrm>
            <a:off x="1508760" y="2194560"/>
            <a:ext cx="1553040" cy="15530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43" name="Image 1" descr="icons/chart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6840" cy="10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4" name="Text 5"/>
          <p:cNvSpPr/>
          <p:nvPr/>
        </p:nvSpPr>
        <p:spPr>
          <a:xfrm>
            <a:off x="640080" y="3977640"/>
            <a:ext cx="329040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Data →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insight →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decision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5" name="Text 6"/>
          <p:cNvSpPr/>
          <p:nvPr/>
        </p:nvSpPr>
        <p:spPr>
          <a:xfrm>
            <a:off x="4572000" y="1737360"/>
            <a:ext cx="7130880" cy="41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Data Science means pulling useful insight and decisions out of data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 combines statistics, programming, and knowledge of a specific field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AI asks "can a machine act smart?" — Data Science asks "what does this data actually tell us?"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two fields overlap constantly — most AI is built and tested using data science methods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Text 7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7" name="Text 8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Shape 0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49" name="Image 0" descr="icons/chart.png"/>
          <p:cNvPicPr/>
          <p:nvPr/>
        </p:nvPicPr>
        <p:blipFill>
          <a:blip r:embed="rId1"/>
          <a:stretch/>
        </p:blipFill>
        <p:spPr>
          <a:xfrm>
            <a:off x="553320" y="55332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0" name="Text 1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Career Paths in Data Science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1" name="Shape 2"/>
          <p:cNvSpPr/>
          <p:nvPr/>
        </p:nvSpPr>
        <p:spPr>
          <a:xfrm>
            <a:off x="457200" y="1508760"/>
            <a:ext cx="3604320" cy="233028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2" name="Shape 3"/>
          <p:cNvSpPr/>
          <p:nvPr/>
        </p:nvSpPr>
        <p:spPr>
          <a:xfrm>
            <a:off x="1976760" y="1788480"/>
            <a:ext cx="565560" cy="5655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53" name="Image 1" descr="icons/chart.png"/>
          <p:cNvPicPr/>
          <p:nvPr/>
        </p:nvPicPr>
        <p:blipFill>
          <a:blip r:embed="rId2"/>
          <a:stretch/>
        </p:blipFill>
        <p:spPr>
          <a:xfrm>
            <a:off x="2061720" y="1873440"/>
            <a:ext cx="39528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4" name="Text 4"/>
          <p:cNvSpPr/>
          <p:nvPr/>
        </p:nvSpPr>
        <p:spPr>
          <a:xfrm>
            <a:off x="567000" y="2428560"/>
            <a:ext cx="33847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Data Analyst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Text 5"/>
          <p:cNvSpPr/>
          <p:nvPr/>
        </p:nvSpPr>
        <p:spPr>
          <a:xfrm>
            <a:off x="621720" y="2812680"/>
            <a:ext cx="3275280" cy="98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Turns raw data into reports and dashboards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Shape 6"/>
          <p:cNvSpPr/>
          <p:nvPr/>
        </p:nvSpPr>
        <p:spPr>
          <a:xfrm>
            <a:off x="4291560" y="1508760"/>
            <a:ext cx="3604320" cy="233028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7" name="Shape 7"/>
          <p:cNvSpPr/>
          <p:nvPr/>
        </p:nvSpPr>
        <p:spPr>
          <a:xfrm>
            <a:off x="5811120" y="1788480"/>
            <a:ext cx="565560" cy="5655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58" name="Image 2" descr="icons/network.png"/>
          <p:cNvPicPr/>
          <p:nvPr/>
        </p:nvPicPr>
        <p:blipFill>
          <a:blip r:embed="rId3"/>
          <a:stretch/>
        </p:blipFill>
        <p:spPr>
          <a:xfrm>
            <a:off x="5896080" y="1873440"/>
            <a:ext cx="39528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9" name="Text 8"/>
          <p:cNvSpPr/>
          <p:nvPr/>
        </p:nvSpPr>
        <p:spPr>
          <a:xfrm>
            <a:off x="4401360" y="2428560"/>
            <a:ext cx="33847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Data Engineer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0" name="Text 9"/>
          <p:cNvSpPr/>
          <p:nvPr/>
        </p:nvSpPr>
        <p:spPr>
          <a:xfrm>
            <a:off x="4456080" y="2812680"/>
            <a:ext cx="3275280" cy="98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Builds the pipelines that move and store data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1" name="Shape 10"/>
          <p:cNvSpPr/>
          <p:nvPr/>
        </p:nvSpPr>
        <p:spPr>
          <a:xfrm>
            <a:off x="8125920" y="1508760"/>
            <a:ext cx="3604320" cy="233028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2" name="Shape 11"/>
          <p:cNvSpPr/>
          <p:nvPr/>
        </p:nvSpPr>
        <p:spPr>
          <a:xfrm>
            <a:off x="9645480" y="1788480"/>
            <a:ext cx="565560" cy="5655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63" name="Image 3" descr="icons/brain.png"/>
          <p:cNvPicPr/>
          <p:nvPr/>
        </p:nvPicPr>
        <p:blipFill>
          <a:blip r:embed="rId4"/>
          <a:stretch/>
        </p:blipFill>
        <p:spPr>
          <a:xfrm>
            <a:off x="9730440" y="1873440"/>
            <a:ext cx="39528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4" name="Text 12"/>
          <p:cNvSpPr/>
          <p:nvPr/>
        </p:nvSpPr>
        <p:spPr>
          <a:xfrm>
            <a:off x="8235720" y="2428560"/>
            <a:ext cx="33847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Data Scientist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5" name="Text 13"/>
          <p:cNvSpPr/>
          <p:nvPr/>
        </p:nvSpPr>
        <p:spPr>
          <a:xfrm>
            <a:off x="8290440" y="2812680"/>
            <a:ext cx="3275280" cy="98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Builds models, makes predictions, runs experiments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6" name="Shape 14"/>
          <p:cNvSpPr/>
          <p:nvPr/>
        </p:nvSpPr>
        <p:spPr>
          <a:xfrm>
            <a:off x="457200" y="4069080"/>
            <a:ext cx="3604320" cy="233028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7" name="Shape 15"/>
          <p:cNvSpPr/>
          <p:nvPr/>
        </p:nvSpPr>
        <p:spPr>
          <a:xfrm>
            <a:off x="1976760" y="4348800"/>
            <a:ext cx="565560" cy="5655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68" name="Image 4" descr="icons/code.png"/>
          <p:cNvPicPr/>
          <p:nvPr/>
        </p:nvPicPr>
        <p:blipFill>
          <a:blip r:embed="rId5"/>
          <a:stretch/>
        </p:blipFill>
        <p:spPr>
          <a:xfrm>
            <a:off x="2061720" y="4433760"/>
            <a:ext cx="39528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9" name="Text 16"/>
          <p:cNvSpPr/>
          <p:nvPr/>
        </p:nvSpPr>
        <p:spPr>
          <a:xfrm>
            <a:off x="567000" y="4988880"/>
            <a:ext cx="33847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ML Engineer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Text 17"/>
          <p:cNvSpPr/>
          <p:nvPr/>
        </p:nvSpPr>
        <p:spPr>
          <a:xfrm>
            <a:off x="621720" y="5373000"/>
            <a:ext cx="3275280" cy="98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Puts models into real, working products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1" name="Shape 18"/>
          <p:cNvSpPr/>
          <p:nvPr/>
        </p:nvSpPr>
        <p:spPr>
          <a:xfrm>
            <a:off x="4291560" y="4069080"/>
            <a:ext cx="3604320" cy="233028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2" name="Shape 19"/>
          <p:cNvSpPr/>
          <p:nvPr/>
        </p:nvSpPr>
        <p:spPr>
          <a:xfrm>
            <a:off x="5811120" y="4348800"/>
            <a:ext cx="565560" cy="5655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73" name="Image 5" descr="icons/briefcase.png"/>
          <p:cNvPicPr/>
          <p:nvPr/>
        </p:nvPicPr>
        <p:blipFill>
          <a:blip r:embed="rId6"/>
          <a:stretch/>
        </p:blipFill>
        <p:spPr>
          <a:xfrm>
            <a:off x="5896080" y="4433760"/>
            <a:ext cx="39528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4" name="Text 20"/>
          <p:cNvSpPr/>
          <p:nvPr/>
        </p:nvSpPr>
        <p:spPr>
          <a:xfrm>
            <a:off x="4401360" y="4988880"/>
            <a:ext cx="33847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BI Analyst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Text 21"/>
          <p:cNvSpPr/>
          <p:nvPr/>
        </p:nvSpPr>
        <p:spPr>
          <a:xfrm>
            <a:off x="4456080" y="5373000"/>
            <a:ext cx="3275280" cy="98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Tracks business metrics to support decisions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6" name="Shape 22"/>
          <p:cNvSpPr/>
          <p:nvPr/>
        </p:nvSpPr>
        <p:spPr>
          <a:xfrm>
            <a:off x="8125920" y="4069080"/>
            <a:ext cx="3604320" cy="233028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7" name="Shape 23"/>
          <p:cNvSpPr/>
          <p:nvPr/>
        </p:nvSpPr>
        <p:spPr>
          <a:xfrm>
            <a:off x="9645480" y="4348800"/>
            <a:ext cx="565560" cy="5655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78" name="Image 6" descr="icons/gradcap.png"/>
          <p:cNvPicPr/>
          <p:nvPr/>
        </p:nvPicPr>
        <p:blipFill>
          <a:blip r:embed="rId7"/>
          <a:stretch/>
        </p:blipFill>
        <p:spPr>
          <a:xfrm>
            <a:off x="9730440" y="4433760"/>
            <a:ext cx="39528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9" name="Text 24"/>
          <p:cNvSpPr/>
          <p:nvPr/>
        </p:nvSpPr>
        <p:spPr>
          <a:xfrm>
            <a:off x="8235720" y="4988880"/>
            <a:ext cx="33847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Research Scientist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0" name="Text 25"/>
          <p:cNvSpPr/>
          <p:nvPr/>
        </p:nvSpPr>
        <p:spPr>
          <a:xfrm>
            <a:off x="8290440" y="5373000"/>
            <a:ext cx="3275280" cy="98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Pushes the field forward in labs or academia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1" name="Text 26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Text 27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Shape 30"/>
          <p:cNvSpPr/>
          <p:nvPr/>
        </p:nvSpPr>
        <p:spPr>
          <a:xfrm>
            <a:off x="457200" y="457200"/>
            <a:ext cx="638640" cy="6386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84" name="Image 11" descr="icons/chart.png"/>
          <p:cNvPicPr/>
          <p:nvPr/>
        </p:nvPicPr>
        <p:blipFill>
          <a:blip r:embed="rId1"/>
          <a:stretch/>
        </p:blipFill>
        <p:spPr>
          <a:xfrm>
            <a:off x="553320" y="553320"/>
            <a:ext cx="44676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5" name="Text 34"/>
          <p:cNvSpPr/>
          <p:nvPr/>
        </p:nvSpPr>
        <p:spPr>
          <a:xfrm>
            <a:off x="1280160" y="457200"/>
            <a:ext cx="104227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Two interesting Books to understand AI and Algorithms Deeply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6" name="Text 47"/>
          <p:cNvSpPr/>
          <p:nvPr/>
        </p:nvSpPr>
        <p:spPr>
          <a:xfrm>
            <a:off x="457200" y="64465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Code, Data &amp; Decisions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7" name="Text 48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8" name=""/>
          <p:cNvPicPr/>
          <p:nvPr/>
        </p:nvPicPr>
        <p:blipFill>
          <a:blip r:embed="rId2"/>
          <a:stretch/>
        </p:blipFill>
        <p:spPr>
          <a:xfrm>
            <a:off x="726480" y="1504800"/>
            <a:ext cx="3369960" cy="505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9" name=""/>
          <p:cNvPicPr/>
          <p:nvPr/>
        </p:nvPicPr>
        <p:blipFill>
          <a:blip r:embed="rId3"/>
          <a:stretch/>
        </p:blipFill>
        <p:spPr>
          <a:xfrm>
            <a:off x="4572000" y="1600200"/>
            <a:ext cx="2522880" cy="380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0" name=""/>
          <p:cNvSpPr/>
          <p:nvPr/>
        </p:nvSpPr>
        <p:spPr>
          <a:xfrm>
            <a:off x="7315200" y="2044800"/>
            <a:ext cx="3428280" cy="27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lecture by the Author on the Alignment Problem: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1" name=""/>
          <p:cNvSpPr/>
          <p:nvPr/>
        </p:nvSpPr>
        <p:spPr>
          <a:xfrm>
            <a:off x="7303320" y="2598120"/>
            <a:ext cx="3897360" cy="60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2A6099"/>
                </a:solidFill>
                <a:effectLst/>
                <a:uFillTx/>
                <a:latin typeface="Arial"/>
              </a:rPr>
              <a:t>https://youtu.be/z6atNBhItBs?si=eFS5ZURNpYF094rC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Shape 0"/>
          <p:cNvSpPr/>
          <p:nvPr/>
        </p:nvSpPr>
        <p:spPr>
          <a:xfrm>
            <a:off x="-1828800" y="4114800"/>
            <a:ext cx="5484960" cy="548496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3" name="Shape 1"/>
          <p:cNvSpPr/>
          <p:nvPr/>
        </p:nvSpPr>
        <p:spPr>
          <a:xfrm>
            <a:off x="9601200" y="-2286000"/>
            <a:ext cx="5484960" cy="548496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4" name="Shape 2"/>
          <p:cNvSpPr/>
          <p:nvPr/>
        </p:nvSpPr>
        <p:spPr>
          <a:xfrm>
            <a:off x="5591520" y="731520"/>
            <a:ext cx="1004400" cy="100440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95" name="Image 0" descr="icons/gradcap.png"/>
          <p:cNvPicPr/>
          <p:nvPr/>
        </p:nvPicPr>
        <p:blipFill>
          <a:blip r:embed="rId1"/>
          <a:stretch/>
        </p:blipFill>
        <p:spPr>
          <a:xfrm>
            <a:off x="5742360" y="882360"/>
            <a:ext cx="702720" cy="70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6" name="Text 3"/>
          <p:cNvSpPr/>
          <p:nvPr/>
        </p:nvSpPr>
        <p:spPr>
          <a:xfrm>
            <a:off x="914400" y="1965960"/>
            <a:ext cx="103586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WHERE YOU FIT IN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7" name="Text 4"/>
          <p:cNvSpPr/>
          <p:nvPr/>
        </p:nvSpPr>
        <p:spPr>
          <a:xfrm>
            <a:off x="914400" y="2377440"/>
            <a:ext cx="10358640" cy="20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Whatever field pulls you — agriculture, robotics,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healthcare, or policy — the path starts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with the same first step: today.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8" name="Text 5"/>
          <p:cNvSpPr/>
          <p:nvPr/>
        </p:nvSpPr>
        <p:spPr>
          <a:xfrm>
            <a:off x="1463040" y="4572000"/>
            <a:ext cx="926136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See you next session.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9" name="Text 6"/>
          <p:cNvSpPr/>
          <p:nvPr/>
        </p:nvSpPr>
        <p:spPr>
          <a:xfrm>
            <a:off x="11521440" y="644652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68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</TotalTime>
  <Application>LibreOffice/26.2.4.2$Linux_X86_64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2026-07-16T22:34:35Z</dcterms:created>
  <dc:creator>Course Instructor</dc:creator>
  <dc:description/>
  <dc:language>en-US</dc:language>
  <cp:lastModifiedBy/>
  <dcterms:modified xsi:type="dcterms:W3CDTF">2026-08-12T21:23:02Z</dcterms:modified>
  <cp:revision>30</cp:revision>
  <dc:subject>PptxGenJS Presentation</dc:subject>
  <dc:title>Code, Data &amp; Decisions — Day 1 &amp; 2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68</vt:i4>
  </property>
  <property fmtid="{D5CDD505-2E9C-101B-9397-08002B2CF9AE}" pid="3" name="PresentationFormat">
    <vt:lpwstr>On-screen Show (16:9)</vt:lpwstr>
  </property>
  <property fmtid="{D5CDD505-2E9C-101B-9397-08002B2CF9AE}" pid="4" name="Slides">
    <vt:i4>68</vt:i4>
  </property>
</Properties>
</file>