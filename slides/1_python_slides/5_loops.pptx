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18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37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6966954-3E87-4912-8EF7-76AB637AB8E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yof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ssi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s/t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8C667A-C6C7-4E65-804A-9C2BF13ECE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7531C1-B671-491E-90E7-1A5F974ECE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283502-F702-4BB0-9898-4329064117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8B6CE8-B91D-45C4-98AE-72CD4176D2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C04D4C-79ED-4F20-B33D-84C17A3CEE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this slowly — "the cursor moves one box at a time" is the core mental model for the whole session.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4DED91-E94C-4537-84C8-F480FDA6DC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427D43-0E9A-45AA-840A-3D1DB56E94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negative-step countdown is worth demoing live — nice callback to negative indices from last session.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408543-6ABC-42AE-ACB4-CEE5C8AFE47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520EB9-7374-40E7-B7B4-9EDCF4D25D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Compare directly against the previous slide — same output, noticeably cleaner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3BDB76-6867-4746-839C-A6444EDF94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great moment to revisit the Grade Report project — this is the loop version of what they did by hand with indexing.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C00544-FC23-41C2-AE90-7176FC6B69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CAFADA-89EC-40E3-BD31-E50F66C628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BCFEDC-8B53-40ED-81B5-4DBBB576E9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84E8D1-2060-4855-941B-400C1C58B2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6DD151-DE2C-4700-A383-4914F74106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Deliberately run the broken version live, then Ctrl+C to stop it — a memorable, safe way to show this.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3780FF-D4BD-44F8-B7C5-A692DA888E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D20F9B-1DDF-4A1F-9498-2322EA138A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92903B-9B48-49E0-BDAF-91738445A6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8B9274-948B-4FD2-A320-122BE99515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819B08-CF52-4B75-9072-6CD21DE506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6F0082-07FF-4CE4-8E7C-33C9DCF046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B78786-0B25-4190-AA99-17A47E96B1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Worth flagging explicitly as a Python quirk — most other languages don't have this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all.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674137-3A7F-4564-B81B-9198DAB987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callback to nested lists from Session 5 — a satisfying "this is what that was for" moment.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0F846B-B1F2-4F96-91C4-A14E70798C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D2B850-53BF-40B6-9A2D-AF20E87763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C94CC8-4D47-4DCC-A813-0ADADF1E1D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C28EE8-DB69-468F-9871-737B771CD6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7E94C4C-3E23-4976-97D7-05EA66C010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this as a translation exercise — show the loop first, then "shrink" it into the comprehension.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287C43-BC9D-4383-AA2B-AE7E03D97C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genuinely common real bug — worth running the broken version live to show the wrong output.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92A284-3DF8-4EFF-94C1-ED30A7E2C6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continuation of "front vs. back" from the Lists session — same intuition, now applied to loops.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9289E6-C943-4DC0-B723-E84D092714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553586-82BF-4B75-9E58-B9D8859EF3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DF2A16-338A-40A7-95FC-96EC6CB5F4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C27743-8E26-4DC2-8FB5-4487B166F5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C8D9DC-0778-4CA1-BC26-6D5F3AE04A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1D6208-1D54-4A48-A04D-B127101F68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 by having students compare their old indexing-based Grade Report to the new loop version — the contrast is the whole lesson.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1D50A6-7D1D-4AB0-B1C8-686C1444AD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400080" cy="64000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0080" y="914400"/>
            <a:ext cx="1188000" cy="11880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icons/sync.png"/>
          <p:cNvPicPr/>
          <p:nvPr/>
        </p:nvPicPr>
        <p:blipFill>
          <a:blip r:embed="rId1"/>
          <a:stretch/>
        </p:blipFill>
        <p:spPr>
          <a:xfrm>
            <a:off x="5678280" y="1092600"/>
            <a:ext cx="831240" cy="83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377440"/>
            <a:ext cx="1035936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Loops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914400" y="3383280"/>
            <a:ext cx="103593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Doing Something Again, Without Repeating Yourself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3977640"/>
            <a:ext cx="10359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Session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10515600" y="-13716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3"/>
          <p:cNvSpPr/>
          <p:nvPr/>
        </p:nvSpPr>
        <p:spPr>
          <a:xfrm>
            <a:off x="457200" y="160020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621720" y="166284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" name="Image 1" descr="icons/boxes.png"/>
          <p:cNvPicPr/>
          <p:nvPr/>
        </p:nvPicPr>
        <p:blipFill>
          <a:blip r:embed="rId2"/>
          <a:stretch/>
        </p:blipFill>
        <p:spPr>
          <a:xfrm>
            <a:off x="669960" y="171108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Text 5"/>
          <p:cNvSpPr/>
          <p:nvPr/>
        </p:nvSpPr>
        <p:spPr>
          <a:xfrm>
            <a:off x="1325880" y="160020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Why loops exist — the for loop, and iterating lists/tuples/strings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57200" y="213876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621720" y="220140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2" descr="icons/hashtag.png"/>
          <p:cNvPicPr/>
          <p:nvPr/>
        </p:nvPicPr>
        <p:blipFill>
          <a:blip r:embed="rId3"/>
          <a:stretch/>
        </p:blipFill>
        <p:spPr>
          <a:xfrm>
            <a:off x="669960" y="224964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8"/>
          <p:cNvSpPr/>
          <p:nvPr/>
        </p:nvSpPr>
        <p:spPr>
          <a:xfrm>
            <a:off x="1325880" y="213876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range(), enumerate(), and zip()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9"/>
          <p:cNvSpPr/>
          <p:nvPr/>
        </p:nvSpPr>
        <p:spPr>
          <a:xfrm>
            <a:off x="457200" y="267732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0"/>
          <p:cNvSpPr/>
          <p:nvPr/>
        </p:nvSpPr>
        <p:spPr>
          <a:xfrm>
            <a:off x="621720" y="273960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3" descr="icons/infinity.png"/>
          <p:cNvPicPr/>
          <p:nvPr/>
        </p:nvPicPr>
        <p:blipFill>
          <a:blip r:embed="rId4"/>
          <a:stretch/>
        </p:blipFill>
        <p:spPr>
          <a:xfrm>
            <a:off x="669960" y="278820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Text 11"/>
          <p:cNvSpPr/>
          <p:nvPr/>
        </p:nvSpPr>
        <p:spPr>
          <a:xfrm>
            <a:off x="1325880" y="267732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while loop, and avoiding infinite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2"/>
          <p:cNvSpPr/>
          <p:nvPr/>
        </p:nvSpPr>
        <p:spPr>
          <a:xfrm>
            <a:off x="457200" y="321552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3"/>
          <p:cNvSpPr/>
          <p:nvPr/>
        </p:nvSpPr>
        <p:spPr>
          <a:xfrm>
            <a:off x="621720" y="327816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" name="Image 4" descr="icons/checkdouble.png"/>
          <p:cNvPicPr/>
          <p:nvPr/>
        </p:nvPicPr>
        <p:blipFill>
          <a:blip r:embed="rId5"/>
          <a:stretch/>
        </p:blipFill>
        <p:spPr>
          <a:xfrm>
            <a:off x="669960" y="332640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 14"/>
          <p:cNvSpPr/>
          <p:nvPr/>
        </p:nvSpPr>
        <p:spPr>
          <a:xfrm>
            <a:off x="1325880" y="321552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Input validation &amp; sentinel-controlled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375408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6"/>
          <p:cNvSpPr/>
          <p:nvPr/>
        </p:nvSpPr>
        <p:spPr>
          <a:xfrm>
            <a:off x="621720" y="381672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5" descr="icons/warning.png"/>
          <p:cNvPicPr/>
          <p:nvPr/>
        </p:nvPicPr>
        <p:blipFill>
          <a:blip r:embed="rId6"/>
          <a:stretch/>
        </p:blipFill>
        <p:spPr>
          <a:xfrm>
            <a:off x="669960" y="386496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7"/>
          <p:cNvSpPr/>
          <p:nvPr/>
        </p:nvSpPr>
        <p:spPr>
          <a:xfrm>
            <a:off x="1325880" y="375408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break, continue, and the loop else clause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457200" y="429264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"/>
          <p:cNvSpPr/>
          <p:nvPr/>
        </p:nvSpPr>
        <p:spPr>
          <a:xfrm>
            <a:off x="621720" y="435528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6" descr="icons/layergroup.png"/>
          <p:cNvPicPr/>
          <p:nvPr/>
        </p:nvPicPr>
        <p:blipFill>
          <a:blip r:embed="rId7"/>
          <a:stretch/>
        </p:blipFill>
        <p:spPr>
          <a:xfrm>
            <a:off x="669960" y="440352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20"/>
          <p:cNvSpPr/>
          <p:nvPr/>
        </p:nvSpPr>
        <p:spPr>
          <a:xfrm>
            <a:off x="1325880" y="429264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Nested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1"/>
          <p:cNvSpPr/>
          <p:nvPr/>
        </p:nvSpPr>
        <p:spPr>
          <a:xfrm>
            <a:off x="457200" y="483120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2"/>
          <p:cNvSpPr/>
          <p:nvPr/>
        </p:nvSpPr>
        <p:spPr>
          <a:xfrm>
            <a:off x="621720" y="489384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" name="Image 7" descr="icons/chart.png"/>
          <p:cNvPicPr/>
          <p:nvPr/>
        </p:nvPicPr>
        <p:blipFill>
          <a:blip r:embed="rId8"/>
          <a:stretch/>
        </p:blipFill>
        <p:spPr>
          <a:xfrm>
            <a:off x="669960" y="494208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 23"/>
          <p:cNvSpPr/>
          <p:nvPr/>
        </p:nvSpPr>
        <p:spPr>
          <a:xfrm>
            <a:off x="1325880" y="483120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Real-world patterns: accumulator, search, comprehensions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4"/>
          <p:cNvSpPr/>
          <p:nvPr/>
        </p:nvSpPr>
        <p:spPr>
          <a:xfrm>
            <a:off x="457200" y="536940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621720" y="543204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" name="Image 8" descr="icons/bolt.png"/>
          <p:cNvPicPr/>
          <p:nvPr/>
        </p:nvPicPr>
        <p:blipFill>
          <a:blip r:embed="rId9"/>
          <a:stretch/>
        </p:blipFill>
        <p:spPr>
          <a:xfrm>
            <a:off x="669960" y="548028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Text 26"/>
          <p:cNvSpPr/>
          <p:nvPr/>
        </p:nvSpPr>
        <p:spPr>
          <a:xfrm>
            <a:off x="1325880" y="536940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second look at time complexity — nested loops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7"/>
          <p:cNvSpPr/>
          <p:nvPr/>
        </p:nvSpPr>
        <p:spPr>
          <a:xfrm>
            <a:off x="457200" y="5907960"/>
            <a:ext cx="11273760" cy="446400"/>
          </a:xfrm>
          <a:prstGeom prst="roundRect">
            <a:avLst>
              <a:gd name="adj" fmla="val 14318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21720" y="5970600"/>
            <a:ext cx="321120" cy="3211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9" descr="icons/tasks.png"/>
          <p:cNvPicPr/>
          <p:nvPr/>
        </p:nvPicPr>
        <p:blipFill>
          <a:blip r:embed="rId10"/>
          <a:stretch/>
        </p:blipFill>
        <p:spPr>
          <a:xfrm>
            <a:off x="669960" y="6018840"/>
            <a:ext cx="22464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29"/>
          <p:cNvSpPr/>
          <p:nvPr/>
        </p:nvSpPr>
        <p:spPr>
          <a:xfrm>
            <a:off x="1325880" y="5907960"/>
            <a:ext cx="1005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Mini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proje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cts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tying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ever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ythin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g 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toget</a:t>
            </a:r>
            <a:r>
              <a:rPr lang="en-US" sz="13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0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3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" name="Image 0" descr="icons/sync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for Loop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This is the moment lists and tuples finally pay off.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Why Do Loops Exist?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1" descr="icons/sync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Stop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repeating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yourself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is an iterative control structure that repeatedly executes a block of code as long as a specified condition is satisfied or for a specified number of iterations.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Without a loop, printing 6 student names means writing print() six separate times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lets you say "do this once for every item" — one instruction, applied automatically to each item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why lists and tuples exist — a loop is how you actually use everything inside one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Programmers call this principle DRY: Don't Repeat Yourself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for Loop — Basic Syntax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for item in a_list: runs the indented block once for every item in the list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choose the name "item" — it can be anything you like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No indexing needed at all — Python hands you each value directly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fruits = ["apple", "banana", "mango"]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fruit in fruits: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print(fruit)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apple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banana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mango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What's Actually Happening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"/>
          <p:cNvSpPr/>
          <p:nvPr/>
        </p:nvSpPr>
        <p:spPr>
          <a:xfrm>
            <a:off x="548640" y="1417320"/>
            <a:ext cx="11090880" cy="502200"/>
          </a:xfrm>
          <a:prstGeom prst="roundRect">
            <a:avLst>
              <a:gd name="adj" fmla="val 1272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3"/>
          <p:cNvSpPr/>
          <p:nvPr/>
        </p:nvSpPr>
        <p:spPr>
          <a:xfrm>
            <a:off x="731520" y="1417320"/>
            <a:ext cx="1072512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fruit in fruits:  -&gt;  fruit takes each value, one at a time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2743200" y="2743200"/>
            <a:ext cx="1828080" cy="621000"/>
          </a:xfrm>
          <a:prstGeom prst="roundRect">
            <a:avLst>
              <a:gd name="adj" fmla="val 7353"/>
            </a:avLst>
          </a:prstGeom>
          <a:solidFill>
            <a:srgbClr val="EFDFB8"/>
          </a:solidFill>
          <a:ln w="19050">
            <a:solidFill>
              <a:srgbClr val="C98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"/>
          <p:cNvSpPr/>
          <p:nvPr/>
        </p:nvSpPr>
        <p:spPr>
          <a:xfrm>
            <a:off x="2743200" y="2743200"/>
            <a:ext cx="18280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"apple"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2743200" y="245052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C98A2B"/>
                </a:solidFill>
                <a:effectLst/>
                <a:uFillTx/>
                <a:latin typeface="Calibri"/>
                <a:ea typeface="Calibri"/>
              </a:rPr>
              <a:t>↓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7"/>
          <p:cNvSpPr/>
          <p:nvPr/>
        </p:nvSpPr>
        <p:spPr>
          <a:xfrm>
            <a:off x="4626720" y="2743200"/>
            <a:ext cx="1828080" cy="62100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8"/>
          <p:cNvSpPr/>
          <p:nvPr/>
        </p:nvSpPr>
        <p:spPr>
          <a:xfrm>
            <a:off x="4626720" y="2743200"/>
            <a:ext cx="18280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"banana"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9"/>
          <p:cNvSpPr/>
          <p:nvPr/>
        </p:nvSpPr>
        <p:spPr>
          <a:xfrm>
            <a:off x="6510600" y="2743200"/>
            <a:ext cx="1828080" cy="621000"/>
          </a:xfrm>
          <a:prstGeom prst="roundRect">
            <a:avLst>
              <a:gd name="adj" fmla="val 7353"/>
            </a:avLst>
          </a:prstGeom>
          <a:solidFill>
            <a:srgbClr val="F1F3EC"/>
          </a:solidFill>
          <a:ln w="1905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0"/>
          <p:cNvSpPr/>
          <p:nvPr/>
        </p:nvSpPr>
        <p:spPr>
          <a:xfrm>
            <a:off x="6510600" y="2743200"/>
            <a:ext cx="1828080" cy="62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B2420"/>
                </a:solidFill>
                <a:effectLst/>
                <a:uFillTx/>
                <a:latin typeface="Cantarell"/>
                <a:ea typeface="Consolas"/>
              </a:rPr>
              <a:t>"mango"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1"/>
          <p:cNvSpPr/>
          <p:nvPr/>
        </p:nvSpPr>
        <p:spPr>
          <a:xfrm>
            <a:off x="548640" y="4206240"/>
            <a:ext cx="110908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Round 1: fruit = "apple"    Round 2: fruit = "banana"    Round 3: fruit = "mango"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automatically moves to the next box each time, and stops after the last 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5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never manage the position yourself — that's the whole point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2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Looping Over Tuples and Strings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exact same for syntax works on a tuple — no changes needed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 even works on a string, looping over one character at a time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 can index it or slice it, you can almost always loop over it too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coordinates = (4, 7, 9)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number in coordinates: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print(number)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letter in "abc":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print(letter)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range() — Looping a Specific Number of Times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range() generates a sequence of numbers — perfect when you want to repeat something N times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range(n) counts from 0 up to (not including) 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range(start, stop) and range(start, stop, step) give you full control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range(5):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0 1 2 3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range(2, 6):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2 3 4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range(10, 0, -2):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print(i)          # 10 8 6 4 2  &lt;- counting down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0" descr="icons/hashta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i in range(len(list)) — Index-Based Looping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Sometimes you need the index itself, not just the value — this pattern gives you that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when you need to compare or update items at specific positions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But if you only need the values, plain for item in list is simpler — don't reach for this by default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 in range(len(scores)):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print("Position", i, "-&gt;", scores[i])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0 -&gt;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1 -&gt;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2 -&gt;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Image 0" descr="icons/listol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enumerate() — Index and Value Together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enumerate() gives you both the index and the value, in one clean loop — no range(len(...)) needed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the preferred way to get both, and shows up constantly in real code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i, score in enumerate(scores):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print("Position", i, "-&gt;", score)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0 -&gt;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1 -&gt;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Position 2 -&gt;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1" name="Image 0" descr="icons/link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zip() — Looping Over Two Lists Together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zip() pairs up items from two (or more) lists, position by position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Perfect for exactly the kind of data you worked with in the Grade Report mini project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Stops automatically at the shorter list, if the lists are different lengths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names = ["Aisha", "Bilal", "Sara"]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scores = [88, 92, 79]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name, score in zip(names, scores):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print(name, "scored", score)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Aisha scored 88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Bilal scored 92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Sara scored 79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for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over a list of 3 colors and print each 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8"/>
          <p:cNvSpPr/>
          <p:nvPr/>
        </p:nvSpPr>
        <p:spPr>
          <a:xfrm>
            <a:off x="822960" y="30099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822960" y="30099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0"/>
          <p:cNvSpPr/>
          <p:nvPr/>
        </p:nvSpPr>
        <p:spPr>
          <a:xfrm>
            <a:off x="1435680" y="30099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range(5) to print the numbers 0 through 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1"/>
          <p:cNvSpPr/>
          <p:nvPr/>
        </p:nvSpPr>
        <p:spPr>
          <a:xfrm>
            <a:off x="822960" y="35967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822960" y="35967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3"/>
          <p:cNvSpPr/>
          <p:nvPr/>
        </p:nvSpPr>
        <p:spPr>
          <a:xfrm>
            <a:off x="1435680" y="35967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range() to print only the even numbers from 0 to 10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4"/>
          <p:cNvSpPr/>
          <p:nvPr/>
        </p:nvSpPr>
        <p:spPr>
          <a:xfrm>
            <a:off x="822960" y="4183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5"/>
          <p:cNvSpPr/>
          <p:nvPr/>
        </p:nvSpPr>
        <p:spPr>
          <a:xfrm>
            <a:off x="822960" y="4183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6"/>
          <p:cNvSpPr/>
          <p:nvPr/>
        </p:nvSpPr>
        <p:spPr>
          <a:xfrm>
            <a:off x="1435680" y="4183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over a string and print each character on its own line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7"/>
          <p:cNvSpPr/>
          <p:nvPr/>
        </p:nvSpPr>
        <p:spPr>
          <a:xfrm>
            <a:off x="822960" y="477000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8"/>
          <p:cNvSpPr/>
          <p:nvPr/>
        </p:nvSpPr>
        <p:spPr>
          <a:xfrm>
            <a:off x="822960" y="47700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9"/>
          <p:cNvSpPr/>
          <p:nvPr/>
        </p:nvSpPr>
        <p:spPr>
          <a:xfrm>
            <a:off x="1435680" y="477000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enumerate() to print each item in a list along with its position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0"/>
          <p:cNvSpPr/>
          <p:nvPr/>
        </p:nvSpPr>
        <p:spPr>
          <a:xfrm>
            <a:off x="822960" y="535680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1"/>
          <p:cNvSpPr/>
          <p:nvPr/>
        </p:nvSpPr>
        <p:spPr>
          <a:xfrm>
            <a:off x="822960" y="53568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2"/>
          <p:cNvSpPr/>
          <p:nvPr/>
        </p:nvSpPr>
        <p:spPr>
          <a:xfrm>
            <a:off x="1435680" y="535680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zip() to loop over two short lists of your own and print them paired together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3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4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7" name="Image 0" descr="icons/infinity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while Loop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3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while Loop — Basic Syntax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while keeps running its block as long as a condition stays True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Unlike for, it doesn't know in advance how many times it will run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Something inside the loop must eventually make the condition False, or it never stops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+=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2 3 4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1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for vs. while — Which One?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2"/>
          <p:cNvSpPr/>
          <p:nvPr/>
        </p:nvSpPr>
        <p:spPr>
          <a:xfrm>
            <a:off x="457200" y="1645920"/>
            <a:ext cx="5348520" cy="447984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731520" y="1874520"/>
            <a:ext cx="456480" cy="4564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5" name="Image 1" descr="icons/sync.png"/>
          <p:cNvPicPr/>
          <p:nvPr/>
        </p:nvPicPr>
        <p:blipFill>
          <a:blip r:embed="rId2"/>
          <a:stretch/>
        </p:blipFill>
        <p:spPr>
          <a:xfrm>
            <a:off x="800280" y="19432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 4"/>
          <p:cNvSpPr/>
          <p:nvPr/>
        </p:nvSpPr>
        <p:spPr>
          <a:xfrm>
            <a:off x="1325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Use for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731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already know how many times to repeat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working through a list, tuple, or string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printing every item in a list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6172200" y="1645920"/>
            <a:ext cx="5348520" cy="4479840"/>
          </a:xfrm>
          <a:prstGeom prst="roundRect">
            <a:avLst>
              <a:gd name="adj" fmla="val 1633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7"/>
          <p:cNvSpPr/>
          <p:nvPr/>
        </p:nvSpPr>
        <p:spPr>
          <a:xfrm>
            <a:off x="6446520" y="1874520"/>
            <a:ext cx="456480" cy="456480"/>
          </a:xfrm>
          <a:prstGeom prst="ellipse">
            <a:avLst/>
          </a:prstGeom>
          <a:solidFill>
            <a:srgbClr val="A547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0" name="Image 2" descr="icons/infinity.png"/>
          <p:cNvPicPr/>
          <p:nvPr/>
        </p:nvPicPr>
        <p:blipFill>
          <a:blip r:embed="rId3"/>
          <a:stretch/>
        </p:blipFill>
        <p:spPr>
          <a:xfrm>
            <a:off x="6515280" y="1943280"/>
            <a:ext cx="319320" cy="31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8"/>
          <p:cNvSpPr/>
          <p:nvPr/>
        </p:nvSpPr>
        <p:spPr>
          <a:xfrm>
            <a:off x="7040880" y="1874520"/>
            <a:ext cx="4342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A5473F"/>
                </a:solidFill>
                <a:effectLst/>
                <a:uFillTx/>
                <a:latin typeface="Cambria"/>
                <a:ea typeface="Cambria"/>
              </a:rPr>
              <a:t>Use while When...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6446520" y="2514600"/>
            <a:ext cx="4799880" cy="33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 don't know in advance how many times you'll repeat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You're waiting for a condition to change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Example: keep asking until the user enters a valid answer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0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Infinite Loops — What Causes Them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the condition never becomes False, the loop never stops — this is an infinite loop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most common cause: forgetting to update the variable the condition depends 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your program ever seems frozen, this is the first thing to check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 — count never changes, runs forever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FIXED — count is updated every time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count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count &lt;= 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print(count)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count +=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6" name="Image 0" descr="icons/checkdouble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Input Validation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very common real use of while: keep asking until the user gives a genuinely valid answer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repeats the question every time the input fails the check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age = int(input("Enter your age: "))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age &lt;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print("Age cannot be negative.")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age = int(input("Enter your age: "))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print("Thanks! Your age is", age)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" name="Image 0" descr="icons/flagcheckered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Sentinel-Controlled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sentinel value is a special input that means "stop the loop" — like typing "quit"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pattern is used everywhere: menus, chat programs, simple games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command = ""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while command != "quit":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command = input("Type a command (or 'quit'): 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print("You typed:", command)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print("Goodbye!")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4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while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while loop to print the numbers 1 through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822960" y="33033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822960" y="33033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1435680" y="33033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a while loop to count down from 10 to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1"/>
          <p:cNvSpPr/>
          <p:nvPr/>
        </p:nvSpPr>
        <p:spPr>
          <a:xfrm>
            <a:off x="822960" y="4183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2"/>
          <p:cNvSpPr/>
          <p:nvPr/>
        </p:nvSpPr>
        <p:spPr>
          <a:xfrm>
            <a:off x="822960" y="4183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1435680" y="4183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while loop that keeps asking for a password until the user types "python123"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4"/>
          <p:cNvSpPr/>
          <p:nvPr/>
        </p:nvSpPr>
        <p:spPr>
          <a:xfrm>
            <a:off x="822960" y="506340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5"/>
          <p:cNvSpPr/>
          <p:nvPr/>
        </p:nvSpPr>
        <p:spPr>
          <a:xfrm>
            <a:off x="822960" y="50634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6"/>
          <p:cNvSpPr/>
          <p:nvPr/>
        </p:nvSpPr>
        <p:spPr>
          <a:xfrm>
            <a:off x="1435680" y="506340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Deliberately write an infinite loop, run it, then stop it with Ctrl+C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7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5" name="Image 0" descr="icons/warning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Loop Control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5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1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break — Exit Early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break immediately stops the loop completely, even if it wasn't finished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Commonly used once you've found what you were looking for — no reason to keep going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15: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 it!")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print("Checking", 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continue — Skip to the Next Round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continue skips the rest of the current round only, then moves on to the next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loop keeps going overall — only that one round is cut short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3, 4, 5,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continue     # skip even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3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9" name="Image 0" descr="icons/flagcheckered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else Clause on a Loop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one is genuinely Python-specific: a loop can have its own else block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else only runs if the loop finished normally — never triggered by break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Useful for "search and report if nothing was found" patterns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== 100: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 it!")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else: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print("100 was never in the list")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8" name="Image 0" descr="icons/layergroup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loop can contain another loop inside it — the inner loop runs completely for every single round of the outer one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how you work through a nested list (a grid) from last session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grid = [[1, 2, 3], [4, 5, 6]]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row in grid: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for value in row: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print(value)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1 2 3 4 5 6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7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Loop Control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numbers and use break to stop as soon as you find one over 50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8"/>
          <p:cNvSpPr/>
          <p:nvPr/>
        </p:nvSpPr>
        <p:spPr>
          <a:xfrm>
            <a:off x="822960" y="33033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9"/>
          <p:cNvSpPr/>
          <p:nvPr/>
        </p:nvSpPr>
        <p:spPr>
          <a:xfrm>
            <a:off x="822960" y="33033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0"/>
          <p:cNvSpPr/>
          <p:nvPr/>
        </p:nvSpPr>
        <p:spPr>
          <a:xfrm>
            <a:off x="1435680" y="33033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numbers and use continue to print only the odd ones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1"/>
          <p:cNvSpPr/>
          <p:nvPr/>
        </p:nvSpPr>
        <p:spPr>
          <a:xfrm>
            <a:off x="822960" y="4183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2"/>
          <p:cNvSpPr/>
          <p:nvPr/>
        </p:nvSpPr>
        <p:spPr>
          <a:xfrm>
            <a:off x="822960" y="4183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3"/>
          <p:cNvSpPr/>
          <p:nvPr/>
        </p:nvSpPr>
        <p:spPr>
          <a:xfrm>
            <a:off x="1435680" y="4183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for/else that searches for a name in a list and reports if it wasn't found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4"/>
          <p:cNvSpPr/>
          <p:nvPr/>
        </p:nvSpPr>
        <p:spPr>
          <a:xfrm>
            <a:off x="822960" y="506340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5"/>
          <p:cNvSpPr/>
          <p:nvPr/>
        </p:nvSpPr>
        <p:spPr>
          <a:xfrm>
            <a:off x="822960" y="50634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6"/>
          <p:cNvSpPr/>
          <p:nvPr/>
        </p:nvSpPr>
        <p:spPr>
          <a:xfrm>
            <a:off x="1435680" y="506340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nested loop that prints every item in a small 2x2 grid (list of lists)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7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0" descr="icons/chart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Patterns You'll Actually Use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The same handful of loop shapes show up again and again in real code.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5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Accumulator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Start with an empty value (0, "", or []), then build it up one step at a time inside the loop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how sum(), and many things sum() can't do alone, actually work under the hood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[4, 8, 15, 16, 23, 42]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total = 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total += 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print(total)   # 108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4" name="Image 0" descr="icons/search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The Search Pattern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everything, check a condition, and break the moment you find a match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This is exactly what in secretly does behind the scenes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names = ["Aisha", "Bilal", "Sara"]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target = "Bilal"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name in names: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name == target: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print("Found", target)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break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icons/boxopen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List Comprehensions — The Shortcut Version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A list comprehension builds a new list from a loop, in a single line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It's just a for loop that creates a list — same idea, more compact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whichever version reads more clearly to you; both are completely valid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loop version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squares = []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range(5):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squares.append(n ** 2)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the comprehension version — identical result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squares = [n ** 2 for n in range(5)]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print(squares)   # [0, 1, 4, 9, 16]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0"/>
          <p:cNvSpPr/>
          <p:nvPr/>
        </p:nvSpPr>
        <p:spPr>
          <a:xfrm>
            <a:off x="-1828800" y="512064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2" name="Image 0" descr="icons/warning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Gotcha: Modifying a List While Looping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548640" y="1828800"/>
            <a:ext cx="475416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Removing or adding items to a list while you're looping over it causes items to be skipped or repeated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Python doesn't stop you — it just silently produces the wrong answer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safe fix: loop over a copy instead, with list(original) or original[:]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4"/>
          <p:cNvSpPr/>
          <p:nvPr/>
        </p:nvSpPr>
        <p:spPr>
          <a:xfrm>
            <a:off x="5486400" y="1691640"/>
            <a:ext cx="6217200" cy="4342680"/>
          </a:xfrm>
          <a:prstGeom prst="roundRect">
            <a:avLst>
              <a:gd name="adj" fmla="val 168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5"/>
          <p:cNvSpPr/>
          <p:nvPr/>
        </p:nvSpPr>
        <p:spPr>
          <a:xfrm>
            <a:off x="5806440" y="1965960"/>
            <a:ext cx="557712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BROKEN — skips an item because indices shift mid-loop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4,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numbers.remove(n)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print(numbers)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5C6C63"/>
                </a:solidFill>
                <a:effectLst/>
                <a:uFillTx/>
                <a:latin typeface="Cantarell"/>
                <a:ea typeface="Consolas"/>
              </a:rPr>
              <a:t># SAFE — loop over a copy instead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numbers = [1, 2, 4, 6]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for n in numbers[:]: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if n % 2 == 0: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        numbers.remove(n)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9D3CC"/>
                </a:solidFill>
                <a:effectLst/>
                <a:uFillTx/>
                <a:latin typeface="Cantarell"/>
                <a:ea typeface="Consolas"/>
              </a:rPr>
              <a:t>print(numbers)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7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0" name="Image 0" descr="icons/bol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1" name="Text 1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Second Look at Time Complexity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2"/>
          <p:cNvSpPr/>
          <p:nvPr/>
        </p:nvSpPr>
        <p:spPr>
          <a:xfrm>
            <a:off x="457200" y="1508760"/>
            <a:ext cx="5522400" cy="489132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3"/>
          <p:cNvSpPr/>
          <p:nvPr/>
        </p:nvSpPr>
        <p:spPr>
          <a:xfrm>
            <a:off x="294444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4" name="Image 1" descr="icons/sync.png"/>
          <p:cNvPicPr/>
          <p:nvPr/>
        </p:nvPicPr>
        <p:blipFill>
          <a:blip r:embed="rId2"/>
          <a:stretch/>
        </p:blipFill>
        <p:spPr>
          <a:xfrm>
            <a:off x="302652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Text 4"/>
          <p:cNvSpPr/>
          <p:nvPr/>
        </p:nvSpPr>
        <p:spPr>
          <a:xfrm>
            <a:off x="548640" y="2717640"/>
            <a:ext cx="533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One Loop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5"/>
          <p:cNvSpPr/>
          <p:nvPr/>
        </p:nvSpPr>
        <p:spPr>
          <a:xfrm>
            <a:off x="603360" y="3101760"/>
            <a:ext cx="5229720" cy="32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item once — roughly n steps for n items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6"/>
          <p:cNvSpPr/>
          <p:nvPr/>
        </p:nvSpPr>
        <p:spPr>
          <a:xfrm>
            <a:off x="6208920" y="1508760"/>
            <a:ext cx="5522400" cy="4891320"/>
          </a:xfrm>
          <a:prstGeom prst="roundRect">
            <a:avLst>
              <a:gd name="adj" fmla="val 1495"/>
            </a:avLst>
          </a:prstGeom>
          <a:solidFill>
            <a:srgbClr val="F1F3EC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888888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7"/>
          <p:cNvSpPr/>
          <p:nvPr/>
        </p:nvSpPr>
        <p:spPr>
          <a:xfrm>
            <a:off x="8695800" y="2095920"/>
            <a:ext cx="547920" cy="5479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9" name="Image 2" descr="icons/layergroup.png"/>
          <p:cNvPicPr/>
          <p:nvPr/>
        </p:nvPicPr>
        <p:blipFill>
          <a:blip r:embed="rId3"/>
          <a:stretch/>
        </p:blipFill>
        <p:spPr>
          <a:xfrm>
            <a:off x="8778240" y="2178000"/>
            <a:ext cx="383400" cy="38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Text 8"/>
          <p:cNvSpPr/>
          <p:nvPr/>
        </p:nvSpPr>
        <p:spPr>
          <a:xfrm>
            <a:off x="6300360" y="2717640"/>
            <a:ext cx="533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Nested Loops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9"/>
          <p:cNvSpPr/>
          <p:nvPr/>
        </p:nvSpPr>
        <p:spPr>
          <a:xfrm>
            <a:off x="6355080" y="3101760"/>
            <a:ext cx="5229720" cy="32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B564F"/>
                </a:solidFill>
                <a:effectLst/>
                <a:uFillTx/>
                <a:latin typeface="Calibri"/>
                <a:ea typeface="Calibri"/>
              </a:rPr>
              <a:t>Checks every pair — roughly n × n steps, much slower as the list grows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0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1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6" name="Image 0" descr="icons/chart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Practice Set — Patterns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Try these yourself first — no code shown, that's the point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5"/>
          <p:cNvSpPr/>
          <p:nvPr/>
        </p:nvSpPr>
        <p:spPr>
          <a:xfrm>
            <a:off x="822960" y="24231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6"/>
          <p:cNvSpPr/>
          <p:nvPr/>
        </p:nvSpPr>
        <p:spPr>
          <a:xfrm>
            <a:off x="822960" y="24231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7"/>
          <p:cNvSpPr/>
          <p:nvPr/>
        </p:nvSpPr>
        <p:spPr>
          <a:xfrm>
            <a:off x="1435680" y="24231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the accumulator pattern to count how many numbers in a list are negative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8"/>
          <p:cNvSpPr/>
          <p:nvPr/>
        </p:nvSpPr>
        <p:spPr>
          <a:xfrm>
            <a:off x="822960" y="33033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9"/>
          <p:cNvSpPr/>
          <p:nvPr/>
        </p:nvSpPr>
        <p:spPr>
          <a:xfrm>
            <a:off x="822960" y="33033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0"/>
          <p:cNvSpPr/>
          <p:nvPr/>
        </p:nvSpPr>
        <p:spPr>
          <a:xfrm>
            <a:off x="1435680" y="33033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the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searc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h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patte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rn to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check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if a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specif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ic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word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exists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 a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list of 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word</a:t>
            </a: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1"/>
          <p:cNvSpPr/>
          <p:nvPr/>
        </p:nvSpPr>
        <p:spPr>
          <a:xfrm>
            <a:off x="822960" y="418356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2"/>
          <p:cNvSpPr/>
          <p:nvPr/>
        </p:nvSpPr>
        <p:spPr>
          <a:xfrm>
            <a:off x="822960" y="418356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3"/>
          <p:cNvSpPr/>
          <p:nvPr/>
        </p:nvSpPr>
        <p:spPr>
          <a:xfrm>
            <a:off x="1435680" y="418356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list comprehension that builds a list of the first 10 square numbers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4"/>
          <p:cNvSpPr/>
          <p:nvPr/>
        </p:nvSpPr>
        <p:spPr>
          <a:xfrm>
            <a:off x="822960" y="5063400"/>
            <a:ext cx="383400" cy="383400"/>
          </a:xfrm>
          <a:prstGeom prst="ellipse">
            <a:avLst/>
          </a:prstGeom>
          <a:solidFill>
            <a:srgbClr val="1F51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5"/>
          <p:cNvSpPr/>
          <p:nvPr/>
        </p:nvSpPr>
        <p:spPr>
          <a:xfrm>
            <a:off x="822960" y="506340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6"/>
          <p:cNvSpPr/>
          <p:nvPr/>
        </p:nvSpPr>
        <p:spPr>
          <a:xfrm>
            <a:off x="1435680" y="5063400"/>
            <a:ext cx="95821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Predict what a broken "modify while looping" example will print, then run it to check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96" name="Image 0" descr="icons/sync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7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A: for Loops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5"/>
          <p:cNvSpPr/>
          <p:nvPr/>
        </p:nvSpPr>
        <p:spPr>
          <a:xfrm>
            <a:off x="822960" y="2423160"/>
            <a:ext cx="419760" cy="419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1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3760" cy="29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Shape 6"/>
          <p:cNvSpPr/>
          <p:nvPr/>
        </p:nvSpPr>
        <p:spPr>
          <a:xfrm>
            <a:off x="1417320" y="2441520"/>
            <a:ext cx="419760" cy="38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7"/>
          <p:cNvSpPr/>
          <p:nvPr/>
        </p:nvSpPr>
        <p:spPr>
          <a:xfrm>
            <a:off x="1417320" y="2441520"/>
            <a:ext cx="41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8"/>
          <p:cNvSpPr/>
          <p:nvPr/>
        </p:nvSpPr>
        <p:spPr>
          <a:xfrm>
            <a:off x="2011680" y="2423160"/>
            <a:ext cx="941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Print every number from 1 to 10 using a for loop and range()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9"/>
          <p:cNvSpPr/>
          <p:nvPr/>
        </p:nvSpPr>
        <p:spPr>
          <a:xfrm>
            <a:off x="822960" y="3303360"/>
            <a:ext cx="419760" cy="419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366360"/>
            <a:ext cx="293760" cy="29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7" name="Shape 10"/>
          <p:cNvSpPr/>
          <p:nvPr/>
        </p:nvSpPr>
        <p:spPr>
          <a:xfrm>
            <a:off x="1417320" y="3321720"/>
            <a:ext cx="419760" cy="38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1"/>
          <p:cNvSpPr/>
          <p:nvPr/>
        </p:nvSpPr>
        <p:spPr>
          <a:xfrm>
            <a:off x="1417320" y="3321720"/>
            <a:ext cx="41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2"/>
          <p:cNvSpPr/>
          <p:nvPr/>
        </p:nvSpPr>
        <p:spPr>
          <a:xfrm>
            <a:off x="2011680" y="3303360"/>
            <a:ext cx="941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Loop through a list of 5 of your favorite movies and print each 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3"/>
          <p:cNvSpPr/>
          <p:nvPr/>
        </p:nvSpPr>
        <p:spPr>
          <a:xfrm>
            <a:off x="822960" y="4183560"/>
            <a:ext cx="419760" cy="419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1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246560"/>
            <a:ext cx="293760" cy="29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2" name="Shape 14"/>
          <p:cNvSpPr/>
          <p:nvPr/>
        </p:nvSpPr>
        <p:spPr>
          <a:xfrm>
            <a:off x="1417320" y="4201560"/>
            <a:ext cx="419760" cy="38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5"/>
          <p:cNvSpPr/>
          <p:nvPr/>
        </p:nvSpPr>
        <p:spPr>
          <a:xfrm>
            <a:off x="1417320" y="4201560"/>
            <a:ext cx="41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6"/>
          <p:cNvSpPr/>
          <p:nvPr/>
        </p:nvSpPr>
        <p:spPr>
          <a:xfrm>
            <a:off x="2011680" y="4183560"/>
            <a:ext cx="941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enumerate() to print a numbered list (1. ..., 2. ..., 3. ...) from a list of items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17"/>
          <p:cNvSpPr/>
          <p:nvPr/>
        </p:nvSpPr>
        <p:spPr>
          <a:xfrm>
            <a:off x="822960" y="5063400"/>
            <a:ext cx="419760" cy="419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6" name="Image 4" descr="icons/checkdouble.png"/>
          <p:cNvPicPr/>
          <p:nvPr/>
        </p:nvPicPr>
        <p:blipFill>
          <a:blip r:embed="rId5"/>
          <a:stretch/>
        </p:blipFill>
        <p:spPr>
          <a:xfrm>
            <a:off x="885960" y="5126760"/>
            <a:ext cx="293760" cy="29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7" name="Shape 18"/>
          <p:cNvSpPr/>
          <p:nvPr/>
        </p:nvSpPr>
        <p:spPr>
          <a:xfrm>
            <a:off x="1417320" y="5081760"/>
            <a:ext cx="419760" cy="38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9"/>
          <p:cNvSpPr/>
          <p:nvPr/>
        </p:nvSpPr>
        <p:spPr>
          <a:xfrm>
            <a:off x="1417320" y="5081760"/>
            <a:ext cx="41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20"/>
          <p:cNvSpPr/>
          <p:nvPr/>
        </p:nvSpPr>
        <p:spPr>
          <a:xfrm>
            <a:off x="2011680" y="5063400"/>
            <a:ext cx="941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zip() to print 3 names next to 3 matching ages, paired together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1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22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Shape 0"/>
          <p:cNvSpPr/>
          <p:nvPr/>
        </p:nvSpPr>
        <p:spPr>
          <a:xfrm>
            <a:off x="-1828800" y="5029200"/>
            <a:ext cx="3656880" cy="3656880"/>
          </a:xfrm>
          <a:prstGeom prst="ellipse">
            <a:avLst/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4" name="Image 0" descr="icons/infinity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Today's Tasks — Part B: while Loops &amp; Control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3"/>
          <p:cNvSpPr/>
          <p:nvPr/>
        </p:nvSpPr>
        <p:spPr>
          <a:xfrm>
            <a:off x="457200" y="1600200"/>
            <a:ext cx="11273760" cy="4479840"/>
          </a:xfrm>
          <a:prstGeom prst="roundRect">
            <a:avLst>
              <a:gd name="adj" fmla="val 2041"/>
            </a:avLst>
          </a:prstGeom>
          <a:solidFill>
            <a:srgbClr val="F1F3E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4"/>
          <p:cNvSpPr/>
          <p:nvPr/>
        </p:nvSpPr>
        <p:spPr>
          <a:xfrm>
            <a:off x="822960" y="1828800"/>
            <a:ext cx="10514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Small tasks — do them in order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5"/>
          <p:cNvSpPr/>
          <p:nvPr/>
        </p:nvSpPr>
        <p:spPr>
          <a:xfrm>
            <a:off x="822960" y="2423160"/>
            <a:ext cx="419760" cy="419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9" name="Image 1" descr="icons/checkdouble.png"/>
          <p:cNvPicPr/>
          <p:nvPr/>
        </p:nvPicPr>
        <p:blipFill>
          <a:blip r:embed="rId2"/>
          <a:stretch/>
        </p:blipFill>
        <p:spPr>
          <a:xfrm>
            <a:off x="885960" y="2486160"/>
            <a:ext cx="293760" cy="29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Shape 6"/>
          <p:cNvSpPr/>
          <p:nvPr/>
        </p:nvSpPr>
        <p:spPr>
          <a:xfrm>
            <a:off x="1417320" y="2441520"/>
            <a:ext cx="419760" cy="38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7"/>
          <p:cNvSpPr/>
          <p:nvPr/>
        </p:nvSpPr>
        <p:spPr>
          <a:xfrm>
            <a:off x="1417320" y="2441520"/>
            <a:ext cx="41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8"/>
          <p:cNvSpPr/>
          <p:nvPr/>
        </p:nvSpPr>
        <p:spPr>
          <a:xfrm>
            <a:off x="2011680" y="2423160"/>
            <a:ext cx="941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while loop that adds up numbers the user enters, stopping when they type 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9"/>
          <p:cNvSpPr/>
          <p:nvPr/>
        </p:nvSpPr>
        <p:spPr>
          <a:xfrm>
            <a:off x="822960" y="3596760"/>
            <a:ext cx="419760" cy="419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2" descr="icons/checkdouble.png"/>
          <p:cNvPicPr/>
          <p:nvPr/>
        </p:nvPicPr>
        <p:blipFill>
          <a:blip r:embed="rId3"/>
          <a:stretch/>
        </p:blipFill>
        <p:spPr>
          <a:xfrm>
            <a:off x="885960" y="3659760"/>
            <a:ext cx="293760" cy="29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Shape 10"/>
          <p:cNvSpPr/>
          <p:nvPr/>
        </p:nvSpPr>
        <p:spPr>
          <a:xfrm>
            <a:off x="1417320" y="3614760"/>
            <a:ext cx="419760" cy="38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11"/>
          <p:cNvSpPr/>
          <p:nvPr/>
        </p:nvSpPr>
        <p:spPr>
          <a:xfrm>
            <a:off x="1417320" y="3614760"/>
            <a:ext cx="41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2"/>
          <p:cNvSpPr/>
          <p:nvPr/>
        </p:nvSpPr>
        <p:spPr>
          <a:xfrm>
            <a:off x="2011680" y="3596760"/>
            <a:ext cx="941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loop that searches a list for a number, using break once it's found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13"/>
          <p:cNvSpPr/>
          <p:nvPr/>
        </p:nvSpPr>
        <p:spPr>
          <a:xfrm>
            <a:off x="822960" y="4770000"/>
            <a:ext cx="419760" cy="419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9" name="Image 3" descr="icons/checkdouble.png"/>
          <p:cNvPicPr/>
          <p:nvPr/>
        </p:nvPicPr>
        <p:blipFill>
          <a:blip r:embed="rId4"/>
          <a:stretch/>
        </p:blipFill>
        <p:spPr>
          <a:xfrm>
            <a:off x="885960" y="4833360"/>
            <a:ext cx="293760" cy="29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Shape 14"/>
          <p:cNvSpPr/>
          <p:nvPr/>
        </p:nvSpPr>
        <p:spPr>
          <a:xfrm>
            <a:off x="1417320" y="4788360"/>
            <a:ext cx="419760" cy="38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C6E6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5"/>
          <p:cNvSpPr/>
          <p:nvPr/>
        </p:nvSpPr>
        <p:spPr>
          <a:xfrm>
            <a:off x="1417320" y="4788360"/>
            <a:ext cx="4197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F5147"/>
                </a:solidFill>
                <a:effectLst/>
                <a:uFillTx/>
                <a:latin typeface="Cambria"/>
                <a:ea typeface="Cambria"/>
              </a:rPr>
              <a:t>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6"/>
          <p:cNvSpPr/>
          <p:nvPr/>
        </p:nvSpPr>
        <p:spPr>
          <a:xfrm>
            <a:off x="2011680" y="4770000"/>
            <a:ext cx="941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Write a nested loop that prints a small multiplication table (1 to 3, times 1 to 3)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7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8" name="Image 0" descr="icons/tasks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One project using everything from this course so far — lists, tuples, conditionals, and now loops.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Shape 0"/>
          <p:cNvSpPr/>
          <p:nvPr/>
        </p:nvSpPr>
        <p:spPr>
          <a:xfrm>
            <a:off x="10515600" y="5669280"/>
            <a:ext cx="3199680" cy="3199680"/>
          </a:xfrm>
          <a:prstGeom prst="ellipse">
            <a:avLst/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1"/>
          <p:cNvSpPr/>
          <p:nvPr/>
        </p:nvSpPr>
        <p:spPr>
          <a:xfrm>
            <a:off x="457200" y="457200"/>
            <a:ext cx="639360" cy="6393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5" name="Image 0" descr="icons/tasks.png"/>
          <p:cNvPicPr/>
          <p:nvPr/>
        </p:nvPicPr>
        <p:blipFill>
          <a:blip r:embed="rId1"/>
          <a:stretch/>
        </p:blipFill>
        <p:spPr>
          <a:xfrm>
            <a:off x="553320" y="553320"/>
            <a:ext cx="447480" cy="44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 2"/>
          <p:cNvSpPr/>
          <p:nvPr/>
        </p:nvSpPr>
        <p:spPr>
          <a:xfrm>
            <a:off x="1280160" y="457200"/>
            <a:ext cx="10423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Mini Project: Class Grade Report, Revisited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3"/>
          <p:cNvSpPr/>
          <p:nvPr/>
        </p:nvSpPr>
        <p:spPr>
          <a:xfrm>
            <a:off x="457200" y="1554480"/>
            <a:ext cx="3656880" cy="4662720"/>
          </a:xfrm>
          <a:prstGeom prst="roundRect">
            <a:avLst>
              <a:gd name="adj" fmla="val 2500"/>
            </a:avLst>
          </a:prstGeom>
          <a:solidFill>
            <a:srgbClr val="EFDF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4"/>
          <p:cNvSpPr/>
          <p:nvPr/>
        </p:nvSpPr>
        <p:spPr>
          <a:xfrm>
            <a:off x="1508760" y="2194560"/>
            <a:ext cx="1553760" cy="15537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9" name="Image 1" descr="icons/tasks.png"/>
          <p:cNvPicPr/>
          <p:nvPr/>
        </p:nvPicPr>
        <p:blipFill>
          <a:blip r:embed="rId2"/>
          <a:stretch/>
        </p:blipFill>
        <p:spPr>
          <a:xfrm>
            <a:off x="1742040" y="2427840"/>
            <a:ext cx="1087560" cy="10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 5"/>
          <p:cNvSpPr/>
          <p:nvPr/>
        </p:nvSpPr>
        <p:spPr>
          <a:xfrm>
            <a:off x="640080" y="3977640"/>
            <a:ext cx="329112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Now with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B2420"/>
                </a:solidFill>
                <a:effectLst/>
                <a:uFillTx/>
                <a:latin typeface="Cambria"/>
                <a:ea typeface="Cambria"/>
              </a:rPr>
              <a:t>a real loop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6"/>
          <p:cNvSpPr/>
          <p:nvPr/>
        </p:nvSpPr>
        <p:spPr>
          <a:xfrm>
            <a:off x="4572000" y="1737360"/>
            <a:ext cx="713160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Take your Class Grade Report project from last session — the one built with direct indexing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Rebuild it using a for loop with zip() to pair names and scores, instead of manual indexing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Inside the loop, print each name, score, and Pass/Fail — the same output, far less code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1B2420"/>
              </a:buClr>
              <a:buFont typeface="Symbol" charset="2"/>
              <a:buChar char=""/>
            </a:pPr>
            <a:r>
              <a:rPr lang="en-US" sz="1600" b="0" u="none" strike="noStrike">
                <a:solidFill>
                  <a:srgbClr val="1B2420"/>
                </a:solidFill>
                <a:effectLst/>
                <a:uFillTx/>
                <a:latin typeface="Calibri"/>
                <a:ea typeface="Calibri"/>
              </a:rPr>
              <a:t>Use the accumulator pattern to compute the total and average yourself, instead of relying only on sum()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7"/>
          <p:cNvSpPr/>
          <p:nvPr/>
        </p:nvSpPr>
        <p:spPr>
          <a:xfrm>
            <a:off x="457200" y="6446520"/>
            <a:ext cx="6400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Loops  ·  Session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8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Shape 0"/>
          <p:cNvSpPr/>
          <p:nvPr/>
        </p:nvSpPr>
        <p:spPr>
          <a:xfrm>
            <a:off x="-1828800" y="41148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"/>
          <p:cNvSpPr/>
          <p:nvPr/>
        </p:nvSpPr>
        <p:spPr>
          <a:xfrm>
            <a:off x="9601200" y="-2286000"/>
            <a:ext cx="5485680" cy="54856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2"/>
          <p:cNvSpPr/>
          <p:nvPr/>
        </p:nvSpPr>
        <p:spPr>
          <a:xfrm>
            <a:off x="5591520" y="731520"/>
            <a:ext cx="1005120" cy="10051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7" name="Image 0" descr="icons/sync.png"/>
          <p:cNvPicPr/>
          <p:nvPr/>
        </p:nvPicPr>
        <p:blipFill>
          <a:blip r:embed="rId1"/>
          <a:stretch/>
        </p:blipFill>
        <p:spPr>
          <a:xfrm>
            <a:off x="5742360" y="882360"/>
            <a:ext cx="703440" cy="70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Text 3"/>
          <p:cNvSpPr/>
          <p:nvPr/>
        </p:nvSpPr>
        <p:spPr>
          <a:xfrm>
            <a:off x="914400" y="1965960"/>
            <a:ext cx="1035936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pc="201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"/>
          <p:cNvSpPr/>
          <p:nvPr/>
        </p:nvSpPr>
        <p:spPr>
          <a:xfrm>
            <a:off x="914400" y="2377440"/>
            <a:ext cx="1035936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Everything you learned about lists and tuples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was leading here — one instruction, applied to everything.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5"/>
          <p:cNvSpPr/>
          <p:nvPr/>
        </p:nvSpPr>
        <p:spPr>
          <a:xfrm>
            <a:off x="1463040" y="4572000"/>
            <a:ext cx="926208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C9D3CC"/>
                </a:solidFill>
                <a:effectLst/>
                <a:uFillTx/>
                <a:latin typeface="Calibri"/>
                <a:ea typeface="Calibri"/>
              </a:rPr>
              <a:t>Next session: strings in depth — indexing, slicing, and methods, now with loops to back them up.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6"/>
          <p:cNvSpPr/>
          <p:nvPr/>
        </p:nvSpPr>
        <p:spPr>
          <a:xfrm>
            <a:off x="11521440" y="644652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2026-08-01T03:17:09Z</dcterms:created>
  <dc:creator>Course Instructor</dc:creator>
  <dc:description/>
  <dc:language>en-US</dc:language>
  <cp:lastModifiedBy/>
  <dcterms:modified xsi:type="dcterms:W3CDTF">2026-08-08T23:27:35Z</dcterms:modified>
  <cp:revision>37</cp:revision>
  <dc:subject>PptxGenJS Presentation</dc:subject>
  <dc:title>Loops — Session 6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37</vt:i4>
  </property>
  <property fmtid="{D5CDD505-2E9C-101B-9397-08002B2CF9AE}" pid="3" name="PresentationFormat">
    <vt:lpwstr>On-screen Show (16:9)</vt:lpwstr>
  </property>
  <property fmtid="{D5CDD505-2E9C-101B-9397-08002B2CF9AE}" pid="4" name="Slides">
    <vt:i4>37</vt:i4>
  </property>
</Properties>
</file>