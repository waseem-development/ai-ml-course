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18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37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AF84F67-6AAA-410A-B797-863AFD07B16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This is the payoff session — lists/tuples from last time finally get used properly.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4F83D8-1A08-4F36-BBEA-1E1A4613E3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4641F1-F922-4EF1-8FDD-9A4FC9DA7D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0261FD-0522-4511-A509-CE278FD676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F579DD-1E57-4461-B5C8-0321D642B0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C3C1E8-4D98-4C80-8D3B-AA1139CA73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this slowly — "the cursor moves one box at a time" is the core mental model for the whole session.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9C843E-BDA8-4255-9FAD-FF6CFEE3E2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C9E58D-4D4D-41FB-89FF-65869472FE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negative-step countdown is worth demoing live — nice callback to negative indices from last session.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72EFE2-5F19-46B7-88BF-AABBFB05F9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874E3E-D5BE-4ED6-884C-2B42405B9D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Compare directly against the previous slide — same output, noticeably cleaner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06A7A-1538-4F21-B1B2-FA4FBC163D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great moment to revisit the Grade Report project — this is the loop version of what they did by hand with indexing.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AAE0D6-B0C3-42EB-8FD0-E78ACBC0A5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B08DC5-25EE-48A9-BCEF-0A46324006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78DB61-A66C-4DA5-985B-33F550E06D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B553B3-88A8-425B-A299-2CE9BC29C5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9AF0B1-4369-4118-829D-5172F97E99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Deliberately run the broken version live, then Ctrl+C to stop it — a memorable, safe way to show this.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B5174F-071F-4B98-BF96-90F1F62CE2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D39E63-AB6F-43E4-B371-2B221F255C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CCB586-B115-40C3-A2F1-313991AF96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634C3E-AE38-4140-A0FA-B41A8C13EA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56AA8C-7509-4B93-9481-9D2E0C3028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A7B062-5049-4A3F-9188-12BE807802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36871A-815A-4D0D-8A79-4537424BCA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flagging explicitly as a Python quirk — most other languages don't have this at all.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38890A-625E-439C-8358-4761762791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callback to nested lists from Session 5 — a satisfying "this is what that was for" moment.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19BDA1-A3BA-40E1-A5FC-5489C9B973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031349-F89B-4D17-AB4A-1DB4702233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6D4628-94CE-461C-9477-265F74EB3E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8BA1CD-6382-4CEC-B9F6-47A9587F21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CD7E90-9CCE-42D0-B148-FDEBD3A934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this as a translation exercise — show the loop first, then "shrink" it into the comprehension.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EF5779-EC5D-4F8F-8F73-AF30B484EC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common real bug — worth running the broken version live to show the wrong output.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0880FD-5CAC-46CB-BDC2-E015DAA3DF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"front vs. back" from the Lists session — same intuition, now applied to loops.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4B0E77-AE64-4BA3-A048-E4DAEE468C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7246D9-174F-4FF0-A105-93BAC34A5B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A88F99-BEE0-417C-88B6-20C5841B6B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2E5CB0-E446-4A40-96EB-CE606203A4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C0D3EA-B442-400E-9D88-ED7FD84647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B22B5D-3A2D-4B17-9B68-460A0F317B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having students compare their old indexing-based Grade Report to the new loop version — the contrast is the whole lesson.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C7FA31-AA17-4660-9F90-77CC5C2799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8640" cy="63986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6560" cy="11865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icons/sync.png"/>
          <p:cNvPicPr/>
          <p:nvPr/>
        </p:nvPicPr>
        <p:blipFill>
          <a:blip r:embed="rId1"/>
          <a:stretch/>
        </p:blipFill>
        <p:spPr>
          <a:xfrm>
            <a:off x="5678280" y="1092600"/>
            <a:ext cx="829800" cy="82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792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Loops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79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Doing Something Again, Without Repeating Yourself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79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60020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21720" y="166284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1" descr="icons/boxes.png"/>
          <p:cNvPicPr/>
          <p:nvPr/>
        </p:nvPicPr>
        <p:blipFill>
          <a:blip r:embed="rId2"/>
          <a:stretch/>
        </p:blipFill>
        <p:spPr>
          <a:xfrm>
            <a:off x="669960" y="171108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325880" y="160020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loops exist — the for loop, and iterating lists/tuples/strings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13876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21720" y="220140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2" descr="icons/hashtag.png"/>
          <p:cNvPicPr/>
          <p:nvPr/>
        </p:nvPicPr>
        <p:blipFill>
          <a:blip r:embed="rId3"/>
          <a:stretch/>
        </p:blipFill>
        <p:spPr>
          <a:xfrm>
            <a:off x="669960" y="224964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325880" y="213876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range(), enumerate(), and zip()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7732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21720" y="273960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3" descr="icons/infinity.png"/>
          <p:cNvPicPr/>
          <p:nvPr/>
        </p:nvPicPr>
        <p:blipFill>
          <a:blip r:embed="rId4"/>
          <a:stretch/>
        </p:blipFill>
        <p:spPr>
          <a:xfrm>
            <a:off x="669960" y="278820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325880" y="267732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while loop, and avoiding infinite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21552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21720" y="327816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4" descr="icons/checkdouble.png"/>
          <p:cNvPicPr/>
          <p:nvPr/>
        </p:nvPicPr>
        <p:blipFill>
          <a:blip r:embed="rId5"/>
          <a:stretch/>
        </p:blipFill>
        <p:spPr>
          <a:xfrm>
            <a:off x="669960" y="332640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325880" y="321552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Input validation &amp; sentinel-controlled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5408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21720" y="381672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5" descr="icons/warning.png"/>
          <p:cNvPicPr/>
          <p:nvPr/>
        </p:nvPicPr>
        <p:blipFill>
          <a:blip r:embed="rId6"/>
          <a:stretch/>
        </p:blipFill>
        <p:spPr>
          <a:xfrm>
            <a:off x="669960" y="386496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325880" y="375408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break, continue, and the loop else clause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9264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21720" y="435528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6" descr="icons/layergroup.png"/>
          <p:cNvPicPr/>
          <p:nvPr/>
        </p:nvPicPr>
        <p:blipFill>
          <a:blip r:embed="rId7"/>
          <a:stretch/>
        </p:blipFill>
        <p:spPr>
          <a:xfrm>
            <a:off x="669960" y="440352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325880" y="429264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3120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21720" y="489384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7" descr="icons/chart.png"/>
          <p:cNvPicPr/>
          <p:nvPr/>
        </p:nvPicPr>
        <p:blipFill>
          <a:blip r:embed="rId8"/>
          <a:stretch/>
        </p:blipFill>
        <p:spPr>
          <a:xfrm>
            <a:off x="669960" y="494208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325880" y="483120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Real-world patterns: accumulator, search, comprehensions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6940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21720" y="543204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Image 8" descr="icons/bolt.png"/>
          <p:cNvPicPr/>
          <p:nvPr/>
        </p:nvPicPr>
        <p:blipFill>
          <a:blip r:embed="rId9"/>
          <a:stretch/>
        </p:blipFill>
        <p:spPr>
          <a:xfrm>
            <a:off x="669960" y="548028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325880" y="536940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second look at time complexity — nested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907960"/>
            <a:ext cx="11272320" cy="44496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21720" y="5970600"/>
            <a:ext cx="319680" cy="319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0"/>
          <a:stretch/>
        </p:blipFill>
        <p:spPr>
          <a:xfrm>
            <a:off x="669960" y="6018840"/>
            <a:ext cx="223200" cy="22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325880" y="5907960"/>
            <a:ext cx="100562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Mini projects tying everything together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3680" cy="100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" name="Image 0" descr="icons/sync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000" cy="70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79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792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for Loop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06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This is the moment lists and tuples finally pay off.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8240" cy="3198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Do Loops Exist?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5440" cy="46612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2320" cy="155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1" descr="icons/sync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120" cy="108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89680" cy="17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repeating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yourself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0160" cy="41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is an iterative control structure that repeatedly executes a block of code as long as a specified condition is satisfied or for a specified number of iterations.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Without a loop, printing 6 student names means writing print() six separate times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lets you say "do this once for every item" — one instruction, applied automatically to each item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why lists and tuples exist — a loop is how you actually use everything inside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Programmers call this principle DRY: Don't Repeat Yourself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for Loop — Basic Syntax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item in a_list: runs the indented block once for every item in the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choose the name "item" — it can be anything you like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 indexing needed at all — Python hands you each value directly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fruits = ["apple", "banana", "mango"]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fruit in fruits: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print(fruit)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apple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banana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mango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What's Actually Happening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"/>
          <p:cNvSpPr/>
          <p:nvPr/>
        </p:nvSpPr>
        <p:spPr>
          <a:xfrm>
            <a:off x="548640" y="1417320"/>
            <a:ext cx="11089440" cy="5007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731520" y="1417320"/>
            <a:ext cx="107236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fruit in fruits:  -&gt;  fruit takes each value, one at a time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2743200" y="2743200"/>
            <a:ext cx="1826640" cy="6195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2743200" y="2743200"/>
            <a:ext cx="182664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"apple"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2743200" y="2450520"/>
            <a:ext cx="1826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7"/>
          <p:cNvSpPr/>
          <p:nvPr/>
        </p:nvSpPr>
        <p:spPr>
          <a:xfrm>
            <a:off x="4626720" y="2743200"/>
            <a:ext cx="1826640" cy="6195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8"/>
          <p:cNvSpPr/>
          <p:nvPr/>
        </p:nvSpPr>
        <p:spPr>
          <a:xfrm>
            <a:off x="4626720" y="2743200"/>
            <a:ext cx="182664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"banana"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9"/>
          <p:cNvSpPr/>
          <p:nvPr/>
        </p:nvSpPr>
        <p:spPr>
          <a:xfrm>
            <a:off x="6510600" y="2743200"/>
            <a:ext cx="1826640" cy="6195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6510600" y="2743200"/>
            <a:ext cx="182664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"mango"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548640" y="4206240"/>
            <a:ext cx="11089440" cy="14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Round 1: fruit = "apple"    Round 2: fruit = "banana"    Round 3: fruit = "mango"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automatically moves to the next box each time, and stops after the last 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never manage the position yourself — that's the whole 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2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Tuples and Strings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exact same for syntax works on a tuple — no changes needed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even works on a string, looping over one character at a time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 can index it or slice it, you can almost always loop over it too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coordinates = (4, 7, 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number in coordinates: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print(number)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letter in "abc":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print(letter)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range() — Looping a Specific Number of Times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range() generates a sequence of numbers — perfect when you want to repeat something N times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range(n) counts from 0 up to (not including) 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range(start, stop) and range(start, stop, step) give you full control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range(5):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0 1 2 3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range(2, 6):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2 3 4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range(10, 0, -2):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10 8 6 4 2  &lt;- counting down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i in range(len(list)) — Index-Based Looping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Sometimes you need the index itself, not just the value — this pattern gives you that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when you need to compare or update items at specific positions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if you only need the values, plain for item in list is simpler — don't reach for this by default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range(len(scores)):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print("Position", i, "-&gt;", scores[i])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0 -&gt;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1 -&gt;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2 -&gt;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Image 0" descr="icons/listol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enumerate() — Index and Value Together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enumerate() gives you both the index and the value, in one clean loop — no range(len(...)) needed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preferred way to get both, and shows up constantly in real code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i, score in enumerate(scores):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print("Position", i, "-&gt;", score)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0 -&gt;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1 -&gt;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2 -&gt;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1" name="Image 0" descr="icons/lin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zip() — Looping Over Two Lists Together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zip() pairs up items from two (or more) lists, position by 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Perfect for exactly the kind of data you worked with in the Grade Report mini project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Stops automatically at the shorter list, if the lists are different lengths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names = ["Aisha", "Bilal", "Sara"]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name, score in zip(names, scores):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print(name, "scored", score)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Aisha scored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Bilal scored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Sara scored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0"/>
          <p:cNvSpPr/>
          <p:nvPr/>
        </p:nvSpPr>
        <p:spPr>
          <a:xfrm>
            <a:off x="-1828800" y="502920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for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3"/>
          <p:cNvSpPr/>
          <p:nvPr/>
        </p:nvSpPr>
        <p:spPr>
          <a:xfrm>
            <a:off x="457200" y="1600200"/>
            <a:ext cx="11272320" cy="44784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822960" y="1828800"/>
            <a:ext cx="10513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5"/>
          <p:cNvSpPr/>
          <p:nvPr/>
        </p:nvSpPr>
        <p:spPr>
          <a:xfrm>
            <a:off x="822960" y="24231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822960" y="24231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1435680" y="24231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over a list of 3 colors and print each 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8"/>
          <p:cNvSpPr/>
          <p:nvPr/>
        </p:nvSpPr>
        <p:spPr>
          <a:xfrm>
            <a:off x="822960" y="30099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822960" y="30099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0"/>
          <p:cNvSpPr/>
          <p:nvPr/>
        </p:nvSpPr>
        <p:spPr>
          <a:xfrm>
            <a:off x="1435680" y="30099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range(5) to print the numbers 0 through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1"/>
          <p:cNvSpPr/>
          <p:nvPr/>
        </p:nvSpPr>
        <p:spPr>
          <a:xfrm>
            <a:off x="822960" y="35967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822960" y="35967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3"/>
          <p:cNvSpPr/>
          <p:nvPr/>
        </p:nvSpPr>
        <p:spPr>
          <a:xfrm>
            <a:off x="1435680" y="35967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range() to print only the even numbers from 0 to 10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4"/>
          <p:cNvSpPr/>
          <p:nvPr/>
        </p:nvSpPr>
        <p:spPr>
          <a:xfrm>
            <a:off x="822960" y="41835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5"/>
          <p:cNvSpPr/>
          <p:nvPr/>
        </p:nvSpPr>
        <p:spPr>
          <a:xfrm>
            <a:off x="822960" y="41835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6"/>
          <p:cNvSpPr/>
          <p:nvPr/>
        </p:nvSpPr>
        <p:spPr>
          <a:xfrm>
            <a:off x="1435680" y="41835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over a string and print each character on its own line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7"/>
          <p:cNvSpPr/>
          <p:nvPr/>
        </p:nvSpPr>
        <p:spPr>
          <a:xfrm>
            <a:off x="822960" y="477000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8"/>
          <p:cNvSpPr/>
          <p:nvPr/>
        </p:nvSpPr>
        <p:spPr>
          <a:xfrm>
            <a:off x="822960" y="477000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9"/>
          <p:cNvSpPr/>
          <p:nvPr/>
        </p:nvSpPr>
        <p:spPr>
          <a:xfrm>
            <a:off x="1435680" y="477000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enumerate() to print each item in a list along with its position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0"/>
          <p:cNvSpPr/>
          <p:nvPr/>
        </p:nvSpPr>
        <p:spPr>
          <a:xfrm>
            <a:off x="822960" y="535680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1"/>
          <p:cNvSpPr/>
          <p:nvPr/>
        </p:nvSpPr>
        <p:spPr>
          <a:xfrm>
            <a:off x="822960" y="535680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2"/>
          <p:cNvSpPr/>
          <p:nvPr/>
        </p:nvSpPr>
        <p:spPr>
          <a:xfrm>
            <a:off x="1435680" y="535680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zip() to loop over two short lists of your own and print them paired together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3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4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41148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9601200" y="-22860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5591520" y="731520"/>
            <a:ext cx="1003680" cy="100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7" name="Image 0" descr="icons/infinity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000" cy="70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Text 3"/>
          <p:cNvSpPr/>
          <p:nvPr/>
        </p:nvSpPr>
        <p:spPr>
          <a:xfrm>
            <a:off x="914400" y="1965960"/>
            <a:ext cx="103579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914400" y="2377440"/>
            <a:ext cx="1035792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while Loop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3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while Loop — Basic Syntax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while keeps running its block as long as a condition stays True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for, it doesn't know in advance how many times it will run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Something inside the loop must eventually make the condition False, or it never stops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+=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2 3 4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1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 1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vs. while — Which One?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457200" y="1645920"/>
            <a:ext cx="5347080" cy="44784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731520" y="1874520"/>
            <a:ext cx="455040" cy="455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5" name="Image 1" descr="icons/sync.png"/>
          <p:cNvPicPr/>
          <p:nvPr/>
        </p:nvPicPr>
        <p:blipFill>
          <a:blip r:embed="rId2"/>
          <a:stretch/>
        </p:blipFill>
        <p:spPr>
          <a:xfrm>
            <a:off x="800280" y="1943280"/>
            <a:ext cx="317880" cy="31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 4"/>
          <p:cNvSpPr/>
          <p:nvPr/>
        </p:nvSpPr>
        <p:spPr>
          <a:xfrm>
            <a:off x="1325880" y="1874520"/>
            <a:ext cx="43412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Use for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731520" y="2514600"/>
            <a:ext cx="4798440" cy="33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know how many times to repeat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working through a list, tuple, or string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printing every item in a 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6172200" y="1645920"/>
            <a:ext cx="5347080" cy="44784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7"/>
          <p:cNvSpPr/>
          <p:nvPr/>
        </p:nvSpPr>
        <p:spPr>
          <a:xfrm>
            <a:off x="6446520" y="1874520"/>
            <a:ext cx="455040" cy="4550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0" name="Image 2" descr="icons/infinit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7880" cy="31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8"/>
          <p:cNvSpPr/>
          <p:nvPr/>
        </p:nvSpPr>
        <p:spPr>
          <a:xfrm>
            <a:off x="7040880" y="1874520"/>
            <a:ext cx="43412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Use while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6446520" y="2514600"/>
            <a:ext cx="4798440" cy="33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know in advance how many times you'll repeat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waiting for a condition to change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keep asking until the user enters a valid answer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0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1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Infinite Loops — What Causes Them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condition never becomes False, the loop never stops — this is an infinite loop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most common cause: forgetting to update the variable the condition depends 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your program ever seems frozen, this is the first thing to check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 — count never changes, runs forever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 — count is updated every time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+=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 Validation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very common real use of while: keep asking until the user gives a genuinely valid answer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repeats the question every time the input fails the check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int(input("Enter your age: "))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age &lt;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print("Age cannot be negative.")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age = int(input("Enter your age: "))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print("Thanks! Your age is", age)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0" descr="icons/flagcheckered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Sentinel-Controlled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sentinel value is a special input that means "stop the loop" — like typing "quit"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pattern is used everywhere: menus, chat programs, simple games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command = ""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command != "quit":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command = input("Type a command (or 'quit'): 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print("You typed:", command)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print("Goodbye!")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0"/>
          <p:cNvSpPr/>
          <p:nvPr/>
        </p:nvSpPr>
        <p:spPr>
          <a:xfrm>
            <a:off x="-1828800" y="502920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4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while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3"/>
          <p:cNvSpPr/>
          <p:nvPr/>
        </p:nvSpPr>
        <p:spPr>
          <a:xfrm>
            <a:off x="457200" y="1600200"/>
            <a:ext cx="11272320" cy="447840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822960" y="1828800"/>
            <a:ext cx="10513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822960" y="24231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822960" y="24231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1435680" y="24231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while loop to print the numbers 1 through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822960" y="33033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822960" y="3303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1435680" y="33033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while loop to count down from 10 to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1"/>
          <p:cNvSpPr/>
          <p:nvPr/>
        </p:nvSpPr>
        <p:spPr>
          <a:xfrm>
            <a:off x="822960" y="41835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822960" y="41835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1435680" y="41835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while loop that keeps asking for a password until the user types "python123"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4"/>
          <p:cNvSpPr/>
          <p:nvPr/>
        </p:nvSpPr>
        <p:spPr>
          <a:xfrm>
            <a:off x="822960" y="506340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5"/>
          <p:cNvSpPr/>
          <p:nvPr/>
        </p:nvSpPr>
        <p:spPr>
          <a:xfrm>
            <a:off x="822960" y="506340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6"/>
          <p:cNvSpPr/>
          <p:nvPr/>
        </p:nvSpPr>
        <p:spPr>
          <a:xfrm>
            <a:off x="1435680" y="506340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write an infinite loop, run it, then stop it with Ctrl+C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7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8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-1828800" y="41148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"/>
          <p:cNvSpPr/>
          <p:nvPr/>
        </p:nvSpPr>
        <p:spPr>
          <a:xfrm>
            <a:off x="9601200" y="-22860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5591520" y="731520"/>
            <a:ext cx="1003680" cy="100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5" name="Image 0" descr="icons/warning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000" cy="70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 3"/>
          <p:cNvSpPr/>
          <p:nvPr/>
        </p:nvSpPr>
        <p:spPr>
          <a:xfrm>
            <a:off x="914400" y="1965960"/>
            <a:ext cx="103579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4"/>
          <p:cNvSpPr/>
          <p:nvPr/>
        </p:nvSpPr>
        <p:spPr>
          <a:xfrm>
            <a:off x="914400" y="2377440"/>
            <a:ext cx="1035792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Loop Control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break — Exit Early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break immediately stops the loop completely, even if it wasn't finished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Commonly used once you've found what you were looking for — no reason to keep going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15: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 it!")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print("Checking", 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continue — Skip to the Next Round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continue skips the rest of the current round only, then moves on to the next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keeps going overall — only that one round is cut short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3, 4, 5,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continue     # skip even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3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icons/flagcheckered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else Clause on a Loop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one is genuinely Python-specific: a loop can have its own else block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else only runs if the loop finished normally — never triggered by break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for "search and report if nothing was found" patterns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100: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 it!")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else: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print("100 was never in the list")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8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can contain another loop inside it — the inner loop runs completely for every single round of the outer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you work through a nested list (a grid) from last session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[[1, 2, 3], [4, 5, 6]]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row in grid: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for value in row: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print(value)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2 3 4 5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-1828800" y="502920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7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Loop Control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3"/>
          <p:cNvSpPr/>
          <p:nvPr/>
        </p:nvSpPr>
        <p:spPr>
          <a:xfrm>
            <a:off x="457200" y="1600200"/>
            <a:ext cx="11272320" cy="44784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4"/>
          <p:cNvSpPr/>
          <p:nvPr/>
        </p:nvSpPr>
        <p:spPr>
          <a:xfrm>
            <a:off x="822960" y="1828800"/>
            <a:ext cx="10513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5"/>
          <p:cNvSpPr/>
          <p:nvPr/>
        </p:nvSpPr>
        <p:spPr>
          <a:xfrm>
            <a:off x="822960" y="24231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822960" y="24231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1435680" y="24231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numbers and use break to stop as soon as you find one over 50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8"/>
          <p:cNvSpPr/>
          <p:nvPr/>
        </p:nvSpPr>
        <p:spPr>
          <a:xfrm>
            <a:off x="822960" y="33033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9"/>
          <p:cNvSpPr/>
          <p:nvPr/>
        </p:nvSpPr>
        <p:spPr>
          <a:xfrm>
            <a:off x="822960" y="3303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0"/>
          <p:cNvSpPr/>
          <p:nvPr/>
        </p:nvSpPr>
        <p:spPr>
          <a:xfrm>
            <a:off x="1435680" y="33033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numbers and use continue to print only the odd ones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1"/>
          <p:cNvSpPr/>
          <p:nvPr/>
        </p:nvSpPr>
        <p:spPr>
          <a:xfrm>
            <a:off x="822960" y="41835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2"/>
          <p:cNvSpPr/>
          <p:nvPr/>
        </p:nvSpPr>
        <p:spPr>
          <a:xfrm>
            <a:off x="822960" y="41835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3"/>
          <p:cNvSpPr/>
          <p:nvPr/>
        </p:nvSpPr>
        <p:spPr>
          <a:xfrm>
            <a:off x="1435680" y="41835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for/else that searches for a name in a list and reports if it wasn't found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4"/>
          <p:cNvSpPr/>
          <p:nvPr/>
        </p:nvSpPr>
        <p:spPr>
          <a:xfrm>
            <a:off x="822960" y="506340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5"/>
          <p:cNvSpPr/>
          <p:nvPr/>
        </p:nvSpPr>
        <p:spPr>
          <a:xfrm>
            <a:off x="822960" y="506340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6"/>
          <p:cNvSpPr/>
          <p:nvPr/>
        </p:nvSpPr>
        <p:spPr>
          <a:xfrm>
            <a:off x="1435680" y="506340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nested loop that prints every item in a small 2x2 grid (list of lists)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7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8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41148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9601200" y="-22860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"/>
          <p:cNvSpPr/>
          <p:nvPr/>
        </p:nvSpPr>
        <p:spPr>
          <a:xfrm>
            <a:off x="5591520" y="731520"/>
            <a:ext cx="1003680" cy="100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0" descr="icons/chart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000" cy="70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3"/>
          <p:cNvSpPr/>
          <p:nvPr/>
        </p:nvSpPr>
        <p:spPr>
          <a:xfrm>
            <a:off x="914400" y="1965960"/>
            <a:ext cx="103579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4"/>
          <p:cNvSpPr/>
          <p:nvPr/>
        </p:nvSpPr>
        <p:spPr>
          <a:xfrm>
            <a:off x="914400" y="2377440"/>
            <a:ext cx="1035792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Patterns You'll Actually Use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1463040" y="4572000"/>
            <a:ext cx="92606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same handful of loop shapes show up again and again in real code.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1"/>
          <p:cNvSpPr/>
          <p:nvPr/>
        </p:nvSpPr>
        <p:spPr>
          <a:xfrm>
            <a:off x="457200" y="27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5" name="Image 0" descr="icons/chart.png"/>
          <p:cNvPicPr/>
          <p:nvPr/>
        </p:nvPicPr>
        <p:blipFill>
          <a:blip r:embed="rId1"/>
          <a:stretch/>
        </p:blipFill>
        <p:spPr>
          <a:xfrm>
            <a:off x="553320" y="409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2"/>
          <p:cNvSpPr/>
          <p:nvPr/>
        </p:nvSpPr>
        <p:spPr>
          <a:xfrm>
            <a:off x="1235520" y="2286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Accumulator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1875960" y="86724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Start with an empty value (0, "", or []), then build it up one step at a time inside the loop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sum(), and many things sum() can't do alone, actually work under the hood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Start with something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Process one item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Update the result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Process next item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Update the result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...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      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Final result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6400800" y="1691640"/>
            <a:ext cx="552312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6721920" y="1922400"/>
            <a:ext cx="24220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 = 0 #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Accumulator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total += 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print(total)   # 108 </a:t>
            </a:r>
            <a:br>
              <a:rPr sz="1300"/>
            </a:b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____________________________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words = ["I", "love", "Python"]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""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word in words: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result += word + " 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5"/>
          <p:cNvSpPr/>
          <p:nvPr/>
        </p:nvSpPr>
        <p:spPr>
          <a:xfrm>
            <a:off x="10150200" y="1965960"/>
            <a:ext cx="24220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result.append(n *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5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Search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everything, check a condition, and break the moment you find a match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in secretly does behind the scenes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names = ["Aisha", "Bilal", "Sara"]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target = "Bilal"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name in names: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name == target: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print("Found", target)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4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Comprehensions — The Shortcut Version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comprehension builds a new list from a loop, in a single line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just a for loop that creates a list — same idea, more compact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whichever version reads more clearly to you; both are completely valid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loop version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squares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range(5):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squares.append(n **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comprehension version — identical result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squares = [n ** 2 for n in range(5)]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print(squares)   # [0, 1, 4, 9, 16]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hape 0"/>
          <p:cNvSpPr/>
          <p:nvPr/>
        </p:nvSpPr>
        <p:spPr>
          <a:xfrm>
            <a:off x="-1828800" y="512064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3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Gotcha: Modifying a List While Looping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3"/>
          <p:cNvSpPr/>
          <p:nvPr/>
        </p:nvSpPr>
        <p:spPr>
          <a:xfrm>
            <a:off x="548640" y="1828800"/>
            <a:ext cx="4752720" cy="40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Removing or adding items to a list while you're looping over it causes items to be skipped or repeated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doesn't stop you — it just silently produces the wrong answer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safe fix: loop over a copy instead, with list(original) or original[:]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5486400" y="1691640"/>
            <a:ext cx="6215760" cy="43412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806440" y="1965960"/>
            <a:ext cx="5575680" cy="37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 — skips an item because indices shift mid-loop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4,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numbers.remove(n)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print(numbers)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SAFE — loop over a copy instead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4,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numbers[:]: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numbers.remove(n)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print(numbers)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6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7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Shape 0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1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Text 1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Second Look at Time Complexity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2"/>
          <p:cNvSpPr/>
          <p:nvPr/>
        </p:nvSpPr>
        <p:spPr>
          <a:xfrm>
            <a:off x="457200" y="1508760"/>
            <a:ext cx="5520960" cy="48898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3"/>
          <p:cNvSpPr/>
          <p:nvPr/>
        </p:nvSpPr>
        <p:spPr>
          <a:xfrm>
            <a:off x="2944440" y="2095920"/>
            <a:ext cx="546480" cy="54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5" name="Image 1" descr="icons/sync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Text 4"/>
          <p:cNvSpPr/>
          <p:nvPr/>
        </p:nvSpPr>
        <p:spPr>
          <a:xfrm>
            <a:off x="548640" y="2717640"/>
            <a:ext cx="53380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Loop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5"/>
          <p:cNvSpPr/>
          <p:nvPr/>
        </p:nvSpPr>
        <p:spPr>
          <a:xfrm>
            <a:off x="603360" y="3101760"/>
            <a:ext cx="5228280" cy="32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once — roughly n steps for n items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6"/>
          <p:cNvSpPr/>
          <p:nvPr/>
        </p:nvSpPr>
        <p:spPr>
          <a:xfrm>
            <a:off x="6208920" y="1508760"/>
            <a:ext cx="5520960" cy="48898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7"/>
          <p:cNvSpPr/>
          <p:nvPr/>
        </p:nvSpPr>
        <p:spPr>
          <a:xfrm>
            <a:off x="8695800" y="2095920"/>
            <a:ext cx="546480" cy="54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0" name="Image 2" descr="icons/layergroup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1960" cy="38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Text 8"/>
          <p:cNvSpPr/>
          <p:nvPr/>
        </p:nvSpPr>
        <p:spPr>
          <a:xfrm>
            <a:off x="6300360" y="2717640"/>
            <a:ext cx="53380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Loops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9"/>
          <p:cNvSpPr/>
          <p:nvPr/>
        </p:nvSpPr>
        <p:spPr>
          <a:xfrm>
            <a:off x="6355080" y="3101760"/>
            <a:ext cx="5228280" cy="32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pair — roughly n × n steps, much slower as the list grows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0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1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0"/>
          <p:cNvSpPr/>
          <p:nvPr/>
        </p:nvSpPr>
        <p:spPr>
          <a:xfrm>
            <a:off x="-1828800" y="502920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7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Patterns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3"/>
          <p:cNvSpPr/>
          <p:nvPr/>
        </p:nvSpPr>
        <p:spPr>
          <a:xfrm>
            <a:off x="457200" y="1600200"/>
            <a:ext cx="11272320" cy="447840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4"/>
          <p:cNvSpPr/>
          <p:nvPr/>
        </p:nvSpPr>
        <p:spPr>
          <a:xfrm>
            <a:off x="822960" y="1828800"/>
            <a:ext cx="10513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5"/>
          <p:cNvSpPr/>
          <p:nvPr/>
        </p:nvSpPr>
        <p:spPr>
          <a:xfrm>
            <a:off x="822960" y="24231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6"/>
          <p:cNvSpPr/>
          <p:nvPr/>
        </p:nvSpPr>
        <p:spPr>
          <a:xfrm>
            <a:off x="822960" y="24231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7"/>
          <p:cNvSpPr/>
          <p:nvPr/>
        </p:nvSpPr>
        <p:spPr>
          <a:xfrm>
            <a:off x="1435680" y="24231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the accumulator pattern to count how many numbers in a list are negative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8"/>
          <p:cNvSpPr/>
          <p:nvPr/>
        </p:nvSpPr>
        <p:spPr>
          <a:xfrm>
            <a:off x="822960" y="33033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9"/>
          <p:cNvSpPr/>
          <p:nvPr/>
        </p:nvSpPr>
        <p:spPr>
          <a:xfrm>
            <a:off x="822960" y="3303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0"/>
          <p:cNvSpPr/>
          <p:nvPr/>
        </p:nvSpPr>
        <p:spPr>
          <a:xfrm>
            <a:off x="1435680" y="33033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the search pattern to check if a specific word exists in a list of words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1"/>
          <p:cNvSpPr/>
          <p:nvPr/>
        </p:nvSpPr>
        <p:spPr>
          <a:xfrm>
            <a:off x="822960" y="418356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2"/>
          <p:cNvSpPr/>
          <p:nvPr/>
        </p:nvSpPr>
        <p:spPr>
          <a:xfrm>
            <a:off x="822960" y="41835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3"/>
          <p:cNvSpPr/>
          <p:nvPr/>
        </p:nvSpPr>
        <p:spPr>
          <a:xfrm>
            <a:off x="1435680" y="418356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list comprehension that builds a list of the first 10 square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4"/>
          <p:cNvSpPr/>
          <p:nvPr/>
        </p:nvSpPr>
        <p:spPr>
          <a:xfrm>
            <a:off x="822960" y="5063400"/>
            <a:ext cx="381960" cy="3819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5"/>
          <p:cNvSpPr/>
          <p:nvPr/>
        </p:nvSpPr>
        <p:spPr>
          <a:xfrm>
            <a:off x="822960" y="506340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6"/>
          <p:cNvSpPr/>
          <p:nvPr/>
        </p:nvSpPr>
        <p:spPr>
          <a:xfrm>
            <a:off x="1435680" y="5063400"/>
            <a:ext cx="958068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 what a broken "modify while looping" example will print, then run it to check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7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8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0"/>
          <p:cNvSpPr/>
          <p:nvPr/>
        </p:nvSpPr>
        <p:spPr>
          <a:xfrm>
            <a:off x="-1828800" y="5029200"/>
            <a:ext cx="3655440" cy="36554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7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for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3"/>
          <p:cNvSpPr/>
          <p:nvPr/>
        </p:nvSpPr>
        <p:spPr>
          <a:xfrm>
            <a:off x="457200" y="1600200"/>
            <a:ext cx="11272320" cy="447840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4"/>
          <p:cNvSpPr/>
          <p:nvPr/>
        </p:nvSpPr>
        <p:spPr>
          <a:xfrm>
            <a:off x="822960" y="1828800"/>
            <a:ext cx="10513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5"/>
          <p:cNvSpPr/>
          <p:nvPr/>
        </p:nvSpPr>
        <p:spPr>
          <a:xfrm>
            <a:off x="822960" y="2423160"/>
            <a:ext cx="418320" cy="418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2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Shape 6"/>
          <p:cNvSpPr/>
          <p:nvPr/>
        </p:nvSpPr>
        <p:spPr>
          <a:xfrm>
            <a:off x="1417320" y="2441520"/>
            <a:ext cx="418320" cy="3819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7"/>
          <p:cNvSpPr/>
          <p:nvPr/>
        </p:nvSpPr>
        <p:spPr>
          <a:xfrm>
            <a:off x="1417320" y="2441520"/>
            <a:ext cx="418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8"/>
          <p:cNvSpPr/>
          <p:nvPr/>
        </p:nvSpPr>
        <p:spPr>
          <a:xfrm>
            <a:off x="2011680" y="2423160"/>
            <a:ext cx="94161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every number from 1 to 10 using a for loop and range()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9"/>
          <p:cNvSpPr/>
          <p:nvPr/>
        </p:nvSpPr>
        <p:spPr>
          <a:xfrm>
            <a:off x="822960" y="3303360"/>
            <a:ext cx="418320" cy="418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7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36636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Shape 10"/>
          <p:cNvSpPr/>
          <p:nvPr/>
        </p:nvSpPr>
        <p:spPr>
          <a:xfrm>
            <a:off x="1417320" y="3321720"/>
            <a:ext cx="418320" cy="3819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1"/>
          <p:cNvSpPr/>
          <p:nvPr/>
        </p:nvSpPr>
        <p:spPr>
          <a:xfrm>
            <a:off x="1417320" y="3321720"/>
            <a:ext cx="418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2"/>
          <p:cNvSpPr/>
          <p:nvPr/>
        </p:nvSpPr>
        <p:spPr>
          <a:xfrm>
            <a:off x="2011680" y="3303360"/>
            <a:ext cx="94161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5 of your favorite movies and print each 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3"/>
          <p:cNvSpPr/>
          <p:nvPr/>
        </p:nvSpPr>
        <p:spPr>
          <a:xfrm>
            <a:off x="822960" y="4183560"/>
            <a:ext cx="418320" cy="418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24656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Shape 14"/>
          <p:cNvSpPr/>
          <p:nvPr/>
        </p:nvSpPr>
        <p:spPr>
          <a:xfrm>
            <a:off x="1417320" y="4201560"/>
            <a:ext cx="418320" cy="3819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5"/>
          <p:cNvSpPr/>
          <p:nvPr/>
        </p:nvSpPr>
        <p:spPr>
          <a:xfrm>
            <a:off x="1417320" y="4201560"/>
            <a:ext cx="418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6"/>
          <p:cNvSpPr/>
          <p:nvPr/>
        </p:nvSpPr>
        <p:spPr>
          <a:xfrm>
            <a:off x="2011680" y="4183560"/>
            <a:ext cx="94161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enumerate() to print a numbered list (1. ..., 2. ..., 3. ...) from a list of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7"/>
          <p:cNvSpPr/>
          <p:nvPr/>
        </p:nvSpPr>
        <p:spPr>
          <a:xfrm>
            <a:off x="822960" y="5063400"/>
            <a:ext cx="418320" cy="418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7" name="Image 4" descr="icons/checkdouble.png"/>
          <p:cNvPicPr/>
          <p:nvPr/>
        </p:nvPicPr>
        <p:blipFill>
          <a:blip r:embed="rId5"/>
          <a:stretch/>
        </p:blipFill>
        <p:spPr>
          <a:xfrm>
            <a:off x="885960" y="512676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Shape 18"/>
          <p:cNvSpPr/>
          <p:nvPr/>
        </p:nvSpPr>
        <p:spPr>
          <a:xfrm>
            <a:off x="1417320" y="5081760"/>
            <a:ext cx="418320" cy="3819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9"/>
          <p:cNvSpPr/>
          <p:nvPr/>
        </p:nvSpPr>
        <p:spPr>
          <a:xfrm>
            <a:off x="1417320" y="5081760"/>
            <a:ext cx="418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0"/>
          <p:cNvSpPr/>
          <p:nvPr/>
        </p:nvSpPr>
        <p:spPr>
          <a:xfrm>
            <a:off x="2011680" y="5063400"/>
            <a:ext cx="94161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zip() to print 3 names next to 3 matching ages, paired together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21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22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Shape 0"/>
          <p:cNvSpPr/>
          <p:nvPr/>
        </p:nvSpPr>
        <p:spPr>
          <a:xfrm>
            <a:off x="-1828800" y="5029200"/>
            <a:ext cx="3655440" cy="36554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5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6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while Loops &amp; Control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3"/>
          <p:cNvSpPr/>
          <p:nvPr/>
        </p:nvSpPr>
        <p:spPr>
          <a:xfrm>
            <a:off x="457200" y="1600200"/>
            <a:ext cx="11272320" cy="44784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4"/>
          <p:cNvSpPr/>
          <p:nvPr/>
        </p:nvSpPr>
        <p:spPr>
          <a:xfrm>
            <a:off x="822960" y="1828800"/>
            <a:ext cx="10513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5"/>
          <p:cNvSpPr/>
          <p:nvPr/>
        </p:nvSpPr>
        <p:spPr>
          <a:xfrm>
            <a:off x="822960" y="2423160"/>
            <a:ext cx="418320" cy="418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0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Shape 6"/>
          <p:cNvSpPr/>
          <p:nvPr/>
        </p:nvSpPr>
        <p:spPr>
          <a:xfrm>
            <a:off x="1417320" y="2441520"/>
            <a:ext cx="418320" cy="3819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7"/>
          <p:cNvSpPr/>
          <p:nvPr/>
        </p:nvSpPr>
        <p:spPr>
          <a:xfrm>
            <a:off x="1417320" y="2441520"/>
            <a:ext cx="418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8"/>
          <p:cNvSpPr/>
          <p:nvPr/>
        </p:nvSpPr>
        <p:spPr>
          <a:xfrm>
            <a:off x="2011680" y="2423160"/>
            <a:ext cx="94161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while loop that adds up numbers the user enters, stopping when they type 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9"/>
          <p:cNvSpPr/>
          <p:nvPr/>
        </p:nvSpPr>
        <p:spPr>
          <a:xfrm>
            <a:off x="822960" y="3596760"/>
            <a:ext cx="418320" cy="418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5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65976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Shape 10"/>
          <p:cNvSpPr/>
          <p:nvPr/>
        </p:nvSpPr>
        <p:spPr>
          <a:xfrm>
            <a:off x="1417320" y="3614760"/>
            <a:ext cx="418320" cy="3819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1"/>
          <p:cNvSpPr/>
          <p:nvPr/>
        </p:nvSpPr>
        <p:spPr>
          <a:xfrm>
            <a:off x="1417320" y="3614760"/>
            <a:ext cx="418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2"/>
          <p:cNvSpPr/>
          <p:nvPr/>
        </p:nvSpPr>
        <p:spPr>
          <a:xfrm>
            <a:off x="2011680" y="3596760"/>
            <a:ext cx="94161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loop that searches a list for a number, using break once it's found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3"/>
          <p:cNvSpPr/>
          <p:nvPr/>
        </p:nvSpPr>
        <p:spPr>
          <a:xfrm>
            <a:off x="822960" y="4770000"/>
            <a:ext cx="418320" cy="418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0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83336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Shape 14"/>
          <p:cNvSpPr/>
          <p:nvPr/>
        </p:nvSpPr>
        <p:spPr>
          <a:xfrm>
            <a:off x="1417320" y="4788360"/>
            <a:ext cx="418320" cy="3819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5"/>
          <p:cNvSpPr/>
          <p:nvPr/>
        </p:nvSpPr>
        <p:spPr>
          <a:xfrm>
            <a:off x="1417320" y="4788360"/>
            <a:ext cx="4183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6"/>
          <p:cNvSpPr/>
          <p:nvPr/>
        </p:nvSpPr>
        <p:spPr>
          <a:xfrm>
            <a:off x="2011680" y="4770000"/>
            <a:ext cx="94161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nested loop that prints a small multiplication table (1 to 3, times 1 to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7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8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Shape 0"/>
          <p:cNvSpPr/>
          <p:nvPr/>
        </p:nvSpPr>
        <p:spPr>
          <a:xfrm>
            <a:off x="-1828800" y="41148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1"/>
          <p:cNvSpPr/>
          <p:nvPr/>
        </p:nvSpPr>
        <p:spPr>
          <a:xfrm>
            <a:off x="9601200" y="-22860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"/>
          <p:cNvSpPr/>
          <p:nvPr/>
        </p:nvSpPr>
        <p:spPr>
          <a:xfrm>
            <a:off x="5591520" y="731520"/>
            <a:ext cx="1003680" cy="100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9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000" cy="70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0" name="Text 3"/>
          <p:cNvSpPr/>
          <p:nvPr/>
        </p:nvSpPr>
        <p:spPr>
          <a:xfrm>
            <a:off x="914400" y="1965960"/>
            <a:ext cx="103579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"/>
          <p:cNvSpPr/>
          <p:nvPr/>
        </p:nvSpPr>
        <p:spPr>
          <a:xfrm>
            <a:off x="914400" y="2377440"/>
            <a:ext cx="1035792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1463040" y="4572000"/>
            <a:ext cx="92606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One project using everything from this course so far — lists, tuples, conditionals, and now loops.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6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Shape 0"/>
          <p:cNvSpPr/>
          <p:nvPr/>
        </p:nvSpPr>
        <p:spPr>
          <a:xfrm>
            <a:off x="10515600" y="5669280"/>
            <a:ext cx="3198240" cy="3198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1"/>
          <p:cNvSpPr/>
          <p:nvPr/>
        </p:nvSpPr>
        <p:spPr>
          <a:xfrm>
            <a:off x="457200" y="457200"/>
            <a:ext cx="637920" cy="63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6" name="Image 0" descr="icons/task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040" cy="4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7" name="Text 2"/>
          <p:cNvSpPr/>
          <p:nvPr/>
        </p:nvSpPr>
        <p:spPr>
          <a:xfrm>
            <a:off x="1280160" y="457200"/>
            <a:ext cx="104220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Project: Class Grade Report, Revisited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3"/>
          <p:cNvSpPr/>
          <p:nvPr/>
        </p:nvSpPr>
        <p:spPr>
          <a:xfrm>
            <a:off x="457200" y="1554480"/>
            <a:ext cx="3655440" cy="46612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4"/>
          <p:cNvSpPr/>
          <p:nvPr/>
        </p:nvSpPr>
        <p:spPr>
          <a:xfrm>
            <a:off x="1508760" y="2194560"/>
            <a:ext cx="1552320" cy="155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0" name="Image 1" descr="icons/task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120" cy="108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5"/>
          <p:cNvSpPr/>
          <p:nvPr/>
        </p:nvSpPr>
        <p:spPr>
          <a:xfrm>
            <a:off x="640080" y="3977640"/>
            <a:ext cx="3289680" cy="17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Now with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real loop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6"/>
          <p:cNvSpPr/>
          <p:nvPr/>
        </p:nvSpPr>
        <p:spPr>
          <a:xfrm>
            <a:off x="4572000" y="1737360"/>
            <a:ext cx="7130160" cy="41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your Class Grade Report project from last session — the one built with direct indexing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Rebuild it using a for loop with zip() to pair names and scores, instead of manual indexing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Inside the loop, print each name, score, and Pass/Fail — the same output, far less 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the accumulator pattern to compute the total and average yourself, instead of relying only on sum()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7"/>
          <p:cNvSpPr/>
          <p:nvPr/>
        </p:nvSpPr>
        <p:spPr>
          <a:xfrm>
            <a:off x="45720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8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-1828800" y="41148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"/>
          <p:cNvSpPr/>
          <p:nvPr/>
        </p:nvSpPr>
        <p:spPr>
          <a:xfrm>
            <a:off x="9601200" y="-2286000"/>
            <a:ext cx="5484240" cy="54842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"/>
          <p:cNvSpPr/>
          <p:nvPr/>
        </p:nvSpPr>
        <p:spPr>
          <a:xfrm>
            <a:off x="5591520" y="731520"/>
            <a:ext cx="1003680" cy="100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8" name="Image 0" descr="icons/sync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000" cy="70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9" name="Text 3"/>
          <p:cNvSpPr/>
          <p:nvPr/>
        </p:nvSpPr>
        <p:spPr>
          <a:xfrm>
            <a:off x="914400" y="1965960"/>
            <a:ext cx="103579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914400" y="2377440"/>
            <a:ext cx="1035792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Everything you learned about lists and tuples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was leading here — one instruction, applied to everything.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1463040" y="4572000"/>
            <a:ext cx="92606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strings in depth — indexing, slicing, and methods, now with loops to back them up.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52144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2026-08-01T03:17:09Z</dcterms:created>
  <dc:creator>Course Instructor</dc:creator>
  <dc:description/>
  <dc:language>en-US</dc:language>
  <cp:lastModifiedBy/>
  <dcterms:modified xsi:type="dcterms:W3CDTF">2026-08-14T22:10:17Z</dcterms:modified>
  <cp:revision>45</cp:revision>
  <dc:subject>PptxGenJS Presentation</dc:subject>
  <dc:title>Loops — Session 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37</vt:i4>
  </property>
  <property fmtid="{D5CDD505-2E9C-101B-9397-08002B2CF9AE}" pid="3" name="PresentationFormat">
    <vt:lpwstr>On-screen Show (16:9)</vt:lpwstr>
  </property>
  <property fmtid="{D5CDD505-2E9C-101B-9397-08002B2CF9AE}" pid="4" name="Slides">
    <vt:i4>37</vt:i4>
  </property>
</Properties>
</file>