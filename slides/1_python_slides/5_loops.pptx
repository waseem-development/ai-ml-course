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37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BA0743F-4D65-4B12-ACDB-85F4E46FEF3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slide. This is the payoff session — lists/tuples from last time finally get used properly.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A89E96-8E55-4B49-A222-F004A139A6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03A6C3-0213-4942-BFA8-2F1539BF35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06629C-77A5-4F57-B8C3-6E339E3C46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19A323-738A-4DF5-B7D8-64569DEA8E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46419B-180C-4368-8F6E-AA697B2213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this slowly — "the cursor moves one box at a time" is the core mental model for the whole session.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59FDE1-7E11-43F2-95AA-80DC8925A8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0E7EAD-795C-4601-B039-1046732734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negative-step countdown is worth demoing live — nice callback to negative indices from last session.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DD93F0-DC8F-4FBC-A6D9-0AD5722B20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B05E2D-C45E-440E-B681-94F13A6FA3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Compare directly against the previous slide — same output, noticeably cleaner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CF773E-F4EC-4884-8D36-76D447E8D5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great moment to revisit the Grade Report project — this is the loop version of what they did by hand with indexing.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1D5900-71B4-45C7-A856-48D2FDDFDD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1E23FE-E56E-4B24-9A9B-08EC2AECE7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70AEE8-EF0B-4962-93AA-E01426EC44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EED25A-FB11-4F2B-9760-49961677C8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1E4D34-F9FE-4EC1-8C72-EB162AF003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Deliberately run the broken version live, then Ctrl+C to stop it — a memorable, safe way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 this.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ABD397-4ABF-44D9-86E4-73B19FE351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3C1843-7ABE-4372-8863-16D4C4B696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AFF38C-3C03-401E-999C-D147D26054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DD89E2-2631-4E42-97A5-5A9802464C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BA3942-4CC0-4DAF-86E1-15EB18CA7E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55F7E9-92D2-4776-B39E-0B47487F4A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C97384-A98A-4DF4-866C-F168ABE1DA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Worth flagging explicitly as a Python quirk — most other languages don't have this at all.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162698-5053-46EF-BC86-3FE439960A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Direct callback to nested lists from Session 5 — a satisfying "this is what that was for" moment.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DB5D7C-36DB-4EBD-B5B6-16CF7F22C6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CF213D-0E90-43F3-AF13-691E9C9CEF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461E52-7702-43B6-BF3F-734EDB9DC7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4CC22C-36AC-4445-B732-0720C4DCAD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E0EE64-329C-47C8-B862-1B4EA09AB7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this as a translation exercise — show the loop first, then "shrink" it into the comprehension.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80C6E6-EBA3-4D8B-A27B-A8218F7A26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genuinely common real bug — worth running the broken version live to show the wrong output.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0A91A1-8D58-4FBF-BC1E-4907BB8F32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Direct continuation of "front vs. back" from the Lists session — same intuition, now applied to loops.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086470-96B7-4D65-86E2-8CA09CBA0D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9626B8-9664-41C6-9AC8-1956A217FC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EEBE9-2743-4B18-B863-A93B736F22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C798D7-48FB-4FA6-9F18-2CACD0B432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E5D0B6-A510-4E3F-BF6F-2DE27D5397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AF8725-2CC0-47A4-8FBB-7326F5E923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by having students compare their old indexing-based Grade Report to the new loop version — the contrast is the whole lesson.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394CB9-51CF-462C-AD63-16D9FF7B54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286000" y="3657600"/>
            <a:ext cx="6400440" cy="64004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0" y="-2743200"/>
            <a:ext cx="6400440" cy="64004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500080" y="914400"/>
            <a:ext cx="1188360" cy="11883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icons/sync.png"/>
          <p:cNvPicPr/>
          <p:nvPr/>
        </p:nvPicPr>
        <p:blipFill>
          <a:blip r:embed="rId1"/>
          <a:stretch/>
        </p:blipFill>
        <p:spPr>
          <a:xfrm>
            <a:off x="5678280" y="1092600"/>
            <a:ext cx="831600" cy="83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377440"/>
            <a:ext cx="10359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Loops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14400" y="3383280"/>
            <a:ext cx="1035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Doing Something Again, Without Repeating Yourself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3977640"/>
            <a:ext cx="103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Session 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10515600" y="-13716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0" descr="icons/sync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We're Covering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457200" y="1600200"/>
            <a:ext cx="11274120" cy="446760"/>
          </a:xfrm>
          <a:prstGeom prst="roundRect">
            <a:avLst>
              <a:gd name="adj" fmla="val 1431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621720" y="1662840"/>
            <a:ext cx="321480" cy="321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1" descr="icons/boxes.png"/>
          <p:cNvPicPr/>
          <p:nvPr/>
        </p:nvPicPr>
        <p:blipFill>
          <a:blip r:embed="rId2"/>
          <a:stretch/>
        </p:blipFill>
        <p:spPr>
          <a:xfrm>
            <a:off x="669960" y="171108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5"/>
          <p:cNvSpPr/>
          <p:nvPr/>
        </p:nvSpPr>
        <p:spPr>
          <a:xfrm>
            <a:off x="1325880" y="1600200"/>
            <a:ext cx="1005804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Why loops exist — the for loop, and iterating lists/tuples/strings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457200" y="2138760"/>
            <a:ext cx="11274120" cy="446760"/>
          </a:xfrm>
          <a:prstGeom prst="roundRect">
            <a:avLst>
              <a:gd name="adj" fmla="val 1431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621720" y="2201400"/>
            <a:ext cx="321480" cy="321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2" descr="icons/hashtag.png"/>
          <p:cNvPicPr/>
          <p:nvPr/>
        </p:nvPicPr>
        <p:blipFill>
          <a:blip r:embed="rId3"/>
          <a:stretch/>
        </p:blipFill>
        <p:spPr>
          <a:xfrm>
            <a:off x="669960" y="22496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8"/>
          <p:cNvSpPr/>
          <p:nvPr/>
        </p:nvSpPr>
        <p:spPr>
          <a:xfrm>
            <a:off x="1325880" y="2138760"/>
            <a:ext cx="1005804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range(), enumerate(), and zip()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457200" y="2677320"/>
            <a:ext cx="11274120" cy="446760"/>
          </a:xfrm>
          <a:prstGeom prst="roundRect">
            <a:avLst>
              <a:gd name="adj" fmla="val 1431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621720" y="2739600"/>
            <a:ext cx="321480" cy="321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3" descr="icons/infinity.png"/>
          <p:cNvPicPr/>
          <p:nvPr/>
        </p:nvPicPr>
        <p:blipFill>
          <a:blip r:embed="rId4"/>
          <a:stretch/>
        </p:blipFill>
        <p:spPr>
          <a:xfrm>
            <a:off x="669960" y="278820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11"/>
          <p:cNvSpPr/>
          <p:nvPr/>
        </p:nvSpPr>
        <p:spPr>
          <a:xfrm>
            <a:off x="1325880" y="2677320"/>
            <a:ext cx="1005804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while loop, and avoiding infinite loops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457200" y="3215520"/>
            <a:ext cx="11274120" cy="446760"/>
          </a:xfrm>
          <a:prstGeom prst="roundRect">
            <a:avLst>
              <a:gd name="adj" fmla="val 1431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3"/>
          <p:cNvSpPr/>
          <p:nvPr/>
        </p:nvSpPr>
        <p:spPr>
          <a:xfrm>
            <a:off x="621720" y="3278160"/>
            <a:ext cx="321480" cy="321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4" descr="icons/checkdouble.png"/>
          <p:cNvPicPr/>
          <p:nvPr/>
        </p:nvPicPr>
        <p:blipFill>
          <a:blip r:embed="rId5"/>
          <a:stretch/>
        </p:blipFill>
        <p:spPr>
          <a:xfrm>
            <a:off x="669960" y="332640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14"/>
          <p:cNvSpPr/>
          <p:nvPr/>
        </p:nvSpPr>
        <p:spPr>
          <a:xfrm>
            <a:off x="1325880" y="3215520"/>
            <a:ext cx="1005804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Input validation &amp; sentinel-controlled loops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457200" y="3754080"/>
            <a:ext cx="11274120" cy="446760"/>
          </a:xfrm>
          <a:prstGeom prst="roundRect">
            <a:avLst>
              <a:gd name="adj" fmla="val 1431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621720" y="3816720"/>
            <a:ext cx="321480" cy="321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5" descr="icons/warning.png"/>
          <p:cNvPicPr/>
          <p:nvPr/>
        </p:nvPicPr>
        <p:blipFill>
          <a:blip r:embed="rId6"/>
          <a:stretch/>
        </p:blipFill>
        <p:spPr>
          <a:xfrm>
            <a:off x="669960" y="386496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7"/>
          <p:cNvSpPr/>
          <p:nvPr/>
        </p:nvSpPr>
        <p:spPr>
          <a:xfrm>
            <a:off x="1325880" y="3754080"/>
            <a:ext cx="1005804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break, continue, and the loop else clause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457200" y="4292640"/>
            <a:ext cx="11274120" cy="446760"/>
          </a:xfrm>
          <a:prstGeom prst="roundRect">
            <a:avLst>
              <a:gd name="adj" fmla="val 1431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621720" y="4355280"/>
            <a:ext cx="321480" cy="321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6" descr="icons/layergroup.png"/>
          <p:cNvPicPr/>
          <p:nvPr/>
        </p:nvPicPr>
        <p:blipFill>
          <a:blip r:embed="rId7"/>
          <a:stretch/>
        </p:blipFill>
        <p:spPr>
          <a:xfrm>
            <a:off x="669960" y="440352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20"/>
          <p:cNvSpPr/>
          <p:nvPr/>
        </p:nvSpPr>
        <p:spPr>
          <a:xfrm>
            <a:off x="1325880" y="4292640"/>
            <a:ext cx="1005804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Nested loops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457200" y="4831200"/>
            <a:ext cx="11274120" cy="446760"/>
          </a:xfrm>
          <a:prstGeom prst="roundRect">
            <a:avLst>
              <a:gd name="adj" fmla="val 1431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621720" y="4893840"/>
            <a:ext cx="321480" cy="321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7" descr="icons/chart.png"/>
          <p:cNvPicPr/>
          <p:nvPr/>
        </p:nvPicPr>
        <p:blipFill>
          <a:blip r:embed="rId8"/>
          <a:stretch/>
        </p:blipFill>
        <p:spPr>
          <a:xfrm>
            <a:off x="669960" y="494208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23"/>
          <p:cNvSpPr/>
          <p:nvPr/>
        </p:nvSpPr>
        <p:spPr>
          <a:xfrm>
            <a:off x="1325880" y="4831200"/>
            <a:ext cx="1005804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Real-world patterns: accumulator, search, comprehensions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4"/>
          <p:cNvSpPr/>
          <p:nvPr/>
        </p:nvSpPr>
        <p:spPr>
          <a:xfrm>
            <a:off x="457200" y="5369400"/>
            <a:ext cx="11274120" cy="446760"/>
          </a:xfrm>
          <a:prstGeom prst="roundRect">
            <a:avLst>
              <a:gd name="adj" fmla="val 1431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5"/>
          <p:cNvSpPr/>
          <p:nvPr/>
        </p:nvSpPr>
        <p:spPr>
          <a:xfrm>
            <a:off x="621720" y="5432040"/>
            <a:ext cx="321480" cy="321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8" descr="icons/bolt.png"/>
          <p:cNvPicPr/>
          <p:nvPr/>
        </p:nvPicPr>
        <p:blipFill>
          <a:blip r:embed="rId9"/>
          <a:stretch/>
        </p:blipFill>
        <p:spPr>
          <a:xfrm>
            <a:off x="669960" y="548028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26"/>
          <p:cNvSpPr/>
          <p:nvPr/>
        </p:nvSpPr>
        <p:spPr>
          <a:xfrm>
            <a:off x="1325880" y="5369400"/>
            <a:ext cx="1005804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second look at time complexity — nested loops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7"/>
          <p:cNvSpPr/>
          <p:nvPr/>
        </p:nvSpPr>
        <p:spPr>
          <a:xfrm>
            <a:off x="457200" y="5907960"/>
            <a:ext cx="11274120" cy="446760"/>
          </a:xfrm>
          <a:prstGeom prst="roundRect">
            <a:avLst>
              <a:gd name="adj" fmla="val 1431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8"/>
          <p:cNvSpPr/>
          <p:nvPr/>
        </p:nvSpPr>
        <p:spPr>
          <a:xfrm>
            <a:off x="621720" y="5970600"/>
            <a:ext cx="321480" cy="321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9" descr="icons/tasks.png"/>
          <p:cNvPicPr/>
          <p:nvPr/>
        </p:nvPicPr>
        <p:blipFill>
          <a:blip r:embed="rId10"/>
          <a:stretch/>
        </p:blipFill>
        <p:spPr>
          <a:xfrm>
            <a:off x="669960" y="60188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29"/>
          <p:cNvSpPr/>
          <p:nvPr/>
        </p:nvSpPr>
        <p:spPr>
          <a:xfrm>
            <a:off x="1325880" y="5907960"/>
            <a:ext cx="1005804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Mini projects tying everything together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" name="Image 0" descr="icons/sync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for Loop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This is the moment lists and tuples finally pay off.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icons/sync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Why Do Loops Exist?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1" descr="icons/sync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Stop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repeating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yourself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Without a loop, printing 6 student names means writing print() six separate times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loop lets you say "do this once for every item" — one instruction, applied automatically to each item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exactly why lists and tuples exist — a loop is how you actually use everything inside one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Programmers call this principle DRY: Don't Repeat Yourself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0" descr="icons/sync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for Loop — Basic Syntax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for item in a_list: runs the indented block once for every item in the 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choose the name "item" — it can be anything you like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 indexing needed at all — Python hands you each value directly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fruits = ["apple", "banana", "mango"]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fruit in fruits: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print(fruit)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apple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banana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mango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0" descr="icons/sync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What's Actually Happening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548640" y="1417320"/>
            <a:ext cx="11091240" cy="50256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731520" y="1417320"/>
            <a:ext cx="1072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fruit in fruits:  -&gt;  fruit takes each value, one at a time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2743200" y="2743200"/>
            <a:ext cx="1828440" cy="621360"/>
          </a:xfrm>
          <a:prstGeom prst="roundRect">
            <a:avLst>
              <a:gd name="adj" fmla="val 735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2743200" y="2743200"/>
            <a:ext cx="18284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"apple"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2743200" y="2450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4626720" y="2743200"/>
            <a:ext cx="182844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4626720" y="2743200"/>
            <a:ext cx="18284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"banana"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6510600" y="2743200"/>
            <a:ext cx="182844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6510600" y="2743200"/>
            <a:ext cx="18284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"mango"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548640" y="4206240"/>
            <a:ext cx="11091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Round 1: fruit = "apple"    Round 2: fruit = "banana"    Round 3: fruit = "mango"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loop automatically moves to the next box each time, and stops after the last one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never manage the position yourself — that's the whole point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0" descr="icons/sync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Looping Over Tuples and Strings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exact same for syntax works on a tuple — no changes needed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even works on a string, looping over one character at a time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you can index it or slice it, you can almost always loop over it too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coordinates = (4, 7, 9)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number in coordinates: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print(number)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letter in "abc":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print(letter)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0" descr="icons/hashta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range() — Looping a Specific Number of Times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range() generates a sequence of numbers — perfect when you want to repeat something N times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range(n) counts from 0 up to (not including) 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range(start, stop) and range(start, stop, step) give you full control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i in range(5):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print(i)          # 0 1 2 3 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i in range(2, 6):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print(i)          # 2 3 4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i in range(10, 0, -2):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print(i)          # 10 8 6 4 2  &lt;- counting down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0" descr="icons/hashta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for i in range(len(list)) — Index-Based Looping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Sometimes you need the index itself, not just the value — this pattern gives you that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Useful when you need to compare or update items at specific positions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But if you only need the values, plain for item in list is simpler — don't reach for this by default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scores = [88, 92, 79]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i in range(len(scores)):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print("Position", i, "-&gt;", scores[i])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Position 0 -&gt; 88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Position 1 -&gt; 92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Position 2 -&gt; 79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icons/listo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enumerate() — Index and Value Together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enumerate() gives you both the index and the value, in one clean loop — no range(len(...)) needed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preferred way to get both, and shows up constantly in real code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scores = [88, 92, 79]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i, score in enumerate(scores):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print("Position", i, "-&gt;", score)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Position 0 -&gt; 88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Position 1 -&gt; 92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Position 2 -&gt; 79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1" name="Image 0" descr="icons/lin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zip() — Looping Over Two Lists Together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zip() pairs up items from two (or more) lists, position by position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Perfect for exactly the kind of data you worked with in the Grade Report mini project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Stops automatically at the shorter list, if the lists are different lengths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names = ["Aisha", "Bilal", "Sara"]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scores = [88, 92, 79]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name, score in zip(names, scores):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print(name, "scored", score)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Aisha scored 88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Bilal scored 92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Sara scored 79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0" descr="icons/sync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for Loops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Loop over a list of 3 colors and print each 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8"/>
          <p:cNvSpPr/>
          <p:nvPr/>
        </p:nvSpPr>
        <p:spPr>
          <a:xfrm>
            <a:off x="822960" y="30099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822960" y="3009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1435680" y="30099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range(5) to print the numbers 0 through 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1"/>
          <p:cNvSpPr/>
          <p:nvPr/>
        </p:nvSpPr>
        <p:spPr>
          <a:xfrm>
            <a:off x="822960" y="35967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822960" y="3596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1435680" y="35967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range() to print only the even numbers from 0 to 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4"/>
          <p:cNvSpPr/>
          <p:nvPr/>
        </p:nvSpPr>
        <p:spPr>
          <a:xfrm>
            <a:off x="822960" y="41835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5"/>
          <p:cNvSpPr/>
          <p:nvPr/>
        </p:nvSpPr>
        <p:spPr>
          <a:xfrm>
            <a:off x="822960" y="4183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1435680" y="41835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Loop over a string and print each character on its own 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7"/>
          <p:cNvSpPr/>
          <p:nvPr/>
        </p:nvSpPr>
        <p:spPr>
          <a:xfrm>
            <a:off x="822960" y="477000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822960" y="47700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9"/>
          <p:cNvSpPr/>
          <p:nvPr/>
        </p:nvSpPr>
        <p:spPr>
          <a:xfrm>
            <a:off x="1435680" y="477000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enumerate() to print each item in a list along with its position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0"/>
          <p:cNvSpPr/>
          <p:nvPr/>
        </p:nvSpPr>
        <p:spPr>
          <a:xfrm>
            <a:off x="822960" y="535680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1"/>
          <p:cNvSpPr/>
          <p:nvPr/>
        </p:nvSpPr>
        <p:spPr>
          <a:xfrm>
            <a:off x="822960" y="53568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2"/>
          <p:cNvSpPr/>
          <p:nvPr/>
        </p:nvSpPr>
        <p:spPr>
          <a:xfrm>
            <a:off x="1435680" y="535680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zip() to loop over two short lists of your own and print them paired together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3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4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7" name="Image 0" descr="icons/infinity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while Loop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3" name="Image 0" descr="icons/infinity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while Loop — Basic Syntax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while keeps running its block as long as a condition stays True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Unlike for, it doesn't know in advance how many times it will run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Something inside the loop must eventually make the condition False, or it never stops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coun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 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whil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coun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 &lt;=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5: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(cou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coun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 +=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1 2 </a:t>
            </a: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3 4 5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1" name="Image 0" descr="icons/infinity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for vs. while — Which One?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"/>
          <p:cNvSpPr/>
          <p:nvPr/>
        </p:nvSpPr>
        <p:spPr>
          <a:xfrm>
            <a:off x="457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"/>
          <p:cNvSpPr/>
          <p:nvPr/>
        </p:nvSpPr>
        <p:spPr>
          <a:xfrm>
            <a:off x="731520" y="1874520"/>
            <a:ext cx="456840" cy="456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1" descr="icons/sync.png"/>
          <p:cNvPicPr/>
          <p:nvPr/>
        </p:nvPicPr>
        <p:blipFill>
          <a:blip r:embed="rId2"/>
          <a:stretch/>
        </p:blipFill>
        <p:spPr>
          <a:xfrm>
            <a:off x="800280" y="1943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4"/>
          <p:cNvSpPr/>
          <p:nvPr/>
        </p:nvSpPr>
        <p:spPr>
          <a:xfrm>
            <a:off x="1325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Use for When...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731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already know how many times to repeat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You're working through a list, tuple, or string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printing every item in a list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6"/>
          <p:cNvSpPr/>
          <p:nvPr/>
        </p:nvSpPr>
        <p:spPr>
          <a:xfrm>
            <a:off x="6172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7"/>
          <p:cNvSpPr/>
          <p:nvPr/>
        </p:nvSpPr>
        <p:spPr>
          <a:xfrm>
            <a:off x="6446520" y="1874520"/>
            <a:ext cx="456840" cy="456840"/>
          </a:xfrm>
          <a:prstGeom prst="ellipse">
            <a:avLst/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2" descr="icons/infinity.png"/>
          <p:cNvPicPr/>
          <p:nvPr/>
        </p:nvPicPr>
        <p:blipFill>
          <a:blip r:embed="rId3"/>
          <a:stretch/>
        </p:blipFill>
        <p:spPr>
          <a:xfrm>
            <a:off x="6515280" y="1943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8"/>
          <p:cNvSpPr/>
          <p:nvPr/>
        </p:nvSpPr>
        <p:spPr>
          <a:xfrm>
            <a:off x="7040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Use while When...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6446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don't know in advance how many times you'll repeat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You're waiting for a condition to change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keep asking until the user enters a valid answer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Image 0" descr="icons/warn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Infinite Loops — What Causes Them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the condition never becomes False, the loop never stops — this is an infinite loop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most common cause: forgetting to update the variable the condition depends 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your program ever seems frozen, this is the first thing to check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BROKEN — count never changes, runs forever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count 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while count &lt;= 5: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print(count)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FIXED — count is updated every 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count 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while count &lt;= 5: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print(count)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count +=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Image 0" descr="icons/checkdoub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Input Validation Pattern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very common real use of while: keep asking until the user gives a genuinely valid answer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loop repeats the question every time the input fails the check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int(input("Enter your age: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while age &lt; 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print("Age cannot be negative.")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age = int(input("Enter your age: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print("Thanks! Your age is", age)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21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5" name="Image 0" descr="icons/flagcheckered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Sentinel-Controlled Loops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sentinel value is a special input that means "stop the loop" — like typing "quit"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pattern is used everywhere: menus, chat programs, simple games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command = ""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while command != "quit":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command = input("Type a command (or 'quit'): 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print("You typed:", command)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print("Goodbye!")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30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0" descr="icons/infinity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while Loops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a while loop to print the numbers 1 through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8"/>
          <p:cNvSpPr/>
          <p:nvPr/>
        </p:nvSpPr>
        <p:spPr>
          <a:xfrm>
            <a:off x="822960" y="33033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9"/>
          <p:cNvSpPr/>
          <p:nvPr/>
        </p:nvSpPr>
        <p:spPr>
          <a:xfrm>
            <a:off x="822960" y="3303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0"/>
          <p:cNvSpPr/>
          <p:nvPr/>
        </p:nvSpPr>
        <p:spPr>
          <a:xfrm>
            <a:off x="1435680" y="33033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a while loop to count down from 10 to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1"/>
          <p:cNvSpPr/>
          <p:nvPr/>
        </p:nvSpPr>
        <p:spPr>
          <a:xfrm>
            <a:off x="822960" y="41835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2"/>
          <p:cNvSpPr/>
          <p:nvPr/>
        </p:nvSpPr>
        <p:spPr>
          <a:xfrm>
            <a:off x="822960" y="4183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3"/>
          <p:cNvSpPr/>
          <p:nvPr/>
        </p:nvSpPr>
        <p:spPr>
          <a:xfrm>
            <a:off x="1435680" y="41835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while loop that keeps asking for a password until the user types "python123"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4"/>
          <p:cNvSpPr/>
          <p:nvPr/>
        </p:nvSpPr>
        <p:spPr>
          <a:xfrm>
            <a:off x="822960" y="506340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5"/>
          <p:cNvSpPr/>
          <p:nvPr/>
        </p:nvSpPr>
        <p:spPr>
          <a:xfrm>
            <a:off x="822960" y="506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6"/>
          <p:cNvSpPr/>
          <p:nvPr/>
        </p:nvSpPr>
        <p:spPr>
          <a:xfrm>
            <a:off x="1435680" y="506340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Deliberately write an infinite loop, run it, then stop it with Ctrl+C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5" name="Image 0" descr="icons/warning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Loop Control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1" name="Image 0" descr="icons/warn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break — Exit Early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break immediately stops the loop completely, even if it wasn't finished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Commonly used once you've found what you were looking for — no reason to keep going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numbers = [4, 8, 15, 16, 23, 42]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n in numbers: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if n == 15: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print("Found it!")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break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print("Checking", 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66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0" name="Image 0" descr="icons/warn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continue — Skip to the Next Round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continue skips the rest of the current round only, then moves on to the next one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loop keeps going overall — only that one round is cut short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numbers = [1, 2, 3, 4, 5, 6]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n in numbers: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if n % 2 == 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continue     # skip even numbers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1 3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75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9" name="Image 0" descr="icons/flagcheckered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else Clause on a Loop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one is genuinely Python-specific: a loop can have its own else block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else only runs if the loop finished normally — never triggered by break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Useful for "search and report if nothing was found" patterns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numbers = [4, 8, 15, 16, 23, 42]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n in numbers: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if n == 100: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print("Found it!")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break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print("100 was never in the list")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84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8" name="Image 0" descr="icons/layergrou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Nested Loops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loop can contain another loop inside it — the inner loop runs completely for every single round of the outer one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exactly how you work through a nested list (a grid) from last session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grid = [[1, 2, 3], [4, 5, 6]]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row in grid: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for value in row: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print(value)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1 2 3 4 5 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93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7" name="Image 0" descr="icons/warn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Loop Control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Loop through a list of numbers and use break to stop as soon as you find one over 50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8"/>
          <p:cNvSpPr/>
          <p:nvPr/>
        </p:nvSpPr>
        <p:spPr>
          <a:xfrm>
            <a:off x="822960" y="33033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9"/>
          <p:cNvSpPr/>
          <p:nvPr/>
        </p:nvSpPr>
        <p:spPr>
          <a:xfrm>
            <a:off x="822960" y="3303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0"/>
          <p:cNvSpPr/>
          <p:nvPr/>
        </p:nvSpPr>
        <p:spPr>
          <a:xfrm>
            <a:off x="1435680" y="33033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Loop through a list of numbers and use continue to print only the odd ones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1"/>
          <p:cNvSpPr/>
          <p:nvPr/>
        </p:nvSpPr>
        <p:spPr>
          <a:xfrm>
            <a:off x="822960" y="41835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2"/>
          <p:cNvSpPr/>
          <p:nvPr/>
        </p:nvSpPr>
        <p:spPr>
          <a:xfrm>
            <a:off x="822960" y="4183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3"/>
          <p:cNvSpPr/>
          <p:nvPr/>
        </p:nvSpPr>
        <p:spPr>
          <a:xfrm>
            <a:off x="1435680" y="41835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for/else that searches for a name in a list and reports if it wasn't found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4"/>
          <p:cNvSpPr/>
          <p:nvPr/>
        </p:nvSpPr>
        <p:spPr>
          <a:xfrm>
            <a:off x="822960" y="506340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5"/>
          <p:cNvSpPr/>
          <p:nvPr/>
        </p:nvSpPr>
        <p:spPr>
          <a:xfrm>
            <a:off x="822960" y="506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6"/>
          <p:cNvSpPr/>
          <p:nvPr/>
        </p:nvSpPr>
        <p:spPr>
          <a:xfrm>
            <a:off x="1435680" y="506340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nested loop that prints every item in a small 2x2 grid (list of lists)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8" name="Image 0" descr="icons/chart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Patterns You'll Actually Use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The same handful of loop shapes show up again and again in real code.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5" name="Image 0" descr="icons/cha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Accumulator Pattern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Start with an empty value (0, "", or []), then build it up one step at a time inside the loop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how sum(), and many things sum() can't do alone, actually work under the hood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numbers = [4, 8, 15, 16, 23, 42]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total =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n in numbers: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total += 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print(total)   # 108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30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4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Search Pattern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Loop through everything, check a condition, and break the moment you find a match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exactly what in secretly does behind the scenes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names = ["Aisha", "Bilal", "Sara"]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target = "Bilal"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name in names: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if name == target: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print("Found", target)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break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39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Image 0" descr="icons/boxopen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List Comprehensions — The Shortcut Version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list comprehension builds a new list from a loop, in a single line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It's just a for loop that creates a list — same idea, more compact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whichever version reads more clearly to you; both are completely valid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the loop version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squares = []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n in range(5):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squares.append(n ** 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the comprehension version — identical result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squares = [n ** 2 for n in range(5)]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print(squares)   # [0, 1, 4, 9, 16]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2" name="Image 0" descr="icons/warn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Gotcha: Modifying a List While Looping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Removing or adding items to a list while you're looping over it causes items to be skipped or repeated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 doesn't stop you — it just silently produces the wrong answer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safe fix: loop over a copy instead, with list(original) or original[:]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BROKEN — skips an item because indices shift mid-loop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numbers = [1, 2, 3, 4]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n in numbers: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if n % 2 == 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numbers.remove(n)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SAFE — loop over a copy instead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n in numbers[:]: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if n % 2 == 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numbers.remove(n)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57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0" name="Image 0" descr="icons/bol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Second Look at Time Complexity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2"/>
          <p:cNvSpPr/>
          <p:nvPr/>
        </p:nvSpPr>
        <p:spPr>
          <a:xfrm>
            <a:off x="457200" y="1508760"/>
            <a:ext cx="5522760" cy="4891680"/>
          </a:xfrm>
          <a:prstGeom prst="roundRect">
            <a:avLst>
              <a:gd name="adj" fmla="val 1495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3"/>
          <p:cNvSpPr/>
          <p:nvPr/>
        </p:nvSpPr>
        <p:spPr>
          <a:xfrm>
            <a:off x="2944440" y="20959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4" name="Image 1" descr="icons/sync.png"/>
          <p:cNvPicPr/>
          <p:nvPr/>
        </p:nvPicPr>
        <p:blipFill>
          <a:blip r:embed="rId2"/>
          <a:stretch/>
        </p:blipFill>
        <p:spPr>
          <a:xfrm>
            <a:off x="3026520" y="21780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Text 4"/>
          <p:cNvSpPr/>
          <p:nvPr/>
        </p:nvSpPr>
        <p:spPr>
          <a:xfrm>
            <a:off x="548640" y="2717640"/>
            <a:ext cx="533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One Loop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5"/>
          <p:cNvSpPr/>
          <p:nvPr/>
        </p:nvSpPr>
        <p:spPr>
          <a:xfrm>
            <a:off x="603360" y="3101760"/>
            <a:ext cx="5230080" cy="32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Checks every item once — roughly n steps for n items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6"/>
          <p:cNvSpPr/>
          <p:nvPr/>
        </p:nvSpPr>
        <p:spPr>
          <a:xfrm>
            <a:off x="6208920" y="1508760"/>
            <a:ext cx="5522760" cy="4891680"/>
          </a:xfrm>
          <a:prstGeom prst="roundRect">
            <a:avLst>
              <a:gd name="adj" fmla="val 1495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7"/>
          <p:cNvSpPr/>
          <p:nvPr/>
        </p:nvSpPr>
        <p:spPr>
          <a:xfrm>
            <a:off x="8695800" y="20959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Image 2" descr="icons/layergroup.png"/>
          <p:cNvPicPr/>
          <p:nvPr/>
        </p:nvPicPr>
        <p:blipFill>
          <a:blip r:embed="rId3"/>
          <a:stretch/>
        </p:blipFill>
        <p:spPr>
          <a:xfrm>
            <a:off x="8778240" y="21780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Text 8"/>
          <p:cNvSpPr/>
          <p:nvPr/>
        </p:nvSpPr>
        <p:spPr>
          <a:xfrm>
            <a:off x="6300360" y="2717640"/>
            <a:ext cx="533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Nested Loops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9"/>
          <p:cNvSpPr/>
          <p:nvPr/>
        </p:nvSpPr>
        <p:spPr>
          <a:xfrm>
            <a:off x="6355080" y="3101760"/>
            <a:ext cx="5230080" cy="32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Checks every pair — roughly n × n steps, much slower as the list grows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6" name="Image 0" descr="icons/cha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Patterns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the accumulator pattern to count how many numbers in a list are negative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8"/>
          <p:cNvSpPr/>
          <p:nvPr/>
        </p:nvSpPr>
        <p:spPr>
          <a:xfrm>
            <a:off x="822960" y="33033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9"/>
          <p:cNvSpPr/>
          <p:nvPr/>
        </p:nvSpPr>
        <p:spPr>
          <a:xfrm>
            <a:off x="822960" y="3303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0"/>
          <p:cNvSpPr/>
          <p:nvPr/>
        </p:nvSpPr>
        <p:spPr>
          <a:xfrm>
            <a:off x="1435680" y="33033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the search pattern to check if a specific word exists in a list of words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1"/>
          <p:cNvSpPr/>
          <p:nvPr/>
        </p:nvSpPr>
        <p:spPr>
          <a:xfrm>
            <a:off x="822960" y="41835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2"/>
          <p:cNvSpPr/>
          <p:nvPr/>
        </p:nvSpPr>
        <p:spPr>
          <a:xfrm>
            <a:off x="822960" y="4183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3"/>
          <p:cNvSpPr/>
          <p:nvPr/>
        </p:nvSpPr>
        <p:spPr>
          <a:xfrm>
            <a:off x="1435680" y="41835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list comprehension that builds a list of the first 10 square numbers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4"/>
          <p:cNvSpPr/>
          <p:nvPr/>
        </p:nvSpPr>
        <p:spPr>
          <a:xfrm>
            <a:off x="822960" y="506340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5"/>
          <p:cNvSpPr/>
          <p:nvPr/>
        </p:nvSpPr>
        <p:spPr>
          <a:xfrm>
            <a:off x="822960" y="506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6"/>
          <p:cNvSpPr/>
          <p:nvPr/>
        </p:nvSpPr>
        <p:spPr>
          <a:xfrm>
            <a:off x="1435680" y="506340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Predict what a broken "modify while looping" example will print, then run it to check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6" name="Image 0" descr="icons/sync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A: for Loops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5"/>
          <p:cNvSpPr/>
          <p:nvPr/>
        </p:nvSpPr>
        <p:spPr>
          <a:xfrm>
            <a:off x="822960" y="24231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1" name="Image 1" descr="icons/checkdouble.png"/>
          <p:cNvPicPr/>
          <p:nvPr/>
        </p:nvPicPr>
        <p:blipFill>
          <a:blip r:embed="rId2"/>
          <a:stretch/>
        </p:blipFill>
        <p:spPr>
          <a:xfrm>
            <a:off x="885960" y="24861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Shape 6"/>
          <p:cNvSpPr/>
          <p:nvPr/>
        </p:nvSpPr>
        <p:spPr>
          <a:xfrm>
            <a:off x="1417320" y="244152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7"/>
          <p:cNvSpPr/>
          <p:nvPr/>
        </p:nvSpPr>
        <p:spPr>
          <a:xfrm>
            <a:off x="1417320" y="244152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8"/>
          <p:cNvSpPr/>
          <p:nvPr/>
        </p:nvSpPr>
        <p:spPr>
          <a:xfrm>
            <a:off x="2011680" y="24231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every number from 1 to 10 using a for loop and range()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9"/>
          <p:cNvSpPr/>
          <p:nvPr/>
        </p:nvSpPr>
        <p:spPr>
          <a:xfrm>
            <a:off x="822960" y="33033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6" name="Image 2" descr="icons/checkdouble.png"/>
          <p:cNvPicPr/>
          <p:nvPr/>
        </p:nvPicPr>
        <p:blipFill>
          <a:blip r:embed="rId3"/>
          <a:stretch/>
        </p:blipFill>
        <p:spPr>
          <a:xfrm>
            <a:off x="885960" y="33663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7" name="Shape 10"/>
          <p:cNvSpPr/>
          <p:nvPr/>
        </p:nvSpPr>
        <p:spPr>
          <a:xfrm>
            <a:off x="1417320" y="332172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1"/>
          <p:cNvSpPr/>
          <p:nvPr/>
        </p:nvSpPr>
        <p:spPr>
          <a:xfrm>
            <a:off x="1417320" y="332172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2"/>
          <p:cNvSpPr/>
          <p:nvPr/>
        </p:nvSpPr>
        <p:spPr>
          <a:xfrm>
            <a:off x="2011680" y="33033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Loop through a list of 5 of your favorite movies and print each 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3"/>
          <p:cNvSpPr/>
          <p:nvPr/>
        </p:nvSpPr>
        <p:spPr>
          <a:xfrm>
            <a:off x="822960" y="41835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1" name="Image 3" descr="icons/checkdouble.png"/>
          <p:cNvPicPr/>
          <p:nvPr/>
        </p:nvPicPr>
        <p:blipFill>
          <a:blip r:embed="rId4"/>
          <a:stretch/>
        </p:blipFill>
        <p:spPr>
          <a:xfrm>
            <a:off x="885960" y="42465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Shape 14"/>
          <p:cNvSpPr/>
          <p:nvPr/>
        </p:nvSpPr>
        <p:spPr>
          <a:xfrm>
            <a:off x="1417320" y="42015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5"/>
          <p:cNvSpPr/>
          <p:nvPr/>
        </p:nvSpPr>
        <p:spPr>
          <a:xfrm>
            <a:off x="1417320" y="42015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6"/>
          <p:cNvSpPr/>
          <p:nvPr/>
        </p:nvSpPr>
        <p:spPr>
          <a:xfrm>
            <a:off x="2011680" y="41835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enumerate() to print a numbered list (1. ..., 2. ..., 3. ...) from a list of items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7"/>
          <p:cNvSpPr/>
          <p:nvPr/>
        </p:nvSpPr>
        <p:spPr>
          <a:xfrm>
            <a:off x="822960" y="506340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6" name="Image 4" descr="icons/checkdouble.png"/>
          <p:cNvPicPr/>
          <p:nvPr/>
        </p:nvPicPr>
        <p:blipFill>
          <a:blip r:embed="rId5"/>
          <a:stretch/>
        </p:blipFill>
        <p:spPr>
          <a:xfrm>
            <a:off x="885960" y="51267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Shape 18"/>
          <p:cNvSpPr/>
          <p:nvPr/>
        </p:nvSpPr>
        <p:spPr>
          <a:xfrm>
            <a:off x="1417320" y="50817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9"/>
          <p:cNvSpPr/>
          <p:nvPr/>
        </p:nvSpPr>
        <p:spPr>
          <a:xfrm>
            <a:off x="1417320" y="50817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20"/>
          <p:cNvSpPr/>
          <p:nvPr/>
        </p:nvSpPr>
        <p:spPr>
          <a:xfrm>
            <a:off x="2011680" y="506340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zip() to print 3 names next to 3 matching ages, paired together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21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22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4" name="Image 0" descr="icons/infinity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B: while Loops &amp; Control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5"/>
          <p:cNvSpPr/>
          <p:nvPr/>
        </p:nvSpPr>
        <p:spPr>
          <a:xfrm>
            <a:off x="822960" y="24231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9" name="Image 1" descr="icons/checkdouble.png"/>
          <p:cNvPicPr/>
          <p:nvPr/>
        </p:nvPicPr>
        <p:blipFill>
          <a:blip r:embed="rId2"/>
          <a:stretch/>
        </p:blipFill>
        <p:spPr>
          <a:xfrm>
            <a:off x="885960" y="24861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0" name="Shape 6"/>
          <p:cNvSpPr/>
          <p:nvPr/>
        </p:nvSpPr>
        <p:spPr>
          <a:xfrm>
            <a:off x="1417320" y="244152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7"/>
          <p:cNvSpPr/>
          <p:nvPr/>
        </p:nvSpPr>
        <p:spPr>
          <a:xfrm>
            <a:off x="1417320" y="244152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8"/>
          <p:cNvSpPr/>
          <p:nvPr/>
        </p:nvSpPr>
        <p:spPr>
          <a:xfrm>
            <a:off x="2011680" y="24231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while loop that adds up numbers the user enters, stopping when they type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9"/>
          <p:cNvSpPr/>
          <p:nvPr/>
        </p:nvSpPr>
        <p:spPr>
          <a:xfrm>
            <a:off x="822960" y="35967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4" name="Image 2" descr="icons/checkdouble.png"/>
          <p:cNvPicPr/>
          <p:nvPr/>
        </p:nvPicPr>
        <p:blipFill>
          <a:blip r:embed="rId3"/>
          <a:stretch/>
        </p:blipFill>
        <p:spPr>
          <a:xfrm>
            <a:off x="885960" y="36597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Shape 10"/>
          <p:cNvSpPr/>
          <p:nvPr/>
        </p:nvSpPr>
        <p:spPr>
          <a:xfrm>
            <a:off x="1417320" y="36147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11"/>
          <p:cNvSpPr/>
          <p:nvPr/>
        </p:nvSpPr>
        <p:spPr>
          <a:xfrm>
            <a:off x="1417320" y="36147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2"/>
          <p:cNvSpPr/>
          <p:nvPr/>
        </p:nvSpPr>
        <p:spPr>
          <a:xfrm>
            <a:off x="2011680" y="35967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loop that searches a list for a number, using break once it's found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3"/>
          <p:cNvSpPr/>
          <p:nvPr/>
        </p:nvSpPr>
        <p:spPr>
          <a:xfrm>
            <a:off x="822960" y="477000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9" name="Image 3" descr="icons/checkdouble.png"/>
          <p:cNvPicPr/>
          <p:nvPr/>
        </p:nvPicPr>
        <p:blipFill>
          <a:blip r:embed="rId4"/>
          <a:stretch/>
        </p:blipFill>
        <p:spPr>
          <a:xfrm>
            <a:off x="885960" y="48333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0" name="Shape 14"/>
          <p:cNvSpPr/>
          <p:nvPr/>
        </p:nvSpPr>
        <p:spPr>
          <a:xfrm>
            <a:off x="1417320" y="47883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5"/>
          <p:cNvSpPr/>
          <p:nvPr/>
        </p:nvSpPr>
        <p:spPr>
          <a:xfrm>
            <a:off x="1417320" y="47883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6"/>
          <p:cNvSpPr/>
          <p:nvPr/>
        </p:nvSpPr>
        <p:spPr>
          <a:xfrm>
            <a:off x="2011680" y="477000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nested loop that prints a small multiplication table (1 to 3, times 1 to 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8" name="Image 0" descr="icons/tasks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Put It All Together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One project using everything from this course so far — lists, tuples, conditionals, and now loops.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5" name="Image 0" descr="icons/task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 Project: Class Grade Report, Revisited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9" name="Image 1" descr="icons/tasks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Now with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real loop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Take your Class Grade Report project from last session — the one built with direct indexing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Rebuild it using a for loop with zip() to pair names and scores, instead of manual indexing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Inside the loop, print each name, score, and Pass/Fail — the same output, far less 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the accumulator pattern to compute the total and average yourself, instead of relying only on sum()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Loops  ·  Session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7" name="Image 0" descr="icons/sync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8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Everything you learned about lists and tuples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was leading here — one instruction, applied to everything.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Next session: strings in depth — indexing, slicing, and methods, now with loops to back them up.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2026-08-01T03:17:09Z</dcterms:created>
  <dc:creator>Course Instructor</dc:creator>
  <dc:description/>
  <dc:language>en-US</dc:language>
  <cp:lastModifiedBy/>
  <dcterms:modified xsi:type="dcterms:W3CDTF">2026-08-04T08:07:27Z</dcterms:modified>
  <cp:revision>29</cp:revision>
  <dc:subject>PptxGenJS Presentation</dc:subject>
  <dc:title>Loops — Session 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37</vt:i4>
  </property>
  <property fmtid="{D5CDD505-2E9C-101B-9397-08002B2CF9AE}" pid="3" name="PresentationFormat">
    <vt:lpwstr>On-screen Show (16:9)</vt:lpwstr>
  </property>
  <property fmtid="{D5CDD505-2E9C-101B-9397-08002B2CF9AE}" pid="4" name="Slides">
    <vt:i4>37</vt:i4>
  </property>
</Properties>
</file>