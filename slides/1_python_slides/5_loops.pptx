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8CD5037-CE89-46F3-958E-60D8402BB1E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the payoff session — lists/tuples from last time finally get used properly.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6B02D1-4F5F-4661-92AE-A1A2689DF2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E30899-DFC3-4505-9A4B-73FDDE1299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29BA1D-2E8A-4090-B3C4-077F7AA110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A7E825-FF23-4C18-B2F9-ACFBAB29FB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150AD4-A582-4503-A178-382FFA8D5D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this slowly — "the cursor moves one box at a time" is the core mental model for the whole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773500-57E6-491B-8A26-1A924A2D22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F03E7-9932-426A-98DA-F5BFB8FCDA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negative-step countdown is worth demoing live — nice callback to negative indices from last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64AEF3-384A-4953-9B91-793547FFFD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AFDCCB-9B31-4CC9-97CF-6495C62AB1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Compare directly against the previous slide — same output, noticeably cleaner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23D86-40E8-40F3-8F46-1C9E65768E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great moment to revisit the Grade Report project — this is the loop version of what they did by hand with indexing.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DB00FD-DFF1-4EAB-8C62-ECBD9CBCBE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E19829-5739-4FD3-B3B9-FF0C92F585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50DA91-7FB6-455F-9C13-1C88619EBC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092CFC-3E3A-43A5-8EEF-4BCA15E0E6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B8C7FB-262A-4A70-AEB1-B30D82E75E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Deliberately run the broken version live, then Ctrl+C to stop it — a memorable, safe way to show this.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81BA3C-97C9-4459-8FE8-28466AB6DC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B1DBB8-D262-40DB-B0A4-EDAC126AC1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ECC5BF-0BE5-44C1-8BEC-E186B9BF18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7B41BD-96CA-4989-AE4E-2F53D4F312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F48C59-7798-409F-8292-B6D2DE13AB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AF1B4E-7DA4-4149-8050-4BB47AAA8F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EA901D-F8EB-4A26-927D-4FCF8B3A4E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flagging explicitly as a Python quirk — most other languages don't have this at 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FEA715-06CB-46D3-B43D-1E1C2F7A46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callback to nested lists from Session 5 — a satisfying "this is what that was for"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BB2CCD-0769-4A09-A56B-EC5FE68FF1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5B45CB-FA18-4124-9E35-943AA4EF8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FEC303-E6A6-49D9-948D-7A3E83DE6A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3166F9-D625-43BE-9862-4B2D2392A2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4BE4B6-E325-4D1E-9916-5A703B75B3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this as a translation exercise — show the loop first, then "shrink" it into the comprehension.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110A6F-1369-44BA-9255-0956D8D2D2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common real bug — worth running the broken version live to show the wrong output.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1CC41C-6AFC-465B-8BFE-DF44C00B29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"front vs. back" from the Lists session — same intuition, now applied to loops.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DD6A1C-F193-4C3B-87D2-78EE1CE1EA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98530E-D0A0-47AC-B708-C0B2A6A472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1A6C2-4CC8-4DA3-B4DE-D073743FB4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EB0B7D-1DDE-4644-9367-350F8DD5B5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4ECA89-5319-40C5-858A-F68045A28C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3BF910-8D9A-4DEA-ACD1-D8FA14F230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having students compare their old indexing-based Grade Report to the new loop version — the contrast is the whole lesson.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79AF9-5295-42EA-B28B-2810E33B1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sync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0520" cy="8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Loops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Doing Something Again, Without Repeating Yourself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6284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boxes.png"/>
          <p:cNvPicPr/>
          <p:nvPr/>
        </p:nvPicPr>
        <p:blipFill>
          <a:blip r:embed="rId2"/>
          <a:stretch/>
        </p:blipFill>
        <p:spPr>
          <a:xfrm>
            <a:off x="669960" y="171108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loops exist — the for loop, and iterating lists/tuples/strings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13876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20140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hashtag.png"/>
          <p:cNvPicPr/>
          <p:nvPr/>
        </p:nvPicPr>
        <p:blipFill>
          <a:blip r:embed="rId3"/>
          <a:stretch/>
        </p:blipFill>
        <p:spPr>
          <a:xfrm>
            <a:off x="669960" y="224964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13876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range(), enumerate(), and zip()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7732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73960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infinity.png"/>
          <p:cNvPicPr/>
          <p:nvPr/>
        </p:nvPicPr>
        <p:blipFill>
          <a:blip r:embed="rId4"/>
          <a:stretch/>
        </p:blipFill>
        <p:spPr>
          <a:xfrm>
            <a:off x="669960" y="278820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67732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while loop, and avoiding infinite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21552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27816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checkdouble.png"/>
          <p:cNvPicPr/>
          <p:nvPr/>
        </p:nvPicPr>
        <p:blipFill>
          <a:blip r:embed="rId5"/>
          <a:stretch/>
        </p:blipFill>
        <p:spPr>
          <a:xfrm>
            <a:off x="669960" y="332640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21552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Input validation &amp; sentinel-controlled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5408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81672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warning.png"/>
          <p:cNvPicPr/>
          <p:nvPr/>
        </p:nvPicPr>
        <p:blipFill>
          <a:blip r:embed="rId6"/>
          <a:stretch/>
        </p:blipFill>
        <p:spPr>
          <a:xfrm>
            <a:off x="669960" y="386496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75408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break, continue, and the loop else clause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9264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35528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layergroup.png"/>
          <p:cNvPicPr/>
          <p:nvPr/>
        </p:nvPicPr>
        <p:blipFill>
          <a:blip r:embed="rId7"/>
          <a:stretch/>
        </p:blipFill>
        <p:spPr>
          <a:xfrm>
            <a:off x="669960" y="440352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29264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3120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89384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chart.png"/>
          <p:cNvPicPr/>
          <p:nvPr/>
        </p:nvPicPr>
        <p:blipFill>
          <a:blip r:embed="rId8"/>
          <a:stretch/>
        </p:blipFill>
        <p:spPr>
          <a:xfrm>
            <a:off x="669960" y="494208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83120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Real-world patterns: accumulator, search, comprehensions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6940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43204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bolt.png"/>
          <p:cNvPicPr/>
          <p:nvPr/>
        </p:nvPicPr>
        <p:blipFill>
          <a:blip r:embed="rId9"/>
          <a:stretch/>
        </p:blipFill>
        <p:spPr>
          <a:xfrm>
            <a:off x="669960" y="548028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536940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second look at time complexity — 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907960"/>
            <a:ext cx="11273040" cy="44568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970600"/>
            <a:ext cx="320400" cy="32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69960" y="6018840"/>
            <a:ext cx="223920" cy="2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907960"/>
            <a:ext cx="1005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Mini projects tying everything together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for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This is the moment lists and tuples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Do Loops Exist?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1" descr="icons/sync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repeating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yourself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is an iterative control structure that repeatedly executes a block of code as long as a specified condition is satisfied or for a specified number of iterations.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 loop, printing 6 student names means writing print() six separate times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lets you say "do this once for every item" — one instruction, applied automatically to each item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why lists and tuples exist — a loop is how you actually use everything inside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Programmers call this principle DRY: Don't Repeat Yourself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for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item in a_list: runs the indented block once for every item in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choose the name "item" — it can be anything you like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indexing needed at all — Python hands you each value directly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fruits = ["apple", "banana", "mango"]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print(fruit)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apple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banana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mango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What's Actually Happening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  -&gt;  fruit takes each value, one at a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2743200" y="2743200"/>
            <a:ext cx="1827360" cy="62028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2743200" y="2743200"/>
            <a:ext cx="18273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"apple"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2743200" y="24505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4626720" y="2743200"/>
            <a:ext cx="1827360" cy="62028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4626720" y="2743200"/>
            <a:ext cx="18273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"banana"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6510600" y="2743200"/>
            <a:ext cx="1827360" cy="62028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6510600" y="2743200"/>
            <a:ext cx="18273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"mango"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548640" y="4206240"/>
            <a:ext cx="110901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1: fruit = "apple"    Round 2: fruit = "banana"    Round 3: fruit = "mango"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automatically moves to the next box each time, and stops after the last 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never manage the position yourself — that's the whole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Tuples and Strings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for syntax works on a tuple — no changes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even works on a string, looping over one character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can index it or slice it, you can almost always loop over it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coordinates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number in coordinates: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print(number)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letter in "abc":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print(letter)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range() — Looping a Specific Number of Times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 generates a sequence of numbers — perfect when you want to repeat something N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range(n) counts from 0 up to (not including) 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range(start, stop) and range(start, stop, step) give you full control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0 1 2 3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range(2, 6):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range(10, 0, -2):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10 8 6 4 2  &lt;- counting down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i in range(len(list)) — Index-Based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Sometimes you need the index itself, not just the value — this pattern gives you that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when you need to compare or update items at specific positions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if you only need the values, plain for item in list is simpler — don't reach for this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range(len(scores)):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scores[i])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enumerate() — Index and Value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enumerate() gives you both the index and the value, in one clean loop — no range(len(...))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preferred way to get both, and shows up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i, score in enumerate(scores):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Image 0" descr="icons/lin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zip() — Looping Over Two Lists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zip() pairs up items from two (or more) lists, position by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Perfect for exactly the kind of data you worked with in the Grade Report mini project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Stops automatically at the shorter list, if the lists are different lengths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name, score in zip(names, 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print(name, "scored",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Aisha scored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Bilal scored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Sara scored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list of 3 colors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8"/>
          <p:cNvSpPr/>
          <p:nvPr/>
        </p:nvSpPr>
        <p:spPr>
          <a:xfrm>
            <a:off x="822960" y="30099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822960" y="30099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1435680" y="30099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range(5) to print the numbers 0 through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822960" y="35967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822960" y="35967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1435680" y="35967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range() to print only the even numbers from 0 to 10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4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5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6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string and print each character on its own 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7"/>
          <p:cNvSpPr/>
          <p:nvPr/>
        </p:nvSpPr>
        <p:spPr>
          <a:xfrm>
            <a:off x="822960" y="47700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822960" y="47700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9"/>
          <p:cNvSpPr/>
          <p:nvPr/>
        </p:nvSpPr>
        <p:spPr>
          <a:xfrm>
            <a:off x="1435680" y="47700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each item in a list along with its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0"/>
          <p:cNvSpPr/>
          <p:nvPr/>
        </p:nvSpPr>
        <p:spPr>
          <a:xfrm>
            <a:off x="822960" y="53568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1"/>
          <p:cNvSpPr/>
          <p:nvPr/>
        </p:nvSpPr>
        <p:spPr>
          <a:xfrm>
            <a:off x="822960" y="53568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2"/>
          <p:cNvSpPr/>
          <p:nvPr/>
        </p:nvSpPr>
        <p:spPr>
          <a:xfrm>
            <a:off x="1435680" y="53568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loop over two short lists of your own and print them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3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Image 0" descr="icons/infinity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while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while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while keeps running its block as long as a condition stays True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for, it doesn't know in advance how many times it will run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Something inside the loop must eventually make the condition False, or it never stops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vs. while — Which One?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1" descr="icons/sync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for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know how many times to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working through a list, tuple, or 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printing every item in a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2" descr="icons/infinit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while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know in advance how many times you'll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waiting for a condition to change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keep asking until the user enters a valid answer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Infinite Loops — What Causes Them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condition never becomes False, the loop never stops — this is an infinite loop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most common cause: forgetting to update the variable the condition depends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your program ever seems frozen, this is the first thing to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count never changes, runs forever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 — count is updated every 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 Validation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very common real use of while: keep asking until the user gives a genuinely valid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repeats the question every time the input fails the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age &lt;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print("Age cannot be negative.")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print("Thanks! Your age is", age)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Sentinel-Controlled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sentinel value is a special input that means "stop the loop" — like typing "quit"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pattern is used everywhere: menus, chat programs, simple games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command = ""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command != "quit":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command = input("Type a command (or 'quit'): 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print("You typed:", command)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print("Goodbye!")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while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print the numbers 1 through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count down from 10 to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keeps asking for a password until the user types "python123"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write an infinite loop, run it, then stop it with Ctrl+C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 0" descr="icons/warnin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 Control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break — Exit Early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 immediately stops the loop completely, even if it wasn't finished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Commonly used once you've found what you were looking for — no reason to keep going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print("Checking", 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continue — Skip to the Next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continue skips the rest of the current round only, then moves on to the next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keeps going overall — only that one round is cut short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3, 4, 5,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continue     # skip even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3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else Clause on a Loop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one is genuinely Python-specific: a loop can have its own else block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else only runs if the loop finished normally — never triggered by break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"search and report if nothing was found" patterns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100: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print("100 was never in the list")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8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 contain another loop inside it — the inner loop runs completely for every single round of the outer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you work through a nested list (a grid) from last session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row in grid: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row: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print(value)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Loop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break to stop as soon as you find one over 50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continue to print only the odd ones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for/else that searches for a name in a list and reports if it wasn't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every item in a small 2x2 grid (list of lists)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0" descr="icons/cha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Patterns You'll Actually Use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same handful of loop shapes show up again and again in real code.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"/>
          <p:cNvSpPr/>
          <p:nvPr/>
        </p:nvSpPr>
        <p:spPr>
          <a:xfrm>
            <a:off x="457200" y="27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5" name="Image 0" descr="icons/chart.png"/>
          <p:cNvPicPr/>
          <p:nvPr/>
        </p:nvPicPr>
        <p:blipFill>
          <a:blip r:embed="rId1"/>
          <a:stretch/>
        </p:blipFill>
        <p:spPr>
          <a:xfrm>
            <a:off x="553320" y="409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2"/>
          <p:cNvSpPr/>
          <p:nvPr/>
        </p:nvSpPr>
        <p:spPr>
          <a:xfrm>
            <a:off x="1235520" y="2286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Accumulator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1875960" y="86724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Start with an empty value (0, "", or []), then build it up one step at a time inside the loop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sum(), and many things sum() can't do alone, actually work under the hood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Start with something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Process one item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Update the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Process next item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Update the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Final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74400" y="1691640"/>
            <a:ext cx="552384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7086600" y="1965960"/>
            <a:ext cx="24228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 = 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+= 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print(total)   # 108 </a:t>
            </a:r>
            <a:br>
              <a:rPr sz="1300"/>
            </a:b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____________________________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["I", "love", "Python"]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""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result += word + " 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5"/>
          <p:cNvSpPr/>
          <p:nvPr/>
        </p:nvSpPr>
        <p:spPr>
          <a:xfrm>
            <a:off x="10150200" y="1965960"/>
            <a:ext cx="24228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result.append(n *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5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Search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everything, check a condition, and break the moment you find a match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in secretly does behind the scenes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target = "Bilal"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 in names: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name == target: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print("Found", target)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Comprehensions — The Shortcut Version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comprehension builds a new list from a loop, in a single 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just a for loop that creates a list — same idea, more compact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whichever version reads more clearly to you; both are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loop version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squares.append(n **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comprehension version — identical result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[n ** 2 for n in range(5)]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print(squares)   # [0, 1, 4, 9, 16]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Gotcha: Modifying a List While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or adding items to a list while you're looping over it causes items to be skipped or repeated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doesn't stop you — it just silently produces the wrong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safe fix: loop over a copy instead, with list(original) or original[:]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skips an item because indices shift mid-loop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SAFE — loop over a copy instead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numbers[:]: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Second Look at Time Complexity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2"/>
          <p:cNvSpPr/>
          <p:nvPr/>
        </p:nvSpPr>
        <p:spPr>
          <a:xfrm>
            <a:off x="45720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3"/>
          <p:cNvSpPr/>
          <p:nvPr/>
        </p:nvSpPr>
        <p:spPr>
          <a:xfrm>
            <a:off x="294444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5" name="Image 1" descr="icons/sync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Text 4"/>
          <p:cNvSpPr/>
          <p:nvPr/>
        </p:nvSpPr>
        <p:spPr>
          <a:xfrm>
            <a:off x="54864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60336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once — roughly n steps for n items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"/>
          <p:cNvSpPr/>
          <p:nvPr/>
        </p:nvSpPr>
        <p:spPr>
          <a:xfrm>
            <a:off x="620892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7"/>
          <p:cNvSpPr/>
          <p:nvPr/>
        </p:nvSpPr>
        <p:spPr>
          <a:xfrm>
            <a:off x="86958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0" name="Image 2" descr="icons/layergroup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Text 8"/>
          <p:cNvSpPr/>
          <p:nvPr/>
        </p:nvSpPr>
        <p:spPr>
          <a:xfrm>
            <a:off x="630036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9"/>
          <p:cNvSpPr/>
          <p:nvPr/>
        </p:nvSpPr>
        <p:spPr>
          <a:xfrm>
            <a:off x="635508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pair — roughly n × n steps, much slower as the list grows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0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7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Patterns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count how many numbers in a list are negative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search pattern to check if a specific word exists in a list of words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list comprehension that builds a list of the first 10 square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 what a broken "modify while looping" example will print, then run it to 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7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5"/>
          <p:cNvSpPr/>
          <p:nvPr/>
        </p:nvSpPr>
        <p:spPr>
          <a:xfrm>
            <a:off x="822960" y="242316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2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Shape 6"/>
          <p:cNvSpPr/>
          <p:nvPr/>
        </p:nvSpPr>
        <p:spPr>
          <a:xfrm>
            <a:off x="1417320" y="244152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7"/>
          <p:cNvSpPr/>
          <p:nvPr/>
        </p:nvSpPr>
        <p:spPr>
          <a:xfrm>
            <a:off x="1417320" y="244152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8"/>
          <p:cNvSpPr/>
          <p:nvPr/>
        </p:nvSpPr>
        <p:spPr>
          <a:xfrm>
            <a:off x="2011680" y="24231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from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1 to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10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using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for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9"/>
          <p:cNvSpPr/>
          <p:nvPr/>
        </p:nvSpPr>
        <p:spPr>
          <a:xfrm>
            <a:off x="822960" y="330336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7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3663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Shape 10"/>
          <p:cNvSpPr/>
          <p:nvPr/>
        </p:nvSpPr>
        <p:spPr>
          <a:xfrm>
            <a:off x="1417320" y="332172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1"/>
          <p:cNvSpPr/>
          <p:nvPr/>
        </p:nvSpPr>
        <p:spPr>
          <a:xfrm>
            <a:off x="1417320" y="332172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2"/>
          <p:cNvSpPr/>
          <p:nvPr/>
        </p:nvSpPr>
        <p:spPr>
          <a:xfrm>
            <a:off x="2011680" y="33033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5 of your favorite movies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3"/>
          <p:cNvSpPr/>
          <p:nvPr/>
        </p:nvSpPr>
        <p:spPr>
          <a:xfrm>
            <a:off x="822960" y="418356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2465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Shape 14"/>
          <p:cNvSpPr/>
          <p:nvPr/>
        </p:nvSpPr>
        <p:spPr>
          <a:xfrm>
            <a:off x="1417320" y="420156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5"/>
          <p:cNvSpPr/>
          <p:nvPr/>
        </p:nvSpPr>
        <p:spPr>
          <a:xfrm>
            <a:off x="1417320" y="420156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6"/>
          <p:cNvSpPr/>
          <p:nvPr/>
        </p:nvSpPr>
        <p:spPr>
          <a:xfrm>
            <a:off x="2011680" y="41835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a numbered list (1. ..., 2. ..., 3. ...) from a list of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7"/>
          <p:cNvSpPr/>
          <p:nvPr/>
        </p:nvSpPr>
        <p:spPr>
          <a:xfrm>
            <a:off x="822960" y="506340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7" name="Image 4" descr="icons/checkdouble.png"/>
          <p:cNvPicPr/>
          <p:nvPr/>
        </p:nvPicPr>
        <p:blipFill>
          <a:blip r:embed="rId5"/>
          <a:stretch/>
        </p:blipFill>
        <p:spPr>
          <a:xfrm>
            <a:off x="885960" y="51267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Shape 18"/>
          <p:cNvSpPr/>
          <p:nvPr/>
        </p:nvSpPr>
        <p:spPr>
          <a:xfrm>
            <a:off x="1417320" y="508176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9"/>
          <p:cNvSpPr/>
          <p:nvPr/>
        </p:nvSpPr>
        <p:spPr>
          <a:xfrm>
            <a:off x="1417320" y="508176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0"/>
          <p:cNvSpPr/>
          <p:nvPr/>
        </p:nvSpPr>
        <p:spPr>
          <a:xfrm>
            <a:off x="2011680" y="506340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print 3 names next to 3 matching ages,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1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22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5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while Loops &amp;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822960" y="242316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Shape 6"/>
          <p:cNvSpPr/>
          <p:nvPr/>
        </p:nvSpPr>
        <p:spPr>
          <a:xfrm>
            <a:off x="1417320" y="244152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7"/>
          <p:cNvSpPr/>
          <p:nvPr/>
        </p:nvSpPr>
        <p:spPr>
          <a:xfrm>
            <a:off x="1417320" y="244152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8"/>
          <p:cNvSpPr/>
          <p:nvPr/>
        </p:nvSpPr>
        <p:spPr>
          <a:xfrm>
            <a:off x="2011680" y="24231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adds up numbers the user enters, stopping when they type 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9"/>
          <p:cNvSpPr/>
          <p:nvPr/>
        </p:nvSpPr>
        <p:spPr>
          <a:xfrm>
            <a:off x="822960" y="359676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5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Shape 10"/>
          <p:cNvSpPr/>
          <p:nvPr/>
        </p:nvSpPr>
        <p:spPr>
          <a:xfrm>
            <a:off x="1417320" y="361476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1"/>
          <p:cNvSpPr/>
          <p:nvPr/>
        </p:nvSpPr>
        <p:spPr>
          <a:xfrm>
            <a:off x="1417320" y="361476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2"/>
          <p:cNvSpPr/>
          <p:nvPr/>
        </p:nvSpPr>
        <p:spPr>
          <a:xfrm>
            <a:off x="2011680" y="35967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loop that searches a list for a number, using break once it's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3"/>
          <p:cNvSpPr/>
          <p:nvPr/>
        </p:nvSpPr>
        <p:spPr>
          <a:xfrm>
            <a:off x="822960" y="4770000"/>
            <a:ext cx="419040" cy="41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0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3040" cy="2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Shape 14"/>
          <p:cNvSpPr/>
          <p:nvPr/>
        </p:nvSpPr>
        <p:spPr>
          <a:xfrm>
            <a:off x="1417320" y="4788360"/>
            <a:ext cx="419040" cy="38268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5"/>
          <p:cNvSpPr/>
          <p:nvPr/>
        </p:nvSpPr>
        <p:spPr>
          <a:xfrm>
            <a:off x="1417320" y="4788360"/>
            <a:ext cx="41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6"/>
          <p:cNvSpPr/>
          <p:nvPr/>
        </p:nvSpPr>
        <p:spPr>
          <a:xfrm>
            <a:off x="2011680" y="477000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a small multiplication table (1 to 3, times 1 to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9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One project using everything from this course so far — lists, tuples, conditionals, and now loops.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6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Project: Class Grade Report, Revisited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Now with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real loop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your Class Grade Report project from last session — the one built with direct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Rebuild it using a for loop with zip() to pair names and scores, instead of manual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loop, print each name, score, and Pass/Fail — the same output, far less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compute the total and average yourself, instead of relying only on sum()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7"/>
          <p:cNvSpPr/>
          <p:nvPr/>
        </p:nvSpPr>
        <p:spPr>
          <a:xfrm>
            <a:off x="45720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8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9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Everything you learned about lists and tuples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was leading here — one instruction, applied to everything.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strings in depth — indexing, slicing, and methods, now with loops to back them up.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2026-08-01T03:17:09Z</dcterms:created>
  <dc:creator>Course Instructor</dc:creator>
  <dc:description/>
  <dc:language>en-US</dc:language>
  <cp:lastModifiedBy/>
  <dcterms:modified xsi:type="dcterms:W3CDTF">2026-08-10T23:06:18Z</dcterms:modified>
  <cp:revision>43</cp:revision>
  <dc:subject>PptxGenJS Presentation</dc:subject>
  <dc:title>Loops — Session 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37</vt:i4>
  </property>
  <property fmtid="{D5CDD505-2E9C-101B-9397-08002B2CF9AE}" pid="3" name="PresentationFormat">
    <vt:lpwstr>On-screen Show (16:9)</vt:lpwstr>
  </property>
  <property fmtid="{D5CDD505-2E9C-101B-9397-08002B2CF9AE}" pid="4" name="Slides">
    <vt:i4>37</vt:i4>
  </property>
</Properties>
</file>