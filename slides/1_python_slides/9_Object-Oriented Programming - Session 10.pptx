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49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0.xml" ContentType="application/vnd.openxmlformats-officedocument.presentationml.slide+xml"/>
  <Override PartName="/ppt/slides/slide14.xml" ContentType="application/vnd.openxmlformats-officedocument.presentationml.slide+xml"/>
  <Override PartName="/ppt/slides/slide51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D4E2C5-C496-4D20-B427-037E3F96AE5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591BAD-4A7E-437B-9ED7-FFFA37720B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67EB46-6469-4477-8B3D-BB20FF6461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6AA22D-B967-4A81-8C05-27B4CB6A9B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54819E-7415-4698-A5BE-BF6341BEFA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268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88C8942-BDBE-487F-BD92-DC035C74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268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C3A159-2B31-4258-B96B-1975AC3714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3DA29F-251F-4D9F-851A-CC76E0AD17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268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0376D7-19F1-44A6-A774-8BBFF4053E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D50755-8888-46AA-8520-F284774B7E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469CCD-7471-4EE3-818D-7E1E44069D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0B99D2-CA66-4BD3-B1C7-14B6A2E67D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8E1598-0284-41F4-9F8E-DB838CC578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4C58BB-69B0-47AA-9EBD-81F0042993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112E23-A90A-4545-9025-6398556F91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FC373F-53A2-4166-949F-63BD20DA31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E876F1-159C-40FD-9DBA-8C6A89220A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F5C01D-19FA-4299-9FA7-D28F1ED964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232A62-67ED-4E84-A7F7-50C7604E6F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8E3586-3F4F-4F06-BC7C-CE96D8238B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22F2FD-DA16-4887-BD79-9172AABC7F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8BD449-092D-4094-8404-BB031AD041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F53FAC-CB55-4608-8C7F-79F473DD1E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F6CCE6-BB3C-4DB0-A194-E2E4C5969F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4F9D39-3084-4E9F-A287-4DDA79CD53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3BEA33-80E3-44E4-A618-E8C13AC324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F1C7F1-53A7-4A00-A5DF-3B4F91DB08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F643AB-C18F-4F65-8B17-E941301AB6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F012B1-9431-4EB9-AB1D-30476D039C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B63B44-59DB-44A7-BE21-9EAAF73153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26F52F-16B1-42B1-90C1-97F0D4B1D9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663D85-6EE0-482C-B6EC-B47D0D9046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712618-0D18-424D-AECC-996B9A505E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E18EC8-DC06-40BB-A1BE-68243DF6EF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2B744C-C62A-479B-A70B-84A2C84C28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631D12-5926-4F39-95DF-DA8C70F07E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F62EC8-97E2-4F84-9269-8E079FDFC7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DDF032-CCE7-443C-9F56-E651CAAA4D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03E45C-87C1-4D8E-98CF-712C9BC537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3D56F3-5131-499C-ABC7-32400EEAC2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F2F397-4FCB-41CE-BBFE-C96538D6AB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FF99AD-81D7-4DFC-B2AE-EDCA09D371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C07F03-F4A8-46F6-8CA7-6801C2B1DB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33D545-490D-4A65-A0A3-A449B052E3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98ABBD-1338-45EF-873D-2DB3759185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C2C70C-DBE4-4992-A3E3-422FF6CDE8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C1463B-87D6-48E8-90D3-FDC6E6320D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080647-F224-410A-8577-6E2A0C7E9E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125EA5-9B76-41D5-94C2-B173B5E346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2D4BD3-D950-44C6-8A07-024BA8C9C4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6AC8C9-2C65-4406-906E-8267E6CEEE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0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1520" y="1417320"/>
            <a:ext cx="1185840" cy="118584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work/icons/FaCubes.png"/>
          <p:cNvPicPr/>
          <p:nvPr/>
        </p:nvPicPr>
        <p:blipFill>
          <a:blip r:embed="rId1"/>
          <a:stretch/>
        </p:blipFill>
        <p:spPr>
          <a:xfrm>
            <a:off x="5803200" y="1710000"/>
            <a:ext cx="582480" cy="5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880360"/>
            <a:ext cx="10360080" cy="9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Object-Oriented Programming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554480" y="3794760"/>
            <a:ext cx="907992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Classes, Objects &amp; the Four Pillars — Encapsulation, Abstraction, Inheritance, Polymorphism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4480560"/>
            <a:ext cx="1036008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Session 10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094480" y="649224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/home/claude/work/icons/FaListUl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548640" y="1396080"/>
            <a:ext cx="308160" cy="3081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1" descr="/home/claude/work/icons/FaSitemap.png"/>
          <p:cNvPicPr/>
          <p:nvPr/>
        </p:nvPicPr>
        <p:blipFill>
          <a:blip r:embed="rId2"/>
          <a:stretch/>
        </p:blipFill>
        <p:spPr>
          <a:xfrm>
            <a:off x="617040" y="146448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3"/>
          <p:cNvSpPr/>
          <p:nvPr/>
        </p:nvSpPr>
        <p:spPr>
          <a:xfrm>
            <a:off x="1060560" y="1234440"/>
            <a:ext cx="1057932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Why OOP exists — the shift from separate data and functions to bundled objects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548640" y="203040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2" descr="/home/claude/work/icons/FaCube.png"/>
          <p:cNvPicPr/>
          <p:nvPr/>
        </p:nvPicPr>
        <p:blipFill>
          <a:blip r:embed="rId3"/>
          <a:stretch/>
        </p:blipFill>
        <p:spPr>
          <a:xfrm>
            <a:off x="617040" y="209880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1060560" y="1868760"/>
            <a:ext cx="1057932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Classes and objects — __init__, self, attributes, and methods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548640" y="2665080"/>
            <a:ext cx="308160" cy="3081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3" descr="/home/claude/work/icons/FaUserShield.png"/>
          <p:cNvPicPr/>
          <p:nvPr/>
        </p:nvPicPr>
        <p:blipFill>
          <a:blip r:embed="rId4"/>
          <a:stretch/>
        </p:blipFill>
        <p:spPr>
          <a:xfrm>
            <a:off x="617040" y="273348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7"/>
          <p:cNvSpPr/>
          <p:nvPr/>
        </p:nvSpPr>
        <p:spPr>
          <a:xfrm>
            <a:off x="1060560" y="2503080"/>
            <a:ext cx="1057932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Encapsulation — controlling access with naming conventions and @property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548640" y="329940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4" descr="/home/claude/work/icons/FaTheaterMasks.png"/>
          <p:cNvPicPr/>
          <p:nvPr/>
        </p:nvPicPr>
        <p:blipFill>
          <a:blip r:embed="rId5"/>
          <a:stretch/>
        </p:blipFill>
        <p:spPr>
          <a:xfrm>
            <a:off x="617040" y="336780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9"/>
          <p:cNvSpPr/>
          <p:nvPr/>
        </p:nvSpPr>
        <p:spPr>
          <a:xfrm>
            <a:off x="1060560" y="3137400"/>
            <a:ext cx="1057932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Abstraction — hiding complexity behind a simple interface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548640" y="3933720"/>
            <a:ext cx="308160" cy="3081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5" descr="/home/claude/work/icons/FaDna.png"/>
          <p:cNvPicPr/>
          <p:nvPr/>
        </p:nvPicPr>
        <p:blipFill>
          <a:blip r:embed="rId6"/>
          <a:stretch/>
        </p:blipFill>
        <p:spPr>
          <a:xfrm>
            <a:off x="617040" y="400212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1"/>
          <p:cNvSpPr/>
          <p:nvPr/>
        </p:nvSpPr>
        <p:spPr>
          <a:xfrm>
            <a:off x="1060560" y="3772080"/>
            <a:ext cx="1057932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Inheritance — building new classes from existing ones, and super()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548640" y="456804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6" descr="/home/claude/work/icons/FaRandom.png"/>
          <p:cNvPicPr/>
          <p:nvPr/>
        </p:nvPicPr>
        <p:blipFill>
          <a:blip r:embed="rId7"/>
          <a:stretch/>
        </p:blipFill>
        <p:spPr>
          <a:xfrm>
            <a:off x="617040" y="463644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3"/>
          <p:cNvSpPr/>
          <p:nvPr/>
        </p:nvSpPr>
        <p:spPr>
          <a:xfrm>
            <a:off x="1060560" y="4406400"/>
            <a:ext cx="1057932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Polymorphism — one interface, many behaviors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548640" y="5202360"/>
            <a:ext cx="308160" cy="3081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7" descr="/home/claude/work/icons/FaCode.png"/>
          <p:cNvPicPr/>
          <p:nvPr/>
        </p:nvPicPr>
        <p:blipFill>
          <a:blip r:embed="rId8"/>
          <a:stretch/>
        </p:blipFill>
        <p:spPr>
          <a:xfrm>
            <a:off x="617040" y="527076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5"/>
          <p:cNvSpPr/>
          <p:nvPr/>
        </p:nvSpPr>
        <p:spPr>
          <a:xfrm>
            <a:off x="1060560" y="5040720"/>
            <a:ext cx="1057932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Python-specific details — dunder methods, classmethod/staticmethod, MRO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548640" y="583668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8" descr="/home/claude/work/icons/FaPuzzlePiece.png"/>
          <p:cNvPicPr/>
          <p:nvPr/>
        </p:nvPicPr>
        <p:blipFill>
          <a:blip r:embed="rId9"/>
          <a:stretch/>
        </p:blipFill>
        <p:spPr>
          <a:xfrm>
            <a:off x="617040" y="590508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7"/>
          <p:cNvSpPr/>
          <p:nvPr/>
        </p:nvSpPr>
        <p:spPr>
          <a:xfrm>
            <a:off x="1060560" y="5675040"/>
            <a:ext cx="1057932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Today's tasks and two mini projects combining everything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-2286000" y="36576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8229600" y="-27432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638680" y="868680"/>
            <a:ext cx="911520" cy="9115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/home/claude/work/icons/FaSitemap.png"/>
          <p:cNvPicPr/>
          <p:nvPr/>
        </p:nvPicPr>
        <p:blipFill>
          <a:blip r:embed="rId1"/>
          <a:stretch/>
        </p:blipFill>
        <p:spPr>
          <a:xfrm>
            <a:off x="5876280" y="109728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3"/>
          <p:cNvSpPr/>
          <p:nvPr/>
        </p:nvSpPr>
        <p:spPr>
          <a:xfrm>
            <a:off x="914400" y="2057400"/>
            <a:ext cx="103600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1188720" y="2441520"/>
            <a:ext cx="981144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Why Object-Oriented Programming?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920240" y="3630240"/>
            <a:ext cx="834840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Every program you’ve written so far kept its data and its logic separate. OOP bundles them together.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1094480" y="649224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home/claude/work/icons/FaCubes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What Is OOP, Really?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548640" y="1234440"/>
            <a:ext cx="3243240" cy="5117760"/>
          </a:xfrm>
          <a:prstGeom prst="roundRect">
            <a:avLst>
              <a:gd name="adj" fmla="val 3380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1645920" y="1737360"/>
            <a:ext cx="1048680" cy="1048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" descr="/home/claude/work/icons/FaCubes.png"/>
          <p:cNvPicPr/>
          <p:nvPr/>
        </p:nvPicPr>
        <p:blipFill>
          <a:blip r:embed="rId2"/>
          <a:stretch/>
        </p:blipFill>
        <p:spPr>
          <a:xfrm>
            <a:off x="1906560" y="2002680"/>
            <a:ext cx="52740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4"/>
          <p:cNvSpPr/>
          <p:nvPr/>
        </p:nvSpPr>
        <p:spPr>
          <a:xfrm>
            <a:off x="731520" y="3017520"/>
            <a:ext cx="287748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Data +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behavior,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bundled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4206240" y="1280160"/>
            <a:ext cx="743400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2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Object-oriented programming organizes code around objects — self-contained units that bundle data (attributes) together with the functions that act on that data (methods)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2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Up to now, a "dog" in your code was just a dictionary, and bark() was a separate function you had to remember to call correctly, on the right dictionary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2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In OOP, a Dog object carries its own data and its own behavior together — dog.bark() instead of bark(dog_dict)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2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isn’t a new language feature — it’s a different way of organizing the same logic, and it’s how almost every large, real-world codebase is structured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/home/claude/work/icons/FaBalanceScal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Procedural vs. Object-Oriented — The Same Problem, Two Ways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548640" y="1234440"/>
            <a:ext cx="5361480" cy="5117760"/>
          </a:xfrm>
          <a:prstGeom prst="roundRect">
            <a:avLst>
              <a:gd name="adj" fmla="val 1786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822960" y="1508760"/>
            <a:ext cx="454320" cy="454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1" descr="/home/claude/work/icons/FaFileAlt.png"/>
          <p:cNvPicPr/>
          <p:nvPr/>
        </p:nvPicPr>
        <p:blipFill>
          <a:blip r:embed="rId2"/>
          <a:stretch/>
        </p:blipFill>
        <p:spPr>
          <a:xfrm>
            <a:off x="923400" y="16092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4"/>
          <p:cNvSpPr/>
          <p:nvPr/>
        </p:nvSpPr>
        <p:spPr>
          <a:xfrm>
            <a:off x="1444680" y="1508760"/>
            <a:ext cx="42825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What You’ve Been Doing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841320" y="2194560"/>
            <a:ext cx="477612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dictionary holds the data: dog = {"name": "Rex", "energy": 100}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separate function operates on it: def bark(dog): ...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Nothing stops another part of the code from passing the wrong dictionary into bark()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As the program grows, data and the functions that use it drift further apart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6278760" y="1234440"/>
            <a:ext cx="5361480" cy="5117760"/>
          </a:xfrm>
          <a:prstGeom prst="roundRect">
            <a:avLst>
              <a:gd name="adj" fmla="val 1786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6553080" y="1508760"/>
            <a:ext cx="454320" cy="4543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2" descr="/home/claude/work/icons/FaCube.png"/>
          <p:cNvPicPr/>
          <p:nvPr/>
        </p:nvPicPr>
        <p:blipFill>
          <a:blip r:embed="rId3"/>
          <a:stretch/>
        </p:blipFill>
        <p:spPr>
          <a:xfrm>
            <a:off x="6653520" y="16092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8"/>
          <p:cNvSpPr/>
          <p:nvPr/>
        </p:nvSpPr>
        <p:spPr>
          <a:xfrm>
            <a:off x="7174800" y="1508760"/>
            <a:ext cx="42825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The OOP Way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6571440" y="2194560"/>
            <a:ext cx="477612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class defines both the data and the behavior together, in one place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rex = Dog("Rex", 100) creates an object that owns its own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rex.bark() can only ever act on rex’s own data — there’s no dictionary to mix up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Data and behavior stay physically next to each other as the program grows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/home/claude/work/icons/FaShapes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Where You Already See This in the Real World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548640" y="1234440"/>
            <a:ext cx="3481920" cy="5117760"/>
          </a:xfrm>
          <a:prstGeom prst="roundRect">
            <a:avLst>
              <a:gd name="adj" fmla="val 2624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1902240" y="1600200"/>
            <a:ext cx="774360" cy="77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1" descr="/home/claude/work/icons/FaCar.png"/>
          <p:cNvPicPr/>
          <p:nvPr/>
        </p:nvPicPr>
        <p:blipFill>
          <a:blip r:embed="rId2"/>
          <a:stretch/>
        </p:blipFill>
        <p:spPr>
          <a:xfrm>
            <a:off x="2099160" y="1792080"/>
            <a:ext cx="381240" cy="38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4"/>
          <p:cNvSpPr/>
          <p:nvPr/>
        </p:nvSpPr>
        <p:spPr>
          <a:xfrm>
            <a:off x="731520" y="2560320"/>
            <a:ext cx="31161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A Car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777240" y="2971800"/>
            <a:ext cx="3024720" cy="31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Its data is speed, fuel level, gear. Its behavior is accelerate(), brake(), refuel() — all bundled into one "car" concept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4353480" y="1234440"/>
            <a:ext cx="3481920" cy="5117760"/>
          </a:xfrm>
          <a:prstGeom prst="roundRect">
            <a:avLst>
              <a:gd name="adj" fmla="val 2624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5707080" y="1600200"/>
            <a:ext cx="774360" cy="7743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2" descr="/home/claude/work/icons/FaWallet.png"/>
          <p:cNvPicPr/>
          <p:nvPr/>
        </p:nvPicPr>
        <p:blipFill>
          <a:blip r:embed="rId3"/>
          <a:stretch/>
        </p:blipFill>
        <p:spPr>
          <a:xfrm>
            <a:off x="5904000" y="1792080"/>
            <a:ext cx="381240" cy="38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8"/>
          <p:cNvSpPr/>
          <p:nvPr/>
        </p:nvSpPr>
        <p:spPr>
          <a:xfrm>
            <a:off x="4536360" y="2560320"/>
            <a:ext cx="31161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A Bank Account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4582080" y="2971800"/>
            <a:ext cx="3024720" cy="31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Its data is balance and owner. Its behavior is deposit() and withdraw() — the only way the balance is allowed to change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8158320" y="1234440"/>
            <a:ext cx="3481920" cy="5117760"/>
          </a:xfrm>
          <a:prstGeom prst="roundRect">
            <a:avLst>
              <a:gd name="adj" fmla="val 2624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9511920" y="1600200"/>
            <a:ext cx="774360" cy="774360"/>
          </a:xfrm>
          <a:prstGeom prst="ellipse">
            <a:avLst/>
          </a:prstGeom>
          <a:solidFill>
            <a:srgbClr val="1E4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3" descr="/home/claude/work/icons/FaGamepad.png"/>
          <p:cNvPicPr/>
          <p:nvPr/>
        </p:nvPicPr>
        <p:blipFill>
          <a:blip r:embed="rId4"/>
          <a:stretch/>
        </p:blipFill>
        <p:spPr>
          <a:xfrm>
            <a:off x="9708480" y="1792080"/>
            <a:ext cx="381240" cy="38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12"/>
          <p:cNvSpPr/>
          <p:nvPr/>
        </p:nvSpPr>
        <p:spPr>
          <a:xfrm>
            <a:off x="8341200" y="2560320"/>
            <a:ext cx="31161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A Game Character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8386920" y="2971800"/>
            <a:ext cx="3024720" cy="31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Its data is health, position, inventory. Its behavior is attack(), move(), heal() — every game engine is built this 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-2286000" y="36576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"/>
          <p:cNvSpPr/>
          <p:nvPr/>
        </p:nvSpPr>
        <p:spPr>
          <a:xfrm>
            <a:off x="8229600" y="-27432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5638680" y="868680"/>
            <a:ext cx="911520" cy="9115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0" descr="/home/claude/work/icons/FaCube.png"/>
          <p:cNvPicPr/>
          <p:nvPr/>
        </p:nvPicPr>
        <p:blipFill>
          <a:blip r:embed="rId1"/>
          <a:stretch/>
        </p:blipFill>
        <p:spPr>
          <a:xfrm>
            <a:off x="5876280" y="109728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3"/>
          <p:cNvSpPr/>
          <p:nvPr/>
        </p:nvSpPr>
        <p:spPr>
          <a:xfrm>
            <a:off x="914400" y="2057400"/>
            <a:ext cx="103600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1188720" y="2441520"/>
            <a:ext cx="981144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Classes &amp; Objects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1920240" y="3630240"/>
            <a:ext cx="834840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 class is the blueprint. An object is one specific thing built from that blueprint.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11094480" y="649224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home/claude/work/icons/FaCub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What Is a Class?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548640" y="1234440"/>
            <a:ext cx="3243240" cy="5117760"/>
          </a:xfrm>
          <a:prstGeom prst="roundRect">
            <a:avLst>
              <a:gd name="adj" fmla="val 3380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1645920" y="1737360"/>
            <a:ext cx="1048680" cy="1048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1" descr="/home/claude/work/icons/FaCube.png"/>
          <p:cNvPicPr/>
          <p:nvPr/>
        </p:nvPicPr>
        <p:blipFill>
          <a:blip r:embed="rId2"/>
          <a:stretch/>
        </p:blipFill>
        <p:spPr>
          <a:xfrm>
            <a:off x="1906560" y="2002680"/>
            <a:ext cx="52740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4"/>
          <p:cNvSpPr/>
          <p:nvPr/>
        </p:nvSpPr>
        <p:spPr>
          <a:xfrm>
            <a:off x="731520" y="3017520"/>
            <a:ext cx="287748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The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blueprint,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not the thing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4206240" y="1280160"/>
            <a:ext cx="743400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6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class is a blueprint — it defines what data and behavior every object built from it will have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6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blueprint for a house isn’t a house you can live in — a class isn’t something you use directly either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6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An object (also called an instance) is one actual thing built from that blueprint — with its own real values filled 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6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You can build as many objects as you want from one class, and each one is independent of the others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0" descr="/home/claude/work/icons/FaCub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Creating a Class and an Object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5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class Dog: starts a class definition — by convention, class names are CapitalizedLikeThis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5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Dog() calls the class like a function to create a new object — this is called instantiation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5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type() confirms what you already know — rex really is a Dog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pass    # empty class for now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 = Dog()      # create an object (instantiate)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milo = Dog()     # a second, independent object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print(type(rex))    # &lt;class '__main__.Dog'&gt;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print(rex is milo)  # False — two separate objects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home/claude/work/icons/FaKey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__init__ — The Constructor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__init__ is a special method that runs automatically every time a new object is created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It’s where you set up the object’s starting data — "construct" its initial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The double underscores mark it as a dunder method — Python-reserved, called automatically, never called directly. "Dunder" is short for "double underscore"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48640" y="2785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name, breed):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self.name = name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self.breed = breed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 = Dog("Rex", "Labrador")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print(rex.name)     # Rex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print(rex.breed)    # Labrador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0" descr="/home/claude/work/icons/FaFingerprint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self — What It Actually Means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548640" y="1234440"/>
            <a:ext cx="11091600" cy="148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self refers to the specific object a method is being called on — "this particular dog," not dogs in general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Every instance method needs self as its first parameter — Python passes it automatically, you never pass it yourself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self.name = name inside __init__ literally means "store this value on this specific object"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The name "self" is just a convention (like "args") — what matters is its position as the first parameter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548640" y="2862000"/>
            <a:ext cx="11091600" cy="3490200"/>
          </a:xfrm>
          <a:prstGeom prst="roundRect">
            <a:avLst>
              <a:gd name="adj" fmla="val 209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868680" y="3044880"/>
            <a:ext cx="10451520" cy="31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name):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self.name = name    # attach to THIS object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bark(self):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print(f"{self.name} says Woof!")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 = Dog("Rex")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rex.bark()    # Python secretly calls Dog.bark(rex)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8FA89E"/>
                </a:solidFill>
                <a:effectLst/>
                <a:uFillTx/>
                <a:latin typeface="Cantarell"/>
                <a:ea typeface="Consolas"/>
              </a:rPr>
              <a:t># Rex says Woof!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0" descr="/home/claude/work/icons/FaCub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A Class Is a Blueprint — Objects Are the Real Things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548640" y="1691640"/>
            <a:ext cx="2923200" cy="2923200"/>
          </a:xfrm>
          <a:prstGeom prst="roundRect">
            <a:avLst>
              <a:gd name="adj" fmla="val 3125"/>
            </a:avLst>
          </a:prstGeom>
          <a:solidFill>
            <a:srgbClr val="13312F"/>
          </a:solidFill>
          <a:ln w="19050">
            <a:solidFill>
              <a:srgbClr val="C98A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777240" y="1874520"/>
            <a:ext cx="2466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class Dog: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777240" y="2286000"/>
            <a:ext cx="2466000" cy="21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def __init__(self, name, breed):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self.name = name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self.breed = breed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def bark(self):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print(f"{self.name} says Woof!")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548640" y="4727520"/>
            <a:ext cx="292320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THE BLUEPRINT — DEFINED ONCE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3474720" y="2057400"/>
            <a:ext cx="914400" cy="1097280"/>
          </a:xfrm>
          <a:prstGeom prst="line">
            <a:avLst/>
          </a:prstGeom>
          <a:ln w="19050">
            <a:solidFill>
              <a:srgbClr val="A9B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4389120" y="1636920"/>
            <a:ext cx="7251120" cy="838440"/>
          </a:xfrm>
          <a:prstGeom prst="roundRect">
            <a:avLst>
              <a:gd name="adj" fmla="val 8696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4553640" y="1865520"/>
            <a:ext cx="381240" cy="381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1" descr="/home/claude/work/icons/FaDna.png"/>
          <p:cNvPicPr/>
          <p:nvPr/>
        </p:nvPicPr>
        <p:blipFill>
          <a:blip r:embed="rId2"/>
          <a:stretch/>
        </p:blipFill>
        <p:spPr>
          <a:xfrm>
            <a:off x="4636080" y="194760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9"/>
          <p:cNvSpPr/>
          <p:nvPr/>
        </p:nvSpPr>
        <p:spPr>
          <a:xfrm>
            <a:off x="5120640" y="1710000"/>
            <a:ext cx="63367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312F"/>
                </a:solidFill>
                <a:effectLst/>
                <a:uFillTx/>
                <a:latin typeface="Cantarell"/>
                <a:ea typeface="Consolas"/>
              </a:rPr>
              <a:t>rex = Dog(...)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5120640" y="2020680"/>
            <a:ext cx="63367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F4A45"/>
                </a:solidFill>
                <a:effectLst/>
                <a:uFillTx/>
                <a:latin typeface="Cantarell"/>
                <a:ea typeface="Consolas"/>
              </a:rPr>
              <a:t>name = "Rex"   ·   breed = "Labrador"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1"/>
          <p:cNvSpPr/>
          <p:nvPr/>
        </p:nvSpPr>
        <p:spPr>
          <a:xfrm>
            <a:off x="3474720" y="3154680"/>
            <a:ext cx="914400" cy="360"/>
          </a:xfrm>
          <a:prstGeom prst="line">
            <a:avLst/>
          </a:prstGeom>
          <a:ln w="19050">
            <a:solidFill>
              <a:srgbClr val="A9B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2"/>
          <p:cNvSpPr/>
          <p:nvPr/>
        </p:nvSpPr>
        <p:spPr>
          <a:xfrm>
            <a:off x="4389120" y="2734200"/>
            <a:ext cx="7251120" cy="838440"/>
          </a:xfrm>
          <a:prstGeom prst="roundRect">
            <a:avLst>
              <a:gd name="adj" fmla="val 8696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3"/>
          <p:cNvSpPr/>
          <p:nvPr/>
        </p:nvSpPr>
        <p:spPr>
          <a:xfrm>
            <a:off x="4553640" y="2962800"/>
            <a:ext cx="381240" cy="381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2" descr="/home/claude/work/icons/FaDna.png"/>
          <p:cNvPicPr/>
          <p:nvPr/>
        </p:nvPicPr>
        <p:blipFill>
          <a:blip r:embed="rId3"/>
          <a:stretch/>
        </p:blipFill>
        <p:spPr>
          <a:xfrm>
            <a:off x="4636080" y="304488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14"/>
          <p:cNvSpPr/>
          <p:nvPr/>
        </p:nvSpPr>
        <p:spPr>
          <a:xfrm>
            <a:off x="5120640" y="2807280"/>
            <a:ext cx="63367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312F"/>
                </a:solidFill>
                <a:effectLst/>
                <a:uFillTx/>
                <a:latin typeface="Cantarell"/>
                <a:ea typeface="Consolas"/>
              </a:rPr>
              <a:t>milo = Dog(...)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5120640" y="3117960"/>
            <a:ext cx="63367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F4A45"/>
                </a:solidFill>
                <a:effectLst/>
                <a:uFillTx/>
                <a:latin typeface="Cantarell"/>
                <a:ea typeface="Consolas"/>
              </a:rPr>
              <a:t>name = "Milo"   ·   breed = "Beagle"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3474720" y="3154680"/>
            <a:ext cx="914400" cy="1097280"/>
          </a:xfrm>
          <a:prstGeom prst="line">
            <a:avLst/>
          </a:prstGeom>
          <a:ln w="19050">
            <a:solidFill>
              <a:srgbClr val="A9B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7"/>
          <p:cNvSpPr/>
          <p:nvPr/>
        </p:nvSpPr>
        <p:spPr>
          <a:xfrm>
            <a:off x="4389120" y="3831480"/>
            <a:ext cx="7251120" cy="838440"/>
          </a:xfrm>
          <a:prstGeom prst="roundRect">
            <a:avLst>
              <a:gd name="adj" fmla="val 8696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4553640" y="4060080"/>
            <a:ext cx="381240" cy="3812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3" descr="/home/claude/work/icons/FaDna.png"/>
          <p:cNvPicPr/>
          <p:nvPr/>
        </p:nvPicPr>
        <p:blipFill>
          <a:blip r:embed="rId4"/>
          <a:stretch/>
        </p:blipFill>
        <p:spPr>
          <a:xfrm>
            <a:off x="4636080" y="414216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19"/>
          <p:cNvSpPr/>
          <p:nvPr/>
        </p:nvSpPr>
        <p:spPr>
          <a:xfrm>
            <a:off x="5120640" y="3904560"/>
            <a:ext cx="63367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312F"/>
                </a:solidFill>
                <a:effectLst/>
                <a:uFillTx/>
                <a:latin typeface="Cantarell"/>
                <a:ea typeface="Consolas"/>
              </a:rPr>
              <a:t>buddy = Dog(...)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0"/>
          <p:cNvSpPr/>
          <p:nvPr/>
        </p:nvSpPr>
        <p:spPr>
          <a:xfrm>
            <a:off x="5120640" y="4215240"/>
            <a:ext cx="63367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F4A45"/>
                </a:solidFill>
                <a:effectLst/>
                <a:uFillTx/>
                <a:latin typeface="Cantarell"/>
                <a:ea typeface="Consolas"/>
              </a:rPr>
              <a:t>name = "Buddy"   ·   breed = "Poodle"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548640" y="5897880"/>
            <a:ext cx="1109160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One class, three completely independent objects — each carries its own data, but shares the same bark() method.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2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3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0" descr="/home/claude/work/icons/FaLayerGroup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Instance Attributes vs. Class Attributes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548640" y="1234440"/>
            <a:ext cx="5361480" cy="5117760"/>
          </a:xfrm>
          <a:prstGeom prst="roundRect">
            <a:avLst>
              <a:gd name="adj" fmla="val 1786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822960" y="1508760"/>
            <a:ext cx="454320" cy="454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1" descr="/home/claude/work/icons/FaFingerprint.png"/>
          <p:cNvPicPr/>
          <p:nvPr/>
        </p:nvPicPr>
        <p:blipFill>
          <a:blip r:embed="rId2"/>
          <a:stretch/>
        </p:blipFill>
        <p:spPr>
          <a:xfrm>
            <a:off x="923400" y="16092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4"/>
          <p:cNvSpPr/>
          <p:nvPr/>
        </p:nvSpPr>
        <p:spPr>
          <a:xfrm>
            <a:off x="1444680" y="1508760"/>
            <a:ext cx="42825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Instance Attributes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841320" y="2194560"/>
            <a:ext cx="477612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Set inside __init__ using self.name = ...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Belong to one specific object — each object has its own separate copy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is what you’ll use for almost all object data — name, balance, position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6"/>
          <p:cNvSpPr/>
          <p:nvPr/>
        </p:nvSpPr>
        <p:spPr>
          <a:xfrm>
            <a:off x="6278760" y="1234440"/>
            <a:ext cx="5361480" cy="5117760"/>
          </a:xfrm>
          <a:prstGeom prst="roundRect">
            <a:avLst>
              <a:gd name="adj" fmla="val 1786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7"/>
          <p:cNvSpPr/>
          <p:nvPr/>
        </p:nvSpPr>
        <p:spPr>
          <a:xfrm>
            <a:off x="6553080" y="1508760"/>
            <a:ext cx="454320" cy="4543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2" descr="/home/claude/work/icons/FaUsersCog.png"/>
          <p:cNvPicPr/>
          <p:nvPr/>
        </p:nvPicPr>
        <p:blipFill>
          <a:blip r:embed="rId3"/>
          <a:stretch/>
        </p:blipFill>
        <p:spPr>
          <a:xfrm>
            <a:off x="6653520" y="16092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8"/>
          <p:cNvSpPr/>
          <p:nvPr/>
        </p:nvSpPr>
        <p:spPr>
          <a:xfrm>
            <a:off x="7174800" y="1508760"/>
            <a:ext cx="42825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Class Attributes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6571440" y="2194560"/>
            <a:ext cx="477612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Defined directly inside the class body, outside any method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Shared by every object built from that class — one copy, not one per object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0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Good for constants or defaults every instance should share, like species = "Canine"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0" descr="/home/claude/work/icons/FaCub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Practice Set — Classes &amp; Objects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548640" y="1234440"/>
            <a:ext cx="11091600" cy="5117760"/>
          </a:xfrm>
          <a:prstGeom prst="roundRect">
            <a:avLst>
              <a:gd name="adj" fmla="val 1786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868680" y="1435680"/>
            <a:ext cx="104515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Try these yourself first — no code shown, that’s the point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868680" y="229644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868680" y="229644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1408320" y="1920240"/>
            <a:ext cx="99118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Write a Car class with __init__ that sets make, model, and year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868680" y="335916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868680" y="335916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1408320" y="2983320"/>
            <a:ext cx="99118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Add a method describe(self) that prints a sentence using all three attributes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868680" y="442224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868680" y="442224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1408320" y="4046400"/>
            <a:ext cx="99118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Create two Car objects with different data, and call describe() on each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868680" y="548532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868680" y="548532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1408320" y="5109120"/>
            <a:ext cx="99118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Add a class attribute wheels = 4 </a:t>
            </a: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shared by every car, and print it </a:t>
            </a: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from both objects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-2286000" y="36576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"/>
          <p:cNvSpPr/>
          <p:nvPr/>
        </p:nvSpPr>
        <p:spPr>
          <a:xfrm>
            <a:off x="8229600" y="-27432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5638680" y="868680"/>
            <a:ext cx="911520" cy="9115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0" descr="/home/claude/work/icons/FaShieldAlt.png"/>
          <p:cNvPicPr/>
          <p:nvPr/>
        </p:nvPicPr>
        <p:blipFill>
          <a:blip r:embed="rId1"/>
          <a:stretch/>
        </p:blipFill>
        <p:spPr>
          <a:xfrm>
            <a:off x="5876280" y="109728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3"/>
          <p:cNvSpPr/>
          <p:nvPr/>
        </p:nvSpPr>
        <p:spPr>
          <a:xfrm>
            <a:off x="914400" y="2057400"/>
            <a:ext cx="103600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88720" y="2441520"/>
            <a:ext cx="981144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Four Pillars of OOP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1920240" y="3630240"/>
            <a:ext cx="834840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Every object-oriented language, including Python, is built around these four ideas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11094480" y="649224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 0" descr="/home/claude/work/icons/FaShieldAlt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The Four Pillars, at a Glance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548640" y="1234440"/>
            <a:ext cx="2530800" cy="5117760"/>
          </a:xfrm>
          <a:prstGeom prst="roundRect">
            <a:avLst>
              <a:gd name="adj" fmla="val 3609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1426680" y="1600200"/>
            <a:ext cx="774360" cy="77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1" descr="/home/claude/work/icons/FaUserShield.png"/>
          <p:cNvPicPr/>
          <p:nvPr/>
        </p:nvPicPr>
        <p:blipFill>
          <a:blip r:embed="rId2"/>
          <a:stretch/>
        </p:blipFill>
        <p:spPr>
          <a:xfrm>
            <a:off x="1623240" y="1792080"/>
            <a:ext cx="381240" cy="38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4"/>
          <p:cNvSpPr/>
          <p:nvPr/>
        </p:nvSpPr>
        <p:spPr>
          <a:xfrm>
            <a:off x="731520" y="2560320"/>
            <a:ext cx="216504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Encapsulation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777240" y="2971800"/>
            <a:ext cx="2073600" cy="31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Bundling data with the methods that protect it, and controlling how outside code can access 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3402360" y="1234440"/>
            <a:ext cx="2530800" cy="5117760"/>
          </a:xfrm>
          <a:prstGeom prst="roundRect">
            <a:avLst>
              <a:gd name="adj" fmla="val 3609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7"/>
          <p:cNvSpPr/>
          <p:nvPr/>
        </p:nvSpPr>
        <p:spPr>
          <a:xfrm>
            <a:off x="4280400" y="1600200"/>
            <a:ext cx="774360" cy="7743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2" descr="/home/claude/work/icons/FaTheaterMasks.png"/>
          <p:cNvPicPr/>
          <p:nvPr/>
        </p:nvPicPr>
        <p:blipFill>
          <a:blip r:embed="rId3"/>
          <a:stretch/>
        </p:blipFill>
        <p:spPr>
          <a:xfrm>
            <a:off x="4476960" y="1792080"/>
            <a:ext cx="381240" cy="38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8"/>
          <p:cNvSpPr/>
          <p:nvPr/>
        </p:nvSpPr>
        <p:spPr>
          <a:xfrm>
            <a:off x="3585240" y="2560320"/>
            <a:ext cx="216504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Abstraction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3630960" y="2971800"/>
            <a:ext cx="2073600" cy="31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Hiding complex internal details behind a simple, easy-to-use interface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6255720" y="1234440"/>
            <a:ext cx="2530800" cy="5117760"/>
          </a:xfrm>
          <a:prstGeom prst="roundRect">
            <a:avLst>
              <a:gd name="adj" fmla="val 3609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7134120" y="1600200"/>
            <a:ext cx="774360" cy="774360"/>
          </a:xfrm>
          <a:prstGeom prst="ellipse">
            <a:avLst/>
          </a:prstGeom>
          <a:solidFill>
            <a:srgbClr val="1E4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3" descr="/home/claude/work/icons/FaDna.png"/>
          <p:cNvPicPr/>
          <p:nvPr/>
        </p:nvPicPr>
        <p:blipFill>
          <a:blip r:embed="rId4"/>
          <a:stretch/>
        </p:blipFill>
        <p:spPr>
          <a:xfrm>
            <a:off x="7330680" y="1792080"/>
            <a:ext cx="381240" cy="38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12"/>
          <p:cNvSpPr/>
          <p:nvPr/>
        </p:nvSpPr>
        <p:spPr>
          <a:xfrm>
            <a:off x="6438600" y="2560320"/>
            <a:ext cx="216504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Inheritance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6484320" y="2971800"/>
            <a:ext cx="2073600" cy="31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Building new classes on top of existing ones, reusing and extending their behavior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4"/>
          <p:cNvSpPr/>
          <p:nvPr/>
        </p:nvSpPr>
        <p:spPr>
          <a:xfrm>
            <a:off x="9109440" y="1234440"/>
            <a:ext cx="2530800" cy="5117760"/>
          </a:xfrm>
          <a:prstGeom prst="roundRect">
            <a:avLst>
              <a:gd name="adj" fmla="val 3609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9987480" y="1600200"/>
            <a:ext cx="774360" cy="77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4" descr="/home/claude/work/icons/FaRandom.png"/>
          <p:cNvPicPr/>
          <p:nvPr/>
        </p:nvPicPr>
        <p:blipFill>
          <a:blip r:embed="rId5"/>
          <a:stretch/>
        </p:blipFill>
        <p:spPr>
          <a:xfrm>
            <a:off x="10184400" y="1792080"/>
            <a:ext cx="381240" cy="38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16"/>
          <p:cNvSpPr/>
          <p:nvPr/>
        </p:nvSpPr>
        <p:spPr>
          <a:xfrm>
            <a:off x="9292320" y="2560320"/>
            <a:ext cx="216504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Polymorphism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7"/>
          <p:cNvSpPr/>
          <p:nvPr/>
        </p:nvSpPr>
        <p:spPr>
          <a:xfrm>
            <a:off x="9338040" y="2971800"/>
            <a:ext cx="2073600" cy="31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Different classes responding to the same method call in their own appropriate way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8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9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 0" descr="/home/claude/work/icons/FaUserShield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Pillar 1: Encapsulation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"/>
          <p:cNvSpPr/>
          <p:nvPr/>
        </p:nvSpPr>
        <p:spPr>
          <a:xfrm>
            <a:off x="548640" y="1234440"/>
            <a:ext cx="3243240" cy="5117760"/>
          </a:xfrm>
          <a:prstGeom prst="roundRect">
            <a:avLst>
              <a:gd name="adj" fmla="val 3380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1645920" y="1737360"/>
            <a:ext cx="1048680" cy="1048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1" descr="/home/claude/work/icons/FaUserShield.png"/>
          <p:cNvPicPr/>
          <p:nvPr/>
        </p:nvPicPr>
        <p:blipFill>
          <a:blip r:embed="rId2"/>
          <a:stretch/>
        </p:blipFill>
        <p:spPr>
          <a:xfrm>
            <a:off x="1906560" y="2002680"/>
            <a:ext cx="52740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 4"/>
          <p:cNvSpPr/>
          <p:nvPr/>
        </p:nvSpPr>
        <p:spPr>
          <a:xfrm>
            <a:off x="731520" y="3017520"/>
            <a:ext cx="287748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Protect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the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inside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4206240" y="1280160"/>
            <a:ext cx="743400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1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Encapsulation means bundling data with the methods that operate on it, and restricting direct outside access to that data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1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bank account shouldn’t let any code just set balance = -500 or balance = +500 directly — changes should only happen through controlled methods like withdraw(), deposit()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1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protects an object from being put into an invalid or inconsistent state by code elsewhere in the program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1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Python doesn’t enforce this with hard restrictions the way some languages do — it relies on naming conventions and trust, which is a deliberate design choice ("we’re all consenting adults here")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</a:t>
            </a: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Orient</a:t>
            </a: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ed </a:t>
            </a: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Progra</a:t>
            </a: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mming </a:t>
            </a: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 ·  </a:t>
            </a: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Sessio</a:t>
            </a: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8" name="Image 0" descr="/home/claude/work/icons/FaUserShield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Public, Protected, and Private — By Convention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name is public — freely accessible from anywhere, the normal default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_balance (single underscore) is a convention meaning "internal, please don’t touch directly" — Python doesn’t block it, it just signals intent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__pin (double underscore) triggers name mangling — Python renames it internally, making accidental outside access genuinely difficult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Account: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owner, balance):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self.owner = owner        # public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self._balance = balance   # "internal" by convention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self.__pin = "4471"       # name-mangled, hard to reach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acc = Account("</a:t>
            </a: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	</a:t>
            </a: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Ahmed", 1000)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print(acc.owner)          # "Ahmed" — fine, it's public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print(acc._balance)       # works, but signals "you shouldn't"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print(acc.__pin)          # AttributeError — mangled to _Account__pin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 0" descr="/home/claude/work/icons/FaKey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@property — Controlled Access, the Python 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@property turns a method into something that reads like a plain attribute — balance instead of get_balance()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matching @balance.setter lets you validate any value before it’s allowed to be stored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is the real, idiomatic way encapsulation is done in Python — clean access on the outside, control on the inside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Account: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balance):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self._balance = balance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@property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balance(self):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return self._balance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@balance.setter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balance(self, amount):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if amount &lt; 0: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    raise ValueError("Balance can't be negative")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self._balance = amount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acc = Account(1000)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acc.balance = 500       # runs the setter, validated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acc.balance = -50       # ValueError — blocked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4" name="Image 0" descr="/home/claude/work/icons/FaUserShield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Practice Set — Encapsulation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548640" y="1234440"/>
            <a:ext cx="11091600" cy="5117760"/>
          </a:xfrm>
          <a:prstGeom prst="roundRect">
            <a:avLst>
              <a:gd name="adj" fmla="val 1786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"/>
          <p:cNvSpPr/>
          <p:nvPr/>
        </p:nvSpPr>
        <p:spPr>
          <a:xfrm>
            <a:off x="868680" y="1435680"/>
            <a:ext cx="104515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Try these yourself first — no code shown, that’s the point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868680" y="247356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868680" y="247356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1408320" y="192024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Write a Wallet class with a protected _cash attribute and add_cash()/spend_cash() methods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868680" y="389088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8"/>
          <p:cNvSpPr/>
          <p:nvPr/>
        </p:nvSpPr>
        <p:spPr>
          <a:xfrm>
            <a:off x="868680" y="389088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1408320" y="333756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Make spend_cash() refuse to let _cash go below zero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868680" y="530820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868680" y="530820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2"/>
          <p:cNvSpPr/>
          <p:nvPr/>
        </p:nvSpPr>
        <p:spPr>
          <a:xfrm>
            <a:off x="1408320" y="475488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Turn balance into a @property with a setter that rejects negative values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0" descr="/home/claude/work/icons/FaTheaterMasks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Pillar 2: Abstraction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548640" y="1234440"/>
            <a:ext cx="3243240" cy="5117760"/>
          </a:xfrm>
          <a:prstGeom prst="roundRect">
            <a:avLst>
              <a:gd name="adj" fmla="val 3380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1645920" y="1737360"/>
            <a:ext cx="1048680" cy="1048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Image 1" descr="/home/claude/work/icons/FaTheaterMasks.png"/>
          <p:cNvPicPr/>
          <p:nvPr/>
        </p:nvPicPr>
        <p:blipFill>
          <a:blip r:embed="rId2"/>
          <a:stretch/>
        </p:blipFill>
        <p:spPr>
          <a:xfrm>
            <a:off x="1906560" y="2002680"/>
            <a:ext cx="52740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4"/>
          <p:cNvSpPr/>
          <p:nvPr/>
        </p:nvSpPr>
        <p:spPr>
          <a:xfrm>
            <a:off x="731520" y="3017520"/>
            <a:ext cx="287748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Hide the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how, show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the what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4206240" y="1280160"/>
            <a:ext cx="743400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1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Abstraction means hiding complicated internal details behind a simple interface — the user only needs to know what a method does, not how it is done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1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You call car.start_engine() without knowing anything about fuel injection or ignition timing — the complexity is hidden behind a simple method name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1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In Python, this often shows up as an abstract base class — a class that defines what methods a subclass must have, without saying how they work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1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Abstraction and encapsulation work together, but they solve different problems: encapsulation protects data, abstraction simplifies interfaces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Image 0" descr="/home/claude/work/icons/FaTheaterMasks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Abstract Base Classes — Defining a Required Interface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ABC and @abstractmethod (from the abc module) let you define a class that can’t be used directly — only inherited from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Any subclass is forced to implement every abstract method, or Python refuses to let you create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guarantees every "shape" in a program has an area() method, without dictating how each one calculates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from abc import ABC, abstractmethod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Animal(ABC):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@abstractmethod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make_sound(self):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pass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Dog(Animal):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make_sound(self):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print("Woof!")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Cat(Animal):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make_sound(self):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print("Meow!")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# You cannot create an object of an abstract class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animal = Animal()   # TypeError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0" descr="/home/claude/work/icons/FaTheaterMasks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Practice Set — Abstraction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"/>
          <p:cNvSpPr/>
          <p:nvPr/>
        </p:nvSpPr>
        <p:spPr>
          <a:xfrm>
            <a:off x="548640" y="1234440"/>
            <a:ext cx="11091600" cy="5117760"/>
          </a:xfrm>
          <a:prstGeom prst="roundRect">
            <a:avLst>
              <a:gd name="adj" fmla="val 1786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868680" y="1435680"/>
            <a:ext cx="104515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Try these yourself first — no code shown, that’s the point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4"/>
          <p:cNvSpPr/>
          <p:nvPr/>
        </p:nvSpPr>
        <p:spPr>
          <a:xfrm>
            <a:off x="868680" y="247356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868680" y="247356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1408320" y="192024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Write an abstract Vehicle class with an abstract method fuel_type()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868680" y="389088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8"/>
          <p:cNvSpPr/>
          <p:nvPr/>
        </p:nvSpPr>
        <p:spPr>
          <a:xfrm>
            <a:off x="868680" y="389088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9"/>
          <p:cNvSpPr/>
          <p:nvPr/>
        </p:nvSpPr>
        <p:spPr>
          <a:xfrm>
            <a:off x="1408320" y="333756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Create two subclasses, ElectricCar and PetrolCar, each implementing fuel_type() differently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868680" y="530820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868680" y="530820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1408320" y="475488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Try instantiating Vehicle directly and confirm Python blocks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3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0" descr="/home/claude/work/icons/FaDna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Pillar 3: Inheritance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"/>
          <p:cNvSpPr/>
          <p:nvPr/>
        </p:nvSpPr>
        <p:spPr>
          <a:xfrm>
            <a:off x="548640" y="1234440"/>
            <a:ext cx="3243240" cy="5117760"/>
          </a:xfrm>
          <a:prstGeom prst="roundRect">
            <a:avLst>
              <a:gd name="adj" fmla="val 3380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3"/>
          <p:cNvSpPr/>
          <p:nvPr/>
        </p:nvSpPr>
        <p:spPr>
          <a:xfrm>
            <a:off x="1645920" y="1737360"/>
            <a:ext cx="1048680" cy="1048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1" descr="/home/claude/work/icons/FaDna.png"/>
          <p:cNvPicPr/>
          <p:nvPr/>
        </p:nvPicPr>
        <p:blipFill>
          <a:blip r:embed="rId2"/>
          <a:stretch/>
        </p:blipFill>
        <p:spPr>
          <a:xfrm>
            <a:off x="1906560" y="2002680"/>
            <a:ext cx="52740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4"/>
          <p:cNvSpPr/>
          <p:nvPr/>
        </p:nvSpPr>
        <p:spPr>
          <a:xfrm>
            <a:off x="731520" y="3017520"/>
            <a:ext cx="287748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Build 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what already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exists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4206240" y="1280160"/>
            <a:ext cx="743400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Inheritance lets a new class (the child, or subclass) reuse and extend the data and behavior of an existing class (the parent, or superclass)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GoldenRetriever is a Dog — it automatically gets everything a Dog has, and can add its own extra behavior on top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avoids rewriting the same code in every related class — shared behavior lives once, in the parent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It also models real-world "is-a" relationships directly in code: a Car is a Vehicle, a Manager is an Employee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4" name="Image 0" descr="/home/claude/work/icons/FaDna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Basic Inheritance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class Cat(Animal): means Cat inherits everything Animal has — Animal goes in the parentheses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Cat automatically gets Animal’s __init__ and eat() without rewriting them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isinstance() confirms a Cat is also considered an Animal — the inheritance relationship is real, not just naming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Animal: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name):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self.name = name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eat(self):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print(f"{self.name} is eating")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Cat(Animal):     # Cat inherits from Animal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pass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whiskers = Cat("Whiskers")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whiskers.eat()                  # inherited — works with no rewrite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isinstance(whiskers, Animal)    # True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2" name="Image 0" descr="/home/claude/work/icons/FaLevelUpAlt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super() — Calling the Parent’s Version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When a subclass defines its own __init__, it replaces the parent’s __init__ entirely — unless you explicitly call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super().__init__(...) runs the parent’s constructor first, so you don’t have to duplicate its logic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pattern — extend, don’t replace — is the standard way subclasses build on their parent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Animal: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name):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self.name = name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Cat(Animal):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name, indoor):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super().__init__(name)   # reuse the parent's setup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self.indoor = indoor     # then add Cat-specific data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whiskers = Cat("Whiskers", True)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whiskers.name     # "Whiskers" — handled by Animal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whiskers.indoor   # True — handled by Cat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 0" descr="/home/claude/work/icons/FaCodeBranch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Overriding Methods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subclass can redefine a method it inherited, giving it different, more specific behavior — this is called overriding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Python always uses the closest, most specific version of a method it can find on the object’s own class first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The parent’s original version is still there if you need it — call it explicitly with super().speak()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Animal: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speak(self):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print("Some generic </a:t>
            </a: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animal sound")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Dog(Animal):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speak(self):       # </a:t>
            </a: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overrides Animal.speak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print("Woof!")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Animal().speak()   # Some </a:t>
            </a: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generic animal sound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Dog().speak()      # Woof!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8" name="Image 0" descr="/home/claude/work/icons/FaSitemap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Method Resolution Order — Who Answers the Call?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 flipH="1">
            <a:off x="4221000" y="2240280"/>
            <a:ext cx="1874520" cy="548640"/>
          </a:xfrm>
          <a:prstGeom prst="line">
            <a:avLst/>
          </a:prstGeom>
          <a:ln w="19050">
            <a:solidFill>
              <a:srgbClr val="A9B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"/>
          <p:cNvSpPr/>
          <p:nvPr/>
        </p:nvSpPr>
        <p:spPr>
          <a:xfrm>
            <a:off x="6095520" y="2240280"/>
            <a:ext cx="1874520" cy="548640"/>
          </a:xfrm>
          <a:prstGeom prst="line">
            <a:avLst/>
          </a:prstGeom>
          <a:ln w="19050">
            <a:solidFill>
              <a:srgbClr val="A9B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"/>
          <p:cNvSpPr/>
          <p:nvPr/>
        </p:nvSpPr>
        <p:spPr>
          <a:xfrm>
            <a:off x="4221000" y="3474720"/>
            <a:ext cx="1874520" cy="548640"/>
          </a:xfrm>
          <a:prstGeom prst="line">
            <a:avLst/>
          </a:prstGeom>
          <a:ln w="19050">
            <a:solidFill>
              <a:srgbClr val="A9B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5"/>
          <p:cNvSpPr/>
          <p:nvPr/>
        </p:nvSpPr>
        <p:spPr>
          <a:xfrm flipH="1">
            <a:off x="6095520" y="3474720"/>
            <a:ext cx="1874520" cy="548640"/>
          </a:xfrm>
          <a:prstGeom prst="line">
            <a:avLst/>
          </a:prstGeom>
          <a:ln w="19050">
            <a:solidFill>
              <a:srgbClr val="A9B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6"/>
          <p:cNvSpPr/>
          <p:nvPr/>
        </p:nvSpPr>
        <p:spPr>
          <a:xfrm>
            <a:off x="5044320" y="1554480"/>
            <a:ext cx="2100240" cy="682920"/>
          </a:xfrm>
          <a:prstGeom prst="roundRect">
            <a:avLst>
              <a:gd name="adj" fmla="val 10667"/>
            </a:avLst>
          </a:prstGeom>
          <a:solidFill>
            <a:srgbClr val="1E4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5044320" y="1627560"/>
            <a:ext cx="21002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Duck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5044320" y="1938600"/>
            <a:ext cx="21002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(child class)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9"/>
          <p:cNvSpPr/>
          <p:nvPr/>
        </p:nvSpPr>
        <p:spPr>
          <a:xfrm>
            <a:off x="4843080" y="135324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0"/>
          <p:cNvSpPr/>
          <p:nvPr/>
        </p:nvSpPr>
        <p:spPr>
          <a:xfrm>
            <a:off x="4843080" y="135324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1"/>
          <p:cNvSpPr/>
          <p:nvPr/>
        </p:nvSpPr>
        <p:spPr>
          <a:xfrm>
            <a:off x="3169800" y="2788920"/>
            <a:ext cx="2100240" cy="682920"/>
          </a:xfrm>
          <a:prstGeom prst="roundRect">
            <a:avLst>
              <a:gd name="adj" fmla="val 1066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2"/>
          <p:cNvSpPr/>
          <p:nvPr/>
        </p:nvSpPr>
        <p:spPr>
          <a:xfrm>
            <a:off x="3169800" y="2862000"/>
            <a:ext cx="21002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Flyer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3"/>
          <p:cNvSpPr/>
          <p:nvPr/>
        </p:nvSpPr>
        <p:spPr>
          <a:xfrm>
            <a:off x="3169800" y="3173040"/>
            <a:ext cx="21002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move() → "Flying"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4"/>
          <p:cNvSpPr/>
          <p:nvPr/>
        </p:nvSpPr>
        <p:spPr>
          <a:xfrm>
            <a:off x="2968560" y="258768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5"/>
          <p:cNvSpPr/>
          <p:nvPr/>
        </p:nvSpPr>
        <p:spPr>
          <a:xfrm>
            <a:off x="2968560" y="258768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6"/>
          <p:cNvSpPr/>
          <p:nvPr/>
        </p:nvSpPr>
        <p:spPr>
          <a:xfrm>
            <a:off x="6918840" y="2788920"/>
            <a:ext cx="2100240" cy="682920"/>
          </a:xfrm>
          <a:prstGeom prst="roundRect">
            <a:avLst>
              <a:gd name="adj" fmla="val 1066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7"/>
          <p:cNvSpPr/>
          <p:nvPr/>
        </p:nvSpPr>
        <p:spPr>
          <a:xfrm>
            <a:off x="6918840" y="2862000"/>
            <a:ext cx="21002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Swimmer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8"/>
          <p:cNvSpPr/>
          <p:nvPr/>
        </p:nvSpPr>
        <p:spPr>
          <a:xfrm>
            <a:off x="6918840" y="3173040"/>
            <a:ext cx="21002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move() → "Swimming"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9"/>
          <p:cNvSpPr/>
          <p:nvPr/>
        </p:nvSpPr>
        <p:spPr>
          <a:xfrm>
            <a:off x="6717600" y="258768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0"/>
          <p:cNvSpPr/>
          <p:nvPr/>
        </p:nvSpPr>
        <p:spPr>
          <a:xfrm>
            <a:off x="6717600" y="258768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1"/>
          <p:cNvSpPr/>
          <p:nvPr/>
        </p:nvSpPr>
        <p:spPr>
          <a:xfrm>
            <a:off x="5044320" y="4023360"/>
            <a:ext cx="2100240" cy="682920"/>
          </a:xfrm>
          <a:prstGeom prst="roundRect">
            <a:avLst>
              <a:gd name="adj" fmla="val 1066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2"/>
          <p:cNvSpPr/>
          <p:nvPr/>
        </p:nvSpPr>
        <p:spPr>
          <a:xfrm>
            <a:off x="5044320" y="4096440"/>
            <a:ext cx="21002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object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3"/>
          <p:cNvSpPr/>
          <p:nvPr/>
        </p:nvSpPr>
        <p:spPr>
          <a:xfrm>
            <a:off x="5044320" y="4407480"/>
            <a:ext cx="21002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base of everything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4"/>
          <p:cNvSpPr/>
          <p:nvPr/>
        </p:nvSpPr>
        <p:spPr>
          <a:xfrm>
            <a:off x="4843080" y="382212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5"/>
          <p:cNvSpPr/>
          <p:nvPr/>
        </p:nvSpPr>
        <p:spPr>
          <a:xfrm>
            <a:off x="4843080" y="382212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6"/>
          <p:cNvSpPr/>
          <p:nvPr/>
        </p:nvSpPr>
        <p:spPr>
          <a:xfrm>
            <a:off x="548640" y="1554480"/>
            <a:ext cx="2648880" cy="3151800"/>
          </a:xfrm>
          <a:prstGeom prst="roundRect">
            <a:avLst>
              <a:gd name="adj" fmla="val 3448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7"/>
          <p:cNvSpPr/>
          <p:nvPr/>
        </p:nvSpPr>
        <p:spPr>
          <a:xfrm>
            <a:off x="749880" y="1737360"/>
            <a:ext cx="22464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3312F"/>
                </a:solidFill>
                <a:effectLst/>
                <a:uFillTx/>
                <a:latin typeface="Cantarell"/>
                <a:ea typeface="Consolas"/>
              </a:rPr>
              <a:t>Duck.__mro__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8"/>
          <p:cNvSpPr/>
          <p:nvPr/>
        </p:nvSpPr>
        <p:spPr>
          <a:xfrm>
            <a:off x="749880" y="2103120"/>
            <a:ext cx="2246400" cy="13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ntarell"/>
                <a:ea typeface="Consolas"/>
              </a:rPr>
              <a:t>1. Duck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ntarell"/>
                <a:ea typeface="Consolas"/>
              </a:rPr>
              <a:t>2. Flyer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ntarell"/>
                <a:ea typeface="Consolas"/>
              </a:rPr>
              <a:t>3. Swimmer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ntarell"/>
                <a:ea typeface="Consolas"/>
              </a:rPr>
              <a:t>4. object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9"/>
          <p:cNvSpPr/>
          <p:nvPr/>
        </p:nvSpPr>
        <p:spPr>
          <a:xfrm>
            <a:off x="749880" y="3566160"/>
            <a:ext cx="224640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Python searches left to right, so Flyer’s move() wins over Swimmer’s.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0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31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0" descr="/home/claude/work/icons/FaSitemap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Multiple Inheritance — Inheriting From More Than One Class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Python allows a class to inherit from more than one parent at once — class Duck(Flyer, Swimmer)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If more than one parent defines the same method, Python resolves the conflict using its Method Resolution Order (MRO)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You can inspect the exact search order yourself with ClassName.__mro__ — useful whenever behavior seems ambiguous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Flyer: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move(self):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print("Flying")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Swimmer: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move(self):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print("Swimming")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Duck(Flyer, Swimmer):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pass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Duck().move()          # Flying — Flyer is checked first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print(Duck.__mro__)    # shows the full search order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9" name="Image 0" descr="/home/claude/work/icons/FaDna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Practice Set — Inheritance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"/>
          <p:cNvSpPr/>
          <p:nvPr/>
        </p:nvSpPr>
        <p:spPr>
          <a:xfrm>
            <a:off x="548640" y="1234440"/>
            <a:ext cx="11091600" cy="5117760"/>
          </a:xfrm>
          <a:prstGeom prst="roundRect">
            <a:avLst>
              <a:gd name="adj" fmla="val 1786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"/>
          <p:cNvSpPr/>
          <p:nvPr/>
        </p:nvSpPr>
        <p:spPr>
          <a:xfrm>
            <a:off x="868680" y="1435680"/>
            <a:ext cx="104515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Try these yourself first — no code shown, that’s the point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4"/>
          <p:cNvSpPr/>
          <p:nvPr/>
        </p:nvSpPr>
        <p:spPr>
          <a:xfrm>
            <a:off x="868680" y="229644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5"/>
          <p:cNvSpPr/>
          <p:nvPr/>
        </p:nvSpPr>
        <p:spPr>
          <a:xfrm>
            <a:off x="868680" y="229644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6"/>
          <p:cNvSpPr/>
          <p:nvPr/>
        </p:nvSpPr>
        <p:spPr>
          <a:xfrm>
            <a:off x="1408320" y="1920240"/>
            <a:ext cx="99118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Write an Employee class with name and salary, then a Manager subclass adding a team_size attribute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7"/>
          <p:cNvSpPr/>
          <p:nvPr/>
        </p:nvSpPr>
        <p:spPr>
          <a:xfrm>
            <a:off x="868680" y="335916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8"/>
          <p:cNvSpPr/>
          <p:nvPr/>
        </p:nvSpPr>
        <p:spPr>
          <a:xfrm>
            <a:off x="868680" y="335916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9"/>
          <p:cNvSpPr/>
          <p:nvPr/>
        </p:nvSpPr>
        <p:spPr>
          <a:xfrm>
            <a:off x="1408320" y="2983320"/>
            <a:ext cx="99118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Use super().__init__() inside Manager rather than repeating Employee’s setup logic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0"/>
          <p:cNvSpPr/>
          <p:nvPr/>
        </p:nvSpPr>
        <p:spPr>
          <a:xfrm>
            <a:off x="868680" y="442224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1"/>
          <p:cNvSpPr/>
          <p:nvPr/>
        </p:nvSpPr>
        <p:spPr>
          <a:xfrm>
            <a:off x="868680" y="442224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2"/>
          <p:cNvSpPr/>
          <p:nvPr/>
        </p:nvSpPr>
        <p:spPr>
          <a:xfrm>
            <a:off x="1408320" y="4046400"/>
            <a:ext cx="99118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Override a raise_salary() method in Manager so managers get double the normal raise percentage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3"/>
          <p:cNvSpPr/>
          <p:nvPr/>
        </p:nvSpPr>
        <p:spPr>
          <a:xfrm>
            <a:off x="868680" y="548532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4"/>
          <p:cNvSpPr/>
          <p:nvPr/>
        </p:nvSpPr>
        <p:spPr>
          <a:xfrm>
            <a:off x="868680" y="548532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5"/>
          <p:cNvSpPr/>
          <p:nvPr/>
        </p:nvSpPr>
        <p:spPr>
          <a:xfrm>
            <a:off x="1408320" y="5109120"/>
            <a:ext cx="99118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Print MyClass.__mro__ for a class with two parents, and explain the order out loud before checking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8" name="Image 0" descr="/home/claude/work/icons/FaRandom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Pillar 4: Polymorphism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2"/>
          <p:cNvSpPr/>
          <p:nvPr/>
        </p:nvSpPr>
        <p:spPr>
          <a:xfrm>
            <a:off x="548640" y="1234440"/>
            <a:ext cx="3243240" cy="5117760"/>
          </a:xfrm>
          <a:prstGeom prst="roundRect">
            <a:avLst>
              <a:gd name="adj" fmla="val 3380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"/>
          <p:cNvSpPr/>
          <p:nvPr/>
        </p:nvSpPr>
        <p:spPr>
          <a:xfrm>
            <a:off x="1645920" y="1737360"/>
            <a:ext cx="1048680" cy="1048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2" name="Image 1" descr="/home/claude/work/icons/FaRandom.png"/>
          <p:cNvPicPr/>
          <p:nvPr/>
        </p:nvPicPr>
        <p:blipFill>
          <a:blip r:embed="rId2"/>
          <a:stretch/>
        </p:blipFill>
        <p:spPr>
          <a:xfrm>
            <a:off x="1906560" y="2002680"/>
            <a:ext cx="52740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 4"/>
          <p:cNvSpPr/>
          <p:nvPr/>
        </p:nvSpPr>
        <p:spPr>
          <a:xfrm>
            <a:off x="731520" y="3017520"/>
            <a:ext cx="287748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Same call,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different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behavior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5"/>
          <p:cNvSpPr/>
          <p:nvPr/>
        </p:nvSpPr>
        <p:spPr>
          <a:xfrm>
            <a:off x="4206240" y="1280160"/>
            <a:ext cx="743400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Polymorphism means different classes can respond to the exact same method </a:t>
            </a: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call, each in its own appropriate way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"Poly" (many) + "morph" (forms) — one interface, many shapes of behavior </a:t>
            </a: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underneath 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You already saw the mechanism in the last part: method overriding is exactly </a:t>
            </a: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how polymorphism happens in practice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The payoff is code that works on any object with the right method, without </a:t>
            </a:r>
            <a:r>
              <a:rPr lang="en-US" sz="2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needing to know or check its exact class first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8" name="Image 0" descr="/home/claude/work/icons/FaRandom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Polymorphism in Action — One Loop, Many Behaviors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Every shape in the list has an area() method — but each class calculates it completely differently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The loop doesn’t check what type of shape it has — it just trusts that .area() exists and calls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is the real payoff of polymorphism: code that’s written once and works correctly for classes that don’t exist yet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Circle: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r): self.r = r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5000"/>
              </a:lnSpc>
              <a:buClr>
                <a:srgbClr val="E8F0EC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area(self): return 3.14159 * self.r ** 2 </a:t>
            </a: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# we have the same method but it is used in a different manner for both classessssss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Square: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s): self.s = 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5000"/>
              </a:lnSpc>
              <a:buClr>
                <a:srgbClr val="E8F0EC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area(self): return self.s ** 2 # we have the same method but it is used in a different manner for both classes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shapes = [Circle(3), Square(4)]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for shape in shapes: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print(shape.area())   # each uses its OWN area() logic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8FA89E"/>
                </a:solidFill>
                <a:effectLst/>
                <a:uFillTx/>
                <a:latin typeface="Cantarell"/>
                <a:ea typeface="Consolas"/>
              </a:rPr>
              <a:t># 28.27...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8FA89E"/>
                </a:solidFill>
                <a:effectLst/>
                <a:uFillTx/>
                <a:latin typeface="Cantarell"/>
                <a:ea typeface="Consolas"/>
              </a:rPr>
              <a:t># 16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6" name="Image 0" descr="/home/claude/work/icons/FaFeather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Duck Typing — Python’s Real Polymorphism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"If it walks like a duck and quacks like a duck, it’s a duck" — Python doesn’t check an object’s class, only whether it has the method being called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Two totally unrelated classes can both work with the same code, as long as they both implement the method it expects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is looser and more flexible than polymorphism in many other languages — it’s driven entirely by behavior, not by shared inheritance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Duck: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sound(self): print("Quack!")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sound(self): print("Woof!")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def make_it_talk(animal):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animal.sound()   # no type check — just calls .sound()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make_it_talk(Duck())   # Quack!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make_it_talk(Dog())    # Woof! — completely unrelated classes, both work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4" name="Image 0" descr="/home/claude/work/icons/FaRandom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Practice Set — Polymorphism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"/>
          <p:cNvSpPr/>
          <p:nvPr/>
        </p:nvSpPr>
        <p:spPr>
          <a:xfrm>
            <a:off x="548640" y="1234440"/>
            <a:ext cx="11091600" cy="5117760"/>
          </a:xfrm>
          <a:prstGeom prst="roundRect">
            <a:avLst>
              <a:gd name="adj" fmla="val 1786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"/>
          <p:cNvSpPr/>
          <p:nvPr/>
        </p:nvSpPr>
        <p:spPr>
          <a:xfrm>
            <a:off x="868680" y="1435680"/>
            <a:ext cx="104515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Try these yourself first — no code shown, that’s the point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4"/>
          <p:cNvSpPr/>
          <p:nvPr/>
        </p:nvSpPr>
        <p:spPr>
          <a:xfrm>
            <a:off x="868680" y="247356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5"/>
          <p:cNvSpPr/>
          <p:nvPr/>
        </p:nvSpPr>
        <p:spPr>
          <a:xfrm>
            <a:off x="868680" y="247356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1408320" y="192024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Write three classes (Cat, Dog, Cow) each with their own sound() method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7"/>
          <p:cNvSpPr/>
          <p:nvPr/>
        </p:nvSpPr>
        <p:spPr>
          <a:xfrm>
            <a:off x="868680" y="389088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8"/>
          <p:cNvSpPr/>
          <p:nvPr/>
        </p:nvSpPr>
        <p:spPr>
          <a:xfrm>
            <a:off x="868680" y="389088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9"/>
          <p:cNvSpPr/>
          <p:nvPr/>
        </p:nvSpPr>
        <p:spPr>
          <a:xfrm>
            <a:off x="1408320" y="333756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Loop over a list containing one of each and call .sound() on every item without checking type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0"/>
          <p:cNvSpPr/>
          <p:nvPr/>
        </p:nvSpPr>
        <p:spPr>
          <a:xfrm>
            <a:off x="868680" y="530820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1"/>
          <p:cNvSpPr/>
          <p:nvPr/>
        </p:nvSpPr>
        <p:spPr>
          <a:xfrm>
            <a:off x="868680" y="530820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2"/>
          <p:cNvSpPr/>
          <p:nvPr/>
        </p:nvSpPr>
        <p:spPr>
          <a:xfrm>
            <a:off x="1408320" y="475488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Write a function that accepts any object with a .describe() method, and call it with two unrelated classes to prove duck typing works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3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4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0"/>
          <p:cNvSpPr/>
          <p:nvPr/>
        </p:nvSpPr>
        <p:spPr>
          <a:xfrm>
            <a:off x="-2286000" y="36576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"/>
          <p:cNvSpPr/>
          <p:nvPr/>
        </p:nvSpPr>
        <p:spPr>
          <a:xfrm>
            <a:off x="8229600" y="-27432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"/>
          <p:cNvSpPr/>
          <p:nvPr/>
        </p:nvSpPr>
        <p:spPr>
          <a:xfrm>
            <a:off x="5638680" y="868680"/>
            <a:ext cx="911520" cy="9115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2" name="Image 0" descr="/home/claude/work/icons/FaCode.png"/>
          <p:cNvPicPr/>
          <p:nvPr/>
        </p:nvPicPr>
        <p:blipFill>
          <a:blip r:embed="rId1"/>
          <a:stretch/>
        </p:blipFill>
        <p:spPr>
          <a:xfrm>
            <a:off x="5876280" y="109728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Text 3"/>
          <p:cNvSpPr/>
          <p:nvPr/>
        </p:nvSpPr>
        <p:spPr>
          <a:xfrm>
            <a:off x="914400" y="2057400"/>
            <a:ext cx="103600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4"/>
          <p:cNvSpPr/>
          <p:nvPr/>
        </p:nvSpPr>
        <p:spPr>
          <a:xfrm>
            <a:off x="1188720" y="2441520"/>
            <a:ext cx="981144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Python-Specific OOP Details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1920240" y="3630240"/>
            <a:ext cx="834840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Beyond the four pillars — the conventions and tools every real Python class actually uses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6"/>
          <p:cNvSpPr/>
          <p:nvPr/>
        </p:nvSpPr>
        <p:spPr>
          <a:xfrm>
            <a:off x="11094480" y="649224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8" name="Image 0" descr="/home/claude/work/icons/FaFileAlt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__str__ vs. __repr__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By default, printing an object shows an unhelpful memory address — &lt;__main__.Dog object at 0x...&gt;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__str__ defines what print() and str() show — aimed at humans, readable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__repr__ defines what appears in the shell/debugger, and is used as a fallback if __str__ is missing — aimed at developers, ideally unambiguous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name):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self.name = name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__str__(self):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return f"{self.name}, a very good dog"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__repr__(self):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return f"Dog(name='{self.name}')"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 = Dog("Rex")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print(rex)   # Rex, a very good dog   (__str__)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          # Dog(name='Rex')          (__repr__, in the shell)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6" name="Image 0" descr="/home/claude/work/icons/FaCod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More Dunder Methods — Operator Overloading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Dunder methods let your own objects work with Python’s built-in operators and functions — +, ==, len(), and more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__eq__ defines what == means for your objects — by default, Python only checks if they’re the exact same object in memory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__add__ defines what + does — this is exactly how "vector1 + vector2" works for custom classes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class Point: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   def __init__(self, x, y):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       self.x, self.y = x, y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   def __eq__(self, other):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       return self.x == other.x and self.y == other.y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   def __add__(self, other):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       return Point(self.x + other.x, self.y + other.y)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   def __len__(self):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       return int((self.x**2 + self.y**2) ** 0.5)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Point(1, 2) == Point(1, 2)   # True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E8F0EC"/>
                </a:solidFill>
                <a:effectLst/>
                <a:uFillTx/>
                <a:latin typeface="Consolas"/>
                <a:ea typeface="Consolas"/>
              </a:rPr>
              <a:t>Point(1, 2) + Point(3, 4)    # Point object with x=4, y=6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4" name="Image 0" descr="/home/claude/work/icons/FaCogs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@classmethod vs. @staticmethod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"/>
          <p:cNvSpPr/>
          <p:nvPr/>
        </p:nvSpPr>
        <p:spPr>
          <a:xfrm>
            <a:off x="548640" y="1234440"/>
            <a:ext cx="5361480" cy="5117760"/>
          </a:xfrm>
          <a:prstGeom prst="roundRect">
            <a:avLst>
              <a:gd name="adj" fmla="val 1786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3"/>
          <p:cNvSpPr/>
          <p:nvPr/>
        </p:nvSpPr>
        <p:spPr>
          <a:xfrm>
            <a:off x="822960" y="1508760"/>
            <a:ext cx="454320" cy="454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8" name="Image 1" descr="/home/claude/work/icons/FaUsersCog.png"/>
          <p:cNvPicPr/>
          <p:nvPr/>
        </p:nvPicPr>
        <p:blipFill>
          <a:blip r:embed="rId2"/>
          <a:stretch/>
        </p:blipFill>
        <p:spPr>
          <a:xfrm>
            <a:off x="923400" y="16092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Text 4"/>
          <p:cNvSpPr/>
          <p:nvPr/>
        </p:nvSpPr>
        <p:spPr>
          <a:xfrm>
            <a:off x="1444680" y="1508760"/>
            <a:ext cx="42825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@classmethod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5"/>
          <p:cNvSpPr/>
          <p:nvPr/>
        </p:nvSpPr>
        <p:spPr>
          <a:xfrm>
            <a:off x="841320" y="2194560"/>
            <a:ext cx="477612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Receives the class itself (cls) instead of an instance (self) as its first argument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Can access and modify class-level state, and is commonly used to build alternate constructors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Called on the class: Dog.from_string(...)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6"/>
          <p:cNvSpPr/>
          <p:nvPr/>
        </p:nvSpPr>
        <p:spPr>
          <a:xfrm>
            <a:off x="6278760" y="1234440"/>
            <a:ext cx="5361480" cy="5117760"/>
          </a:xfrm>
          <a:prstGeom prst="roundRect">
            <a:avLst>
              <a:gd name="adj" fmla="val 1786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7"/>
          <p:cNvSpPr/>
          <p:nvPr/>
        </p:nvSpPr>
        <p:spPr>
          <a:xfrm>
            <a:off x="6553080" y="1508760"/>
            <a:ext cx="454320" cy="4543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3" name="Image 2" descr="/home/claude/work/icons/FaCube.png"/>
          <p:cNvPicPr/>
          <p:nvPr/>
        </p:nvPicPr>
        <p:blipFill>
          <a:blip r:embed="rId3"/>
          <a:stretch/>
        </p:blipFill>
        <p:spPr>
          <a:xfrm>
            <a:off x="6653520" y="16092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Text 8"/>
          <p:cNvSpPr/>
          <p:nvPr/>
        </p:nvSpPr>
        <p:spPr>
          <a:xfrm>
            <a:off x="7174800" y="1508760"/>
            <a:ext cx="42825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@staticmethod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9"/>
          <p:cNvSpPr/>
          <p:nvPr/>
        </p:nvSpPr>
        <p:spPr>
          <a:xfrm>
            <a:off x="6571440" y="2194560"/>
            <a:ext cx="477612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Receives neither self nor cls — it’s just a regular function that happens to live inside the class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Used when logic is related to the class conceptually, but doesn’t need any instance or class data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25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Called the same way: Dog.is_valid_name("Rex")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0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1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9" name="Image 0" descr="/home/claude/work/icons/FaKey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@classmethod as an Alternate Constructor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is the single most common real-world use of @classmethod — offering </a:t>
            </a: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more than one way to build an object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from_string builds a Dog from one format (a comma-separated string) while </a:t>
            </a: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__init__ handles the normal way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Both ultimately create the same kind of object — cls(...) inside a classmethod </a:t>
            </a: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calls the real constructor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__init__(self, name, age):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self.name = name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self.age = age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@classmethod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from_string(cls, data):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name, age = data.split(",")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return cls(name, int(age))    # calls Dog(name, age)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 = Dog.from_string("Rex,3")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rex.name, rex.age    # ('Rex', 3)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7" name="Image 0" descr="/home/claude/work/icons/FaCub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"Everything Is an Object" in Python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2"/>
          <p:cNvSpPr/>
          <p:nvPr/>
        </p:nvSpPr>
        <p:spPr>
          <a:xfrm>
            <a:off x="548640" y="1234440"/>
            <a:ext cx="3243240" cy="5117760"/>
          </a:xfrm>
          <a:prstGeom prst="roundRect">
            <a:avLst>
              <a:gd name="adj" fmla="val 3380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3"/>
          <p:cNvSpPr/>
          <p:nvPr/>
        </p:nvSpPr>
        <p:spPr>
          <a:xfrm>
            <a:off x="1645920" y="1737360"/>
            <a:ext cx="1048680" cy="1048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1" name="Image 1" descr="/home/claude/work/icons/FaCube.png"/>
          <p:cNvPicPr/>
          <p:nvPr/>
        </p:nvPicPr>
        <p:blipFill>
          <a:blip r:embed="rId2"/>
          <a:stretch/>
        </p:blipFill>
        <p:spPr>
          <a:xfrm>
            <a:off x="1906560" y="2002680"/>
            <a:ext cx="52740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Text 4"/>
          <p:cNvSpPr/>
          <p:nvPr/>
        </p:nvSpPr>
        <p:spPr>
          <a:xfrm>
            <a:off x="731520" y="3017520"/>
            <a:ext cx="287748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Not just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your own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classes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5"/>
          <p:cNvSpPr/>
          <p:nvPr/>
        </p:nvSpPr>
        <p:spPr>
          <a:xfrm>
            <a:off x="4206240" y="1280160"/>
            <a:ext cx="743400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Every value in Python — numbers, strings, lists, functions, even classes themselves — is an object of some class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(5).bit_length() works because even an int is an object with methods — type(5) really is &lt;class 'int'&gt;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is why dir() and type() work uniformly on absolutely anything in Python — there’s no special-cased "primitive"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Understanding your own classes makes Python’s built-in types make more sense too — they’re built the same way yours are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7" name="Image 0" descr="/home/claude/work/icons/FaExclamationTriangl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A Famous Python Gotcha: Mutable Class Attributes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"/>
          <p:cNvSpPr/>
          <p:nvPr/>
        </p:nvSpPr>
        <p:spPr>
          <a:xfrm>
            <a:off x="548640" y="1234440"/>
            <a:ext cx="110916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 mutable class attribute (like a list) is shared by every instance — exactly like any other class attribute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Appending to it from one object silently affects every other object, because there’s only ever one list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The fix: create mutable attributes inside __init__ with self, so each object gets its own independent copy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3"/>
          <p:cNvSpPr/>
          <p:nvPr/>
        </p:nvSpPr>
        <p:spPr>
          <a:xfrm>
            <a:off x="548640" y="2569320"/>
            <a:ext cx="11091600" cy="3782880"/>
          </a:xfrm>
          <a:prstGeom prst="roundRect">
            <a:avLst>
              <a:gd name="adj" fmla="val 1932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4"/>
          <p:cNvSpPr/>
          <p:nvPr/>
        </p:nvSpPr>
        <p:spPr>
          <a:xfrm>
            <a:off x="868680" y="2752200"/>
            <a:ext cx="10451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8FA89E"/>
                </a:solidFill>
                <a:effectLst/>
                <a:uFillTx/>
                <a:latin typeface="Cantarell"/>
                <a:ea typeface="Consolas"/>
              </a:rPr>
              <a:t># WRONG — shared across every instance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tricks = []          # class attribute — ONE list for all dogs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add_trick(self, trick):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self.tricks.append(trick)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 = Dog(); milo = Dog()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rex.add_trick("sit")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milo.tricks    # ['sit'] — leaked into milo too!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8FA89E"/>
                </a:solidFill>
                <a:effectLst/>
                <a:uFillTx/>
                <a:latin typeface="Cantarell"/>
                <a:ea typeface="Consolas"/>
              </a:rPr>
              <a:t># RIGHT — each instance gets its own list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class Dog: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def __init__(self):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E8F0EC"/>
                </a:solidFill>
                <a:effectLst/>
                <a:uFillTx/>
                <a:latin typeface="Cantarell"/>
                <a:ea typeface="Consolas"/>
              </a:rPr>
              <a:t>        self.tricks = []   # instance attribute, private to self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5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6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5" name="Image 0" descr="/home/claude/work/icons/FaCod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6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Practice Set — Python-Specific Details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2"/>
          <p:cNvSpPr/>
          <p:nvPr/>
        </p:nvSpPr>
        <p:spPr>
          <a:xfrm>
            <a:off x="548640" y="1234440"/>
            <a:ext cx="11091600" cy="5117760"/>
          </a:xfrm>
          <a:prstGeom prst="roundRect">
            <a:avLst>
              <a:gd name="adj" fmla="val 1786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3"/>
          <p:cNvSpPr/>
          <p:nvPr/>
        </p:nvSpPr>
        <p:spPr>
          <a:xfrm>
            <a:off x="868680" y="1435680"/>
            <a:ext cx="104515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Try these yourself first — no code shown, that’s the point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4"/>
          <p:cNvSpPr/>
          <p:nvPr/>
        </p:nvSpPr>
        <p:spPr>
          <a:xfrm>
            <a:off x="868680" y="247356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5"/>
          <p:cNvSpPr/>
          <p:nvPr/>
        </p:nvSpPr>
        <p:spPr>
          <a:xfrm>
            <a:off x="868680" y="247356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6"/>
          <p:cNvSpPr/>
          <p:nvPr/>
        </p:nvSpPr>
        <p:spPr>
          <a:xfrm>
            <a:off x="1408320" y="192024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Add __str__ to a class you’ve already written this session, and confirm print() uses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7"/>
          <p:cNvSpPr/>
          <p:nvPr/>
        </p:nvSpPr>
        <p:spPr>
          <a:xfrm>
            <a:off x="868680" y="389088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8"/>
          <p:cNvSpPr/>
          <p:nvPr/>
        </p:nvSpPr>
        <p:spPr>
          <a:xfrm>
            <a:off x="868680" y="389088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9"/>
          <p:cNvSpPr/>
          <p:nvPr/>
        </p:nvSpPr>
        <p:spPr>
          <a:xfrm>
            <a:off x="1408320" y="333756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Add a @classmethod alternate constructor to your Employee class from earlier that builds one from a single "name-salary" string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10"/>
          <p:cNvSpPr/>
          <p:nvPr/>
        </p:nvSpPr>
        <p:spPr>
          <a:xfrm>
            <a:off x="868680" y="5308200"/>
            <a:ext cx="308160" cy="3081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1"/>
          <p:cNvSpPr/>
          <p:nvPr/>
        </p:nvSpPr>
        <p:spPr>
          <a:xfrm>
            <a:off x="868680" y="5308200"/>
            <a:ext cx="3081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2"/>
          <p:cNvSpPr/>
          <p:nvPr/>
        </p:nvSpPr>
        <p:spPr>
          <a:xfrm>
            <a:off x="1408320" y="4754880"/>
            <a:ext cx="9911880" cy="14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Deliberately reproduce the mutable class-attribute bug, confirm the leak, then fix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3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4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0"/>
          <p:cNvSpPr/>
          <p:nvPr/>
        </p:nvSpPr>
        <p:spPr>
          <a:xfrm>
            <a:off x="-2286000" y="36576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"/>
          <p:cNvSpPr/>
          <p:nvPr/>
        </p:nvSpPr>
        <p:spPr>
          <a:xfrm>
            <a:off x="8229600" y="-27432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2"/>
          <p:cNvSpPr/>
          <p:nvPr/>
        </p:nvSpPr>
        <p:spPr>
          <a:xfrm>
            <a:off x="5638680" y="868680"/>
            <a:ext cx="911520" cy="9115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3" name="Image 0" descr="/home/claude/work/icons/FaClipboardList.png"/>
          <p:cNvPicPr/>
          <p:nvPr/>
        </p:nvPicPr>
        <p:blipFill>
          <a:blip r:embed="rId1"/>
          <a:stretch/>
        </p:blipFill>
        <p:spPr>
          <a:xfrm>
            <a:off x="5876280" y="109728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Text 3"/>
          <p:cNvSpPr/>
          <p:nvPr/>
        </p:nvSpPr>
        <p:spPr>
          <a:xfrm>
            <a:off x="914400" y="2057400"/>
            <a:ext cx="103600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INDUSTRY-STYLE TASKS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4"/>
          <p:cNvSpPr/>
          <p:nvPr/>
        </p:nvSpPr>
        <p:spPr>
          <a:xfrm>
            <a:off x="1188720" y="2441520"/>
            <a:ext cx="9811440" cy="13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Build the Things You’ll Actually Be Asked to Build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5"/>
          <p:cNvSpPr/>
          <p:nvPr/>
        </p:nvSpPr>
        <p:spPr>
          <a:xfrm>
            <a:off x="1920240" y="3996000"/>
            <a:ext cx="834840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Not toy examples — validated accounts, class hierarchies, and alternate constructors are everyday, real-world work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6"/>
          <p:cNvSpPr/>
          <p:nvPr/>
        </p:nvSpPr>
        <p:spPr>
          <a:xfrm>
            <a:off x="11094480" y="649224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9" name="Image 0" descr="/home/claude/work/icons/FaUserShield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Today's Tasks — Part A: Classes &amp; Encapsulation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2"/>
          <p:cNvSpPr/>
          <p:nvPr/>
        </p:nvSpPr>
        <p:spPr>
          <a:xfrm>
            <a:off x="548640" y="1234440"/>
            <a:ext cx="110916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3"/>
          <p:cNvSpPr/>
          <p:nvPr/>
        </p:nvSpPr>
        <p:spPr>
          <a:xfrm>
            <a:off x="548640" y="1682640"/>
            <a:ext cx="11091600" cy="1457280"/>
          </a:xfrm>
          <a:prstGeom prst="roundRect">
            <a:avLst>
              <a:gd name="adj" fmla="val 5010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4"/>
          <p:cNvSpPr/>
          <p:nvPr/>
        </p:nvSpPr>
        <p:spPr>
          <a:xfrm>
            <a:off x="804600" y="2302920"/>
            <a:ext cx="289800" cy="2898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4" name="Image 1" descr="/home/claude/work/icons/FaCheckCircle.png"/>
          <p:cNvPicPr/>
          <p:nvPr/>
        </p:nvPicPr>
        <p:blipFill>
          <a:blip r:embed="rId2"/>
          <a:stretch/>
        </p:blipFill>
        <p:spPr>
          <a:xfrm>
            <a:off x="859680" y="2357640"/>
            <a:ext cx="180000" cy="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Text 5"/>
          <p:cNvSpPr/>
          <p:nvPr/>
        </p:nvSpPr>
        <p:spPr>
          <a:xfrm>
            <a:off x="1325880" y="1719000"/>
            <a:ext cx="1004004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Build a BankAccount class with a protected _balance, plus deposit() and withdraw() methods that reject invalid amounts — no other way to change the balance.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6"/>
          <p:cNvSpPr/>
          <p:nvPr/>
        </p:nvSpPr>
        <p:spPr>
          <a:xfrm>
            <a:off x="548640" y="3252240"/>
            <a:ext cx="11091600" cy="1457280"/>
          </a:xfrm>
          <a:prstGeom prst="roundRect">
            <a:avLst>
              <a:gd name="adj" fmla="val 5010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7"/>
          <p:cNvSpPr/>
          <p:nvPr/>
        </p:nvSpPr>
        <p:spPr>
          <a:xfrm>
            <a:off x="804600" y="3872520"/>
            <a:ext cx="289800" cy="2898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8" name="Image 2" descr="/home/claude/work/icons/FaCheckCircle.png"/>
          <p:cNvPicPr/>
          <p:nvPr/>
        </p:nvPicPr>
        <p:blipFill>
          <a:blip r:embed="rId3"/>
          <a:stretch/>
        </p:blipFill>
        <p:spPr>
          <a:xfrm>
            <a:off x="859680" y="3927240"/>
            <a:ext cx="180000" cy="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Text 8"/>
          <p:cNvSpPr/>
          <p:nvPr/>
        </p:nvSpPr>
        <p:spPr>
          <a:xfrm>
            <a:off x="1325880" y="3288960"/>
            <a:ext cx="1004004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Turn balance into a @property with a setter that raises a ValueError for negative values, and confirm direct assignment is properly validated.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9"/>
          <p:cNvSpPr/>
          <p:nvPr/>
        </p:nvSpPr>
        <p:spPr>
          <a:xfrm>
            <a:off x="548640" y="4821840"/>
            <a:ext cx="11091600" cy="1457280"/>
          </a:xfrm>
          <a:prstGeom prst="roundRect">
            <a:avLst>
              <a:gd name="adj" fmla="val 5010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0"/>
          <p:cNvSpPr/>
          <p:nvPr/>
        </p:nvSpPr>
        <p:spPr>
          <a:xfrm>
            <a:off x="804600" y="5442120"/>
            <a:ext cx="289800" cy="2898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2" name="Image 3" descr="/home/claude/work/icons/FaCheckCircle.png"/>
          <p:cNvPicPr/>
          <p:nvPr/>
        </p:nvPicPr>
        <p:blipFill>
          <a:blip r:embed="rId4"/>
          <a:stretch/>
        </p:blipFill>
        <p:spPr>
          <a:xfrm>
            <a:off x="859680" y="5497200"/>
            <a:ext cx="180000" cy="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Text 11"/>
          <p:cNvSpPr/>
          <p:nvPr/>
        </p:nvSpPr>
        <p:spPr>
          <a:xfrm>
            <a:off x="1325880" y="4858560"/>
            <a:ext cx="1004004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Add a class attribute bank_name shared by every account, and confirm it updates for all existing accounts when changed on the class.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2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3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7" name="Image 0" descr="/home/claude/work/icons/FaDna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Today's Tasks — Part B: Inheritance &amp; Polymorphism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2"/>
          <p:cNvSpPr/>
          <p:nvPr/>
        </p:nvSpPr>
        <p:spPr>
          <a:xfrm>
            <a:off x="548640" y="1234440"/>
            <a:ext cx="110916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3"/>
          <p:cNvSpPr/>
          <p:nvPr/>
        </p:nvSpPr>
        <p:spPr>
          <a:xfrm>
            <a:off x="548640" y="1682640"/>
            <a:ext cx="11091600" cy="1457280"/>
          </a:xfrm>
          <a:prstGeom prst="roundRect">
            <a:avLst>
              <a:gd name="adj" fmla="val 5010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4"/>
          <p:cNvSpPr/>
          <p:nvPr/>
        </p:nvSpPr>
        <p:spPr>
          <a:xfrm>
            <a:off x="804600" y="2302920"/>
            <a:ext cx="289800" cy="2898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2" name="Image 1" descr="/home/claude/work/icons/FaCheckCircle.png"/>
          <p:cNvPicPr/>
          <p:nvPr/>
        </p:nvPicPr>
        <p:blipFill>
          <a:blip r:embed="rId2"/>
          <a:stretch/>
        </p:blipFill>
        <p:spPr>
          <a:xfrm>
            <a:off x="859680" y="2357640"/>
            <a:ext cx="180000" cy="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Text 5"/>
          <p:cNvSpPr/>
          <p:nvPr/>
        </p:nvSpPr>
        <p:spPr>
          <a:xfrm>
            <a:off x="1325880" y="1719000"/>
            <a:ext cx="1004004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Build a Shape base class (abstract, using ABC) with an abstract area() method, then Rectangle and Triangle subclasses that implement it differently.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6"/>
          <p:cNvSpPr/>
          <p:nvPr/>
        </p:nvSpPr>
        <p:spPr>
          <a:xfrm>
            <a:off x="548640" y="3252240"/>
            <a:ext cx="11091600" cy="1457280"/>
          </a:xfrm>
          <a:prstGeom prst="roundRect">
            <a:avLst>
              <a:gd name="adj" fmla="val 5010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7"/>
          <p:cNvSpPr/>
          <p:nvPr/>
        </p:nvSpPr>
        <p:spPr>
          <a:xfrm>
            <a:off x="804600" y="3872520"/>
            <a:ext cx="289800" cy="2898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6" name="Image 2" descr="/home/claude/work/icons/FaCheckCircle.png"/>
          <p:cNvPicPr/>
          <p:nvPr/>
        </p:nvPicPr>
        <p:blipFill>
          <a:blip r:embed="rId3"/>
          <a:stretch/>
        </p:blipFill>
        <p:spPr>
          <a:xfrm>
            <a:off x="859680" y="3927240"/>
            <a:ext cx="180000" cy="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Text 8"/>
          <p:cNvSpPr/>
          <p:nvPr/>
        </p:nvSpPr>
        <p:spPr>
          <a:xfrm>
            <a:off x="1325880" y="3288960"/>
            <a:ext cx="1004004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Loop over a list of mixed shapes </a:t>
            </a: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and print each one’s area — </a:t>
            </a: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without checking what type each </a:t>
            </a: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shape is.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9"/>
          <p:cNvSpPr/>
          <p:nvPr/>
        </p:nvSpPr>
        <p:spPr>
          <a:xfrm>
            <a:off x="548640" y="4821840"/>
            <a:ext cx="11091600" cy="1457280"/>
          </a:xfrm>
          <a:prstGeom prst="roundRect">
            <a:avLst>
              <a:gd name="adj" fmla="val 5010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0"/>
          <p:cNvSpPr/>
          <p:nvPr/>
        </p:nvSpPr>
        <p:spPr>
          <a:xfrm>
            <a:off x="804600" y="5442120"/>
            <a:ext cx="289800" cy="2898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0" name="Image 3" descr="/home/claude/work/icons/FaCheckCircle.png"/>
          <p:cNvPicPr/>
          <p:nvPr/>
        </p:nvPicPr>
        <p:blipFill>
          <a:blip r:embed="rId4"/>
          <a:stretch/>
        </p:blipFill>
        <p:spPr>
          <a:xfrm>
            <a:off x="859680" y="5497200"/>
            <a:ext cx="180000" cy="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Text 11"/>
          <p:cNvSpPr/>
          <p:nvPr/>
        </p:nvSpPr>
        <p:spPr>
          <a:xfrm>
            <a:off x="1325880" y="4858560"/>
            <a:ext cx="1004004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Create a SavingsAccount(BankAccount) subclass that overrides withdraw() to enforce a minimum balance, using super() to reuse the original validation first.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2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3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5" name="Image 0" descr="/home/claude/work/icons/FaCode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Today's Tasks — Part C: Python-Specific Details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2"/>
          <p:cNvSpPr/>
          <p:nvPr/>
        </p:nvSpPr>
        <p:spPr>
          <a:xfrm>
            <a:off x="548640" y="1234440"/>
            <a:ext cx="110916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3"/>
          <p:cNvSpPr/>
          <p:nvPr/>
        </p:nvSpPr>
        <p:spPr>
          <a:xfrm>
            <a:off x="548640" y="1682640"/>
            <a:ext cx="11091600" cy="1457280"/>
          </a:xfrm>
          <a:prstGeom prst="roundRect">
            <a:avLst>
              <a:gd name="adj" fmla="val 5010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4"/>
          <p:cNvSpPr/>
          <p:nvPr/>
        </p:nvSpPr>
        <p:spPr>
          <a:xfrm>
            <a:off x="804600" y="2302920"/>
            <a:ext cx="289800" cy="2898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1" descr="/home/claude/work/icons/FaCheckCircle.png"/>
          <p:cNvPicPr/>
          <p:nvPr/>
        </p:nvPicPr>
        <p:blipFill>
          <a:blip r:embed="rId2"/>
          <a:stretch/>
        </p:blipFill>
        <p:spPr>
          <a:xfrm>
            <a:off x="859680" y="2357640"/>
            <a:ext cx="180000" cy="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5"/>
          <p:cNvSpPr/>
          <p:nvPr/>
        </p:nvSpPr>
        <p:spPr>
          <a:xfrm>
            <a:off x="1325880" y="1719000"/>
            <a:ext cx="1004004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Add __str__ and __repr__ to your BankAccount class, with __str__ showing a friendly summary and __repr__ showing exact constructor-style detail.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6"/>
          <p:cNvSpPr/>
          <p:nvPr/>
        </p:nvSpPr>
        <p:spPr>
          <a:xfrm>
            <a:off x="548640" y="3252240"/>
            <a:ext cx="11091600" cy="1457280"/>
          </a:xfrm>
          <a:prstGeom prst="roundRect">
            <a:avLst>
              <a:gd name="adj" fmla="val 5010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7"/>
          <p:cNvSpPr/>
          <p:nvPr/>
        </p:nvSpPr>
        <p:spPr>
          <a:xfrm>
            <a:off x="804600" y="3872520"/>
            <a:ext cx="289800" cy="2898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4" name="Image 2" descr="/home/claude/work/icons/FaCheckCircle.png"/>
          <p:cNvPicPr/>
          <p:nvPr/>
        </p:nvPicPr>
        <p:blipFill>
          <a:blip r:embed="rId3"/>
          <a:stretch/>
        </p:blipFill>
        <p:spPr>
          <a:xfrm>
            <a:off x="859680" y="3927240"/>
            <a:ext cx="180000" cy="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Text 8"/>
          <p:cNvSpPr/>
          <p:nvPr/>
        </p:nvSpPr>
        <p:spPr>
          <a:xfrm>
            <a:off x="1325880" y="3288960"/>
            <a:ext cx="1004004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Add a @classmethod from_dict(cls, data) that builds a BankAccount from a dictionary like {"owner": "Ahmed", "balance": 500}.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9"/>
          <p:cNvSpPr/>
          <p:nvPr/>
        </p:nvSpPr>
        <p:spPr>
          <a:xfrm>
            <a:off x="548640" y="4821840"/>
            <a:ext cx="11091600" cy="1457280"/>
          </a:xfrm>
          <a:prstGeom prst="roundRect">
            <a:avLst>
              <a:gd name="adj" fmla="val 5010"/>
            </a:avLst>
          </a:prstGeom>
          <a:solidFill>
            <a:srgbClr val="E9DE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0"/>
          <p:cNvSpPr/>
          <p:nvPr/>
        </p:nvSpPr>
        <p:spPr>
          <a:xfrm>
            <a:off x="804600" y="5442120"/>
            <a:ext cx="289800" cy="2898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8" name="Image 3" descr="/home/claude/work/icons/FaCheckCircle.png"/>
          <p:cNvPicPr/>
          <p:nvPr/>
        </p:nvPicPr>
        <p:blipFill>
          <a:blip r:embed="rId4"/>
          <a:stretch/>
        </p:blipFill>
        <p:spPr>
          <a:xfrm>
            <a:off x="859680" y="5497200"/>
            <a:ext cx="180000" cy="1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 11"/>
          <p:cNvSpPr/>
          <p:nvPr/>
        </p:nvSpPr>
        <p:spPr>
          <a:xfrm>
            <a:off x="1325880" y="4858560"/>
            <a:ext cx="1004004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3312F"/>
                </a:solidFill>
                <a:effectLst/>
                <a:uFillTx/>
                <a:latin typeface="Calibri"/>
                <a:ea typeface="Calibri"/>
              </a:rPr>
              <a:t>Add a @staticmethod is_valid_owner_name(name) that checks a name is non-empty and alphabetic, with no reference to self or cls.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2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3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0"/>
          <p:cNvSpPr/>
          <p:nvPr/>
        </p:nvSpPr>
        <p:spPr>
          <a:xfrm>
            <a:off x="-2286000" y="36576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"/>
          <p:cNvSpPr/>
          <p:nvPr/>
        </p:nvSpPr>
        <p:spPr>
          <a:xfrm>
            <a:off x="8229600" y="-27432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2"/>
          <p:cNvSpPr/>
          <p:nvPr/>
        </p:nvSpPr>
        <p:spPr>
          <a:xfrm>
            <a:off x="5638680" y="868680"/>
            <a:ext cx="911520" cy="9115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5" name="Image 0" descr="/home/claude/work/icons/FaPuzzlePiece.png"/>
          <p:cNvPicPr/>
          <p:nvPr/>
        </p:nvPicPr>
        <p:blipFill>
          <a:blip r:embed="rId1"/>
          <a:stretch/>
        </p:blipFill>
        <p:spPr>
          <a:xfrm>
            <a:off x="5876280" y="109728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6" name="Text 3"/>
          <p:cNvSpPr/>
          <p:nvPr/>
        </p:nvSpPr>
        <p:spPr>
          <a:xfrm>
            <a:off x="914400" y="2057400"/>
            <a:ext cx="103600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4"/>
          <p:cNvSpPr/>
          <p:nvPr/>
        </p:nvSpPr>
        <p:spPr>
          <a:xfrm>
            <a:off x="1188720" y="2441520"/>
            <a:ext cx="981144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It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ll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5"/>
          <p:cNvSpPr/>
          <p:nvPr/>
        </p:nvSpPr>
        <p:spPr>
          <a:xfrm>
            <a:off x="1920240" y="3630240"/>
            <a:ext cx="834840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Two projects combining classes, all four pillars, and Python-specific OOP details into one cohesive task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6"/>
          <p:cNvSpPr/>
          <p:nvPr/>
        </p:nvSpPr>
        <p:spPr>
          <a:xfrm>
            <a:off x="11094480" y="649224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1" name="Image 0" descr="/home/claude/work/icons/FaWallet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2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Mini Project 1: Bank Account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2"/>
          <p:cNvSpPr/>
          <p:nvPr/>
        </p:nvSpPr>
        <p:spPr>
          <a:xfrm>
            <a:off x="548640" y="1234440"/>
            <a:ext cx="3243240" cy="5117760"/>
          </a:xfrm>
          <a:prstGeom prst="roundRect">
            <a:avLst>
              <a:gd name="adj" fmla="val 3380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3"/>
          <p:cNvSpPr/>
          <p:nvPr/>
        </p:nvSpPr>
        <p:spPr>
          <a:xfrm>
            <a:off x="1645920" y="1737360"/>
            <a:ext cx="1048680" cy="1048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5" name="Image 1" descr="/home/claude/work/icons/FaWallet.png"/>
          <p:cNvPicPr/>
          <p:nvPr/>
        </p:nvPicPr>
        <p:blipFill>
          <a:blip r:embed="rId2"/>
          <a:stretch/>
        </p:blipFill>
        <p:spPr>
          <a:xfrm>
            <a:off x="1906560" y="2002680"/>
            <a:ext cx="52740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Text 4"/>
          <p:cNvSpPr/>
          <p:nvPr/>
        </p:nvSpPr>
        <p:spPr>
          <a:xfrm>
            <a:off x="731520" y="3017520"/>
            <a:ext cx="287748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Encapsulation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+ inheritance,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combined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5"/>
          <p:cNvSpPr/>
          <p:nvPr/>
        </p:nvSpPr>
        <p:spPr>
          <a:xfrm>
            <a:off x="4206240" y="1280160"/>
            <a:ext cx="743400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Build a BankAccount base class with a protected _balance, a validated @property, and deposit()/withdraw() methods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Build SavingsAccount and CheckingAccount subclasses that each override withdraw() with their own rules (minimum balance, overdraft limit)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Add __str__ for a friendly account summary, and a @classmethod that builds an account from a dictionary of starting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mirrors how real banking and fintech backends structure account logic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0"/>
          <p:cNvSpPr/>
          <p:nvPr/>
        </p:nvSpPr>
        <p:spPr>
          <a:xfrm>
            <a:off x="548640" y="457200"/>
            <a:ext cx="381240" cy="381240"/>
          </a:xfrm>
          <a:prstGeom prst="roundRect">
            <a:avLst>
              <a:gd name="adj" fmla="val 2381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1" name="Image 0" descr="/home/claude/work/icons/FaShapes.png"/>
          <p:cNvPicPr/>
          <p:nvPr/>
        </p:nvPicPr>
        <p:blipFill>
          <a:blip r:embed="rId1"/>
          <a:stretch/>
        </p:blipFill>
        <p:spPr>
          <a:xfrm>
            <a:off x="631080" y="539640"/>
            <a:ext cx="216720" cy="2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Text 1"/>
          <p:cNvSpPr/>
          <p:nvPr/>
        </p:nvSpPr>
        <p:spPr>
          <a:xfrm>
            <a:off x="1097280" y="420480"/>
            <a:ext cx="105429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Mini Project 2: Shape &amp; Employee Hierarchies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2"/>
          <p:cNvSpPr/>
          <p:nvPr/>
        </p:nvSpPr>
        <p:spPr>
          <a:xfrm>
            <a:off x="548640" y="1234440"/>
            <a:ext cx="3243240" cy="5117760"/>
          </a:xfrm>
          <a:prstGeom prst="roundRect">
            <a:avLst>
              <a:gd name="adj" fmla="val 3380"/>
            </a:avLst>
          </a:prstGeom>
          <a:solidFill>
            <a:srgbClr val="C9D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3"/>
          <p:cNvSpPr/>
          <p:nvPr/>
        </p:nvSpPr>
        <p:spPr>
          <a:xfrm>
            <a:off x="1645920" y="1737360"/>
            <a:ext cx="1048680" cy="1048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5" name="Image 1" descr="/home/claude/work/icons/FaShapes.png"/>
          <p:cNvPicPr/>
          <p:nvPr/>
        </p:nvPicPr>
        <p:blipFill>
          <a:blip r:embed="rId2"/>
          <a:stretch/>
        </p:blipFill>
        <p:spPr>
          <a:xfrm>
            <a:off x="1906560" y="2002680"/>
            <a:ext cx="52740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Text 4"/>
          <p:cNvSpPr/>
          <p:nvPr/>
        </p:nvSpPr>
        <p:spPr>
          <a:xfrm>
            <a:off x="731520" y="3017520"/>
            <a:ext cx="287748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Abstraction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+ polymorphism,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3312F"/>
                </a:solidFill>
                <a:effectLst/>
                <a:uFillTx/>
                <a:latin typeface="Cambria"/>
                <a:ea typeface="Cambria"/>
              </a:rPr>
              <a:t>combined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5"/>
          <p:cNvSpPr/>
          <p:nvPr/>
        </p:nvSpPr>
        <p:spPr>
          <a:xfrm>
            <a:off x="4206240" y="1280160"/>
            <a:ext cx="7434000" cy="50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Build an abstract Shape class (area(), perimeter()) with Circle, Rectangle, and Triangle subclasses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Write a report() function that loops over a mixed list of shapes and prints each one’s area — using polymorphism, with no type-checking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Separately, build an Employee base class and a Manager subclass that overrides a bonus() calculation using super()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199"/>
              </a:spcAft>
              <a:buClr>
                <a:srgbClr val="3F4A45"/>
              </a:buClr>
              <a:buFont typeface="OpenSymbol"/>
              <a:buChar char="▪"/>
            </a:pPr>
            <a:r>
              <a:rPr lang="en-US" sz="1400" b="0" u="none" strike="noStrike">
                <a:solidFill>
                  <a:srgbClr val="3F4A45"/>
                </a:solidFill>
                <a:effectLst/>
                <a:uFillTx/>
                <a:latin typeface="Calibri"/>
                <a:ea typeface="Calibri"/>
              </a:rPr>
              <a:t>This mirrors how real HR systems and geometry/CAD tools are actually structured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6"/>
          <p:cNvSpPr/>
          <p:nvPr/>
        </p:nvSpPr>
        <p:spPr>
          <a:xfrm>
            <a:off x="548640" y="6510600"/>
            <a:ext cx="54835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Object-Oriented Programming  ·  Session 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7"/>
          <p:cNvSpPr/>
          <p:nvPr/>
        </p:nvSpPr>
        <p:spPr>
          <a:xfrm>
            <a:off x="11094480" y="651060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0"/>
          <p:cNvSpPr/>
          <p:nvPr/>
        </p:nvSpPr>
        <p:spPr>
          <a:xfrm>
            <a:off x="-2286000" y="36576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"/>
          <p:cNvSpPr/>
          <p:nvPr/>
        </p:nvSpPr>
        <p:spPr>
          <a:xfrm>
            <a:off x="8229600" y="-2743200"/>
            <a:ext cx="6397920" cy="639792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2"/>
          <p:cNvSpPr/>
          <p:nvPr/>
        </p:nvSpPr>
        <p:spPr>
          <a:xfrm>
            <a:off x="5638680" y="868680"/>
            <a:ext cx="911520" cy="9115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3" name="Image 0" descr="/home/claude/work/icons/FaFlagCheckered.png"/>
          <p:cNvPicPr/>
          <p:nvPr/>
        </p:nvPicPr>
        <p:blipFill>
          <a:blip r:embed="rId1"/>
          <a:stretch/>
        </p:blipFill>
        <p:spPr>
          <a:xfrm>
            <a:off x="5876280" y="1097280"/>
            <a:ext cx="435960" cy="43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Text 3"/>
          <p:cNvSpPr/>
          <p:nvPr/>
        </p:nvSpPr>
        <p:spPr>
          <a:xfrm>
            <a:off x="914400" y="2057400"/>
            <a:ext cx="103600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4"/>
          <p:cNvSpPr/>
          <p:nvPr/>
        </p:nvSpPr>
        <p:spPr>
          <a:xfrm>
            <a:off x="822960" y="2441520"/>
            <a:ext cx="10542960" cy="21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Classes bundle data with behavior. The four pillars — encapsulation, abstraction, inheritance, and polymorphism — are how that bundling stays clean as programs grow.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5"/>
          <p:cNvSpPr/>
          <p:nvPr/>
        </p:nvSpPr>
        <p:spPr>
          <a:xfrm>
            <a:off x="1920240" y="4773240"/>
            <a:ext cx="834840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Next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sessi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on: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File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I/O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&amp;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Erro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r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Han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dlin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g —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read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ing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and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writi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ng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files, 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try/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exce</a:t>
            </a:r>
            <a:r>
              <a:rPr lang="en-US" sz="13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pt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6"/>
          <p:cNvSpPr/>
          <p:nvPr/>
        </p:nvSpPr>
        <p:spPr>
          <a:xfrm>
            <a:off x="11094480" y="6492240"/>
            <a:ext cx="5457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Application>LibreOffice/26.2.6.1$Linux_X86_64 LibreOffice_project/620$Build-1</Application>
  <AppVersion>15.0000</AppVersion>
  <Words>5435</Words>
  <Paragraphs>654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2026-08-14T06:03:23Z</dcterms:created>
  <dc:creator>PptxGenJS</dc:creator>
  <dc:description/>
  <dc:language>en-US</dc:language>
  <cp:lastModifiedBy/>
  <dcterms:modified xsi:type="dcterms:W3CDTF">2026-09-18T23:22:15Z</dcterms:modified>
  <cp:revision>45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50</vt:i4>
  </property>
  <property fmtid="{D5CDD505-2E9C-101B-9397-08002B2CF9AE}" pid="3" name="PresentationFormat">
    <vt:lpwstr>Widescreen</vt:lpwstr>
  </property>
  <property fmtid="{D5CDD505-2E9C-101B-9397-08002B2CF9AE}" pid="4" name="Slides">
    <vt:i4>50</vt:i4>
  </property>
</Properties>
</file>