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slides/slide29.xml" ContentType="application/vnd.openxmlformats-officedocument.presentationml.slide+xml"/>
  <Override PartName="/ppt/slides/slide26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7.xml" ContentType="application/vnd.openxmlformats-officedocument.presentationml.slide+xml"/>
  <Override PartName="/ppt/slides/slide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7.xml" ContentType="application/vnd.openxmlformats-officedocument.presentationml.slide+xml"/>
  <Override PartName="/ppt/slides/slide9.xml" ContentType="application/vnd.openxmlformats-officedocument.presentationml.slide+xml"/>
  <Override PartName="/ppt/slides/slide3.xml" ContentType="application/vnd.openxmlformats-officedocument.presentationml.slide+xml"/>
  <Override PartName="/ppt/slides/slide20.xml" ContentType="application/vnd.openxmlformats-officedocument.presentationml.slide+xml"/>
  <Override PartName="/ppt/slides/slide34.xml" ContentType="application/vnd.openxmlformats-officedocument.presentationml.slide+xml"/>
  <Override PartName="/ppt/slides/slide36.xml" ContentType="application/vnd.openxmlformats-officedocument.presentationml.slide+xml"/>
  <Override PartName="/ppt/slides/slide16.xml" ContentType="application/vnd.openxmlformats-officedocument.presentationml.slide+xml"/>
  <Override PartName="/ppt/slides/slide40.xml" ContentType="application/vnd.openxmlformats-officedocument.presentationml.slide+xml"/>
  <Override PartName="/ppt/slides/slide2.xml" ContentType="application/vnd.openxmlformats-officedocument.presentationml.slide+xml"/>
  <Override PartName="/ppt/slides/slide23.xml" ContentType="application/vnd.openxmlformats-officedocument.presentationml.slide+xml"/>
  <Override PartName="/ppt/slides/slide5.xml" ContentType="application/vnd.openxmlformats-officedocument.presentationml.slide+xml"/>
  <Override PartName="/ppt/slides/slide49.xml" ContentType="application/vnd.openxmlformats-officedocument.presentationml.slide+xml"/>
  <Override PartName="/ppt/slides/slide27.xml" ContentType="application/vnd.openxmlformats-officedocument.presentationml.slide+xml"/>
  <Override PartName="/ppt/slides/slide46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18.xml" ContentType="application/vnd.openxmlformats-officedocument.presentationml.slide+xml"/>
  <Override PartName="/ppt/slides/slide41.xml" ContentType="application/vnd.openxmlformats-officedocument.presentationml.slide+xml"/>
  <Override PartName="/ppt/slides/slide35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slides/slide45.xml" ContentType="application/vnd.openxmlformats-officedocument.presentationml.slide+xml"/>
  <Override PartName="/ppt/slides/slide47.xml" ContentType="application/vnd.openxmlformats-officedocument.presentationml.slide+xml"/>
  <Override PartName="/ppt/slides/slide37.xml" ContentType="application/vnd.openxmlformats-officedocument.presentationml.slide+xml"/>
  <Override PartName="/ppt/slides/slide50.xml" ContentType="application/vnd.openxmlformats-officedocument.presentationml.slide+xml"/>
  <Override PartName="/ppt/slides/slide33.xml" ContentType="application/vnd.openxmlformats-officedocument.presentationml.slide+xml"/>
  <Override PartName="/ppt/slides/slide32.xml" ContentType="application/vnd.openxmlformats-officedocument.presentationml.slide+xml"/>
  <Override PartName="/ppt/slides/slide48.xml" ContentType="application/vnd.openxmlformats-officedocument.presentationml.slide+xml"/>
  <Override PartName="/ppt/slides/slide39.xml" ContentType="application/vnd.openxmlformats-officedocument.presentationml.slide+xml"/>
  <Override PartName="/ppt/slides/slide31.xml" ContentType="application/vnd.openxmlformats-officedocument.presentationml.slide+xml"/>
  <Override PartName="/ppt/slides/slide30.xml" ContentType="application/vnd.openxmlformats-officedocument.presentationml.slide+xml"/>
  <Override PartName="/ppt/slides/slide22.xml" ContentType="application/vnd.openxmlformats-officedocument.presentationml.slide+xml"/>
  <Override PartName="/ppt/slides/slide25.xml" ContentType="application/vnd.openxmlformats-officedocument.presentationml.slide+xml"/>
  <Override PartName="/ppt/slides/slide21.xml" ContentType="application/vnd.openxmlformats-officedocument.presentationml.slide+xml"/>
  <Override PartName="/ppt/slides/slide24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s/slide42.xml" ContentType="application/vnd.openxmlformats-officedocument.presentationml.slide+xml"/>
  <Override PartName="/ppt/slides/slide12.xml" ContentType="application/vnd.openxmlformats-officedocument.presentationml.slide+xml"/>
  <Override PartName="/ppt/notesSlides/notesSlide26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28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defTabSz="914400">
              <a:lnSpc>
                <a:spcPct val="9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91BA3E84-E1AB-4262-B7FB-D5431DE61806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
</Relationships>
</file>

<file path=ppt/notesSlides/_rels/notesSlide32.xml.rels><?xml version="1.0" encoding="UTF-8"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
</Relationships>
</file>

<file path=ppt/notesSlides/_rels/notesSlide33.xml.rels><?xml version="1.0" encoding="UTF-8"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
</Relationships>
</file>

<file path=ppt/notesSlides/_rels/notesSlide34.xml.rels><?xml version="1.0" encoding="UTF-8"?>
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
</Relationships>
</file>

<file path=ppt/notesSlides/_rels/notesSlide35.xml.rels><?xml version="1.0" encoding="UTF-8"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
</Relationships>
</file>

<file path=ppt/notesSlides/_rels/notesSlide36.xml.rels><?xml version="1.0" encoding="UTF-8"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
</Relationships>
</file>

<file path=ppt/notesSlides/_rels/notesSlide37.xml.rels><?xml version="1.0" encoding="UTF-8"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
</Relationships>
</file>

<file path=ppt/notesSlides/_rels/notesSlide38.xml.rels><?xml version="1.0" encoding="UTF-8"?>
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
</Relationships>
</file>

<file path=ppt/notesSlides/_rels/notesSlide39.xml.rels><?xml version="1.0" encoding="UTF-8"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
</Relationships>
</file>

<file path=ppt/notesSlides/_rels/notesSlide40.xml.rels><?xml version="1.0" encoding="UTF-8"?>
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
</Relationships>
</file>

<file path=ppt/notesSlides/_rels/notesSlide41.xml.rels><?xml version="1.0" encoding="UTF-8"?>
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
</Relationships>
</file>

<file path=ppt/notesSlides/_rels/notesSlide42.xml.rels><?xml version="1.0" encoding="UTF-8"?>
<Relationships xmlns="http://schemas.openxmlformats.org/package/2006/relationships"><Relationship Id="rId1" Type="http://schemas.openxmlformats.org/officeDocument/2006/relationships/slide" Target="../slides/slide42.xml"/><Relationship Id="rId2" Type="http://schemas.openxmlformats.org/officeDocument/2006/relationships/notesMaster" Target="../notesMasters/notesMaster1.xml"/>
</Relationships>
</file>

<file path=ppt/notesSlides/_rels/notesSlide43.xml.rels><?xml version="1.0" encoding="UTF-8"?>
<Relationships xmlns="http://schemas.openxmlformats.org/package/2006/relationships"><Relationship Id="rId1" Type="http://schemas.openxmlformats.org/officeDocument/2006/relationships/slide" Target="../slides/slide43.xml"/><Relationship Id="rId2" Type="http://schemas.openxmlformats.org/officeDocument/2006/relationships/notesMaster" Target="../notesMasters/notesMaster1.xml"/>
</Relationships>
</file>

<file path=ppt/notesSlides/_rels/notesSlide44.xml.rels><?xml version="1.0" encoding="UTF-8"?>
<Relationships xmlns="http://schemas.openxmlformats.org/package/2006/relationships"><Relationship Id="rId1" Type="http://schemas.openxmlformats.org/officeDocument/2006/relationships/slide" Target="../slides/slide44.xml"/><Relationship Id="rId2" Type="http://schemas.openxmlformats.org/officeDocument/2006/relationships/notesMaster" Target="../notesMasters/notesMaster1.xml"/>
</Relationships>
</file>

<file path=ppt/notesSlides/_rels/notesSlide45.xml.rels><?xml version="1.0" encoding="UTF-8"?>
<Relationships xmlns="http://schemas.openxmlformats.org/package/2006/relationships"><Relationship Id="rId1" Type="http://schemas.openxmlformats.org/officeDocument/2006/relationships/slide" Target="../slides/slide45.xml"/><Relationship Id="rId2" Type="http://schemas.openxmlformats.org/officeDocument/2006/relationships/notesMaster" Target="../notesMasters/notesMaster1.xml"/>
</Relationships>
</file>

<file path=ppt/notesSlides/_rels/notesSlide46.xml.rels><?xml version="1.0" encoding="UTF-8"?>
<Relationships xmlns="http://schemas.openxmlformats.org/package/2006/relationships"><Relationship Id="rId1" Type="http://schemas.openxmlformats.org/officeDocument/2006/relationships/slide" Target="../slides/slide46.xml"/><Relationship Id="rId2" Type="http://schemas.openxmlformats.org/officeDocument/2006/relationships/notesMaster" Target="../notesMasters/notesMaster1.xml"/>
</Relationships>
</file>

<file path=ppt/notesSlides/_rels/notesSlide47.xml.rels><?xml version="1.0" encoding="UTF-8"?>
<Relationships xmlns="http://schemas.openxmlformats.org/package/2006/relationships"><Relationship Id="rId1" Type="http://schemas.openxmlformats.org/officeDocument/2006/relationships/slide" Target="../slides/slide47.xml"/><Relationship Id="rId2" Type="http://schemas.openxmlformats.org/officeDocument/2006/relationships/notesMaster" Target="../notesMasters/notesMaster1.xml"/>
</Relationships>
</file>

<file path=ppt/notesSlides/_rels/notesSlide48.xml.rels><?xml version="1.0" encoding="UTF-8"?>
<Relationships xmlns="http://schemas.openxmlformats.org/package/2006/relationships"><Relationship Id="rId1" Type="http://schemas.openxmlformats.org/officeDocument/2006/relationships/slide" Target="../slides/slide48.xml"/><Relationship Id="rId2" Type="http://schemas.openxmlformats.org/officeDocument/2006/relationships/notesMaster" Target="../notesMasters/notesMaster1.xml"/>
</Relationships>
</file>

<file path=ppt/notesSlides/_rels/notesSlide49.xml.rels><?xml version="1.0" encoding="UTF-8"?>
<Relationships xmlns="http://schemas.openxmlformats.org/package/2006/relationships"><Relationship Id="rId1" Type="http://schemas.openxmlformats.org/officeDocument/2006/relationships/slide" Target="../slides/slide49.xml"/><Relationship Id="rId2" Type="http://schemas.openxmlformats.org/officeDocument/2006/relationships/notesMaster" Target="../notesMasters/notesMaster1.xml"/>
</Relationships>
</file>

<file path=ppt/notesSlides/_rels/notesSlide50.xml.rels><?xml version="1.0" encoding="UTF-8"?>
<Relationships xmlns="http://schemas.openxmlformats.org/package/2006/relationships"><Relationship Id="rId1" Type="http://schemas.openxmlformats.org/officeDocument/2006/relationships/slide" Target="../slides/slide50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62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0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0283130-516A-4584-9BD0-427B45EC261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63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3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507AB16-17F3-46AA-B7B8-BF70E001897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63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6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1F6A315-423B-4EFE-B312-21B38E835D0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63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9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FFA6DD4-7710-428C-BCE1-F6684FC8995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400"/>
          </a:xfrm>
          <a:prstGeom prst="rect">
            <a:avLst/>
          </a:prstGeom>
          <a:ln w="0">
            <a:noFill/>
          </a:ln>
        </p:spPr>
      </p:sp>
      <p:sp>
        <p:nvSpPr>
          <p:cNvPr id="64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2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9316616-C3F1-497B-8B09-FA32B3C25A5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400"/>
          </a:xfrm>
          <a:prstGeom prst="rect">
            <a:avLst/>
          </a:prstGeom>
          <a:ln w="0">
            <a:noFill/>
          </a:ln>
        </p:spPr>
      </p:sp>
      <p:sp>
        <p:nvSpPr>
          <p:cNvPr id="64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5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9462F31-0C8D-47C4-864B-067B249D804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64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8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1CD6F96-5EF7-4279-8AD9-56276FF5671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400"/>
          </a:xfrm>
          <a:prstGeom prst="rect">
            <a:avLst/>
          </a:prstGeom>
          <a:ln w="0">
            <a:noFill/>
          </a:ln>
        </p:spPr>
      </p:sp>
      <p:sp>
        <p:nvSpPr>
          <p:cNvPr id="65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1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BD1434C-75E6-4411-ACB4-58BF3D218C8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65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4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144A292-D9B1-4A0E-A877-E116B47B80E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65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7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DFDF93B-5B74-4318-8149-E439E8AE016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65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0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158103A-57A9-42B2-BA8B-DC16CBD0837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66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3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F35C292-71C0-4539-9F59-F1D47D57261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6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6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B363F6A-6854-4DCF-80CD-29F33D20753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66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9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FFFB530-FA60-4719-83C2-00474110848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67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2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0F153BF-C7D6-4D0D-8E25-D4D55E096FA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67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5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498F4D5-C5C1-43F0-ABC9-31566D1F7B5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67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8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9D88B7C-D38D-492D-A6FE-E75F1A0DFFA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68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1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ACF9195-777B-48CD-9874-7478A6FC6BE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68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4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4E036EC-BC03-4306-9370-43CA99E2608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68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7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75AD067-0FCF-47D1-985C-6D90C404FDD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68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0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9EC97D8-DCFC-45CC-8710-FF3243017F2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69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3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67BBFFA-CD58-4A87-8A0F-D96267E3A4B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69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6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2F3D5B2-C3AB-4842-BFE7-3FCE68DA206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69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9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F63E815-E105-43B5-B789-B499C427057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70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2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F8C6783-14A1-4AC4-8BEC-C5847615FE1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70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5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D6DCB72-7241-42F9-9CA5-18EA70342ED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70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8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4EB7C7C-F40F-4823-8A77-F9DA07F57F7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71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1" name="PlaceHolder 3"/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EEB8051-D8B4-4F77-A837-02405DE414C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71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4" name="PlaceHolder 3"/>
          <p:cNvSpPr>
            <a:spLocks noGrp="1"/>
          </p:cNvSpPr>
          <p:nvPr>
            <p:ph type="sldNum" idx="32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4C7E060-B293-4886-B00E-F86966952F1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71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7" name="PlaceHolder 3"/>
          <p:cNvSpPr>
            <a:spLocks noGrp="1"/>
          </p:cNvSpPr>
          <p:nvPr>
            <p:ph type="sldNum" idx="33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78114F5-9AFA-4911-A070-AC8E72057CD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71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0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C17C5CE-4C3A-477F-9407-025E73158EB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72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3" name="PlaceHolder 3"/>
          <p:cNvSpPr>
            <a:spLocks noGrp="1"/>
          </p:cNvSpPr>
          <p:nvPr>
            <p:ph type="sldNum" idx="35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1A101FA-C8DE-4A04-AEBC-876828A89B6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72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6" name="PlaceHolder 3"/>
          <p:cNvSpPr>
            <a:spLocks noGrp="1"/>
          </p:cNvSpPr>
          <p:nvPr>
            <p:ph type="sldNum" idx="36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FC8FA80-824B-4D6B-A57F-F77B53FA4CE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72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9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139CCA9-ECA9-4B0A-86FB-9DD49DD2B0B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73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2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F7B3032-541B-4898-AD52-5AE6D21A9D3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73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5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CF390CD-C5BF-456F-81B5-95F98C9F817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73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8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11D91D4-E3C1-4073-84F7-A6A8ED68F57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74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1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4F0B2AD-FC00-4246-BAD1-F33B241C8F0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74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4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5B593B2-6717-450D-A320-330D74D8A66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74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7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C7B9E8E-D92D-4B54-BE62-4F11B2D048F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74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0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E08A3FE-DAB3-4F29-A05A-49AACBEE0D5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75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3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F2B3AC4-48CE-490A-AD03-9ABB1920DBE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75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6" name="PlaceHolder 3"/>
          <p:cNvSpPr>
            <a:spLocks noGrp="1"/>
          </p:cNvSpPr>
          <p:nvPr>
            <p:ph type="sldNum" idx="46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4CF63EC-CCD5-4075-AF4E-13EE8A7D49E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75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9" name="PlaceHolder 3"/>
          <p:cNvSpPr>
            <a:spLocks noGrp="1"/>
          </p:cNvSpPr>
          <p:nvPr>
            <p:ph type="sldNum" idx="47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245CC7F-F7D8-4AAC-B5D8-ABE8A423E46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76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2" name="PlaceHolder 3"/>
          <p:cNvSpPr>
            <a:spLocks noGrp="1"/>
          </p:cNvSpPr>
          <p:nvPr>
            <p:ph type="sldNum" idx="48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1BC44A4-3973-4E93-A23D-4DA92BB0D6A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76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5" name="PlaceHolder 3"/>
          <p:cNvSpPr>
            <a:spLocks noGrp="1"/>
          </p:cNvSpPr>
          <p:nvPr>
            <p:ph type="sldNum" idx="49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8A21FD3-8D7A-47E3-A572-36CD6BA03C0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76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8" name="PlaceHolder 3"/>
          <p:cNvSpPr>
            <a:spLocks noGrp="1"/>
          </p:cNvSpPr>
          <p:nvPr>
            <p:ph type="sldNum" idx="50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2BFDC2C-72FD-4352-B6DC-77E23C8E43A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77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1" name="PlaceHolder 3"/>
          <p:cNvSpPr>
            <a:spLocks noGrp="1"/>
          </p:cNvSpPr>
          <p:nvPr>
            <p:ph type="sldNum" idx="51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CC3B6ED-F11D-465D-BB04-8CD53CDBA66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7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4" name="PlaceHolder 3"/>
          <p:cNvSpPr>
            <a:spLocks noGrp="1"/>
          </p:cNvSpPr>
          <p:nvPr>
            <p:ph type="sldNum" idx="52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3BBB352-0F22-48BB-BD01-CD3E9A6587E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7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7" name="PlaceHolder 3"/>
          <p:cNvSpPr>
            <a:spLocks noGrp="1"/>
          </p:cNvSpPr>
          <p:nvPr>
            <p:ph type="sldNum" idx="53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F9AA75F-FAD7-4408-A0F6-EEACB649356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indent="-3240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2.png"/><Relationship Id="rId3" Type="http://schemas.openxmlformats.org/officeDocument/2006/relationships/image" Target="../media/image4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7.png"/><Relationship Id="rId3" Type="http://schemas.openxmlformats.org/officeDocument/2006/relationships/image" Target="../media/image7.png"/><Relationship Id="rId4" Type="http://schemas.openxmlformats.org/officeDocument/2006/relationships/image" Target="../media/image7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image" Target="../media/image18.png"/><Relationship Id="rId3" Type="http://schemas.openxmlformats.org/officeDocument/2006/relationships/image" Target="../media/image20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7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8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image" Target="../media/image20.png"/><Relationship Id="rId3" Type="http://schemas.openxmlformats.org/officeDocument/2006/relationships/image" Target="../media/image4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8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image" Target="../media/image2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image" Target="../media/image2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28.png"/><Relationship Id="rId3" Type="http://schemas.openxmlformats.org/officeDocument/2006/relationships/image" Target="../media/image28.png"/><Relationship Id="rId4" Type="http://schemas.openxmlformats.org/officeDocument/2006/relationships/image" Target="../media/image28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4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28.png"/><Relationship Id="rId3" Type="http://schemas.openxmlformats.org/officeDocument/2006/relationships/image" Target="../media/image28.png"/><Relationship Id="rId4" Type="http://schemas.openxmlformats.org/officeDocument/2006/relationships/image" Target="../media/image28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5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28.png"/><Relationship Id="rId3" Type="http://schemas.openxmlformats.org/officeDocument/2006/relationships/image" Target="../media/image28.png"/><Relationship Id="rId4" Type="http://schemas.openxmlformats.org/officeDocument/2006/relationships/image" Target="../media/image28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6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5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1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image" Target="../media/image2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-2286000" y="3657600"/>
            <a:ext cx="6398640" cy="63986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8229600" y="-2743200"/>
            <a:ext cx="6398640" cy="63986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Shape 2"/>
          <p:cNvSpPr/>
          <p:nvPr/>
        </p:nvSpPr>
        <p:spPr>
          <a:xfrm>
            <a:off x="5501520" y="1417320"/>
            <a:ext cx="1186560" cy="118656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" name="Image 0" descr="/home/claude/work/icons/FaCubes.png"/>
          <p:cNvPicPr/>
          <p:nvPr/>
        </p:nvPicPr>
        <p:blipFill>
          <a:blip r:embed="rId1"/>
          <a:stretch/>
        </p:blipFill>
        <p:spPr>
          <a:xfrm>
            <a:off x="5803200" y="1710000"/>
            <a:ext cx="583200" cy="58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" name="Text 3"/>
          <p:cNvSpPr/>
          <p:nvPr/>
        </p:nvSpPr>
        <p:spPr>
          <a:xfrm>
            <a:off x="914400" y="2880360"/>
            <a:ext cx="10360800" cy="91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Object-Oriented Programming</a:t>
            </a:r>
            <a:endParaRPr lang="en-US" sz="4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4"/>
          <p:cNvSpPr/>
          <p:nvPr/>
        </p:nvSpPr>
        <p:spPr>
          <a:xfrm>
            <a:off x="1554480" y="3794760"/>
            <a:ext cx="908064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Classes, Objects &amp; the Four Pillars — Encapsulation, Abstraction, Inheritance, Polymorphism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5"/>
          <p:cNvSpPr/>
          <p:nvPr/>
        </p:nvSpPr>
        <p:spPr>
          <a:xfrm>
            <a:off x="914400" y="4480560"/>
            <a:ext cx="1036080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Session 10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6"/>
          <p:cNvSpPr/>
          <p:nvPr/>
        </p:nvSpPr>
        <p:spPr>
          <a:xfrm>
            <a:off x="11094480" y="6492240"/>
            <a:ext cx="54648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0"/>
          <p:cNvSpPr/>
          <p:nvPr/>
        </p:nvSpPr>
        <p:spPr>
          <a:xfrm>
            <a:off x="548640" y="457200"/>
            <a:ext cx="381960" cy="38196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" name="Image 0" descr="/home/claude/work/icons/FaListUl.png"/>
          <p:cNvPicPr/>
          <p:nvPr/>
        </p:nvPicPr>
        <p:blipFill>
          <a:blip r:embed="rId1"/>
          <a:stretch/>
        </p:blipFill>
        <p:spPr>
          <a:xfrm>
            <a:off x="631080" y="539640"/>
            <a:ext cx="217440" cy="217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" name="Text 1"/>
          <p:cNvSpPr/>
          <p:nvPr/>
        </p:nvSpPr>
        <p:spPr>
          <a:xfrm>
            <a:off x="1097280" y="420480"/>
            <a:ext cx="1054368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What We're Covering Today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Shape 2"/>
          <p:cNvSpPr/>
          <p:nvPr/>
        </p:nvSpPr>
        <p:spPr>
          <a:xfrm>
            <a:off x="548640" y="1396080"/>
            <a:ext cx="308880" cy="3088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" name="Image 1" descr="/home/claude/work/icons/FaSitemap.png"/>
          <p:cNvPicPr/>
          <p:nvPr/>
        </p:nvPicPr>
        <p:blipFill>
          <a:blip r:embed="rId2"/>
          <a:stretch/>
        </p:blipFill>
        <p:spPr>
          <a:xfrm>
            <a:off x="617040" y="1464480"/>
            <a:ext cx="172080" cy="172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" name="Text 3"/>
          <p:cNvSpPr/>
          <p:nvPr/>
        </p:nvSpPr>
        <p:spPr>
          <a:xfrm>
            <a:off x="1060560" y="1234440"/>
            <a:ext cx="10580040" cy="63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Why OOP exists — the shift from separate data and functions to bundled objects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4"/>
          <p:cNvSpPr/>
          <p:nvPr/>
        </p:nvSpPr>
        <p:spPr>
          <a:xfrm>
            <a:off x="548640" y="2030400"/>
            <a:ext cx="308880" cy="3088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" name="Image 2" descr="/home/claude/work/icons/FaCube.png"/>
          <p:cNvPicPr/>
          <p:nvPr/>
        </p:nvPicPr>
        <p:blipFill>
          <a:blip r:embed="rId3"/>
          <a:stretch/>
        </p:blipFill>
        <p:spPr>
          <a:xfrm>
            <a:off x="617040" y="2098800"/>
            <a:ext cx="172080" cy="172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" name="Text 5"/>
          <p:cNvSpPr/>
          <p:nvPr/>
        </p:nvSpPr>
        <p:spPr>
          <a:xfrm>
            <a:off x="1060560" y="1868760"/>
            <a:ext cx="10580040" cy="63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Classes and objects — __init__, self, attributes, and methods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Shape 6"/>
          <p:cNvSpPr/>
          <p:nvPr/>
        </p:nvSpPr>
        <p:spPr>
          <a:xfrm>
            <a:off x="548640" y="2665080"/>
            <a:ext cx="308880" cy="3088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8" name="Image 3" descr="/home/claude/work/icons/FaUserShield.png"/>
          <p:cNvPicPr/>
          <p:nvPr/>
        </p:nvPicPr>
        <p:blipFill>
          <a:blip r:embed="rId4"/>
          <a:stretch/>
        </p:blipFill>
        <p:spPr>
          <a:xfrm>
            <a:off x="617040" y="2733480"/>
            <a:ext cx="172080" cy="172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" name="Text 7"/>
          <p:cNvSpPr/>
          <p:nvPr/>
        </p:nvSpPr>
        <p:spPr>
          <a:xfrm>
            <a:off x="1060560" y="2503080"/>
            <a:ext cx="10580040" cy="63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Encapsulation — controlling access with naming conventions and @property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Shape 8"/>
          <p:cNvSpPr/>
          <p:nvPr/>
        </p:nvSpPr>
        <p:spPr>
          <a:xfrm>
            <a:off x="548640" y="3299400"/>
            <a:ext cx="308880" cy="3088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1" name="Image 4" descr="/home/claude/work/icons/FaTheaterMasks.png"/>
          <p:cNvPicPr/>
          <p:nvPr/>
        </p:nvPicPr>
        <p:blipFill>
          <a:blip r:embed="rId5"/>
          <a:stretch/>
        </p:blipFill>
        <p:spPr>
          <a:xfrm>
            <a:off x="617040" y="3367800"/>
            <a:ext cx="172080" cy="172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" name="Text 9"/>
          <p:cNvSpPr/>
          <p:nvPr/>
        </p:nvSpPr>
        <p:spPr>
          <a:xfrm>
            <a:off x="1060560" y="3137400"/>
            <a:ext cx="10580040" cy="63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Abstraction — hiding complexity behind a simple interface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Shape 10"/>
          <p:cNvSpPr/>
          <p:nvPr/>
        </p:nvSpPr>
        <p:spPr>
          <a:xfrm>
            <a:off x="548640" y="3933720"/>
            <a:ext cx="308880" cy="3088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4" name="Image 5" descr="/home/claude/work/icons/FaDna.png"/>
          <p:cNvPicPr/>
          <p:nvPr/>
        </p:nvPicPr>
        <p:blipFill>
          <a:blip r:embed="rId6"/>
          <a:stretch/>
        </p:blipFill>
        <p:spPr>
          <a:xfrm>
            <a:off x="617040" y="4002120"/>
            <a:ext cx="172080" cy="172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" name="Text 11"/>
          <p:cNvSpPr/>
          <p:nvPr/>
        </p:nvSpPr>
        <p:spPr>
          <a:xfrm>
            <a:off x="1060560" y="3772080"/>
            <a:ext cx="10580040" cy="63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Inheritance — building new classes from existing ones, and super()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Shape 12"/>
          <p:cNvSpPr/>
          <p:nvPr/>
        </p:nvSpPr>
        <p:spPr>
          <a:xfrm>
            <a:off x="548640" y="4568040"/>
            <a:ext cx="308880" cy="3088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7" name="Image 6" descr="/home/claude/work/icons/FaRandom.png"/>
          <p:cNvPicPr/>
          <p:nvPr/>
        </p:nvPicPr>
        <p:blipFill>
          <a:blip r:embed="rId7"/>
          <a:stretch/>
        </p:blipFill>
        <p:spPr>
          <a:xfrm>
            <a:off x="617040" y="4636440"/>
            <a:ext cx="172080" cy="172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" name="Text 13"/>
          <p:cNvSpPr/>
          <p:nvPr/>
        </p:nvSpPr>
        <p:spPr>
          <a:xfrm>
            <a:off x="1060560" y="4406400"/>
            <a:ext cx="10580040" cy="63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Polymorphism — one interface, many behaviors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Shape 14"/>
          <p:cNvSpPr/>
          <p:nvPr/>
        </p:nvSpPr>
        <p:spPr>
          <a:xfrm>
            <a:off x="548640" y="5202360"/>
            <a:ext cx="308880" cy="3088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0" name="Image 7" descr="/home/claude/work/icons/FaCode.png"/>
          <p:cNvPicPr/>
          <p:nvPr/>
        </p:nvPicPr>
        <p:blipFill>
          <a:blip r:embed="rId8"/>
          <a:stretch/>
        </p:blipFill>
        <p:spPr>
          <a:xfrm>
            <a:off x="617040" y="5270760"/>
            <a:ext cx="172080" cy="172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" name="Text 15"/>
          <p:cNvSpPr/>
          <p:nvPr/>
        </p:nvSpPr>
        <p:spPr>
          <a:xfrm>
            <a:off x="1060560" y="5040720"/>
            <a:ext cx="10580040" cy="63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Python-specific details — dunder methods, classmethod/staticmethod, MRO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16"/>
          <p:cNvSpPr/>
          <p:nvPr/>
        </p:nvSpPr>
        <p:spPr>
          <a:xfrm>
            <a:off x="548640" y="5836680"/>
            <a:ext cx="308880" cy="3088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3" name="Image 8" descr="/home/claude/work/icons/FaPuzzlePiece.png"/>
          <p:cNvPicPr/>
          <p:nvPr/>
        </p:nvPicPr>
        <p:blipFill>
          <a:blip r:embed="rId9"/>
          <a:stretch/>
        </p:blipFill>
        <p:spPr>
          <a:xfrm>
            <a:off x="617040" y="5905080"/>
            <a:ext cx="172080" cy="172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" name="Text 17"/>
          <p:cNvSpPr/>
          <p:nvPr/>
        </p:nvSpPr>
        <p:spPr>
          <a:xfrm>
            <a:off x="1060560" y="5675040"/>
            <a:ext cx="10580040" cy="63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Today's tasks and two mini projects combining everything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18"/>
          <p:cNvSpPr/>
          <p:nvPr/>
        </p:nvSpPr>
        <p:spPr>
          <a:xfrm>
            <a:off x="548640" y="6510600"/>
            <a:ext cx="54842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19"/>
          <p:cNvSpPr/>
          <p:nvPr/>
        </p:nvSpPr>
        <p:spPr>
          <a:xfrm>
            <a:off x="11094480" y="6510600"/>
            <a:ext cx="54648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Shape 0"/>
          <p:cNvSpPr/>
          <p:nvPr/>
        </p:nvSpPr>
        <p:spPr>
          <a:xfrm>
            <a:off x="-2286000" y="3657600"/>
            <a:ext cx="6398640" cy="63986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" name="Shape 1"/>
          <p:cNvSpPr/>
          <p:nvPr/>
        </p:nvSpPr>
        <p:spPr>
          <a:xfrm>
            <a:off x="8229600" y="-2743200"/>
            <a:ext cx="6398640" cy="63986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" name="Shape 2"/>
          <p:cNvSpPr/>
          <p:nvPr/>
        </p:nvSpPr>
        <p:spPr>
          <a:xfrm>
            <a:off x="5638680" y="868680"/>
            <a:ext cx="912240" cy="91224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0" name="Image 0" descr="/home/claude/work/icons/FaSitemap.png"/>
          <p:cNvPicPr/>
          <p:nvPr/>
        </p:nvPicPr>
        <p:blipFill>
          <a:blip r:embed="rId1"/>
          <a:stretch/>
        </p:blipFill>
        <p:spPr>
          <a:xfrm>
            <a:off x="5876280" y="1097280"/>
            <a:ext cx="436680" cy="436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" name="Text 3"/>
          <p:cNvSpPr/>
          <p:nvPr/>
        </p:nvSpPr>
        <p:spPr>
          <a:xfrm>
            <a:off x="914400" y="2057400"/>
            <a:ext cx="1036080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pc="300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4"/>
          <p:cNvSpPr/>
          <p:nvPr/>
        </p:nvSpPr>
        <p:spPr>
          <a:xfrm>
            <a:off x="1188720" y="2441520"/>
            <a:ext cx="9812160" cy="100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Why Object-Oriented Programming?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5"/>
          <p:cNvSpPr/>
          <p:nvPr/>
        </p:nvSpPr>
        <p:spPr>
          <a:xfrm>
            <a:off x="1920240" y="3630240"/>
            <a:ext cx="83491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Every program you’ve written so far kept its data and its logic separate. OOP bundles them together.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6"/>
          <p:cNvSpPr/>
          <p:nvPr/>
        </p:nvSpPr>
        <p:spPr>
          <a:xfrm>
            <a:off x="11094480" y="6492240"/>
            <a:ext cx="54648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0"/>
          <p:cNvSpPr/>
          <p:nvPr/>
        </p:nvSpPr>
        <p:spPr>
          <a:xfrm>
            <a:off x="548640" y="457200"/>
            <a:ext cx="381960" cy="38196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6" name="Image 0" descr="/home/claude/work/icons/FaCubes.png"/>
          <p:cNvPicPr/>
          <p:nvPr/>
        </p:nvPicPr>
        <p:blipFill>
          <a:blip r:embed="rId1"/>
          <a:stretch/>
        </p:blipFill>
        <p:spPr>
          <a:xfrm>
            <a:off x="631080" y="539640"/>
            <a:ext cx="217440" cy="217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" name="Text 1"/>
          <p:cNvSpPr/>
          <p:nvPr/>
        </p:nvSpPr>
        <p:spPr>
          <a:xfrm>
            <a:off x="1097280" y="420480"/>
            <a:ext cx="1054368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What Is OOP, Really?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Shape 2"/>
          <p:cNvSpPr/>
          <p:nvPr/>
        </p:nvSpPr>
        <p:spPr>
          <a:xfrm>
            <a:off x="548640" y="1234440"/>
            <a:ext cx="3243960" cy="5118480"/>
          </a:xfrm>
          <a:prstGeom prst="roundRect">
            <a:avLst>
              <a:gd name="adj" fmla="val 3380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Shape 3"/>
          <p:cNvSpPr/>
          <p:nvPr/>
        </p:nvSpPr>
        <p:spPr>
          <a:xfrm>
            <a:off x="1645920" y="1737360"/>
            <a:ext cx="1049400" cy="10494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0" name="Image 1" descr="/home/claude/work/icons/FaCubes.png"/>
          <p:cNvPicPr/>
          <p:nvPr/>
        </p:nvPicPr>
        <p:blipFill>
          <a:blip r:embed="rId2"/>
          <a:stretch/>
        </p:blipFill>
        <p:spPr>
          <a:xfrm>
            <a:off x="1906560" y="2002680"/>
            <a:ext cx="528120" cy="528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1" name="Text 4"/>
          <p:cNvSpPr/>
          <p:nvPr/>
        </p:nvSpPr>
        <p:spPr>
          <a:xfrm>
            <a:off x="731520" y="3017520"/>
            <a:ext cx="2878200" cy="306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Data +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behavior,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bundled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5"/>
          <p:cNvSpPr/>
          <p:nvPr/>
        </p:nvSpPr>
        <p:spPr>
          <a:xfrm>
            <a:off x="4206240" y="1280160"/>
            <a:ext cx="7434720" cy="502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2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Object-oriented programming organizes code around objects — self-contained units that bundle data (attributes) together with the functions that act on that data (methods)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2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Up to now, a "dog" in your code was just a dictionary, and bark() was a separate function you had to remember to call correctly, on the right dictionary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2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In OOP, a Dog object carries its own data and its own behavior together — dog.bark() instead of bark(dog_dict)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2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This isn’t a new language feature — it’s a different way of organizing the same logic, and it’s how almost every large, real-world codebase is structured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6"/>
          <p:cNvSpPr/>
          <p:nvPr/>
        </p:nvSpPr>
        <p:spPr>
          <a:xfrm>
            <a:off x="548640" y="6510600"/>
            <a:ext cx="54842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7"/>
          <p:cNvSpPr/>
          <p:nvPr/>
        </p:nvSpPr>
        <p:spPr>
          <a:xfrm>
            <a:off x="11094480" y="6510600"/>
            <a:ext cx="54648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hape 0"/>
          <p:cNvSpPr/>
          <p:nvPr/>
        </p:nvSpPr>
        <p:spPr>
          <a:xfrm>
            <a:off x="548640" y="457200"/>
            <a:ext cx="381960" cy="38196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6" name="Image 0" descr="/home/claude/work/icons/FaBalanceScale.png"/>
          <p:cNvPicPr/>
          <p:nvPr/>
        </p:nvPicPr>
        <p:blipFill>
          <a:blip r:embed="rId1"/>
          <a:stretch/>
        </p:blipFill>
        <p:spPr>
          <a:xfrm>
            <a:off x="631080" y="539640"/>
            <a:ext cx="217440" cy="217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7" name="Text 1"/>
          <p:cNvSpPr/>
          <p:nvPr/>
        </p:nvSpPr>
        <p:spPr>
          <a:xfrm>
            <a:off x="1097280" y="420480"/>
            <a:ext cx="1054368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Procedural vs. Object-Oriented — The Same Problem, Two Ways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Shape 2"/>
          <p:cNvSpPr/>
          <p:nvPr/>
        </p:nvSpPr>
        <p:spPr>
          <a:xfrm>
            <a:off x="548640" y="1234440"/>
            <a:ext cx="5362200" cy="5118480"/>
          </a:xfrm>
          <a:prstGeom prst="roundRect">
            <a:avLst>
              <a:gd name="adj" fmla="val 1786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Shape 3"/>
          <p:cNvSpPr/>
          <p:nvPr/>
        </p:nvSpPr>
        <p:spPr>
          <a:xfrm>
            <a:off x="822960" y="1508760"/>
            <a:ext cx="455040" cy="4550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0" name="Image 1" descr="/home/claude/work/icons/FaFileAlt.png"/>
          <p:cNvPicPr/>
          <p:nvPr/>
        </p:nvPicPr>
        <p:blipFill>
          <a:blip r:embed="rId2"/>
          <a:stretch/>
        </p:blipFill>
        <p:spPr>
          <a:xfrm>
            <a:off x="923400" y="1609200"/>
            <a:ext cx="253800" cy="253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1" name="Text 4"/>
          <p:cNvSpPr/>
          <p:nvPr/>
        </p:nvSpPr>
        <p:spPr>
          <a:xfrm>
            <a:off x="1444680" y="1508760"/>
            <a:ext cx="428328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What You’ve Been Doing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5"/>
          <p:cNvSpPr/>
          <p:nvPr/>
        </p:nvSpPr>
        <p:spPr>
          <a:xfrm>
            <a:off x="841320" y="2194560"/>
            <a:ext cx="4776840" cy="392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 dictionary holds the data: dog = {"name": "Rex", "energy": 100}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 separate function operates on it: def bark(dog): ...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Nothing stops another part of the code from passing the wrong dictionary into bark()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As the program grows, data and the functions that use it drift further apart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Shape 6"/>
          <p:cNvSpPr/>
          <p:nvPr/>
        </p:nvSpPr>
        <p:spPr>
          <a:xfrm>
            <a:off x="6278760" y="1234440"/>
            <a:ext cx="5362200" cy="5118480"/>
          </a:xfrm>
          <a:prstGeom prst="roundRect">
            <a:avLst>
              <a:gd name="adj" fmla="val 1786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Shape 7"/>
          <p:cNvSpPr/>
          <p:nvPr/>
        </p:nvSpPr>
        <p:spPr>
          <a:xfrm>
            <a:off x="6553080" y="1508760"/>
            <a:ext cx="455040" cy="45504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5" name="Image 2" descr="/home/claude/work/icons/FaCube.png"/>
          <p:cNvPicPr/>
          <p:nvPr/>
        </p:nvPicPr>
        <p:blipFill>
          <a:blip r:embed="rId3"/>
          <a:stretch/>
        </p:blipFill>
        <p:spPr>
          <a:xfrm>
            <a:off x="6653520" y="1609200"/>
            <a:ext cx="253800" cy="253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6" name="Text 8"/>
          <p:cNvSpPr/>
          <p:nvPr/>
        </p:nvSpPr>
        <p:spPr>
          <a:xfrm>
            <a:off x="7174800" y="1508760"/>
            <a:ext cx="428328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The OOP Way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9"/>
          <p:cNvSpPr/>
          <p:nvPr/>
        </p:nvSpPr>
        <p:spPr>
          <a:xfrm>
            <a:off x="6571440" y="2194560"/>
            <a:ext cx="4776840" cy="392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 class defines both the data and the behavior together, in one place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rex = Dog("Rex", 100) creates an object that owns its own data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rex.bark() can only ever act on rex’s own data — there’s no dictionary to mix up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Data and behavior stay physically next to each other as the program grows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10"/>
          <p:cNvSpPr/>
          <p:nvPr/>
        </p:nvSpPr>
        <p:spPr>
          <a:xfrm>
            <a:off x="548640" y="6510600"/>
            <a:ext cx="54842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11"/>
          <p:cNvSpPr/>
          <p:nvPr/>
        </p:nvSpPr>
        <p:spPr>
          <a:xfrm>
            <a:off x="11094480" y="6510600"/>
            <a:ext cx="54648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Shape 0"/>
          <p:cNvSpPr/>
          <p:nvPr/>
        </p:nvSpPr>
        <p:spPr>
          <a:xfrm>
            <a:off x="548640" y="457200"/>
            <a:ext cx="381960" cy="38196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1" name="Image 0" descr="/home/claude/work/icons/FaShapes.png"/>
          <p:cNvPicPr/>
          <p:nvPr/>
        </p:nvPicPr>
        <p:blipFill>
          <a:blip r:embed="rId1"/>
          <a:stretch/>
        </p:blipFill>
        <p:spPr>
          <a:xfrm>
            <a:off x="631080" y="539640"/>
            <a:ext cx="217440" cy="217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2" name="Text 1"/>
          <p:cNvSpPr/>
          <p:nvPr/>
        </p:nvSpPr>
        <p:spPr>
          <a:xfrm>
            <a:off x="1097280" y="420480"/>
            <a:ext cx="1054368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Where You Already See This in the Real World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Shape 2"/>
          <p:cNvSpPr/>
          <p:nvPr/>
        </p:nvSpPr>
        <p:spPr>
          <a:xfrm>
            <a:off x="548640" y="1234440"/>
            <a:ext cx="3482640" cy="5118480"/>
          </a:xfrm>
          <a:prstGeom prst="roundRect">
            <a:avLst>
              <a:gd name="adj" fmla="val 2624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Shape 3"/>
          <p:cNvSpPr/>
          <p:nvPr/>
        </p:nvSpPr>
        <p:spPr>
          <a:xfrm>
            <a:off x="1902240" y="1600200"/>
            <a:ext cx="775080" cy="7750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5" name="Image 1" descr="/home/claude/work/icons/FaCar.png"/>
          <p:cNvPicPr/>
          <p:nvPr/>
        </p:nvPicPr>
        <p:blipFill>
          <a:blip r:embed="rId2"/>
          <a:stretch/>
        </p:blipFill>
        <p:spPr>
          <a:xfrm>
            <a:off x="2099160" y="1792080"/>
            <a:ext cx="381960" cy="381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" name="Text 4"/>
          <p:cNvSpPr/>
          <p:nvPr/>
        </p:nvSpPr>
        <p:spPr>
          <a:xfrm>
            <a:off x="731520" y="2560320"/>
            <a:ext cx="311688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A Car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5"/>
          <p:cNvSpPr/>
          <p:nvPr/>
        </p:nvSpPr>
        <p:spPr>
          <a:xfrm>
            <a:off x="777240" y="2971800"/>
            <a:ext cx="3025440" cy="319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Its data is speed, fuel level, gear. Its behavior is accelerate(), brake(), refuel() — all bundled into one "car" concept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Shape 6"/>
          <p:cNvSpPr/>
          <p:nvPr/>
        </p:nvSpPr>
        <p:spPr>
          <a:xfrm>
            <a:off x="4353480" y="1234440"/>
            <a:ext cx="3482640" cy="5118480"/>
          </a:xfrm>
          <a:prstGeom prst="roundRect">
            <a:avLst>
              <a:gd name="adj" fmla="val 2624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7"/>
          <p:cNvSpPr/>
          <p:nvPr/>
        </p:nvSpPr>
        <p:spPr>
          <a:xfrm>
            <a:off x="5707080" y="1600200"/>
            <a:ext cx="775080" cy="7750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0" name="Image 2" descr="/home/claude/work/icons/FaWallet.png"/>
          <p:cNvPicPr/>
          <p:nvPr/>
        </p:nvPicPr>
        <p:blipFill>
          <a:blip r:embed="rId3"/>
          <a:stretch/>
        </p:blipFill>
        <p:spPr>
          <a:xfrm>
            <a:off x="5904000" y="1792080"/>
            <a:ext cx="381960" cy="381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1" name="Text 8"/>
          <p:cNvSpPr/>
          <p:nvPr/>
        </p:nvSpPr>
        <p:spPr>
          <a:xfrm>
            <a:off x="4536360" y="2560320"/>
            <a:ext cx="311688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A Bank Account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9"/>
          <p:cNvSpPr/>
          <p:nvPr/>
        </p:nvSpPr>
        <p:spPr>
          <a:xfrm>
            <a:off x="4582080" y="2971800"/>
            <a:ext cx="3025440" cy="319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Its data is balance and owner. Its behavior is deposit() and withdraw() — the only way the balance is allowed to change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Shape 10"/>
          <p:cNvSpPr/>
          <p:nvPr/>
        </p:nvSpPr>
        <p:spPr>
          <a:xfrm>
            <a:off x="8158320" y="1234440"/>
            <a:ext cx="3482640" cy="5118480"/>
          </a:xfrm>
          <a:prstGeom prst="roundRect">
            <a:avLst>
              <a:gd name="adj" fmla="val 2624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Shape 11"/>
          <p:cNvSpPr/>
          <p:nvPr/>
        </p:nvSpPr>
        <p:spPr>
          <a:xfrm>
            <a:off x="9511920" y="1600200"/>
            <a:ext cx="775080" cy="775080"/>
          </a:xfrm>
          <a:prstGeom prst="ellipse">
            <a:avLst/>
          </a:prstGeom>
          <a:solidFill>
            <a:srgbClr val="1E4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5" name="Image 3" descr="/home/claude/work/icons/FaGamepad.png"/>
          <p:cNvPicPr/>
          <p:nvPr/>
        </p:nvPicPr>
        <p:blipFill>
          <a:blip r:embed="rId4"/>
          <a:stretch/>
        </p:blipFill>
        <p:spPr>
          <a:xfrm>
            <a:off x="9708480" y="1792080"/>
            <a:ext cx="381960" cy="381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6" name="Text 12"/>
          <p:cNvSpPr/>
          <p:nvPr/>
        </p:nvSpPr>
        <p:spPr>
          <a:xfrm>
            <a:off x="8341200" y="2560320"/>
            <a:ext cx="311688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A Game Character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13"/>
          <p:cNvSpPr/>
          <p:nvPr/>
        </p:nvSpPr>
        <p:spPr>
          <a:xfrm>
            <a:off x="8386920" y="2971800"/>
            <a:ext cx="3025440" cy="319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Its data is health, position, inventory. Its behavior is attack(), move(), heal() — every game engine is built this way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14"/>
          <p:cNvSpPr/>
          <p:nvPr/>
        </p:nvSpPr>
        <p:spPr>
          <a:xfrm>
            <a:off x="548640" y="6510600"/>
            <a:ext cx="54842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15"/>
          <p:cNvSpPr/>
          <p:nvPr/>
        </p:nvSpPr>
        <p:spPr>
          <a:xfrm>
            <a:off x="11094480" y="6510600"/>
            <a:ext cx="54648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6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hape 0"/>
          <p:cNvSpPr/>
          <p:nvPr/>
        </p:nvSpPr>
        <p:spPr>
          <a:xfrm>
            <a:off x="-2286000" y="3657600"/>
            <a:ext cx="6398640" cy="63986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Shape 1"/>
          <p:cNvSpPr/>
          <p:nvPr/>
        </p:nvSpPr>
        <p:spPr>
          <a:xfrm>
            <a:off x="8229600" y="-2743200"/>
            <a:ext cx="6398640" cy="63986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" name="Shape 2"/>
          <p:cNvSpPr/>
          <p:nvPr/>
        </p:nvSpPr>
        <p:spPr>
          <a:xfrm>
            <a:off x="5638680" y="868680"/>
            <a:ext cx="912240" cy="91224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3" name="Image 0" descr="/home/claude/work/icons/FaCube.png"/>
          <p:cNvPicPr/>
          <p:nvPr/>
        </p:nvPicPr>
        <p:blipFill>
          <a:blip r:embed="rId1"/>
          <a:stretch/>
        </p:blipFill>
        <p:spPr>
          <a:xfrm>
            <a:off x="5876280" y="1097280"/>
            <a:ext cx="436680" cy="436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4" name="Text 3"/>
          <p:cNvSpPr/>
          <p:nvPr/>
        </p:nvSpPr>
        <p:spPr>
          <a:xfrm>
            <a:off x="914400" y="2057400"/>
            <a:ext cx="1036080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pc="300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2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4"/>
          <p:cNvSpPr/>
          <p:nvPr/>
        </p:nvSpPr>
        <p:spPr>
          <a:xfrm>
            <a:off x="1188720" y="2441520"/>
            <a:ext cx="9812160" cy="100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Classes &amp; Objects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5"/>
          <p:cNvSpPr/>
          <p:nvPr/>
        </p:nvSpPr>
        <p:spPr>
          <a:xfrm>
            <a:off x="1920240" y="3630240"/>
            <a:ext cx="83491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 class is the blueprint. An object is one specific thing built from that blueprint.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6"/>
          <p:cNvSpPr/>
          <p:nvPr/>
        </p:nvSpPr>
        <p:spPr>
          <a:xfrm>
            <a:off x="11094480" y="6492240"/>
            <a:ext cx="54648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7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Shape 0"/>
          <p:cNvSpPr/>
          <p:nvPr/>
        </p:nvSpPr>
        <p:spPr>
          <a:xfrm>
            <a:off x="548640" y="457200"/>
            <a:ext cx="381960" cy="38196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9" name="Image 0" descr="/home/claude/work/icons/FaCube.png"/>
          <p:cNvPicPr/>
          <p:nvPr/>
        </p:nvPicPr>
        <p:blipFill>
          <a:blip r:embed="rId1"/>
          <a:stretch/>
        </p:blipFill>
        <p:spPr>
          <a:xfrm>
            <a:off x="631080" y="539640"/>
            <a:ext cx="217440" cy="217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0" name="Text 1"/>
          <p:cNvSpPr/>
          <p:nvPr/>
        </p:nvSpPr>
        <p:spPr>
          <a:xfrm>
            <a:off x="1097280" y="420480"/>
            <a:ext cx="1054368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What Is a Class?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Shape 2"/>
          <p:cNvSpPr/>
          <p:nvPr/>
        </p:nvSpPr>
        <p:spPr>
          <a:xfrm>
            <a:off x="548640" y="1234440"/>
            <a:ext cx="3243960" cy="5118480"/>
          </a:xfrm>
          <a:prstGeom prst="roundRect">
            <a:avLst>
              <a:gd name="adj" fmla="val 3380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Shape 3"/>
          <p:cNvSpPr/>
          <p:nvPr/>
        </p:nvSpPr>
        <p:spPr>
          <a:xfrm>
            <a:off x="1645920" y="1737360"/>
            <a:ext cx="1049400" cy="10494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3" name="Image 1" descr="/home/claude/work/icons/FaCube.png"/>
          <p:cNvPicPr/>
          <p:nvPr/>
        </p:nvPicPr>
        <p:blipFill>
          <a:blip r:embed="rId2"/>
          <a:stretch/>
        </p:blipFill>
        <p:spPr>
          <a:xfrm>
            <a:off x="1906560" y="2002680"/>
            <a:ext cx="528120" cy="528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4" name="Text 4"/>
          <p:cNvSpPr/>
          <p:nvPr/>
        </p:nvSpPr>
        <p:spPr>
          <a:xfrm>
            <a:off x="731520" y="3017520"/>
            <a:ext cx="2878200" cy="306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The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blueprint,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not the thing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5"/>
          <p:cNvSpPr/>
          <p:nvPr/>
        </p:nvSpPr>
        <p:spPr>
          <a:xfrm>
            <a:off x="4206240" y="1280160"/>
            <a:ext cx="7434720" cy="502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6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 class is a blueprint — it defines what data and behavior every object built from it will have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6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 blueprint for a house isn’t a house you can live in — a class isn’t something you use directly either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6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An object (also called an instance) is one actual thing built from that blueprint — with its own real values filled in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6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You can build as many objects as you want from one class, and each one is independent of the others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6"/>
          <p:cNvSpPr/>
          <p:nvPr/>
        </p:nvSpPr>
        <p:spPr>
          <a:xfrm>
            <a:off x="548640" y="6510600"/>
            <a:ext cx="54842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7"/>
          <p:cNvSpPr/>
          <p:nvPr/>
        </p:nvSpPr>
        <p:spPr>
          <a:xfrm>
            <a:off x="11094480" y="6510600"/>
            <a:ext cx="54648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8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Shape 0"/>
          <p:cNvSpPr/>
          <p:nvPr/>
        </p:nvSpPr>
        <p:spPr>
          <a:xfrm>
            <a:off x="548640" y="457200"/>
            <a:ext cx="381960" cy="38196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9" name="Image 0" descr="/home/claude/work/icons/FaCube.png"/>
          <p:cNvPicPr/>
          <p:nvPr/>
        </p:nvPicPr>
        <p:blipFill>
          <a:blip r:embed="rId1"/>
          <a:stretch/>
        </p:blipFill>
        <p:spPr>
          <a:xfrm>
            <a:off x="631080" y="539640"/>
            <a:ext cx="217440" cy="217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0" name="Text 1"/>
          <p:cNvSpPr/>
          <p:nvPr/>
        </p:nvSpPr>
        <p:spPr>
          <a:xfrm>
            <a:off x="1097280" y="420480"/>
            <a:ext cx="1054368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Creating a Class and an Object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2"/>
          <p:cNvSpPr/>
          <p:nvPr/>
        </p:nvSpPr>
        <p:spPr>
          <a:xfrm>
            <a:off x="548640" y="1234440"/>
            <a:ext cx="11092320" cy="11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5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class Dog: starts a class definition — by convention, class names are CapitalizedLikeThis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5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Dog() calls the class like a function to create a new object — this is called instantiation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5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type() confirms what you already know — rex really is a Dog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Shape 3"/>
          <p:cNvSpPr/>
          <p:nvPr/>
        </p:nvSpPr>
        <p:spPr>
          <a:xfrm>
            <a:off x="548640" y="2569320"/>
            <a:ext cx="11092320" cy="3783600"/>
          </a:xfrm>
          <a:prstGeom prst="roundRect">
            <a:avLst>
              <a:gd name="adj" fmla="val 1932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4"/>
          <p:cNvSpPr/>
          <p:nvPr/>
        </p:nvSpPr>
        <p:spPr>
          <a:xfrm>
            <a:off x="868680" y="2752200"/>
            <a:ext cx="10452240" cy="341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Dog: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pass    # empty class for now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rex = Dog()      # create an object (instantiate)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milo = Dog()     # a second, independent object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print(type(rex))    # &lt;class '__main__.Dog'&gt;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print(rex is milo)  # False — two separate objects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5"/>
          <p:cNvSpPr/>
          <p:nvPr/>
        </p:nvSpPr>
        <p:spPr>
          <a:xfrm>
            <a:off x="548640" y="6510600"/>
            <a:ext cx="54842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6"/>
          <p:cNvSpPr/>
          <p:nvPr/>
        </p:nvSpPr>
        <p:spPr>
          <a:xfrm>
            <a:off x="11094480" y="6510600"/>
            <a:ext cx="54648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9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Shape 0"/>
          <p:cNvSpPr/>
          <p:nvPr/>
        </p:nvSpPr>
        <p:spPr>
          <a:xfrm>
            <a:off x="548640" y="457200"/>
            <a:ext cx="381960" cy="38196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7" name="Image 0" descr="/home/claude/work/icons/FaKey.png"/>
          <p:cNvPicPr/>
          <p:nvPr/>
        </p:nvPicPr>
        <p:blipFill>
          <a:blip r:embed="rId1"/>
          <a:stretch/>
        </p:blipFill>
        <p:spPr>
          <a:xfrm>
            <a:off x="631080" y="539640"/>
            <a:ext cx="217440" cy="217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8" name="Text 1"/>
          <p:cNvSpPr/>
          <p:nvPr/>
        </p:nvSpPr>
        <p:spPr>
          <a:xfrm>
            <a:off x="1097280" y="420480"/>
            <a:ext cx="1054368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__init__ — The Constructor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2"/>
          <p:cNvSpPr/>
          <p:nvPr/>
        </p:nvSpPr>
        <p:spPr>
          <a:xfrm>
            <a:off x="548640" y="1234440"/>
            <a:ext cx="11092320" cy="11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00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__init__ is a special method that runs automatically every time a new object is created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It’s where you set up the object’s starting data — "construct" its initial state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The double underscores mark it as a dunder method — Python-reserved, called automatically, never called directly. "Dunder" is short for "double underscore"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Shape 3"/>
          <p:cNvSpPr/>
          <p:nvPr/>
        </p:nvSpPr>
        <p:spPr>
          <a:xfrm>
            <a:off x="548640" y="2785320"/>
            <a:ext cx="11092320" cy="3783600"/>
          </a:xfrm>
          <a:prstGeom prst="roundRect">
            <a:avLst>
              <a:gd name="adj" fmla="val 1932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4"/>
          <p:cNvSpPr/>
          <p:nvPr/>
        </p:nvSpPr>
        <p:spPr>
          <a:xfrm>
            <a:off x="868680" y="2752200"/>
            <a:ext cx="10452240" cy="341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Dog: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__init__(self, name, breed):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self.name = name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self.breed = breed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rex = Dog("Rex", "Labrador")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print(rex.name)     # Rex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print(rex.breed)    # Labrador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5"/>
          <p:cNvSpPr/>
          <p:nvPr/>
        </p:nvSpPr>
        <p:spPr>
          <a:xfrm>
            <a:off x="548640" y="6510600"/>
            <a:ext cx="54842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6"/>
          <p:cNvSpPr/>
          <p:nvPr/>
        </p:nvSpPr>
        <p:spPr>
          <a:xfrm>
            <a:off x="11094480" y="6510600"/>
            <a:ext cx="54648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Shape 0"/>
          <p:cNvSpPr/>
          <p:nvPr/>
        </p:nvSpPr>
        <p:spPr>
          <a:xfrm>
            <a:off x="548640" y="457200"/>
            <a:ext cx="381960" cy="38196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5" name="Image 0" descr="/home/claude/work/icons/FaFingerprint.png"/>
          <p:cNvPicPr/>
          <p:nvPr/>
        </p:nvPicPr>
        <p:blipFill>
          <a:blip r:embed="rId1"/>
          <a:stretch/>
        </p:blipFill>
        <p:spPr>
          <a:xfrm>
            <a:off x="631080" y="539640"/>
            <a:ext cx="217440" cy="217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6" name="Text 1"/>
          <p:cNvSpPr/>
          <p:nvPr/>
        </p:nvSpPr>
        <p:spPr>
          <a:xfrm>
            <a:off x="1097280" y="420480"/>
            <a:ext cx="1054368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self — What It Actually Means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2"/>
          <p:cNvSpPr/>
          <p:nvPr/>
        </p:nvSpPr>
        <p:spPr>
          <a:xfrm>
            <a:off x="548640" y="1234440"/>
            <a:ext cx="11092320" cy="148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self refers to the specific object a method is being called on — "this particular dog," not dogs in general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Every instance method needs self as its first parameter — Python passes it automatically, you never pass it yourself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self.name = name inside __init__ literally means "store this value on this specific object"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The name "self" is just a convention (like "args") — what matters is its position as the first parameter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Shape 3"/>
          <p:cNvSpPr/>
          <p:nvPr/>
        </p:nvSpPr>
        <p:spPr>
          <a:xfrm>
            <a:off x="548640" y="2862000"/>
            <a:ext cx="11092320" cy="3490920"/>
          </a:xfrm>
          <a:prstGeom prst="roundRect">
            <a:avLst>
              <a:gd name="adj" fmla="val 209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4"/>
          <p:cNvSpPr/>
          <p:nvPr/>
        </p:nvSpPr>
        <p:spPr>
          <a:xfrm>
            <a:off x="868680" y="3044880"/>
            <a:ext cx="10452240" cy="31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Dog: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__init__(self, name):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self.name = name    # attach to THIS object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bark(self):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print(f"{self.name} says Woof!")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rex = Dog("Rex")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rex.bark()    # Python secretly calls Dog.bark(rex)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8FA89E"/>
                </a:solidFill>
                <a:effectLst/>
                <a:uFillTx/>
                <a:latin typeface="Cantarell"/>
                <a:ea typeface="Consolas"/>
              </a:rPr>
              <a:t># Rex says Woof!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5"/>
          <p:cNvSpPr/>
          <p:nvPr/>
        </p:nvSpPr>
        <p:spPr>
          <a:xfrm>
            <a:off x="548640" y="6510600"/>
            <a:ext cx="54842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6"/>
          <p:cNvSpPr/>
          <p:nvPr/>
        </p:nvSpPr>
        <p:spPr>
          <a:xfrm>
            <a:off x="11094480" y="6510600"/>
            <a:ext cx="54648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11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Shape 0"/>
          <p:cNvSpPr/>
          <p:nvPr/>
        </p:nvSpPr>
        <p:spPr>
          <a:xfrm>
            <a:off x="548640" y="457200"/>
            <a:ext cx="381960" cy="38196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43" name="Image 0" descr="/home/claude/work/icons/FaCube.png"/>
          <p:cNvPicPr/>
          <p:nvPr/>
        </p:nvPicPr>
        <p:blipFill>
          <a:blip r:embed="rId1"/>
          <a:stretch/>
        </p:blipFill>
        <p:spPr>
          <a:xfrm>
            <a:off x="631080" y="539640"/>
            <a:ext cx="217440" cy="217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4" name="Text 1"/>
          <p:cNvSpPr/>
          <p:nvPr/>
        </p:nvSpPr>
        <p:spPr>
          <a:xfrm>
            <a:off x="1097280" y="420480"/>
            <a:ext cx="1054368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A Class Is a Blueprint — Objects Are the Real Things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Shape 2"/>
          <p:cNvSpPr/>
          <p:nvPr/>
        </p:nvSpPr>
        <p:spPr>
          <a:xfrm>
            <a:off x="548640" y="1691640"/>
            <a:ext cx="2923920" cy="2923920"/>
          </a:xfrm>
          <a:prstGeom prst="roundRect">
            <a:avLst>
              <a:gd name="adj" fmla="val 3125"/>
            </a:avLst>
          </a:prstGeom>
          <a:solidFill>
            <a:srgbClr val="13312F"/>
          </a:solidFill>
          <a:ln w="19050">
            <a:solidFill>
              <a:srgbClr val="C98A2B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3"/>
          <p:cNvSpPr/>
          <p:nvPr/>
        </p:nvSpPr>
        <p:spPr>
          <a:xfrm>
            <a:off x="777240" y="1874520"/>
            <a:ext cx="246672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7C588"/>
                </a:solidFill>
                <a:effectLst/>
                <a:uFillTx/>
                <a:latin typeface="Cantarell"/>
                <a:ea typeface="Consolas"/>
              </a:rPr>
              <a:t>class Dog: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4"/>
          <p:cNvSpPr/>
          <p:nvPr/>
        </p:nvSpPr>
        <p:spPr>
          <a:xfrm>
            <a:off x="777240" y="2286000"/>
            <a:ext cx="2466720" cy="210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def __init__(self, name, breed):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self.name = name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self.breed = breed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def bark(self):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print(f"{self.name} says Woof!")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5"/>
          <p:cNvSpPr/>
          <p:nvPr/>
        </p:nvSpPr>
        <p:spPr>
          <a:xfrm>
            <a:off x="548640" y="4727520"/>
            <a:ext cx="292392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99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THE BLUEPRINT — DEFINED ONCE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Shape 6"/>
          <p:cNvSpPr/>
          <p:nvPr/>
        </p:nvSpPr>
        <p:spPr>
          <a:xfrm>
            <a:off x="3474720" y="2057400"/>
            <a:ext cx="914400" cy="1097280"/>
          </a:xfrm>
          <a:prstGeom prst="line">
            <a:avLst/>
          </a:prstGeom>
          <a:ln w="19050">
            <a:solidFill>
              <a:srgbClr val="A9B0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Shape 7"/>
          <p:cNvSpPr/>
          <p:nvPr/>
        </p:nvSpPr>
        <p:spPr>
          <a:xfrm>
            <a:off x="4389120" y="1636920"/>
            <a:ext cx="7251840" cy="839160"/>
          </a:xfrm>
          <a:prstGeom prst="roundRect">
            <a:avLst>
              <a:gd name="adj" fmla="val 8696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Shape 8"/>
          <p:cNvSpPr/>
          <p:nvPr/>
        </p:nvSpPr>
        <p:spPr>
          <a:xfrm>
            <a:off x="4553640" y="1865520"/>
            <a:ext cx="381960" cy="3819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2" name="Image 1" descr="/home/claude/work/icons/FaDna.png"/>
          <p:cNvPicPr/>
          <p:nvPr/>
        </p:nvPicPr>
        <p:blipFill>
          <a:blip r:embed="rId2"/>
          <a:stretch/>
        </p:blipFill>
        <p:spPr>
          <a:xfrm>
            <a:off x="4636080" y="1947600"/>
            <a:ext cx="217440" cy="217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3" name="Text 9"/>
          <p:cNvSpPr/>
          <p:nvPr/>
        </p:nvSpPr>
        <p:spPr>
          <a:xfrm>
            <a:off x="5120640" y="1710000"/>
            <a:ext cx="633744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13312F"/>
                </a:solidFill>
                <a:effectLst/>
                <a:uFillTx/>
                <a:latin typeface="Cantarell"/>
                <a:ea typeface="Consolas"/>
              </a:rPr>
              <a:t>rex = Dog(...)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10"/>
          <p:cNvSpPr/>
          <p:nvPr/>
        </p:nvSpPr>
        <p:spPr>
          <a:xfrm>
            <a:off x="5120640" y="2020680"/>
            <a:ext cx="633744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F4A45"/>
                </a:solidFill>
                <a:effectLst/>
                <a:uFillTx/>
                <a:latin typeface="Cantarell"/>
                <a:ea typeface="Consolas"/>
              </a:rPr>
              <a:t>name = "Rex"   ·   breed = "Labrador"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Shape 11"/>
          <p:cNvSpPr/>
          <p:nvPr/>
        </p:nvSpPr>
        <p:spPr>
          <a:xfrm>
            <a:off x="3474720" y="3154680"/>
            <a:ext cx="914400" cy="360"/>
          </a:xfrm>
          <a:prstGeom prst="line">
            <a:avLst/>
          </a:prstGeom>
          <a:ln w="19050">
            <a:solidFill>
              <a:srgbClr val="A9B0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Shape 12"/>
          <p:cNvSpPr/>
          <p:nvPr/>
        </p:nvSpPr>
        <p:spPr>
          <a:xfrm>
            <a:off x="4389120" y="2734200"/>
            <a:ext cx="7251840" cy="839160"/>
          </a:xfrm>
          <a:prstGeom prst="roundRect">
            <a:avLst>
              <a:gd name="adj" fmla="val 8696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13"/>
          <p:cNvSpPr/>
          <p:nvPr/>
        </p:nvSpPr>
        <p:spPr>
          <a:xfrm>
            <a:off x="4553640" y="2962800"/>
            <a:ext cx="381960" cy="3819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8" name="Image 2" descr="/home/claude/work/icons/FaDna.png"/>
          <p:cNvPicPr/>
          <p:nvPr/>
        </p:nvPicPr>
        <p:blipFill>
          <a:blip r:embed="rId3"/>
          <a:stretch/>
        </p:blipFill>
        <p:spPr>
          <a:xfrm>
            <a:off x="4636080" y="3044880"/>
            <a:ext cx="217440" cy="217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9" name="Text 14"/>
          <p:cNvSpPr/>
          <p:nvPr/>
        </p:nvSpPr>
        <p:spPr>
          <a:xfrm>
            <a:off x="5120640" y="2807280"/>
            <a:ext cx="633744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13312F"/>
                </a:solidFill>
                <a:effectLst/>
                <a:uFillTx/>
                <a:latin typeface="Cantarell"/>
                <a:ea typeface="Consolas"/>
              </a:rPr>
              <a:t>milo = Dog(...)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15"/>
          <p:cNvSpPr/>
          <p:nvPr/>
        </p:nvSpPr>
        <p:spPr>
          <a:xfrm>
            <a:off x="5120640" y="3117960"/>
            <a:ext cx="633744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F4A45"/>
                </a:solidFill>
                <a:effectLst/>
                <a:uFillTx/>
                <a:latin typeface="Cantarell"/>
                <a:ea typeface="Consolas"/>
              </a:rPr>
              <a:t>name = "Milo"   ·   breed = "Beagle"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Shape 16"/>
          <p:cNvSpPr/>
          <p:nvPr/>
        </p:nvSpPr>
        <p:spPr>
          <a:xfrm>
            <a:off x="3474720" y="3154680"/>
            <a:ext cx="914400" cy="1097280"/>
          </a:xfrm>
          <a:prstGeom prst="line">
            <a:avLst/>
          </a:prstGeom>
          <a:ln w="19050">
            <a:solidFill>
              <a:srgbClr val="A9B0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Shape 17"/>
          <p:cNvSpPr/>
          <p:nvPr/>
        </p:nvSpPr>
        <p:spPr>
          <a:xfrm>
            <a:off x="4389120" y="3831480"/>
            <a:ext cx="7251840" cy="839160"/>
          </a:xfrm>
          <a:prstGeom prst="roundRect">
            <a:avLst>
              <a:gd name="adj" fmla="val 8696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Shape 18"/>
          <p:cNvSpPr/>
          <p:nvPr/>
        </p:nvSpPr>
        <p:spPr>
          <a:xfrm>
            <a:off x="4553640" y="4060080"/>
            <a:ext cx="381960" cy="3819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64" name="Image 3" descr="/home/claude/work/icons/FaDna.png"/>
          <p:cNvPicPr/>
          <p:nvPr/>
        </p:nvPicPr>
        <p:blipFill>
          <a:blip r:embed="rId4"/>
          <a:stretch/>
        </p:blipFill>
        <p:spPr>
          <a:xfrm>
            <a:off x="4636080" y="4142160"/>
            <a:ext cx="217440" cy="217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5" name="Text 19"/>
          <p:cNvSpPr/>
          <p:nvPr/>
        </p:nvSpPr>
        <p:spPr>
          <a:xfrm>
            <a:off x="5120640" y="3904560"/>
            <a:ext cx="633744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13312F"/>
                </a:solidFill>
                <a:effectLst/>
                <a:uFillTx/>
                <a:latin typeface="Cantarell"/>
                <a:ea typeface="Consolas"/>
              </a:rPr>
              <a:t>buddy = Dog(...)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20"/>
          <p:cNvSpPr/>
          <p:nvPr/>
        </p:nvSpPr>
        <p:spPr>
          <a:xfrm>
            <a:off x="5120640" y="4215240"/>
            <a:ext cx="633744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F4A45"/>
                </a:solidFill>
                <a:effectLst/>
                <a:uFillTx/>
                <a:latin typeface="Cantarell"/>
                <a:ea typeface="Consolas"/>
              </a:rPr>
              <a:t>name = "Buddy"   ·   breed = "Poodle"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21"/>
          <p:cNvSpPr/>
          <p:nvPr/>
        </p:nvSpPr>
        <p:spPr>
          <a:xfrm>
            <a:off x="548640" y="5897880"/>
            <a:ext cx="1109232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i="1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One class, three completely independent objects — each carries its own data, but shares the same bark() method.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22"/>
          <p:cNvSpPr/>
          <p:nvPr/>
        </p:nvSpPr>
        <p:spPr>
          <a:xfrm>
            <a:off x="548640" y="6510600"/>
            <a:ext cx="54842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23"/>
          <p:cNvSpPr/>
          <p:nvPr/>
        </p:nvSpPr>
        <p:spPr>
          <a:xfrm>
            <a:off x="11094480" y="6510600"/>
            <a:ext cx="54648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12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Shape 0"/>
          <p:cNvSpPr/>
          <p:nvPr/>
        </p:nvSpPr>
        <p:spPr>
          <a:xfrm>
            <a:off x="548640" y="457200"/>
            <a:ext cx="381960" cy="38196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71" name="Image 0" descr="/home/claude/work/icons/FaLayerGroup.png"/>
          <p:cNvPicPr/>
          <p:nvPr/>
        </p:nvPicPr>
        <p:blipFill>
          <a:blip r:embed="rId1"/>
          <a:stretch/>
        </p:blipFill>
        <p:spPr>
          <a:xfrm>
            <a:off x="631080" y="539640"/>
            <a:ext cx="217440" cy="217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2" name="Text 1"/>
          <p:cNvSpPr/>
          <p:nvPr/>
        </p:nvSpPr>
        <p:spPr>
          <a:xfrm>
            <a:off x="1097280" y="420480"/>
            <a:ext cx="1054368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Instance Attributes vs. Class Attributes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Shape 2"/>
          <p:cNvSpPr/>
          <p:nvPr/>
        </p:nvSpPr>
        <p:spPr>
          <a:xfrm>
            <a:off x="548640" y="1234440"/>
            <a:ext cx="5362200" cy="5118480"/>
          </a:xfrm>
          <a:prstGeom prst="roundRect">
            <a:avLst>
              <a:gd name="adj" fmla="val 1786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Shape 3"/>
          <p:cNvSpPr/>
          <p:nvPr/>
        </p:nvSpPr>
        <p:spPr>
          <a:xfrm>
            <a:off x="822960" y="1508760"/>
            <a:ext cx="455040" cy="4550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75" name="Image 1" descr="/home/claude/work/icons/FaFingerprint.png"/>
          <p:cNvPicPr/>
          <p:nvPr/>
        </p:nvPicPr>
        <p:blipFill>
          <a:blip r:embed="rId2"/>
          <a:stretch/>
        </p:blipFill>
        <p:spPr>
          <a:xfrm>
            <a:off x="923400" y="1609200"/>
            <a:ext cx="253800" cy="253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6" name="Text 4"/>
          <p:cNvSpPr/>
          <p:nvPr/>
        </p:nvSpPr>
        <p:spPr>
          <a:xfrm>
            <a:off x="1444680" y="1508760"/>
            <a:ext cx="428328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Instance Attributes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 5"/>
          <p:cNvSpPr/>
          <p:nvPr/>
        </p:nvSpPr>
        <p:spPr>
          <a:xfrm>
            <a:off x="841320" y="2194560"/>
            <a:ext cx="4776840" cy="392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Set inside __init__ using self.name = ...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Belong to one specific object — each object has its own separate copy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This is what you’ll use for almost all object data — name, balance, position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Shape 6"/>
          <p:cNvSpPr/>
          <p:nvPr/>
        </p:nvSpPr>
        <p:spPr>
          <a:xfrm>
            <a:off x="6278760" y="1234440"/>
            <a:ext cx="5362200" cy="5118480"/>
          </a:xfrm>
          <a:prstGeom prst="roundRect">
            <a:avLst>
              <a:gd name="adj" fmla="val 1786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Shape 7"/>
          <p:cNvSpPr/>
          <p:nvPr/>
        </p:nvSpPr>
        <p:spPr>
          <a:xfrm>
            <a:off x="6553080" y="1508760"/>
            <a:ext cx="455040" cy="45504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0" name="Image 2" descr="/home/claude/work/icons/FaUsersCog.png"/>
          <p:cNvPicPr/>
          <p:nvPr/>
        </p:nvPicPr>
        <p:blipFill>
          <a:blip r:embed="rId3"/>
          <a:stretch/>
        </p:blipFill>
        <p:spPr>
          <a:xfrm>
            <a:off x="6653520" y="1609200"/>
            <a:ext cx="253800" cy="253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1" name="Text 8"/>
          <p:cNvSpPr/>
          <p:nvPr/>
        </p:nvSpPr>
        <p:spPr>
          <a:xfrm>
            <a:off x="7174800" y="1508760"/>
            <a:ext cx="428328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Class Attributes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9"/>
          <p:cNvSpPr/>
          <p:nvPr/>
        </p:nvSpPr>
        <p:spPr>
          <a:xfrm>
            <a:off x="6571440" y="2194560"/>
            <a:ext cx="4776840" cy="392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Defined directly inside the class body, outside any method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Shared by every object built from that class — one copy, not one per object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Good for constants or defaults every instance should share, like species = "Canine"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10"/>
          <p:cNvSpPr/>
          <p:nvPr/>
        </p:nvSpPr>
        <p:spPr>
          <a:xfrm>
            <a:off x="548640" y="6510600"/>
            <a:ext cx="54842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11"/>
          <p:cNvSpPr/>
          <p:nvPr/>
        </p:nvSpPr>
        <p:spPr>
          <a:xfrm>
            <a:off x="11094480" y="6510600"/>
            <a:ext cx="54648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13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Shape 0"/>
          <p:cNvSpPr/>
          <p:nvPr/>
        </p:nvSpPr>
        <p:spPr>
          <a:xfrm>
            <a:off x="548640" y="457200"/>
            <a:ext cx="381960" cy="38196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6" name="Image 0" descr="/home/claude/work/icons/FaCube.png"/>
          <p:cNvPicPr/>
          <p:nvPr/>
        </p:nvPicPr>
        <p:blipFill>
          <a:blip r:embed="rId1"/>
          <a:stretch/>
        </p:blipFill>
        <p:spPr>
          <a:xfrm>
            <a:off x="631080" y="539640"/>
            <a:ext cx="217440" cy="217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7" name="Text 1"/>
          <p:cNvSpPr/>
          <p:nvPr/>
        </p:nvSpPr>
        <p:spPr>
          <a:xfrm>
            <a:off x="1097280" y="420480"/>
            <a:ext cx="1054368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Practice Set — Classes &amp; Objects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Shape 2"/>
          <p:cNvSpPr/>
          <p:nvPr/>
        </p:nvSpPr>
        <p:spPr>
          <a:xfrm>
            <a:off x="548640" y="1234440"/>
            <a:ext cx="11092320" cy="5118480"/>
          </a:xfrm>
          <a:prstGeom prst="roundRect">
            <a:avLst>
              <a:gd name="adj" fmla="val 1786"/>
            </a:avLst>
          </a:prstGeom>
          <a:solidFill>
            <a:srgbClr val="E9DEC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3"/>
          <p:cNvSpPr/>
          <p:nvPr/>
        </p:nvSpPr>
        <p:spPr>
          <a:xfrm>
            <a:off x="868680" y="1435680"/>
            <a:ext cx="1045224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Try these yourself first — no code shown, that’s the point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Shape 4"/>
          <p:cNvSpPr/>
          <p:nvPr/>
        </p:nvSpPr>
        <p:spPr>
          <a:xfrm>
            <a:off x="868680" y="2296440"/>
            <a:ext cx="308880" cy="3088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 5"/>
          <p:cNvSpPr/>
          <p:nvPr/>
        </p:nvSpPr>
        <p:spPr>
          <a:xfrm>
            <a:off x="868680" y="2296440"/>
            <a:ext cx="308880" cy="30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6"/>
          <p:cNvSpPr/>
          <p:nvPr/>
        </p:nvSpPr>
        <p:spPr>
          <a:xfrm>
            <a:off x="1408320" y="1920240"/>
            <a:ext cx="9912600" cy="10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Write a Car class with __init__ that sets make, model, and year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Shape 7"/>
          <p:cNvSpPr/>
          <p:nvPr/>
        </p:nvSpPr>
        <p:spPr>
          <a:xfrm>
            <a:off x="868680" y="3359160"/>
            <a:ext cx="308880" cy="3088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8"/>
          <p:cNvSpPr/>
          <p:nvPr/>
        </p:nvSpPr>
        <p:spPr>
          <a:xfrm>
            <a:off x="868680" y="3359160"/>
            <a:ext cx="308880" cy="30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 9"/>
          <p:cNvSpPr/>
          <p:nvPr/>
        </p:nvSpPr>
        <p:spPr>
          <a:xfrm>
            <a:off x="1408320" y="2983320"/>
            <a:ext cx="9912600" cy="10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Add a method describe(self) that prints a sentence using all three attributes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Shape 10"/>
          <p:cNvSpPr/>
          <p:nvPr/>
        </p:nvSpPr>
        <p:spPr>
          <a:xfrm>
            <a:off x="868680" y="4422240"/>
            <a:ext cx="308880" cy="3088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 11"/>
          <p:cNvSpPr/>
          <p:nvPr/>
        </p:nvSpPr>
        <p:spPr>
          <a:xfrm>
            <a:off x="868680" y="4422240"/>
            <a:ext cx="308880" cy="30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12"/>
          <p:cNvSpPr/>
          <p:nvPr/>
        </p:nvSpPr>
        <p:spPr>
          <a:xfrm>
            <a:off x="1408320" y="4046400"/>
            <a:ext cx="9912600" cy="10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Create two Car objects with different data, and call describe() on each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Shape 13"/>
          <p:cNvSpPr/>
          <p:nvPr/>
        </p:nvSpPr>
        <p:spPr>
          <a:xfrm>
            <a:off x="868680" y="5485320"/>
            <a:ext cx="308880" cy="3088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 14"/>
          <p:cNvSpPr/>
          <p:nvPr/>
        </p:nvSpPr>
        <p:spPr>
          <a:xfrm>
            <a:off x="868680" y="5485320"/>
            <a:ext cx="308880" cy="30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 15"/>
          <p:cNvSpPr/>
          <p:nvPr/>
        </p:nvSpPr>
        <p:spPr>
          <a:xfrm>
            <a:off x="1408320" y="5109120"/>
            <a:ext cx="9912600" cy="10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Add a class attribute wheels = 4 shared by every car, and print it from both objects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 16"/>
          <p:cNvSpPr/>
          <p:nvPr/>
        </p:nvSpPr>
        <p:spPr>
          <a:xfrm>
            <a:off x="548640" y="6510600"/>
            <a:ext cx="54842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 17"/>
          <p:cNvSpPr/>
          <p:nvPr/>
        </p:nvSpPr>
        <p:spPr>
          <a:xfrm>
            <a:off x="11094480" y="6510600"/>
            <a:ext cx="54648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14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Shape 0"/>
          <p:cNvSpPr/>
          <p:nvPr/>
        </p:nvSpPr>
        <p:spPr>
          <a:xfrm>
            <a:off x="-2286000" y="3657600"/>
            <a:ext cx="6398640" cy="63986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" name="Shape 1"/>
          <p:cNvSpPr/>
          <p:nvPr/>
        </p:nvSpPr>
        <p:spPr>
          <a:xfrm>
            <a:off x="8229600" y="-2743200"/>
            <a:ext cx="6398640" cy="63986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" name="Shape 2"/>
          <p:cNvSpPr/>
          <p:nvPr/>
        </p:nvSpPr>
        <p:spPr>
          <a:xfrm>
            <a:off x="5638680" y="868680"/>
            <a:ext cx="912240" cy="91224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07" name="Image 0" descr="/home/claude/work/icons/FaShieldAlt.png"/>
          <p:cNvPicPr/>
          <p:nvPr/>
        </p:nvPicPr>
        <p:blipFill>
          <a:blip r:embed="rId1"/>
          <a:stretch/>
        </p:blipFill>
        <p:spPr>
          <a:xfrm>
            <a:off x="5876280" y="1097280"/>
            <a:ext cx="436680" cy="436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8" name="Text 3"/>
          <p:cNvSpPr/>
          <p:nvPr/>
        </p:nvSpPr>
        <p:spPr>
          <a:xfrm>
            <a:off x="914400" y="2057400"/>
            <a:ext cx="1036080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pc="300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3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 4"/>
          <p:cNvSpPr/>
          <p:nvPr/>
        </p:nvSpPr>
        <p:spPr>
          <a:xfrm>
            <a:off x="1188720" y="2441520"/>
            <a:ext cx="9812160" cy="100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The Four Pillars of OOP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 5"/>
          <p:cNvSpPr/>
          <p:nvPr/>
        </p:nvSpPr>
        <p:spPr>
          <a:xfrm>
            <a:off x="1920240" y="3630240"/>
            <a:ext cx="83491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Every object-oriented language, including Python, is built around these four ideas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" name="Text 6"/>
          <p:cNvSpPr/>
          <p:nvPr/>
        </p:nvSpPr>
        <p:spPr>
          <a:xfrm>
            <a:off x="11094480" y="6492240"/>
            <a:ext cx="54648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15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Shape 0"/>
          <p:cNvSpPr/>
          <p:nvPr/>
        </p:nvSpPr>
        <p:spPr>
          <a:xfrm>
            <a:off x="548640" y="457200"/>
            <a:ext cx="381960" cy="38196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3" name="Image 0" descr="/home/claude/work/icons/FaShieldAlt.png"/>
          <p:cNvPicPr/>
          <p:nvPr/>
        </p:nvPicPr>
        <p:blipFill>
          <a:blip r:embed="rId1"/>
          <a:stretch/>
        </p:blipFill>
        <p:spPr>
          <a:xfrm>
            <a:off x="631080" y="539640"/>
            <a:ext cx="217440" cy="217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4" name="Text 1"/>
          <p:cNvSpPr/>
          <p:nvPr/>
        </p:nvSpPr>
        <p:spPr>
          <a:xfrm>
            <a:off x="1097280" y="420480"/>
            <a:ext cx="1054368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The Four Pillars, at a Glance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Shape 2"/>
          <p:cNvSpPr/>
          <p:nvPr/>
        </p:nvSpPr>
        <p:spPr>
          <a:xfrm>
            <a:off x="548640" y="1234440"/>
            <a:ext cx="2531520" cy="5118480"/>
          </a:xfrm>
          <a:prstGeom prst="roundRect">
            <a:avLst>
              <a:gd name="adj" fmla="val 3609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Shape 3"/>
          <p:cNvSpPr/>
          <p:nvPr/>
        </p:nvSpPr>
        <p:spPr>
          <a:xfrm>
            <a:off x="1426680" y="1600200"/>
            <a:ext cx="775080" cy="7750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7" name="Image 1" descr="/home/claude/work/icons/FaUserShield.png"/>
          <p:cNvPicPr/>
          <p:nvPr/>
        </p:nvPicPr>
        <p:blipFill>
          <a:blip r:embed="rId2"/>
          <a:stretch/>
        </p:blipFill>
        <p:spPr>
          <a:xfrm>
            <a:off x="1623240" y="1792080"/>
            <a:ext cx="381960" cy="381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8" name="Text 4"/>
          <p:cNvSpPr/>
          <p:nvPr/>
        </p:nvSpPr>
        <p:spPr>
          <a:xfrm>
            <a:off x="731520" y="2560320"/>
            <a:ext cx="216576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Encapsulation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 5"/>
          <p:cNvSpPr/>
          <p:nvPr/>
        </p:nvSpPr>
        <p:spPr>
          <a:xfrm>
            <a:off x="777240" y="2971800"/>
            <a:ext cx="2074320" cy="319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Bundling data with the methods that protect it, and controlling how outside code can access it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Shape 6"/>
          <p:cNvSpPr/>
          <p:nvPr/>
        </p:nvSpPr>
        <p:spPr>
          <a:xfrm>
            <a:off x="3402360" y="1234440"/>
            <a:ext cx="2531520" cy="5118480"/>
          </a:xfrm>
          <a:prstGeom prst="roundRect">
            <a:avLst>
              <a:gd name="adj" fmla="val 3609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Shape 7"/>
          <p:cNvSpPr/>
          <p:nvPr/>
        </p:nvSpPr>
        <p:spPr>
          <a:xfrm>
            <a:off x="4280400" y="1600200"/>
            <a:ext cx="775080" cy="7750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2" name="Image 2" descr="/home/claude/work/icons/FaTheaterMasks.png"/>
          <p:cNvPicPr/>
          <p:nvPr/>
        </p:nvPicPr>
        <p:blipFill>
          <a:blip r:embed="rId3"/>
          <a:stretch/>
        </p:blipFill>
        <p:spPr>
          <a:xfrm>
            <a:off x="4476960" y="1792080"/>
            <a:ext cx="381960" cy="381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3" name="Text 8"/>
          <p:cNvSpPr/>
          <p:nvPr/>
        </p:nvSpPr>
        <p:spPr>
          <a:xfrm>
            <a:off x="3585240" y="2560320"/>
            <a:ext cx="216576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Abstraction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Text 9"/>
          <p:cNvSpPr/>
          <p:nvPr/>
        </p:nvSpPr>
        <p:spPr>
          <a:xfrm>
            <a:off x="3630960" y="2971800"/>
            <a:ext cx="2074320" cy="319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Hiding complex internal details behind a simple, easy-to-use interface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Shape 10"/>
          <p:cNvSpPr/>
          <p:nvPr/>
        </p:nvSpPr>
        <p:spPr>
          <a:xfrm>
            <a:off x="6255720" y="1234440"/>
            <a:ext cx="2531520" cy="5118480"/>
          </a:xfrm>
          <a:prstGeom prst="roundRect">
            <a:avLst>
              <a:gd name="adj" fmla="val 3609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Shape 11"/>
          <p:cNvSpPr/>
          <p:nvPr/>
        </p:nvSpPr>
        <p:spPr>
          <a:xfrm>
            <a:off x="7134120" y="1600200"/>
            <a:ext cx="775080" cy="775080"/>
          </a:xfrm>
          <a:prstGeom prst="ellipse">
            <a:avLst/>
          </a:prstGeom>
          <a:solidFill>
            <a:srgbClr val="1E4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7" name="Image 3" descr="/home/claude/work/icons/FaDna.png"/>
          <p:cNvPicPr/>
          <p:nvPr/>
        </p:nvPicPr>
        <p:blipFill>
          <a:blip r:embed="rId4"/>
          <a:stretch/>
        </p:blipFill>
        <p:spPr>
          <a:xfrm>
            <a:off x="7330680" y="1792080"/>
            <a:ext cx="381960" cy="381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8" name="Text 12"/>
          <p:cNvSpPr/>
          <p:nvPr/>
        </p:nvSpPr>
        <p:spPr>
          <a:xfrm>
            <a:off x="6438600" y="2560320"/>
            <a:ext cx="216576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Inheritance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 13"/>
          <p:cNvSpPr/>
          <p:nvPr/>
        </p:nvSpPr>
        <p:spPr>
          <a:xfrm>
            <a:off x="6484320" y="2971800"/>
            <a:ext cx="2074320" cy="319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Building new classes on top of existing ones, reusing and extending their behavior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Shape 14"/>
          <p:cNvSpPr/>
          <p:nvPr/>
        </p:nvSpPr>
        <p:spPr>
          <a:xfrm>
            <a:off x="9109440" y="1234440"/>
            <a:ext cx="2531520" cy="5118480"/>
          </a:xfrm>
          <a:prstGeom prst="roundRect">
            <a:avLst>
              <a:gd name="adj" fmla="val 3609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Shape 15"/>
          <p:cNvSpPr/>
          <p:nvPr/>
        </p:nvSpPr>
        <p:spPr>
          <a:xfrm>
            <a:off x="9987480" y="1600200"/>
            <a:ext cx="775080" cy="7750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2" name="Image 4" descr="/home/claude/work/icons/FaRandom.png"/>
          <p:cNvPicPr/>
          <p:nvPr/>
        </p:nvPicPr>
        <p:blipFill>
          <a:blip r:embed="rId5"/>
          <a:stretch/>
        </p:blipFill>
        <p:spPr>
          <a:xfrm>
            <a:off x="10184400" y="1792080"/>
            <a:ext cx="381960" cy="381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3" name="Text 16"/>
          <p:cNvSpPr/>
          <p:nvPr/>
        </p:nvSpPr>
        <p:spPr>
          <a:xfrm>
            <a:off x="9292320" y="2560320"/>
            <a:ext cx="216576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Polymorphism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 17"/>
          <p:cNvSpPr/>
          <p:nvPr/>
        </p:nvSpPr>
        <p:spPr>
          <a:xfrm>
            <a:off x="9338040" y="2971800"/>
            <a:ext cx="2074320" cy="319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Different classes responding to the same method call in their own appropriate way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 18"/>
          <p:cNvSpPr/>
          <p:nvPr/>
        </p:nvSpPr>
        <p:spPr>
          <a:xfrm>
            <a:off x="548640" y="6510600"/>
            <a:ext cx="54842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 19"/>
          <p:cNvSpPr/>
          <p:nvPr/>
        </p:nvSpPr>
        <p:spPr>
          <a:xfrm>
            <a:off x="11094480" y="6510600"/>
            <a:ext cx="54648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16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Shape 0"/>
          <p:cNvSpPr/>
          <p:nvPr/>
        </p:nvSpPr>
        <p:spPr>
          <a:xfrm>
            <a:off x="548640" y="457200"/>
            <a:ext cx="381960" cy="38196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8" name="Image 0" descr="/home/claude/work/icons/FaUserShield.png"/>
          <p:cNvPicPr/>
          <p:nvPr/>
        </p:nvPicPr>
        <p:blipFill>
          <a:blip r:embed="rId1"/>
          <a:stretch/>
        </p:blipFill>
        <p:spPr>
          <a:xfrm>
            <a:off x="631080" y="539640"/>
            <a:ext cx="217440" cy="217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9" name="Text 1"/>
          <p:cNvSpPr/>
          <p:nvPr/>
        </p:nvSpPr>
        <p:spPr>
          <a:xfrm>
            <a:off x="1097280" y="420480"/>
            <a:ext cx="1054368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Pillar 1: Encapsulation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Shape 2"/>
          <p:cNvSpPr/>
          <p:nvPr/>
        </p:nvSpPr>
        <p:spPr>
          <a:xfrm>
            <a:off x="548640" y="1234440"/>
            <a:ext cx="3243960" cy="5118480"/>
          </a:xfrm>
          <a:prstGeom prst="roundRect">
            <a:avLst>
              <a:gd name="adj" fmla="val 3380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Shape 3"/>
          <p:cNvSpPr/>
          <p:nvPr/>
        </p:nvSpPr>
        <p:spPr>
          <a:xfrm>
            <a:off x="1645920" y="1737360"/>
            <a:ext cx="1049400" cy="10494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2" name="Image 1" descr="/home/claude/work/icons/FaUserShield.png"/>
          <p:cNvPicPr/>
          <p:nvPr/>
        </p:nvPicPr>
        <p:blipFill>
          <a:blip r:embed="rId2"/>
          <a:stretch/>
        </p:blipFill>
        <p:spPr>
          <a:xfrm>
            <a:off x="1906560" y="2002680"/>
            <a:ext cx="528120" cy="528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3" name="Text 4"/>
          <p:cNvSpPr/>
          <p:nvPr/>
        </p:nvSpPr>
        <p:spPr>
          <a:xfrm>
            <a:off x="731520" y="3017520"/>
            <a:ext cx="2878200" cy="306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Protect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the data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inside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 5"/>
          <p:cNvSpPr/>
          <p:nvPr/>
        </p:nvSpPr>
        <p:spPr>
          <a:xfrm>
            <a:off x="4206240" y="1280160"/>
            <a:ext cx="7434720" cy="502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1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Encapsulation means bundling data with the methods that operate on it, and restricting direct outside access to that data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1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 bank account shouldn’t let any code just set balance = -500 directly — changes should only happen through controlled methods like withdraw()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1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This protects an object from being put into an invalid or inconsistent state by code elsewhere in the program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1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Python doesn’t enforce this with hard restrictions the way some languages do — it relies on naming conventions and trust, which is a deliberate design choice ("we’re all consenting adults here")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 6"/>
          <p:cNvSpPr/>
          <p:nvPr/>
        </p:nvSpPr>
        <p:spPr>
          <a:xfrm>
            <a:off x="548640" y="6510600"/>
            <a:ext cx="54842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 7"/>
          <p:cNvSpPr/>
          <p:nvPr/>
        </p:nvSpPr>
        <p:spPr>
          <a:xfrm>
            <a:off x="11094480" y="6510600"/>
            <a:ext cx="54648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17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Shape 0"/>
          <p:cNvSpPr/>
          <p:nvPr/>
        </p:nvSpPr>
        <p:spPr>
          <a:xfrm>
            <a:off x="548640" y="457200"/>
            <a:ext cx="381960" cy="38196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8" name="Image 0" descr="/home/claude/work/icons/FaUserShield.png"/>
          <p:cNvPicPr/>
          <p:nvPr/>
        </p:nvPicPr>
        <p:blipFill>
          <a:blip r:embed="rId1"/>
          <a:stretch/>
        </p:blipFill>
        <p:spPr>
          <a:xfrm>
            <a:off x="631080" y="539640"/>
            <a:ext cx="217440" cy="217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9" name="Text 1"/>
          <p:cNvSpPr/>
          <p:nvPr/>
        </p:nvSpPr>
        <p:spPr>
          <a:xfrm>
            <a:off x="1097280" y="420480"/>
            <a:ext cx="1054368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Public, Protected, and Private — By Convention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2"/>
          <p:cNvSpPr/>
          <p:nvPr/>
        </p:nvSpPr>
        <p:spPr>
          <a:xfrm>
            <a:off x="548640" y="1234440"/>
            <a:ext cx="11092320" cy="11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name is public — freely accessible from anywhere, the normal default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_balance (single underscore) is a convention meaning "internal, please don’t touch directly" — Python doesn’t block it, it just signals intent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__pin (double underscore) triggers name mangling — Python renames it internally, making accidental outside access genuinely difficult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Shape 3"/>
          <p:cNvSpPr/>
          <p:nvPr/>
        </p:nvSpPr>
        <p:spPr>
          <a:xfrm>
            <a:off x="548640" y="2569320"/>
            <a:ext cx="11092320" cy="3783600"/>
          </a:xfrm>
          <a:prstGeom prst="roundRect">
            <a:avLst>
              <a:gd name="adj" fmla="val 1932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" name="Text 4"/>
          <p:cNvSpPr/>
          <p:nvPr/>
        </p:nvSpPr>
        <p:spPr>
          <a:xfrm>
            <a:off x="868680" y="2752200"/>
            <a:ext cx="10452240" cy="341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Account: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__init__(self, owner, balance):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self.owner = owner        # public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self._balance = balance   # "internal" by convention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self.__pin = "4471"       # name-mangled, hard to reach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acc = Account("Ahmed", 1000)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acc.owner          # "Ahmed" — fine, it's public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acc._balance       # works, but signals "you shouldn't"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acc.__pin          # AttributeError — mangled to _Account__pin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 5"/>
          <p:cNvSpPr/>
          <p:nvPr/>
        </p:nvSpPr>
        <p:spPr>
          <a:xfrm>
            <a:off x="548640" y="6510600"/>
            <a:ext cx="54842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 6"/>
          <p:cNvSpPr/>
          <p:nvPr/>
        </p:nvSpPr>
        <p:spPr>
          <a:xfrm>
            <a:off x="11094480" y="6510600"/>
            <a:ext cx="54648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18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Shape 0"/>
          <p:cNvSpPr/>
          <p:nvPr/>
        </p:nvSpPr>
        <p:spPr>
          <a:xfrm>
            <a:off x="548640" y="457200"/>
            <a:ext cx="381960" cy="38196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6" name="Image 0" descr="/home/claude/work/icons/FaKey.png"/>
          <p:cNvPicPr/>
          <p:nvPr/>
        </p:nvPicPr>
        <p:blipFill>
          <a:blip r:embed="rId1"/>
          <a:stretch/>
        </p:blipFill>
        <p:spPr>
          <a:xfrm>
            <a:off x="631080" y="539640"/>
            <a:ext cx="217440" cy="217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7" name="Text 1"/>
          <p:cNvSpPr/>
          <p:nvPr/>
        </p:nvSpPr>
        <p:spPr>
          <a:xfrm>
            <a:off x="1097280" y="420480"/>
            <a:ext cx="1054368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@property — Controlled Access, the Python Way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 2"/>
          <p:cNvSpPr/>
          <p:nvPr/>
        </p:nvSpPr>
        <p:spPr>
          <a:xfrm>
            <a:off x="548640" y="1234440"/>
            <a:ext cx="11092320" cy="11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@property turns a method into something that reads like a plain attribute — balance instead of get_balance()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 matching @balance.setter lets you validate any value before it’s allowed to be stored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This is the real, idiomatic way encapsulation is done in Python — clean access on the outside, control on the inside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Shape 3"/>
          <p:cNvSpPr/>
          <p:nvPr/>
        </p:nvSpPr>
        <p:spPr>
          <a:xfrm>
            <a:off x="548640" y="2569320"/>
            <a:ext cx="11092320" cy="3783600"/>
          </a:xfrm>
          <a:prstGeom prst="roundRect">
            <a:avLst>
              <a:gd name="adj" fmla="val 1932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" name="Text 4"/>
          <p:cNvSpPr/>
          <p:nvPr/>
        </p:nvSpPr>
        <p:spPr>
          <a:xfrm>
            <a:off x="868680" y="2752200"/>
            <a:ext cx="10452240" cy="341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Account: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__init__(self, balance):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self._balance = balance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@property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balance(self):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return self._balance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@balance.setter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balance(self, amount):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if amount &lt; 0: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    raise ValueError("Balance can't be negative")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self._balance = amount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acc = Account(1000)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acc.balance = 500       # runs the setter, validated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acc.balance = -50       # ValueError — blocked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 5"/>
          <p:cNvSpPr/>
          <p:nvPr/>
        </p:nvSpPr>
        <p:spPr>
          <a:xfrm>
            <a:off x="548640" y="6510600"/>
            <a:ext cx="54842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 6"/>
          <p:cNvSpPr/>
          <p:nvPr/>
        </p:nvSpPr>
        <p:spPr>
          <a:xfrm>
            <a:off x="11094480" y="6510600"/>
            <a:ext cx="54648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19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Shape 0"/>
          <p:cNvSpPr/>
          <p:nvPr/>
        </p:nvSpPr>
        <p:spPr>
          <a:xfrm>
            <a:off x="548640" y="457200"/>
            <a:ext cx="381960" cy="38196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4" name="Image 0" descr="/home/claude/work/icons/FaUserShield.png"/>
          <p:cNvPicPr/>
          <p:nvPr/>
        </p:nvPicPr>
        <p:blipFill>
          <a:blip r:embed="rId1"/>
          <a:stretch/>
        </p:blipFill>
        <p:spPr>
          <a:xfrm>
            <a:off x="631080" y="539640"/>
            <a:ext cx="217440" cy="217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5" name="Text 1"/>
          <p:cNvSpPr/>
          <p:nvPr/>
        </p:nvSpPr>
        <p:spPr>
          <a:xfrm>
            <a:off x="1097280" y="420480"/>
            <a:ext cx="1054368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Practice Set — Encapsulation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Shape 2"/>
          <p:cNvSpPr/>
          <p:nvPr/>
        </p:nvSpPr>
        <p:spPr>
          <a:xfrm>
            <a:off x="548640" y="1234440"/>
            <a:ext cx="11092320" cy="5118480"/>
          </a:xfrm>
          <a:prstGeom prst="roundRect">
            <a:avLst>
              <a:gd name="adj" fmla="val 1786"/>
            </a:avLst>
          </a:prstGeom>
          <a:solidFill>
            <a:srgbClr val="E9DEC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 3"/>
          <p:cNvSpPr/>
          <p:nvPr/>
        </p:nvSpPr>
        <p:spPr>
          <a:xfrm>
            <a:off x="868680" y="1435680"/>
            <a:ext cx="1045224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Try these yourself first — no code shown, that’s the point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Shape 4"/>
          <p:cNvSpPr/>
          <p:nvPr/>
        </p:nvSpPr>
        <p:spPr>
          <a:xfrm>
            <a:off x="868680" y="2473560"/>
            <a:ext cx="308880" cy="3088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 5"/>
          <p:cNvSpPr/>
          <p:nvPr/>
        </p:nvSpPr>
        <p:spPr>
          <a:xfrm>
            <a:off x="868680" y="2473560"/>
            <a:ext cx="308880" cy="30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Text 6"/>
          <p:cNvSpPr/>
          <p:nvPr/>
        </p:nvSpPr>
        <p:spPr>
          <a:xfrm>
            <a:off x="1408320" y="1920240"/>
            <a:ext cx="9912600" cy="141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Write a Wallet class with a protected _cash attribute and add_cash()/spend_cash() methods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Shape 7"/>
          <p:cNvSpPr/>
          <p:nvPr/>
        </p:nvSpPr>
        <p:spPr>
          <a:xfrm>
            <a:off x="868680" y="3890880"/>
            <a:ext cx="308880" cy="3088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 8"/>
          <p:cNvSpPr/>
          <p:nvPr/>
        </p:nvSpPr>
        <p:spPr>
          <a:xfrm>
            <a:off x="868680" y="3890880"/>
            <a:ext cx="308880" cy="30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 9"/>
          <p:cNvSpPr/>
          <p:nvPr/>
        </p:nvSpPr>
        <p:spPr>
          <a:xfrm>
            <a:off x="1408320" y="3337560"/>
            <a:ext cx="9912600" cy="141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Make spend_cash() refuse to let _cash go below zero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Shape 10"/>
          <p:cNvSpPr/>
          <p:nvPr/>
        </p:nvSpPr>
        <p:spPr>
          <a:xfrm>
            <a:off x="868680" y="5308200"/>
            <a:ext cx="308880" cy="3088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 11"/>
          <p:cNvSpPr/>
          <p:nvPr/>
        </p:nvSpPr>
        <p:spPr>
          <a:xfrm>
            <a:off x="868680" y="5308200"/>
            <a:ext cx="308880" cy="30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 12"/>
          <p:cNvSpPr/>
          <p:nvPr/>
        </p:nvSpPr>
        <p:spPr>
          <a:xfrm>
            <a:off x="1408320" y="4754880"/>
            <a:ext cx="9912600" cy="141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Turn balance into a @property with a setter that rejects negative values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 13"/>
          <p:cNvSpPr/>
          <p:nvPr/>
        </p:nvSpPr>
        <p:spPr>
          <a:xfrm>
            <a:off x="548640" y="6510600"/>
            <a:ext cx="54842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Text 14"/>
          <p:cNvSpPr/>
          <p:nvPr/>
        </p:nvSpPr>
        <p:spPr>
          <a:xfrm>
            <a:off x="11094480" y="6510600"/>
            <a:ext cx="54648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20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Shape 0"/>
          <p:cNvSpPr/>
          <p:nvPr/>
        </p:nvSpPr>
        <p:spPr>
          <a:xfrm>
            <a:off x="548640" y="457200"/>
            <a:ext cx="381960" cy="38196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80" name="Image 0" descr="/home/claude/work/icons/FaTheaterMasks.png"/>
          <p:cNvPicPr/>
          <p:nvPr/>
        </p:nvPicPr>
        <p:blipFill>
          <a:blip r:embed="rId1"/>
          <a:stretch/>
        </p:blipFill>
        <p:spPr>
          <a:xfrm>
            <a:off x="631080" y="539640"/>
            <a:ext cx="217440" cy="217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1" name="Text 1"/>
          <p:cNvSpPr/>
          <p:nvPr/>
        </p:nvSpPr>
        <p:spPr>
          <a:xfrm>
            <a:off x="1097280" y="420480"/>
            <a:ext cx="1054368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Pillar 2: Abstraction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Shape 2"/>
          <p:cNvSpPr/>
          <p:nvPr/>
        </p:nvSpPr>
        <p:spPr>
          <a:xfrm>
            <a:off x="548640" y="1234440"/>
            <a:ext cx="3243960" cy="5118480"/>
          </a:xfrm>
          <a:prstGeom prst="roundRect">
            <a:avLst>
              <a:gd name="adj" fmla="val 3380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Shape 3"/>
          <p:cNvSpPr/>
          <p:nvPr/>
        </p:nvSpPr>
        <p:spPr>
          <a:xfrm>
            <a:off x="1645920" y="1737360"/>
            <a:ext cx="1049400" cy="10494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84" name="Image 1" descr="/home/claude/work/icons/FaTheaterMasks.png"/>
          <p:cNvPicPr/>
          <p:nvPr/>
        </p:nvPicPr>
        <p:blipFill>
          <a:blip r:embed="rId2"/>
          <a:stretch/>
        </p:blipFill>
        <p:spPr>
          <a:xfrm>
            <a:off x="1906560" y="2002680"/>
            <a:ext cx="528120" cy="528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5" name="Text 4"/>
          <p:cNvSpPr/>
          <p:nvPr/>
        </p:nvSpPr>
        <p:spPr>
          <a:xfrm>
            <a:off x="731520" y="3017520"/>
            <a:ext cx="2878200" cy="306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Hide the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how, show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the what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Text 5"/>
          <p:cNvSpPr/>
          <p:nvPr/>
        </p:nvSpPr>
        <p:spPr>
          <a:xfrm>
            <a:off x="4206240" y="1280160"/>
            <a:ext cx="7434720" cy="502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1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Abstraction means hiding complicated internal details behind a simple interface — the user only needs to know what a method does, not how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1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You call car.start_engine() without knowing anything about fuel injection or ignition timing — the complexity is hidden behind a simple method name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1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In Python, this often shows up as an abstract base class — a class that defines what methods a subclass must have, without saying how they work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1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Abstraction and encapsulation work together, but they solve different problems: encapsulation protects data, abstraction simplifies interfaces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 6"/>
          <p:cNvSpPr/>
          <p:nvPr/>
        </p:nvSpPr>
        <p:spPr>
          <a:xfrm>
            <a:off x="548640" y="6510600"/>
            <a:ext cx="54842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 7"/>
          <p:cNvSpPr/>
          <p:nvPr/>
        </p:nvSpPr>
        <p:spPr>
          <a:xfrm>
            <a:off x="11094480" y="6510600"/>
            <a:ext cx="54648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21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Shape 0"/>
          <p:cNvSpPr/>
          <p:nvPr/>
        </p:nvSpPr>
        <p:spPr>
          <a:xfrm>
            <a:off x="548640" y="457200"/>
            <a:ext cx="381960" cy="38196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90" name="Image 0" descr="/home/claude/work/icons/FaTheaterMasks.png"/>
          <p:cNvPicPr/>
          <p:nvPr/>
        </p:nvPicPr>
        <p:blipFill>
          <a:blip r:embed="rId1"/>
          <a:stretch/>
        </p:blipFill>
        <p:spPr>
          <a:xfrm>
            <a:off x="631080" y="539640"/>
            <a:ext cx="217440" cy="217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1" name="Text 1"/>
          <p:cNvSpPr/>
          <p:nvPr/>
        </p:nvSpPr>
        <p:spPr>
          <a:xfrm>
            <a:off x="1097280" y="420480"/>
            <a:ext cx="1054368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Abstract Base Classes — Defining a Required Interface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Text 2"/>
          <p:cNvSpPr/>
          <p:nvPr/>
        </p:nvSpPr>
        <p:spPr>
          <a:xfrm>
            <a:off x="548640" y="1234440"/>
            <a:ext cx="11092320" cy="11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ABC and @abstractmethod (from the abc module) let you define a class that can’t be used directly — only inherited from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Any subclass is forced to implement every abstract method, or Python refuses to let you create it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This guarantees every "shape" in a program has an area() method, without dictating how each one calculates it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Shape 3"/>
          <p:cNvSpPr/>
          <p:nvPr/>
        </p:nvSpPr>
        <p:spPr>
          <a:xfrm>
            <a:off x="548640" y="2569320"/>
            <a:ext cx="11092320" cy="3783600"/>
          </a:xfrm>
          <a:prstGeom prst="roundRect">
            <a:avLst>
              <a:gd name="adj" fmla="val 1932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4" name="Text 4"/>
          <p:cNvSpPr/>
          <p:nvPr/>
        </p:nvSpPr>
        <p:spPr>
          <a:xfrm>
            <a:off x="868680" y="2752200"/>
            <a:ext cx="10452240" cy="341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from abc import ABC, abstractmethod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Shape(ABC):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@abstractmethod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area(self):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pass    # no implementation — subclasses must provide one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shape = Shape()   # TypeError — can't instantiate an ABC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Circle(Shape):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__init__(self, radius):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self.radius = radius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area(self):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return 3.14159 * self.radius ** 2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Circle(3).area()   # 28.27...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Text 5"/>
          <p:cNvSpPr/>
          <p:nvPr/>
        </p:nvSpPr>
        <p:spPr>
          <a:xfrm>
            <a:off x="548640" y="6510600"/>
            <a:ext cx="54842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 6"/>
          <p:cNvSpPr/>
          <p:nvPr/>
        </p:nvSpPr>
        <p:spPr>
          <a:xfrm>
            <a:off x="11094480" y="6510600"/>
            <a:ext cx="54648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22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Shape 0"/>
          <p:cNvSpPr/>
          <p:nvPr/>
        </p:nvSpPr>
        <p:spPr>
          <a:xfrm>
            <a:off x="548640" y="457200"/>
            <a:ext cx="381960" cy="38196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98" name="Image 0" descr="/home/claude/work/icons/FaTheaterMasks.png"/>
          <p:cNvPicPr/>
          <p:nvPr/>
        </p:nvPicPr>
        <p:blipFill>
          <a:blip r:embed="rId1"/>
          <a:stretch/>
        </p:blipFill>
        <p:spPr>
          <a:xfrm>
            <a:off x="631080" y="539640"/>
            <a:ext cx="217440" cy="217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9" name="Text 1"/>
          <p:cNvSpPr/>
          <p:nvPr/>
        </p:nvSpPr>
        <p:spPr>
          <a:xfrm>
            <a:off x="1097280" y="420480"/>
            <a:ext cx="1054368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Practice Set — Abstraction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Shape 2"/>
          <p:cNvSpPr/>
          <p:nvPr/>
        </p:nvSpPr>
        <p:spPr>
          <a:xfrm>
            <a:off x="548640" y="1234440"/>
            <a:ext cx="11092320" cy="5118480"/>
          </a:xfrm>
          <a:prstGeom prst="roundRect">
            <a:avLst>
              <a:gd name="adj" fmla="val 1786"/>
            </a:avLst>
          </a:prstGeom>
          <a:solidFill>
            <a:srgbClr val="E9DEC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Text 3"/>
          <p:cNvSpPr/>
          <p:nvPr/>
        </p:nvSpPr>
        <p:spPr>
          <a:xfrm>
            <a:off x="868680" y="1435680"/>
            <a:ext cx="1045224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Try these yourself first — no code shown, that’s the point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Shape 4"/>
          <p:cNvSpPr/>
          <p:nvPr/>
        </p:nvSpPr>
        <p:spPr>
          <a:xfrm>
            <a:off x="868680" y="2473560"/>
            <a:ext cx="308880" cy="3088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3" name="Text 5"/>
          <p:cNvSpPr/>
          <p:nvPr/>
        </p:nvSpPr>
        <p:spPr>
          <a:xfrm>
            <a:off x="868680" y="2473560"/>
            <a:ext cx="308880" cy="30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Text 6"/>
          <p:cNvSpPr/>
          <p:nvPr/>
        </p:nvSpPr>
        <p:spPr>
          <a:xfrm>
            <a:off x="1408320" y="1920240"/>
            <a:ext cx="9912600" cy="141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Write an abstract Vehicle class with an abstract method fuel_type()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Shape 7"/>
          <p:cNvSpPr/>
          <p:nvPr/>
        </p:nvSpPr>
        <p:spPr>
          <a:xfrm>
            <a:off x="868680" y="3890880"/>
            <a:ext cx="308880" cy="3088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 8"/>
          <p:cNvSpPr/>
          <p:nvPr/>
        </p:nvSpPr>
        <p:spPr>
          <a:xfrm>
            <a:off x="868680" y="3890880"/>
            <a:ext cx="308880" cy="30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 9"/>
          <p:cNvSpPr/>
          <p:nvPr/>
        </p:nvSpPr>
        <p:spPr>
          <a:xfrm>
            <a:off x="1408320" y="3337560"/>
            <a:ext cx="9912600" cy="141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Create two subclasses, ElectricCar and PetrolCar, each implementing fuel_type() differently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Shape 10"/>
          <p:cNvSpPr/>
          <p:nvPr/>
        </p:nvSpPr>
        <p:spPr>
          <a:xfrm>
            <a:off x="868680" y="5308200"/>
            <a:ext cx="308880" cy="3088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9" name="Text 11"/>
          <p:cNvSpPr/>
          <p:nvPr/>
        </p:nvSpPr>
        <p:spPr>
          <a:xfrm>
            <a:off x="868680" y="5308200"/>
            <a:ext cx="308880" cy="30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12"/>
          <p:cNvSpPr/>
          <p:nvPr/>
        </p:nvSpPr>
        <p:spPr>
          <a:xfrm>
            <a:off x="1408320" y="4754880"/>
            <a:ext cx="9912600" cy="141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Try instantiating Vehicle directly and confirm Python blocks it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Text 13"/>
          <p:cNvSpPr/>
          <p:nvPr/>
        </p:nvSpPr>
        <p:spPr>
          <a:xfrm>
            <a:off x="548640" y="6510600"/>
            <a:ext cx="54842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Text 14"/>
          <p:cNvSpPr/>
          <p:nvPr/>
        </p:nvSpPr>
        <p:spPr>
          <a:xfrm>
            <a:off x="11094480" y="6510600"/>
            <a:ext cx="54648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23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Shape 0"/>
          <p:cNvSpPr/>
          <p:nvPr/>
        </p:nvSpPr>
        <p:spPr>
          <a:xfrm>
            <a:off x="548640" y="457200"/>
            <a:ext cx="381960" cy="38196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14" name="Image 0" descr="/home/claude/work/icons/FaDna.png"/>
          <p:cNvPicPr/>
          <p:nvPr/>
        </p:nvPicPr>
        <p:blipFill>
          <a:blip r:embed="rId1"/>
          <a:stretch/>
        </p:blipFill>
        <p:spPr>
          <a:xfrm>
            <a:off x="631080" y="539640"/>
            <a:ext cx="217440" cy="217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5" name="Text 1"/>
          <p:cNvSpPr/>
          <p:nvPr/>
        </p:nvSpPr>
        <p:spPr>
          <a:xfrm>
            <a:off x="1097280" y="420480"/>
            <a:ext cx="1054368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Pillar 3: Inheritance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Shape 2"/>
          <p:cNvSpPr/>
          <p:nvPr/>
        </p:nvSpPr>
        <p:spPr>
          <a:xfrm>
            <a:off x="548640" y="1234440"/>
            <a:ext cx="3243960" cy="5118480"/>
          </a:xfrm>
          <a:prstGeom prst="roundRect">
            <a:avLst>
              <a:gd name="adj" fmla="val 3380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Shape 3"/>
          <p:cNvSpPr/>
          <p:nvPr/>
        </p:nvSpPr>
        <p:spPr>
          <a:xfrm>
            <a:off x="1645920" y="1737360"/>
            <a:ext cx="1049400" cy="10494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18" name="Image 1" descr="/home/claude/work/icons/FaDna.png"/>
          <p:cNvPicPr/>
          <p:nvPr/>
        </p:nvPicPr>
        <p:blipFill>
          <a:blip r:embed="rId2"/>
          <a:stretch/>
        </p:blipFill>
        <p:spPr>
          <a:xfrm>
            <a:off x="1906560" y="2002680"/>
            <a:ext cx="528120" cy="528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9" name="Text 4"/>
          <p:cNvSpPr/>
          <p:nvPr/>
        </p:nvSpPr>
        <p:spPr>
          <a:xfrm>
            <a:off x="731520" y="3017520"/>
            <a:ext cx="2878200" cy="306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Build on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what already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exists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Text 5"/>
          <p:cNvSpPr/>
          <p:nvPr/>
        </p:nvSpPr>
        <p:spPr>
          <a:xfrm>
            <a:off x="4206240" y="1280160"/>
            <a:ext cx="7434720" cy="502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Inheritance lets a new class (the child, or subclass) reuse and extend the data and behavior of an existing class (the parent, or superclass)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 GoldenRetriever is a Dog — it automatically gets everything a Dog has, and can add its own extra behavior on top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This avoids rewriting the same code in every related class — shared behavior lives once, in the parent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It also models real-world "is-a" relationships directly in code: a Car is a Vehicle, a Manager is an Employee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Text 6"/>
          <p:cNvSpPr/>
          <p:nvPr/>
        </p:nvSpPr>
        <p:spPr>
          <a:xfrm>
            <a:off x="548640" y="6510600"/>
            <a:ext cx="54842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 7"/>
          <p:cNvSpPr/>
          <p:nvPr/>
        </p:nvSpPr>
        <p:spPr>
          <a:xfrm>
            <a:off x="11094480" y="6510600"/>
            <a:ext cx="54648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24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Shape 0"/>
          <p:cNvSpPr/>
          <p:nvPr/>
        </p:nvSpPr>
        <p:spPr>
          <a:xfrm>
            <a:off x="548640" y="457200"/>
            <a:ext cx="381960" cy="38196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24" name="Image 0" descr="/home/claude/work/icons/FaDna.png"/>
          <p:cNvPicPr/>
          <p:nvPr/>
        </p:nvPicPr>
        <p:blipFill>
          <a:blip r:embed="rId1"/>
          <a:stretch/>
        </p:blipFill>
        <p:spPr>
          <a:xfrm>
            <a:off x="631080" y="539640"/>
            <a:ext cx="217440" cy="217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5" name="Text 1"/>
          <p:cNvSpPr/>
          <p:nvPr/>
        </p:nvSpPr>
        <p:spPr>
          <a:xfrm>
            <a:off x="1097280" y="420480"/>
            <a:ext cx="1054368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Basic Inheritance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Text 2"/>
          <p:cNvSpPr/>
          <p:nvPr/>
        </p:nvSpPr>
        <p:spPr>
          <a:xfrm>
            <a:off x="548640" y="1234440"/>
            <a:ext cx="11092320" cy="11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class Cat(Animal): means Cat inherits everything Animal has — Animal goes in the parentheses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Cat automatically gets Animal’s __init__ and eat() without rewriting them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isinstance() confirms a Cat is also considered an Animal — the inheritance relationship is real, not just naming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Shape 3"/>
          <p:cNvSpPr/>
          <p:nvPr/>
        </p:nvSpPr>
        <p:spPr>
          <a:xfrm>
            <a:off x="548640" y="2569320"/>
            <a:ext cx="11092320" cy="3783600"/>
          </a:xfrm>
          <a:prstGeom prst="roundRect">
            <a:avLst>
              <a:gd name="adj" fmla="val 1932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8" name="Text 4"/>
          <p:cNvSpPr/>
          <p:nvPr/>
        </p:nvSpPr>
        <p:spPr>
          <a:xfrm>
            <a:off x="868680" y="2752200"/>
            <a:ext cx="10452240" cy="341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Animal: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__init__(self, name):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self.name = name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eat(self):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print(f"{self.name} is eating")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Cat(Animal):     # Cat inherits from Animal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pass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whiskers = Cat("Whiskers")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whiskers.eat()                  # inherited — works with no rewrite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isinstance(whiskers, Animal)    # True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Text 5"/>
          <p:cNvSpPr/>
          <p:nvPr/>
        </p:nvSpPr>
        <p:spPr>
          <a:xfrm>
            <a:off x="548640" y="6510600"/>
            <a:ext cx="54842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Text 6"/>
          <p:cNvSpPr/>
          <p:nvPr/>
        </p:nvSpPr>
        <p:spPr>
          <a:xfrm>
            <a:off x="11094480" y="6510600"/>
            <a:ext cx="54648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25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Shape 0"/>
          <p:cNvSpPr/>
          <p:nvPr/>
        </p:nvSpPr>
        <p:spPr>
          <a:xfrm>
            <a:off x="548640" y="457200"/>
            <a:ext cx="381960" cy="38196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32" name="Image 0" descr="/home/claude/work/icons/FaLevelUpAlt.png"/>
          <p:cNvPicPr/>
          <p:nvPr/>
        </p:nvPicPr>
        <p:blipFill>
          <a:blip r:embed="rId1"/>
          <a:stretch/>
        </p:blipFill>
        <p:spPr>
          <a:xfrm>
            <a:off x="631080" y="539640"/>
            <a:ext cx="217440" cy="217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3" name="Text 1"/>
          <p:cNvSpPr/>
          <p:nvPr/>
        </p:nvSpPr>
        <p:spPr>
          <a:xfrm>
            <a:off x="1097280" y="420480"/>
            <a:ext cx="1054368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super() — Calling the Parent’s Version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Text 2"/>
          <p:cNvSpPr/>
          <p:nvPr/>
        </p:nvSpPr>
        <p:spPr>
          <a:xfrm>
            <a:off x="548640" y="1234440"/>
            <a:ext cx="11092320" cy="11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When a subclass defines its own __init__, it replaces the parent’s __init__ entirely — unless you explicitly call it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super().__init__(...) runs the parent’s constructor first, so you don’t have to duplicate its logic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This pattern — extend, don’t replace — is the standard way subclasses build on their parent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Shape 3"/>
          <p:cNvSpPr/>
          <p:nvPr/>
        </p:nvSpPr>
        <p:spPr>
          <a:xfrm>
            <a:off x="548640" y="2569320"/>
            <a:ext cx="11092320" cy="3783600"/>
          </a:xfrm>
          <a:prstGeom prst="roundRect">
            <a:avLst>
              <a:gd name="adj" fmla="val 1932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6" name="Text 4"/>
          <p:cNvSpPr/>
          <p:nvPr/>
        </p:nvSpPr>
        <p:spPr>
          <a:xfrm>
            <a:off x="868680" y="2752200"/>
            <a:ext cx="10452240" cy="341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Animal: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__init__(self, name):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self.name = name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Cat(Animal):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__init__(self, name, indoor):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super().__init__(name)   # reuse the parent's setup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self.indoor = indoor     # then add Cat-specific data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whiskers = Cat("Whiskers", True)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whiskers.name     # "Whiskers" — handled by Animal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whiskers.indoor   # True — handled by Cat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 5"/>
          <p:cNvSpPr/>
          <p:nvPr/>
        </p:nvSpPr>
        <p:spPr>
          <a:xfrm>
            <a:off x="548640" y="6510600"/>
            <a:ext cx="54842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Text 6"/>
          <p:cNvSpPr/>
          <p:nvPr/>
        </p:nvSpPr>
        <p:spPr>
          <a:xfrm>
            <a:off x="11094480" y="6510600"/>
            <a:ext cx="54648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26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Shape 0"/>
          <p:cNvSpPr/>
          <p:nvPr/>
        </p:nvSpPr>
        <p:spPr>
          <a:xfrm>
            <a:off x="548640" y="457200"/>
            <a:ext cx="381960" cy="38196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40" name="Image 0" descr="/home/claude/work/icons/FaCodeBranch.png"/>
          <p:cNvPicPr/>
          <p:nvPr/>
        </p:nvPicPr>
        <p:blipFill>
          <a:blip r:embed="rId1"/>
          <a:stretch/>
        </p:blipFill>
        <p:spPr>
          <a:xfrm>
            <a:off x="631080" y="539640"/>
            <a:ext cx="217440" cy="217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1" name="Text 1"/>
          <p:cNvSpPr/>
          <p:nvPr/>
        </p:nvSpPr>
        <p:spPr>
          <a:xfrm>
            <a:off x="1097280" y="420480"/>
            <a:ext cx="1054368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Overriding Methods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Text 2"/>
          <p:cNvSpPr/>
          <p:nvPr/>
        </p:nvSpPr>
        <p:spPr>
          <a:xfrm>
            <a:off x="548640" y="1234440"/>
            <a:ext cx="11092320" cy="11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 subclass can redefine a method it inherited, giving it different, more specific behavior — this is called overriding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Python always uses the closest, most specific version of a method it can find on the object’s own class first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The parent’s original version is still there if you need it — call it explicitly with super().speak()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Shape 3"/>
          <p:cNvSpPr/>
          <p:nvPr/>
        </p:nvSpPr>
        <p:spPr>
          <a:xfrm>
            <a:off x="548640" y="2569320"/>
            <a:ext cx="11092320" cy="3783600"/>
          </a:xfrm>
          <a:prstGeom prst="roundRect">
            <a:avLst>
              <a:gd name="adj" fmla="val 1932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4" name="Text 4"/>
          <p:cNvSpPr/>
          <p:nvPr/>
        </p:nvSpPr>
        <p:spPr>
          <a:xfrm>
            <a:off x="868680" y="2752200"/>
            <a:ext cx="10452240" cy="341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Animal: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speak(self):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print("Some generic animal sound")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Dog(Animal):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speak(self):       # overrides Animal.speak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print("Woof!")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Animal().speak()   # Some generic animal sound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Dog().speak()      # Woof!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Text 5"/>
          <p:cNvSpPr/>
          <p:nvPr/>
        </p:nvSpPr>
        <p:spPr>
          <a:xfrm>
            <a:off x="548640" y="6510600"/>
            <a:ext cx="54842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Text 6"/>
          <p:cNvSpPr/>
          <p:nvPr/>
        </p:nvSpPr>
        <p:spPr>
          <a:xfrm>
            <a:off x="11094480" y="6510600"/>
            <a:ext cx="54648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27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Shape 0"/>
          <p:cNvSpPr/>
          <p:nvPr/>
        </p:nvSpPr>
        <p:spPr>
          <a:xfrm>
            <a:off x="548640" y="457200"/>
            <a:ext cx="381960" cy="38196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48" name="Image 0" descr="/home/claude/work/icons/FaSitemap.png"/>
          <p:cNvPicPr/>
          <p:nvPr/>
        </p:nvPicPr>
        <p:blipFill>
          <a:blip r:embed="rId1"/>
          <a:stretch/>
        </p:blipFill>
        <p:spPr>
          <a:xfrm>
            <a:off x="631080" y="539640"/>
            <a:ext cx="217440" cy="217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9" name="Text 1"/>
          <p:cNvSpPr/>
          <p:nvPr/>
        </p:nvSpPr>
        <p:spPr>
          <a:xfrm>
            <a:off x="1097280" y="420480"/>
            <a:ext cx="1054368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Method Resolution Order — Who Answers the Call?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Shape 2"/>
          <p:cNvSpPr/>
          <p:nvPr/>
        </p:nvSpPr>
        <p:spPr>
          <a:xfrm flipH="1">
            <a:off x="4221000" y="2240280"/>
            <a:ext cx="1874520" cy="548640"/>
          </a:xfrm>
          <a:prstGeom prst="line">
            <a:avLst/>
          </a:prstGeom>
          <a:ln w="19050">
            <a:solidFill>
              <a:srgbClr val="A9B0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Shape 3"/>
          <p:cNvSpPr/>
          <p:nvPr/>
        </p:nvSpPr>
        <p:spPr>
          <a:xfrm>
            <a:off x="6095520" y="2240280"/>
            <a:ext cx="1874520" cy="548640"/>
          </a:xfrm>
          <a:prstGeom prst="line">
            <a:avLst/>
          </a:prstGeom>
          <a:ln w="19050">
            <a:solidFill>
              <a:srgbClr val="A9B0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Shape 4"/>
          <p:cNvSpPr/>
          <p:nvPr/>
        </p:nvSpPr>
        <p:spPr>
          <a:xfrm>
            <a:off x="4221000" y="3474720"/>
            <a:ext cx="1874520" cy="548640"/>
          </a:xfrm>
          <a:prstGeom prst="line">
            <a:avLst/>
          </a:prstGeom>
          <a:ln w="19050">
            <a:solidFill>
              <a:srgbClr val="A9B0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Shape 5"/>
          <p:cNvSpPr/>
          <p:nvPr/>
        </p:nvSpPr>
        <p:spPr>
          <a:xfrm flipH="1">
            <a:off x="6095520" y="3474720"/>
            <a:ext cx="1874520" cy="548640"/>
          </a:xfrm>
          <a:prstGeom prst="line">
            <a:avLst/>
          </a:prstGeom>
          <a:ln w="19050">
            <a:solidFill>
              <a:srgbClr val="A9B0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Shape 6"/>
          <p:cNvSpPr/>
          <p:nvPr/>
        </p:nvSpPr>
        <p:spPr>
          <a:xfrm>
            <a:off x="5044320" y="1554480"/>
            <a:ext cx="2100960" cy="683640"/>
          </a:xfrm>
          <a:prstGeom prst="roundRect">
            <a:avLst>
              <a:gd name="adj" fmla="val 10667"/>
            </a:avLst>
          </a:prstGeom>
          <a:solidFill>
            <a:srgbClr val="1E4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5" name="Text 7"/>
          <p:cNvSpPr/>
          <p:nvPr/>
        </p:nvSpPr>
        <p:spPr>
          <a:xfrm>
            <a:off x="5044320" y="1627560"/>
            <a:ext cx="210096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ntarell"/>
                <a:ea typeface="Consolas"/>
              </a:rPr>
              <a:t>Duck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Text 8"/>
          <p:cNvSpPr/>
          <p:nvPr/>
        </p:nvSpPr>
        <p:spPr>
          <a:xfrm>
            <a:off x="5044320" y="1938600"/>
            <a:ext cx="210096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(child class)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Shape 9"/>
          <p:cNvSpPr/>
          <p:nvPr/>
        </p:nvSpPr>
        <p:spPr>
          <a:xfrm>
            <a:off x="4843080" y="1353240"/>
            <a:ext cx="308880" cy="3088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8" name="Text 10"/>
          <p:cNvSpPr/>
          <p:nvPr/>
        </p:nvSpPr>
        <p:spPr>
          <a:xfrm>
            <a:off x="4843080" y="1353240"/>
            <a:ext cx="308880" cy="30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Shape 11"/>
          <p:cNvSpPr/>
          <p:nvPr/>
        </p:nvSpPr>
        <p:spPr>
          <a:xfrm>
            <a:off x="3169800" y="2788920"/>
            <a:ext cx="2100960" cy="683640"/>
          </a:xfrm>
          <a:prstGeom prst="roundRect">
            <a:avLst>
              <a:gd name="adj" fmla="val 10667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0" name="Text 12"/>
          <p:cNvSpPr/>
          <p:nvPr/>
        </p:nvSpPr>
        <p:spPr>
          <a:xfrm>
            <a:off x="3169800" y="2862000"/>
            <a:ext cx="210096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E7C588"/>
                </a:solidFill>
                <a:effectLst/>
                <a:uFillTx/>
                <a:latin typeface="Cantarell"/>
                <a:ea typeface="Consolas"/>
              </a:rPr>
              <a:t>Flyer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Text 13"/>
          <p:cNvSpPr/>
          <p:nvPr/>
        </p:nvSpPr>
        <p:spPr>
          <a:xfrm>
            <a:off x="3169800" y="3173040"/>
            <a:ext cx="210096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move() → "Flying"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Shape 14"/>
          <p:cNvSpPr/>
          <p:nvPr/>
        </p:nvSpPr>
        <p:spPr>
          <a:xfrm>
            <a:off x="2968560" y="2587680"/>
            <a:ext cx="308880" cy="3088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3" name="Text 15"/>
          <p:cNvSpPr/>
          <p:nvPr/>
        </p:nvSpPr>
        <p:spPr>
          <a:xfrm>
            <a:off x="2968560" y="2587680"/>
            <a:ext cx="308880" cy="30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Shape 16"/>
          <p:cNvSpPr/>
          <p:nvPr/>
        </p:nvSpPr>
        <p:spPr>
          <a:xfrm>
            <a:off x="6918840" y="2788920"/>
            <a:ext cx="2100960" cy="683640"/>
          </a:xfrm>
          <a:prstGeom prst="roundRect">
            <a:avLst>
              <a:gd name="adj" fmla="val 10667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5" name="Text 17"/>
          <p:cNvSpPr/>
          <p:nvPr/>
        </p:nvSpPr>
        <p:spPr>
          <a:xfrm>
            <a:off x="6918840" y="2862000"/>
            <a:ext cx="210096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E7C588"/>
                </a:solidFill>
                <a:effectLst/>
                <a:uFillTx/>
                <a:latin typeface="Cantarell"/>
                <a:ea typeface="Consolas"/>
              </a:rPr>
              <a:t>Swimmer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Text 18"/>
          <p:cNvSpPr/>
          <p:nvPr/>
        </p:nvSpPr>
        <p:spPr>
          <a:xfrm>
            <a:off x="6918840" y="3173040"/>
            <a:ext cx="210096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move() → "Swimming"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Shape 19"/>
          <p:cNvSpPr/>
          <p:nvPr/>
        </p:nvSpPr>
        <p:spPr>
          <a:xfrm>
            <a:off x="6717600" y="2587680"/>
            <a:ext cx="308880" cy="3088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8" name="Text 20"/>
          <p:cNvSpPr/>
          <p:nvPr/>
        </p:nvSpPr>
        <p:spPr>
          <a:xfrm>
            <a:off x="6717600" y="2587680"/>
            <a:ext cx="308880" cy="30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Shape 21"/>
          <p:cNvSpPr/>
          <p:nvPr/>
        </p:nvSpPr>
        <p:spPr>
          <a:xfrm>
            <a:off x="5044320" y="4023360"/>
            <a:ext cx="2100960" cy="683640"/>
          </a:xfrm>
          <a:prstGeom prst="roundRect">
            <a:avLst>
              <a:gd name="adj" fmla="val 10667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0" name="Text 22"/>
          <p:cNvSpPr/>
          <p:nvPr/>
        </p:nvSpPr>
        <p:spPr>
          <a:xfrm>
            <a:off x="5044320" y="4096440"/>
            <a:ext cx="210096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E7C588"/>
                </a:solidFill>
                <a:effectLst/>
                <a:uFillTx/>
                <a:latin typeface="Cantarell"/>
                <a:ea typeface="Consolas"/>
              </a:rPr>
              <a:t>object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Text 23"/>
          <p:cNvSpPr/>
          <p:nvPr/>
        </p:nvSpPr>
        <p:spPr>
          <a:xfrm>
            <a:off x="5044320" y="4407480"/>
            <a:ext cx="210096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base of everything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Shape 24"/>
          <p:cNvSpPr/>
          <p:nvPr/>
        </p:nvSpPr>
        <p:spPr>
          <a:xfrm>
            <a:off x="4843080" y="3822120"/>
            <a:ext cx="308880" cy="3088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3" name="Text 25"/>
          <p:cNvSpPr/>
          <p:nvPr/>
        </p:nvSpPr>
        <p:spPr>
          <a:xfrm>
            <a:off x="4843080" y="3822120"/>
            <a:ext cx="308880" cy="30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Shape 26"/>
          <p:cNvSpPr/>
          <p:nvPr/>
        </p:nvSpPr>
        <p:spPr>
          <a:xfrm>
            <a:off x="548640" y="1554480"/>
            <a:ext cx="2649600" cy="3152520"/>
          </a:xfrm>
          <a:prstGeom prst="roundRect">
            <a:avLst>
              <a:gd name="adj" fmla="val 3448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Text 27"/>
          <p:cNvSpPr/>
          <p:nvPr/>
        </p:nvSpPr>
        <p:spPr>
          <a:xfrm>
            <a:off x="749880" y="1737360"/>
            <a:ext cx="224712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3312F"/>
                </a:solidFill>
                <a:effectLst/>
                <a:uFillTx/>
                <a:latin typeface="Cantarell"/>
                <a:ea typeface="Consolas"/>
              </a:rPr>
              <a:t>Duck.__mro__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Text 28"/>
          <p:cNvSpPr/>
          <p:nvPr/>
        </p:nvSpPr>
        <p:spPr>
          <a:xfrm>
            <a:off x="749880" y="2103120"/>
            <a:ext cx="2247120" cy="136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3F4A45"/>
                </a:solidFill>
                <a:effectLst/>
                <a:uFillTx/>
                <a:latin typeface="Cantarell"/>
                <a:ea typeface="Consolas"/>
              </a:rPr>
              <a:t>1. Duck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3F4A45"/>
                </a:solidFill>
                <a:effectLst/>
                <a:uFillTx/>
                <a:latin typeface="Cantarell"/>
                <a:ea typeface="Consolas"/>
              </a:rPr>
              <a:t>2. Flyer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3F4A45"/>
                </a:solidFill>
                <a:effectLst/>
                <a:uFillTx/>
                <a:latin typeface="Cantarell"/>
                <a:ea typeface="Consolas"/>
              </a:rPr>
              <a:t>3. Swimmer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3F4A45"/>
                </a:solidFill>
                <a:effectLst/>
                <a:uFillTx/>
                <a:latin typeface="Cantarell"/>
                <a:ea typeface="Consolas"/>
              </a:rPr>
              <a:t>4. object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7" name="Text 29"/>
          <p:cNvSpPr/>
          <p:nvPr/>
        </p:nvSpPr>
        <p:spPr>
          <a:xfrm>
            <a:off x="749880" y="3566160"/>
            <a:ext cx="2247120" cy="100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Python searches left to right, so Flyer’s move() wins over Swimmer’s.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8" name="Text 30"/>
          <p:cNvSpPr/>
          <p:nvPr/>
        </p:nvSpPr>
        <p:spPr>
          <a:xfrm>
            <a:off x="548640" y="6510600"/>
            <a:ext cx="54842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Text 31"/>
          <p:cNvSpPr/>
          <p:nvPr/>
        </p:nvSpPr>
        <p:spPr>
          <a:xfrm>
            <a:off x="11094480" y="6510600"/>
            <a:ext cx="54648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28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Shape 0"/>
          <p:cNvSpPr/>
          <p:nvPr/>
        </p:nvSpPr>
        <p:spPr>
          <a:xfrm>
            <a:off x="548640" y="457200"/>
            <a:ext cx="381960" cy="38196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81" name="Image 0" descr="/home/claude/work/icons/FaSitemap.png"/>
          <p:cNvPicPr/>
          <p:nvPr/>
        </p:nvPicPr>
        <p:blipFill>
          <a:blip r:embed="rId1"/>
          <a:stretch/>
        </p:blipFill>
        <p:spPr>
          <a:xfrm>
            <a:off x="631080" y="539640"/>
            <a:ext cx="217440" cy="217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2" name="Text 1"/>
          <p:cNvSpPr/>
          <p:nvPr/>
        </p:nvSpPr>
        <p:spPr>
          <a:xfrm>
            <a:off x="1097280" y="420480"/>
            <a:ext cx="1054368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Multiple Inheritance — Inheriting From More Than One Class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Text 2"/>
          <p:cNvSpPr/>
          <p:nvPr/>
        </p:nvSpPr>
        <p:spPr>
          <a:xfrm>
            <a:off x="548640" y="1234440"/>
            <a:ext cx="11092320" cy="11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Python allows a class to inherit from more than one parent at once — class Duck(Flyer, Swimmer)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If more than one parent defines the same method, Python resolves the conflict using its Method Resolution Order (MRO)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You can inspect the exact search order yourself with ClassName.__mro__ — useful whenever behavior seems ambiguous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4" name="Shape 3"/>
          <p:cNvSpPr/>
          <p:nvPr/>
        </p:nvSpPr>
        <p:spPr>
          <a:xfrm>
            <a:off x="548640" y="2569320"/>
            <a:ext cx="11092320" cy="3783600"/>
          </a:xfrm>
          <a:prstGeom prst="roundRect">
            <a:avLst>
              <a:gd name="adj" fmla="val 1932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 4"/>
          <p:cNvSpPr/>
          <p:nvPr/>
        </p:nvSpPr>
        <p:spPr>
          <a:xfrm>
            <a:off x="868680" y="2752200"/>
            <a:ext cx="10452240" cy="341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Flyer: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move(self):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print("Flying")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Swimmer: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move(self):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print("Swimming")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Duck(Flyer, Swimmer):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pass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Duck().move()          # Flying — Flyer is checked first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print(Duck.__mro__)    # shows the full search order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Text 5"/>
          <p:cNvSpPr/>
          <p:nvPr/>
        </p:nvSpPr>
        <p:spPr>
          <a:xfrm>
            <a:off x="548640" y="6510600"/>
            <a:ext cx="54842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Text 6"/>
          <p:cNvSpPr/>
          <p:nvPr/>
        </p:nvSpPr>
        <p:spPr>
          <a:xfrm>
            <a:off x="11094480" y="6510600"/>
            <a:ext cx="54648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29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Shape 0"/>
          <p:cNvSpPr/>
          <p:nvPr/>
        </p:nvSpPr>
        <p:spPr>
          <a:xfrm>
            <a:off x="548640" y="457200"/>
            <a:ext cx="381960" cy="38196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89" name="Image 0" descr="/home/claude/work/icons/FaDna.png"/>
          <p:cNvPicPr/>
          <p:nvPr/>
        </p:nvPicPr>
        <p:blipFill>
          <a:blip r:embed="rId1"/>
          <a:stretch/>
        </p:blipFill>
        <p:spPr>
          <a:xfrm>
            <a:off x="631080" y="539640"/>
            <a:ext cx="217440" cy="217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0" name="Text 1"/>
          <p:cNvSpPr/>
          <p:nvPr/>
        </p:nvSpPr>
        <p:spPr>
          <a:xfrm>
            <a:off x="1097280" y="420480"/>
            <a:ext cx="1054368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Practice Set — Inheritance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Shape 2"/>
          <p:cNvSpPr/>
          <p:nvPr/>
        </p:nvSpPr>
        <p:spPr>
          <a:xfrm>
            <a:off x="548640" y="1234440"/>
            <a:ext cx="11092320" cy="5118480"/>
          </a:xfrm>
          <a:prstGeom prst="roundRect">
            <a:avLst>
              <a:gd name="adj" fmla="val 1786"/>
            </a:avLst>
          </a:prstGeom>
          <a:solidFill>
            <a:srgbClr val="E9DEC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Text 3"/>
          <p:cNvSpPr/>
          <p:nvPr/>
        </p:nvSpPr>
        <p:spPr>
          <a:xfrm>
            <a:off x="868680" y="1435680"/>
            <a:ext cx="1045224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Try these yourself first — no code shown, that’s the point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3" name="Shape 4"/>
          <p:cNvSpPr/>
          <p:nvPr/>
        </p:nvSpPr>
        <p:spPr>
          <a:xfrm>
            <a:off x="868680" y="2296440"/>
            <a:ext cx="308880" cy="3088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4" name="Text 5"/>
          <p:cNvSpPr/>
          <p:nvPr/>
        </p:nvSpPr>
        <p:spPr>
          <a:xfrm>
            <a:off x="868680" y="2296440"/>
            <a:ext cx="308880" cy="30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Text 6"/>
          <p:cNvSpPr/>
          <p:nvPr/>
        </p:nvSpPr>
        <p:spPr>
          <a:xfrm>
            <a:off x="1408320" y="1920240"/>
            <a:ext cx="9912600" cy="10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Write an Employee class with name and salary, then a Manager subclass adding a team_size attribute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6" name="Shape 7"/>
          <p:cNvSpPr/>
          <p:nvPr/>
        </p:nvSpPr>
        <p:spPr>
          <a:xfrm>
            <a:off x="868680" y="3359160"/>
            <a:ext cx="308880" cy="3088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7" name="Text 8"/>
          <p:cNvSpPr/>
          <p:nvPr/>
        </p:nvSpPr>
        <p:spPr>
          <a:xfrm>
            <a:off x="868680" y="3359160"/>
            <a:ext cx="308880" cy="30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Text 9"/>
          <p:cNvSpPr/>
          <p:nvPr/>
        </p:nvSpPr>
        <p:spPr>
          <a:xfrm>
            <a:off x="1408320" y="2983320"/>
            <a:ext cx="9912600" cy="10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Use super().__init__() inside Manager rather than repeating Employee’s setup logic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9" name="Shape 10"/>
          <p:cNvSpPr/>
          <p:nvPr/>
        </p:nvSpPr>
        <p:spPr>
          <a:xfrm>
            <a:off x="868680" y="4422240"/>
            <a:ext cx="308880" cy="3088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0" name="Text 11"/>
          <p:cNvSpPr/>
          <p:nvPr/>
        </p:nvSpPr>
        <p:spPr>
          <a:xfrm>
            <a:off x="868680" y="4422240"/>
            <a:ext cx="308880" cy="30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1" name="Text 12"/>
          <p:cNvSpPr/>
          <p:nvPr/>
        </p:nvSpPr>
        <p:spPr>
          <a:xfrm>
            <a:off x="1408320" y="4046400"/>
            <a:ext cx="9912600" cy="10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Override a raise_salary() method in Manager so managers get double the normal raise percentage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2" name="Shape 13"/>
          <p:cNvSpPr/>
          <p:nvPr/>
        </p:nvSpPr>
        <p:spPr>
          <a:xfrm>
            <a:off x="868680" y="5485320"/>
            <a:ext cx="308880" cy="3088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3" name="Text 14"/>
          <p:cNvSpPr/>
          <p:nvPr/>
        </p:nvSpPr>
        <p:spPr>
          <a:xfrm>
            <a:off x="868680" y="5485320"/>
            <a:ext cx="308880" cy="30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Text 15"/>
          <p:cNvSpPr/>
          <p:nvPr/>
        </p:nvSpPr>
        <p:spPr>
          <a:xfrm>
            <a:off x="1408320" y="5109120"/>
            <a:ext cx="9912600" cy="10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Print MyClass.__mro__ for a class with two parents, and explain the order out loud before checking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5" name="Text 16"/>
          <p:cNvSpPr/>
          <p:nvPr/>
        </p:nvSpPr>
        <p:spPr>
          <a:xfrm>
            <a:off x="548640" y="6510600"/>
            <a:ext cx="54842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6" name="Text 17"/>
          <p:cNvSpPr/>
          <p:nvPr/>
        </p:nvSpPr>
        <p:spPr>
          <a:xfrm>
            <a:off x="11094480" y="6510600"/>
            <a:ext cx="54648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30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Shape 0"/>
          <p:cNvSpPr/>
          <p:nvPr/>
        </p:nvSpPr>
        <p:spPr>
          <a:xfrm>
            <a:off x="548640" y="457200"/>
            <a:ext cx="381960" cy="38196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08" name="Image 0" descr="/home/claude/work/icons/FaRandom.png"/>
          <p:cNvPicPr/>
          <p:nvPr/>
        </p:nvPicPr>
        <p:blipFill>
          <a:blip r:embed="rId1"/>
          <a:stretch/>
        </p:blipFill>
        <p:spPr>
          <a:xfrm>
            <a:off x="631080" y="539640"/>
            <a:ext cx="217440" cy="217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9" name="Text 1"/>
          <p:cNvSpPr/>
          <p:nvPr/>
        </p:nvSpPr>
        <p:spPr>
          <a:xfrm>
            <a:off x="1097280" y="420480"/>
            <a:ext cx="1054368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Pillar 4: Polymorphism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0" name="Shape 2"/>
          <p:cNvSpPr/>
          <p:nvPr/>
        </p:nvSpPr>
        <p:spPr>
          <a:xfrm>
            <a:off x="548640" y="1234440"/>
            <a:ext cx="3243960" cy="5118480"/>
          </a:xfrm>
          <a:prstGeom prst="roundRect">
            <a:avLst>
              <a:gd name="adj" fmla="val 3380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1" name="Shape 3"/>
          <p:cNvSpPr/>
          <p:nvPr/>
        </p:nvSpPr>
        <p:spPr>
          <a:xfrm>
            <a:off x="1645920" y="1737360"/>
            <a:ext cx="1049400" cy="10494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12" name="Image 1" descr="/home/claude/work/icons/FaRandom.png"/>
          <p:cNvPicPr/>
          <p:nvPr/>
        </p:nvPicPr>
        <p:blipFill>
          <a:blip r:embed="rId2"/>
          <a:stretch/>
        </p:blipFill>
        <p:spPr>
          <a:xfrm>
            <a:off x="1906560" y="2002680"/>
            <a:ext cx="528120" cy="528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3" name="Text 4"/>
          <p:cNvSpPr/>
          <p:nvPr/>
        </p:nvSpPr>
        <p:spPr>
          <a:xfrm>
            <a:off x="731520" y="3017520"/>
            <a:ext cx="2878200" cy="306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Same call,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different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behavior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4" name="Text 5"/>
          <p:cNvSpPr/>
          <p:nvPr/>
        </p:nvSpPr>
        <p:spPr>
          <a:xfrm>
            <a:off x="4206240" y="1280160"/>
            <a:ext cx="7434720" cy="502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Polymorphism means different classes can respond to the exact same method call, each in its own appropriate way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"Poly" (many) + "morph" (forms) — one interface, many shapes of behavior underneath it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You already saw the mechanism in the last part: method overriding is exactly how polymorphism happens in practice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The payoff is code that works on any object with the right method, without needing to know or check its exact class first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Text 6"/>
          <p:cNvSpPr/>
          <p:nvPr/>
        </p:nvSpPr>
        <p:spPr>
          <a:xfrm>
            <a:off x="548640" y="6510600"/>
            <a:ext cx="54842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6" name="Text 7"/>
          <p:cNvSpPr/>
          <p:nvPr/>
        </p:nvSpPr>
        <p:spPr>
          <a:xfrm>
            <a:off x="11094480" y="6510600"/>
            <a:ext cx="54648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31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Shape 0"/>
          <p:cNvSpPr/>
          <p:nvPr/>
        </p:nvSpPr>
        <p:spPr>
          <a:xfrm>
            <a:off x="548640" y="457200"/>
            <a:ext cx="381960" cy="38196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18" name="Image 0" descr="/home/claude/work/icons/FaRandom.png"/>
          <p:cNvPicPr/>
          <p:nvPr/>
        </p:nvPicPr>
        <p:blipFill>
          <a:blip r:embed="rId1"/>
          <a:stretch/>
        </p:blipFill>
        <p:spPr>
          <a:xfrm>
            <a:off x="631080" y="539640"/>
            <a:ext cx="217440" cy="217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9" name="Text 1"/>
          <p:cNvSpPr/>
          <p:nvPr/>
        </p:nvSpPr>
        <p:spPr>
          <a:xfrm>
            <a:off x="1097280" y="420480"/>
            <a:ext cx="1054368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Polymorphism in Action — One Loop, Many Behaviors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0" name="Text 2"/>
          <p:cNvSpPr/>
          <p:nvPr/>
        </p:nvSpPr>
        <p:spPr>
          <a:xfrm>
            <a:off x="548640" y="1234440"/>
            <a:ext cx="11092320" cy="11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Every shape in the list has an area() method — but each class calculates it completely differently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The loop doesn’t check what type of shape it has — it just trusts that .area() exists and calls it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This is the real payoff of polymorphism: code that’s written once and works correctly for classes that don’t exist yet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1" name="Shape 3"/>
          <p:cNvSpPr/>
          <p:nvPr/>
        </p:nvSpPr>
        <p:spPr>
          <a:xfrm>
            <a:off x="548640" y="2569320"/>
            <a:ext cx="11092320" cy="3783600"/>
          </a:xfrm>
          <a:prstGeom prst="roundRect">
            <a:avLst>
              <a:gd name="adj" fmla="val 1932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2" name="Text 4"/>
          <p:cNvSpPr/>
          <p:nvPr/>
        </p:nvSpPr>
        <p:spPr>
          <a:xfrm>
            <a:off x="868680" y="2752200"/>
            <a:ext cx="10452240" cy="341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Circle: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__init__(self, r): self.r = r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area(self): return 3.14159 * self.r ** 2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Square: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__init__(self, s): self.s = s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area(self): return self.s ** 2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shapes = [Circle(3), Square(4)]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for shape in shapes: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print(shape.area())   # each uses its OWN area() logic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8FA89E"/>
                </a:solidFill>
                <a:effectLst/>
                <a:uFillTx/>
                <a:latin typeface="Cantarell"/>
                <a:ea typeface="Consolas"/>
              </a:rPr>
              <a:t># 28.27...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8FA89E"/>
                </a:solidFill>
                <a:effectLst/>
                <a:uFillTx/>
                <a:latin typeface="Cantarell"/>
                <a:ea typeface="Consolas"/>
              </a:rPr>
              <a:t># 16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3" name="Text 5"/>
          <p:cNvSpPr/>
          <p:nvPr/>
        </p:nvSpPr>
        <p:spPr>
          <a:xfrm>
            <a:off x="548640" y="6510600"/>
            <a:ext cx="54842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4" name="Text 6"/>
          <p:cNvSpPr/>
          <p:nvPr/>
        </p:nvSpPr>
        <p:spPr>
          <a:xfrm>
            <a:off x="11094480" y="6510600"/>
            <a:ext cx="54648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32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Shape 0"/>
          <p:cNvSpPr/>
          <p:nvPr/>
        </p:nvSpPr>
        <p:spPr>
          <a:xfrm>
            <a:off x="548640" y="457200"/>
            <a:ext cx="381960" cy="38196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26" name="Image 0" descr="/home/claude/work/icons/FaFeather.png"/>
          <p:cNvPicPr/>
          <p:nvPr/>
        </p:nvPicPr>
        <p:blipFill>
          <a:blip r:embed="rId1"/>
          <a:stretch/>
        </p:blipFill>
        <p:spPr>
          <a:xfrm>
            <a:off x="631080" y="539640"/>
            <a:ext cx="217440" cy="217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7" name="Text 1"/>
          <p:cNvSpPr/>
          <p:nvPr/>
        </p:nvSpPr>
        <p:spPr>
          <a:xfrm>
            <a:off x="1097280" y="420480"/>
            <a:ext cx="1054368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Duck Typing — Python’s Real Polymorphism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8" name="Text 2"/>
          <p:cNvSpPr/>
          <p:nvPr/>
        </p:nvSpPr>
        <p:spPr>
          <a:xfrm>
            <a:off x="548640" y="1234440"/>
            <a:ext cx="11092320" cy="11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"If it walks like a duck and quacks like a duck, it’s a duck" — Python doesn’t check an object’s class, only whether it has the method being called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Two totally unrelated classes can both work with the same code, as long as they both implement the method it expects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This is looser and more flexible than polymorphism in many other languages — it’s driven entirely by behavior, not by shared inheritance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9" name="Shape 3"/>
          <p:cNvSpPr/>
          <p:nvPr/>
        </p:nvSpPr>
        <p:spPr>
          <a:xfrm>
            <a:off x="548640" y="2569320"/>
            <a:ext cx="11092320" cy="3783600"/>
          </a:xfrm>
          <a:prstGeom prst="roundRect">
            <a:avLst>
              <a:gd name="adj" fmla="val 1932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0" name="Text 4"/>
          <p:cNvSpPr/>
          <p:nvPr/>
        </p:nvSpPr>
        <p:spPr>
          <a:xfrm>
            <a:off x="868680" y="2752200"/>
            <a:ext cx="10452240" cy="341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Duck: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sound(self): print("Quack!")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Dog: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sound(self): print("Woof!")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def make_it_talk(animal):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animal.sound()   # no type check — just calls .sound()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make_it_talk(Duck())   # Quack!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make_it_talk(Dog())    # Woof! — completely unrelated classes, both work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1" name="Text 5"/>
          <p:cNvSpPr/>
          <p:nvPr/>
        </p:nvSpPr>
        <p:spPr>
          <a:xfrm>
            <a:off x="548640" y="6510600"/>
            <a:ext cx="54842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2" name="Text 6"/>
          <p:cNvSpPr/>
          <p:nvPr/>
        </p:nvSpPr>
        <p:spPr>
          <a:xfrm>
            <a:off x="11094480" y="6510600"/>
            <a:ext cx="54648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33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Shape 0"/>
          <p:cNvSpPr/>
          <p:nvPr/>
        </p:nvSpPr>
        <p:spPr>
          <a:xfrm>
            <a:off x="548640" y="457200"/>
            <a:ext cx="381960" cy="38196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34" name="Image 0" descr="/home/claude/work/icons/FaRandom.png"/>
          <p:cNvPicPr/>
          <p:nvPr/>
        </p:nvPicPr>
        <p:blipFill>
          <a:blip r:embed="rId1"/>
          <a:stretch/>
        </p:blipFill>
        <p:spPr>
          <a:xfrm>
            <a:off x="631080" y="539640"/>
            <a:ext cx="217440" cy="217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5" name="Text 1"/>
          <p:cNvSpPr/>
          <p:nvPr/>
        </p:nvSpPr>
        <p:spPr>
          <a:xfrm>
            <a:off x="1097280" y="420480"/>
            <a:ext cx="1054368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Practice Set — Polymorphism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6" name="Shape 2"/>
          <p:cNvSpPr/>
          <p:nvPr/>
        </p:nvSpPr>
        <p:spPr>
          <a:xfrm>
            <a:off x="548640" y="1234440"/>
            <a:ext cx="11092320" cy="5118480"/>
          </a:xfrm>
          <a:prstGeom prst="roundRect">
            <a:avLst>
              <a:gd name="adj" fmla="val 1786"/>
            </a:avLst>
          </a:prstGeom>
          <a:solidFill>
            <a:srgbClr val="E9DEC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7" name="Text 3"/>
          <p:cNvSpPr/>
          <p:nvPr/>
        </p:nvSpPr>
        <p:spPr>
          <a:xfrm>
            <a:off x="868680" y="1435680"/>
            <a:ext cx="1045224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Try these yourself first — no code shown, that’s the point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8" name="Shape 4"/>
          <p:cNvSpPr/>
          <p:nvPr/>
        </p:nvSpPr>
        <p:spPr>
          <a:xfrm>
            <a:off x="868680" y="2473560"/>
            <a:ext cx="308880" cy="3088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9" name="Text 5"/>
          <p:cNvSpPr/>
          <p:nvPr/>
        </p:nvSpPr>
        <p:spPr>
          <a:xfrm>
            <a:off x="868680" y="2473560"/>
            <a:ext cx="308880" cy="30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0" name="Text 6"/>
          <p:cNvSpPr/>
          <p:nvPr/>
        </p:nvSpPr>
        <p:spPr>
          <a:xfrm>
            <a:off x="1408320" y="1920240"/>
            <a:ext cx="9912600" cy="141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Write three classes (Cat, Dog, Cow) each with their own sound() method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1" name="Shape 7"/>
          <p:cNvSpPr/>
          <p:nvPr/>
        </p:nvSpPr>
        <p:spPr>
          <a:xfrm>
            <a:off x="868680" y="3890880"/>
            <a:ext cx="308880" cy="3088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2" name="Text 8"/>
          <p:cNvSpPr/>
          <p:nvPr/>
        </p:nvSpPr>
        <p:spPr>
          <a:xfrm>
            <a:off x="868680" y="3890880"/>
            <a:ext cx="308880" cy="30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3" name="Text 9"/>
          <p:cNvSpPr/>
          <p:nvPr/>
        </p:nvSpPr>
        <p:spPr>
          <a:xfrm>
            <a:off x="1408320" y="3337560"/>
            <a:ext cx="9912600" cy="141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Loop over a list containing one of each and call .sound() on every item without checking type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Shape 10"/>
          <p:cNvSpPr/>
          <p:nvPr/>
        </p:nvSpPr>
        <p:spPr>
          <a:xfrm>
            <a:off x="868680" y="5308200"/>
            <a:ext cx="308880" cy="3088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5" name="Text 11"/>
          <p:cNvSpPr/>
          <p:nvPr/>
        </p:nvSpPr>
        <p:spPr>
          <a:xfrm>
            <a:off x="868680" y="5308200"/>
            <a:ext cx="308880" cy="30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6" name="Text 12"/>
          <p:cNvSpPr/>
          <p:nvPr/>
        </p:nvSpPr>
        <p:spPr>
          <a:xfrm>
            <a:off x="1408320" y="4754880"/>
            <a:ext cx="9912600" cy="141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Write a function that accepts any object with a .describe() method, and call it with two unrelated classes to prove duck typing works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7" name="Text 13"/>
          <p:cNvSpPr/>
          <p:nvPr/>
        </p:nvSpPr>
        <p:spPr>
          <a:xfrm>
            <a:off x="548640" y="6510600"/>
            <a:ext cx="54842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8" name="Text 14"/>
          <p:cNvSpPr/>
          <p:nvPr/>
        </p:nvSpPr>
        <p:spPr>
          <a:xfrm>
            <a:off x="11094480" y="6510600"/>
            <a:ext cx="54648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34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Shape 0"/>
          <p:cNvSpPr/>
          <p:nvPr/>
        </p:nvSpPr>
        <p:spPr>
          <a:xfrm>
            <a:off x="-2286000" y="3657600"/>
            <a:ext cx="6398640" cy="63986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0" name="Shape 1"/>
          <p:cNvSpPr/>
          <p:nvPr/>
        </p:nvSpPr>
        <p:spPr>
          <a:xfrm>
            <a:off x="8229600" y="-2743200"/>
            <a:ext cx="6398640" cy="63986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1" name="Shape 2"/>
          <p:cNvSpPr/>
          <p:nvPr/>
        </p:nvSpPr>
        <p:spPr>
          <a:xfrm>
            <a:off x="5638680" y="868680"/>
            <a:ext cx="912240" cy="91224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52" name="Image 0" descr="/home/claude/work/icons/FaCode.png"/>
          <p:cNvPicPr/>
          <p:nvPr/>
        </p:nvPicPr>
        <p:blipFill>
          <a:blip r:embed="rId1"/>
          <a:stretch/>
        </p:blipFill>
        <p:spPr>
          <a:xfrm>
            <a:off x="5876280" y="1097280"/>
            <a:ext cx="436680" cy="436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3" name="Text 3"/>
          <p:cNvSpPr/>
          <p:nvPr/>
        </p:nvSpPr>
        <p:spPr>
          <a:xfrm>
            <a:off x="914400" y="2057400"/>
            <a:ext cx="1036080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pc="300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4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4" name="Text 4"/>
          <p:cNvSpPr/>
          <p:nvPr/>
        </p:nvSpPr>
        <p:spPr>
          <a:xfrm>
            <a:off x="1188720" y="2441520"/>
            <a:ext cx="9812160" cy="100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Python-Specific OOP Details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5" name="Text 5"/>
          <p:cNvSpPr/>
          <p:nvPr/>
        </p:nvSpPr>
        <p:spPr>
          <a:xfrm>
            <a:off x="1920240" y="3630240"/>
            <a:ext cx="83491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Beyond the four pillars — the conventions and tools every real Python class actually uses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6" name="Text 6"/>
          <p:cNvSpPr/>
          <p:nvPr/>
        </p:nvSpPr>
        <p:spPr>
          <a:xfrm>
            <a:off x="11094480" y="6492240"/>
            <a:ext cx="54648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35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Shape 0"/>
          <p:cNvSpPr/>
          <p:nvPr/>
        </p:nvSpPr>
        <p:spPr>
          <a:xfrm>
            <a:off x="548640" y="457200"/>
            <a:ext cx="381960" cy="38196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58" name="Image 0" descr="/home/claude/work/icons/FaFileAlt.png"/>
          <p:cNvPicPr/>
          <p:nvPr/>
        </p:nvPicPr>
        <p:blipFill>
          <a:blip r:embed="rId1"/>
          <a:stretch/>
        </p:blipFill>
        <p:spPr>
          <a:xfrm>
            <a:off x="631080" y="539640"/>
            <a:ext cx="217440" cy="217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9" name="Text 1"/>
          <p:cNvSpPr/>
          <p:nvPr/>
        </p:nvSpPr>
        <p:spPr>
          <a:xfrm>
            <a:off x="1097280" y="420480"/>
            <a:ext cx="1054368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__str__ vs. __repr__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0" name="Text 2"/>
          <p:cNvSpPr/>
          <p:nvPr/>
        </p:nvSpPr>
        <p:spPr>
          <a:xfrm>
            <a:off x="548640" y="1234440"/>
            <a:ext cx="11092320" cy="11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By default, printing an object shows an unhelpful memory address — &lt;__main__.Dog object at 0x...&gt;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__str__ defines what print() and str() show — aimed at humans, readable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__repr__ defines what appears in the shell/debugger, and is used as a fallback if __str__ is missing — aimed at developers, ideally unambiguous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1" name="Shape 3"/>
          <p:cNvSpPr/>
          <p:nvPr/>
        </p:nvSpPr>
        <p:spPr>
          <a:xfrm>
            <a:off x="548640" y="2569320"/>
            <a:ext cx="11092320" cy="3783600"/>
          </a:xfrm>
          <a:prstGeom prst="roundRect">
            <a:avLst>
              <a:gd name="adj" fmla="val 1932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2" name="Text 4"/>
          <p:cNvSpPr/>
          <p:nvPr/>
        </p:nvSpPr>
        <p:spPr>
          <a:xfrm>
            <a:off x="868680" y="2752200"/>
            <a:ext cx="10452240" cy="341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Dog: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__init__(self, name):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self.name = name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__str__(self):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return f"{self.name}, a very good dog"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__repr__(self):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return f"Dog(name='{self.name}')"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rex = Dog("Rex")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print(rex)   # Rex, a very good dog   (__str__)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rex          # Dog(name='Rex')          (__repr__, in the shell)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3" name="Text 5"/>
          <p:cNvSpPr/>
          <p:nvPr/>
        </p:nvSpPr>
        <p:spPr>
          <a:xfrm>
            <a:off x="548640" y="6510600"/>
            <a:ext cx="54842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4" name="Text 6"/>
          <p:cNvSpPr/>
          <p:nvPr/>
        </p:nvSpPr>
        <p:spPr>
          <a:xfrm>
            <a:off x="11094480" y="6510600"/>
            <a:ext cx="54648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36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Shape 0"/>
          <p:cNvSpPr/>
          <p:nvPr/>
        </p:nvSpPr>
        <p:spPr>
          <a:xfrm>
            <a:off x="548640" y="457200"/>
            <a:ext cx="381960" cy="38196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66" name="Image 0" descr="/home/claude/work/icons/FaCode.png"/>
          <p:cNvPicPr/>
          <p:nvPr/>
        </p:nvPicPr>
        <p:blipFill>
          <a:blip r:embed="rId1"/>
          <a:stretch/>
        </p:blipFill>
        <p:spPr>
          <a:xfrm>
            <a:off x="631080" y="539640"/>
            <a:ext cx="217440" cy="217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7" name="Text 1"/>
          <p:cNvSpPr/>
          <p:nvPr/>
        </p:nvSpPr>
        <p:spPr>
          <a:xfrm>
            <a:off x="1097280" y="420480"/>
            <a:ext cx="1054368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More Dunder Methods — Operator Overloading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8" name="Text 2"/>
          <p:cNvSpPr/>
          <p:nvPr/>
        </p:nvSpPr>
        <p:spPr>
          <a:xfrm>
            <a:off x="548640" y="1234440"/>
            <a:ext cx="11092320" cy="11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Dunder methods let your own objects work with Python’s built-in operators and functions — +, ==, len(), and more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__eq__ defines what == means for your objects — by default, Python only checks if they’re the exact same object in memory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__add__ defines what + does — this is exactly how "vector1 + vector2" works for custom classes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9" name="Shape 3"/>
          <p:cNvSpPr/>
          <p:nvPr/>
        </p:nvSpPr>
        <p:spPr>
          <a:xfrm>
            <a:off x="548640" y="2569320"/>
            <a:ext cx="11092320" cy="3783600"/>
          </a:xfrm>
          <a:prstGeom prst="roundRect">
            <a:avLst>
              <a:gd name="adj" fmla="val 1932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0" name="Text 4"/>
          <p:cNvSpPr/>
          <p:nvPr/>
        </p:nvSpPr>
        <p:spPr>
          <a:xfrm>
            <a:off x="868680" y="2752200"/>
            <a:ext cx="10452240" cy="341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60" b="0" u="none" strike="noStrike">
                <a:solidFill>
                  <a:srgbClr val="E8F0EC"/>
                </a:solidFill>
                <a:effectLst/>
                <a:uFillTx/>
                <a:latin typeface="Consolas"/>
                <a:ea typeface="Consolas"/>
              </a:rPr>
              <a:t>class Point:</a:t>
            </a:r>
            <a:endParaRPr lang="en-US" sz="1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60" b="0" u="none" strike="noStrike">
                <a:solidFill>
                  <a:srgbClr val="E8F0EC"/>
                </a:solidFill>
                <a:effectLst/>
                <a:uFillTx/>
                <a:latin typeface="Consolas"/>
                <a:ea typeface="Consolas"/>
              </a:rPr>
              <a:t>    def __init__(self, x, y):</a:t>
            </a:r>
            <a:endParaRPr lang="en-US" sz="1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60" b="0" u="none" strike="noStrike">
                <a:solidFill>
                  <a:srgbClr val="E8F0EC"/>
                </a:solidFill>
                <a:effectLst/>
                <a:uFillTx/>
                <a:latin typeface="Consolas"/>
                <a:ea typeface="Consolas"/>
              </a:rPr>
              <a:t>        self.x, self.y = x, y</a:t>
            </a:r>
            <a:endParaRPr lang="en-US" sz="1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60" b="0" u="none" strike="noStrike">
                <a:solidFill>
                  <a:srgbClr val="E8F0EC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60" b="0" u="none" strike="noStrike">
                <a:solidFill>
                  <a:srgbClr val="E8F0EC"/>
                </a:solidFill>
                <a:effectLst/>
                <a:uFillTx/>
                <a:latin typeface="Consolas"/>
                <a:ea typeface="Consolas"/>
              </a:rPr>
              <a:t>    def __eq__(self, other):</a:t>
            </a:r>
            <a:endParaRPr lang="en-US" sz="1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60" b="0" u="none" strike="noStrike">
                <a:solidFill>
                  <a:srgbClr val="E8F0EC"/>
                </a:solidFill>
                <a:effectLst/>
                <a:uFillTx/>
                <a:latin typeface="Consolas"/>
                <a:ea typeface="Consolas"/>
              </a:rPr>
              <a:t>        return self.x == other.x and self.y == other.y</a:t>
            </a:r>
            <a:endParaRPr lang="en-US" sz="1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60" b="0" u="none" strike="noStrike">
                <a:solidFill>
                  <a:srgbClr val="E8F0EC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60" b="0" u="none" strike="noStrike">
                <a:solidFill>
                  <a:srgbClr val="E8F0EC"/>
                </a:solidFill>
                <a:effectLst/>
                <a:uFillTx/>
                <a:latin typeface="Consolas"/>
                <a:ea typeface="Consolas"/>
              </a:rPr>
              <a:t>    def __add__(self, other):</a:t>
            </a:r>
            <a:endParaRPr lang="en-US" sz="1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60" b="0" u="none" strike="noStrike">
                <a:solidFill>
                  <a:srgbClr val="E8F0EC"/>
                </a:solidFill>
                <a:effectLst/>
                <a:uFillTx/>
                <a:latin typeface="Consolas"/>
                <a:ea typeface="Consolas"/>
              </a:rPr>
              <a:t>        return Point(self.x + other.x, self.y + other.y)</a:t>
            </a:r>
            <a:endParaRPr lang="en-US" sz="1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60" b="0" u="none" strike="noStrike">
                <a:solidFill>
                  <a:srgbClr val="E8F0EC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60" b="0" u="none" strike="noStrike">
                <a:solidFill>
                  <a:srgbClr val="E8F0EC"/>
                </a:solidFill>
                <a:effectLst/>
                <a:uFillTx/>
                <a:latin typeface="Consolas"/>
                <a:ea typeface="Consolas"/>
              </a:rPr>
              <a:t>    def __len__(self):</a:t>
            </a:r>
            <a:endParaRPr lang="en-US" sz="1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60" b="0" u="none" strike="noStrike">
                <a:solidFill>
                  <a:srgbClr val="E8F0EC"/>
                </a:solidFill>
                <a:effectLst/>
                <a:uFillTx/>
                <a:latin typeface="Consolas"/>
                <a:ea typeface="Consolas"/>
              </a:rPr>
              <a:t>        return int((self.x**2 + self.y**2) ** 0.5)</a:t>
            </a:r>
            <a:endParaRPr lang="en-US" sz="1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60" b="0" u="none" strike="noStrike">
                <a:solidFill>
                  <a:srgbClr val="E8F0EC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60" b="0" u="none" strike="noStrike">
                <a:solidFill>
                  <a:srgbClr val="E8F0EC"/>
                </a:solidFill>
                <a:effectLst/>
                <a:uFillTx/>
                <a:latin typeface="Consolas"/>
                <a:ea typeface="Consolas"/>
              </a:rPr>
              <a:t>Point(1, 2) == Point(1, 2)   # True</a:t>
            </a:r>
            <a:endParaRPr lang="en-US" sz="1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60" b="0" u="none" strike="noStrike">
                <a:solidFill>
                  <a:srgbClr val="E8F0EC"/>
                </a:solidFill>
                <a:effectLst/>
                <a:uFillTx/>
                <a:latin typeface="Consolas"/>
                <a:ea typeface="Consolas"/>
              </a:rPr>
              <a:t>Point(1, 2) + Point(3, 4)    # Point object with x=4, y=6</a:t>
            </a:r>
            <a:endParaRPr lang="en-US" sz="1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1" name="Text 5"/>
          <p:cNvSpPr/>
          <p:nvPr/>
        </p:nvSpPr>
        <p:spPr>
          <a:xfrm>
            <a:off x="548640" y="6510600"/>
            <a:ext cx="54842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2" name="Text 6"/>
          <p:cNvSpPr/>
          <p:nvPr/>
        </p:nvSpPr>
        <p:spPr>
          <a:xfrm>
            <a:off x="11094480" y="6510600"/>
            <a:ext cx="54648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37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Shape 0"/>
          <p:cNvSpPr/>
          <p:nvPr/>
        </p:nvSpPr>
        <p:spPr>
          <a:xfrm>
            <a:off x="548640" y="457200"/>
            <a:ext cx="381960" cy="38196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74" name="Image 0" descr="/home/claude/work/icons/FaCogs.png"/>
          <p:cNvPicPr/>
          <p:nvPr/>
        </p:nvPicPr>
        <p:blipFill>
          <a:blip r:embed="rId1"/>
          <a:stretch/>
        </p:blipFill>
        <p:spPr>
          <a:xfrm>
            <a:off x="631080" y="539640"/>
            <a:ext cx="217440" cy="217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5" name="Text 1"/>
          <p:cNvSpPr/>
          <p:nvPr/>
        </p:nvSpPr>
        <p:spPr>
          <a:xfrm>
            <a:off x="1097280" y="420480"/>
            <a:ext cx="1054368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@classmethod vs. @staticmethod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6" name="Shape 2"/>
          <p:cNvSpPr/>
          <p:nvPr/>
        </p:nvSpPr>
        <p:spPr>
          <a:xfrm>
            <a:off x="548640" y="1234440"/>
            <a:ext cx="5362200" cy="5118480"/>
          </a:xfrm>
          <a:prstGeom prst="roundRect">
            <a:avLst>
              <a:gd name="adj" fmla="val 1786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7" name="Shape 3"/>
          <p:cNvSpPr/>
          <p:nvPr/>
        </p:nvSpPr>
        <p:spPr>
          <a:xfrm>
            <a:off x="822960" y="1508760"/>
            <a:ext cx="455040" cy="4550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78" name="Image 1" descr="/home/claude/work/icons/FaUsersCog.png"/>
          <p:cNvPicPr/>
          <p:nvPr/>
        </p:nvPicPr>
        <p:blipFill>
          <a:blip r:embed="rId2"/>
          <a:stretch/>
        </p:blipFill>
        <p:spPr>
          <a:xfrm>
            <a:off x="923400" y="1609200"/>
            <a:ext cx="253800" cy="253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9" name="Text 4"/>
          <p:cNvSpPr/>
          <p:nvPr/>
        </p:nvSpPr>
        <p:spPr>
          <a:xfrm>
            <a:off x="1444680" y="1508760"/>
            <a:ext cx="428328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@classmethod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0" name="Text 5"/>
          <p:cNvSpPr/>
          <p:nvPr/>
        </p:nvSpPr>
        <p:spPr>
          <a:xfrm>
            <a:off x="841320" y="2194560"/>
            <a:ext cx="4776840" cy="392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2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Receives the class itself (cls) instead of an instance (self) as its first argument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2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Can access and modify class-level state, and is commonly used to build alternate constructors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2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Called on the class: Dog.from_string(...)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1" name="Shape 6"/>
          <p:cNvSpPr/>
          <p:nvPr/>
        </p:nvSpPr>
        <p:spPr>
          <a:xfrm>
            <a:off x="6278760" y="1234440"/>
            <a:ext cx="5362200" cy="5118480"/>
          </a:xfrm>
          <a:prstGeom prst="roundRect">
            <a:avLst>
              <a:gd name="adj" fmla="val 1786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2" name="Shape 7"/>
          <p:cNvSpPr/>
          <p:nvPr/>
        </p:nvSpPr>
        <p:spPr>
          <a:xfrm>
            <a:off x="6553080" y="1508760"/>
            <a:ext cx="455040" cy="45504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83" name="Image 2" descr="/home/claude/work/icons/FaCube.png"/>
          <p:cNvPicPr/>
          <p:nvPr/>
        </p:nvPicPr>
        <p:blipFill>
          <a:blip r:embed="rId3"/>
          <a:stretch/>
        </p:blipFill>
        <p:spPr>
          <a:xfrm>
            <a:off x="6653520" y="1609200"/>
            <a:ext cx="253800" cy="253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4" name="Text 8"/>
          <p:cNvSpPr/>
          <p:nvPr/>
        </p:nvSpPr>
        <p:spPr>
          <a:xfrm>
            <a:off x="7174800" y="1508760"/>
            <a:ext cx="428328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@staticmethod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5" name="Text 9"/>
          <p:cNvSpPr/>
          <p:nvPr/>
        </p:nvSpPr>
        <p:spPr>
          <a:xfrm>
            <a:off x="6571440" y="2194560"/>
            <a:ext cx="4776840" cy="392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2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Receives neither self nor cls — it’s just a regular function that happens to live inside the class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2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Used when logic is related to the class conceptually, but doesn’t need any instance or class data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2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Called the same way: Dog.is_valid_name("Rex")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6" name="Text 10"/>
          <p:cNvSpPr/>
          <p:nvPr/>
        </p:nvSpPr>
        <p:spPr>
          <a:xfrm>
            <a:off x="548640" y="6510600"/>
            <a:ext cx="54842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7" name="Text 11"/>
          <p:cNvSpPr/>
          <p:nvPr/>
        </p:nvSpPr>
        <p:spPr>
          <a:xfrm>
            <a:off x="11094480" y="6510600"/>
            <a:ext cx="54648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38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Shape 0"/>
          <p:cNvSpPr/>
          <p:nvPr/>
        </p:nvSpPr>
        <p:spPr>
          <a:xfrm>
            <a:off x="548640" y="457200"/>
            <a:ext cx="381960" cy="38196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89" name="Image 0" descr="/home/claude/work/icons/FaKey.png"/>
          <p:cNvPicPr/>
          <p:nvPr/>
        </p:nvPicPr>
        <p:blipFill>
          <a:blip r:embed="rId1"/>
          <a:stretch/>
        </p:blipFill>
        <p:spPr>
          <a:xfrm>
            <a:off x="631080" y="539640"/>
            <a:ext cx="217440" cy="217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0" name="Text 1"/>
          <p:cNvSpPr/>
          <p:nvPr/>
        </p:nvSpPr>
        <p:spPr>
          <a:xfrm>
            <a:off x="1097280" y="420480"/>
            <a:ext cx="1054368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@classmethod as an Alternate Constructor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1" name="Text 2"/>
          <p:cNvSpPr/>
          <p:nvPr/>
        </p:nvSpPr>
        <p:spPr>
          <a:xfrm>
            <a:off x="548640" y="1234440"/>
            <a:ext cx="11092320" cy="11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This is the single most common real-world use of @classmethod — offering more than one way to build an object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from_string builds a Dog from one format (a comma-separated string) while __init__ handles the normal way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Both ultimately create the same kind of object — cls(...) inside a classmethod calls the real constructor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2" name="Shape 3"/>
          <p:cNvSpPr/>
          <p:nvPr/>
        </p:nvSpPr>
        <p:spPr>
          <a:xfrm>
            <a:off x="548640" y="2569320"/>
            <a:ext cx="11092320" cy="3783600"/>
          </a:xfrm>
          <a:prstGeom prst="roundRect">
            <a:avLst>
              <a:gd name="adj" fmla="val 1932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3" name="Text 4"/>
          <p:cNvSpPr/>
          <p:nvPr/>
        </p:nvSpPr>
        <p:spPr>
          <a:xfrm>
            <a:off x="868680" y="2752200"/>
            <a:ext cx="10452240" cy="341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Dog: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__init__(self, name, age):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self.name = name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self.age = age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@classmethod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from_string(cls, data):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name, age = data.split(",")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return cls(name, int(age))    # calls Dog(name, age)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rex = Dog.from_string("Rex,3")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rex.name, rex.age    # ('Rex', 3)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4" name="Text 5"/>
          <p:cNvSpPr/>
          <p:nvPr/>
        </p:nvSpPr>
        <p:spPr>
          <a:xfrm>
            <a:off x="548640" y="6510600"/>
            <a:ext cx="54842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5" name="Text 6"/>
          <p:cNvSpPr/>
          <p:nvPr/>
        </p:nvSpPr>
        <p:spPr>
          <a:xfrm>
            <a:off x="11094480" y="6510600"/>
            <a:ext cx="54648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39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Shape 0"/>
          <p:cNvSpPr/>
          <p:nvPr/>
        </p:nvSpPr>
        <p:spPr>
          <a:xfrm>
            <a:off x="548640" y="457200"/>
            <a:ext cx="381960" cy="38196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97" name="Image 0" descr="/home/claude/work/icons/FaCube.png"/>
          <p:cNvPicPr/>
          <p:nvPr/>
        </p:nvPicPr>
        <p:blipFill>
          <a:blip r:embed="rId1"/>
          <a:stretch/>
        </p:blipFill>
        <p:spPr>
          <a:xfrm>
            <a:off x="631080" y="539640"/>
            <a:ext cx="217440" cy="217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8" name="Text 1"/>
          <p:cNvSpPr/>
          <p:nvPr/>
        </p:nvSpPr>
        <p:spPr>
          <a:xfrm>
            <a:off x="1097280" y="420480"/>
            <a:ext cx="1054368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"Everything Is an Object" in Python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9" name="Shape 2"/>
          <p:cNvSpPr/>
          <p:nvPr/>
        </p:nvSpPr>
        <p:spPr>
          <a:xfrm>
            <a:off x="548640" y="1234440"/>
            <a:ext cx="3243960" cy="5118480"/>
          </a:xfrm>
          <a:prstGeom prst="roundRect">
            <a:avLst>
              <a:gd name="adj" fmla="val 3380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0" name="Shape 3"/>
          <p:cNvSpPr/>
          <p:nvPr/>
        </p:nvSpPr>
        <p:spPr>
          <a:xfrm>
            <a:off x="1645920" y="1737360"/>
            <a:ext cx="1049400" cy="10494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01" name="Image 1" descr="/home/claude/work/icons/FaCube.png"/>
          <p:cNvPicPr/>
          <p:nvPr/>
        </p:nvPicPr>
        <p:blipFill>
          <a:blip r:embed="rId2"/>
          <a:stretch/>
        </p:blipFill>
        <p:spPr>
          <a:xfrm>
            <a:off x="1906560" y="2002680"/>
            <a:ext cx="528120" cy="528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2" name="Text 4"/>
          <p:cNvSpPr/>
          <p:nvPr/>
        </p:nvSpPr>
        <p:spPr>
          <a:xfrm>
            <a:off x="731520" y="3017520"/>
            <a:ext cx="2878200" cy="306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Not just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your own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classes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3" name="Text 5"/>
          <p:cNvSpPr/>
          <p:nvPr/>
        </p:nvSpPr>
        <p:spPr>
          <a:xfrm>
            <a:off x="4206240" y="1280160"/>
            <a:ext cx="7434720" cy="502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Every value in Python — numbers, strings, lists, functions, even classes themselves — is an object of some class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(5).bit_length() works because even an int is an object with methods — type(5) really is &lt;class 'int'&gt;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This is why dir() and type() work uniformly on absolutely anything in Python — there’s no special-cased "primitive" data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Understanding your own classes makes Python’s built-in types make more sense too — they’re built the same way yours are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4" name="Text 6"/>
          <p:cNvSpPr/>
          <p:nvPr/>
        </p:nvSpPr>
        <p:spPr>
          <a:xfrm>
            <a:off x="548640" y="6510600"/>
            <a:ext cx="54842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5" name="Text 7"/>
          <p:cNvSpPr/>
          <p:nvPr/>
        </p:nvSpPr>
        <p:spPr>
          <a:xfrm>
            <a:off x="11094480" y="6510600"/>
            <a:ext cx="54648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40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Shape 0"/>
          <p:cNvSpPr/>
          <p:nvPr/>
        </p:nvSpPr>
        <p:spPr>
          <a:xfrm>
            <a:off x="548640" y="457200"/>
            <a:ext cx="381960" cy="38196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07" name="Image 0" descr="/home/claude/work/icons/FaExclamationTriangle.png"/>
          <p:cNvPicPr/>
          <p:nvPr/>
        </p:nvPicPr>
        <p:blipFill>
          <a:blip r:embed="rId1"/>
          <a:stretch/>
        </p:blipFill>
        <p:spPr>
          <a:xfrm>
            <a:off x="631080" y="539640"/>
            <a:ext cx="217440" cy="217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8" name="Text 1"/>
          <p:cNvSpPr/>
          <p:nvPr/>
        </p:nvSpPr>
        <p:spPr>
          <a:xfrm>
            <a:off x="1097280" y="420480"/>
            <a:ext cx="1054368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A Famous Python Gotcha: Mutable Class Attributes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9" name="Text 2"/>
          <p:cNvSpPr/>
          <p:nvPr/>
        </p:nvSpPr>
        <p:spPr>
          <a:xfrm>
            <a:off x="548640" y="1234440"/>
            <a:ext cx="11092320" cy="11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 mutable class attribute (like a list) is shared by every instance — exactly like any other class attribute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Appending to it from one object silently affects every other object, because there’s only ever one list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The fix: create mutable attributes inside __init__ with self, so each object gets its own independent copy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0" name="Shape 3"/>
          <p:cNvSpPr/>
          <p:nvPr/>
        </p:nvSpPr>
        <p:spPr>
          <a:xfrm>
            <a:off x="548640" y="2569320"/>
            <a:ext cx="11092320" cy="3783600"/>
          </a:xfrm>
          <a:prstGeom prst="roundRect">
            <a:avLst>
              <a:gd name="adj" fmla="val 1932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1" name="Text 4"/>
          <p:cNvSpPr/>
          <p:nvPr/>
        </p:nvSpPr>
        <p:spPr>
          <a:xfrm>
            <a:off x="868680" y="2752200"/>
            <a:ext cx="10452240" cy="341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40" b="0" u="none" strike="noStrike">
                <a:solidFill>
                  <a:srgbClr val="8FA89E"/>
                </a:solidFill>
                <a:effectLst/>
                <a:uFillTx/>
                <a:latin typeface="Cantarell"/>
                <a:ea typeface="Consolas"/>
              </a:rPr>
              <a:t># WRONG — shared across every instance</a:t>
            </a:r>
            <a:endParaRPr lang="en-US" sz="12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Dog:</a:t>
            </a:r>
            <a:endParaRPr lang="en-US" sz="12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tricks = []          # class attribute — ONE list for all dogs</a:t>
            </a:r>
            <a:endParaRPr lang="en-US" sz="12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add_trick(self, trick):</a:t>
            </a:r>
            <a:endParaRPr lang="en-US" sz="12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self.tricks.append(trick)</a:t>
            </a:r>
            <a:endParaRPr lang="en-US" sz="12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rex = Dog(); milo = Dog()</a:t>
            </a:r>
            <a:endParaRPr lang="en-US" sz="12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rex.add_trick("sit")</a:t>
            </a:r>
            <a:endParaRPr lang="en-US" sz="12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milo.tricks    # ['sit'] — leaked into milo too!</a:t>
            </a:r>
            <a:endParaRPr lang="en-US" sz="12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40" b="0" u="none" strike="noStrike">
                <a:solidFill>
                  <a:srgbClr val="8FA89E"/>
                </a:solidFill>
                <a:effectLst/>
                <a:uFillTx/>
                <a:latin typeface="Cantarell"/>
                <a:ea typeface="Consolas"/>
              </a:rPr>
              <a:t># RIGHT — each instance gets its own list</a:t>
            </a:r>
            <a:endParaRPr lang="en-US" sz="12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Dog:</a:t>
            </a:r>
            <a:endParaRPr lang="en-US" sz="12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__init__(self):</a:t>
            </a:r>
            <a:endParaRPr lang="en-US" sz="12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self.tricks = []   # instance attribute, private to self</a:t>
            </a:r>
            <a:endParaRPr lang="en-US" sz="12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2" name="Text 5"/>
          <p:cNvSpPr/>
          <p:nvPr/>
        </p:nvSpPr>
        <p:spPr>
          <a:xfrm>
            <a:off x="548640" y="6510600"/>
            <a:ext cx="54842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3" name="Text 6"/>
          <p:cNvSpPr/>
          <p:nvPr/>
        </p:nvSpPr>
        <p:spPr>
          <a:xfrm>
            <a:off x="11094480" y="6510600"/>
            <a:ext cx="54648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41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Shape 0"/>
          <p:cNvSpPr/>
          <p:nvPr/>
        </p:nvSpPr>
        <p:spPr>
          <a:xfrm>
            <a:off x="548640" y="457200"/>
            <a:ext cx="381960" cy="38196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15" name="Image 0" descr="/home/claude/work/icons/FaCode.png"/>
          <p:cNvPicPr/>
          <p:nvPr/>
        </p:nvPicPr>
        <p:blipFill>
          <a:blip r:embed="rId1"/>
          <a:stretch/>
        </p:blipFill>
        <p:spPr>
          <a:xfrm>
            <a:off x="631080" y="539640"/>
            <a:ext cx="217440" cy="217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6" name="Text 1"/>
          <p:cNvSpPr/>
          <p:nvPr/>
        </p:nvSpPr>
        <p:spPr>
          <a:xfrm>
            <a:off x="1097280" y="420480"/>
            <a:ext cx="1054368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Practice Set — Python-Specific Details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7" name="Shape 2"/>
          <p:cNvSpPr/>
          <p:nvPr/>
        </p:nvSpPr>
        <p:spPr>
          <a:xfrm>
            <a:off x="548640" y="1234440"/>
            <a:ext cx="11092320" cy="5118480"/>
          </a:xfrm>
          <a:prstGeom prst="roundRect">
            <a:avLst>
              <a:gd name="adj" fmla="val 1786"/>
            </a:avLst>
          </a:prstGeom>
          <a:solidFill>
            <a:srgbClr val="E9DEC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8" name="Text 3"/>
          <p:cNvSpPr/>
          <p:nvPr/>
        </p:nvSpPr>
        <p:spPr>
          <a:xfrm>
            <a:off x="868680" y="1435680"/>
            <a:ext cx="1045224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Try these yourself first — no code shown, that’s the point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9" name="Shape 4"/>
          <p:cNvSpPr/>
          <p:nvPr/>
        </p:nvSpPr>
        <p:spPr>
          <a:xfrm>
            <a:off x="868680" y="2473560"/>
            <a:ext cx="308880" cy="3088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0" name="Text 5"/>
          <p:cNvSpPr/>
          <p:nvPr/>
        </p:nvSpPr>
        <p:spPr>
          <a:xfrm>
            <a:off x="868680" y="2473560"/>
            <a:ext cx="308880" cy="30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1" name="Text 6"/>
          <p:cNvSpPr/>
          <p:nvPr/>
        </p:nvSpPr>
        <p:spPr>
          <a:xfrm>
            <a:off x="1408320" y="1920240"/>
            <a:ext cx="9912600" cy="141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Add __str__ to a class you’ve already written this session, and confirm print() uses it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2" name="Shape 7"/>
          <p:cNvSpPr/>
          <p:nvPr/>
        </p:nvSpPr>
        <p:spPr>
          <a:xfrm>
            <a:off x="868680" y="3890880"/>
            <a:ext cx="308880" cy="3088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3" name="Text 8"/>
          <p:cNvSpPr/>
          <p:nvPr/>
        </p:nvSpPr>
        <p:spPr>
          <a:xfrm>
            <a:off x="868680" y="3890880"/>
            <a:ext cx="308880" cy="30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4" name="Text 9"/>
          <p:cNvSpPr/>
          <p:nvPr/>
        </p:nvSpPr>
        <p:spPr>
          <a:xfrm>
            <a:off x="1408320" y="3337560"/>
            <a:ext cx="9912600" cy="141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Add a @classmethod alternate constructor to your Employee class from earlier that builds one from a single "name-salary" string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5" name="Shape 10"/>
          <p:cNvSpPr/>
          <p:nvPr/>
        </p:nvSpPr>
        <p:spPr>
          <a:xfrm>
            <a:off x="868680" y="5308200"/>
            <a:ext cx="308880" cy="3088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6" name="Text 11"/>
          <p:cNvSpPr/>
          <p:nvPr/>
        </p:nvSpPr>
        <p:spPr>
          <a:xfrm>
            <a:off x="868680" y="5308200"/>
            <a:ext cx="308880" cy="30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7" name="Text 12"/>
          <p:cNvSpPr/>
          <p:nvPr/>
        </p:nvSpPr>
        <p:spPr>
          <a:xfrm>
            <a:off x="1408320" y="4754880"/>
            <a:ext cx="9912600" cy="141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Deliberately reproduce the mutable class-attribute bug, confirm the leak, then fix it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8" name="Text 13"/>
          <p:cNvSpPr/>
          <p:nvPr/>
        </p:nvSpPr>
        <p:spPr>
          <a:xfrm>
            <a:off x="548640" y="6510600"/>
            <a:ext cx="54842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9" name="Text 14"/>
          <p:cNvSpPr/>
          <p:nvPr/>
        </p:nvSpPr>
        <p:spPr>
          <a:xfrm>
            <a:off x="11094480" y="6510600"/>
            <a:ext cx="54648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42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Shape 0"/>
          <p:cNvSpPr/>
          <p:nvPr/>
        </p:nvSpPr>
        <p:spPr>
          <a:xfrm>
            <a:off x="-2286000" y="3657600"/>
            <a:ext cx="6398640" cy="63986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1" name="Shape 1"/>
          <p:cNvSpPr/>
          <p:nvPr/>
        </p:nvSpPr>
        <p:spPr>
          <a:xfrm>
            <a:off x="8229600" y="-2743200"/>
            <a:ext cx="6398640" cy="63986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2" name="Shape 2"/>
          <p:cNvSpPr/>
          <p:nvPr/>
        </p:nvSpPr>
        <p:spPr>
          <a:xfrm>
            <a:off x="5638680" y="868680"/>
            <a:ext cx="912240" cy="91224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33" name="Image 0" descr="/home/claude/work/icons/FaClipboardList.png"/>
          <p:cNvPicPr/>
          <p:nvPr/>
        </p:nvPicPr>
        <p:blipFill>
          <a:blip r:embed="rId1"/>
          <a:stretch/>
        </p:blipFill>
        <p:spPr>
          <a:xfrm>
            <a:off x="5876280" y="1097280"/>
            <a:ext cx="436680" cy="436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4" name="Text 3"/>
          <p:cNvSpPr/>
          <p:nvPr/>
        </p:nvSpPr>
        <p:spPr>
          <a:xfrm>
            <a:off x="914400" y="2057400"/>
            <a:ext cx="1036080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pc="300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INDUSTRY-STYLE TASKS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5" name="Text 4"/>
          <p:cNvSpPr/>
          <p:nvPr/>
        </p:nvSpPr>
        <p:spPr>
          <a:xfrm>
            <a:off x="1188720" y="2441520"/>
            <a:ext cx="9812160" cy="136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Build the Things You’ll Actually Be Asked to Build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6" name="Text 5"/>
          <p:cNvSpPr/>
          <p:nvPr/>
        </p:nvSpPr>
        <p:spPr>
          <a:xfrm>
            <a:off x="1920240" y="3996000"/>
            <a:ext cx="83491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Not toy examples — validated accounts, class hierarchies, and alternate constructors are everyday, real-world work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7" name="Text 6"/>
          <p:cNvSpPr/>
          <p:nvPr/>
        </p:nvSpPr>
        <p:spPr>
          <a:xfrm>
            <a:off x="11094480" y="6492240"/>
            <a:ext cx="54648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43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Shape 0"/>
          <p:cNvSpPr/>
          <p:nvPr/>
        </p:nvSpPr>
        <p:spPr>
          <a:xfrm>
            <a:off x="548640" y="457200"/>
            <a:ext cx="381960" cy="38196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39" name="Image 0" descr="/home/claude/work/icons/FaUserShield.png"/>
          <p:cNvPicPr/>
          <p:nvPr/>
        </p:nvPicPr>
        <p:blipFill>
          <a:blip r:embed="rId1"/>
          <a:stretch/>
        </p:blipFill>
        <p:spPr>
          <a:xfrm>
            <a:off x="631080" y="539640"/>
            <a:ext cx="217440" cy="217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0" name="Text 1"/>
          <p:cNvSpPr/>
          <p:nvPr/>
        </p:nvSpPr>
        <p:spPr>
          <a:xfrm>
            <a:off x="1097280" y="420480"/>
            <a:ext cx="1054368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Today's Tasks — Part A: Classes &amp; Encapsulation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1" name="Text 2"/>
          <p:cNvSpPr/>
          <p:nvPr/>
        </p:nvSpPr>
        <p:spPr>
          <a:xfrm>
            <a:off x="548640" y="1234440"/>
            <a:ext cx="1109232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Small tasks — do them in order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2" name="Shape 3"/>
          <p:cNvSpPr/>
          <p:nvPr/>
        </p:nvSpPr>
        <p:spPr>
          <a:xfrm>
            <a:off x="548640" y="1682640"/>
            <a:ext cx="11092320" cy="1458000"/>
          </a:xfrm>
          <a:prstGeom prst="roundRect">
            <a:avLst>
              <a:gd name="adj" fmla="val 5010"/>
            </a:avLst>
          </a:prstGeom>
          <a:solidFill>
            <a:srgbClr val="E9DEC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3" name="Shape 4"/>
          <p:cNvSpPr/>
          <p:nvPr/>
        </p:nvSpPr>
        <p:spPr>
          <a:xfrm>
            <a:off x="804600" y="2302920"/>
            <a:ext cx="290520" cy="2905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44" name="Image 1" descr="/home/claude/work/icons/FaCheckCircle.png"/>
          <p:cNvPicPr/>
          <p:nvPr/>
        </p:nvPicPr>
        <p:blipFill>
          <a:blip r:embed="rId2"/>
          <a:stretch/>
        </p:blipFill>
        <p:spPr>
          <a:xfrm>
            <a:off x="859680" y="2357640"/>
            <a:ext cx="180720" cy="18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5" name="Text 5"/>
          <p:cNvSpPr/>
          <p:nvPr/>
        </p:nvSpPr>
        <p:spPr>
          <a:xfrm>
            <a:off x="1325880" y="1719000"/>
            <a:ext cx="10040760" cy="134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Build a BankAccount class with a protected _balance, plus deposit() and withdraw() methods that reject invalid amounts — no other way to change the balance.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6" name="Shape 6"/>
          <p:cNvSpPr/>
          <p:nvPr/>
        </p:nvSpPr>
        <p:spPr>
          <a:xfrm>
            <a:off x="548640" y="3252240"/>
            <a:ext cx="11092320" cy="1458000"/>
          </a:xfrm>
          <a:prstGeom prst="roundRect">
            <a:avLst>
              <a:gd name="adj" fmla="val 5010"/>
            </a:avLst>
          </a:prstGeom>
          <a:solidFill>
            <a:srgbClr val="E9DEC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7" name="Shape 7"/>
          <p:cNvSpPr/>
          <p:nvPr/>
        </p:nvSpPr>
        <p:spPr>
          <a:xfrm>
            <a:off x="804600" y="3872520"/>
            <a:ext cx="290520" cy="2905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48" name="Image 2" descr="/home/claude/work/icons/FaCheckCircle.png"/>
          <p:cNvPicPr/>
          <p:nvPr/>
        </p:nvPicPr>
        <p:blipFill>
          <a:blip r:embed="rId3"/>
          <a:stretch/>
        </p:blipFill>
        <p:spPr>
          <a:xfrm>
            <a:off x="859680" y="3927240"/>
            <a:ext cx="180720" cy="18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9" name="Text 8"/>
          <p:cNvSpPr/>
          <p:nvPr/>
        </p:nvSpPr>
        <p:spPr>
          <a:xfrm>
            <a:off x="1325880" y="3288960"/>
            <a:ext cx="10040760" cy="134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Turn balance into a @property with a setter that raises a ValueError for negative values, and confirm direct assignment is properly validated.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0" name="Shape 9"/>
          <p:cNvSpPr/>
          <p:nvPr/>
        </p:nvSpPr>
        <p:spPr>
          <a:xfrm>
            <a:off x="548640" y="4821840"/>
            <a:ext cx="11092320" cy="1458000"/>
          </a:xfrm>
          <a:prstGeom prst="roundRect">
            <a:avLst>
              <a:gd name="adj" fmla="val 5010"/>
            </a:avLst>
          </a:prstGeom>
          <a:solidFill>
            <a:srgbClr val="E9DEC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1" name="Shape 10"/>
          <p:cNvSpPr/>
          <p:nvPr/>
        </p:nvSpPr>
        <p:spPr>
          <a:xfrm>
            <a:off x="804600" y="5442120"/>
            <a:ext cx="290520" cy="2905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52" name="Image 3" descr="/home/claude/work/icons/FaCheckCircle.png"/>
          <p:cNvPicPr/>
          <p:nvPr/>
        </p:nvPicPr>
        <p:blipFill>
          <a:blip r:embed="rId4"/>
          <a:stretch/>
        </p:blipFill>
        <p:spPr>
          <a:xfrm>
            <a:off x="859680" y="5497200"/>
            <a:ext cx="180720" cy="18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3" name="Text 11"/>
          <p:cNvSpPr/>
          <p:nvPr/>
        </p:nvSpPr>
        <p:spPr>
          <a:xfrm>
            <a:off x="1325880" y="4858560"/>
            <a:ext cx="10040760" cy="134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Add a class attribute bank_name shared by every account, and confirm it updates for all existing accounts when changed on the class.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4" name="Text 12"/>
          <p:cNvSpPr/>
          <p:nvPr/>
        </p:nvSpPr>
        <p:spPr>
          <a:xfrm>
            <a:off x="548640" y="6510600"/>
            <a:ext cx="54842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5" name="Text 13"/>
          <p:cNvSpPr/>
          <p:nvPr/>
        </p:nvSpPr>
        <p:spPr>
          <a:xfrm>
            <a:off x="11094480" y="6510600"/>
            <a:ext cx="54648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44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Shape 0"/>
          <p:cNvSpPr/>
          <p:nvPr/>
        </p:nvSpPr>
        <p:spPr>
          <a:xfrm>
            <a:off x="548640" y="457200"/>
            <a:ext cx="381960" cy="38196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57" name="Image 0" descr="/home/claude/work/icons/FaDna.png"/>
          <p:cNvPicPr/>
          <p:nvPr/>
        </p:nvPicPr>
        <p:blipFill>
          <a:blip r:embed="rId1"/>
          <a:stretch/>
        </p:blipFill>
        <p:spPr>
          <a:xfrm>
            <a:off x="631080" y="539640"/>
            <a:ext cx="217440" cy="217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8" name="Text 1"/>
          <p:cNvSpPr/>
          <p:nvPr/>
        </p:nvSpPr>
        <p:spPr>
          <a:xfrm>
            <a:off x="1097280" y="420480"/>
            <a:ext cx="1054368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Today's Tasks — Part B: Inheritance &amp; Polymorphism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9" name="Text 2"/>
          <p:cNvSpPr/>
          <p:nvPr/>
        </p:nvSpPr>
        <p:spPr>
          <a:xfrm>
            <a:off x="548640" y="1234440"/>
            <a:ext cx="1109232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Small tasks — do them in order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0" name="Shape 3"/>
          <p:cNvSpPr/>
          <p:nvPr/>
        </p:nvSpPr>
        <p:spPr>
          <a:xfrm>
            <a:off x="548640" y="1682640"/>
            <a:ext cx="11092320" cy="1458000"/>
          </a:xfrm>
          <a:prstGeom prst="roundRect">
            <a:avLst>
              <a:gd name="adj" fmla="val 5010"/>
            </a:avLst>
          </a:prstGeom>
          <a:solidFill>
            <a:srgbClr val="E9DEC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1" name="Shape 4"/>
          <p:cNvSpPr/>
          <p:nvPr/>
        </p:nvSpPr>
        <p:spPr>
          <a:xfrm>
            <a:off x="804600" y="2302920"/>
            <a:ext cx="290520" cy="2905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62" name="Image 1" descr="/home/claude/work/icons/FaCheckCircle.png"/>
          <p:cNvPicPr/>
          <p:nvPr/>
        </p:nvPicPr>
        <p:blipFill>
          <a:blip r:embed="rId2"/>
          <a:stretch/>
        </p:blipFill>
        <p:spPr>
          <a:xfrm>
            <a:off x="859680" y="2357640"/>
            <a:ext cx="180720" cy="18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3" name="Text 5"/>
          <p:cNvSpPr/>
          <p:nvPr/>
        </p:nvSpPr>
        <p:spPr>
          <a:xfrm>
            <a:off x="1325880" y="1719000"/>
            <a:ext cx="10040760" cy="134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Build a Shape base class (abstract, using ABC) with an abstract area() method, then Rectangle and Triangle subclasses that implement it differently.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4" name="Shape 6"/>
          <p:cNvSpPr/>
          <p:nvPr/>
        </p:nvSpPr>
        <p:spPr>
          <a:xfrm>
            <a:off x="548640" y="3252240"/>
            <a:ext cx="11092320" cy="1458000"/>
          </a:xfrm>
          <a:prstGeom prst="roundRect">
            <a:avLst>
              <a:gd name="adj" fmla="val 5010"/>
            </a:avLst>
          </a:prstGeom>
          <a:solidFill>
            <a:srgbClr val="E9DEC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5" name="Shape 7"/>
          <p:cNvSpPr/>
          <p:nvPr/>
        </p:nvSpPr>
        <p:spPr>
          <a:xfrm>
            <a:off x="804600" y="3872520"/>
            <a:ext cx="290520" cy="2905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66" name="Image 2" descr="/home/claude/work/icons/FaCheckCircle.png"/>
          <p:cNvPicPr/>
          <p:nvPr/>
        </p:nvPicPr>
        <p:blipFill>
          <a:blip r:embed="rId3"/>
          <a:stretch/>
        </p:blipFill>
        <p:spPr>
          <a:xfrm>
            <a:off x="859680" y="3927240"/>
            <a:ext cx="180720" cy="18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7" name="Text 8"/>
          <p:cNvSpPr/>
          <p:nvPr/>
        </p:nvSpPr>
        <p:spPr>
          <a:xfrm>
            <a:off x="1325880" y="3288960"/>
            <a:ext cx="10040760" cy="134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Loop over a list of mixed shapes and print each one’s area — without checking what type each shape is.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8" name="Shape 9"/>
          <p:cNvSpPr/>
          <p:nvPr/>
        </p:nvSpPr>
        <p:spPr>
          <a:xfrm>
            <a:off x="548640" y="4821840"/>
            <a:ext cx="11092320" cy="1458000"/>
          </a:xfrm>
          <a:prstGeom prst="roundRect">
            <a:avLst>
              <a:gd name="adj" fmla="val 5010"/>
            </a:avLst>
          </a:prstGeom>
          <a:solidFill>
            <a:srgbClr val="E9DEC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9" name="Shape 10"/>
          <p:cNvSpPr/>
          <p:nvPr/>
        </p:nvSpPr>
        <p:spPr>
          <a:xfrm>
            <a:off x="804600" y="5442120"/>
            <a:ext cx="290520" cy="2905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70" name="Image 3" descr="/home/claude/work/icons/FaCheckCircle.png"/>
          <p:cNvPicPr/>
          <p:nvPr/>
        </p:nvPicPr>
        <p:blipFill>
          <a:blip r:embed="rId4"/>
          <a:stretch/>
        </p:blipFill>
        <p:spPr>
          <a:xfrm>
            <a:off x="859680" y="5497200"/>
            <a:ext cx="180720" cy="18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1" name="Text 11"/>
          <p:cNvSpPr/>
          <p:nvPr/>
        </p:nvSpPr>
        <p:spPr>
          <a:xfrm>
            <a:off x="1325880" y="4858560"/>
            <a:ext cx="10040760" cy="134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Create a SavingsAccount(BankAccount) subclass that overrides withdraw() to enforce a minimum balance, using super() to reuse the original validation first.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2" name="Text 12"/>
          <p:cNvSpPr/>
          <p:nvPr/>
        </p:nvSpPr>
        <p:spPr>
          <a:xfrm>
            <a:off x="548640" y="6510600"/>
            <a:ext cx="54842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3" name="Text 13"/>
          <p:cNvSpPr/>
          <p:nvPr/>
        </p:nvSpPr>
        <p:spPr>
          <a:xfrm>
            <a:off x="11094480" y="6510600"/>
            <a:ext cx="54648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45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4" name="Shape 0"/>
          <p:cNvSpPr/>
          <p:nvPr/>
        </p:nvSpPr>
        <p:spPr>
          <a:xfrm>
            <a:off x="548640" y="457200"/>
            <a:ext cx="381960" cy="38196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75" name="Image 0" descr="/home/claude/work/icons/FaCode.png"/>
          <p:cNvPicPr/>
          <p:nvPr/>
        </p:nvPicPr>
        <p:blipFill>
          <a:blip r:embed="rId1"/>
          <a:stretch/>
        </p:blipFill>
        <p:spPr>
          <a:xfrm>
            <a:off x="631080" y="539640"/>
            <a:ext cx="217440" cy="217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6" name="Text 1"/>
          <p:cNvSpPr/>
          <p:nvPr/>
        </p:nvSpPr>
        <p:spPr>
          <a:xfrm>
            <a:off x="1097280" y="420480"/>
            <a:ext cx="1054368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Today's Tasks — Part C: Python-Specific Details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7" name="Text 2"/>
          <p:cNvSpPr/>
          <p:nvPr/>
        </p:nvSpPr>
        <p:spPr>
          <a:xfrm>
            <a:off x="548640" y="1234440"/>
            <a:ext cx="1109232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Small tasks — do them in order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8" name="Shape 3"/>
          <p:cNvSpPr/>
          <p:nvPr/>
        </p:nvSpPr>
        <p:spPr>
          <a:xfrm>
            <a:off x="548640" y="1682640"/>
            <a:ext cx="11092320" cy="1458000"/>
          </a:xfrm>
          <a:prstGeom prst="roundRect">
            <a:avLst>
              <a:gd name="adj" fmla="val 5010"/>
            </a:avLst>
          </a:prstGeom>
          <a:solidFill>
            <a:srgbClr val="E9DEC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9" name="Shape 4"/>
          <p:cNvSpPr/>
          <p:nvPr/>
        </p:nvSpPr>
        <p:spPr>
          <a:xfrm>
            <a:off x="804600" y="2302920"/>
            <a:ext cx="290520" cy="2905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80" name="Image 1" descr="/home/claude/work/icons/FaCheckCircle.png"/>
          <p:cNvPicPr/>
          <p:nvPr/>
        </p:nvPicPr>
        <p:blipFill>
          <a:blip r:embed="rId2"/>
          <a:stretch/>
        </p:blipFill>
        <p:spPr>
          <a:xfrm>
            <a:off x="859680" y="2357640"/>
            <a:ext cx="180720" cy="18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1" name="Text 5"/>
          <p:cNvSpPr/>
          <p:nvPr/>
        </p:nvSpPr>
        <p:spPr>
          <a:xfrm>
            <a:off x="1325880" y="1719000"/>
            <a:ext cx="10040760" cy="134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Add __str__ and __repr__ to your BankAccount class, with __str__ showing a friendly summary and __repr__ showing exact constructor-style detail.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2" name="Shape 6"/>
          <p:cNvSpPr/>
          <p:nvPr/>
        </p:nvSpPr>
        <p:spPr>
          <a:xfrm>
            <a:off x="548640" y="3252240"/>
            <a:ext cx="11092320" cy="1458000"/>
          </a:xfrm>
          <a:prstGeom prst="roundRect">
            <a:avLst>
              <a:gd name="adj" fmla="val 5010"/>
            </a:avLst>
          </a:prstGeom>
          <a:solidFill>
            <a:srgbClr val="E9DEC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3" name="Shape 7"/>
          <p:cNvSpPr/>
          <p:nvPr/>
        </p:nvSpPr>
        <p:spPr>
          <a:xfrm>
            <a:off x="804600" y="3872520"/>
            <a:ext cx="290520" cy="2905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84" name="Image 2" descr="/home/claude/work/icons/FaCheckCircle.png"/>
          <p:cNvPicPr/>
          <p:nvPr/>
        </p:nvPicPr>
        <p:blipFill>
          <a:blip r:embed="rId3"/>
          <a:stretch/>
        </p:blipFill>
        <p:spPr>
          <a:xfrm>
            <a:off x="859680" y="3927240"/>
            <a:ext cx="180720" cy="18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5" name="Text 8"/>
          <p:cNvSpPr/>
          <p:nvPr/>
        </p:nvSpPr>
        <p:spPr>
          <a:xfrm>
            <a:off x="1325880" y="3288960"/>
            <a:ext cx="10040760" cy="134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Add a @classmethod from_dict(cls, data) that builds a BankAccount from a dictionary like {"owner": "Ahmed", "balance": 500}.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6" name="Shape 9"/>
          <p:cNvSpPr/>
          <p:nvPr/>
        </p:nvSpPr>
        <p:spPr>
          <a:xfrm>
            <a:off x="548640" y="4821840"/>
            <a:ext cx="11092320" cy="1458000"/>
          </a:xfrm>
          <a:prstGeom prst="roundRect">
            <a:avLst>
              <a:gd name="adj" fmla="val 5010"/>
            </a:avLst>
          </a:prstGeom>
          <a:solidFill>
            <a:srgbClr val="E9DEC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7" name="Shape 10"/>
          <p:cNvSpPr/>
          <p:nvPr/>
        </p:nvSpPr>
        <p:spPr>
          <a:xfrm>
            <a:off x="804600" y="5442120"/>
            <a:ext cx="290520" cy="2905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88" name="Image 3" descr="/home/claude/work/icons/FaCheckCircle.png"/>
          <p:cNvPicPr/>
          <p:nvPr/>
        </p:nvPicPr>
        <p:blipFill>
          <a:blip r:embed="rId4"/>
          <a:stretch/>
        </p:blipFill>
        <p:spPr>
          <a:xfrm>
            <a:off x="859680" y="5497200"/>
            <a:ext cx="180720" cy="18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9" name="Text 11"/>
          <p:cNvSpPr/>
          <p:nvPr/>
        </p:nvSpPr>
        <p:spPr>
          <a:xfrm>
            <a:off x="1325880" y="4858560"/>
            <a:ext cx="10040760" cy="134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Add a @staticmethod is_valid_owner_name(name) that checks a name is non-empty and alphabetic, with no reference to self or cls.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0" name="Text 12"/>
          <p:cNvSpPr/>
          <p:nvPr/>
        </p:nvSpPr>
        <p:spPr>
          <a:xfrm>
            <a:off x="548640" y="6510600"/>
            <a:ext cx="54842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1" name="Text 13"/>
          <p:cNvSpPr/>
          <p:nvPr/>
        </p:nvSpPr>
        <p:spPr>
          <a:xfrm>
            <a:off x="11094480" y="6510600"/>
            <a:ext cx="54648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46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Shape 0"/>
          <p:cNvSpPr/>
          <p:nvPr/>
        </p:nvSpPr>
        <p:spPr>
          <a:xfrm>
            <a:off x="-2286000" y="3657600"/>
            <a:ext cx="6398640" cy="63986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3" name="Shape 1"/>
          <p:cNvSpPr/>
          <p:nvPr/>
        </p:nvSpPr>
        <p:spPr>
          <a:xfrm>
            <a:off x="8229600" y="-2743200"/>
            <a:ext cx="6398640" cy="63986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4" name="Shape 2"/>
          <p:cNvSpPr/>
          <p:nvPr/>
        </p:nvSpPr>
        <p:spPr>
          <a:xfrm>
            <a:off x="5638680" y="868680"/>
            <a:ext cx="912240" cy="91224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95" name="Image 0" descr="/home/claude/work/icons/FaPuzzlePiece.png"/>
          <p:cNvPicPr/>
          <p:nvPr/>
        </p:nvPicPr>
        <p:blipFill>
          <a:blip r:embed="rId1"/>
          <a:stretch/>
        </p:blipFill>
        <p:spPr>
          <a:xfrm>
            <a:off x="5876280" y="1097280"/>
            <a:ext cx="436680" cy="436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6" name="Text 3"/>
          <p:cNvSpPr/>
          <p:nvPr/>
        </p:nvSpPr>
        <p:spPr>
          <a:xfrm>
            <a:off x="914400" y="2057400"/>
            <a:ext cx="1036080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pc="300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7" name="Text 4"/>
          <p:cNvSpPr/>
          <p:nvPr/>
        </p:nvSpPr>
        <p:spPr>
          <a:xfrm>
            <a:off x="1188720" y="2441520"/>
            <a:ext cx="9812160" cy="100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Put It All Together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8" name="Text 5"/>
          <p:cNvSpPr/>
          <p:nvPr/>
        </p:nvSpPr>
        <p:spPr>
          <a:xfrm>
            <a:off x="1920240" y="3630240"/>
            <a:ext cx="83491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Two projects combining classes, all four pillars, and Python-specific OOP details into one cohesive task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9" name="Text 6"/>
          <p:cNvSpPr/>
          <p:nvPr/>
        </p:nvSpPr>
        <p:spPr>
          <a:xfrm>
            <a:off x="11094480" y="6492240"/>
            <a:ext cx="54648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47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Shape 0"/>
          <p:cNvSpPr/>
          <p:nvPr/>
        </p:nvSpPr>
        <p:spPr>
          <a:xfrm>
            <a:off x="548640" y="457200"/>
            <a:ext cx="381960" cy="38196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01" name="Image 0" descr="/home/claude/work/icons/FaWallet.png"/>
          <p:cNvPicPr/>
          <p:nvPr/>
        </p:nvPicPr>
        <p:blipFill>
          <a:blip r:embed="rId1"/>
          <a:stretch/>
        </p:blipFill>
        <p:spPr>
          <a:xfrm>
            <a:off x="631080" y="539640"/>
            <a:ext cx="217440" cy="217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2" name="Text 1"/>
          <p:cNvSpPr/>
          <p:nvPr/>
        </p:nvSpPr>
        <p:spPr>
          <a:xfrm>
            <a:off x="1097280" y="420480"/>
            <a:ext cx="1054368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Mini Project 1: Bank Account System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3" name="Shape 2"/>
          <p:cNvSpPr/>
          <p:nvPr/>
        </p:nvSpPr>
        <p:spPr>
          <a:xfrm>
            <a:off x="548640" y="1234440"/>
            <a:ext cx="3243960" cy="5118480"/>
          </a:xfrm>
          <a:prstGeom prst="roundRect">
            <a:avLst>
              <a:gd name="adj" fmla="val 3380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4" name="Shape 3"/>
          <p:cNvSpPr/>
          <p:nvPr/>
        </p:nvSpPr>
        <p:spPr>
          <a:xfrm>
            <a:off x="1645920" y="1737360"/>
            <a:ext cx="1049400" cy="10494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05" name="Image 1" descr="/home/claude/work/icons/FaWallet.png"/>
          <p:cNvPicPr/>
          <p:nvPr/>
        </p:nvPicPr>
        <p:blipFill>
          <a:blip r:embed="rId2"/>
          <a:stretch/>
        </p:blipFill>
        <p:spPr>
          <a:xfrm>
            <a:off x="1906560" y="2002680"/>
            <a:ext cx="528120" cy="528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6" name="Text 4"/>
          <p:cNvSpPr/>
          <p:nvPr/>
        </p:nvSpPr>
        <p:spPr>
          <a:xfrm>
            <a:off x="731520" y="3017520"/>
            <a:ext cx="2878200" cy="306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Encapsulation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+ inheritance,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combined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7" name="Text 5"/>
          <p:cNvSpPr/>
          <p:nvPr/>
        </p:nvSpPr>
        <p:spPr>
          <a:xfrm>
            <a:off x="4206240" y="1280160"/>
            <a:ext cx="7434720" cy="502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Build a BankAccount base class with a protected _balance, a validated @property, and deposit()/withdraw() methods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Build SavingsAccount and CheckingAccount subclasses that each override withdraw() with their own rules (minimum balance, overdraft limit)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Add __str__ for a friendly account summary, and a @classmethod that builds an account from a dictionary of starting data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This mirrors how real banking and fintech backends structure account logic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8" name="Text 6"/>
          <p:cNvSpPr/>
          <p:nvPr/>
        </p:nvSpPr>
        <p:spPr>
          <a:xfrm>
            <a:off x="548640" y="6510600"/>
            <a:ext cx="54842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9" name="Text 7"/>
          <p:cNvSpPr/>
          <p:nvPr/>
        </p:nvSpPr>
        <p:spPr>
          <a:xfrm>
            <a:off x="11094480" y="6510600"/>
            <a:ext cx="54648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48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" name="Shape 0"/>
          <p:cNvSpPr/>
          <p:nvPr/>
        </p:nvSpPr>
        <p:spPr>
          <a:xfrm>
            <a:off x="548640" y="457200"/>
            <a:ext cx="381960" cy="38196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11" name="Image 0" descr="/home/claude/work/icons/FaShapes.png"/>
          <p:cNvPicPr/>
          <p:nvPr/>
        </p:nvPicPr>
        <p:blipFill>
          <a:blip r:embed="rId1"/>
          <a:stretch/>
        </p:blipFill>
        <p:spPr>
          <a:xfrm>
            <a:off x="631080" y="539640"/>
            <a:ext cx="217440" cy="217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12" name="Text 1"/>
          <p:cNvSpPr/>
          <p:nvPr/>
        </p:nvSpPr>
        <p:spPr>
          <a:xfrm>
            <a:off x="1097280" y="420480"/>
            <a:ext cx="1054368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Mini Project 2: Shape &amp; Employee Hierarchies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3" name="Shape 2"/>
          <p:cNvSpPr/>
          <p:nvPr/>
        </p:nvSpPr>
        <p:spPr>
          <a:xfrm>
            <a:off x="548640" y="1234440"/>
            <a:ext cx="3243960" cy="5118480"/>
          </a:xfrm>
          <a:prstGeom prst="roundRect">
            <a:avLst>
              <a:gd name="adj" fmla="val 3380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4" name="Shape 3"/>
          <p:cNvSpPr/>
          <p:nvPr/>
        </p:nvSpPr>
        <p:spPr>
          <a:xfrm>
            <a:off x="1645920" y="1737360"/>
            <a:ext cx="1049400" cy="10494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15" name="Image 1" descr="/home/claude/work/icons/FaShapes.png"/>
          <p:cNvPicPr/>
          <p:nvPr/>
        </p:nvPicPr>
        <p:blipFill>
          <a:blip r:embed="rId2"/>
          <a:stretch/>
        </p:blipFill>
        <p:spPr>
          <a:xfrm>
            <a:off x="1906560" y="2002680"/>
            <a:ext cx="528120" cy="528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16" name="Text 4"/>
          <p:cNvSpPr/>
          <p:nvPr/>
        </p:nvSpPr>
        <p:spPr>
          <a:xfrm>
            <a:off x="731520" y="3017520"/>
            <a:ext cx="2878200" cy="306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Abstraction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+ polymorphism,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combined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7" name="Text 5"/>
          <p:cNvSpPr/>
          <p:nvPr/>
        </p:nvSpPr>
        <p:spPr>
          <a:xfrm>
            <a:off x="4206240" y="1280160"/>
            <a:ext cx="7434720" cy="502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Build an abstract Shape class (area(), perimeter()) with Circle, Rectangle, and Triangle subclasses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Write a report() function that loops over a mixed list of shapes and prints each one’s area — using polymorphism, with no type-checking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Separately, build an Employee base class and a Manager subclass that overrides a bonus() calculation using super()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This mirrors how real HR systems and geometry/CAD tools are actually structured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8" name="Text 6"/>
          <p:cNvSpPr/>
          <p:nvPr/>
        </p:nvSpPr>
        <p:spPr>
          <a:xfrm>
            <a:off x="548640" y="6510600"/>
            <a:ext cx="54842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9" name="Text 7"/>
          <p:cNvSpPr/>
          <p:nvPr/>
        </p:nvSpPr>
        <p:spPr>
          <a:xfrm>
            <a:off x="11094480" y="6510600"/>
            <a:ext cx="54648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49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0" name="Shape 0"/>
          <p:cNvSpPr/>
          <p:nvPr/>
        </p:nvSpPr>
        <p:spPr>
          <a:xfrm>
            <a:off x="-2286000" y="3657600"/>
            <a:ext cx="6398640" cy="63986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1" name="Shape 1"/>
          <p:cNvSpPr/>
          <p:nvPr/>
        </p:nvSpPr>
        <p:spPr>
          <a:xfrm>
            <a:off x="8229600" y="-2743200"/>
            <a:ext cx="6398640" cy="63986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2" name="Shape 2"/>
          <p:cNvSpPr/>
          <p:nvPr/>
        </p:nvSpPr>
        <p:spPr>
          <a:xfrm>
            <a:off x="5638680" y="868680"/>
            <a:ext cx="912240" cy="91224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23" name="Image 0" descr="/home/claude/work/icons/FaFlagCheckered.png"/>
          <p:cNvPicPr/>
          <p:nvPr/>
        </p:nvPicPr>
        <p:blipFill>
          <a:blip r:embed="rId1"/>
          <a:stretch/>
        </p:blipFill>
        <p:spPr>
          <a:xfrm>
            <a:off x="5876280" y="1097280"/>
            <a:ext cx="436680" cy="436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4" name="Text 3"/>
          <p:cNvSpPr/>
          <p:nvPr/>
        </p:nvSpPr>
        <p:spPr>
          <a:xfrm>
            <a:off x="914400" y="2057400"/>
            <a:ext cx="1036080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pc="300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RECAP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5" name="Text 4"/>
          <p:cNvSpPr/>
          <p:nvPr/>
        </p:nvSpPr>
        <p:spPr>
          <a:xfrm>
            <a:off x="822960" y="2441520"/>
            <a:ext cx="10543680" cy="21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Classes bundle data with behavior. The four pillars — encapsulation, abstraction, inheritance, and polymorphism — are how that bundling stays clean as programs grow.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6" name="Text 5"/>
          <p:cNvSpPr/>
          <p:nvPr/>
        </p:nvSpPr>
        <p:spPr>
          <a:xfrm>
            <a:off x="1920240" y="4773240"/>
            <a:ext cx="83491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Next session: File I/O &amp; Error Handling — reading and writing files, try/except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7" name="Text 6"/>
          <p:cNvSpPr/>
          <p:nvPr/>
        </p:nvSpPr>
        <p:spPr>
          <a:xfrm>
            <a:off x="11094480" y="6492240"/>
            <a:ext cx="54648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50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258</TotalTime>
  <Application>LibreOffice/26.2.6.1$Linux_X86_64 LibreOffice_project/620$Build-1</Application>
  <AppVersion>15.0000</AppVersion>
  <Words>5435</Words>
  <Paragraphs>654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2026-08-14T06:03:23Z</dcterms:created>
  <dc:creator>PptxGenJS</dc:creator>
  <dc:description/>
  <dc:language>en-US</dc:language>
  <cp:lastModifiedBy/>
  <dcterms:modified xsi:type="dcterms:W3CDTF">2026-09-11T23:13:42Z</dcterms:modified>
  <cp:revision>31</cp:revision>
  <dc:subject>PptxGenJS Presentation</dc:subject>
  <dc:title>PptxGenJS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50</vt:i4>
  </property>
  <property fmtid="{D5CDD505-2E9C-101B-9397-08002B2CF9AE}" pid="3" name="PresentationFormat">
    <vt:lpwstr>Widescreen</vt:lpwstr>
  </property>
  <property fmtid="{D5CDD505-2E9C-101B-9397-08002B2CF9AE}" pid="4" name="Slides">
    <vt:i4>50</vt:i4>
  </property>
</Properties>
</file>