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2192000" cy="6858000"/>
  <p:notesSz cx="6858000" cy="12192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66FAD0D-9EC3-4956-8A75-6FD79B7F0EA9}" v="1" dt="2026-09-05T16:21:24.8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fiz Waseem Ahmed" userId="8a6b23c944322495" providerId="LiveId" clId="{E7CEC0E6-1526-4834-A6B2-B1E975D7A869}"/>
    <pc:docChg chg="undo custSel modSld">
      <pc:chgData name="Hafiz Waseem Ahmed" userId="8a6b23c944322495" providerId="LiveId" clId="{E7CEC0E6-1526-4834-A6B2-B1E975D7A869}" dt="2026-09-05T16:41:01.695" v="23" actId="255"/>
      <pc:docMkLst>
        <pc:docMk/>
      </pc:docMkLst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56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57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58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59"/>
        </pc:sldMkLst>
      </pc:sldChg>
      <pc:sldChg chg="modSp mod modTransition">
        <pc:chgData name="Hafiz Waseem Ahmed" userId="8a6b23c944322495" providerId="LiveId" clId="{E7CEC0E6-1526-4834-A6B2-B1E975D7A869}" dt="2026-09-05T16:34:45.507" v="2" actId="403"/>
        <pc:sldMkLst>
          <pc:docMk/>
          <pc:sldMk cId="0" sldId="260"/>
        </pc:sldMkLst>
        <pc:spChg chg="mod">
          <ac:chgData name="Hafiz Waseem Ahmed" userId="8a6b23c944322495" providerId="LiveId" clId="{E7CEC0E6-1526-4834-A6B2-B1E975D7A869}" dt="2026-09-05T16:34:42.466" v="1" actId="403"/>
          <ac:spMkLst>
            <pc:docMk/>
            <pc:sldMk cId="0" sldId="260"/>
            <ac:spMk id="72" creationId="{00000000-0000-0000-0000-000000000000}"/>
          </ac:spMkLst>
        </pc:spChg>
        <pc:spChg chg="mod">
          <ac:chgData name="Hafiz Waseem Ahmed" userId="8a6b23c944322495" providerId="LiveId" clId="{E7CEC0E6-1526-4834-A6B2-B1E975D7A869}" dt="2026-09-05T16:34:45.507" v="2" actId="403"/>
          <ac:spMkLst>
            <pc:docMk/>
            <pc:sldMk cId="0" sldId="260"/>
            <ac:spMk id="77" creationId="{00000000-0000-0000-0000-000000000000}"/>
          </ac:spMkLst>
        </pc:spChg>
      </pc:sldChg>
      <pc:sldChg chg="modSp mod modTransition">
        <pc:chgData name="Hafiz Waseem Ahmed" userId="8a6b23c944322495" providerId="LiveId" clId="{E7CEC0E6-1526-4834-A6B2-B1E975D7A869}" dt="2026-09-05T16:39:42.554" v="17" actId="403"/>
        <pc:sldMkLst>
          <pc:docMk/>
          <pc:sldMk cId="0" sldId="261"/>
        </pc:sldMkLst>
        <pc:spChg chg="mod">
          <ac:chgData name="Hafiz Waseem Ahmed" userId="8a6b23c944322495" providerId="LiveId" clId="{E7CEC0E6-1526-4834-A6B2-B1E975D7A869}" dt="2026-09-05T16:39:35.307" v="7" actId="403"/>
          <ac:spMkLst>
            <pc:docMk/>
            <pc:sldMk cId="0" sldId="261"/>
            <ac:spMk id="87" creationId="{00000000-0000-0000-0000-000000000000}"/>
          </ac:spMkLst>
        </pc:spChg>
        <pc:spChg chg="mod">
          <ac:chgData name="Hafiz Waseem Ahmed" userId="8a6b23c944322495" providerId="LiveId" clId="{E7CEC0E6-1526-4834-A6B2-B1E975D7A869}" dt="2026-09-05T16:39:38.479" v="12" actId="403"/>
          <ac:spMkLst>
            <pc:docMk/>
            <pc:sldMk cId="0" sldId="261"/>
            <ac:spMk id="92" creationId="{00000000-0000-0000-0000-000000000000}"/>
          </ac:spMkLst>
        </pc:spChg>
        <pc:spChg chg="mod">
          <ac:chgData name="Hafiz Waseem Ahmed" userId="8a6b23c944322495" providerId="LiveId" clId="{E7CEC0E6-1526-4834-A6B2-B1E975D7A869}" dt="2026-09-05T16:39:42.554" v="17" actId="403"/>
          <ac:spMkLst>
            <pc:docMk/>
            <pc:sldMk cId="0" sldId="261"/>
            <ac:spMk id="97" creationId="{00000000-0000-0000-0000-000000000000}"/>
          </ac:spMkLst>
        </pc:spChg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62"/>
        </pc:sldMkLst>
      </pc:sldChg>
      <pc:sldChg chg="modSp mod modTransition">
        <pc:chgData name="Hafiz Waseem Ahmed" userId="8a6b23c944322495" providerId="LiveId" clId="{E7CEC0E6-1526-4834-A6B2-B1E975D7A869}" dt="2026-09-05T16:41:01.695" v="23" actId="255"/>
        <pc:sldMkLst>
          <pc:docMk/>
          <pc:sldMk cId="0" sldId="263"/>
        </pc:sldMkLst>
        <pc:spChg chg="mod">
          <ac:chgData name="Hafiz Waseem Ahmed" userId="8a6b23c944322495" providerId="LiveId" clId="{E7CEC0E6-1526-4834-A6B2-B1E975D7A869}" dt="2026-09-05T16:41:01.695" v="23" actId="255"/>
          <ac:spMkLst>
            <pc:docMk/>
            <pc:sldMk cId="0" sldId="263"/>
            <ac:spMk id="115" creationId="{00000000-0000-0000-0000-000000000000}"/>
          </ac:spMkLst>
        </pc:spChg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64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65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66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67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68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69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0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1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2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3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4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5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6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7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8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79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0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1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2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3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4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5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6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7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8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89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0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1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2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3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4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5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6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7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8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299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300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301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302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303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304"/>
        </pc:sldMkLst>
      </pc:sldChg>
      <pc:sldChg chg="modTransition">
        <pc:chgData name="Hafiz Waseem Ahmed" userId="8a6b23c944322495" providerId="LiveId" clId="{E7CEC0E6-1526-4834-A6B2-B1E975D7A869}" dt="2026-09-05T16:21:24.899" v="0"/>
        <pc:sldMkLst>
          <pc:docMk/>
          <pc:sldMk cId="0" sldId="30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ED2F391-5ED4-4F61-9AE2-8804A3070F6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ABF1EF-8966-497E-9551-882332B25E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04D941-602B-41EF-A96A-0A76B594E1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CB92EA-8B7E-44C3-A92C-D08E7E8DFF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4794DC-4CFF-44F4-B064-D7BAB62EB3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734E1B-F9A1-4C9D-8A3E-290894279B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01E04F-F7B6-4E01-8B96-8F1E027E0B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71B972-73B2-4283-8E4F-C867AC53C2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3209AA-C6A7-49DB-A447-4B752BC8F6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E2C49C-B4CA-455D-BD17-CDFA18E22F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1F9CA0-7B41-42A4-A874-6DDC638670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71166E-3374-4514-A2EA-94D7C20E69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87C4E1-C77B-4277-AA10-9007B5594C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2858A2-D267-4375-9EA5-1263061316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9396A6-4F05-4ED3-A2B7-6FA64CC870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C1D821-1A0C-4C5D-8448-184A2282EA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1048F1-E6FC-4933-95FE-58B96C8FEF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08BE86-DB4E-409B-AA2D-1A7DF02ACF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289BC-5C35-4691-A006-9A24D375A9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3FFA6A-BB86-4FBA-9BD1-D07A8E0F66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1BA04D-8FAD-4418-BC38-2E87B94613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611681-DCDD-4AD4-87B2-D0673C78C5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6358FD-8F2D-49DC-BFA4-56E9A10F1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D28A31-565C-4F6C-8AB0-5115A52E90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7730B2-CA6E-4ADC-8AB0-2DC6DC124D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A599F0-5B62-4324-A02F-310D96B3BB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9F99D8-A1D3-40EA-8A72-A566A2A160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08DA3B-7B87-4FBA-981A-3F752B958C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56BF92-B83A-4196-BFBA-B51F58A99E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31BD49-26F5-4579-8253-56D043DD48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78038B-CAF7-4186-A846-0780F97E3E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22B259-C53C-4EB1-9438-335B74AF0B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D1A55-9CA3-4665-8FD8-35F8E02066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133125-AB2E-41C5-ADCF-18A021E4AE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6D424E-D23B-43AF-AF11-BB1E035264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390AD2-5A5C-43E3-B62B-6B2F698719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793D5E-D651-4B74-9547-E2076545D8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28066B-0C22-4840-9083-FFFA552488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CBC352-5A02-47EC-B8E3-CCD2365390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46C697-BBB4-47BB-8472-55263613D1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F95B2F-06AC-403F-A88B-98592702B0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3DF423-758B-4696-B960-D0A479FF08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B770C0-6983-4845-B3FF-CE8EC9572D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C7F952-20B8-4387-B1F1-65D51170FF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1357F1-069C-4C9A-BD9C-8F8D140A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965D58-B521-4FBC-87C9-FECF7FBB4C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86F39A-8D8D-42B8-B31D-1031A7A8E4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00F576-4004-454E-8814-61DFED049F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4658A1-C90B-43C3-8314-88790C5CA8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7331DD-7540-46CA-8772-5A6E501E41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431534-6CF0-4D1D-8693-33E39FDBEC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1520" y="1417320"/>
            <a:ext cx="1187640" cy="11876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/home/claude/work/icons/FaCubes.png"/>
          <p:cNvPicPr/>
          <p:nvPr/>
        </p:nvPicPr>
        <p:blipFill>
          <a:blip r:embed="rId3"/>
          <a:stretch/>
        </p:blipFill>
        <p:spPr>
          <a:xfrm>
            <a:off x="5803200" y="1710000"/>
            <a:ext cx="584280" cy="584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880360"/>
            <a:ext cx="10361880" cy="91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Object-Oriented Programming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554480" y="3794760"/>
            <a:ext cx="9081720" cy="63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Classes, Objects &amp; the Four Pillars — Encapsulation, Abstraction, Inheritance, Polymorphism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4480560"/>
            <a:ext cx="103618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Session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home/claude/work/icons/FaListUl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396080"/>
            <a:ext cx="309960" cy="309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1" descr="/home/claude/work/icons/FaSitemap.png"/>
          <p:cNvPicPr/>
          <p:nvPr/>
        </p:nvPicPr>
        <p:blipFill>
          <a:blip r:embed="rId4"/>
          <a:stretch/>
        </p:blipFill>
        <p:spPr>
          <a:xfrm>
            <a:off x="617040" y="146448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3"/>
          <p:cNvSpPr/>
          <p:nvPr/>
        </p:nvSpPr>
        <p:spPr>
          <a:xfrm>
            <a:off x="1060560" y="123444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Why OOP exists — the shift from separate data and functions to bundled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548640" y="20304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2" descr="/home/claude/work/icons/FaCube.png"/>
          <p:cNvPicPr/>
          <p:nvPr/>
        </p:nvPicPr>
        <p:blipFill>
          <a:blip r:embed="rId5"/>
          <a:stretch/>
        </p:blipFill>
        <p:spPr>
          <a:xfrm>
            <a:off x="617040" y="209880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060560" y="186876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Classes and objects — __init__, self, attributes, and methods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548640" y="2665080"/>
            <a:ext cx="309960" cy="309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3" descr="/home/claude/work/icons/FaUserShield.png"/>
          <p:cNvPicPr/>
          <p:nvPr/>
        </p:nvPicPr>
        <p:blipFill>
          <a:blip r:embed="rId6"/>
          <a:stretch/>
        </p:blipFill>
        <p:spPr>
          <a:xfrm>
            <a:off x="617040" y="273348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7"/>
          <p:cNvSpPr/>
          <p:nvPr/>
        </p:nvSpPr>
        <p:spPr>
          <a:xfrm>
            <a:off x="1060560" y="250308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Encapsulation — controlling access with naming conventions and @property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548640" y="32994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4" descr="/home/claude/work/icons/FaTheaterMasks.png"/>
          <p:cNvPicPr/>
          <p:nvPr/>
        </p:nvPicPr>
        <p:blipFill>
          <a:blip r:embed="rId7"/>
          <a:stretch/>
        </p:blipFill>
        <p:spPr>
          <a:xfrm>
            <a:off x="617040" y="336780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9"/>
          <p:cNvSpPr/>
          <p:nvPr/>
        </p:nvSpPr>
        <p:spPr>
          <a:xfrm>
            <a:off x="1060560" y="313740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Abstraction — hiding complexity behind a simple interface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3933720"/>
            <a:ext cx="309960" cy="309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5" descr="/home/claude/work/icons/FaDna.png"/>
          <p:cNvPicPr/>
          <p:nvPr/>
        </p:nvPicPr>
        <p:blipFill>
          <a:blip r:embed="rId8"/>
          <a:stretch/>
        </p:blipFill>
        <p:spPr>
          <a:xfrm>
            <a:off x="617040" y="400212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1"/>
          <p:cNvSpPr/>
          <p:nvPr/>
        </p:nvSpPr>
        <p:spPr>
          <a:xfrm>
            <a:off x="1060560" y="377208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Inheritance — building new classes from existing ones, and super()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548640" y="45680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6" descr="/home/claude/work/icons/FaRandom.png"/>
          <p:cNvPicPr/>
          <p:nvPr/>
        </p:nvPicPr>
        <p:blipFill>
          <a:blip r:embed="rId9"/>
          <a:stretch/>
        </p:blipFill>
        <p:spPr>
          <a:xfrm>
            <a:off x="617040" y="463644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3"/>
          <p:cNvSpPr/>
          <p:nvPr/>
        </p:nvSpPr>
        <p:spPr>
          <a:xfrm>
            <a:off x="1060560" y="440640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Polymorphism — one interface, many behaviors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48640" y="5202360"/>
            <a:ext cx="309960" cy="309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7" descr="/home/claude/work/icons/FaCode.png"/>
          <p:cNvPicPr/>
          <p:nvPr/>
        </p:nvPicPr>
        <p:blipFill>
          <a:blip r:embed="rId10"/>
          <a:stretch/>
        </p:blipFill>
        <p:spPr>
          <a:xfrm>
            <a:off x="617040" y="527076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5"/>
          <p:cNvSpPr/>
          <p:nvPr/>
        </p:nvSpPr>
        <p:spPr>
          <a:xfrm>
            <a:off x="1060560" y="504072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Python-specific details — dunder methods, classmethod/staticmethod, MRO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548640" y="58366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8" descr="/home/claude/work/icons/FaPuzzlePiece.png"/>
          <p:cNvPicPr/>
          <p:nvPr/>
        </p:nvPicPr>
        <p:blipFill>
          <a:blip r:embed="rId11"/>
          <a:stretch/>
        </p:blipFill>
        <p:spPr>
          <a:xfrm>
            <a:off x="617040" y="5905080"/>
            <a:ext cx="173160" cy="17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7"/>
          <p:cNvSpPr/>
          <p:nvPr/>
        </p:nvSpPr>
        <p:spPr>
          <a:xfrm>
            <a:off x="1060560" y="5675040"/>
            <a:ext cx="10581120" cy="6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Today's tasks and two mini projects combining 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0" descr="/home/claude/work/icons/FaSitemap.png"/>
          <p:cNvPicPr/>
          <p:nvPr/>
        </p:nvPicPr>
        <p:blipFill>
          <a:blip r:embed="rId3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spc="300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Why Object-Oriented Programming?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program you’ve written so far kept its data and its logic separate. OOP bundles them together.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home/claude/work/icons/FaCubes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OOP, Really?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" descr="/home/claude/work/icons/FaCubes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Data 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bundled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Object-oriented programming organizes code around objects — self-contained units that bundle data (attributes) together with the functions that act on that data (methods)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Up to now, a "dog" in your code was just a dictionary, and bark() was a separate function you had to remember to call correctly, on the right dictionary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OOP, a Dog object carries its own data and its own behavior together — </a:t>
            </a:r>
            <a:r>
              <a:rPr lang="en-US" sz="2200" b="0" u="none" strike="noStrike" dirty="0" err="1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dog.bark</a:t>
            </a:r>
            <a:r>
              <a:rPr lang="en-US" sz="22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() instead of bark(</a:t>
            </a:r>
            <a:r>
              <a:rPr lang="en-US" sz="2200" b="0" u="none" strike="noStrike" dirty="0" err="1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dog_dict</a:t>
            </a:r>
            <a:r>
              <a:rPr lang="en-US" sz="22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isn’t a new language feature — it’s a different way of organizing the same logic, and it’s how almost every large, real-world codebase is structured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/home/claude/work/icons/FaBalanceScal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Procedural vs. Object-Oriented — The Same Problem, Two Ways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54864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822960" y="150876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1" descr="/home/claude/work/icons/FaFileAlt.png"/>
          <p:cNvPicPr/>
          <p:nvPr/>
        </p:nvPicPr>
        <p:blipFill>
          <a:blip r:embed="rId4"/>
          <a:stretch/>
        </p:blipFill>
        <p:spPr>
          <a:xfrm>
            <a:off x="92340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144468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You’ve Been Doing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84132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dictionary holds the data: dog = {"name": "Rex", "energy": 100}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separate function operates on it: def bark(dog): ...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Nothing stops another part of the code from passing the wrong dictionary into bark()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As the program grows, data and the functions that use it drift further apart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627876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553080" y="150876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2" descr="/home/claude/work/icons/FaCube.png"/>
          <p:cNvPicPr/>
          <p:nvPr/>
        </p:nvPicPr>
        <p:blipFill>
          <a:blip r:embed="rId5"/>
          <a:stretch/>
        </p:blipFill>
        <p:spPr>
          <a:xfrm>
            <a:off x="665352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8"/>
          <p:cNvSpPr/>
          <p:nvPr/>
        </p:nvSpPr>
        <p:spPr>
          <a:xfrm>
            <a:off x="717480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OOP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657144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defines both the data and the behavior together, in one place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 = Dog("Rex", 100) creates an object that owns its own 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 dirty="0" err="1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rex.bark</a:t>
            </a: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() can only ever act on rex’s own data — there’s no dictionary to mix up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Data and behavior stay physically next to each other as the program grows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/home/claude/work/icons/FaShapes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548640" y="1234440"/>
            <a:ext cx="3483720" cy="511956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1902240" y="1600200"/>
            <a:ext cx="776160" cy="776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1" descr="/home/claude/work/icons/FaCar.png"/>
          <p:cNvPicPr/>
          <p:nvPr/>
        </p:nvPicPr>
        <p:blipFill>
          <a:blip r:embed="rId4"/>
          <a:stretch/>
        </p:blipFill>
        <p:spPr>
          <a:xfrm>
            <a:off x="209916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4"/>
          <p:cNvSpPr/>
          <p:nvPr/>
        </p:nvSpPr>
        <p:spPr>
          <a:xfrm>
            <a:off x="731520" y="2560320"/>
            <a:ext cx="311796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77240" y="2971800"/>
            <a:ext cx="3026520" cy="319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speed, fuel level, gear. Its behavior is accelerate(), brake(), refuel() — all bundled into one "car" concept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4353480" y="1234440"/>
            <a:ext cx="3483720" cy="511956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5707080" y="1600200"/>
            <a:ext cx="776160" cy="7761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Image 2" descr="/home/claude/work/icons/FaWallet.png"/>
          <p:cNvPicPr/>
          <p:nvPr/>
        </p:nvPicPr>
        <p:blipFill>
          <a:blip r:embed="rId5"/>
          <a:stretch/>
        </p:blipFill>
        <p:spPr>
          <a:xfrm>
            <a:off x="590400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 8"/>
          <p:cNvSpPr/>
          <p:nvPr/>
        </p:nvSpPr>
        <p:spPr>
          <a:xfrm>
            <a:off x="4536360" y="2560320"/>
            <a:ext cx="311796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Bank Account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4582080" y="2971800"/>
            <a:ext cx="3026520" cy="319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balance and owner. Its behavior is deposit() and withdraw() — the only way the balance is allowed to change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8158320" y="1234440"/>
            <a:ext cx="3483720" cy="511956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9511920" y="1600200"/>
            <a:ext cx="776160" cy="77616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work/icons/FaGamepad.png"/>
          <p:cNvPicPr/>
          <p:nvPr/>
        </p:nvPicPr>
        <p:blipFill>
          <a:blip r:embed="rId6"/>
          <a:stretch/>
        </p:blipFill>
        <p:spPr>
          <a:xfrm>
            <a:off x="970848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2"/>
          <p:cNvSpPr/>
          <p:nvPr/>
        </p:nvSpPr>
        <p:spPr>
          <a:xfrm>
            <a:off x="8341200" y="2560320"/>
            <a:ext cx="311796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Game Character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8386920" y="2971800"/>
            <a:ext cx="3026520" cy="319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health, position, inventory. Its behavior is attack(), move(), heal() — every game engine is built this way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/home/claude/work/icons/FaCube.png"/>
          <p:cNvPicPr/>
          <p:nvPr/>
        </p:nvPicPr>
        <p:blipFill>
          <a:blip r:embed="rId3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spc="300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&amp; Objects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 class is the blueprint. An object is one specific thing built from that blueprint.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home/claude/work/icons/FaCub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a Class?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Image 1" descr="/home/claude/work/icons/FaCube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blueprint,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the 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is a blueprint — it defines what data and behavior every object built from it will have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blueprint for a house isn’t a house you can live in — a class isn’t something you use directly either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 object (also called an instance) is one actual thing built from that blueprint — with its own real values filled in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build as many objects as you want from one class, and each one is independent of the others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0" descr="/home/claude/work/icons/FaCub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Creating a Class and an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Dog: starts a class definition — by convention, class names are CapitalizedLikeThis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Dog() calls the class like a function to create a new object — this is called instantiation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type() confirms what you already know — rex really is a Dog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    # empty class for now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      # create an object (instantiate)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 = Dog()     # a second, independent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print(type(rex))    # &lt;class '__main__.Dog'&gt;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 is milo)  # False — two separate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home/claude/work/icons/FaKey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__init__ — The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</a:t>
            </a:r>
            <a:r>
              <a:rPr lang="en-US" sz="1300" b="0" u="none" strike="noStrike" dirty="0" err="1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init</a:t>
            </a: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 is a special method that runs automatically every time a new object is created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It’s where you set up the object’s starting data — "construct" its initial state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double underscores mark it as a dunder method — Python-reserved, called automatically, never called directly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</a:t>
            </a:r>
            <a:r>
              <a:rPr lang="en-US" sz="2100" b="0" u="none" strike="noStrike" dirty="0" err="1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init</a:t>
            </a: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__(self, name, breed):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</a:t>
            </a:r>
            <a:r>
              <a:rPr lang="en-US" sz="2100" b="0" u="none" strike="noStrike" dirty="0" err="1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self.breed</a:t>
            </a: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= breed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Dog("Rex", "Labrador")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print(rex.name)     # Rex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2100" b="0" u="none" strike="noStrike" dirty="0" err="1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rex.breed</a:t>
            </a:r>
            <a:r>
              <a:rPr lang="en-US" sz="2100" b="0" u="none" strike="noStrike" dirty="0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)    # Labrador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Image 0" descr="/home/claude/work/icons/FaFingerprint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self — What It Actually Means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548640" y="1234440"/>
            <a:ext cx="11093400" cy="148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 refers to the specific object a method is being called on — "this particular dog," not dogs in general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instance method needs self as its first parameter — Python passes it automatically, you never pass it yourself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self.name = name inside __</a:t>
            </a:r>
            <a:r>
              <a:rPr lang="en-US" sz="1300" b="0" u="none" strike="noStrike" dirty="0" err="1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init</a:t>
            </a: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 literally means "store this value on this specific object"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name "self" is just a convention (like "</a:t>
            </a:r>
            <a:r>
              <a:rPr lang="en-US" sz="1300" b="0" u="none" strike="noStrike" dirty="0" err="1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args</a:t>
            </a:r>
            <a:r>
              <a:rPr lang="en-US" sz="1300" b="0" u="none" strike="noStrike" dirty="0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") — what matters is its position as the first parameter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48640" y="2862000"/>
            <a:ext cx="11093400" cy="3492000"/>
          </a:xfrm>
          <a:prstGeom prst="roundRect">
            <a:avLst>
              <a:gd name="adj" fmla="val 209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3044880"/>
            <a:ext cx="10453320" cy="312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    # attach to THIS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bark(self):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says 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rex.bark()    # Python secretly calls Dog.bark(rex)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Rex says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0" descr="/home/claude/work/icons/FaCub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Class Is a Blueprint — Objects Are the Real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548640" y="1691640"/>
            <a:ext cx="2925000" cy="2925000"/>
          </a:xfrm>
          <a:prstGeom prst="roundRect">
            <a:avLst>
              <a:gd name="adj" fmla="val 3125"/>
            </a:avLst>
          </a:prstGeom>
          <a:solidFill>
            <a:srgbClr val="13312F"/>
          </a:solidFill>
          <a:ln w="19050">
            <a:solidFill>
              <a:srgbClr val="C98A2B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777240" y="1874520"/>
            <a:ext cx="246780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77240" y="2286000"/>
            <a:ext cx="2467800" cy="2102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__init__(self, name, breed):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self.name = name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self.breed = breed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bark(self):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print(f"{self.name} says Woof!")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472752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 spc="99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THE BLUEPRINT — DEFINED ONCE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3474720" y="205740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4389120" y="1636920"/>
            <a:ext cx="7252920" cy="84024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4553640" y="1865520"/>
            <a:ext cx="383040" cy="38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194760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9"/>
          <p:cNvSpPr/>
          <p:nvPr/>
        </p:nvSpPr>
        <p:spPr>
          <a:xfrm>
            <a:off x="5120640" y="1710000"/>
            <a:ext cx="633852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rex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5120640" y="2020680"/>
            <a:ext cx="6338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"Rex"   ·   breed = "Labrador"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3474720" y="3154680"/>
            <a:ext cx="914400" cy="36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2"/>
          <p:cNvSpPr/>
          <p:nvPr/>
        </p:nvSpPr>
        <p:spPr>
          <a:xfrm>
            <a:off x="4389120" y="2734200"/>
            <a:ext cx="7252920" cy="84024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4553640" y="2962800"/>
            <a:ext cx="383040" cy="38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2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304488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14"/>
          <p:cNvSpPr/>
          <p:nvPr/>
        </p:nvSpPr>
        <p:spPr>
          <a:xfrm>
            <a:off x="5120640" y="2807280"/>
            <a:ext cx="633852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milo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120640" y="3117960"/>
            <a:ext cx="6338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"Milo"   ·   breed = "Beagle"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3474720" y="315468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4389120" y="3831480"/>
            <a:ext cx="7252920" cy="84024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8"/>
          <p:cNvSpPr/>
          <p:nvPr/>
        </p:nvSpPr>
        <p:spPr>
          <a:xfrm>
            <a:off x="4553640" y="4060080"/>
            <a:ext cx="383040" cy="38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414216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19"/>
          <p:cNvSpPr/>
          <p:nvPr/>
        </p:nvSpPr>
        <p:spPr>
          <a:xfrm>
            <a:off x="5120640" y="3904560"/>
            <a:ext cx="633852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buddy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120640" y="4215240"/>
            <a:ext cx="6338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"Buddy"   ·   breed = "Poodle"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548640" y="5897880"/>
            <a:ext cx="110934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One class, three completely independent objects — each carries its own data, but shares the same bark() method.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2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3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0" descr="/home/claude/work/icons/FaLayerGroup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 vs.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822960" y="150876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1" descr="/home/claude/work/icons/FaFingerprint.png"/>
          <p:cNvPicPr/>
          <p:nvPr/>
        </p:nvPicPr>
        <p:blipFill>
          <a:blip r:embed="rId4"/>
          <a:stretch/>
        </p:blipFill>
        <p:spPr>
          <a:xfrm>
            <a:off x="92340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144468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84132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Set inside __init__ using self.name = ...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Belong to one specific object — each object has its own separate copy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what you’ll use for almost all object data — name, balance, position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627876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6553080" y="150876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2" descr="/home/claude/work/icons/FaUsersCog.png"/>
          <p:cNvPicPr/>
          <p:nvPr/>
        </p:nvPicPr>
        <p:blipFill>
          <a:blip r:embed="rId5"/>
          <a:stretch/>
        </p:blipFill>
        <p:spPr>
          <a:xfrm>
            <a:off x="665352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8"/>
          <p:cNvSpPr/>
          <p:nvPr/>
        </p:nvSpPr>
        <p:spPr>
          <a:xfrm>
            <a:off x="717480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657144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Defined directly inside the class body, outside any 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Shared by every object built from that class — one copy, not one per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Good for constants or defaults every instance should share, like species = "Canine"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 descr="/home/claude/work/icons/FaCub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Classes &amp; Objects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868680" y="22964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868680" y="22964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408320" y="192024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Car class with __init__ that sets make, model, and year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68680" y="33591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868680" y="33591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1408320" y="298332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method describe(self) that prints a sentence using all three attributes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868680" y="44222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868680" y="44222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1408320" y="404640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Car objects with different data, and call describe() on each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868680" y="548532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868680" y="54853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5"/>
          <p:cNvSpPr/>
          <p:nvPr/>
        </p:nvSpPr>
        <p:spPr>
          <a:xfrm>
            <a:off x="1408320" y="510912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wheels = 4 shared by every car, and print it from both objects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/home/claude/work/icons/FaShieldAlt.png"/>
          <p:cNvPicPr/>
          <p:nvPr/>
        </p:nvPicPr>
        <p:blipFill>
          <a:blip r:embed="rId3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spc="300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Four Pillars of OOP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object-oriented language, including Python, is built around these four ideas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age 0" descr="/home/claude/work/icons/FaShieldAlt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Four Pillars, at a Glance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548640" y="1234440"/>
            <a:ext cx="2532600" cy="511956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1426680" y="1600200"/>
            <a:ext cx="776160" cy="776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Image 1" descr="/home/claude/work/icons/FaUserShield.png"/>
          <p:cNvPicPr/>
          <p:nvPr/>
        </p:nvPicPr>
        <p:blipFill>
          <a:blip r:embed="rId4"/>
          <a:stretch/>
        </p:blipFill>
        <p:spPr>
          <a:xfrm>
            <a:off x="162324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4"/>
          <p:cNvSpPr/>
          <p:nvPr/>
        </p:nvSpPr>
        <p:spPr>
          <a:xfrm>
            <a:off x="731520" y="2560320"/>
            <a:ext cx="2166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777240" y="2971800"/>
            <a:ext cx="2075400" cy="319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Bundling data with the methods that protect it, and controlling how outside code can access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3402360" y="1234440"/>
            <a:ext cx="2532600" cy="511956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4280400" y="1600200"/>
            <a:ext cx="776160" cy="7761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2" descr="/home/claude/work/icons/FaTheaterMasks.png"/>
          <p:cNvPicPr/>
          <p:nvPr/>
        </p:nvPicPr>
        <p:blipFill>
          <a:blip r:embed="rId5"/>
          <a:stretch/>
        </p:blipFill>
        <p:spPr>
          <a:xfrm>
            <a:off x="447696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8"/>
          <p:cNvSpPr/>
          <p:nvPr/>
        </p:nvSpPr>
        <p:spPr>
          <a:xfrm>
            <a:off x="3585240" y="2560320"/>
            <a:ext cx="2166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3630960" y="2971800"/>
            <a:ext cx="2075400" cy="319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Hiding complex internal details behind a simple, easy-to-use interface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6255720" y="1234440"/>
            <a:ext cx="2532600" cy="511956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7134120" y="1600200"/>
            <a:ext cx="776160" cy="77616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3" descr="/home/claude/work/icons/FaDna.png"/>
          <p:cNvPicPr/>
          <p:nvPr/>
        </p:nvPicPr>
        <p:blipFill>
          <a:blip r:embed="rId6"/>
          <a:stretch/>
        </p:blipFill>
        <p:spPr>
          <a:xfrm>
            <a:off x="733068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2"/>
          <p:cNvSpPr/>
          <p:nvPr/>
        </p:nvSpPr>
        <p:spPr>
          <a:xfrm>
            <a:off x="6438600" y="2560320"/>
            <a:ext cx="2166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Inheritance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6484320" y="2971800"/>
            <a:ext cx="2075400" cy="319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Building new classes on top of existing ones, reusing and extending their behavior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>
            <a:off x="9109440" y="1234440"/>
            <a:ext cx="2532600" cy="511956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9987480" y="1600200"/>
            <a:ext cx="776160" cy="776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4" descr="/home/claude/work/icons/FaRandom.png"/>
          <p:cNvPicPr/>
          <p:nvPr/>
        </p:nvPicPr>
        <p:blipFill>
          <a:blip r:embed="rId7"/>
          <a:stretch/>
        </p:blipFill>
        <p:spPr>
          <a:xfrm>
            <a:off x="10184400" y="179208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6"/>
          <p:cNvSpPr/>
          <p:nvPr/>
        </p:nvSpPr>
        <p:spPr>
          <a:xfrm>
            <a:off x="9292320" y="2560320"/>
            <a:ext cx="2166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"/>
          <p:cNvSpPr/>
          <p:nvPr/>
        </p:nvSpPr>
        <p:spPr>
          <a:xfrm>
            <a:off x="9338040" y="2971800"/>
            <a:ext cx="2075400" cy="319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Different classes responding to the same method call in their own appropriate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0" descr="/home/claude/work/icons/FaUserShield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1: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1" descr="/home/claude/work/icons/FaUserShield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Protect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inside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Encapsulation means bundling data with the methods that operate on it, and restricting direct outside access to that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bank account shouldn’t let any code just set balance = -500 directly — changes should only happen through controlled methods like withdraw()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protects an object from being put into an invalid or inconsistent state by code elsewhere in the program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doesn’t enforce this with hard restrictions the way some languages do — it relies on naming conventions and trust, which is a deliberate design choice ("we’re all consenting adults here")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 0" descr="/home/claude/work/icons/FaUserShield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Public, Protected, and Private — By 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name is public — freely accessible from anywhere, the normal default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_balance (single underscore) is a convention meaning "internal, please don’t touch directly" — Python doesn’t block it, it just signals intent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__pin (double underscore) triggers name mangling — Python renames it internally, making accidental outside access genuinely difficult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owner, balance):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self.owner = owner        #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   # "internal" by convention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self.__pin = "4471"       # name-mangled, hard to reach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Account("Ahmed", 1000)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acc.owner          # "Ahmed" — fine, it's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acc._balance       # works, but signals "you shouldn't"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acc.__pin          # AttributeError — mangled to _Account__pin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/home/claude/work/icons/FaKey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@property — Controlled Access, the Python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@property turns a method into something that reads like a plain attribute — balance instead of get_balance()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matching @balance.setter lets you validate any value before it’s allowed to be stored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real, idiomatic way encapsulation is done in Python — clean access on the outside, control on the inside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balance):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@property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self._balance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@balance.setter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balance(self, amount):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if amount &lt; 0: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    raise ValueError("Balance can't be negative")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amount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Account(1000)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500       # runs the setter, validated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-50       # ValueError — blocked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0" descr="/home/claude/work/icons/FaUserShield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868680" y="24735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868680" y="2473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408320" y="192024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Wallet class with a protected _cash attribute and add_cash()/spend_cash() methods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868680" y="38908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8"/>
          <p:cNvSpPr/>
          <p:nvPr/>
        </p:nvSpPr>
        <p:spPr>
          <a:xfrm>
            <a:off x="868680" y="3890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1408320" y="333756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Make spend_cash() refuse to let _cash go below zero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868680" y="53082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868680" y="53082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2"/>
          <p:cNvSpPr/>
          <p:nvPr/>
        </p:nvSpPr>
        <p:spPr>
          <a:xfrm>
            <a:off x="1408320" y="475488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rejects negative values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0" descr="/home/claude/work/icons/FaTheaterMasks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2: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1" descr="/home/claude/work/icons/FaTheaterMasks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Hide 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how, show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what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means hiding complicated internal details behind a simple interface — the user only needs to know what a method does, not how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call car.start_engine() without knowing anything about fuel injection or ignition timing — the complexity is hidden behind a simple method 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Python, this often shows up as an abstract base class — a class that defines what methods a subclass must have, without saying how they work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and encapsulation work together, but they solve different problems: encapsulation protects data, abstraction simplifies interfaces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0" descr="/home/claude/work/icons/FaTheaterMasks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 Base Classes — Defining a Required Interface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ABC and @abstractmethod (from the abc module) let you define a class that can’t be used directly — only inherited from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Any subclass is forced to implement every abstract method, or Python refuses to let you create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guarantees every "shape" in a program has an area() method, without dictating how each one calculates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from abc import ABC, 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Shape(ABC):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pass    # no implementation — subclasses must provide one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 = Shape()   # TypeError — can't instantiate an ABC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Circle(Shape):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radius):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self.radius = radius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3.14159 * self.radius ** 2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Circle(3).area()   # 28.27...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0" descr="/home/claude/work/icons/FaTheaterMasks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868680" y="24735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868680" y="2473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1408320" y="192024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abstract Vehicle class with an abstract method fuel_type()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868680" y="38908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868680" y="3890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1408320" y="333756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subclasses, ElectricCar and PetrolCar, each implementing fuel_type()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868680" y="53082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868680" y="53082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1408320" y="475488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Try instantiating Vehicle directly and confirm Python blocks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3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4" name="Image 0" descr="/home/claude/work/icons/FaDna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3: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1" descr="/home/claude/work/icons/FaDna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Build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already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exists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Inheritance lets a new class (the child, or subclass) reuse and extend the data and behavior of an existing class (the parent, or superclass)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GoldenRetriever is a Dog — it automatically gets everything a Dog has, and can add its own extra behavior on top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avoids rewriting the same code in every related class — shared behavior lives once, in the parent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 also models real-world "is-a" relationships directly in code: a Car is a Vehicle, a Manager is an Employee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0" descr="/home/claude/work/icons/FaDna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Basic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Cat(Animal): means Cat inherits everything Animal has — Animal goes in the parentheses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Cat automatically gets Animal’s __init__ and eat() without rewriting them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isinstance() confirms a Cat is also considered an Animal — the inheritance relationship is real, not just naming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eat(self):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is eating")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     # Cat inherits from Animal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whiskers.eat()                  # inherited — works with no rewrite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isinstance(whiskers, Animal)    # True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 0" descr="/home/claude/work/icons/FaLevelUpAlt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super() — Calling the Parent’s Version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When a subclass defines its own __init__, it replaces the parent’s __init__ entirely — unless you explicitly call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super().__init__(...) runs the parent’s constructor first, so you don’t have to duplicate its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pattern — extend, don’t replace — is the standard way subclasses build on their parent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indoor):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super().__init__(name)   # reuse the parent's setup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self.indoor = indoor     # then add Cat-specific data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Cat("Whiskers", True)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whiskers.name     # "Whiskers" — handled by Animal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whiskers.indoor   # True — handled by Cat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/home/claude/work/icons/FaCodeBranch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Overriding Methods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subclass can redefine a method it inherited, giving it different, more specific behavior — this is called overriding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always uses the closest, most specific version of a method it can find on the object’s own class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parent’s original version is still there if you need it — call it explicitly with super().speak()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print("Some generic animal sound")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       # overrides Animal.speak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Animal().speak()   # Some generic animal sound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Dog().speak()      #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8" name="Image 0" descr="/home/claude/work/icons/FaSitemap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Method Resolution Order — Who Answers the Call?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 flipH="1">
            <a:off x="422100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609552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422100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"/>
          <p:cNvSpPr/>
          <p:nvPr/>
        </p:nvSpPr>
        <p:spPr>
          <a:xfrm flipH="1">
            <a:off x="609552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6"/>
          <p:cNvSpPr/>
          <p:nvPr/>
        </p:nvSpPr>
        <p:spPr>
          <a:xfrm>
            <a:off x="5044320" y="1554480"/>
            <a:ext cx="2102040" cy="684720"/>
          </a:xfrm>
          <a:prstGeom prst="roundRect">
            <a:avLst>
              <a:gd name="adj" fmla="val 10667"/>
            </a:avLst>
          </a:prstGeom>
          <a:solidFill>
            <a:srgbClr val="1E4F4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044320" y="1627560"/>
            <a:ext cx="21020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Duck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5044320" y="1938600"/>
            <a:ext cx="210204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(child class)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9"/>
          <p:cNvSpPr/>
          <p:nvPr/>
        </p:nvSpPr>
        <p:spPr>
          <a:xfrm>
            <a:off x="4843080" y="13532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0"/>
          <p:cNvSpPr/>
          <p:nvPr/>
        </p:nvSpPr>
        <p:spPr>
          <a:xfrm>
            <a:off x="4843080" y="13532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1"/>
          <p:cNvSpPr/>
          <p:nvPr/>
        </p:nvSpPr>
        <p:spPr>
          <a:xfrm>
            <a:off x="3169800" y="2788920"/>
            <a:ext cx="2102040" cy="68472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2"/>
          <p:cNvSpPr/>
          <p:nvPr/>
        </p:nvSpPr>
        <p:spPr>
          <a:xfrm>
            <a:off x="3169800" y="2862000"/>
            <a:ext cx="21020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Flyer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3"/>
          <p:cNvSpPr/>
          <p:nvPr/>
        </p:nvSpPr>
        <p:spPr>
          <a:xfrm>
            <a:off x="3169800" y="3173040"/>
            <a:ext cx="210204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"Flying"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4"/>
          <p:cNvSpPr/>
          <p:nvPr/>
        </p:nvSpPr>
        <p:spPr>
          <a:xfrm>
            <a:off x="2968560" y="25876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"/>
          <p:cNvSpPr/>
          <p:nvPr/>
        </p:nvSpPr>
        <p:spPr>
          <a:xfrm>
            <a:off x="2968560" y="25876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6"/>
          <p:cNvSpPr/>
          <p:nvPr/>
        </p:nvSpPr>
        <p:spPr>
          <a:xfrm>
            <a:off x="6918840" y="2788920"/>
            <a:ext cx="2102040" cy="68472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"/>
          <p:cNvSpPr/>
          <p:nvPr/>
        </p:nvSpPr>
        <p:spPr>
          <a:xfrm>
            <a:off x="6918840" y="2862000"/>
            <a:ext cx="21020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Swimmer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8"/>
          <p:cNvSpPr/>
          <p:nvPr/>
        </p:nvSpPr>
        <p:spPr>
          <a:xfrm>
            <a:off x="6918840" y="3173040"/>
            <a:ext cx="210204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"Swimming"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9"/>
          <p:cNvSpPr/>
          <p:nvPr/>
        </p:nvSpPr>
        <p:spPr>
          <a:xfrm>
            <a:off x="6717600" y="25876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6717600" y="25876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1"/>
          <p:cNvSpPr/>
          <p:nvPr/>
        </p:nvSpPr>
        <p:spPr>
          <a:xfrm>
            <a:off x="5044320" y="4023360"/>
            <a:ext cx="2102040" cy="68472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2"/>
          <p:cNvSpPr/>
          <p:nvPr/>
        </p:nvSpPr>
        <p:spPr>
          <a:xfrm>
            <a:off x="5044320" y="4096440"/>
            <a:ext cx="21020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object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3"/>
          <p:cNvSpPr/>
          <p:nvPr/>
        </p:nvSpPr>
        <p:spPr>
          <a:xfrm>
            <a:off x="5044320" y="4407480"/>
            <a:ext cx="210204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base of everything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24"/>
          <p:cNvSpPr/>
          <p:nvPr/>
        </p:nvSpPr>
        <p:spPr>
          <a:xfrm>
            <a:off x="4843080" y="382212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5"/>
          <p:cNvSpPr/>
          <p:nvPr/>
        </p:nvSpPr>
        <p:spPr>
          <a:xfrm>
            <a:off x="4843080" y="38221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26"/>
          <p:cNvSpPr/>
          <p:nvPr/>
        </p:nvSpPr>
        <p:spPr>
          <a:xfrm>
            <a:off x="548640" y="1554480"/>
            <a:ext cx="2650680" cy="3153600"/>
          </a:xfrm>
          <a:prstGeom prst="roundRect">
            <a:avLst>
              <a:gd name="adj" fmla="val 3448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7"/>
          <p:cNvSpPr/>
          <p:nvPr/>
        </p:nvSpPr>
        <p:spPr>
          <a:xfrm>
            <a:off x="749880" y="1737360"/>
            <a:ext cx="224820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Duck.__mro__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28"/>
          <p:cNvSpPr/>
          <p:nvPr/>
        </p:nvSpPr>
        <p:spPr>
          <a:xfrm>
            <a:off x="749880" y="2103120"/>
            <a:ext cx="2248200" cy="13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1. Duck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2. Flyer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3. Swimmer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4.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9"/>
          <p:cNvSpPr/>
          <p:nvPr/>
        </p:nvSpPr>
        <p:spPr>
          <a:xfrm>
            <a:off x="749880" y="3566160"/>
            <a:ext cx="2248200" cy="100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Python searches left to right, so Flyer’s move() wins over Swimmer’s.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0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31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/home/claude/work/icons/FaSitemap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Multiple Inheritance — Inheriting From More Than One Class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allows a class to inherit from more than one parent at once — class Duck(Flyer, Swimmer)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If more than one parent defines the same method, Python resolves the conflict using its Method Resolution Order (MRO)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inspect the exact search order yourself with ClassName.__mro__ — useful whenever behavior seems 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Flyer: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print("Flying")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Swimmer: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print("Swimming")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Duck(Flyer, Swimmer):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Duck().move()          # Flying — Flyer is checked first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print(Duck.__mro__)    # shows the full search order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9" name="Image 0" descr="/home/claude/work/icons/FaDna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4"/>
          <p:cNvSpPr/>
          <p:nvPr/>
        </p:nvSpPr>
        <p:spPr>
          <a:xfrm>
            <a:off x="868680" y="22964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5"/>
          <p:cNvSpPr/>
          <p:nvPr/>
        </p:nvSpPr>
        <p:spPr>
          <a:xfrm>
            <a:off x="868680" y="22964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6"/>
          <p:cNvSpPr/>
          <p:nvPr/>
        </p:nvSpPr>
        <p:spPr>
          <a:xfrm>
            <a:off x="1408320" y="192024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Employee class with name and salary, then a Manager subclass adding a team_size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868680" y="33591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8"/>
          <p:cNvSpPr/>
          <p:nvPr/>
        </p:nvSpPr>
        <p:spPr>
          <a:xfrm>
            <a:off x="868680" y="33591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"/>
          <p:cNvSpPr/>
          <p:nvPr/>
        </p:nvSpPr>
        <p:spPr>
          <a:xfrm>
            <a:off x="1408320" y="298332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Use super().__init__() inside Manager rather than repeating Employee’s setup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868680" y="442224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1"/>
          <p:cNvSpPr/>
          <p:nvPr/>
        </p:nvSpPr>
        <p:spPr>
          <a:xfrm>
            <a:off x="868680" y="44222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2"/>
          <p:cNvSpPr/>
          <p:nvPr/>
        </p:nvSpPr>
        <p:spPr>
          <a:xfrm>
            <a:off x="1408320" y="404640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Override a raise_salary() method in Manager so managers get double the normal raise percentage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3"/>
          <p:cNvSpPr/>
          <p:nvPr/>
        </p:nvSpPr>
        <p:spPr>
          <a:xfrm>
            <a:off x="868680" y="548532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4"/>
          <p:cNvSpPr/>
          <p:nvPr/>
        </p:nvSpPr>
        <p:spPr>
          <a:xfrm>
            <a:off x="868680" y="54853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5"/>
          <p:cNvSpPr/>
          <p:nvPr/>
        </p:nvSpPr>
        <p:spPr>
          <a:xfrm>
            <a:off x="1408320" y="5109120"/>
            <a:ext cx="9913680" cy="10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Print MyClass.__mro__ for a class with two parents, and explain the order out loud before checking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8" name="Image 0" descr="/home/claude/work/icons/FaRandom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4: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1" descr="/home/claude/work/icons/FaRandom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Same call,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different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Polymorphism means different classes can respond to the exact same method call, each in its own appropriate way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"Poly" (many) + "morph" (forms) — one interface, many shapes of behavior underneath 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already saw the mechanism in the last part: method overriding is exactly how polymorphism happens in practice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payoff is code that works on any object with the right method, without needing to know or check its exact class first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0" descr="/home/claude/work/icons/FaRandom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 in Action — One Loop, Many Behaviors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shape in the list has an area() method — but each class calculates it completely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loop doesn’t check what type of shape it has — it just trusts that .area() exists and calls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 payoff of polymorphism: code that’s written once and works correctly for classes that don’t exist yet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r): self.r = 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3.14159 * self.r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Square: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s): self.s = 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self.s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shapes = [Circle(3), Square(4)]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for shape in shapes: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print(shape.area())   # each uses its OWN area() logic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28.27...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16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6" name="Image 0" descr="/home/claude/work/icons/FaFeather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Duck Typing — Python’s Real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"If it walks like a duck and quacks like a duck, it’s a duck" — Python doesn’t check an object’s class, only whether it has the method being called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Two totally unrelated classes can both work with the same code, as long as they both implement the method it expects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looser and more flexible than polymorphism in many other languages — it’s driven entirely by behavior, not by shared inheritance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print("Quack!")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def make_it_talk(animal):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animal.sound()   # no type check — just calls .sound()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make_it_talk(Duck())   # Quack!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make_it_talk(Dog())    # Woof! — completely unrelated classes, both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0" descr="/home/claude/work/icons/FaRandom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868680" y="24735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5"/>
          <p:cNvSpPr/>
          <p:nvPr/>
        </p:nvSpPr>
        <p:spPr>
          <a:xfrm>
            <a:off x="868680" y="2473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1408320" y="192024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three classes (Cat, Dog, Cow) each with their own sound() method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868680" y="38908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868680" y="3890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9"/>
          <p:cNvSpPr/>
          <p:nvPr/>
        </p:nvSpPr>
        <p:spPr>
          <a:xfrm>
            <a:off x="1408320" y="333756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containing one of each and call .sound() on every item without checking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868680" y="53082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868680" y="53082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1408320" y="475488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function that accepts any object with a .describe() method, and call it with two unrelated classes to prove duck typing works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3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4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2" name="Image 0" descr="/home/claude/work/icons/FaCode.png"/>
          <p:cNvPicPr/>
          <p:nvPr/>
        </p:nvPicPr>
        <p:blipFill>
          <a:blip r:embed="rId3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spc="300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Python-Specific OOP Details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Beyond the four pillars — the conventions and tools every real Python class actually uses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0" descr="/home/claude/work/icons/FaFileAlt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__str__ vs. __repr__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By default, printing an object shows an unhelpful memory address — &lt;__main__.Dog object at 0x...&gt;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__str__ defines what print() and str() show — aimed at humans, readable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__repr__ defines what appears in the shell/debugger, and is used as a fallback if __str__ is missing — aimed at developers, ideally unambiguous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__str__(self):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f"{self.name}, a very good dog"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__repr__(self):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f"Dog(name='{self.name}')"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print(rex)   # Rex, a very good dog   (__str__)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         # Dog(name='Rex')          (__repr__, in the shell)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0" descr="/home/claude/work/icons/FaCod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More Dunder Methods — Operator Overloading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Dunder methods let your own objects work with Python’s built-in operators and functions — +, ==, len(), and more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__eq__ defines what == means for your objects — by default, Python only checks if they’re the exact same object in memory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__add__ defines what + does — this is exactly how "vector1 + vector2" works for custom classes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class Point: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__init__(self, x, y):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self.x, self.y = x, 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__eq__(self,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self.x == other.x and self.y == other.y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__add__(self,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Point(self.x + other.x, self.y + other.y)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__len__(self):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int((self.x**2 + self.y**2) ** 0.5)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== Point(1, 2)   # True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+ Point(3, 4)    # Point object with x=4, y=6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0" descr="/home/claude/work/icons/FaCogs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vs. @staticmethod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"/>
          <p:cNvSpPr/>
          <p:nvPr/>
        </p:nvSpPr>
        <p:spPr>
          <a:xfrm>
            <a:off x="54864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"/>
          <p:cNvSpPr/>
          <p:nvPr/>
        </p:nvSpPr>
        <p:spPr>
          <a:xfrm>
            <a:off x="822960" y="1508760"/>
            <a:ext cx="456120" cy="456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8" name="Image 1" descr="/home/claude/work/icons/FaUsersCog.png"/>
          <p:cNvPicPr/>
          <p:nvPr/>
        </p:nvPicPr>
        <p:blipFill>
          <a:blip r:embed="rId4"/>
          <a:stretch/>
        </p:blipFill>
        <p:spPr>
          <a:xfrm>
            <a:off x="92340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Text 4"/>
          <p:cNvSpPr/>
          <p:nvPr/>
        </p:nvSpPr>
        <p:spPr>
          <a:xfrm>
            <a:off x="144468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"/>
          <p:cNvSpPr/>
          <p:nvPr/>
        </p:nvSpPr>
        <p:spPr>
          <a:xfrm>
            <a:off x="84132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the class itself (cls) instead of an instance (self) as its first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Can access and modify class-level state, and is commonly used to build alternate constructors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on the class: Dog.from_string(...)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6"/>
          <p:cNvSpPr/>
          <p:nvPr/>
        </p:nvSpPr>
        <p:spPr>
          <a:xfrm>
            <a:off x="6278760" y="1234440"/>
            <a:ext cx="5363280" cy="511956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7"/>
          <p:cNvSpPr/>
          <p:nvPr/>
        </p:nvSpPr>
        <p:spPr>
          <a:xfrm>
            <a:off x="6553080" y="1508760"/>
            <a:ext cx="456120" cy="456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2" descr="/home/claude/work/icons/FaCube.png"/>
          <p:cNvPicPr/>
          <p:nvPr/>
        </p:nvPicPr>
        <p:blipFill>
          <a:blip r:embed="rId5"/>
          <a:stretch/>
        </p:blipFill>
        <p:spPr>
          <a:xfrm>
            <a:off x="6653520" y="16092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8"/>
          <p:cNvSpPr/>
          <p:nvPr/>
        </p:nvSpPr>
        <p:spPr>
          <a:xfrm>
            <a:off x="7174800" y="1508760"/>
            <a:ext cx="42843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@staticmethod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9"/>
          <p:cNvSpPr/>
          <p:nvPr/>
        </p:nvSpPr>
        <p:spPr>
          <a:xfrm>
            <a:off x="6571440" y="2194560"/>
            <a:ext cx="4777920" cy="393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neither self nor cls — it’s just a regular function that happens to live inside the class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Used when logic is related to the class conceptually, but doesn’t need any instance or class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the same way: Dog.is_valid_name("Rex")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0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0" descr="/home/claude/work/icons/FaKey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as an Alternate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single most common real-world use of @classmethod — offering more than one way to build an object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from_string builds a Dog from one format (a comma-separated string) while __init__ handles the normal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Both ultimately create the same kind of object — cls(...) inside a classmethod calls the real constructor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age):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self.age = 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@classmethod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from_string(cls, data):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name, age = data.split(",")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cls(name, int(age))    # calls Dog(name, age)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Dog.from_string("Rex,3")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rex.name, rex.age    # ('Rex', 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0" descr="/home/claude/work/icons/FaCub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"Everything Is an Object" in Python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1" descr="/home/claude/work/icons/FaCube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just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value in Python — numbers, strings, lists, functions, even classes themselves — is an object of some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(5).bit_length() works because even an int is an object with methods — type(5) really is &lt;class 'int'&gt;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why dir() and type() work uniformly on absolutely anything in Python — there’s no special-cased "primitive"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Understanding your own classes makes Python’s built-in types make more sense too — they’re built the same way yours 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0" descr="/home/claude/work/icons/FaExclamationTriangl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Famous Python Gotcha: Mutable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"/>
          <p:cNvSpPr/>
          <p:nvPr/>
        </p:nvSpPr>
        <p:spPr>
          <a:xfrm>
            <a:off x="548640" y="1234440"/>
            <a:ext cx="11093400" cy="119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mutable class attribute (like a list) is shared by every instance — exactly like any other class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Appending to it from one object silently affects every other object, because there’s only ever one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fix: create mutable attributes inside __init__ with self, so each object gets its own independent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"/>
          <p:cNvSpPr/>
          <p:nvPr/>
        </p:nvSpPr>
        <p:spPr>
          <a:xfrm>
            <a:off x="548640" y="2569320"/>
            <a:ext cx="11093400" cy="378468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4"/>
          <p:cNvSpPr/>
          <p:nvPr/>
        </p:nvSpPr>
        <p:spPr>
          <a:xfrm>
            <a:off x="868680" y="2752200"/>
            <a:ext cx="10453320" cy="341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WRONG — shared across every instance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tricks = []          # class attribute — ONE list for all dogs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add_trick(self, trick):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self.tricks.append(trick)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Dog(); milo = Dog()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rex.add_trick("sit")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milo.tricks    # ['sit'] — leaked into milo too!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RIGHT — each instance gets its own list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 = []   # instance attribute, private to self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5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6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/home/claude/work/icons/FaCod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2"/>
          <p:cNvSpPr/>
          <p:nvPr/>
        </p:nvSpPr>
        <p:spPr>
          <a:xfrm>
            <a:off x="548640" y="1234440"/>
            <a:ext cx="11093400" cy="511956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"/>
          <p:cNvSpPr/>
          <p:nvPr/>
        </p:nvSpPr>
        <p:spPr>
          <a:xfrm>
            <a:off x="868680" y="1435680"/>
            <a:ext cx="104533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"/>
          <p:cNvSpPr/>
          <p:nvPr/>
        </p:nvSpPr>
        <p:spPr>
          <a:xfrm>
            <a:off x="868680" y="247356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5"/>
          <p:cNvSpPr/>
          <p:nvPr/>
        </p:nvSpPr>
        <p:spPr>
          <a:xfrm>
            <a:off x="868680" y="2473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6"/>
          <p:cNvSpPr/>
          <p:nvPr/>
        </p:nvSpPr>
        <p:spPr>
          <a:xfrm>
            <a:off x="1408320" y="192024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to a class you’ve already written this session, and confirm print() uses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"/>
          <p:cNvSpPr/>
          <p:nvPr/>
        </p:nvSpPr>
        <p:spPr>
          <a:xfrm>
            <a:off x="868680" y="389088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868680" y="3890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9"/>
          <p:cNvSpPr/>
          <p:nvPr/>
        </p:nvSpPr>
        <p:spPr>
          <a:xfrm>
            <a:off x="1408320" y="333756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alternate constructor to your Employee class from earlier that builds one from a single "name-salary"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10"/>
          <p:cNvSpPr/>
          <p:nvPr/>
        </p:nvSpPr>
        <p:spPr>
          <a:xfrm>
            <a:off x="868680" y="5308200"/>
            <a:ext cx="309960" cy="309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1"/>
          <p:cNvSpPr/>
          <p:nvPr/>
        </p:nvSpPr>
        <p:spPr>
          <a:xfrm>
            <a:off x="868680" y="53082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2"/>
          <p:cNvSpPr/>
          <p:nvPr/>
        </p:nvSpPr>
        <p:spPr>
          <a:xfrm>
            <a:off x="1408320" y="4754880"/>
            <a:ext cx="9913680" cy="14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Deliberately reproduce the mutable class-attribute bug, confirm the leak, then fix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3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4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3" name="Image 0" descr="/home/claude/work/icons/FaClipboardList.png"/>
          <p:cNvPicPr/>
          <p:nvPr/>
        </p:nvPicPr>
        <p:blipFill>
          <a:blip r:embed="rId3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spc="300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"/>
          <p:cNvSpPr/>
          <p:nvPr/>
        </p:nvSpPr>
        <p:spPr>
          <a:xfrm>
            <a:off x="1188720" y="2441520"/>
            <a:ext cx="9813240" cy="13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5"/>
          <p:cNvSpPr/>
          <p:nvPr/>
        </p:nvSpPr>
        <p:spPr>
          <a:xfrm>
            <a:off x="1920240" y="399600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Not toy examples — validated accounts, class hierarchies, and alternate constructors are everyday, real-world work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/home/claude/work/icons/FaUserShield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A: Classes &amp;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"/>
          <p:cNvSpPr/>
          <p:nvPr/>
        </p:nvSpPr>
        <p:spPr>
          <a:xfrm>
            <a:off x="548640" y="1234440"/>
            <a:ext cx="1109340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"/>
          <p:cNvSpPr/>
          <p:nvPr/>
        </p:nvSpPr>
        <p:spPr>
          <a:xfrm>
            <a:off x="548640" y="16826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804600" y="23029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1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23576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5"/>
          <p:cNvSpPr/>
          <p:nvPr/>
        </p:nvSpPr>
        <p:spPr>
          <a:xfrm>
            <a:off x="1325880" y="171900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BankAccount class with a protected _balance, plus deposit() and withdraw() methods that reject invalid amounts — no other way to change the balance.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548640" y="32522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7"/>
          <p:cNvSpPr/>
          <p:nvPr/>
        </p:nvSpPr>
        <p:spPr>
          <a:xfrm>
            <a:off x="804600" y="38725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39272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8"/>
          <p:cNvSpPr/>
          <p:nvPr/>
        </p:nvSpPr>
        <p:spPr>
          <a:xfrm>
            <a:off x="1325880" y="32889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raises a ValueError for negative values, and confirm direct assignment is properly validated.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548640" y="48218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804600" y="54421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1"/>
          <p:cNvSpPr/>
          <p:nvPr/>
        </p:nvSpPr>
        <p:spPr>
          <a:xfrm>
            <a:off x="1325880" y="48585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bank_name shared by every account, and confirm it updates for all existing accounts when changed on the class.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2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3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7" name="Image 0" descr="/home/claude/work/icons/FaDna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B: Inheritance &amp;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1234440"/>
            <a:ext cx="1109340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3"/>
          <p:cNvSpPr/>
          <p:nvPr/>
        </p:nvSpPr>
        <p:spPr>
          <a:xfrm>
            <a:off x="548640" y="16826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804600" y="23029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1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23576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5"/>
          <p:cNvSpPr/>
          <p:nvPr/>
        </p:nvSpPr>
        <p:spPr>
          <a:xfrm>
            <a:off x="1325880" y="171900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Shape base class (abstract, using ABC) with an abstract area() method, then Rectangle and Triangle subclasses that implement it differently.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6"/>
          <p:cNvSpPr/>
          <p:nvPr/>
        </p:nvSpPr>
        <p:spPr>
          <a:xfrm>
            <a:off x="548640" y="32522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"/>
          <p:cNvSpPr/>
          <p:nvPr/>
        </p:nvSpPr>
        <p:spPr>
          <a:xfrm>
            <a:off x="804600" y="38725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6" name="Image 2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39272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8"/>
          <p:cNvSpPr/>
          <p:nvPr/>
        </p:nvSpPr>
        <p:spPr>
          <a:xfrm>
            <a:off x="1325880" y="32889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of mixed shapes and print each one’s area — without checking what type each shape is.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9"/>
          <p:cNvSpPr/>
          <p:nvPr/>
        </p:nvSpPr>
        <p:spPr>
          <a:xfrm>
            <a:off x="548640" y="48218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804600" y="54421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0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Text 11"/>
          <p:cNvSpPr/>
          <p:nvPr/>
        </p:nvSpPr>
        <p:spPr>
          <a:xfrm>
            <a:off x="1325880" y="48585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a SavingsAccount(BankAccount) subclass that overrides withdraw() to enforce a minimum balance, using super() to reuse the original validation first.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3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5" name="Image 0" descr="/home/claude/work/icons/FaCode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C: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"/>
          <p:cNvSpPr/>
          <p:nvPr/>
        </p:nvSpPr>
        <p:spPr>
          <a:xfrm>
            <a:off x="548640" y="1234440"/>
            <a:ext cx="1109340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3"/>
          <p:cNvSpPr/>
          <p:nvPr/>
        </p:nvSpPr>
        <p:spPr>
          <a:xfrm>
            <a:off x="548640" y="16826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"/>
          <p:cNvSpPr/>
          <p:nvPr/>
        </p:nvSpPr>
        <p:spPr>
          <a:xfrm>
            <a:off x="804600" y="23029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1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23576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5"/>
          <p:cNvSpPr/>
          <p:nvPr/>
        </p:nvSpPr>
        <p:spPr>
          <a:xfrm>
            <a:off x="1325880" y="171900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and __repr__ to your BankAccount class, with __str__ showing a friendly summary and __repr__ showing exact constructor-style detail.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6"/>
          <p:cNvSpPr/>
          <p:nvPr/>
        </p:nvSpPr>
        <p:spPr>
          <a:xfrm>
            <a:off x="548640" y="32522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7"/>
          <p:cNvSpPr/>
          <p:nvPr/>
        </p:nvSpPr>
        <p:spPr>
          <a:xfrm>
            <a:off x="804600" y="38725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2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392724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8"/>
          <p:cNvSpPr/>
          <p:nvPr/>
        </p:nvSpPr>
        <p:spPr>
          <a:xfrm>
            <a:off x="1325880" y="32889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from_dict(cls, data) that builds a BankAccount from a dictionary like {"owner": "Ahmed", "balance": 500}.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9"/>
          <p:cNvSpPr/>
          <p:nvPr/>
        </p:nvSpPr>
        <p:spPr>
          <a:xfrm>
            <a:off x="548640" y="4821840"/>
            <a:ext cx="11093400" cy="145908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804600" y="5442120"/>
            <a:ext cx="291600" cy="29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8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800" cy="18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 11"/>
          <p:cNvSpPr/>
          <p:nvPr/>
        </p:nvSpPr>
        <p:spPr>
          <a:xfrm>
            <a:off x="1325880" y="4858560"/>
            <a:ext cx="10041840" cy="134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@staticmethod is_valid_owner_name(name) that checks a name is non-empty and alphabetic, with no reference to self or cls.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2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3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5" name="Image 0" descr="/home/claude/work/icons/FaPuzzlePiece.png"/>
          <p:cNvPicPr/>
          <p:nvPr/>
        </p:nvPicPr>
        <p:blipFill>
          <a:blip r:embed="rId3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spc="300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4"/>
          <p:cNvSpPr/>
          <p:nvPr/>
        </p:nvSpPr>
        <p:spPr>
          <a:xfrm>
            <a:off x="1188720" y="2441520"/>
            <a:ext cx="9813240" cy="100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5"/>
          <p:cNvSpPr/>
          <p:nvPr/>
        </p:nvSpPr>
        <p:spPr>
          <a:xfrm>
            <a:off x="1920240" y="3630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Two projects combining classes, all four pillars, and Python-specific OOP details into one cohesive task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1" name="Image 0" descr="/home/claude/work/icons/FaWallet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1: Bank Account 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 1" descr="/home/claude/work/icons/FaWallet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inheritance,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 BankAccount base class with a protected _balance, a validated @property, and deposit()/withdraw() methods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SavingsAccount and CheckingAccount subclasses that each override withdraw() with their own rules (minimum balance, overdraft limit)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Add __str__ for a friendly account summary, and a @classmethod that builds an account from a dictionary of starting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banking and fintech backends structure account logic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548640" y="457200"/>
            <a:ext cx="383040" cy="38304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1" name="Image 0" descr="/home/claude/work/icons/FaShapes.png"/>
          <p:cNvPicPr/>
          <p:nvPr/>
        </p:nvPicPr>
        <p:blipFill>
          <a:blip r:embed="rId3"/>
          <a:stretch/>
        </p:blipFill>
        <p:spPr>
          <a:xfrm>
            <a:off x="631080" y="53964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1"/>
          <p:cNvSpPr/>
          <p:nvPr/>
        </p:nvSpPr>
        <p:spPr>
          <a:xfrm>
            <a:off x="1097280" y="420480"/>
            <a:ext cx="1054476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2: Shape &amp; Employee Hierarchies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2"/>
          <p:cNvSpPr/>
          <p:nvPr/>
        </p:nvSpPr>
        <p:spPr>
          <a:xfrm>
            <a:off x="548640" y="1234440"/>
            <a:ext cx="3245040" cy="511956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3"/>
          <p:cNvSpPr/>
          <p:nvPr/>
        </p:nvSpPr>
        <p:spPr>
          <a:xfrm>
            <a:off x="1645920" y="1737360"/>
            <a:ext cx="1050480" cy="1050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5" name="Image 1" descr="/home/claude/work/icons/FaShapes.png"/>
          <p:cNvPicPr/>
          <p:nvPr/>
        </p:nvPicPr>
        <p:blipFill>
          <a:blip r:embed="rId3"/>
          <a:stretch/>
        </p:blipFill>
        <p:spPr>
          <a:xfrm>
            <a:off x="1906560" y="2002680"/>
            <a:ext cx="529200" cy="52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 4"/>
          <p:cNvSpPr/>
          <p:nvPr/>
        </p:nvSpPr>
        <p:spPr>
          <a:xfrm>
            <a:off x="731520" y="3017520"/>
            <a:ext cx="2879280" cy="30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polymorphism,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5"/>
          <p:cNvSpPr/>
          <p:nvPr/>
        </p:nvSpPr>
        <p:spPr>
          <a:xfrm>
            <a:off x="4206240" y="1280160"/>
            <a:ext cx="7435800" cy="502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an abstract Shape class (area(), perimeter()) with Circle, Rectangle, and Triangle subclasses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Write a report() function that loops over a mixed list of shapes and prints each one’s area — using polymorphism, with no type-checking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Separately, build an Employee base class and a Manager subclass that overrides a bonus() calculation using super()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HR systems and geometry/CAD tools are actually structured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6"/>
          <p:cNvSpPr/>
          <p:nvPr/>
        </p:nvSpPr>
        <p:spPr>
          <a:xfrm>
            <a:off x="548640" y="651060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7"/>
          <p:cNvSpPr/>
          <p:nvPr/>
        </p:nvSpPr>
        <p:spPr>
          <a:xfrm>
            <a:off x="11094480" y="651060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"/>
          <p:cNvSpPr/>
          <p:nvPr/>
        </p:nvSpPr>
        <p:spPr>
          <a:xfrm>
            <a:off x="5638680" y="868680"/>
            <a:ext cx="913320" cy="9133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0" descr="/home/claude/work/icons/FaFlagCheckered.png"/>
          <p:cNvPicPr/>
          <p:nvPr/>
        </p:nvPicPr>
        <p:blipFill>
          <a:blip r:embed="rId3"/>
          <a:stretch/>
        </p:blipFill>
        <p:spPr>
          <a:xfrm>
            <a:off x="5876280" y="1097280"/>
            <a:ext cx="4377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Text 3"/>
          <p:cNvSpPr/>
          <p:nvPr/>
        </p:nvSpPr>
        <p:spPr>
          <a:xfrm>
            <a:off x="914400" y="2057400"/>
            <a:ext cx="1036188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spc="300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822960" y="2441520"/>
            <a:ext cx="10544760" cy="214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bundle data with behavior. The four pillars — encapsulation, abstraction, inheritance, and polymorphism — are how that bundling stays clean as programs grow.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1920240" y="4773240"/>
            <a:ext cx="83502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Next session: File I/O &amp; Error Handling — reading and writing files, try/except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11094480" y="6492240"/>
            <a:ext cx="5475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</TotalTime>
  <Words>5435</Words>
  <Application>Microsoft Office PowerPoint</Application>
  <PresentationFormat>Widescreen</PresentationFormat>
  <Paragraphs>654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0" baseType="lpstr">
      <vt:lpstr>Arial</vt:lpstr>
      <vt:lpstr>Calibri</vt:lpstr>
      <vt:lpstr>Cambria</vt:lpstr>
      <vt:lpstr>Cantarell</vt:lpstr>
      <vt:lpstr>Consolas</vt:lpstr>
      <vt:lpstr>OpenSymbol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Hafiz Waseem Ahmed</cp:lastModifiedBy>
  <cp:revision>21</cp:revision>
  <dcterms:created xsi:type="dcterms:W3CDTF">2026-08-14T06:03:23Z</dcterms:created>
  <dcterms:modified xsi:type="dcterms:W3CDTF">2026-09-05T17:48:47Z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50</vt:i4>
  </property>
  <property fmtid="{D5CDD505-2E9C-101B-9397-08002B2CF9AE}" pid="3" name="PresentationFormat">
    <vt:lpwstr>On-screen Show (16:9)</vt:lpwstr>
  </property>
  <property fmtid="{D5CDD505-2E9C-101B-9397-08002B2CF9AE}" pid="4" name="Slides">
    <vt:i4>50</vt:i4>
  </property>
</Properties>
</file>