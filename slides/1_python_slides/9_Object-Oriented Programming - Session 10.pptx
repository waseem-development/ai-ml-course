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49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0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748F5AF-4DFF-4F8A-ACE5-9292E286DBC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CFC21BE-6D8D-47E3-B865-1FC4216CB7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26EE04-A523-4E48-B195-1E4A48EF4C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A608E3-B497-4649-99D5-86DCD7DA23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C476C9-1891-4BE7-AAED-C0E7EB9A44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5C93F8-EFD4-4B44-BAF6-A9A2A3F6FC1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AB7FA3-EB36-482A-9055-169AA9BAFB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B2D8BD-273B-4B3C-8510-C87CDB80A9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F82810-F964-4797-8880-466F627E129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D32182-679E-453B-B688-C171B4AB52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911AD5-2806-4B82-8616-07C59525AC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0E4D100-7193-40E1-B356-E7544635F9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98F21C0-2EF0-4541-89DA-32CF4354F6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A7B513-E592-44B2-B6A0-26BC7146FC8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61C9AD1-3094-4D26-8BB2-3296EA1D47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5EE6BBC-7489-447C-86BF-6AFED4A52A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1E3303-F144-4DBA-BC8D-6F675D058D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D60D75-0DEF-4289-8219-893ED85C90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9DB41C7-6300-4DB3-94B6-7BA3BD02E4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7695F9-0888-4489-A6BC-4B2F92AE04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D676FA5-FEE8-4BAA-B4B8-748EBEE59B7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BE5188-EC54-42D0-8600-DDA01FBCA8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7A32C7-DF3A-455C-BF96-86CF2451D9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2B234F-A287-4338-9D58-E77AD23BBA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A774F9-8F03-4733-A5AC-F7B12A12E2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0CAD94-0B48-4FBC-8117-B29852C047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2A562A-138E-4162-B652-F21B172B36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F3B885-948B-4EB8-9713-32231FAA40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16E327-00C3-473B-B1DC-5533C3E24E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5FF920-59B5-4A4D-9C88-5F1D4E8091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52CB681-E34C-485D-B7EB-D75624BDB7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EF30F5B-B252-4417-8A26-EB3800BBCD1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CCD0A79-CD35-418F-BB87-343BCC97354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EDD5E4-4436-44AF-9E60-3C285AC4C14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EB17B1D-D1A4-4510-91C1-1E4B871BF6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5D36D4-A69B-4708-8AED-394BC5F95B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E9D78A-88E6-4131-92BE-805626C218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C8B8C53-4230-4BDD-8C7E-9B8EBABC59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26BC58-EECB-4043-81F5-F5FABDE8953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F400F2-E07D-474B-8F6A-ECC7873FA00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63CD8C-17F8-4692-A2C0-B181643A35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51B2D06-2178-4E22-94DC-F117418A6A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F77FB9-670E-42F9-B629-CD7E335EC8E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CB2F3E-554D-4A94-B469-3919FE54D8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3D0D07-7C4C-44CE-8B07-E1C073106E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D7EBA72-945E-4B69-BC9B-8813E6FAB8A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E408AC-2BCD-492B-9FCD-27BC418A82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934CF5-9B2C-4987-9B97-9C0E9D9315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167DB6-EDA4-4EFD-9ACD-4E14C8E3F94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1AD5230-B613-4B79-B455-C01B7F16AD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1B868C-AF11-42B0-8658-3C133B8FF2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7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18.pn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1520" y="1417320"/>
            <a:ext cx="1188000" cy="11880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/home/claude/work/icons/FaCubes.png"/>
          <p:cNvPicPr/>
          <p:nvPr/>
        </p:nvPicPr>
        <p:blipFill>
          <a:blip r:embed="rId1"/>
          <a:stretch/>
        </p:blipFill>
        <p:spPr>
          <a:xfrm>
            <a:off x="5803200" y="1710000"/>
            <a:ext cx="584640" cy="58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880360"/>
            <a:ext cx="103622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Object-Oriented Programming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1554480" y="3794760"/>
            <a:ext cx="908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Classes, Objects &amp; the Four Pillars — Encapsulation, Abstraction, Inheritance, Polymorphism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4480560"/>
            <a:ext cx="10362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Session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094480" y="649224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home/claude/work/icons/FaListUl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548640" y="1396080"/>
            <a:ext cx="310320" cy="310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Image 1" descr="/home/claude/work/icons/FaSitemap.png"/>
          <p:cNvPicPr/>
          <p:nvPr/>
        </p:nvPicPr>
        <p:blipFill>
          <a:blip r:embed="rId2"/>
          <a:stretch/>
        </p:blipFill>
        <p:spPr>
          <a:xfrm>
            <a:off x="617040" y="1464480"/>
            <a:ext cx="173520" cy="17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3"/>
          <p:cNvSpPr/>
          <p:nvPr/>
        </p:nvSpPr>
        <p:spPr>
          <a:xfrm>
            <a:off x="1060560" y="1234440"/>
            <a:ext cx="1058148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Why OOP exists — the shift from separate data and functions to bundled objects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548640" y="203040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17040" y="2098800"/>
            <a:ext cx="173520" cy="17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 5"/>
          <p:cNvSpPr/>
          <p:nvPr/>
        </p:nvSpPr>
        <p:spPr>
          <a:xfrm>
            <a:off x="1060560" y="1868760"/>
            <a:ext cx="1058148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Classes and objects — __init__, self, attributes, and methods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6"/>
          <p:cNvSpPr/>
          <p:nvPr/>
        </p:nvSpPr>
        <p:spPr>
          <a:xfrm>
            <a:off x="548640" y="2665080"/>
            <a:ext cx="310320" cy="310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" name="Image 3" descr="/home/claude/work/icons/FaUserShield.png"/>
          <p:cNvPicPr/>
          <p:nvPr/>
        </p:nvPicPr>
        <p:blipFill>
          <a:blip r:embed="rId4"/>
          <a:stretch/>
        </p:blipFill>
        <p:spPr>
          <a:xfrm>
            <a:off x="617040" y="2733480"/>
            <a:ext cx="173520" cy="17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7"/>
          <p:cNvSpPr/>
          <p:nvPr/>
        </p:nvSpPr>
        <p:spPr>
          <a:xfrm>
            <a:off x="1060560" y="2503080"/>
            <a:ext cx="1058148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Encapsulation — controlling access with naming conventions and @property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8"/>
          <p:cNvSpPr/>
          <p:nvPr/>
        </p:nvSpPr>
        <p:spPr>
          <a:xfrm>
            <a:off x="548640" y="329940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" name="Image 4" descr="/home/claude/work/icons/FaTheaterMasks.png"/>
          <p:cNvPicPr/>
          <p:nvPr/>
        </p:nvPicPr>
        <p:blipFill>
          <a:blip r:embed="rId5"/>
          <a:stretch/>
        </p:blipFill>
        <p:spPr>
          <a:xfrm>
            <a:off x="617040" y="3367800"/>
            <a:ext cx="173520" cy="17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9"/>
          <p:cNvSpPr/>
          <p:nvPr/>
        </p:nvSpPr>
        <p:spPr>
          <a:xfrm>
            <a:off x="1060560" y="3137400"/>
            <a:ext cx="1058148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Abstraction — hiding complexity behind a simple interface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3933720"/>
            <a:ext cx="310320" cy="310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" name="Image 5" descr="/home/claude/work/icons/FaDna.png"/>
          <p:cNvPicPr/>
          <p:nvPr/>
        </p:nvPicPr>
        <p:blipFill>
          <a:blip r:embed="rId6"/>
          <a:stretch/>
        </p:blipFill>
        <p:spPr>
          <a:xfrm>
            <a:off x="617040" y="4002120"/>
            <a:ext cx="173520" cy="17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ext 11"/>
          <p:cNvSpPr/>
          <p:nvPr/>
        </p:nvSpPr>
        <p:spPr>
          <a:xfrm>
            <a:off x="1060560" y="3772080"/>
            <a:ext cx="1058148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Inheritance — building new classes from existing ones, and super()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548640" y="456804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" name="Image 6" descr="/home/claude/work/icons/FaRandom.png"/>
          <p:cNvPicPr/>
          <p:nvPr/>
        </p:nvPicPr>
        <p:blipFill>
          <a:blip r:embed="rId7"/>
          <a:stretch/>
        </p:blipFill>
        <p:spPr>
          <a:xfrm>
            <a:off x="617040" y="4636440"/>
            <a:ext cx="173520" cy="17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Text 13"/>
          <p:cNvSpPr/>
          <p:nvPr/>
        </p:nvSpPr>
        <p:spPr>
          <a:xfrm>
            <a:off x="1060560" y="4406400"/>
            <a:ext cx="1058148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Polymorphism — one interface, many behaviors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4"/>
          <p:cNvSpPr/>
          <p:nvPr/>
        </p:nvSpPr>
        <p:spPr>
          <a:xfrm>
            <a:off x="548640" y="5202360"/>
            <a:ext cx="310320" cy="310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7" descr="/home/claude/work/icons/FaCode.png"/>
          <p:cNvPicPr/>
          <p:nvPr/>
        </p:nvPicPr>
        <p:blipFill>
          <a:blip r:embed="rId8"/>
          <a:stretch/>
        </p:blipFill>
        <p:spPr>
          <a:xfrm>
            <a:off x="617040" y="5270760"/>
            <a:ext cx="173520" cy="17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5"/>
          <p:cNvSpPr/>
          <p:nvPr/>
        </p:nvSpPr>
        <p:spPr>
          <a:xfrm>
            <a:off x="1060560" y="5040720"/>
            <a:ext cx="1058148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Python-specific details — dunder methods, classmethod/staticmethod, MRO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6"/>
          <p:cNvSpPr/>
          <p:nvPr/>
        </p:nvSpPr>
        <p:spPr>
          <a:xfrm>
            <a:off x="548640" y="583668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" name="Image 8" descr="/home/claude/work/icons/FaPuzzlePiece.png"/>
          <p:cNvPicPr/>
          <p:nvPr/>
        </p:nvPicPr>
        <p:blipFill>
          <a:blip r:embed="rId9"/>
          <a:stretch/>
        </p:blipFill>
        <p:spPr>
          <a:xfrm>
            <a:off x="617040" y="5905080"/>
            <a:ext cx="173520" cy="17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Text 17"/>
          <p:cNvSpPr/>
          <p:nvPr/>
        </p:nvSpPr>
        <p:spPr>
          <a:xfrm>
            <a:off x="1060560" y="5675040"/>
            <a:ext cx="1058148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Today's tasks and two mini projects combining everything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-2286000" y="36576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"/>
          <p:cNvSpPr/>
          <p:nvPr/>
        </p:nvSpPr>
        <p:spPr>
          <a:xfrm>
            <a:off x="8229600" y="-27432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"/>
          <p:cNvSpPr/>
          <p:nvPr/>
        </p:nvSpPr>
        <p:spPr>
          <a:xfrm>
            <a:off x="5638680" y="868680"/>
            <a:ext cx="913680" cy="913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812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Text 3"/>
          <p:cNvSpPr/>
          <p:nvPr/>
        </p:nvSpPr>
        <p:spPr>
          <a:xfrm>
            <a:off x="914400" y="2057400"/>
            <a:ext cx="1036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4"/>
          <p:cNvSpPr/>
          <p:nvPr/>
        </p:nvSpPr>
        <p:spPr>
          <a:xfrm>
            <a:off x="1188720" y="2441520"/>
            <a:ext cx="981360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Why Object-Oriented Programming?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5"/>
          <p:cNvSpPr/>
          <p:nvPr/>
        </p:nvSpPr>
        <p:spPr>
          <a:xfrm>
            <a:off x="1920240" y="3630240"/>
            <a:ext cx="83505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Every program you’ve written so far kept its data and its logic separate. OOP bundles them together.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6"/>
          <p:cNvSpPr/>
          <p:nvPr/>
        </p:nvSpPr>
        <p:spPr>
          <a:xfrm>
            <a:off x="11094480" y="649224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0" descr="/home/claude/work/icons/FaCub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Is OOP, Really?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"/>
          <p:cNvSpPr/>
          <p:nvPr/>
        </p:nvSpPr>
        <p:spPr>
          <a:xfrm>
            <a:off x="548640" y="1234440"/>
            <a:ext cx="3245400" cy="51199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3"/>
          <p:cNvSpPr/>
          <p:nvPr/>
        </p:nvSpPr>
        <p:spPr>
          <a:xfrm>
            <a:off x="1645920" y="1737360"/>
            <a:ext cx="1050840" cy="1050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" name="Image 1" descr="/home/claude/work/icons/FaCube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560" cy="52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4"/>
          <p:cNvSpPr/>
          <p:nvPr/>
        </p:nvSpPr>
        <p:spPr>
          <a:xfrm>
            <a:off x="731520" y="3017520"/>
            <a:ext cx="2879640" cy="30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Data +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behavior,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bundled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4206240" y="1280160"/>
            <a:ext cx="74361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Object-oriented programming organizes code around objects — self-contained units that bundle data (attributes) together with the functions that act on that data (methods)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Up to now, a "dog" in your code was just a dictionary, and bark() was a separate function you had to remember to call correctly, on the right dictionary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 OOP, a Dog object carries its own data and its own behavior together — dog.bark() instead of bark(dog_dict)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isn’t a new language feature — it’s a different way of organizing the same logic, and it’s how almost every large, real-world codebase is structured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" name="Image 0" descr="/home/claude/work/icons/FaBalanceScal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Procedural vs. Object-Oriented — The Same Problem, Two Ways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"/>
          <p:cNvSpPr/>
          <p:nvPr/>
        </p:nvSpPr>
        <p:spPr>
          <a:xfrm>
            <a:off x="548640" y="1234440"/>
            <a:ext cx="5363640" cy="511992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822960" y="1508760"/>
            <a:ext cx="456480" cy="456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" name="Image 1" descr="/home/claude/work/icons/FaFileAlt.png"/>
          <p:cNvPicPr/>
          <p:nvPr/>
        </p:nvPicPr>
        <p:blipFill>
          <a:blip r:embed="rId2"/>
          <a:stretch/>
        </p:blipFill>
        <p:spPr>
          <a:xfrm>
            <a:off x="923400" y="160920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4"/>
          <p:cNvSpPr/>
          <p:nvPr/>
        </p:nvSpPr>
        <p:spPr>
          <a:xfrm>
            <a:off x="1444680" y="1508760"/>
            <a:ext cx="42847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You’ve Been Doing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841320" y="2194560"/>
            <a:ext cx="47782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dictionary holds the data: dog = {"name": "Rex", "energy": 100}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separate function operates on it: def bark(dog): ...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Nothing stops another part of the code from passing the wrong dictionary into bark()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As the program grows, data and the functions that use it drift further apart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6"/>
          <p:cNvSpPr/>
          <p:nvPr/>
        </p:nvSpPr>
        <p:spPr>
          <a:xfrm>
            <a:off x="6278760" y="1234440"/>
            <a:ext cx="5363640" cy="511992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7"/>
          <p:cNvSpPr/>
          <p:nvPr/>
        </p:nvSpPr>
        <p:spPr>
          <a:xfrm>
            <a:off x="6553080" y="1508760"/>
            <a:ext cx="456480" cy="456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5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 8"/>
          <p:cNvSpPr/>
          <p:nvPr/>
        </p:nvSpPr>
        <p:spPr>
          <a:xfrm>
            <a:off x="7174800" y="1508760"/>
            <a:ext cx="42847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OOP Way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9"/>
          <p:cNvSpPr/>
          <p:nvPr/>
        </p:nvSpPr>
        <p:spPr>
          <a:xfrm>
            <a:off x="6571440" y="2194560"/>
            <a:ext cx="47782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class defines both the data and the behavior together, in one place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rex = Dog("Rex", 100) creates an object that owns its own data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rex.bark() can only ever act on rex’s own data — there’s no dictionary to mix up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Data and behavior stay physically next to each other as the program grows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0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1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" name="Image 0" descr="/home/claude/work/icons/FaShap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Where You Already See This in the Real World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"/>
          <p:cNvSpPr/>
          <p:nvPr/>
        </p:nvSpPr>
        <p:spPr>
          <a:xfrm>
            <a:off x="548640" y="1234440"/>
            <a:ext cx="3484080" cy="511992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1902240" y="1600200"/>
            <a:ext cx="776520" cy="776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" name="Image 1" descr="/home/claude/work/icons/FaCar.png"/>
          <p:cNvPicPr/>
          <p:nvPr/>
        </p:nvPicPr>
        <p:blipFill>
          <a:blip r:embed="rId2"/>
          <a:stretch/>
        </p:blipFill>
        <p:spPr>
          <a:xfrm>
            <a:off x="2099160" y="179208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 4"/>
          <p:cNvSpPr/>
          <p:nvPr/>
        </p:nvSpPr>
        <p:spPr>
          <a:xfrm>
            <a:off x="731520" y="2560320"/>
            <a:ext cx="31183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Car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777240" y="2971800"/>
            <a:ext cx="3026880" cy="31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speed, fuel level, gear. Its behavior is accelerate(), brake(), refuel() — all bundled into one "car" concept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4353480" y="1234440"/>
            <a:ext cx="3484080" cy="511992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7"/>
          <p:cNvSpPr/>
          <p:nvPr/>
        </p:nvSpPr>
        <p:spPr>
          <a:xfrm>
            <a:off x="5707080" y="1600200"/>
            <a:ext cx="776520" cy="776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0" name="Image 2" descr="/home/claude/work/icons/FaWallet.png"/>
          <p:cNvPicPr/>
          <p:nvPr/>
        </p:nvPicPr>
        <p:blipFill>
          <a:blip r:embed="rId3"/>
          <a:stretch/>
        </p:blipFill>
        <p:spPr>
          <a:xfrm>
            <a:off x="5904000" y="179208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Text 8"/>
          <p:cNvSpPr/>
          <p:nvPr/>
        </p:nvSpPr>
        <p:spPr>
          <a:xfrm>
            <a:off x="4536360" y="2560320"/>
            <a:ext cx="31183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Bank Account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9"/>
          <p:cNvSpPr/>
          <p:nvPr/>
        </p:nvSpPr>
        <p:spPr>
          <a:xfrm>
            <a:off x="4582080" y="2971800"/>
            <a:ext cx="3026880" cy="31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balance and owner. Its behavior is deposit() and withdraw() — the only way the balance is allowed to change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0"/>
          <p:cNvSpPr/>
          <p:nvPr/>
        </p:nvSpPr>
        <p:spPr>
          <a:xfrm>
            <a:off x="8158320" y="1234440"/>
            <a:ext cx="3484080" cy="511992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1"/>
          <p:cNvSpPr/>
          <p:nvPr/>
        </p:nvSpPr>
        <p:spPr>
          <a:xfrm>
            <a:off x="9511920" y="1600200"/>
            <a:ext cx="776520" cy="776520"/>
          </a:xfrm>
          <a:prstGeom prst="ellipse">
            <a:avLst/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3" descr="/home/claude/work/icons/FaGamepad.png"/>
          <p:cNvPicPr/>
          <p:nvPr/>
        </p:nvPicPr>
        <p:blipFill>
          <a:blip r:embed="rId4"/>
          <a:stretch/>
        </p:blipFill>
        <p:spPr>
          <a:xfrm>
            <a:off x="9708480" y="179208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12"/>
          <p:cNvSpPr/>
          <p:nvPr/>
        </p:nvSpPr>
        <p:spPr>
          <a:xfrm>
            <a:off x="8341200" y="2560320"/>
            <a:ext cx="31183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Game Character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3"/>
          <p:cNvSpPr/>
          <p:nvPr/>
        </p:nvSpPr>
        <p:spPr>
          <a:xfrm>
            <a:off x="8386920" y="2971800"/>
            <a:ext cx="3026880" cy="31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health, position, inventory. Its behavior is attack(), move(), heal() — every game engine is built this way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4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5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0"/>
          <p:cNvSpPr/>
          <p:nvPr/>
        </p:nvSpPr>
        <p:spPr>
          <a:xfrm>
            <a:off x="-2286000" y="36576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"/>
          <p:cNvSpPr/>
          <p:nvPr/>
        </p:nvSpPr>
        <p:spPr>
          <a:xfrm>
            <a:off x="8229600" y="-27432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"/>
          <p:cNvSpPr/>
          <p:nvPr/>
        </p:nvSpPr>
        <p:spPr>
          <a:xfrm>
            <a:off x="5638680" y="868680"/>
            <a:ext cx="913680" cy="913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812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3"/>
          <p:cNvSpPr/>
          <p:nvPr/>
        </p:nvSpPr>
        <p:spPr>
          <a:xfrm>
            <a:off x="914400" y="2057400"/>
            <a:ext cx="1036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1188720" y="2441520"/>
            <a:ext cx="981360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Classes &amp; Objects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5"/>
          <p:cNvSpPr/>
          <p:nvPr/>
        </p:nvSpPr>
        <p:spPr>
          <a:xfrm>
            <a:off x="1920240" y="3630240"/>
            <a:ext cx="83505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 class is the blueprint. An object is one specific thing built from that blueprint.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11094480" y="649224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Is a Class?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"/>
          <p:cNvSpPr/>
          <p:nvPr/>
        </p:nvSpPr>
        <p:spPr>
          <a:xfrm>
            <a:off x="548640" y="1234440"/>
            <a:ext cx="3245400" cy="51199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3"/>
          <p:cNvSpPr/>
          <p:nvPr/>
        </p:nvSpPr>
        <p:spPr>
          <a:xfrm>
            <a:off x="1645920" y="1737360"/>
            <a:ext cx="1050840" cy="1050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3" name="Image 1" descr="/home/claude/work/icons/FaCube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560" cy="52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Text 4"/>
          <p:cNvSpPr/>
          <p:nvPr/>
        </p:nvSpPr>
        <p:spPr>
          <a:xfrm>
            <a:off x="731520" y="3017520"/>
            <a:ext cx="2879640" cy="30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blueprint,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not the thing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4206240" y="1280160"/>
            <a:ext cx="74361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class is a blueprint — it </a:t>
            </a: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defines what data and </a:t>
            </a: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behavior every object </a:t>
            </a: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built from it will have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blueprint for a house </a:t>
            </a: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isn’t a house you can live </a:t>
            </a: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 — a class isn’t </a:t>
            </a: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something you use </a:t>
            </a: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directly either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 object (also called an </a:t>
            </a: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instance) is one actual </a:t>
            </a: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thing built from that </a:t>
            </a: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blueprint — with its own </a:t>
            </a: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real values filled in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can build as many </a:t>
            </a: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objects as you want from </a:t>
            </a: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one class, and each one </a:t>
            </a: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is independent of the </a:t>
            </a: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others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Creating a Class and an Object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548640" y="1234440"/>
            <a:ext cx="110937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class Dog: starts a class definition — by convention, class names are CapitalizedLikeThis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Dog() calls the class like a function to create a new object — this is called instantiation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type() confirms what you already know — rex really is a Dog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3"/>
          <p:cNvSpPr/>
          <p:nvPr/>
        </p:nvSpPr>
        <p:spPr>
          <a:xfrm>
            <a:off x="548640" y="2569320"/>
            <a:ext cx="11093760" cy="37850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4"/>
          <p:cNvSpPr/>
          <p:nvPr/>
        </p:nvSpPr>
        <p:spPr>
          <a:xfrm>
            <a:off x="868680" y="2752200"/>
            <a:ext cx="104536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    # empty class for now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Dog()      # create an object (instantiate)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milo = Dog()     # a second, independent object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print(type(rex))    # &lt;class '__main__.Dog'&gt;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 is milo)  # False — two separate objects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5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__init__ — The Constructor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548640" y="1234440"/>
            <a:ext cx="110937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__init__ is a special method that runs automatically every time a new object is created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It’s where you set up the object’s starting data — "construct" its initial state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double underscores mark it as a dunder method — Python-reserved, called automatically, never called directly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3"/>
          <p:cNvSpPr/>
          <p:nvPr/>
        </p:nvSpPr>
        <p:spPr>
          <a:xfrm>
            <a:off x="548640" y="2569320"/>
            <a:ext cx="11093760" cy="37850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"/>
          <p:cNvSpPr/>
          <p:nvPr/>
        </p:nvSpPr>
        <p:spPr>
          <a:xfrm>
            <a:off x="868680" y="2752200"/>
            <a:ext cx="104536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breed):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self.breed = breed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Dog("Rex", "Labrador")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print(rex.name)     # Rex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print(rex.breed)    # Labrador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5" name="Image 0" descr="/home/claude/work/icons/FaFingerprint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self — What It Actually Means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"/>
          <p:cNvSpPr/>
          <p:nvPr/>
        </p:nvSpPr>
        <p:spPr>
          <a:xfrm>
            <a:off x="548640" y="1234440"/>
            <a:ext cx="11093760" cy="148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self refers to the specific object a method is being called on — "this particular dog," not dogs in general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instance method needs self as its first parameter — Python passes it automatically, you never pass it yourself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self.name = name inside __init__ literally means "store this value on this specific object"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name "self" is just a convention (like "args") — what matters is its position as the first parameter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"/>
          <p:cNvSpPr/>
          <p:nvPr/>
        </p:nvSpPr>
        <p:spPr>
          <a:xfrm>
            <a:off x="548640" y="2862000"/>
            <a:ext cx="11093760" cy="3492360"/>
          </a:xfrm>
          <a:prstGeom prst="roundRect">
            <a:avLst>
              <a:gd name="adj" fmla="val 209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"/>
          <p:cNvSpPr/>
          <p:nvPr/>
        </p:nvSpPr>
        <p:spPr>
          <a:xfrm>
            <a:off x="868680" y="3044880"/>
            <a:ext cx="10453680" cy="31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    # attach to THIS object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bark(self):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print(f"{self.name} says 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rex.bark()    # Python secretly calls Dog.bark(rex)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Rex says Woof!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3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Class Is a Blueprint — Objects Are the Real Things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2"/>
          <p:cNvSpPr/>
          <p:nvPr/>
        </p:nvSpPr>
        <p:spPr>
          <a:xfrm>
            <a:off x="548640" y="1691640"/>
            <a:ext cx="2925360" cy="2925360"/>
          </a:xfrm>
          <a:prstGeom prst="roundRect">
            <a:avLst>
              <a:gd name="adj" fmla="val 3125"/>
            </a:avLst>
          </a:prstGeom>
          <a:solidFill>
            <a:srgbClr val="13312F"/>
          </a:solidFill>
          <a:ln w="19050">
            <a:solidFill>
              <a:srgbClr val="C98A2B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777240" y="1874520"/>
            <a:ext cx="24681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777240" y="2286000"/>
            <a:ext cx="2468160" cy="21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def __init__(self, name, breed):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self.name = name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self.breed = breed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def bark(self):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print(f"{self.name} says Woof!")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548640" y="4727520"/>
            <a:ext cx="2925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99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THE BLUEPRINT — DEFINED ONCE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3474720" y="2057400"/>
            <a:ext cx="914400" cy="109728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4389120" y="1636920"/>
            <a:ext cx="7253280" cy="84060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8"/>
          <p:cNvSpPr/>
          <p:nvPr/>
        </p:nvSpPr>
        <p:spPr>
          <a:xfrm>
            <a:off x="4553640" y="1865520"/>
            <a:ext cx="383400" cy="38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Image 1" descr="/home/claude/work/icons/FaDna.png"/>
          <p:cNvPicPr/>
          <p:nvPr/>
        </p:nvPicPr>
        <p:blipFill>
          <a:blip r:embed="rId2"/>
          <a:stretch/>
        </p:blipFill>
        <p:spPr>
          <a:xfrm>
            <a:off x="4636080" y="194760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Text 9"/>
          <p:cNvSpPr/>
          <p:nvPr/>
        </p:nvSpPr>
        <p:spPr>
          <a:xfrm>
            <a:off x="5120640" y="1710000"/>
            <a:ext cx="63388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rex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0"/>
          <p:cNvSpPr/>
          <p:nvPr/>
        </p:nvSpPr>
        <p:spPr>
          <a:xfrm>
            <a:off x="5120640" y="2020680"/>
            <a:ext cx="633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"Rex"   ·   breed = "Labrador"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1"/>
          <p:cNvSpPr/>
          <p:nvPr/>
        </p:nvSpPr>
        <p:spPr>
          <a:xfrm>
            <a:off x="3474720" y="3154680"/>
            <a:ext cx="914400" cy="36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2"/>
          <p:cNvSpPr/>
          <p:nvPr/>
        </p:nvSpPr>
        <p:spPr>
          <a:xfrm>
            <a:off x="4389120" y="2734200"/>
            <a:ext cx="7253280" cy="84060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3"/>
          <p:cNvSpPr/>
          <p:nvPr/>
        </p:nvSpPr>
        <p:spPr>
          <a:xfrm>
            <a:off x="4553640" y="2962800"/>
            <a:ext cx="383400" cy="38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" name="Image 2" descr="/home/claude/work/icons/FaDna.png"/>
          <p:cNvPicPr/>
          <p:nvPr/>
        </p:nvPicPr>
        <p:blipFill>
          <a:blip r:embed="rId3"/>
          <a:stretch/>
        </p:blipFill>
        <p:spPr>
          <a:xfrm>
            <a:off x="4636080" y="304488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Text 14"/>
          <p:cNvSpPr/>
          <p:nvPr/>
        </p:nvSpPr>
        <p:spPr>
          <a:xfrm>
            <a:off x="5120640" y="2807280"/>
            <a:ext cx="63388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milo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5"/>
          <p:cNvSpPr/>
          <p:nvPr/>
        </p:nvSpPr>
        <p:spPr>
          <a:xfrm>
            <a:off x="5120640" y="3117960"/>
            <a:ext cx="633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"Milo"   ·   breed = "Beagle"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6"/>
          <p:cNvSpPr/>
          <p:nvPr/>
        </p:nvSpPr>
        <p:spPr>
          <a:xfrm>
            <a:off x="3474720" y="3154680"/>
            <a:ext cx="914400" cy="109728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7"/>
          <p:cNvSpPr/>
          <p:nvPr/>
        </p:nvSpPr>
        <p:spPr>
          <a:xfrm>
            <a:off x="4389120" y="3831480"/>
            <a:ext cx="7253280" cy="84060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8"/>
          <p:cNvSpPr/>
          <p:nvPr/>
        </p:nvSpPr>
        <p:spPr>
          <a:xfrm>
            <a:off x="4553640" y="4060080"/>
            <a:ext cx="383400" cy="38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4" name="Image 3" descr="/home/claude/work/icons/FaDna.png"/>
          <p:cNvPicPr/>
          <p:nvPr/>
        </p:nvPicPr>
        <p:blipFill>
          <a:blip r:embed="rId4"/>
          <a:stretch/>
        </p:blipFill>
        <p:spPr>
          <a:xfrm>
            <a:off x="4636080" y="414216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Text 19"/>
          <p:cNvSpPr/>
          <p:nvPr/>
        </p:nvSpPr>
        <p:spPr>
          <a:xfrm>
            <a:off x="5120640" y="3904560"/>
            <a:ext cx="63388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buddy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0"/>
          <p:cNvSpPr/>
          <p:nvPr/>
        </p:nvSpPr>
        <p:spPr>
          <a:xfrm>
            <a:off x="5120640" y="4215240"/>
            <a:ext cx="633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"Buddy"   ·   breed = "Poodle"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1"/>
          <p:cNvSpPr/>
          <p:nvPr/>
        </p:nvSpPr>
        <p:spPr>
          <a:xfrm>
            <a:off x="548640" y="5897880"/>
            <a:ext cx="11093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One class, three completely independent objects — each carries its own data, but shares the same bark() method.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2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3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" name="Image 0" descr="/home/claude/work/icons/FaLayerGroup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Instance Attributes vs. Class Attributes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/>
          <p:cNvSpPr/>
          <p:nvPr/>
        </p:nvSpPr>
        <p:spPr>
          <a:xfrm>
            <a:off x="548640" y="1234440"/>
            <a:ext cx="5363640" cy="511992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3"/>
          <p:cNvSpPr/>
          <p:nvPr/>
        </p:nvSpPr>
        <p:spPr>
          <a:xfrm>
            <a:off x="822960" y="1508760"/>
            <a:ext cx="456480" cy="456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" name="Image 1" descr="/home/claude/work/icons/FaFingerprint.png"/>
          <p:cNvPicPr/>
          <p:nvPr/>
        </p:nvPicPr>
        <p:blipFill>
          <a:blip r:embed="rId2"/>
          <a:stretch/>
        </p:blipFill>
        <p:spPr>
          <a:xfrm>
            <a:off x="923400" y="160920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Text 4"/>
          <p:cNvSpPr/>
          <p:nvPr/>
        </p:nvSpPr>
        <p:spPr>
          <a:xfrm>
            <a:off x="1444680" y="1508760"/>
            <a:ext cx="42847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Instance Attributes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5"/>
          <p:cNvSpPr/>
          <p:nvPr/>
        </p:nvSpPr>
        <p:spPr>
          <a:xfrm>
            <a:off x="841320" y="2194560"/>
            <a:ext cx="47782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Set inside __init__ using self.name = ...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Belong to one specific object — each object has its own separate copy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what you’ll use for almost all object data — name, balance, position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6"/>
          <p:cNvSpPr/>
          <p:nvPr/>
        </p:nvSpPr>
        <p:spPr>
          <a:xfrm>
            <a:off x="6278760" y="1234440"/>
            <a:ext cx="5363640" cy="511992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7"/>
          <p:cNvSpPr/>
          <p:nvPr/>
        </p:nvSpPr>
        <p:spPr>
          <a:xfrm>
            <a:off x="6553080" y="1508760"/>
            <a:ext cx="456480" cy="456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" name="Image 2" descr="/home/claude/work/icons/FaUsersCog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Text 8"/>
          <p:cNvSpPr/>
          <p:nvPr/>
        </p:nvSpPr>
        <p:spPr>
          <a:xfrm>
            <a:off x="7174800" y="1508760"/>
            <a:ext cx="42847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Class Attributes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9"/>
          <p:cNvSpPr/>
          <p:nvPr/>
        </p:nvSpPr>
        <p:spPr>
          <a:xfrm>
            <a:off x="6571440" y="2194560"/>
            <a:ext cx="47782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Defined directly inside the class body, outside any method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Shared by every object built from that class — one copy, not one per object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Good for constants or defaults every instance should share, like species = "Canine"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0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1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Classes &amp; Objects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"/>
          <p:cNvSpPr/>
          <p:nvPr/>
        </p:nvSpPr>
        <p:spPr>
          <a:xfrm>
            <a:off x="548640" y="1234440"/>
            <a:ext cx="11093760" cy="511992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3"/>
          <p:cNvSpPr/>
          <p:nvPr/>
        </p:nvSpPr>
        <p:spPr>
          <a:xfrm>
            <a:off x="868680" y="1435680"/>
            <a:ext cx="10453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4"/>
          <p:cNvSpPr/>
          <p:nvPr/>
        </p:nvSpPr>
        <p:spPr>
          <a:xfrm>
            <a:off x="868680" y="229644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5"/>
          <p:cNvSpPr/>
          <p:nvPr/>
        </p:nvSpPr>
        <p:spPr>
          <a:xfrm>
            <a:off x="868680" y="229644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1408320" y="1920240"/>
            <a:ext cx="9914040" cy="10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Car class with __init__ that sets make, model, and year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7"/>
          <p:cNvSpPr/>
          <p:nvPr/>
        </p:nvSpPr>
        <p:spPr>
          <a:xfrm>
            <a:off x="868680" y="335916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8"/>
          <p:cNvSpPr/>
          <p:nvPr/>
        </p:nvSpPr>
        <p:spPr>
          <a:xfrm>
            <a:off x="868680" y="335916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9"/>
          <p:cNvSpPr/>
          <p:nvPr/>
        </p:nvSpPr>
        <p:spPr>
          <a:xfrm>
            <a:off x="1408320" y="2983320"/>
            <a:ext cx="9914040" cy="10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method describe(self) that prints a sentence using all three attributes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10"/>
          <p:cNvSpPr/>
          <p:nvPr/>
        </p:nvSpPr>
        <p:spPr>
          <a:xfrm>
            <a:off x="868680" y="442224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1"/>
          <p:cNvSpPr/>
          <p:nvPr/>
        </p:nvSpPr>
        <p:spPr>
          <a:xfrm>
            <a:off x="868680" y="442224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2"/>
          <p:cNvSpPr/>
          <p:nvPr/>
        </p:nvSpPr>
        <p:spPr>
          <a:xfrm>
            <a:off x="1408320" y="4046400"/>
            <a:ext cx="9914040" cy="10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two Car objects with different data, and call describe() on each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3"/>
          <p:cNvSpPr/>
          <p:nvPr/>
        </p:nvSpPr>
        <p:spPr>
          <a:xfrm>
            <a:off x="868680" y="548532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4"/>
          <p:cNvSpPr/>
          <p:nvPr/>
        </p:nvSpPr>
        <p:spPr>
          <a:xfrm>
            <a:off x="868680" y="548532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5"/>
          <p:cNvSpPr/>
          <p:nvPr/>
        </p:nvSpPr>
        <p:spPr>
          <a:xfrm>
            <a:off x="1408320" y="5109120"/>
            <a:ext cx="9914040" cy="10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class attribute wheels = 4 shared by every car, and print it from both objects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6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7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0"/>
          <p:cNvSpPr/>
          <p:nvPr/>
        </p:nvSpPr>
        <p:spPr>
          <a:xfrm>
            <a:off x="-2286000" y="36576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"/>
          <p:cNvSpPr/>
          <p:nvPr/>
        </p:nvSpPr>
        <p:spPr>
          <a:xfrm>
            <a:off x="8229600" y="-27432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2"/>
          <p:cNvSpPr/>
          <p:nvPr/>
        </p:nvSpPr>
        <p:spPr>
          <a:xfrm>
            <a:off x="5638680" y="868680"/>
            <a:ext cx="913680" cy="913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0" descr="/home/claude/work/icons/FaShieldAlt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812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3"/>
          <p:cNvSpPr/>
          <p:nvPr/>
        </p:nvSpPr>
        <p:spPr>
          <a:xfrm>
            <a:off x="914400" y="2057400"/>
            <a:ext cx="1036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1188720" y="2441520"/>
            <a:ext cx="981360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Four Pillars of OOP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5"/>
          <p:cNvSpPr/>
          <p:nvPr/>
        </p:nvSpPr>
        <p:spPr>
          <a:xfrm>
            <a:off x="1920240" y="3630240"/>
            <a:ext cx="83505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Every object-oriented language, including Python, is built around these four ideas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11094480" y="649224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" name="Image 0" descr="/home/claude/work/icons/FaShield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Four Pillars, at a Glance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"/>
          <p:cNvSpPr/>
          <p:nvPr/>
        </p:nvSpPr>
        <p:spPr>
          <a:xfrm>
            <a:off x="548640" y="1234440"/>
            <a:ext cx="2532960" cy="511992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3"/>
          <p:cNvSpPr/>
          <p:nvPr/>
        </p:nvSpPr>
        <p:spPr>
          <a:xfrm>
            <a:off x="1426680" y="1600200"/>
            <a:ext cx="776520" cy="776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7" name="Image 1" descr="/home/claude/work/icons/FaUserShield.png"/>
          <p:cNvPicPr/>
          <p:nvPr/>
        </p:nvPicPr>
        <p:blipFill>
          <a:blip r:embed="rId2"/>
          <a:stretch/>
        </p:blipFill>
        <p:spPr>
          <a:xfrm>
            <a:off x="1623240" y="179208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Text 4"/>
          <p:cNvSpPr/>
          <p:nvPr/>
        </p:nvSpPr>
        <p:spPr>
          <a:xfrm>
            <a:off x="731520" y="2560320"/>
            <a:ext cx="2167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Encapsulation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5"/>
          <p:cNvSpPr/>
          <p:nvPr/>
        </p:nvSpPr>
        <p:spPr>
          <a:xfrm>
            <a:off x="777240" y="2971800"/>
            <a:ext cx="2075760" cy="31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Bundling data with the methods that protect it, and controlling how outside code can access it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6"/>
          <p:cNvSpPr/>
          <p:nvPr/>
        </p:nvSpPr>
        <p:spPr>
          <a:xfrm>
            <a:off x="3402360" y="1234440"/>
            <a:ext cx="2532960" cy="511992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7"/>
          <p:cNvSpPr/>
          <p:nvPr/>
        </p:nvSpPr>
        <p:spPr>
          <a:xfrm>
            <a:off x="4280400" y="1600200"/>
            <a:ext cx="776520" cy="776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2" name="Image 2" descr="/home/claude/work/icons/FaTheaterMasks.png"/>
          <p:cNvPicPr/>
          <p:nvPr/>
        </p:nvPicPr>
        <p:blipFill>
          <a:blip r:embed="rId3"/>
          <a:stretch/>
        </p:blipFill>
        <p:spPr>
          <a:xfrm>
            <a:off x="4476960" y="179208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ext 8"/>
          <p:cNvSpPr/>
          <p:nvPr/>
        </p:nvSpPr>
        <p:spPr>
          <a:xfrm>
            <a:off x="3585240" y="2560320"/>
            <a:ext cx="2167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9"/>
          <p:cNvSpPr/>
          <p:nvPr/>
        </p:nvSpPr>
        <p:spPr>
          <a:xfrm>
            <a:off x="3630960" y="2971800"/>
            <a:ext cx="2075760" cy="31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Hiding complex internal details behind a simple, easy-to-use interface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0"/>
          <p:cNvSpPr/>
          <p:nvPr/>
        </p:nvSpPr>
        <p:spPr>
          <a:xfrm>
            <a:off x="6255720" y="1234440"/>
            <a:ext cx="2532960" cy="511992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1"/>
          <p:cNvSpPr/>
          <p:nvPr/>
        </p:nvSpPr>
        <p:spPr>
          <a:xfrm>
            <a:off x="7134120" y="1600200"/>
            <a:ext cx="776520" cy="776520"/>
          </a:xfrm>
          <a:prstGeom prst="ellipse">
            <a:avLst/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7" name="Image 3" descr="/home/claude/work/icons/FaDna.png"/>
          <p:cNvPicPr/>
          <p:nvPr/>
        </p:nvPicPr>
        <p:blipFill>
          <a:blip r:embed="rId4"/>
          <a:stretch/>
        </p:blipFill>
        <p:spPr>
          <a:xfrm>
            <a:off x="7330680" y="179208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8" name="Text 12"/>
          <p:cNvSpPr/>
          <p:nvPr/>
        </p:nvSpPr>
        <p:spPr>
          <a:xfrm>
            <a:off x="6438600" y="2560320"/>
            <a:ext cx="2167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Inheritance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3"/>
          <p:cNvSpPr/>
          <p:nvPr/>
        </p:nvSpPr>
        <p:spPr>
          <a:xfrm>
            <a:off x="6484320" y="2971800"/>
            <a:ext cx="2075760" cy="31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Building new classes on top of existing ones, reusing and extending their behavior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4"/>
          <p:cNvSpPr/>
          <p:nvPr/>
        </p:nvSpPr>
        <p:spPr>
          <a:xfrm>
            <a:off x="9109440" y="1234440"/>
            <a:ext cx="2532960" cy="511992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15"/>
          <p:cNvSpPr/>
          <p:nvPr/>
        </p:nvSpPr>
        <p:spPr>
          <a:xfrm>
            <a:off x="9987480" y="1600200"/>
            <a:ext cx="776520" cy="776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" name="Image 4" descr="/home/claude/work/icons/FaRandom.png"/>
          <p:cNvPicPr/>
          <p:nvPr/>
        </p:nvPicPr>
        <p:blipFill>
          <a:blip r:embed="rId5"/>
          <a:stretch/>
        </p:blipFill>
        <p:spPr>
          <a:xfrm>
            <a:off x="10184400" y="179208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" name="Text 16"/>
          <p:cNvSpPr/>
          <p:nvPr/>
        </p:nvSpPr>
        <p:spPr>
          <a:xfrm>
            <a:off x="9292320" y="2560320"/>
            <a:ext cx="2167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Polymorphism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7"/>
          <p:cNvSpPr/>
          <p:nvPr/>
        </p:nvSpPr>
        <p:spPr>
          <a:xfrm>
            <a:off x="9338040" y="2971800"/>
            <a:ext cx="2075760" cy="31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Different classes responding to the same method call in their own appropriate way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8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9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8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1: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2"/>
          <p:cNvSpPr/>
          <p:nvPr/>
        </p:nvSpPr>
        <p:spPr>
          <a:xfrm>
            <a:off x="548640" y="1234440"/>
            <a:ext cx="3245400" cy="51199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1645920" y="1737360"/>
            <a:ext cx="1050840" cy="1050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" name="Image 1" descr="/home/claude/work/icons/FaUserShield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560" cy="52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Text 4"/>
          <p:cNvSpPr/>
          <p:nvPr/>
        </p:nvSpPr>
        <p:spPr>
          <a:xfrm>
            <a:off x="731520" y="3017520"/>
            <a:ext cx="2879640" cy="30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Protect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data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inside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5"/>
          <p:cNvSpPr/>
          <p:nvPr/>
        </p:nvSpPr>
        <p:spPr>
          <a:xfrm>
            <a:off x="4206240" y="1280160"/>
            <a:ext cx="74361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Encapsulation means bundling data with the methods that operate on it, and restricting direct outside access to that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bank account shouldn’t let any code just set balance = -500 directly — changes should only happen through controlled methods like withdraw()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protects an object from being put into an invalid or inconsistent state by code elsewhere in the program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doesn’t enforce this with hard restrictions the way some languages do — it relies on naming conventions and trust, which is a deliberate design choice ("we’re all consenting adults here")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6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7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8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Public, Protected, and Private — By Convention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"/>
          <p:cNvSpPr/>
          <p:nvPr/>
        </p:nvSpPr>
        <p:spPr>
          <a:xfrm>
            <a:off x="548640" y="1234440"/>
            <a:ext cx="110937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name is public — freely accessible from anywhere, the normal default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_balance (single underscore) is a convention meaning "internal, please don’t touch directly" — Python doesn’t block it, it just signals intent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__pin (double underscore) triggers name mangling — Python renames it internally, making accidental outside access genuinely difficult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3"/>
          <p:cNvSpPr/>
          <p:nvPr/>
        </p:nvSpPr>
        <p:spPr>
          <a:xfrm>
            <a:off x="548640" y="2569320"/>
            <a:ext cx="11093760" cy="37850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4"/>
          <p:cNvSpPr/>
          <p:nvPr/>
        </p:nvSpPr>
        <p:spPr>
          <a:xfrm>
            <a:off x="868680" y="2752200"/>
            <a:ext cx="104536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Account: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owner, balance):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self.owner = owner        # public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balance   # "internal" by convention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self.__pin = "4471"       # name-mangled, hard to reach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 = Account("Ahmed", 1000)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acc.owner          # "Ahmed" — fine, it's public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acc._balance       # works, but signals "you shouldn't"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acc.__pin          # AttributeError — mangled to _Account__pin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6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@property — Controlled Access, the Python Way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"/>
          <p:cNvSpPr/>
          <p:nvPr/>
        </p:nvSpPr>
        <p:spPr>
          <a:xfrm>
            <a:off x="548640" y="1234440"/>
            <a:ext cx="110937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@property turns a method into something that reads like a plain attribute — balance instead of get_balance()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matching @balance.setter lets you validate any value before it’s allowed to be stored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real, idiomatic way encapsulation is done in Python — clean access on the outside, control on the inside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548640" y="2569320"/>
            <a:ext cx="11093760" cy="37850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868680" y="2752200"/>
            <a:ext cx="104536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Account: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balance):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balance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@property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balance(self):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self._balance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@balance.setter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balance(self, amount):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if amount &lt; 0: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    raise ValueError("Balance can't be negative")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amount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 = Account(1000)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acc.balance = 500       # runs the setter, validated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acc.balance = -50       # ValueError — blocked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5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"/>
          <p:cNvSpPr/>
          <p:nvPr/>
        </p:nvSpPr>
        <p:spPr>
          <a:xfrm>
            <a:off x="548640" y="1234440"/>
            <a:ext cx="11093760" cy="511992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"/>
          <p:cNvSpPr/>
          <p:nvPr/>
        </p:nvSpPr>
        <p:spPr>
          <a:xfrm>
            <a:off x="868680" y="1435680"/>
            <a:ext cx="10453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4"/>
          <p:cNvSpPr/>
          <p:nvPr/>
        </p:nvSpPr>
        <p:spPr>
          <a:xfrm>
            <a:off x="868680" y="247356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5"/>
          <p:cNvSpPr/>
          <p:nvPr/>
        </p:nvSpPr>
        <p:spPr>
          <a:xfrm>
            <a:off x="868680" y="247356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6"/>
          <p:cNvSpPr/>
          <p:nvPr/>
        </p:nvSpPr>
        <p:spPr>
          <a:xfrm>
            <a:off x="1408320" y="1920240"/>
            <a:ext cx="991404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Wallet class with a protected _cash attribute and add_cash()/spend_cash() methods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7"/>
          <p:cNvSpPr/>
          <p:nvPr/>
        </p:nvSpPr>
        <p:spPr>
          <a:xfrm>
            <a:off x="868680" y="389088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8"/>
          <p:cNvSpPr/>
          <p:nvPr/>
        </p:nvSpPr>
        <p:spPr>
          <a:xfrm>
            <a:off x="868680" y="38908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9"/>
          <p:cNvSpPr/>
          <p:nvPr/>
        </p:nvSpPr>
        <p:spPr>
          <a:xfrm>
            <a:off x="1408320" y="3337560"/>
            <a:ext cx="991404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Make spend_cash() refuse to let _cash go below zero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0"/>
          <p:cNvSpPr/>
          <p:nvPr/>
        </p:nvSpPr>
        <p:spPr>
          <a:xfrm>
            <a:off x="868680" y="530820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1"/>
          <p:cNvSpPr/>
          <p:nvPr/>
        </p:nvSpPr>
        <p:spPr>
          <a:xfrm>
            <a:off x="868680" y="530820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2"/>
          <p:cNvSpPr/>
          <p:nvPr/>
        </p:nvSpPr>
        <p:spPr>
          <a:xfrm>
            <a:off x="1408320" y="4754880"/>
            <a:ext cx="991404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Turn balance into a @property with a setter that rejects negative values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3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4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0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1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2: Abstraction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"/>
          <p:cNvSpPr/>
          <p:nvPr/>
        </p:nvSpPr>
        <p:spPr>
          <a:xfrm>
            <a:off x="548640" y="1234440"/>
            <a:ext cx="3245400" cy="51199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3"/>
          <p:cNvSpPr/>
          <p:nvPr/>
        </p:nvSpPr>
        <p:spPr>
          <a:xfrm>
            <a:off x="1645920" y="1737360"/>
            <a:ext cx="1050840" cy="1050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4" name="Image 1" descr="/home/claude/work/icons/FaTheaterMask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560" cy="52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Text 4"/>
          <p:cNvSpPr/>
          <p:nvPr/>
        </p:nvSpPr>
        <p:spPr>
          <a:xfrm>
            <a:off x="731520" y="3017520"/>
            <a:ext cx="2879640" cy="30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Hide the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how, show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what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5"/>
          <p:cNvSpPr/>
          <p:nvPr/>
        </p:nvSpPr>
        <p:spPr>
          <a:xfrm>
            <a:off x="4206240" y="1280160"/>
            <a:ext cx="74361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Abstraction means hiding complicated internal details behind a simple interface — the user only needs to know what a method does, not how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call car.start_engine() without knowing anything about fuel injection or ignition timing — the complexity is hidden behind a simple method 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 Python, this often shows up as an abstract base class — a class that defines what methods a subclass must have, without saying how they work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Abstraction and encapsulation work together, but they solve different problems: encapsulation protects data, abstraction simplifies interfaces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7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 Base Classes — Defining a Required Interface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"/>
          <p:cNvSpPr/>
          <p:nvPr/>
        </p:nvSpPr>
        <p:spPr>
          <a:xfrm>
            <a:off x="548640" y="1234440"/>
            <a:ext cx="110937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ABC and @abstractmethod (from the abc module) let you define a class that can’t be used directly — only inherited from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Any subclass is forced to implement every abstract method, or Python refuses to let you create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guarantees every "shape" in a program has an area() method, without dictating how each one calculates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3"/>
          <p:cNvSpPr/>
          <p:nvPr/>
        </p:nvSpPr>
        <p:spPr>
          <a:xfrm>
            <a:off x="548640" y="2569320"/>
            <a:ext cx="11093760" cy="37850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4"/>
          <p:cNvSpPr/>
          <p:nvPr/>
        </p:nvSpPr>
        <p:spPr>
          <a:xfrm>
            <a:off x="868680" y="2752200"/>
            <a:ext cx="104536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from abc import ABC, abstractmethod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Shape(ABC):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@abstractmethod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pass    # no implementation — subclasses must provide one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shape = Shape()   # TypeError — can't instantiate an ABC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Circle(Shape):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radius):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self.radius = radius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3.14159 * self.radius ** 2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Circle(3).area()   # 28.27...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Abstraction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2"/>
          <p:cNvSpPr/>
          <p:nvPr/>
        </p:nvSpPr>
        <p:spPr>
          <a:xfrm>
            <a:off x="548640" y="1234440"/>
            <a:ext cx="11093760" cy="511992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3"/>
          <p:cNvSpPr/>
          <p:nvPr/>
        </p:nvSpPr>
        <p:spPr>
          <a:xfrm>
            <a:off x="868680" y="1435680"/>
            <a:ext cx="10453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4"/>
          <p:cNvSpPr/>
          <p:nvPr/>
        </p:nvSpPr>
        <p:spPr>
          <a:xfrm>
            <a:off x="868680" y="247356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868680" y="247356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1408320" y="1920240"/>
            <a:ext cx="991404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an abstract Vehicle class with an abstract method fuel_type()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7"/>
          <p:cNvSpPr/>
          <p:nvPr/>
        </p:nvSpPr>
        <p:spPr>
          <a:xfrm>
            <a:off x="868680" y="389088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8"/>
          <p:cNvSpPr/>
          <p:nvPr/>
        </p:nvSpPr>
        <p:spPr>
          <a:xfrm>
            <a:off x="868680" y="38908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9"/>
          <p:cNvSpPr/>
          <p:nvPr/>
        </p:nvSpPr>
        <p:spPr>
          <a:xfrm>
            <a:off x="1408320" y="3337560"/>
            <a:ext cx="991404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two subclasses, ElectricCar and PetrolCar, each implementing fuel_type() differently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0"/>
          <p:cNvSpPr/>
          <p:nvPr/>
        </p:nvSpPr>
        <p:spPr>
          <a:xfrm>
            <a:off x="868680" y="530820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1"/>
          <p:cNvSpPr/>
          <p:nvPr/>
        </p:nvSpPr>
        <p:spPr>
          <a:xfrm>
            <a:off x="868680" y="530820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2"/>
          <p:cNvSpPr/>
          <p:nvPr/>
        </p:nvSpPr>
        <p:spPr>
          <a:xfrm>
            <a:off x="1408320" y="4754880"/>
            <a:ext cx="991404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Try instantiating Vehicle directly and confirm Python blocks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3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4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4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3: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2"/>
          <p:cNvSpPr/>
          <p:nvPr/>
        </p:nvSpPr>
        <p:spPr>
          <a:xfrm>
            <a:off x="548640" y="1234440"/>
            <a:ext cx="3245400" cy="51199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3"/>
          <p:cNvSpPr/>
          <p:nvPr/>
        </p:nvSpPr>
        <p:spPr>
          <a:xfrm>
            <a:off x="1645920" y="1737360"/>
            <a:ext cx="1050840" cy="1050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8" name="Image 1" descr="/home/claude/work/icons/FaDna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560" cy="52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Text 4"/>
          <p:cNvSpPr/>
          <p:nvPr/>
        </p:nvSpPr>
        <p:spPr>
          <a:xfrm>
            <a:off x="731520" y="3017520"/>
            <a:ext cx="2879640" cy="30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Build 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already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exists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5"/>
          <p:cNvSpPr/>
          <p:nvPr/>
        </p:nvSpPr>
        <p:spPr>
          <a:xfrm>
            <a:off x="4206240" y="1280160"/>
            <a:ext cx="74361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Inheritance lets a new class (the child, or subclass) reuse and extend the data and behavior of an existing class (the parent, or superclass)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GoldenRetriever is a Dog — it automatically gets everything a Dog has, and can add its own extra behavior on top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avoids rewriting the same code in every related class — shared behavior lives once, in the parent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 also models real-world "is-a" relationships directly in code: a Car is a Vehicle, a Manager is an Employee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6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7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4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Basic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"/>
          <p:cNvSpPr/>
          <p:nvPr/>
        </p:nvSpPr>
        <p:spPr>
          <a:xfrm>
            <a:off x="548640" y="1234440"/>
            <a:ext cx="110937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class Cat(Animal): means Cat inherits everything Animal has — Animal goes in the parentheses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Cat automatically gets Animal’s __init__ and eat() without rewriting them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isinstance() confirms a Cat is also considered an Animal — the inheritance relationship is real, not just naming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3"/>
          <p:cNvSpPr/>
          <p:nvPr/>
        </p:nvSpPr>
        <p:spPr>
          <a:xfrm>
            <a:off x="548640" y="2569320"/>
            <a:ext cx="11093760" cy="37850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4"/>
          <p:cNvSpPr/>
          <p:nvPr/>
        </p:nvSpPr>
        <p:spPr>
          <a:xfrm>
            <a:off x="868680" y="2752200"/>
            <a:ext cx="104536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eat(self):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print(f"{self.name} is eating")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Cat(Animal):     # Cat inherits from Animal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 = Cat("Whiskers")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whiskers.eat()                  # inherited — works with no rewrite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isinstance(whiskers, Animal)    # True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6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2" name="Image 0" descr="/home/claude/work/icons/FaLevelUp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super() — Calling the Parent’s Version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2"/>
          <p:cNvSpPr/>
          <p:nvPr/>
        </p:nvSpPr>
        <p:spPr>
          <a:xfrm>
            <a:off x="548640" y="1234440"/>
            <a:ext cx="110937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When a subclass defines its own __init__, it replaces the parent’s __init__ entirely — unless you explicitly call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super().__init__(...) runs the parent’s constructor first, so you don’t have to duplicate its logic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pattern — extend, don’t replace — is the standard way subclasses build on their parent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3"/>
          <p:cNvSpPr/>
          <p:nvPr/>
        </p:nvSpPr>
        <p:spPr>
          <a:xfrm>
            <a:off x="548640" y="2569320"/>
            <a:ext cx="11093760" cy="37850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4"/>
          <p:cNvSpPr/>
          <p:nvPr/>
        </p:nvSpPr>
        <p:spPr>
          <a:xfrm>
            <a:off x="868680" y="2752200"/>
            <a:ext cx="104536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Cat(Animal):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indoor):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super().__init__(name)   # reuse the parent's setup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self.indoor = indoor     # then add Cat-specific data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 = Cat("Whiskers", True)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whiskers.name     # "Whiskers" — handled by Animal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whiskers.indoor   # True — handled by Cat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0" name="Image 0" descr="/home/claude/work/icons/FaCodeBranch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Overriding Methods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2"/>
          <p:cNvSpPr/>
          <p:nvPr/>
        </p:nvSpPr>
        <p:spPr>
          <a:xfrm>
            <a:off x="548640" y="1234440"/>
            <a:ext cx="110937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subclass can redefine a method it inherited, giving it different, more specific behavior — this is called overriding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always uses the closest, most specific version of a method it can find on the object’s own class first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parent’s original version is still there if you need it — call it explicitly with super().speak()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"/>
          <p:cNvSpPr/>
          <p:nvPr/>
        </p:nvSpPr>
        <p:spPr>
          <a:xfrm>
            <a:off x="548640" y="2569320"/>
            <a:ext cx="11093760" cy="37850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4"/>
          <p:cNvSpPr/>
          <p:nvPr/>
        </p:nvSpPr>
        <p:spPr>
          <a:xfrm>
            <a:off x="868680" y="2752200"/>
            <a:ext cx="104536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speak(self):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print("Some generic animal sound")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speak(self):       # overrides Animal.speak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Animal().speak()   # Some generic animal sound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Dog().speak()      # Woof!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5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6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8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Method Resolution Order — Who Answers the Call?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2"/>
          <p:cNvSpPr/>
          <p:nvPr/>
        </p:nvSpPr>
        <p:spPr>
          <a:xfrm flipH="1">
            <a:off x="4221000" y="224028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3"/>
          <p:cNvSpPr/>
          <p:nvPr/>
        </p:nvSpPr>
        <p:spPr>
          <a:xfrm>
            <a:off x="6095520" y="224028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4"/>
          <p:cNvSpPr/>
          <p:nvPr/>
        </p:nvSpPr>
        <p:spPr>
          <a:xfrm>
            <a:off x="4221000" y="347472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5"/>
          <p:cNvSpPr/>
          <p:nvPr/>
        </p:nvSpPr>
        <p:spPr>
          <a:xfrm flipH="1">
            <a:off x="6095520" y="347472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6"/>
          <p:cNvSpPr/>
          <p:nvPr/>
        </p:nvSpPr>
        <p:spPr>
          <a:xfrm>
            <a:off x="5044320" y="1554480"/>
            <a:ext cx="2102400" cy="685080"/>
          </a:xfrm>
          <a:prstGeom prst="roundRect">
            <a:avLst>
              <a:gd name="adj" fmla="val 10667"/>
            </a:avLst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7"/>
          <p:cNvSpPr/>
          <p:nvPr/>
        </p:nvSpPr>
        <p:spPr>
          <a:xfrm>
            <a:off x="5044320" y="1627560"/>
            <a:ext cx="21024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Duck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8"/>
          <p:cNvSpPr/>
          <p:nvPr/>
        </p:nvSpPr>
        <p:spPr>
          <a:xfrm>
            <a:off x="5044320" y="1938600"/>
            <a:ext cx="21024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(child class)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9"/>
          <p:cNvSpPr/>
          <p:nvPr/>
        </p:nvSpPr>
        <p:spPr>
          <a:xfrm>
            <a:off x="4843080" y="135324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0"/>
          <p:cNvSpPr/>
          <p:nvPr/>
        </p:nvSpPr>
        <p:spPr>
          <a:xfrm>
            <a:off x="4843080" y="135324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1"/>
          <p:cNvSpPr/>
          <p:nvPr/>
        </p:nvSpPr>
        <p:spPr>
          <a:xfrm>
            <a:off x="3169800" y="2788920"/>
            <a:ext cx="2102400" cy="68508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2"/>
          <p:cNvSpPr/>
          <p:nvPr/>
        </p:nvSpPr>
        <p:spPr>
          <a:xfrm>
            <a:off x="3169800" y="2862000"/>
            <a:ext cx="21024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Flyer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3"/>
          <p:cNvSpPr/>
          <p:nvPr/>
        </p:nvSpPr>
        <p:spPr>
          <a:xfrm>
            <a:off x="3169800" y="3173040"/>
            <a:ext cx="21024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move() → "Flying"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14"/>
          <p:cNvSpPr/>
          <p:nvPr/>
        </p:nvSpPr>
        <p:spPr>
          <a:xfrm>
            <a:off x="2968560" y="258768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5"/>
          <p:cNvSpPr/>
          <p:nvPr/>
        </p:nvSpPr>
        <p:spPr>
          <a:xfrm>
            <a:off x="2968560" y="25876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16"/>
          <p:cNvSpPr/>
          <p:nvPr/>
        </p:nvSpPr>
        <p:spPr>
          <a:xfrm>
            <a:off x="6918840" y="2788920"/>
            <a:ext cx="2102400" cy="68508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7"/>
          <p:cNvSpPr/>
          <p:nvPr/>
        </p:nvSpPr>
        <p:spPr>
          <a:xfrm>
            <a:off x="6918840" y="2862000"/>
            <a:ext cx="21024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Swimmer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8"/>
          <p:cNvSpPr/>
          <p:nvPr/>
        </p:nvSpPr>
        <p:spPr>
          <a:xfrm>
            <a:off x="6918840" y="3173040"/>
            <a:ext cx="21024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move() → "Swimming"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19"/>
          <p:cNvSpPr/>
          <p:nvPr/>
        </p:nvSpPr>
        <p:spPr>
          <a:xfrm>
            <a:off x="6717600" y="258768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6717600" y="25876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21"/>
          <p:cNvSpPr/>
          <p:nvPr/>
        </p:nvSpPr>
        <p:spPr>
          <a:xfrm>
            <a:off x="5044320" y="4023360"/>
            <a:ext cx="2102400" cy="68508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22"/>
          <p:cNvSpPr/>
          <p:nvPr/>
        </p:nvSpPr>
        <p:spPr>
          <a:xfrm>
            <a:off x="5044320" y="4096440"/>
            <a:ext cx="21024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object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23"/>
          <p:cNvSpPr/>
          <p:nvPr/>
        </p:nvSpPr>
        <p:spPr>
          <a:xfrm>
            <a:off x="5044320" y="4407480"/>
            <a:ext cx="21024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base of everything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24"/>
          <p:cNvSpPr/>
          <p:nvPr/>
        </p:nvSpPr>
        <p:spPr>
          <a:xfrm>
            <a:off x="4843080" y="382212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25"/>
          <p:cNvSpPr/>
          <p:nvPr/>
        </p:nvSpPr>
        <p:spPr>
          <a:xfrm>
            <a:off x="4843080" y="382212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26"/>
          <p:cNvSpPr/>
          <p:nvPr/>
        </p:nvSpPr>
        <p:spPr>
          <a:xfrm>
            <a:off x="548640" y="1554480"/>
            <a:ext cx="2651040" cy="3153960"/>
          </a:xfrm>
          <a:prstGeom prst="roundRect">
            <a:avLst>
              <a:gd name="adj" fmla="val 3448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27"/>
          <p:cNvSpPr/>
          <p:nvPr/>
        </p:nvSpPr>
        <p:spPr>
          <a:xfrm>
            <a:off x="749880" y="1737360"/>
            <a:ext cx="22485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Duck.__mro__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28"/>
          <p:cNvSpPr/>
          <p:nvPr/>
        </p:nvSpPr>
        <p:spPr>
          <a:xfrm>
            <a:off x="749880" y="2103120"/>
            <a:ext cx="224856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1. Duck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2. Flyer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3. Swimmer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4. object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29"/>
          <p:cNvSpPr/>
          <p:nvPr/>
        </p:nvSpPr>
        <p:spPr>
          <a:xfrm>
            <a:off x="749880" y="3566160"/>
            <a:ext cx="224856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Python searches left to right, so Flyer’s move() wins over Swimmer’s.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30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31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1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Multiple Inheritance — Inheriting From More Than One Class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2"/>
          <p:cNvSpPr/>
          <p:nvPr/>
        </p:nvSpPr>
        <p:spPr>
          <a:xfrm>
            <a:off x="548640" y="1234440"/>
            <a:ext cx="110937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allows a class to inherit from more than one parent at once — class Duck(Flyer, Swimmer)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If more than one parent defines the same method, Python resolves the conflict using its Method Resolution Order (MRO)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can inspect the exact search order yourself with ClassName.__mro__ — useful whenever behavior seems ambiguous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3"/>
          <p:cNvSpPr/>
          <p:nvPr/>
        </p:nvSpPr>
        <p:spPr>
          <a:xfrm>
            <a:off x="548640" y="2569320"/>
            <a:ext cx="11093760" cy="37850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4"/>
          <p:cNvSpPr/>
          <p:nvPr/>
        </p:nvSpPr>
        <p:spPr>
          <a:xfrm>
            <a:off x="868680" y="2752200"/>
            <a:ext cx="104536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Flyer: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move(self):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print("Flying")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Swimmer: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move(self):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print("Swimming")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Duck(Flyer, Swimmer):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Duck().move()          # Flying — Flyer is checked first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print(Duck.__mro__)    # shows the full search order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5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6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9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2"/>
          <p:cNvSpPr/>
          <p:nvPr/>
        </p:nvSpPr>
        <p:spPr>
          <a:xfrm>
            <a:off x="548640" y="1234440"/>
            <a:ext cx="11093760" cy="511992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3"/>
          <p:cNvSpPr/>
          <p:nvPr/>
        </p:nvSpPr>
        <p:spPr>
          <a:xfrm>
            <a:off x="868680" y="1435680"/>
            <a:ext cx="10453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4"/>
          <p:cNvSpPr/>
          <p:nvPr/>
        </p:nvSpPr>
        <p:spPr>
          <a:xfrm>
            <a:off x="868680" y="229644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5"/>
          <p:cNvSpPr/>
          <p:nvPr/>
        </p:nvSpPr>
        <p:spPr>
          <a:xfrm>
            <a:off x="868680" y="229644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6"/>
          <p:cNvSpPr/>
          <p:nvPr/>
        </p:nvSpPr>
        <p:spPr>
          <a:xfrm>
            <a:off x="1408320" y="1920240"/>
            <a:ext cx="9914040" cy="10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an Employee class with name and salary, then a Manager subclass adding a team_size attribute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7"/>
          <p:cNvSpPr/>
          <p:nvPr/>
        </p:nvSpPr>
        <p:spPr>
          <a:xfrm>
            <a:off x="868680" y="335916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8"/>
          <p:cNvSpPr/>
          <p:nvPr/>
        </p:nvSpPr>
        <p:spPr>
          <a:xfrm>
            <a:off x="868680" y="335916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9"/>
          <p:cNvSpPr/>
          <p:nvPr/>
        </p:nvSpPr>
        <p:spPr>
          <a:xfrm>
            <a:off x="1408320" y="2983320"/>
            <a:ext cx="9914040" cy="10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Use super().__init__() inside Manager rather than repeating Employee’s setup logic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0"/>
          <p:cNvSpPr/>
          <p:nvPr/>
        </p:nvSpPr>
        <p:spPr>
          <a:xfrm>
            <a:off x="868680" y="442224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1"/>
          <p:cNvSpPr/>
          <p:nvPr/>
        </p:nvSpPr>
        <p:spPr>
          <a:xfrm>
            <a:off x="868680" y="442224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2"/>
          <p:cNvSpPr/>
          <p:nvPr/>
        </p:nvSpPr>
        <p:spPr>
          <a:xfrm>
            <a:off x="1408320" y="4046400"/>
            <a:ext cx="9914040" cy="10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Override a raise_salary() method in Manager so managers get double the normal raise percentage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13"/>
          <p:cNvSpPr/>
          <p:nvPr/>
        </p:nvSpPr>
        <p:spPr>
          <a:xfrm>
            <a:off x="868680" y="548532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4"/>
          <p:cNvSpPr/>
          <p:nvPr/>
        </p:nvSpPr>
        <p:spPr>
          <a:xfrm>
            <a:off x="868680" y="548532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5"/>
          <p:cNvSpPr/>
          <p:nvPr/>
        </p:nvSpPr>
        <p:spPr>
          <a:xfrm>
            <a:off x="1408320" y="5109120"/>
            <a:ext cx="9914040" cy="10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Print MyClass.__mro__ for a class with two parents, and explain the order out loud before checking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6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7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8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4: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2"/>
          <p:cNvSpPr/>
          <p:nvPr/>
        </p:nvSpPr>
        <p:spPr>
          <a:xfrm>
            <a:off x="548640" y="1234440"/>
            <a:ext cx="3245400" cy="51199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3"/>
          <p:cNvSpPr/>
          <p:nvPr/>
        </p:nvSpPr>
        <p:spPr>
          <a:xfrm>
            <a:off x="1645920" y="1737360"/>
            <a:ext cx="1050840" cy="1050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2" name="Image 1" descr="/home/claude/work/icons/FaRandom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560" cy="52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Text 4"/>
          <p:cNvSpPr/>
          <p:nvPr/>
        </p:nvSpPr>
        <p:spPr>
          <a:xfrm>
            <a:off x="731520" y="3017520"/>
            <a:ext cx="2879640" cy="30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Same call,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different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behavior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5"/>
          <p:cNvSpPr/>
          <p:nvPr/>
        </p:nvSpPr>
        <p:spPr>
          <a:xfrm>
            <a:off x="4206240" y="1280160"/>
            <a:ext cx="74361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Polymorphism means different classes can respond to the exact same method call, each in its own appropriate way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"Poly" (many) + "morph" (forms) — one interface, many shapes of behavior underneath it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already saw the mechanism in the last part: method overriding is exactly how polymorphism happens in practice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payoff is code that works on any object with the right method, without needing to know or check its exact class first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6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7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8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Polymorphism in Action — One Loop, Many Behaviors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2"/>
          <p:cNvSpPr/>
          <p:nvPr/>
        </p:nvSpPr>
        <p:spPr>
          <a:xfrm>
            <a:off x="548640" y="1234440"/>
            <a:ext cx="110937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shape in the list has an area() method — but each class calculates it completely differently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loop doesn’t check what type of shape it has — it just trusts that .area() exists and calls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real payoff of polymorphism: code that’s written once and works correctly for classes that don’t exist yet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3"/>
          <p:cNvSpPr/>
          <p:nvPr/>
        </p:nvSpPr>
        <p:spPr>
          <a:xfrm>
            <a:off x="548640" y="2569320"/>
            <a:ext cx="11093760" cy="37850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4"/>
          <p:cNvSpPr/>
          <p:nvPr/>
        </p:nvSpPr>
        <p:spPr>
          <a:xfrm>
            <a:off x="868680" y="2752200"/>
            <a:ext cx="104536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Circle: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r): self.r = 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 return 3.14159 * self.r ** 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Square: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s): self.s = 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 return self.s ** 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shapes = [Circle(3), Square(4)]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for shape in shapes: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print(shape.area())   # each uses its OWN area() logic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28.27...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16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5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6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6" name="Image 0" descr="/home/claude/work/icons/FaFeather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Duck Typing — Python’s Real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2"/>
          <p:cNvSpPr/>
          <p:nvPr/>
        </p:nvSpPr>
        <p:spPr>
          <a:xfrm>
            <a:off x="548640" y="1234440"/>
            <a:ext cx="110937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"If it walks like a duck and quacks like a duck, it’s a duck" — Python doesn’t check an object’s class, only whether it has the method being called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Two totally unrelated classes can both work with the same code, as long as they both implement the method it expects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looser and more flexible than polymorphism in many other languages — it’s driven entirely by behavior, not by shared inheritance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3"/>
          <p:cNvSpPr/>
          <p:nvPr/>
        </p:nvSpPr>
        <p:spPr>
          <a:xfrm>
            <a:off x="548640" y="2569320"/>
            <a:ext cx="11093760" cy="37850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4"/>
          <p:cNvSpPr/>
          <p:nvPr/>
        </p:nvSpPr>
        <p:spPr>
          <a:xfrm>
            <a:off x="868680" y="2752200"/>
            <a:ext cx="104536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Duck: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sound(self): print("Quack!")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sound(self): print("Woof!")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def make_it_talk(animal):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animal.sound()   # no type check — just calls .sound()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make_it_talk(Duck())   # Quack!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make_it_talk(Dog())    # Woof! — completely unrelated classes, both work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5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6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4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5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2"/>
          <p:cNvSpPr/>
          <p:nvPr/>
        </p:nvSpPr>
        <p:spPr>
          <a:xfrm>
            <a:off x="548640" y="1234440"/>
            <a:ext cx="11093760" cy="511992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3"/>
          <p:cNvSpPr/>
          <p:nvPr/>
        </p:nvSpPr>
        <p:spPr>
          <a:xfrm>
            <a:off x="868680" y="1435680"/>
            <a:ext cx="10453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4"/>
          <p:cNvSpPr/>
          <p:nvPr/>
        </p:nvSpPr>
        <p:spPr>
          <a:xfrm>
            <a:off x="868680" y="247356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5"/>
          <p:cNvSpPr/>
          <p:nvPr/>
        </p:nvSpPr>
        <p:spPr>
          <a:xfrm>
            <a:off x="868680" y="247356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6"/>
          <p:cNvSpPr/>
          <p:nvPr/>
        </p:nvSpPr>
        <p:spPr>
          <a:xfrm>
            <a:off x="1408320" y="1920240"/>
            <a:ext cx="991404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three classes (Cat, Dog, Cow) each with their own sound() method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7"/>
          <p:cNvSpPr/>
          <p:nvPr/>
        </p:nvSpPr>
        <p:spPr>
          <a:xfrm>
            <a:off x="868680" y="389088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8"/>
          <p:cNvSpPr/>
          <p:nvPr/>
        </p:nvSpPr>
        <p:spPr>
          <a:xfrm>
            <a:off x="868680" y="38908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9"/>
          <p:cNvSpPr/>
          <p:nvPr/>
        </p:nvSpPr>
        <p:spPr>
          <a:xfrm>
            <a:off x="1408320" y="3337560"/>
            <a:ext cx="991404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Loop over a list containing one of each and call .sound() on every item without checking type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10"/>
          <p:cNvSpPr/>
          <p:nvPr/>
        </p:nvSpPr>
        <p:spPr>
          <a:xfrm>
            <a:off x="868680" y="530820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11"/>
          <p:cNvSpPr/>
          <p:nvPr/>
        </p:nvSpPr>
        <p:spPr>
          <a:xfrm>
            <a:off x="868680" y="530820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12"/>
          <p:cNvSpPr/>
          <p:nvPr/>
        </p:nvSpPr>
        <p:spPr>
          <a:xfrm>
            <a:off x="1408320" y="4754880"/>
            <a:ext cx="991404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function that accepts any object with a .describe() method, and call it with two unrelated classes to prove duck typing works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3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14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Shape 0"/>
          <p:cNvSpPr/>
          <p:nvPr/>
        </p:nvSpPr>
        <p:spPr>
          <a:xfrm>
            <a:off x="-2286000" y="36576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1"/>
          <p:cNvSpPr/>
          <p:nvPr/>
        </p:nvSpPr>
        <p:spPr>
          <a:xfrm>
            <a:off x="8229600" y="-27432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2"/>
          <p:cNvSpPr/>
          <p:nvPr/>
        </p:nvSpPr>
        <p:spPr>
          <a:xfrm>
            <a:off x="5638680" y="868680"/>
            <a:ext cx="913680" cy="913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2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812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3" name="Text 3"/>
          <p:cNvSpPr/>
          <p:nvPr/>
        </p:nvSpPr>
        <p:spPr>
          <a:xfrm>
            <a:off x="914400" y="2057400"/>
            <a:ext cx="1036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4"/>
          <p:cNvSpPr/>
          <p:nvPr/>
        </p:nvSpPr>
        <p:spPr>
          <a:xfrm>
            <a:off x="1188720" y="2441520"/>
            <a:ext cx="981360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Python-Specific OOP Details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5"/>
          <p:cNvSpPr/>
          <p:nvPr/>
        </p:nvSpPr>
        <p:spPr>
          <a:xfrm>
            <a:off x="1920240" y="3630240"/>
            <a:ext cx="83505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Beyond the four pillars — the conventions and tools every real Python class actually uses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6"/>
          <p:cNvSpPr/>
          <p:nvPr/>
        </p:nvSpPr>
        <p:spPr>
          <a:xfrm>
            <a:off x="11094480" y="649224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8" name="Image 0" descr="/home/claude/work/icons/FaFile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9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__str__ vs. __repr__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2"/>
          <p:cNvSpPr/>
          <p:nvPr/>
        </p:nvSpPr>
        <p:spPr>
          <a:xfrm>
            <a:off x="548640" y="1234440"/>
            <a:ext cx="110937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By default, printing an object shows an unhelpful memory address — &lt;__main__.Dog object at 0x...&gt;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__str__ defines what print() and str() show — aimed at humans, readable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__repr__ defines what appears in the shell/debugger, and is used as a fallback if __str__ is missing — aimed at developers, ideally unambiguous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3"/>
          <p:cNvSpPr/>
          <p:nvPr/>
        </p:nvSpPr>
        <p:spPr>
          <a:xfrm>
            <a:off x="548640" y="2569320"/>
            <a:ext cx="11093760" cy="37850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4"/>
          <p:cNvSpPr/>
          <p:nvPr/>
        </p:nvSpPr>
        <p:spPr>
          <a:xfrm>
            <a:off x="868680" y="2752200"/>
            <a:ext cx="104536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__str__(self):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f"{self.name}, a very good dog"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__repr__(self):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f"Dog(name='{self.name}')"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print(rex)   # Rex, a very good dog   (__str__)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         # Dog(name='Rex')          (__repr__, in the shell)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5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6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6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More Dunder Methods — Operator Overloading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2"/>
          <p:cNvSpPr/>
          <p:nvPr/>
        </p:nvSpPr>
        <p:spPr>
          <a:xfrm>
            <a:off x="548640" y="1234440"/>
            <a:ext cx="110937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Dunder methods let your own objects work with Python’s built-in operators and functions — +, ==, len(), and more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__eq__ defines what == means for your objects — by default, Python only checks if they’re the exact same object in memory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__add__ defines what + does — this is exactly how "vector1 + vector2" works for custom classes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569320"/>
            <a:ext cx="11093760" cy="37850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"/>
          <p:cNvSpPr/>
          <p:nvPr/>
        </p:nvSpPr>
        <p:spPr>
          <a:xfrm>
            <a:off x="868680" y="2752200"/>
            <a:ext cx="104536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class Point: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__init__(self, x, y):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self.x, self.y = x, y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__eq__(self, other):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self.x == other.x and self.y == other.y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__add__(self, other):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Point(self.x + other.x, self.y + other.y)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__len__(self):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int((self.x**2 + self.y**2) ** 0.5)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Point(1, 2) == Point(1, 2)   # True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Point(1, 2) + Point(3, 4)    # Point object with x=4, y=6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4" name="Image 0" descr="/home/claude/work/icons/FaCog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5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 vs. @staticmethod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2"/>
          <p:cNvSpPr/>
          <p:nvPr/>
        </p:nvSpPr>
        <p:spPr>
          <a:xfrm>
            <a:off x="548640" y="1234440"/>
            <a:ext cx="5363640" cy="511992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3"/>
          <p:cNvSpPr/>
          <p:nvPr/>
        </p:nvSpPr>
        <p:spPr>
          <a:xfrm>
            <a:off x="822960" y="1508760"/>
            <a:ext cx="456480" cy="456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8" name="Image 1" descr="/home/claude/work/icons/FaUsersCog.png"/>
          <p:cNvPicPr/>
          <p:nvPr/>
        </p:nvPicPr>
        <p:blipFill>
          <a:blip r:embed="rId2"/>
          <a:stretch/>
        </p:blipFill>
        <p:spPr>
          <a:xfrm>
            <a:off x="923400" y="160920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9" name="Text 4"/>
          <p:cNvSpPr/>
          <p:nvPr/>
        </p:nvSpPr>
        <p:spPr>
          <a:xfrm>
            <a:off x="1444680" y="1508760"/>
            <a:ext cx="42847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5"/>
          <p:cNvSpPr/>
          <p:nvPr/>
        </p:nvSpPr>
        <p:spPr>
          <a:xfrm>
            <a:off x="841320" y="2194560"/>
            <a:ext cx="47782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Receives the class itself (cls) instead of an instance (self) as its first argument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Can access and modify class-level state, and is commonly used to build alternate constructors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Called on the class: Dog.from_string(...)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6"/>
          <p:cNvSpPr/>
          <p:nvPr/>
        </p:nvSpPr>
        <p:spPr>
          <a:xfrm>
            <a:off x="6278760" y="1234440"/>
            <a:ext cx="5363640" cy="511992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7"/>
          <p:cNvSpPr/>
          <p:nvPr/>
        </p:nvSpPr>
        <p:spPr>
          <a:xfrm>
            <a:off x="6553080" y="1508760"/>
            <a:ext cx="456480" cy="456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3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Text 8"/>
          <p:cNvSpPr/>
          <p:nvPr/>
        </p:nvSpPr>
        <p:spPr>
          <a:xfrm>
            <a:off x="7174800" y="1508760"/>
            <a:ext cx="42847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@staticmethod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9"/>
          <p:cNvSpPr/>
          <p:nvPr/>
        </p:nvSpPr>
        <p:spPr>
          <a:xfrm>
            <a:off x="6571440" y="2194560"/>
            <a:ext cx="477828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Receives neither self nor cls — it’s just a regular function that happens to live inside the class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Used when logic is related to the class conceptually, but doesn’t need any instance or class data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Called the same way: Dog.is_valid_name("Rex")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10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11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9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 as an Alternate Constructor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2"/>
          <p:cNvSpPr/>
          <p:nvPr/>
        </p:nvSpPr>
        <p:spPr>
          <a:xfrm>
            <a:off x="548640" y="1234440"/>
            <a:ext cx="110937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single most common real-world use of @classmethod — offering more than one way to build an object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from_string builds a Dog from one format (a comma-separated string) while __init__ handles the normal way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Both ultimately create the same kind of object — cls(...) inside a classmethod calls the real constructor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3"/>
          <p:cNvSpPr/>
          <p:nvPr/>
        </p:nvSpPr>
        <p:spPr>
          <a:xfrm>
            <a:off x="548640" y="2569320"/>
            <a:ext cx="11093760" cy="37850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4"/>
          <p:cNvSpPr/>
          <p:nvPr/>
        </p:nvSpPr>
        <p:spPr>
          <a:xfrm>
            <a:off x="868680" y="2752200"/>
            <a:ext cx="104536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age):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self.age = age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@classmethod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from_string(cls, data):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name, age = data.split(",")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cls(name, int(age))    # calls Dog(name, age)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Dog.from_string("Rex,3")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rex.name, rex.age    # ('Rex', 3)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5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6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7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"Everything Is an Object" in Python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2"/>
          <p:cNvSpPr/>
          <p:nvPr/>
        </p:nvSpPr>
        <p:spPr>
          <a:xfrm>
            <a:off x="548640" y="1234440"/>
            <a:ext cx="3245400" cy="51199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3"/>
          <p:cNvSpPr/>
          <p:nvPr/>
        </p:nvSpPr>
        <p:spPr>
          <a:xfrm>
            <a:off x="1645920" y="1737360"/>
            <a:ext cx="1050840" cy="1050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1" descr="/home/claude/work/icons/FaCube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560" cy="52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4"/>
          <p:cNvSpPr/>
          <p:nvPr/>
        </p:nvSpPr>
        <p:spPr>
          <a:xfrm>
            <a:off x="731520" y="3017520"/>
            <a:ext cx="2879640" cy="30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Not just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your own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classes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5"/>
          <p:cNvSpPr/>
          <p:nvPr/>
        </p:nvSpPr>
        <p:spPr>
          <a:xfrm>
            <a:off x="4206240" y="1280160"/>
            <a:ext cx="74361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value in Python — numbers, strings, lists, functions, even classes themselves — is an object of some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(5).bit_length() works because even an int is an object with methods — type(5) really is &lt;class 'int'&gt;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why dir() and type() work uniformly on absolutely anything in Python — there’s no special-cased "primitive"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Understanding your own classes makes Python’s built-in types make more sense too — they’re built the same way yours 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6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7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7" name="Image 0" descr="/home/claude/work/icons/FaExclamationTriangl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Famous Python Gotcha: Mutable Class Attributes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2"/>
          <p:cNvSpPr/>
          <p:nvPr/>
        </p:nvSpPr>
        <p:spPr>
          <a:xfrm>
            <a:off x="548640" y="1234440"/>
            <a:ext cx="110937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mutable class attribute (like a list) is shared by every instance — exactly like any other class attribute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Appending to it from one object silently affects every other object, because there’s only ever one 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fix: create mutable attributes inside __init__ with self, so each object gets its own independent copy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3"/>
          <p:cNvSpPr/>
          <p:nvPr/>
        </p:nvSpPr>
        <p:spPr>
          <a:xfrm>
            <a:off x="548640" y="2569320"/>
            <a:ext cx="11093760" cy="37850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4"/>
          <p:cNvSpPr/>
          <p:nvPr/>
        </p:nvSpPr>
        <p:spPr>
          <a:xfrm>
            <a:off x="868680" y="2752200"/>
            <a:ext cx="104536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WRONG — shared across every instance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tricks = []          # class attribute — ONE list for all dogs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add_trick(self, trick):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self.tricks.append(trick)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Dog(); milo = Dog()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rex.add_trick("sit")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milo.tricks    # ['sit'] — leaked into milo too!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RIGHT — each instance gets its own list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__init__(self):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self.tricks = []   # instance attribute, private to self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5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6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5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Python-Specific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2"/>
          <p:cNvSpPr/>
          <p:nvPr/>
        </p:nvSpPr>
        <p:spPr>
          <a:xfrm>
            <a:off x="548640" y="1234440"/>
            <a:ext cx="11093760" cy="511992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3"/>
          <p:cNvSpPr/>
          <p:nvPr/>
        </p:nvSpPr>
        <p:spPr>
          <a:xfrm>
            <a:off x="868680" y="1435680"/>
            <a:ext cx="10453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4"/>
          <p:cNvSpPr/>
          <p:nvPr/>
        </p:nvSpPr>
        <p:spPr>
          <a:xfrm>
            <a:off x="868680" y="247356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5"/>
          <p:cNvSpPr/>
          <p:nvPr/>
        </p:nvSpPr>
        <p:spPr>
          <a:xfrm>
            <a:off x="868680" y="247356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6"/>
          <p:cNvSpPr/>
          <p:nvPr/>
        </p:nvSpPr>
        <p:spPr>
          <a:xfrm>
            <a:off x="1408320" y="1920240"/>
            <a:ext cx="991404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__str__ to a class you’ve already written this session, and confirm print() uses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7"/>
          <p:cNvSpPr/>
          <p:nvPr/>
        </p:nvSpPr>
        <p:spPr>
          <a:xfrm>
            <a:off x="868680" y="389088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8"/>
          <p:cNvSpPr/>
          <p:nvPr/>
        </p:nvSpPr>
        <p:spPr>
          <a:xfrm>
            <a:off x="868680" y="38908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9"/>
          <p:cNvSpPr/>
          <p:nvPr/>
        </p:nvSpPr>
        <p:spPr>
          <a:xfrm>
            <a:off x="1408320" y="3337560"/>
            <a:ext cx="991404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@classmethod alternate constructor to your Employee class from earlier that builds one from a single "name-salary" string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10"/>
          <p:cNvSpPr/>
          <p:nvPr/>
        </p:nvSpPr>
        <p:spPr>
          <a:xfrm>
            <a:off x="868680" y="5308200"/>
            <a:ext cx="310320" cy="310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11"/>
          <p:cNvSpPr/>
          <p:nvPr/>
        </p:nvSpPr>
        <p:spPr>
          <a:xfrm>
            <a:off x="868680" y="530820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2"/>
          <p:cNvSpPr/>
          <p:nvPr/>
        </p:nvSpPr>
        <p:spPr>
          <a:xfrm>
            <a:off x="1408320" y="4754880"/>
            <a:ext cx="991404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Deliberately reproduce the mutable class-attribute bug, confirm the leak, then fix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3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14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Shape 0"/>
          <p:cNvSpPr/>
          <p:nvPr/>
        </p:nvSpPr>
        <p:spPr>
          <a:xfrm>
            <a:off x="-2286000" y="36576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1"/>
          <p:cNvSpPr/>
          <p:nvPr/>
        </p:nvSpPr>
        <p:spPr>
          <a:xfrm>
            <a:off x="8229600" y="-27432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2"/>
          <p:cNvSpPr/>
          <p:nvPr/>
        </p:nvSpPr>
        <p:spPr>
          <a:xfrm>
            <a:off x="5638680" y="868680"/>
            <a:ext cx="913680" cy="913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3" name="Image 0" descr="/home/claude/work/icons/FaClipboardList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812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4" name="Text 3"/>
          <p:cNvSpPr/>
          <p:nvPr/>
        </p:nvSpPr>
        <p:spPr>
          <a:xfrm>
            <a:off x="914400" y="2057400"/>
            <a:ext cx="1036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4"/>
          <p:cNvSpPr/>
          <p:nvPr/>
        </p:nvSpPr>
        <p:spPr>
          <a:xfrm>
            <a:off x="1188720" y="2441520"/>
            <a:ext cx="98136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You’ll Actually Be Asked to Build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5"/>
          <p:cNvSpPr/>
          <p:nvPr/>
        </p:nvSpPr>
        <p:spPr>
          <a:xfrm>
            <a:off x="1920240" y="3996000"/>
            <a:ext cx="83505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Not toy examples — validated accounts, class hierarchies, and alternate constructors are everyday, real-world work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6"/>
          <p:cNvSpPr/>
          <p:nvPr/>
        </p:nvSpPr>
        <p:spPr>
          <a:xfrm>
            <a:off x="11094480" y="649224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9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A: Classes &amp;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2"/>
          <p:cNvSpPr/>
          <p:nvPr/>
        </p:nvSpPr>
        <p:spPr>
          <a:xfrm>
            <a:off x="548640" y="1234440"/>
            <a:ext cx="11093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3"/>
          <p:cNvSpPr/>
          <p:nvPr/>
        </p:nvSpPr>
        <p:spPr>
          <a:xfrm>
            <a:off x="548640" y="1682640"/>
            <a:ext cx="11093760" cy="14594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4"/>
          <p:cNvSpPr/>
          <p:nvPr/>
        </p:nvSpPr>
        <p:spPr>
          <a:xfrm>
            <a:off x="804600" y="2302920"/>
            <a:ext cx="291960" cy="29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4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2160" cy="18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Text 5"/>
          <p:cNvSpPr/>
          <p:nvPr/>
        </p:nvSpPr>
        <p:spPr>
          <a:xfrm>
            <a:off x="1325880" y="1719000"/>
            <a:ext cx="10042200" cy="13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Build a BankAccount class with a protected _balance, plus deposit() and withdraw() methods that reject invalid amounts — no other way to change the balance.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6"/>
          <p:cNvSpPr/>
          <p:nvPr/>
        </p:nvSpPr>
        <p:spPr>
          <a:xfrm>
            <a:off x="548640" y="3252240"/>
            <a:ext cx="11093760" cy="14594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7"/>
          <p:cNvSpPr/>
          <p:nvPr/>
        </p:nvSpPr>
        <p:spPr>
          <a:xfrm>
            <a:off x="804600" y="3872520"/>
            <a:ext cx="291960" cy="29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8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2160" cy="18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Text 8"/>
          <p:cNvSpPr/>
          <p:nvPr/>
        </p:nvSpPr>
        <p:spPr>
          <a:xfrm>
            <a:off x="1325880" y="3288960"/>
            <a:ext cx="10042200" cy="13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Turn balance into a @property with a setter that raises a ValueError for negative values, and confirm direct assignment is properly validated.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9"/>
          <p:cNvSpPr/>
          <p:nvPr/>
        </p:nvSpPr>
        <p:spPr>
          <a:xfrm>
            <a:off x="548640" y="4821840"/>
            <a:ext cx="11093760" cy="14594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10"/>
          <p:cNvSpPr/>
          <p:nvPr/>
        </p:nvSpPr>
        <p:spPr>
          <a:xfrm>
            <a:off x="804600" y="5442120"/>
            <a:ext cx="291960" cy="29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2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2160" cy="18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3" name="Text 11"/>
          <p:cNvSpPr/>
          <p:nvPr/>
        </p:nvSpPr>
        <p:spPr>
          <a:xfrm>
            <a:off x="1325880" y="4858560"/>
            <a:ext cx="10042200" cy="13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class attribute bank_name shared by every account, and confirm it updates for all existing accounts when changed on the class.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2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3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7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8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B: Inheritance &amp;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2"/>
          <p:cNvSpPr/>
          <p:nvPr/>
        </p:nvSpPr>
        <p:spPr>
          <a:xfrm>
            <a:off x="548640" y="1234440"/>
            <a:ext cx="11093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3"/>
          <p:cNvSpPr/>
          <p:nvPr/>
        </p:nvSpPr>
        <p:spPr>
          <a:xfrm>
            <a:off x="548640" y="1682640"/>
            <a:ext cx="11093760" cy="14594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4"/>
          <p:cNvSpPr/>
          <p:nvPr/>
        </p:nvSpPr>
        <p:spPr>
          <a:xfrm>
            <a:off x="804600" y="2302920"/>
            <a:ext cx="291960" cy="29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2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2160" cy="18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Text 5"/>
          <p:cNvSpPr/>
          <p:nvPr/>
        </p:nvSpPr>
        <p:spPr>
          <a:xfrm>
            <a:off x="1325880" y="1719000"/>
            <a:ext cx="10042200" cy="13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Build a Shape base class (abstract, using ABC) with an abstract area() method, then Rectangle and Triangle subclasses that implement it differently.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6"/>
          <p:cNvSpPr/>
          <p:nvPr/>
        </p:nvSpPr>
        <p:spPr>
          <a:xfrm>
            <a:off x="548640" y="3252240"/>
            <a:ext cx="11093760" cy="14594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7"/>
          <p:cNvSpPr/>
          <p:nvPr/>
        </p:nvSpPr>
        <p:spPr>
          <a:xfrm>
            <a:off x="804600" y="3872520"/>
            <a:ext cx="291960" cy="29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6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2160" cy="18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Text 8"/>
          <p:cNvSpPr/>
          <p:nvPr/>
        </p:nvSpPr>
        <p:spPr>
          <a:xfrm>
            <a:off x="1325880" y="3288960"/>
            <a:ext cx="10042200" cy="13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Loop over a list of mixed shapes and print each one’s area — without checking what type each shape is.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9"/>
          <p:cNvSpPr/>
          <p:nvPr/>
        </p:nvSpPr>
        <p:spPr>
          <a:xfrm>
            <a:off x="548640" y="4821840"/>
            <a:ext cx="11093760" cy="14594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0"/>
          <p:cNvSpPr/>
          <p:nvPr/>
        </p:nvSpPr>
        <p:spPr>
          <a:xfrm>
            <a:off x="804600" y="5442120"/>
            <a:ext cx="291960" cy="29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0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2160" cy="18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1" name="Text 11"/>
          <p:cNvSpPr/>
          <p:nvPr/>
        </p:nvSpPr>
        <p:spPr>
          <a:xfrm>
            <a:off x="1325880" y="4858560"/>
            <a:ext cx="10042200" cy="13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a SavingsAccount(BankAccount) subclass that overrides withdraw() to enforce a minimum balance, using super() to reuse the original validation first.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12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13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5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6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C: Python-Specific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"/>
          <p:cNvSpPr/>
          <p:nvPr/>
        </p:nvSpPr>
        <p:spPr>
          <a:xfrm>
            <a:off x="548640" y="1234440"/>
            <a:ext cx="11093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3"/>
          <p:cNvSpPr/>
          <p:nvPr/>
        </p:nvSpPr>
        <p:spPr>
          <a:xfrm>
            <a:off x="548640" y="1682640"/>
            <a:ext cx="11093760" cy="14594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4"/>
          <p:cNvSpPr/>
          <p:nvPr/>
        </p:nvSpPr>
        <p:spPr>
          <a:xfrm>
            <a:off x="804600" y="2302920"/>
            <a:ext cx="291960" cy="29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0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2160" cy="18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Text 5"/>
          <p:cNvSpPr/>
          <p:nvPr/>
        </p:nvSpPr>
        <p:spPr>
          <a:xfrm>
            <a:off x="1325880" y="1719000"/>
            <a:ext cx="10042200" cy="13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__str__ and __repr__ to your BankAccount class, with __str__ showing a friendly summary and __repr__ showing exact constructor-style detail.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6"/>
          <p:cNvSpPr/>
          <p:nvPr/>
        </p:nvSpPr>
        <p:spPr>
          <a:xfrm>
            <a:off x="548640" y="3252240"/>
            <a:ext cx="11093760" cy="14594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7"/>
          <p:cNvSpPr/>
          <p:nvPr/>
        </p:nvSpPr>
        <p:spPr>
          <a:xfrm>
            <a:off x="804600" y="3872520"/>
            <a:ext cx="291960" cy="29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4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2160" cy="18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Text 8"/>
          <p:cNvSpPr/>
          <p:nvPr/>
        </p:nvSpPr>
        <p:spPr>
          <a:xfrm>
            <a:off x="1325880" y="3288960"/>
            <a:ext cx="10042200" cy="13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@classmethod from_dict(cls, data) that builds a BankAccount from a dictionary like {"owner": "Ahmed", "balance": 500}.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9"/>
          <p:cNvSpPr/>
          <p:nvPr/>
        </p:nvSpPr>
        <p:spPr>
          <a:xfrm>
            <a:off x="548640" y="4821840"/>
            <a:ext cx="11093760" cy="14594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10"/>
          <p:cNvSpPr/>
          <p:nvPr/>
        </p:nvSpPr>
        <p:spPr>
          <a:xfrm>
            <a:off x="804600" y="5442120"/>
            <a:ext cx="291960" cy="29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8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2160" cy="18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Text 11"/>
          <p:cNvSpPr/>
          <p:nvPr/>
        </p:nvSpPr>
        <p:spPr>
          <a:xfrm>
            <a:off x="1325880" y="4858560"/>
            <a:ext cx="10042200" cy="13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@staticmethod is_valid_owner_name(name) that checks a name is non-empty and alphabetic, with no reference to self or cls.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2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13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0"/>
          <p:cNvSpPr/>
          <p:nvPr/>
        </p:nvSpPr>
        <p:spPr>
          <a:xfrm>
            <a:off x="-2286000" y="36576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1"/>
          <p:cNvSpPr/>
          <p:nvPr/>
        </p:nvSpPr>
        <p:spPr>
          <a:xfrm>
            <a:off x="8229600" y="-27432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2"/>
          <p:cNvSpPr/>
          <p:nvPr/>
        </p:nvSpPr>
        <p:spPr>
          <a:xfrm>
            <a:off x="5638680" y="868680"/>
            <a:ext cx="913680" cy="913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5" name="Image 0" descr="/home/claude/work/icons/FaPuzzlePiec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812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6" name="Text 3"/>
          <p:cNvSpPr/>
          <p:nvPr/>
        </p:nvSpPr>
        <p:spPr>
          <a:xfrm>
            <a:off x="914400" y="2057400"/>
            <a:ext cx="1036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4"/>
          <p:cNvSpPr/>
          <p:nvPr/>
        </p:nvSpPr>
        <p:spPr>
          <a:xfrm>
            <a:off x="1188720" y="2441520"/>
            <a:ext cx="981360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5"/>
          <p:cNvSpPr/>
          <p:nvPr/>
        </p:nvSpPr>
        <p:spPr>
          <a:xfrm>
            <a:off x="1920240" y="3630240"/>
            <a:ext cx="83505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Two projects combining classes, all four pillars, and Python-specific OOP details into one cohesive task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6"/>
          <p:cNvSpPr/>
          <p:nvPr/>
        </p:nvSpPr>
        <p:spPr>
          <a:xfrm>
            <a:off x="11094480" y="649224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1" name="Image 0" descr="/home/claude/work/icons/FaWallet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2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Mini Project 1: Bank Account System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2"/>
          <p:cNvSpPr/>
          <p:nvPr/>
        </p:nvSpPr>
        <p:spPr>
          <a:xfrm>
            <a:off x="548640" y="1234440"/>
            <a:ext cx="3245400" cy="51199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3"/>
          <p:cNvSpPr/>
          <p:nvPr/>
        </p:nvSpPr>
        <p:spPr>
          <a:xfrm>
            <a:off x="1645920" y="1737360"/>
            <a:ext cx="1050840" cy="1050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5" name="Image 1" descr="/home/claude/work/icons/FaWallet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560" cy="52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6" name="Text 4"/>
          <p:cNvSpPr/>
          <p:nvPr/>
        </p:nvSpPr>
        <p:spPr>
          <a:xfrm>
            <a:off x="731520" y="3017520"/>
            <a:ext cx="2879640" cy="30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Encapsulation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+ inheritance,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5"/>
          <p:cNvSpPr/>
          <p:nvPr/>
        </p:nvSpPr>
        <p:spPr>
          <a:xfrm>
            <a:off x="4206240" y="1280160"/>
            <a:ext cx="74361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a BankAccount base class with a protected _balance, a validated @property, and deposit()/withdraw() methods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SavingsAccount and CheckingAccount subclasses that each override withdraw() with their own rules (minimum balance, overdraft limit)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Add __str__ for a friendly account summary, and a @classmethod that builds an account from a dictionary of starting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mirrors how real banking and fintech backends structure account logic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6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7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Shape 0"/>
          <p:cNvSpPr/>
          <p:nvPr/>
        </p:nvSpPr>
        <p:spPr>
          <a:xfrm>
            <a:off x="548640" y="457200"/>
            <a:ext cx="383400" cy="3834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1" name="Image 0" descr="/home/claude/work/icons/FaShap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880" cy="21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Text 1"/>
          <p:cNvSpPr/>
          <p:nvPr/>
        </p:nvSpPr>
        <p:spPr>
          <a:xfrm>
            <a:off x="1097280" y="420480"/>
            <a:ext cx="10545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Mini Project 2: Shape &amp; Employee Hierarchies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2"/>
          <p:cNvSpPr/>
          <p:nvPr/>
        </p:nvSpPr>
        <p:spPr>
          <a:xfrm>
            <a:off x="548640" y="1234440"/>
            <a:ext cx="3245400" cy="51199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3"/>
          <p:cNvSpPr/>
          <p:nvPr/>
        </p:nvSpPr>
        <p:spPr>
          <a:xfrm>
            <a:off x="1645920" y="1737360"/>
            <a:ext cx="1050840" cy="1050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5" name="Image 1" descr="/home/claude/work/icons/FaShape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560" cy="52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6" name="Text 4"/>
          <p:cNvSpPr/>
          <p:nvPr/>
        </p:nvSpPr>
        <p:spPr>
          <a:xfrm>
            <a:off x="731520" y="3017520"/>
            <a:ext cx="2879640" cy="30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+ polymorphism,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5"/>
          <p:cNvSpPr/>
          <p:nvPr/>
        </p:nvSpPr>
        <p:spPr>
          <a:xfrm>
            <a:off x="4206240" y="1280160"/>
            <a:ext cx="74361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an abstract Shape class (area(), perimeter()) with Circle, Rectangle, and Triangle subclasses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Write a report() function that loops over a mixed list of shapes and prints each one’s area — using polymorphism, with no type-checking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Separately, build an Employee base class and a Manager subclass that overrides a bonus() calculation using super()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mirrors how real HR systems and geometry/CAD tools are actually structured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6"/>
          <p:cNvSpPr/>
          <p:nvPr/>
        </p:nvSpPr>
        <p:spPr>
          <a:xfrm>
            <a:off x="548640" y="65106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7"/>
          <p:cNvSpPr/>
          <p:nvPr/>
        </p:nvSpPr>
        <p:spPr>
          <a:xfrm>
            <a:off x="11094480" y="65106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Shape 0"/>
          <p:cNvSpPr/>
          <p:nvPr/>
        </p:nvSpPr>
        <p:spPr>
          <a:xfrm>
            <a:off x="-2286000" y="36576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1"/>
          <p:cNvSpPr/>
          <p:nvPr/>
        </p:nvSpPr>
        <p:spPr>
          <a:xfrm>
            <a:off x="8229600" y="-27432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2"/>
          <p:cNvSpPr/>
          <p:nvPr/>
        </p:nvSpPr>
        <p:spPr>
          <a:xfrm>
            <a:off x="5638680" y="868680"/>
            <a:ext cx="913680" cy="913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23" name="Image 0" descr="/home/claude/work/icons/FaFlagCheckered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812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4" name="Text 3"/>
          <p:cNvSpPr/>
          <p:nvPr/>
        </p:nvSpPr>
        <p:spPr>
          <a:xfrm>
            <a:off x="914400" y="2057400"/>
            <a:ext cx="1036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4"/>
          <p:cNvSpPr/>
          <p:nvPr/>
        </p:nvSpPr>
        <p:spPr>
          <a:xfrm>
            <a:off x="822960" y="2441520"/>
            <a:ext cx="10545120" cy="21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Classes bundle data with behavior. The four pillars — encapsulation, abstraction, inheritance, and polymorphism — are how that bundling stays clean as programs grow.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5"/>
          <p:cNvSpPr/>
          <p:nvPr/>
        </p:nvSpPr>
        <p:spPr>
          <a:xfrm>
            <a:off x="1920240" y="4773240"/>
            <a:ext cx="83505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Next session: File I/O &amp; Error Handling — reading and writing files, try/except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6"/>
          <p:cNvSpPr/>
          <p:nvPr/>
        </p:nvSpPr>
        <p:spPr>
          <a:xfrm>
            <a:off x="11094480" y="649224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LibreOffice/26.2.5.2$Linux_X86_64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2026-08-14T06:03:23Z</dcterms:created>
  <dc:creator>PptxGenJS</dc:creator>
  <dc:description/>
  <dc:language>en-US</dc:language>
  <cp:lastModifiedBy/>
  <dcterms:modified xsi:type="dcterms:W3CDTF">2026-08-28T21:33:05Z</dcterms:modified>
  <cp:revision>18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50</vt:i4>
  </property>
  <property fmtid="{D5CDD505-2E9C-101B-9397-08002B2CF9AE}" pid="3" name="PresentationFormat">
    <vt:lpwstr>On-screen Show (16:9)</vt:lpwstr>
  </property>
  <property fmtid="{D5CDD505-2E9C-101B-9397-08002B2CF9AE}" pid="4" name="Slides">
    <vt:i4>50</vt:i4>
  </property>
</Properties>
</file>