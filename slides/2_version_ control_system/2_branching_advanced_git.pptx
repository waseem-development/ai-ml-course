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6.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8.xml" ContentType="application/vnd.openxmlformats-officedocument.presentationml.slide+xml"/>
  <Override PartName="/ppt/slides/slide18.xml" ContentType="application/vnd.openxmlformats-officedocument.presentationml.slide+xml"/>
  <Override PartName="/ppt/slides/slide41.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7.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9.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4.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8.xml" ContentType="application/vnd.openxmlformats-officedocument.presentationml.slide+xml"/>
  <Override PartName="/ppt/slides/slide42.xml" ContentType="application/vnd.openxmlformats-officedocument.presentationml.slide+xml"/>
  <Override PartName="/ppt/slides/slide12.xml" ContentType="application/vnd.openxmlformats-officedocument.presentationml.slide+xml"/>
  <Override PartName="/ppt/slides/slide17.xml" ContentType="application/vnd.openxmlformats-officedocument.presentationml.slide+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10.xml" ContentType="application/vnd.openxmlformats-officedocument.presentationml.notesSlide+xml"/>
  <Override PartName="/ppt/notesSlides/notesSlide33.xml" ContentType="application/vnd.openxmlformats-officedocument.presentationml.notesSlide+xml"/>
  <Override PartName="/ppt/notesSlides/notesSlide36.xml" ContentType="application/vnd.openxmlformats-officedocument.presentationml.notesSlide+xml"/>
  <Override PartName="/ppt/notesSlides/notesSlide27.xml" ContentType="application/vnd.openxmlformats-officedocument.presentationml.notesSlide+xml"/>
  <Override PartName="/ppt/notesSlides/notesSlide35.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8.xml" ContentType="application/vnd.openxmlformats-officedocument.presentationml.notesSlide+xml"/>
  <Override PartName="/ppt/notesSlides/notesSlide29.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30.xml" ContentType="application/vnd.openxmlformats-officedocument.presentationml.notesSlide+xml"/>
  <Override PartName="/ppt/notesSlides/notesSlide18.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40.xml" ContentType="application/vnd.openxmlformats-officedocument.presentationml.notesSlide+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28.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8.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a:t>
            </a:r>
            <a:r>
              <a:rPr lang="en-US" sz="2000" b="0" u="none" strike="noStrike">
                <a:solidFill>
                  <a:srgbClr val="000000"/>
                </a:solidFill>
                <a:effectLst/>
                <a:uFillTx/>
                <a:latin typeface="Arial"/>
              </a:rPr>
              <a:t>ck </a:t>
            </a:r>
            <a:r>
              <a:rPr lang="en-US" sz="2000" b="0" u="none" strike="noStrike">
                <a:solidFill>
                  <a:srgbClr val="000000"/>
                </a:solidFill>
                <a:effectLst/>
                <a:uFillTx/>
                <a:latin typeface="Arial"/>
              </a:rPr>
              <a:t>to </a:t>
            </a:r>
            <a:r>
              <a:rPr lang="en-US" sz="2000" b="0" u="none" strike="noStrike">
                <a:solidFill>
                  <a:srgbClr val="000000"/>
                </a:solidFill>
                <a:effectLst/>
                <a:uFillTx/>
                <a:latin typeface="Arial"/>
              </a:rPr>
              <a:t>edi</a:t>
            </a:r>
            <a:r>
              <a:rPr lang="en-US" sz="2000" b="0" u="none" strike="noStrike">
                <a:solidFill>
                  <a:srgbClr val="000000"/>
                </a:solidFill>
                <a:effectLst/>
                <a:uFillTx/>
                <a:latin typeface="Arial"/>
              </a:rPr>
              <a:t>t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not</a:t>
            </a:r>
            <a:r>
              <a:rPr lang="en-US" sz="2000" b="0" u="none" strike="noStrike">
                <a:solidFill>
                  <a:srgbClr val="000000"/>
                </a:solidFill>
                <a:effectLst/>
                <a:uFillTx/>
                <a:latin typeface="Arial"/>
              </a:rPr>
              <a:t>es </a:t>
            </a:r>
            <a:r>
              <a:rPr lang="en-US" sz="2000" b="0" u="none" strike="noStrike">
                <a:solidFill>
                  <a:srgbClr val="000000"/>
                </a:solidFill>
                <a:effectLst/>
                <a:uFillTx/>
                <a:latin typeface="Arial"/>
              </a:rPr>
              <a:t>for</a:t>
            </a:r>
            <a:r>
              <a:rPr lang="en-US" sz="2000" b="0" u="none" strike="noStrike">
                <a:solidFill>
                  <a:srgbClr val="000000"/>
                </a:solidFill>
                <a:effectLst/>
                <a:uFillTx/>
                <a:latin typeface="Arial"/>
              </a:rPr>
              <a:t>ma</a:t>
            </a:r>
            <a:r>
              <a:rPr lang="en-US" sz="2000" b="0" u="none" strike="noStrike">
                <a:solidFill>
                  <a:srgbClr val="000000"/>
                </a:solidFill>
                <a:effectLst/>
                <a:uFillTx/>
                <a:latin typeface="Arial"/>
              </a:rPr>
              <a:t>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59B1C282-15DE-4A90-8803-D47F3FAB69B3}"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9" name="PlaceHolder 1"/>
          <p:cNvSpPr>
            <a:spLocks noGrp="1"/>
          </p:cNvSpPr>
          <p:nvPr>
            <p:ph type="sldImg"/>
          </p:nvPr>
        </p:nvSpPr>
        <p:spPr>
          <a:xfrm>
            <a:off x="685800" y="1143000"/>
            <a:ext cx="5486040" cy="3085920"/>
          </a:xfrm>
          <a:prstGeom prst="rect">
            <a:avLst/>
          </a:prstGeom>
          <a:ln w="0">
            <a:noFill/>
          </a:ln>
        </p:spPr>
      </p:sp>
      <p:sp>
        <p:nvSpPr>
          <p:cNvPr id="6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01"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F8B9C1A-52E7-4D14-8702-4A0F99327E8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PlaceHolder 1"/>
          <p:cNvSpPr>
            <a:spLocks noGrp="1"/>
          </p:cNvSpPr>
          <p:nvPr>
            <p:ph type="sldImg"/>
          </p:nvPr>
        </p:nvSpPr>
        <p:spPr>
          <a:xfrm>
            <a:off x="685800" y="1143000"/>
            <a:ext cx="5486040" cy="3085920"/>
          </a:xfrm>
          <a:prstGeom prst="rect">
            <a:avLst/>
          </a:prstGeom>
          <a:ln w="0">
            <a:noFill/>
          </a:ln>
        </p:spPr>
      </p:sp>
      <p:sp>
        <p:nvSpPr>
          <p:cNvPr id="6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04"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8855FE5-F49D-4C73-B9D3-1B8EB5593FE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5" name="PlaceHolder 1"/>
          <p:cNvSpPr>
            <a:spLocks noGrp="1"/>
          </p:cNvSpPr>
          <p:nvPr>
            <p:ph type="sldImg"/>
          </p:nvPr>
        </p:nvSpPr>
        <p:spPr>
          <a:xfrm>
            <a:off x="685800" y="1143000"/>
            <a:ext cx="5486040" cy="3085920"/>
          </a:xfrm>
          <a:prstGeom prst="rect">
            <a:avLst/>
          </a:prstGeom>
          <a:ln w="0">
            <a:noFill/>
          </a:ln>
        </p:spPr>
      </p:sp>
      <p:sp>
        <p:nvSpPr>
          <p:cNvPr id="6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07"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5A5E1A5-6F15-4050-8498-43CDA04821B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8" name="PlaceHolder 1"/>
          <p:cNvSpPr>
            <a:spLocks noGrp="1"/>
          </p:cNvSpPr>
          <p:nvPr>
            <p:ph type="sldImg"/>
          </p:nvPr>
        </p:nvSpPr>
        <p:spPr>
          <a:xfrm>
            <a:off x="685800" y="1143000"/>
            <a:ext cx="5486040" cy="3085920"/>
          </a:xfrm>
          <a:prstGeom prst="rect">
            <a:avLst/>
          </a:prstGeom>
          <a:ln w="0">
            <a:noFill/>
          </a:ln>
        </p:spPr>
      </p:sp>
      <p:sp>
        <p:nvSpPr>
          <p:cNvPr id="6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10"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67C2988-96E5-4EC0-AAAE-57DBDEF2415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1" name="PlaceHolder 1"/>
          <p:cNvSpPr>
            <a:spLocks noGrp="1"/>
          </p:cNvSpPr>
          <p:nvPr>
            <p:ph type="sldImg"/>
          </p:nvPr>
        </p:nvSpPr>
        <p:spPr>
          <a:xfrm>
            <a:off x="685800" y="1143000"/>
            <a:ext cx="5486040" cy="3085920"/>
          </a:xfrm>
          <a:prstGeom prst="rect">
            <a:avLst/>
          </a:prstGeom>
          <a:ln w="0">
            <a:noFill/>
          </a:ln>
        </p:spPr>
      </p:sp>
      <p:sp>
        <p:nvSpPr>
          <p:cNvPr id="6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13"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6F0E43-9C94-44D1-AFB9-268BD2E3D21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4" name="PlaceHolder 1"/>
          <p:cNvSpPr>
            <a:spLocks noGrp="1"/>
          </p:cNvSpPr>
          <p:nvPr>
            <p:ph type="sldImg"/>
          </p:nvPr>
        </p:nvSpPr>
        <p:spPr>
          <a:xfrm>
            <a:off x="685800" y="1143000"/>
            <a:ext cx="5486040" cy="3085920"/>
          </a:xfrm>
          <a:prstGeom prst="rect">
            <a:avLst/>
          </a:prstGeom>
          <a:ln w="0">
            <a:noFill/>
          </a:ln>
        </p:spPr>
      </p:sp>
      <p:sp>
        <p:nvSpPr>
          <p:cNvPr id="6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16"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CB8F234-A27B-4A59-9A67-20BDC549D43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PlaceHolder 1"/>
          <p:cNvSpPr>
            <a:spLocks noGrp="1"/>
          </p:cNvSpPr>
          <p:nvPr>
            <p:ph type="sldImg"/>
          </p:nvPr>
        </p:nvSpPr>
        <p:spPr>
          <a:xfrm>
            <a:off x="685800" y="1143000"/>
            <a:ext cx="5486040" cy="3085920"/>
          </a:xfrm>
          <a:prstGeom prst="rect">
            <a:avLst/>
          </a:prstGeom>
          <a:ln w="0">
            <a:noFill/>
          </a:ln>
        </p:spPr>
      </p:sp>
      <p:sp>
        <p:nvSpPr>
          <p:cNvPr id="6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19"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DD5BF78-D9E3-4B09-B290-386048C4CB6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0" name="PlaceHolder 1"/>
          <p:cNvSpPr>
            <a:spLocks noGrp="1"/>
          </p:cNvSpPr>
          <p:nvPr>
            <p:ph type="sldImg"/>
          </p:nvPr>
        </p:nvSpPr>
        <p:spPr>
          <a:xfrm>
            <a:off x="685800" y="1143000"/>
            <a:ext cx="5486040" cy="3085920"/>
          </a:xfrm>
          <a:prstGeom prst="rect">
            <a:avLst/>
          </a:prstGeom>
          <a:ln w="0">
            <a:noFill/>
          </a:ln>
        </p:spPr>
      </p:sp>
      <p:sp>
        <p:nvSpPr>
          <p:cNvPr id="6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22"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674D238-3FD9-4049-BE2A-15F42FC3EBA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3" name="PlaceHolder 1"/>
          <p:cNvSpPr>
            <a:spLocks noGrp="1"/>
          </p:cNvSpPr>
          <p:nvPr>
            <p:ph type="sldImg"/>
          </p:nvPr>
        </p:nvSpPr>
        <p:spPr>
          <a:xfrm>
            <a:off x="685800" y="1143000"/>
            <a:ext cx="5486040" cy="3085920"/>
          </a:xfrm>
          <a:prstGeom prst="rect">
            <a:avLst/>
          </a:prstGeom>
          <a:ln w="0">
            <a:noFill/>
          </a:ln>
        </p:spPr>
      </p:sp>
      <p:sp>
        <p:nvSpPr>
          <p:cNvPr id="6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25"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0EEF4C3-0B71-47CA-889E-B7FBCFC9B7F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6" name="PlaceHolder 1"/>
          <p:cNvSpPr>
            <a:spLocks noGrp="1"/>
          </p:cNvSpPr>
          <p:nvPr>
            <p:ph type="sldImg"/>
          </p:nvPr>
        </p:nvSpPr>
        <p:spPr>
          <a:xfrm>
            <a:off x="685800" y="1143000"/>
            <a:ext cx="5486040" cy="3085920"/>
          </a:xfrm>
          <a:prstGeom prst="rect">
            <a:avLst/>
          </a:prstGeom>
          <a:ln w="0">
            <a:noFill/>
          </a:ln>
        </p:spPr>
      </p:sp>
      <p:sp>
        <p:nvSpPr>
          <p:cNvPr id="6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28"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17AA97A-36E8-4F47-8212-E1F77E62CD3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9" name="PlaceHolder 1"/>
          <p:cNvSpPr>
            <a:spLocks noGrp="1"/>
          </p:cNvSpPr>
          <p:nvPr>
            <p:ph type="sldImg"/>
          </p:nvPr>
        </p:nvSpPr>
        <p:spPr>
          <a:xfrm>
            <a:off x="685800" y="1143000"/>
            <a:ext cx="5486040" cy="3085920"/>
          </a:xfrm>
          <a:prstGeom prst="rect">
            <a:avLst/>
          </a:prstGeom>
          <a:ln w="0">
            <a:noFill/>
          </a:ln>
        </p:spPr>
      </p:sp>
      <p:sp>
        <p:nvSpPr>
          <p:cNvPr id="6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31"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6C54A60-0D43-4072-BF39-E02320D34EC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2" name="PlaceHolder 1"/>
          <p:cNvSpPr>
            <a:spLocks noGrp="1"/>
          </p:cNvSpPr>
          <p:nvPr>
            <p:ph type="sldImg"/>
          </p:nvPr>
        </p:nvSpPr>
        <p:spPr>
          <a:xfrm>
            <a:off x="685800" y="1143000"/>
            <a:ext cx="5486040" cy="3085920"/>
          </a:xfrm>
          <a:prstGeom prst="rect">
            <a:avLst/>
          </a:prstGeom>
          <a:ln w="0">
            <a:noFill/>
          </a:ln>
        </p:spPr>
      </p:sp>
      <p:sp>
        <p:nvSpPr>
          <p:cNvPr id="6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34"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37AB784-37B9-4E18-9A7A-6CDC64B5010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5" name="PlaceHolder 1"/>
          <p:cNvSpPr>
            <a:spLocks noGrp="1"/>
          </p:cNvSpPr>
          <p:nvPr>
            <p:ph type="sldImg"/>
          </p:nvPr>
        </p:nvSpPr>
        <p:spPr>
          <a:xfrm>
            <a:off x="685800" y="1143000"/>
            <a:ext cx="5486040" cy="3085920"/>
          </a:xfrm>
          <a:prstGeom prst="rect">
            <a:avLst/>
          </a:prstGeom>
          <a:ln w="0">
            <a:noFill/>
          </a:ln>
        </p:spPr>
      </p:sp>
      <p:sp>
        <p:nvSpPr>
          <p:cNvPr id="6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37"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1D53CFC-FC16-4EB4-8FB9-FC62C9BF33B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8" name="PlaceHolder 1"/>
          <p:cNvSpPr>
            <a:spLocks noGrp="1"/>
          </p:cNvSpPr>
          <p:nvPr>
            <p:ph type="sldImg"/>
          </p:nvPr>
        </p:nvSpPr>
        <p:spPr>
          <a:xfrm>
            <a:off x="685800" y="1143000"/>
            <a:ext cx="5486040" cy="3085920"/>
          </a:xfrm>
          <a:prstGeom prst="rect">
            <a:avLst/>
          </a:prstGeom>
          <a:ln w="0">
            <a:noFill/>
          </a:ln>
        </p:spPr>
      </p:sp>
      <p:sp>
        <p:nvSpPr>
          <p:cNvPr id="6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40"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394617E-412F-41A5-A9F7-29685C909EF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1" name="PlaceHolder 1"/>
          <p:cNvSpPr>
            <a:spLocks noGrp="1"/>
          </p:cNvSpPr>
          <p:nvPr>
            <p:ph type="sldImg"/>
          </p:nvPr>
        </p:nvSpPr>
        <p:spPr>
          <a:xfrm>
            <a:off x="685800" y="1143000"/>
            <a:ext cx="5486040" cy="3085920"/>
          </a:xfrm>
          <a:prstGeom prst="rect">
            <a:avLst/>
          </a:prstGeom>
          <a:ln w="0">
            <a:noFill/>
          </a:ln>
        </p:spPr>
      </p:sp>
      <p:sp>
        <p:nvSpPr>
          <p:cNvPr id="6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43"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8A3CFAF-FADD-4314-A881-49EB960436B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4" name="PlaceHolder 1"/>
          <p:cNvSpPr>
            <a:spLocks noGrp="1"/>
          </p:cNvSpPr>
          <p:nvPr>
            <p:ph type="sldImg"/>
          </p:nvPr>
        </p:nvSpPr>
        <p:spPr>
          <a:xfrm>
            <a:off x="685800" y="1143000"/>
            <a:ext cx="5486040" cy="3085920"/>
          </a:xfrm>
          <a:prstGeom prst="rect">
            <a:avLst/>
          </a:prstGeom>
          <a:ln w="0">
            <a:noFill/>
          </a:ln>
        </p:spPr>
      </p:sp>
      <p:sp>
        <p:nvSpPr>
          <p:cNvPr id="6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46"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5E95B15-860F-4B5E-AF72-CFD30115A63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7" name="PlaceHolder 1"/>
          <p:cNvSpPr>
            <a:spLocks noGrp="1"/>
          </p:cNvSpPr>
          <p:nvPr>
            <p:ph type="sldImg"/>
          </p:nvPr>
        </p:nvSpPr>
        <p:spPr>
          <a:xfrm>
            <a:off x="685800" y="1143000"/>
            <a:ext cx="5486040" cy="3085920"/>
          </a:xfrm>
          <a:prstGeom prst="rect">
            <a:avLst/>
          </a:prstGeom>
          <a:ln w="0">
            <a:noFill/>
          </a:ln>
        </p:spPr>
      </p:sp>
      <p:sp>
        <p:nvSpPr>
          <p:cNvPr id="6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49"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0DAFDDB-9BAC-4EE7-8C78-6F8673F9381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0" name="PlaceHolder 1"/>
          <p:cNvSpPr>
            <a:spLocks noGrp="1"/>
          </p:cNvSpPr>
          <p:nvPr>
            <p:ph type="sldImg"/>
          </p:nvPr>
        </p:nvSpPr>
        <p:spPr>
          <a:xfrm>
            <a:off x="685800" y="1143000"/>
            <a:ext cx="5486040" cy="3085920"/>
          </a:xfrm>
          <a:prstGeom prst="rect">
            <a:avLst/>
          </a:prstGeom>
          <a:ln w="0">
            <a:noFill/>
          </a:ln>
        </p:spPr>
      </p:sp>
      <p:sp>
        <p:nvSpPr>
          <p:cNvPr id="6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52"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5DEA2AB-B765-4A07-8429-7FCC740003F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3" name="PlaceHolder 1"/>
          <p:cNvSpPr>
            <a:spLocks noGrp="1"/>
          </p:cNvSpPr>
          <p:nvPr>
            <p:ph type="sldImg"/>
          </p:nvPr>
        </p:nvSpPr>
        <p:spPr>
          <a:xfrm>
            <a:off x="685800" y="1143000"/>
            <a:ext cx="5486040" cy="3085920"/>
          </a:xfrm>
          <a:prstGeom prst="rect">
            <a:avLst/>
          </a:prstGeom>
          <a:ln w="0">
            <a:noFill/>
          </a:ln>
        </p:spPr>
      </p:sp>
      <p:sp>
        <p:nvSpPr>
          <p:cNvPr id="6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55"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8A29854-C5B2-4436-84B5-661B8B47251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6" name="PlaceHolder 1"/>
          <p:cNvSpPr>
            <a:spLocks noGrp="1"/>
          </p:cNvSpPr>
          <p:nvPr>
            <p:ph type="sldImg"/>
          </p:nvPr>
        </p:nvSpPr>
        <p:spPr>
          <a:xfrm>
            <a:off x="685800" y="1143000"/>
            <a:ext cx="5486040" cy="3085920"/>
          </a:xfrm>
          <a:prstGeom prst="rect">
            <a:avLst/>
          </a:prstGeom>
          <a:ln w="0">
            <a:noFill/>
          </a:ln>
        </p:spPr>
      </p:sp>
      <p:sp>
        <p:nvSpPr>
          <p:cNvPr id="6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58"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38DF86D-06AC-4130-90EA-B06CE0A210D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 name="PlaceHolder 1"/>
          <p:cNvSpPr>
            <a:spLocks noGrp="1"/>
          </p:cNvSpPr>
          <p:nvPr>
            <p:ph type="sldImg"/>
          </p:nvPr>
        </p:nvSpPr>
        <p:spPr>
          <a:xfrm>
            <a:off x="685800" y="1143000"/>
            <a:ext cx="5486040" cy="3085920"/>
          </a:xfrm>
          <a:prstGeom prst="rect">
            <a:avLst/>
          </a:prstGeom>
          <a:ln w="0">
            <a:noFill/>
          </a:ln>
        </p:spPr>
      </p:sp>
      <p:sp>
        <p:nvSpPr>
          <p:cNvPr id="6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61"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713DF9A-10AC-4CB3-9D97-F87ECCC6FCF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2" name="PlaceHolder 1"/>
          <p:cNvSpPr>
            <a:spLocks noGrp="1"/>
          </p:cNvSpPr>
          <p:nvPr>
            <p:ph type="sldImg"/>
          </p:nvPr>
        </p:nvSpPr>
        <p:spPr>
          <a:xfrm>
            <a:off x="685800" y="1143000"/>
            <a:ext cx="5486040" cy="3085920"/>
          </a:xfrm>
          <a:prstGeom prst="rect">
            <a:avLst/>
          </a:prstGeom>
          <a:ln w="0">
            <a:noFill/>
          </a:ln>
        </p:spPr>
      </p:sp>
      <p:sp>
        <p:nvSpPr>
          <p:cNvPr id="6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64"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B7769BD-62B6-4255-A379-0C4BBB55261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5" name="PlaceHolder 1"/>
          <p:cNvSpPr>
            <a:spLocks noGrp="1"/>
          </p:cNvSpPr>
          <p:nvPr>
            <p:ph type="sldImg"/>
          </p:nvPr>
        </p:nvSpPr>
        <p:spPr>
          <a:xfrm>
            <a:off x="685800" y="1143000"/>
            <a:ext cx="5486040" cy="3085920"/>
          </a:xfrm>
          <a:prstGeom prst="rect">
            <a:avLst/>
          </a:prstGeom>
          <a:ln w="0">
            <a:noFill/>
          </a:ln>
        </p:spPr>
      </p:sp>
      <p:sp>
        <p:nvSpPr>
          <p:cNvPr id="6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67"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1615CED-7026-4F51-9DD1-6D7F1F862D4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8" name="PlaceHolder 1"/>
          <p:cNvSpPr>
            <a:spLocks noGrp="1"/>
          </p:cNvSpPr>
          <p:nvPr>
            <p:ph type="sldImg"/>
          </p:nvPr>
        </p:nvSpPr>
        <p:spPr>
          <a:xfrm>
            <a:off x="685800" y="1143000"/>
            <a:ext cx="5486040" cy="3085920"/>
          </a:xfrm>
          <a:prstGeom prst="rect">
            <a:avLst/>
          </a:prstGeom>
          <a:ln w="0">
            <a:noFill/>
          </a:ln>
        </p:spPr>
      </p:sp>
      <p:sp>
        <p:nvSpPr>
          <p:cNvPr id="6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70"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7B5BB73-DE27-47BA-AE3B-CB9DDF88FBB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1" name="PlaceHolder 1"/>
          <p:cNvSpPr>
            <a:spLocks noGrp="1"/>
          </p:cNvSpPr>
          <p:nvPr>
            <p:ph type="sldImg"/>
          </p:nvPr>
        </p:nvSpPr>
        <p:spPr>
          <a:xfrm>
            <a:off x="685800" y="1143000"/>
            <a:ext cx="5486040" cy="3085920"/>
          </a:xfrm>
          <a:prstGeom prst="rect">
            <a:avLst/>
          </a:prstGeom>
          <a:ln w="0">
            <a:noFill/>
          </a:ln>
        </p:spPr>
      </p:sp>
      <p:sp>
        <p:nvSpPr>
          <p:cNvPr id="6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73"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9C920C1-DB8A-4604-A40A-6C430245ECB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4" name="PlaceHolder 1"/>
          <p:cNvSpPr>
            <a:spLocks noGrp="1"/>
          </p:cNvSpPr>
          <p:nvPr>
            <p:ph type="sldImg"/>
          </p:nvPr>
        </p:nvSpPr>
        <p:spPr>
          <a:xfrm>
            <a:off x="685800" y="1143000"/>
            <a:ext cx="5486040" cy="3085920"/>
          </a:xfrm>
          <a:prstGeom prst="rect">
            <a:avLst/>
          </a:prstGeom>
          <a:ln w="0">
            <a:noFill/>
          </a:ln>
        </p:spPr>
      </p:sp>
      <p:sp>
        <p:nvSpPr>
          <p:cNvPr id="6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76"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151A3B-4BFE-42B5-8F88-50E7C91BEA9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7" name="PlaceHolder 1"/>
          <p:cNvSpPr>
            <a:spLocks noGrp="1"/>
          </p:cNvSpPr>
          <p:nvPr>
            <p:ph type="sldImg"/>
          </p:nvPr>
        </p:nvSpPr>
        <p:spPr>
          <a:xfrm>
            <a:off x="685800" y="1143000"/>
            <a:ext cx="5486040" cy="3085920"/>
          </a:xfrm>
          <a:prstGeom prst="rect">
            <a:avLst/>
          </a:prstGeom>
          <a:ln w="0">
            <a:noFill/>
          </a:ln>
        </p:spPr>
      </p:sp>
      <p:sp>
        <p:nvSpPr>
          <p:cNvPr id="6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79"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CF65FEC-E0FA-417B-B067-DD8E1671BA1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0" name="PlaceHolder 1"/>
          <p:cNvSpPr>
            <a:spLocks noGrp="1"/>
          </p:cNvSpPr>
          <p:nvPr>
            <p:ph type="sldImg"/>
          </p:nvPr>
        </p:nvSpPr>
        <p:spPr>
          <a:xfrm>
            <a:off x="685800" y="1143000"/>
            <a:ext cx="5486040" cy="3085920"/>
          </a:xfrm>
          <a:prstGeom prst="rect">
            <a:avLst/>
          </a:prstGeom>
          <a:ln w="0">
            <a:noFill/>
          </a:ln>
        </p:spPr>
      </p:sp>
      <p:sp>
        <p:nvSpPr>
          <p:cNvPr id="6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82"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8177A8E-D374-48CB-9B60-B0C3101FFB3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3" name="PlaceHolder 1"/>
          <p:cNvSpPr>
            <a:spLocks noGrp="1"/>
          </p:cNvSpPr>
          <p:nvPr>
            <p:ph type="sldImg"/>
          </p:nvPr>
        </p:nvSpPr>
        <p:spPr>
          <a:xfrm>
            <a:off x="685800" y="1143000"/>
            <a:ext cx="5486040" cy="3085920"/>
          </a:xfrm>
          <a:prstGeom prst="rect">
            <a:avLst/>
          </a:prstGeom>
          <a:ln w="0">
            <a:noFill/>
          </a:ln>
        </p:spPr>
      </p:sp>
      <p:sp>
        <p:nvSpPr>
          <p:cNvPr id="6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85"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6067BD6-A337-46E4-B6B6-A09751B421A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6" name="PlaceHolder 1"/>
          <p:cNvSpPr>
            <a:spLocks noGrp="1"/>
          </p:cNvSpPr>
          <p:nvPr>
            <p:ph type="sldImg"/>
          </p:nvPr>
        </p:nvSpPr>
        <p:spPr>
          <a:xfrm>
            <a:off x="685800" y="1143000"/>
            <a:ext cx="5486040" cy="3085920"/>
          </a:xfrm>
          <a:prstGeom prst="rect">
            <a:avLst/>
          </a:prstGeom>
          <a:ln w="0">
            <a:noFill/>
          </a:ln>
        </p:spPr>
      </p:sp>
      <p:sp>
        <p:nvSpPr>
          <p:cNvPr id="6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88"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5AEFA33-9B94-462D-8093-6C151D0F9F3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9" name="PlaceHolder 1"/>
          <p:cNvSpPr>
            <a:spLocks noGrp="1"/>
          </p:cNvSpPr>
          <p:nvPr>
            <p:ph type="sldImg"/>
          </p:nvPr>
        </p:nvSpPr>
        <p:spPr>
          <a:xfrm>
            <a:off x="685800" y="1143000"/>
            <a:ext cx="5486040" cy="3085920"/>
          </a:xfrm>
          <a:prstGeom prst="rect">
            <a:avLst/>
          </a:prstGeom>
          <a:ln w="0">
            <a:noFill/>
          </a:ln>
        </p:spPr>
      </p:sp>
      <p:sp>
        <p:nvSpPr>
          <p:cNvPr id="6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91"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F4B2365-99F9-4455-8FF8-138C0A5A93C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2" name="PlaceHolder 1"/>
          <p:cNvSpPr>
            <a:spLocks noGrp="1"/>
          </p:cNvSpPr>
          <p:nvPr>
            <p:ph type="sldImg"/>
          </p:nvPr>
        </p:nvSpPr>
        <p:spPr>
          <a:xfrm>
            <a:off x="685800" y="1143000"/>
            <a:ext cx="5486040" cy="3085920"/>
          </a:xfrm>
          <a:prstGeom prst="rect">
            <a:avLst/>
          </a:prstGeom>
          <a:ln w="0">
            <a:noFill/>
          </a:ln>
        </p:spPr>
      </p:sp>
      <p:sp>
        <p:nvSpPr>
          <p:cNvPr id="6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94"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F8BB847-28F5-4AE9-BD10-962F80BF2E5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5" name="PlaceHolder 1"/>
          <p:cNvSpPr>
            <a:spLocks noGrp="1"/>
          </p:cNvSpPr>
          <p:nvPr>
            <p:ph type="sldImg"/>
          </p:nvPr>
        </p:nvSpPr>
        <p:spPr>
          <a:xfrm>
            <a:off x="685800" y="1143000"/>
            <a:ext cx="5486040" cy="3085920"/>
          </a:xfrm>
          <a:prstGeom prst="rect">
            <a:avLst/>
          </a:prstGeom>
          <a:ln w="0">
            <a:noFill/>
          </a:ln>
        </p:spPr>
      </p:sp>
      <p:sp>
        <p:nvSpPr>
          <p:cNvPr id="6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97"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617CA4C-0CC6-4738-AC80-1119F602036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8" name="PlaceHolder 1"/>
          <p:cNvSpPr>
            <a:spLocks noGrp="1"/>
          </p:cNvSpPr>
          <p:nvPr>
            <p:ph type="sldImg"/>
          </p:nvPr>
        </p:nvSpPr>
        <p:spPr>
          <a:xfrm>
            <a:off x="685800" y="1143000"/>
            <a:ext cx="5486040" cy="3085920"/>
          </a:xfrm>
          <a:prstGeom prst="rect">
            <a:avLst/>
          </a:prstGeom>
          <a:ln w="0">
            <a:noFill/>
          </a:ln>
        </p:spPr>
      </p:sp>
      <p:sp>
        <p:nvSpPr>
          <p:cNvPr id="6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00"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532C991-BC4D-4A5C-9EC3-DD41B9E946F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1" name="PlaceHolder 1"/>
          <p:cNvSpPr>
            <a:spLocks noGrp="1"/>
          </p:cNvSpPr>
          <p:nvPr>
            <p:ph type="sldImg"/>
          </p:nvPr>
        </p:nvSpPr>
        <p:spPr>
          <a:xfrm>
            <a:off x="685800" y="1143000"/>
            <a:ext cx="5486040" cy="3085920"/>
          </a:xfrm>
          <a:prstGeom prst="rect">
            <a:avLst/>
          </a:prstGeom>
          <a:ln w="0">
            <a:noFill/>
          </a:ln>
        </p:spPr>
      </p:sp>
      <p:sp>
        <p:nvSpPr>
          <p:cNvPr id="7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03"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725F8A4-E9C3-4607-825A-F02769E099E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4" name="PlaceHolder 1"/>
          <p:cNvSpPr>
            <a:spLocks noGrp="1"/>
          </p:cNvSpPr>
          <p:nvPr>
            <p:ph type="sldImg"/>
          </p:nvPr>
        </p:nvSpPr>
        <p:spPr>
          <a:xfrm>
            <a:off x="685800" y="1143000"/>
            <a:ext cx="5486040" cy="3085920"/>
          </a:xfrm>
          <a:prstGeom prst="rect">
            <a:avLst/>
          </a:prstGeom>
          <a:ln w="0">
            <a:noFill/>
          </a:ln>
        </p:spPr>
      </p:sp>
      <p:sp>
        <p:nvSpPr>
          <p:cNvPr id="7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06"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E4823B7-8292-4E0C-8E7D-2021967ED22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7" name="PlaceHolder 1"/>
          <p:cNvSpPr>
            <a:spLocks noGrp="1"/>
          </p:cNvSpPr>
          <p:nvPr>
            <p:ph type="sldImg"/>
          </p:nvPr>
        </p:nvSpPr>
        <p:spPr>
          <a:xfrm>
            <a:off x="685800" y="1143000"/>
            <a:ext cx="5486040" cy="3085920"/>
          </a:xfrm>
          <a:prstGeom prst="rect">
            <a:avLst/>
          </a:prstGeom>
          <a:ln w="0">
            <a:noFill/>
          </a:ln>
        </p:spPr>
      </p:sp>
      <p:sp>
        <p:nvSpPr>
          <p:cNvPr id="7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09"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0515628-7E4C-4AAB-9703-622FE819841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 name="PlaceHolder 1"/>
          <p:cNvSpPr>
            <a:spLocks noGrp="1"/>
          </p:cNvSpPr>
          <p:nvPr>
            <p:ph type="sldImg"/>
          </p:nvPr>
        </p:nvSpPr>
        <p:spPr>
          <a:xfrm>
            <a:off x="685800" y="1143000"/>
            <a:ext cx="5486040" cy="3085920"/>
          </a:xfrm>
          <a:prstGeom prst="rect">
            <a:avLst/>
          </a:prstGeom>
          <a:ln w="0">
            <a:noFill/>
          </a:ln>
        </p:spPr>
      </p:sp>
      <p:sp>
        <p:nvSpPr>
          <p:cNvPr id="7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12"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DC00715-4495-4DFE-A53B-B20087B0FDF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3" name="PlaceHolder 1"/>
          <p:cNvSpPr>
            <a:spLocks noGrp="1"/>
          </p:cNvSpPr>
          <p:nvPr>
            <p:ph type="sldImg"/>
          </p:nvPr>
        </p:nvSpPr>
        <p:spPr>
          <a:xfrm>
            <a:off x="685800" y="1143000"/>
            <a:ext cx="5486040" cy="3085920"/>
          </a:xfrm>
          <a:prstGeom prst="rect">
            <a:avLst/>
          </a:prstGeom>
          <a:ln w="0">
            <a:noFill/>
          </a:ln>
        </p:spPr>
      </p:sp>
      <p:sp>
        <p:nvSpPr>
          <p:cNvPr id="7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15"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D3939E-0418-4F9B-8295-00B843B899D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PlaceHolder 1"/>
          <p:cNvSpPr>
            <a:spLocks noGrp="1"/>
          </p:cNvSpPr>
          <p:nvPr>
            <p:ph type="sldImg"/>
          </p:nvPr>
        </p:nvSpPr>
        <p:spPr>
          <a:xfrm>
            <a:off x="685800" y="1143000"/>
            <a:ext cx="5486040" cy="3085920"/>
          </a:xfrm>
          <a:prstGeom prst="rect">
            <a:avLst/>
          </a:prstGeom>
          <a:ln w="0">
            <a:noFill/>
          </a:ln>
        </p:spPr>
      </p:sp>
      <p:sp>
        <p:nvSpPr>
          <p:cNvPr id="7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18"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6781EAB-99AC-49B3-96CF-2C5E1419414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9" name="PlaceHolder 1"/>
          <p:cNvSpPr>
            <a:spLocks noGrp="1"/>
          </p:cNvSpPr>
          <p:nvPr>
            <p:ph type="sldImg"/>
          </p:nvPr>
        </p:nvSpPr>
        <p:spPr>
          <a:xfrm>
            <a:off x="685800" y="1143000"/>
            <a:ext cx="5486040" cy="3085920"/>
          </a:xfrm>
          <a:prstGeom prst="rect">
            <a:avLst/>
          </a:prstGeom>
          <a:ln w="0">
            <a:noFill/>
          </a:ln>
        </p:spPr>
      </p:sp>
      <p:sp>
        <p:nvSpPr>
          <p:cNvPr id="7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21"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27C7673-E697-44AC-80D8-7ACA79ECE19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2" name="PlaceHolder 1"/>
          <p:cNvSpPr>
            <a:spLocks noGrp="1"/>
          </p:cNvSpPr>
          <p:nvPr>
            <p:ph type="sldImg"/>
          </p:nvPr>
        </p:nvSpPr>
        <p:spPr>
          <a:xfrm>
            <a:off x="685800" y="1143000"/>
            <a:ext cx="5486040" cy="3085920"/>
          </a:xfrm>
          <a:prstGeom prst="rect">
            <a:avLst/>
          </a:prstGeom>
          <a:ln w="0">
            <a:noFill/>
          </a:ln>
        </p:spPr>
      </p:sp>
      <p:sp>
        <p:nvSpPr>
          <p:cNvPr id="7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24"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F06B1DC-3339-4675-A9B4-256652EB48E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slideLayout" Target="../slideLayouts/slideLayout1.xml"/><Relationship Id="rId8"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0.png"/><Relationship Id="rId3" Type="http://schemas.openxmlformats.org/officeDocument/2006/relationships/slideLayout" Target="../slideLayouts/slideLayout1.xml"/><Relationship Id="rId4"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slideLayout" Target="../slideLayouts/slideLayout1.xml"/><Relationship Id="rId5"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3.png"/><Relationship Id="rId3" Type="http://schemas.openxmlformats.org/officeDocument/2006/relationships/image" Target="../media/image13.png"/><Relationship Id="rId4" Type="http://schemas.openxmlformats.org/officeDocument/2006/relationships/image" Target="../media/image13.png"/><Relationship Id="rId5" Type="http://schemas.openxmlformats.org/officeDocument/2006/relationships/slideLayout" Target="../slideLayouts/slideLayout1.xml"/><Relationship Id="rId6"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3.png"/><Relationship Id="rId3" Type="http://schemas.openxmlformats.org/officeDocument/2006/relationships/image" Target="../media/image13.png"/><Relationship Id="rId4" Type="http://schemas.openxmlformats.org/officeDocument/2006/relationships/image" Target="../media/image13.png"/><Relationship Id="rId5" Type="http://schemas.openxmlformats.org/officeDocument/2006/relationships/slideLayout" Target="../slideLayouts/slideLayout1.xml"/><Relationship Id="rId6"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3.png"/><Relationship Id="rId3" Type="http://schemas.openxmlformats.org/officeDocument/2006/relationships/image" Target="../media/image13.png"/><Relationship Id="rId4" Type="http://schemas.openxmlformats.org/officeDocument/2006/relationships/image" Target="../media/image13.png"/><Relationship Id="rId5" Type="http://schemas.openxmlformats.org/officeDocument/2006/relationships/slideLayout" Target="../slideLayouts/slideLayout1.xml"/><Relationship Id="rId6"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notesSlide" Target="../notesSlides/notesSlide4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10" name="Shape 0"/>
          <p:cNvSpPr/>
          <p:nvPr/>
        </p:nvSpPr>
        <p:spPr>
          <a:xfrm>
            <a:off x="-2011680" y="4206240"/>
            <a:ext cx="5668920" cy="5668920"/>
          </a:xfrm>
          <a:prstGeom prst="ellipse">
            <a:avLst/>
          </a:prstGeom>
          <a:solidFill>
            <a:srgbClr val="1419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 name="Shape 1"/>
          <p:cNvSpPr/>
          <p:nvPr/>
        </p:nvSpPr>
        <p:spPr>
          <a:xfrm>
            <a:off x="9418320" y="-2377440"/>
            <a:ext cx="5668920" cy="5668920"/>
          </a:xfrm>
          <a:prstGeom prst="ellipse">
            <a:avLst/>
          </a:prstGeom>
          <a:solidFill>
            <a:srgbClr val="1419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 name="Shape 2"/>
          <p:cNvSpPr/>
          <p:nvPr/>
        </p:nvSpPr>
        <p:spPr>
          <a:xfrm>
            <a:off x="5495400" y="868680"/>
            <a:ext cx="1188360" cy="118836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3" name="Image 0" descr="preencoded.png"/>
          <p:cNvPicPr/>
          <p:nvPr/>
        </p:nvPicPr>
        <p:blipFill>
          <a:blip r:embed="rId1"/>
          <a:stretch/>
        </p:blipFill>
        <p:spPr>
          <a:xfrm>
            <a:off x="5678280" y="1051560"/>
            <a:ext cx="831600" cy="831600"/>
          </a:xfrm>
          <a:prstGeom prst="rect">
            <a:avLst/>
          </a:prstGeom>
          <a:noFill/>
          <a:ln w="0">
            <a:noFill/>
          </a:ln>
        </p:spPr>
      </p:pic>
      <p:sp>
        <p:nvSpPr>
          <p:cNvPr id="14" name="Text 3"/>
          <p:cNvSpPr/>
          <p:nvPr/>
        </p:nvSpPr>
        <p:spPr>
          <a:xfrm>
            <a:off x="914400" y="2331720"/>
            <a:ext cx="10359720" cy="1005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400" b="1" u="none" strike="noStrike">
                <a:solidFill>
                  <a:srgbClr val="FFFFFF"/>
                </a:solidFill>
                <a:effectLst/>
                <a:uFillTx/>
                <a:latin typeface="Calibri"/>
                <a:ea typeface="Calibri"/>
              </a:rPr>
              <a:t>Branching &amp; Advanced Git</a:t>
            </a:r>
            <a:endParaRPr lang="en-US" sz="3400" b="0" u="none" strike="noStrike">
              <a:solidFill>
                <a:srgbClr val="FFFFFF"/>
              </a:solidFill>
              <a:effectLst/>
              <a:uFillTx/>
              <a:latin typeface="Arial"/>
            </a:endParaRPr>
          </a:p>
        </p:txBody>
      </p:sp>
      <p:sp>
        <p:nvSpPr>
          <p:cNvPr id="15" name="Text 4"/>
          <p:cNvSpPr/>
          <p:nvPr/>
        </p:nvSpPr>
        <p:spPr>
          <a:xfrm>
            <a:off x="914400" y="3337560"/>
            <a:ext cx="1035972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F7A788"/>
                </a:solidFill>
                <a:effectLst/>
                <a:uFillTx/>
                <a:latin typeface="Calibri"/>
                <a:ea typeface="Calibri"/>
              </a:rPr>
              <a:t>Branches, Merge Conflicts, Stash, Tags, Rebase &amp; Reflog — Still Entirely Local</a:t>
            </a:r>
            <a:endParaRPr lang="en-US" sz="1800" b="0" u="none" strike="noStrike">
              <a:solidFill>
                <a:srgbClr val="FFFFFF"/>
              </a:solidFill>
              <a:effectLst/>
              <a:uFillTx/>
              <a:latin typeface="Arial"/>
            </a:endParaRPr>
          </a:p>
        </p:txBody>
      </p:sp>
      <p:sp>
        <p:nvSpPr>
          <p:cNvPr id="16" name="Text 5"/>
          <p:cNvSpPr/>
          <p:nvPr/>
        </p:nvSpPr>
        <p:spPr>
          <a:xfrm>
            <a:off x="914400" y="3931920"/>
            <a:ext cx="103597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u="none" strike="noStrike">
                <a:solidFill>
                  <a:srgbClr val="C9D1D9"/>
                </a:solidFill>
                <a:effectLst/>
                <a:uFillTx/>
                <a:latin typeface="Calibri"/>
                <a:ea typeface="Calibri"/>
              </a:rPr>
              <a:t>Session 14</a:t>
            </a:r>
            <a:endParaRPr lang="en-US" sz="1400" b="0" u="none" strike="noStrike">
              <a:solidFill>
                <a:srgbClr val="FFFFFF"/>
              </a:solidFill>
              <a:effectLst/>
              <a:uFillTx/>
              <a:latin typeface="Arial"/>
            </a:endParaRPr>
          </a:p>
        </p:txBody>
      </p:sp>
      <p:sp>
        <p:nvSpPr>
          <p:cNvPr id="17" name="Text 6"/>
          <p:cNvSpPr/>
          <p:nvPr/>
        </p:nvSpPr>
        <p:spPr>
          <a:xfrm>
            <a:off x="914400" y="5212080"/>
            <a:ext cx="103597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C9D1D9"/>
                </a:solidFill>
                <a:effectLst/>
                <a:uFillTx/>
                <a:latin typeface="Calibri"/>
                <a:ea typeface="Calibri"/>
              </a:rPr>
              <a:t>CodeByPaxto: The AI &amp; ML Playground</a:t>
            </a:r>
            <a:endParaRPr lang="en-US" sz="1300" b="0" u="none" strike="noStrike">
              <a:solidFill>
                <a:srgbClr val="FFFFFF"/>
              </a:solidFill>
              <a:effectLst/>
              <a:uFillTx/>
              <a:latin typeface="Arial"/>
            </a:endParaRPr>
          </a:p>
        </p:txBody>
      </p:sp>
      <p:sp>
        <p:nvSpPr>
          <p:cNvPr id="18" name="Text 7"/>
          <p:cNvSpPr/>
          <p:nvPr/>
        </p:nvSpPr>
        <p:spPr>
          <a:xfrm>
            <a:off x="914400" y="5559480"/>
            <a:ext cx="103597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8B949E"/>
                </a:solidFill>
                <a:effectLst/>
                <a:uFillTx/>
                <a:latin typeface="Calibri"/>
                <a:ea typeface="Calibri"/>
              </a:rPr>
              <a:t>Hafiz Waseem Ahmed (Paxto)</a:t>
            </a:r>
            <a:endParaRPr lang="en-US" sz="1200" b="0" u="none" strike="noStrike">
              <a:solidFill>
                <a:srgbClr val="FFFFFF"/>
              </a:solidFill>
              <a:effectLst/>
              <a:uFillTx/>
              <a:latin typeface="Arial"/>
            </a:endParaRPr>
          </a:p>
        </p:txBody>
      </p:sp>
      <p:sp>
        <p:nvSpPr>
          <p:cNvPr id="19" name="Text 8"/>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1</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20"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1" name="Image 0" descr="preencoded.png"/>
          <p:cNvPicPr/>
          <p:nvPr/>
        </p:nvPicPr>
        <p:blipFill>
          <a:blip r:embed="rId1"/>
          <a:stretch/>
        </p:blipFill>
        <p:spPr>
          <a:xfrm>
            <a:off x="548640" y="548640"/>
            <a:ext cx="447840" cy="447840"/>
          </a:xfrm>
          <a:prstGeom prst="rect">
            <a:avLst/>
          </a:prstGeom>
          <a:noFill/>
          <a:ln w="0">
            <a:noFill/>
          </a:ln>
        </p:spPr>
      </p:pic>
      <p:sp>
        <p:nvSpPr>
          <p:cNvPr id="22"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What We're Covering Today</a:t>
            </a:r>
            <a:endParaRPr lang="en-US" sz="2500" b="0" u="none" strike="noStrike">
              <a:solidFill>
                <a:srgbClr val="FFFFFF"/>
              </a:solidFill>
              <a:effectLst/>
              <a:uFillTx/>
              <a:latin typeface="Arial"/>
            </a:endParaRPr>
          </a:p>
        </p:txBody>
      </p:sp>
      <p:sp>
        <p:nvSpPr>
          <p:cNvPr id="23"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4" name="Shape 3"/>
          <p:cNvSpPr/>
          <p:nvPr/>
        </p:nvSpPr>
        <p:spPr>
          <a:xfrm>
            <a:off x="457200" y="1600200"/>
            <a:ext cx="11274120" cy="566640"/>
          </a:xfrm>
          <a:prstGeom prst="roundRect">
            <a:avLst>
              <a:gd name="adj" fmla="val 12903"/>
            </a:avLst>
          </a:prstGeom>
          <a:solidFill>
            <a:srgbClr val="161B2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 name="Shape 4"/>
          <p:cNvSpPr/>
          <p:nvPr/>
        </p:nvSpPr>
        <p:spPr>
          <a:xfrm>
            <a:off x="685800" y="1710000"/>
            <a:ext cx="347040" cy="34704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6" name="Image 1" descr="preencoded.png"/>
          <p:cNvPicPr/>
          <p:nvPr/>
        </p:nvPicPr>
        <p:blipFill>
          <a:blip r:embed="rId2"/>
          <a:stretch/>
        </p:blipFill>
        <p:spPr>
          <a:xfrm>
            <a:off x="758880" y="1783080"/>
            <a:ext cx="200880" cy="200880"/>
          </a:xfrm>
          <a:prstGeom prst="rect">
            <a:avLst/>
          </a:prstGeom>
          <a:noFill/>
          <a:ln w="0">
            <a:noFill/>
          </a:ln>
        </p:spPr>
      </p:pic>
      <p:sp>
        <p:nvSpPr>
          <p:cNvPr id="27" name="Text 5"/>
          <p:cNvSpPr/>
          <p:nvPr/>
        </p:nvSpPr>
        <p:spPr>
          <a:xfrm>
            <a:off x="1234440" y="1600200"/>
            <a:ext cx="102409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C9D1D9"/>
                </a:solidFill>
                <a:effectLst/>
                <a:uFillTx/>
                <a:latin typeface="Calibri"/>
                <a:ea typeface="Calibri"/>
              </a:rPr>
              <a:t>Branching — what a branch really is, and how merging actually works</a:t>
            </a:r>
            <a:endParaRPr lang="en-US" sz="1350" b="0" u="none" strike="noStrike">
              <a:solidFill>
                <a:srgbClr val="FFFFFF"/>
              </a:solidFill>
              <a:effectLst/>
              <a:uFillTx/>
              <a:latin typeface="Arial"/>
            </a:endParaRPr>
          </a:p>
        </p:txBody>
      </p:sp>
      <p:sp>
        <p:nvSpPr>
          <p:cNvPr id="28" name="Shape 6"/>
          <p:cNvSpPr/>
          <p:nvPr/>
        </p:nvSpPr>
        <p:spPr>
          <a:xfrm>
            <a:off x="457200" y="2258640"/>
            <a:ext cx="11274120" cy="566640"/>
          </a:xfrm>
          <a:prstGeom prst="roundRect">
            <a:avLst>
              <a:gd name="adj" fmla="val 12903"/>
            </a:avLst>
          </a:prstGeom>
          <a:solidFill>
            <a:srgbClr val="0D1117"/>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 name="Shape 7"/>
          <p:cNvSpPr/>
          <p:nvPr/>
        </p:nvSpPr>
        <p:spPr>
          <a:xfrm>
            <a:off x="685800" y="2368440"/>
            <a:ext cx="347040" cy="34704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0" name="Image 2" descr="preencoded.png"/>
          <p:cNvPicPr/>
          <p:nvPr/>
        </p:nvPicPr>
        <p:blipFill>
          <a:blip r:embed="rId3"/>
          <a:stretch/>
        </p:blipFill>
        <p:spPr>
          <a:xfrm>
            <a:off x="758880" y="2441520"/>
            <a:ext cx="200880" cy="200880"/>
          </a:xfrm>
          <a:prstGeom prst="rect">
            <a:avLst/>
          </a:prstGeom>
          <a:noFill/>
          <a:ln w="0">
            <a:noFill/>
          </a:ln>
        </p:spPr>
      </p:pic>
      <p:sp>
        <p:nvSpPr>
          <p:cNvPr id="31" name="Text 8"/>
          <p:cNvSpPr/>
          <p:nvPr/>
        </p:nvSpPr>
        <p:spPr>
          <a:xfrm>
            <a:off x="1234440" y="2258640"/>
            <a:ext cx="102409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C9D1D9"/>
                </a:solidFill>
                <a:effectLst/>
                <a:uFillTx/>
                <a:latin typeface="Calibri"/>
                <a:ea typeface="Calibri"/>
              </a:rPr>
              <a:t>Merge conflicts — why they happen, and resolving them by hand</a:t>
            </a:r>
            <a:endParaRPr lang="en-US" sz="1350" b="0" u="none" strike="noStrike">
              <a:solidFill>
                <a:srgbClr val="FFFFFF"/>
              </a:solidFill>
              <a:effectLst/>
              <a:uFillTx/>
              <a:latin typeface="Arial"/>
            </a:endParaRPr>
          </a:p>
        </p:txBody>
      </p:sp>
      <p:sp>
        <p:nvSpPr>
          <p:cNvPr id="32" name="Shape 9"/>
          <p:cNvSpPr/>
          <p:nvPr/>
        </p:nvSpPr>
        <p:spPr>
          <a:xfrm>
            <a:off x="457200" y="2917080"/>
            <a:ext cx="11274120" cy="566640"/>
          </a:xfrm>
          <a:prstGeom prst="roundRect">
            <a:avLst>
              <a:gd name="adj" fmla="val 12903"/>
            </a:avLst>
          </a:prstGeom>
          <a:solidFill>
            <a:srgbClr val="161B2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 name="Shape 10"/>
          <p:cNvSpPr/>
          <p:nvPr/>
        </p:nvSpPr>
        <p:spPr>
          <a:xfrm>
            <a:off x="685800" y="3026520"/>
            <a:ext cx="347040" cy="34704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4" name="Image 3" descr="preencoded.png"/>
          <p:cNvPicPr/>
          <p:nvPr/>
        </p:nvPicPr>
        <p:blipFill>
          <a:blip r:embed="rId4"/>
          <a:stretch/>
        </p:blipFill>
        <p:spPr>
          <a:xfrm>
            <a:off x="758880" y="3099960"/>
            <a:ext cx="200880" cy="200880"/>
          </a:xfrm>
          <a:prstGeom prst="rect">
            <a:avLst/>
          </a:prstGeom>
          <a:noFill/>
          <a:ln w="0">
            <a:noFill/>
          </a:ln>
        </p:spPr>
      </p:pic>
      <p:sp>
        <p:nvSpPr>
          <p:cNvPr id="35" name="Text 11"/>
          <p:cNvSpPr/>
          <p:nvPr/>
        </p:nvSpPr>
        <p:spPr>
          <a:xfrm>
            <a:off x="1234440" y="2917080"/>
            <a:ext cx="102409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C9D1D9"/>
                </a:solidFill>
                <a:effectLst/>
                <a:uFillTx/>
                <a:latin typeface="Calibri"/>
                <a:ea typeface="Calibri"/>
              </a:rPr>
              <a:t>git diff, stash, and tags — comparing, pausing, and marking history</a:t>
            </a:r>
            <a:endParaRPr lang="en-US" sz="1350" b="0" u="none" strike="noStrike">
              <a:solidFill>
                <a:srgbClr val="FFFFFF"/>
              </a:solidFill>
              <a:effectLst/>
              <a:uFillTx/>
              <a:latin typeface="Arial"/>
            </a:endParaRPr>
          </a:p>
        </p:txBody>
      </p:sp>
      <p:sp>
        <p:nvSpPr>
          <p:cNvPr id="36" name="Shape 12"/>
          <p:cNvSpPr/>
          <p:nvPr/>
        </p:nvSpPr>
        <p:spPr>
          <a:xfrm>
            <a:off x="457200" y="3575160"/>
            <a:ext cx="11274120" cy="566640"/>
          </a:xfrm>
          <a:prstGeom prst="roundRect">
            <a:avLst>
              <a:gd name="adj" fmla="val 12903"/>
            </a:avLst>
          </a:prstGeom>
          <a:solidFill>
            <a:srgbClr val="0D1117"/>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 name="Shape 13"/>
          <p:cNvSpPr/>
          <p:nvPr/>
        </p:nvSpPr>
        <p:spPr>
          <a:xfrm>
            <a:off x="685800" y="3684960"/>
            <a:ext cx="347040" cy="34704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8" name="Image 4" descr="preencoded.png"/>
          <p:cNvPicPr/>
          <p:nvPr/>
        </p:nvPicPr>
        <p:blipFill>
          <a:blip r:embed="rId5"/>
          <a:stretch/>
        </p:blipFill>
        <p:spPr>
          <a:xfrm>
            <a:off x="758880" y="3758040"/>
            <a:ext cx="200880" cy="200880"/>
          </a:xfrm>
          <a:prstGeom prst="rect">
            <a:avLst/>
          </a:prstGeom>
          <a:noFill/>
          <a:ln w="0">
            <a:noFill/>
          </a:ln>
        </p:spPr>
      </p:pic>
      <p:sp>
        <p:nvSpPr>
          <p:cNvPr id="39" name="Text 14"/>
          <p:cNvSpPr/>
          <p:nvPr/>
        </p:nvSpPr>
        <p:spPr>
          <a:xfrm>
            <a:off x="1234440" y="3575160"/>
            <a:ext cx="102409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C9D1D9"/>
                </a:solidFill>
                <a:effectLst/>
                <a:uFillTx/>
                <a:latin typeface="Calibri"/>
                <a:ea typeface="Calibri"/>
              </a:rPr>
              <a:t>Rebase and reflog — rewriting history cleanly, and undoing almost anything</a:t>
            </a:r>
            <a:endParaRPr lang="en-US" sz="1350" b="0" u="none" strike="noStrike">
              <a:solidFill>
                <a:srgbClr val="FFFFFF"/>
              </a:solidFill>
              <a:effectLst/>
              <a:uFillTx/>
              <a:latin typeface="Arial"/>
            </a:endParaRPr>
          </a:p>
        </p:txBody>
      </p:sp>
      <p:sp>
        <p:nvSpPr>
          <p:cNvPr id="40" name="Shape 15"/>
          <p:cNvSpPr/>
          <p:nvPr/>
        </p:nvSpPr>
        <p:spPr>
          <a:xfrm>
            <a:off x="457200" y="4233600"/>
            <a:ext cx="11274120" cy="566640"/>
          </a:xfrm>
          <a:prstGeom prst="roundRect">
            <a:avLst>
              <a:gd name="adj" fmla="val 12903"/>
            </a:avLst>
          </a:prstGeom>
          <a:solidFill>
            <a:srgbClr val="161B2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 name="Shape 16"/>
          <p:cNvSpPr/>
          <p:nvPr/>
        </p:nvSpPr>
        <p:spPr>
          <a:xfrm>
            <a:off x="685800" y="4343400"/>
            <a:ext cx="347040" cy="34704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2" name="Image 5" descr="preencoded.png"/>
          <p:cNvPicPr/>
          <p:nvPr/>
        </p:nvPicPr>
        <p:blipFill>
          <a:blip r:embed="rId6"/>
          <a:stretch/>
        </p:blipFill>
        <p:spPr>
          <a:xfrm>
            <a:off x="758880" y="4416480"/>
            <a:ext cx="200880" cy="200880"/>
          </a:xfrm>
          <a:prstGeom prst="rect">
            <a:avLst/>
          </a:prstGeom>
          <a:noFill/>
          <a:ln w="0">
            <a:noFill/>
          </a:ln>
        </p:spPr>
      </p:pic>
      <p:sp>
        <p:nvSpPr>
          <p:cNvPr id="43" name="Text 17"/>
          <p:cNvSpPr/>
          <p:nvPr/>
        </p:nvSpPr>
        <p:spPr>
          <a:xfrm>
            <a:off x="1234440" y="4233600"/>
            <a:ext cx="102409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C9D1D9"/>
                </a:solidFill>
                <a:effectLst/>
                <a:uFillTx/>
                <a:latin typeface="Calibri"/>
                <a:ea typeface="Calibri"/>
              </a:rPr>
              <a:t>Today's tasks and a mini project — a full feature-branch workflow</a:t>
            </a:r>
            <a:endParaRPr lang="en-US" sz="1350" b="0" u="none" strike="noStrike">
              <a:solidFill>
                <a:srgbClr val="FFFFFF"/>
              </a:solidFill>
              <a:effectLst/>
              <a:uFillTx/>
              <a:latin typeface="Arial"/>
            </a:endParaRPr>
          </a:p>
        </p:txBody>
      </p:sp>
      <p:sp>
        <p:nvSpPr>
          <p:cNvPr id="44" name="Text 18"/>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45" name="Text 19"/>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2</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46" name="Shape 0"/>
          <p:cNvSpPr/>
          <p:nvPr/>
        </p:nvSpPr>
        <p:spPr>
          <a:xfrm>
            <a:off x="-2011680" y="4206240"/>
            <a:ext cx="5668920" cy="5668920"/>
          </a:xfrm>
          <a:prstGeom prst="ellipse">
            <a:avLst/>
          </a:prstGeom>
          <a:solidFill>
            <a:srgbClr val="1419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7" name="Shape 1"/>
          <p:cNvSpPr/>
          <p:nvPr/>
        </p:nvSpPr>
        <p:spPr>
          <a:xfrm>
            <a:off x="9418320" y="-2377440"/>
            <a:ext cx="5668920" cy="5668920"/>
          </a:xfrm>
          <a:prstGeom prst="ellipse">
            <a:avLst/>
          </a:prstGeom>
          <a:solidFill>
            <a:srgbClr val="1419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8" name="Shape 2"/>
          <p:cNvSpPr/>
          <p:nvPr/>
        </p:nvSpPr>
        <p:spPr>
          <a:xfrm>
            <a:off x="5596200" y="731520"/>
            <a:ext cx="1005480" cy="100548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9" name="Image 0" descr="preencoded.png"/>
          <p:cNvPicPr/>
          <p:nvPr/>
        </p:nvPicPr>
        <p:blipFill>
          <a:blip r:embed="rId1"/>
          <a:stretch/>
        </p:blipFill>
        <p:spPr>
          <a:xfrm>
            <a:off x="5742360" y="877680"/>
            <a:ext cx="703800" cy="703800"/>
          </a:xfrm>
          <a:prstGeom prst="rect">
            <a:avLst/>
          </a:prstGeom>
          <a:noFill/>
          <a:ln w="0">
            <a:noFill/>
          </a:ln>
        </p:spPr>
      </p:pic>
      <p:sp>
        <p:nvSpPr>
          <p:cNvPr id="50" name="Text 3"/>
          <p:cNvSpPr/>
          <p:nvPr/>
        </p:nvSpPr>
        <p:spPr>
          <a:xfrm>
            <a:off x="914400" y="1965960"/>
            <a:ext cx="103597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pc="201" strike="noStrike">
                <a:solidFill>
                  <a:srgbClr val="F7A788"/>
                </a:solidFill>
                <a:effectLst/>
                <a:uFillTx/>
                <a:latin typeface="Calibri"/>
                <a:ea typeface="Calibri"/>
              </a:rPr>
              <a:t>PART 1</a:t>
            </a:r>
            <a:endParaRPr lang="en-US" sz="1300" b="0" u="none" strike="noStrike">
              <a:solidFill>
                <a:srgbClr val="FFFFFF"/>
              </a:solidFill>
              <a:effectLst/>
              <a:uFillTx/>
              <a:latin typeface="Arial"/>
            </a:endParaRPr>
          </a:p>
        </p:txBody>
      </p:sp>
      <p:sp>
        <p:nvSpPr>
          <p:cNvPr id="51" name="Text 4"/>
          <p:cNvSpPr/>
          <p:nvPr/>
        </p:nvSpPr>
        <p:spPr>
          <a:xfrm>
            <a:off x="914400" y="2377440"/>
            <a:ext cx="10359720" cy="2011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3200" b="1" u="none" strike="noStrike">
                <a:solidFill>
                  <a:srgbClr val="FFFFFF"/>
                </a:solidFill>
                <a:effectLst/>
                <a:uFillTx/>
                <a:latin typeface="Calibri"/>
                <a:ea typeface="Calibri"/>
              </a:rPr>
              <a:t>Branching</a:t>
            </a:r>
            <a:endParaRPr lang="en-US" sz="3200" b="0" u="none" strike="noStrike">
              <a:solidFill>
                <a:srgbClr val="FFFFFF"/>
              </a:solidFill>
              <a:effectLst/>
              <a:uFillTx/>
              <a:latin typeface="Arial"/>
            </a:endParaRPr>
          </a:p>
        </p:txBody>
      </p:sp>
      <p:sp>
        <p:nvSpPr>
          <p:cNvPr id="52" name="Text 5"/>
          <p:cNvSpPr/>
          <p:nvPr/>
        </p:nvSpPr>
        <p:spPr>
          <a:xfrm>
            <a:off x="1463040" y="4572000"/>
            <a:ext cx="9262440" cy="10969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0" u="none" strike="noStrike">
                <a:solidFill>
                  <a:srgbClr val="C9D1D9"/>
                </a:solidFill>
                <a:effectLst/>
                <a:uFillTx/>
                <a:latin typeface="Calibri"/>
                <a:ea typeface="Calibri"/>
              </a:rPr>
              <a:t>Working on something new, without touching what already works</a:t>
            </a:r>
            <a:endParaRPr lang="en-US" sz="1600" b="0" u="none" strike="noStrike">
              <a:solidFill>
                <a:srgbClr val="FFFFFF"/>
              </a:solidFill>
              <a:effectLst/>
              <a:uFillTx/>
              <a:latin typeface="Arial"/>
            </a:endParaRPr>
          </a:p>
        </p:txBody>
      </p:sp>
      <p:sp>
        <p:nvSpPr>
          <p:cNvPr id="53" name="Text 6"/>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3</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54"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5" name="Image 0" descr="preencoded.png"/>
          <p:cNvPicPr/>
          <p:nvPr/>
        </p:nvPicPr>
        <p:blipFill>
          <a:blip r:embed="rId1"/>
          <a:stretch/>
        </p:blipFill>
        <p:spPr>
          <a:xfrm>
            <a:off x="548640" y="548640"/>
            <a:ext cx="447840" cy="447840"/>
          </a:xfrm>
          <a:prstGeom prst="rect">
            <a:avLst/>
          </a:prstGeom>
          <a:noFill/>
          <a:ln w="0">
            <a:noFill/>
          </a:ln>
        </p:spPr>
      </p:pic>
      <p:sp>
        <p:nvSpPr>
          <p:cNvPr id="56"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What Is a Branch, Really?</a:t>
            </a:r>
            <a:endParaRPr lang="en-US" sz="2500" b="0" u="none" strike="noStrike">
              <a:solidFill>
                <a:srgbClr val="FFFFFF"/>
              </a:solidFill>
              <a:effectLst/>
              <a:uFillTx/>
              <a:latin typeface="Arial"/>
            </a:endParaRPr>
          </a:p>
        </p:txBody>
      </p:sp>
      <p:sp>
        <p:nvSpPr>
          <p:cNvPr id="57"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58" name="Shape 3"/>
          <p:cNvSpPr/>
          <p:nvPr/>
        </p:nvSpPr>
        <p:spPr>
          <a:xfrm>
            <a:off x="457200" y="1554480"/>
            <a:ext cx="3657240" cy="4663080"/>
          </a:xfrm>
          <a:prstGeom prst="roundRect">
            <a:avLst>
              <a:gd name="adj" fmla="val 3000"/>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9" name="Shape 4"/>
          <p:cNvSpPr/>
          <p:nvPr/>
        </p:nvSpPr>
        <p:spPr>
          <a:xfrm>
            <a:off x="1508760" y="2194560"/>
            <a:ext cx="1554120" cy="15541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0" name="Image 1" descr="preencoded.png"/>
          <p:cNvPicPr/>
          <p:nvPr/>
        </p:nvPicPr>
        <p:blipFill>
          <a:blip r:embed="rId2"/>
          <a:stretch/>
        </p:blipFill>
        <p:spPr>
          <a:xfrm>
            <a:off x="1746360" y="2423160"/>
            <a:ext cx="1087920" cy="1087920"/>
          </a:xfrm>
          <a:prstGeom prst="rect">
            <a:avLst/>
          </a:prstGeom>
          <a:noFill/>
          <a:ln w="0">
            <a:noFill/>
          </a:ln>
        </p:spPr>
      </p:pic>
      <p:sp>
        <p:nvSpPr>
          <p:cNvPr id="61" name="Text 5"/>
          <p:cNvSpPr/>
          <p:nvPr/>
        </p:nvSpPr>
        <p:spPr>
          <a:xfrm>
            <a:off x="640080" y="3977640"/>
            <a:ext cx="3291480" cy="17370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700" b="1" u="none" strike="noStrike">
                <a:solidFill>
                  <a:srgbClr val="FFFFFF"/>
                </a:solidFill>
                <a:effectLst/>
                <a:uFillTx/>
                <a:latin typeface="Calibri"/>
                <a:ea typeface="Calibri"/>
              </a:rPr>
              <a:t>A label,</a:t>
            </a:r>
            <a:endParaRPr lang="en-US" sz="1700" b="0" u="none" strike="noStrike">
              <a:solidFill>
                <a:srgbClr val="FFFFFF"/>
              </a:solidFill>
              <a:effectLst/>
              <a:uFillTx/>
              <a:latin typeface="Arial"/>
            </a:endParaRPr>
          </a:p>
          <a:p>
            <a:pPr algn="ctr" defTabSz="914400">
              <a:lnSpc>
                <a:spcPct val="100000"/>
              </a:lnSpc>
              <a:tabLst>
                <a:tab pos="0" algn="l"/>
              </a:tabLst>
            </a:pPr>
            <a:r>
              <a:rPr lang="en-US" sz="1700" b="1" u="none" strike="noStrike">
                <a:solidFill>
                  <a:srgbClr val="FFFFFF"/>
                </a:solidFill>
                <a:effectLst/>
                <a:uFillTx/>
                <a:latin typeface="Calibri"/>
                <a:ea typeface="Calibri"/>
              </a:rPr>
              <a:t>not a</a:t>
            </a:r>
            <a:endParaRPr lang="en-US" sz="1700" b="0" u="none" strike="noStrike">
              <a:solidFill>
                <a:srgbClr val="FFFFFF"/>
              </a:solidFill>
              <a:effectLst/>
              <a:uFillTx/>
              <a:latin typeface="Arial"/>
            </a:endParaRPr>
          </a:p>
          <a:p>
            <a:pPr algn="ctr" defTabSz="914400">
              <a:lnSpc>
                <a:spcPct val="100000"/>
              </a:lnSpc>
              <a:tabLst>
                <a:tab pos="0" algn="l"/>
              </a:tabLst>
            </a:pPr>
            <a:r>
              <a:rPr lang="en-US" sz="1700" b="1" u="none" strike="noStrike">
                <a:solidFill>
                  <a:srgbClr val="FFFFFF"/>
                </a:solidFill>
                <a:effectLst/>
                <a:uFillTx/>
                <a:latin typeface="Calibri"/>
                <a:ea typeface="Calibri"/>
              </a:rPr>
              <a:t>copy</a:t>
            </a:r>
            <a:endParaRPr lang="en-US" sz="1700" b="0" u="none" strike="noStrike">
              <a:solidFill>
                <a:srgbClr val="FFFFFF"/>
              </a:solidFill>
              <a:effectLst/>
              <a:uFillTx/>
              <a:latin typeface="Arial"/>
            </a:endParaRPr>
          </a:p>
        </p:txBody>
      </p:sp>
      <p:sp>
        <p:nvSpPr>
          <p:cNvPr id="62" name="Text 6"/>
          <p:cNvSpPr/>
          <p:nvPr/>
        </p:nvSpPr>
        <p:spPr>
          <a:xfrm>
            <a:off x="4572000" y="1737360"/>
            <a:ext cx="7131960" cy="411444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A branch is simply a movable pointer to one specific commit — nothing is duplicated, and nothing is copied when you create one</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main is just the conventional name for your primary branch — there’s nothing structurally special about it to Git itself</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Creating a new branch costs almost nothing — it’s just a new, tiny pointer, which is exactly why Git branches are cheap enough to create constantly</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This is the single most important mental model in this entire deck — everything about merging, rebasing, and conflicts builds directly on it</a:t>
            </a:r>
            <a:endParaRPr lang="en-US" sz="1600" b="0" u="none" strike="noStrike">
              <a:solidFill>
                <a:srgbClr val="FFFFFF"/>
              </a:solidFill>
              <a:effectLst/>
              <a:uFillTx/>
              <a:latin typeface="Arial"/>
            </a:endParaRPr>
          </a:p>
        </p:txBody>
      </p:sp>
      <p:sp>
        <p:nvSpPr>
          <p:cNvPr id="63" name="Text 7"/>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64" name="Text 8"/>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4</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65"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6" name="Image 0" descr="preencoded.png"/>
          <p:cNvPicPr/>
          <p:nvPr/>
        </p:nvPicPr>
        <p:blipFill>
          <a:blip r:embed="rId1"/>
          <a:stretch/>
        </p:blipFill>
        <p:spPr>
          <a:xfrm>
            <a:off x="548640" y="548640"/>
            <a:ext cx="447840" cy="447840"/>
          </a:xfrm>
          <a:prstGeom prst="rect">
            <a:avLst/>
          </a:prstGeom>
          <a:noFill/>
          <a:ln w="0">
            <a:noFill/>
          </a:ln>
        </p:spPr>
      </p:pic>
      <p:sp>
        <p:nvSpPr>
          <p:cNvPr id="67"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A Branch Is Just a Movable Pointer</a:t>
            </a:r>
            <a:endParaRPr lang="en-US" sz="2500" b="0" u="none" strike="noStrike">
              <a:solidFill>
                <a:srgbClr val="FFFFFF"/>
              </a:solidFill>
              <a:effectLst/>
              <a:uFillTx/>
              <a:latin typeface="Arial"/>
            </a:endParaRPr>
          </a:p>
        </p:txBody>
      </p:sp>
      <p:sp>
        <p:nvSpPr>
          <p:cNvPr id="68"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69" name="Shape 3"/>
          <p:cNvSpPr/>
          <p:nvPr/>
        </p:nvSpPr>
        <p:spPr>
          <a:xfrm>
            <a:off x="1554480" y="2743200"/>
            <a:ext cx="3474720" cy="360"/>
          </a:xfrm>
          <a:prstGeom prst="line">
            <a:avLst/>
          </a:prstGeom>
          <a:ln w="31750">
            <a:solidFill>
              <a:srgbClr val="F05133"/>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70" name="Shape 4"/>
          <p:cNvSpPr/>
          <p:nvPr/>
        </p:nvSpPr>
        <p:spPr>
          <a:xfrm>
            <a:off x="3291840" y="2743200"/>
            <a:ext cx="2194560" cy="1920240"/>
          </a:xfrm>
          <a:prstGeom prst="line">
            <a:avLst/>
          </a:prstGeom>
          <a:ln w="31750">
            <a:solidFill>
              <a:srgbClr val="58A6FF"/>
            </a:solidFill>
            <a:roun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71" name="Shape 5"/>
          <p:cNvSpPr/>
          <p:nvPr/>
        </p:nvSpPr>
        <p:spPr>
          <a:xfrm>
            <a:off x="5486400" y="4663440"/>
            <a:ext cx="3474720" cy="360"/>
          </a:xfrm>
          <a:prstGeom prst="line">
            <a:avLst/>
          </a:prstGeom>
          <a:ln w="31750">
            <a:solidFill>
              <a:srgbClr val="58A6FF"/>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72" name="Shape 6"/>
          <p:cNvSpPr/>
          <p:nvPr/>
        </p:nvSpPr>
        <p:spPr>
          <a:xfrm>
            <a:off x="1298520" y="2487240"/>
            <a:ext cx="511560" cy="511560"/>
          </a:xfrm>
          <a:prstGeom prst="ellipse">
            <a:avLst/>
          </a:prstGeom>
          <a:solidFill>
            <a:srgbClr val="F05133"/>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3" name="Text 7"/>
          <p:cNvSpPr/>
          <p:nvPr/>
        </p:nvSpPr>
        <p:spPr>
          <a:xfrm>
            <a:off x="1298520" y="248724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74" name="Shape 8"/>
          <p:cNvSpPr/>
          <p:nvPr/>
        </p:nvSpPr>
        <p:spPr>
          <a:xfrm>
            <a:off x="3035880" y="2487240"/>
            <a:ext cx="511560" cy="511560"/>
          </a:xfrm>
          <a:prstGeom prst="ellipse">
            <a:avLst/>
          </a:prstGeom>
          <a:solidFill>
            <a:srgbClr val="F05133"/>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5" name="Text 9"/>
          <p:cNvSpPr/>
          <p:nvPr/>
        </p:nvSpPr>
        <p:spPr>
          <a:xfrm>
            <a:off x="3035880" y="248724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76" name="Shape 10"/>
          <p:cNvSpPr/>
          <p:nvPr/>
        </p:nvSpPr>
        <p:spPr>
          <a:xfrm>
            <a:off x="4773240" y="2487240"/>
            <a:ext cx="511560" cy="511560"/>
          </a:xfrm>
          <a:prstGeom prst="ellipse">
            <a:avLst/>
          </a:prstGeom>
          <a:solidFill>
            <a:srgbClr val="F05133"/>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7" name="Text 11"/>
          <p:cNvSpPr/>
          <p:nvPr/>
        </p:nvSpPr>
        <p:spPr>
          <a:xfrm>
            <a:off x="4773240" y="248724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78" name="Shape 12"/>
          <p:cNvSpPr/>
          <p:nvPr/>
        </p:nvSpPr>
        <p:spPr>
          <a:xfrm>
            <a:off x="5230440" y="4407480"/>
            <a:ext cx="511560" cy="511560"/>
          </a:xfrm>
          <a:prstGeom prst="ellipse">
            <a:avLst/>
          </a:prstGeom>
          <a:solidFill>
            <a:srgbClr val="58A6FF"/>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9" name="Text 13"/>
          <p:cNvSpPr/>
          <p:nvPr/>
        </p:nvSpPr>
        <p:spPr>
          <a:xfrm>
            <a:off x="5230440" y="44074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80" name="Shape 14"/>
          <p:cNvSpPr/>
          <p:nvPr/>
        </p:nvSpPr>
        <p:spPr>
          <a:xfrm>
            <a:off x="6967800" y="4407480"/>
            <a:ext cx="511560" cy="511560"/>
          </a:xfrm>
          <a:prstGeom prst="ellipse">
            <a:avLst/>
          </a:prstGeom>
          <a:solidFill>
            <a:srgbClr val="58A6FF"/>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1" name="Text 15"/>
          <p:cNvSpPr/>
          <p:nvPr/>
        </p:nvSpPr>
        <p:spPr>
          <a:xfrm>
            <a:off x="6967800" y="44074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82" name="Shape 16"/>
          <p:cNvSpPr/>
          <p:nvPr/>
        </p:nvSpPr>
        <p:spPr>
          <a:xfrm>
            <a:off x="8705160" y="4407480"/>
            <a:ext cx="511560" cy="511560"/>
          </a:xfrm>
          <a:prstGeom prst="ellipse">
            <a:avLst/>
          </a:prstGeom>
          <a:solidFill>
            <a:srgbClr val="58A6FF"/>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 name="Text 17"/>
          <p:cNvSpPr/>
          <p:nvPr/>
        </p:nvSpPr>
        <p:spPr>
          <a:xfrm>
            <a:off x="8705160" y="44074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84" name="Shape 18"/>
          <p:cNvSpPr/>
          <p:nvPr/>
        </p:nvSpPr>
        <p:spPr>
          <a:xfrm>
            <a:off x="4617720" y="2057400"/>
            <a:ext cx="822600" cy="365400"/>
          </a:xfrm>
          <a:prstGeom prst="roundRect">
            <a:avLst>
              <a:gd name="adj" fmla="val 15000"/>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5" name="Text 19"/>
          <p:cNvSpPr/>
          <p:nvPr/>
        </p:nvSpPr>
        <p:spPr>
          <a:xfrm>
            <a:off x="4617720" y="2057400"/>
            <a:ext cx="8226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ntarell"/>
                <a:ea typeface="Consolas"/>
              </a:rPr>
              <a:t>main</a:t>
            </a:r>
            <a:endParaRPr lang="en-US" sz="1100" b="0" u="none" strike="noStrike">
              <a:solidFill>
                <a:srgbClr val="FFFFFF"/>
              </a:solidFill>
              <a:effectLst/>
              <a:uFillTx/>
              <a:latin typeface="Cantarell"/>
            </a:endParaRPr>
          </a:p>
        </p:txBody>
      </p:sp>
      <p:sp>
        <p:nvSpPr>
          <p:cNvPr id="86" name="Shape 20"/>
          <p:cNvSpPr/>
          <p:nvPr/>
        </p:nvSpPr>
        <p:spPr>
          <a:xfrm>
            <a:off x="5029200" y="2423160"/>
            <a:ext cx="360" cy="320040"/>
          </a:xfrm>
          <a:prstGeom prst="line">
            <a:avLst/>
          </a:prstGeom>
          <a:ln w="31750">
            <a:solidFill>
              <a:srgbClr val="F05133"/>
            </a:solidFill>
            <a:roun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87" name="Shape 21"/>
          <p:cNvSpPr/>
          <p:nvPr/>
        </p:nvSpPr>
        <p:spPr>
          <a:xfrm>
            <a:off x="8471880" y="4983480"/>
            <a:ext cx="978120" cy="365400"/>
          </a:xfrm>
          <a:prstGeom prst="roundRect">
            <a:avLst>
              <a:gd name="adj" fmla="val 15000"/>
            </a:avLst>
          </a:prstGeom>
          <a:solidFill>
            <a:srgbClr val="58A6F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 name="Text 22"/>
          <p:cNvSpPr/>
          <p:nvPr/>
        </p:nvSpPr>
        <p:spPr>
          <a:xfrm>
            <a:off x="8471880" y="4983480"/>
            <a:ext cx="9781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ntarell"/>
                <a:ea typeface="Consolas"/>
              </a:rPr>
              <a:t>feature</a:t>
            </a:r>
            <a:endParaRPr lang="en-US" sz="1100" b="0" u="none" strike="noStrike">
              <a:solidFill>
                <a:srgbClr val="FFFFFF"/>
              </a:solidFill>
              <a:effectLst/>
              <a:uFillTx/>
              <a:latin typeface="Cantarell"/>
            </a:endParaRPr>
          </a:p>
        </p:txBody>
      </p:sp>
      <p:sp>
        <p:nvSpPr>
          <p:cNvPr id="89" name="Shape 23"/>
          <p:cNvSpPr/>
          <p:nvPr/>
        </p:nvSpPr>
        <p:spPr>
          <a:xfrm flipV="1">
            <a:off x="8961120" y="4663440"/>
            <a:ext cx="360" cy="320040"/>
          </a:xfrm>
          <a:prstGeom prst="line">
            <a:avLst/>
          </a:prstGeom>
          <a:ln w="31750">
            <a:solidFill>
              <a:srgbClr val="58A6FF"/>
            </a:solidFill>
            <a:roun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90" name="Shape 24"/>
          <p:cNvSpPr/>
          <p:nvPr/>
        </p:nvSpPr>
        <p:spPr>
          <a:xfrm>
            <a:off x="8595360" y="3246120"/>
            <a:ext cx="731160" cy="365400"/>
          </a:xfrm>
          <a:prstGeom prst="roundRect">
            <a:avLst>
              <a:gd name="adj" fmla="val 15000"/>
            </a:avLst>
          </a:prstGeom>
          <a:solidFill>
            <a:srgbClr val="1C2128"/>
          </a:solidFill>
          <a:ln w="15875">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1" name="Text 25"/>
          <p:cNvSpPr/>
          <p:nvPr/>
        </p:nvSpPr>
        <p:spPr>
          <a:xfrm>
            <a:off x="8595360" y="3246120"/>
            <a:ext cx="73116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ntarell"/>
                <a:ea typeface="Consolas"/>
              </a:rPr>
              <a:t>HEAD</a:t>
            </a:r>
            <a:endParaRPr lang="en-US" sz="1100" b="0" u="none" strike="noStrike">
              <a:solidFill>
                <a:srgbClr val="FFFFFF"/>
              </a:solidFill>
              <a:effectLst/>
              <a:uFillTx/>
              <a:latin typeface="Cantarell"/>
            </a:endParaRPr>
          </a:p>
        </p:txBody>
      </p:sp>
      <p:sp>
        <p:nvSpPr>
          <p:cNvPr id="92" name="Shape 26"/>
          <p:cNvSpPr/>
          <p:nvPr/>
        </p:nvSpPr>
        <p:spPr>
          <a:xfrm flipV="1">
            <a:off x="8961120" y="1651680"/>
            <a:ext cx="360" cy="1600200"/>
          </a:xfrm>
          <a:prstGeom prst="line">
            <a:avLst/>
          </a:prstGeom>
          <a:ln w="31750">
            <a:solidFill>
              <a:srgbClr val="FFFFFF"/>
            </a:solidFill>
            <a:roun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93" name="Shape 27"/>
          <p:cNvSpPr/>
          <p:nvPr/>
        </p:nvSpPr>
        <p:spPr>
          <a:xfrm>
            <a:off x="731520" y="5715000"/>
            <a:ext cx="10725480" cy="776880"/>
          </a:xfrm>
          <a:prstGeom prst="roundRect">
            <a:avLst>
              <a:gd name="adj" fmla="val 11765"/>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4" name="Text 28"/>
          <p:cNvSpPr/>
          <p:nvPr/>
        </p:nvSpPr>
        <p:spPr>
          <a:xfrm>
            <a:off x="1005840" y="5715000"/>
            <a:ext cx="1017684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7A788"/>
                </a:solidFill>
                <a:effectLst/>
                <a:uFillTx/>
                <a:latin typeface="Calibri"/>
                <a:ea typeface="Calibri"/>
              </a:rPr>
              <a:t>main</a:t>
            </a:r>
            <a:r>
              <a:rPr lang="en-US" sz="1200" b="0" u="none" strike="noStrike">
                <a:solidFill>
                  <a:srgbClr val="C9D1D9"/>
                </a:solidFill>
                <a:effectLst/>
                <a:uFillTx/>
                <a:latin typeface="Calibri"/>
                <a:ea typeface="Calibri"/>
              </a:rPr>
              <a:t> and </a:t>
            </a:r>
            <a:r>
              <a:rPr lang="en-US" sz="1200" b="1" u="none" strike="noStrike">
                <a:solidFill>
                  <a:srgbClr val="58A6FF"/>
                </a:solidFill>
                <a:effectLst/>
                <a:uFillTx/>
                <a:latin typeface="Calibri"/>
                <a:ea typeface="Calibri"/>
              </a:rPr>
              <a:t>feature</a:t>
            </a:r>
            <a:r>
              <a:rPr lang="en-US" sz="1200" b="0" u="none" strike="noStrike">
                <a:solidFill>
                  <a:srgbClr val="C9D1D9"/>
                </a:solidFill>
                <a:effectLst/>
                <a:uFillTx/>
                <a:latin typeface="Calibri"/>
                <a:ea typeface="Calibri"/>
              </a:rPr>
              <a:t> are nothing more than labels pointing at a commit. HEAD tracks whichever one you’re currently on — switching branches just moves HEAD to a different label.</a:t>
            </a:r>
            <a:endParaRPr lang="en-US" sz="1200" b="0" u="none" strike="noStrike">
              <a:solidFill>
                <a:srgbClr val="FFFFFF"/>
              </a:solidFill>
              <a:effectLst/>
              <a:uFillTx/>
              <a:latin typeface="Arial"/>
            </a:endParaRPr>
          </a:p>
        </p:txBody>
      </p:sp>
      <p:sp>
        <p:nvSpPr>
          <p:cNvPr id="95" name="Text 29"/>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96" name="Text 30"/>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5</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97"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98" name="Image 0" descr="preencoded.png"/>
          <p:cNvPicPr/>
          <p:nvPr/>
        </p:nvPicPr>
        <p:blipFill>
          <a:blip r:embed="rId1"/>
          <a:stretch/>
        </p:blipFill>
        <p:spPr>
          <a:xfrm>
            <a:off x="548640" y="548640"/>
            <a:ext cx="447840" cy="447840"/>
          </a:xfrm>
          <a:prstGeom prst="rect">
            <a:avLst/>
          </a:prstGeom>
          <a:noFill/>
          <a:ln w="0">
            <a:noFill/>
          </a:ln>
        </p:spPr>
      </p:pic>
      <p:sp>
        <p:nvSpPr>
          <p:cNvPr id="99"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Creating and Switching Branches</a:t>
            </a:r>
            <a:endParaRPr lang="en-US" sz="2500" b="0" u="none" strike="noStrike">
              <a:solidFill>
                <a:srgbClr val="FFFFFF"/>
              </a:solidFill>
              <a:effectLst/>
              <a:uFillTx/>
              <a:latin typeface="Arial"/>
            </a:endParaRPr>
          </a:p>
        </p:txBody>
      </p:sp>
      <p:sp>
        <p:nvSpPr>
          <p:cNvPr id="100"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01" name="Text 3"/>
          <p:cNvSpPr/>
          <p:nvPr/>
        </p:nvSpPr>
        <p:spPr>
          <a:xfrm>
            <a:off x="548640" y="1828800"/>
            <a:ext cx="4754520" cy="40230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git branch &lt;name&gt; creates a new branch pointer at your current commit, but doesn’t move you onto it</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git switch &lt;name&gt; moves you onto an existing branch — git switch -c &lt;name&gt; creates and switches in one step</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The older git checkout -b &lt;name&gt; does the exact same thing as switch -c — you’ll see both in real projects and tutorials</a:t>
            </a:r>
            <a:endParaRPr lang="en-US" sz="1350" b="0" u="none" strike="noStrike">
              <a:solidFill>
                <a:srgbClr val="FFFFFF"/>
              </a:solidFill>
              <a:effectLst/>
              <a:uFillTx/>
              <a:latin typeface="Arial"/>
            </a:endParaRPr>
          </a:p>
        </p:txBody>
      </p:sp>
      <p:sp>
        <p:nvSpPr>
          <p:cNvPr id="102" name="Shape 4"/>
          <p:cNvSpPr/>
          <p:nvPr/>
        </p:nvSpPr>
        <p:spPr>
          <a:xfrm>
            <a:off x="5486400" y="1691640"/>
            <a:ext cx="6217560" cy="4343040"/>
          </a:xfrm>
          <a:prstGeom prst="roundRect">
            <a:avLst>
              <a:gd name="adj" fmla="val 2105"/>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3" name="Text 5"/>
          <p:cNvSpPr/>
          <p:nvPr/>
        </p:nvSpPr>
        <p:spPr>
          <a:xfrm>
            <a:off x="5806440" y="1965960"/>
            <a:ext cx="5577480" cy="3794400"/>
          </a:xfrm>
          <a:prstGeom prst="rect">
            <a:avLst/>
          </a:prstGeom>
          <a:noFill/>
          <a:ln w="0">
            <a:noFill/>
          </a:ln>
        </p:spPr>
        <p:style>
          <a:lnRef idx="0"/>
          <a:fillRef idx="0"/>
          <a:effectRef idx="0"/>
          <a:fontRef idx="minor"/>
        </p:style>
        <p:txBody>
          <a:bodyPr lIns="0" tIns="0" rIns="0" bIns="0" anchor="t">
            <a:noAutofit/>
          </a:bodyPr>
          <a:p>
            <a:pPr defTabSz="914400">
              <a:lnSpc>
                <a:spcPct val="125000"/>
              </a:lnSpc>
              <a:tabLst>
                <a:tab pos="0" algn="l"/>
              </a:tabLst>
            </a:pPr>
            <a:r>
              <a:rPr lang="en-US" sz="1250" b="0" u="none" strike="noStrike">
                <a:solidFill>
                  <a:srgbClr val="C9D1D9"/>
                </a:solidFill>
                <a:effectLst/>
                <a:uFillTx/>
                <a:latin typeface="Cantarell"/>
                <a:ea typeface="Consolas"/>
              </a:rPr>
              <a:t>$ git branch feature-login     </a:t>
            </a:r>
            <a:r>
              <a:rPr lang="en-US" sz="1250" b="0" u="none" strike="noStrike">
                <a:solidFill>
                  <a:srgbClr val="8B949E"/>
                </a:solidFill>
                <a:effectLst/>
                <a:uFillTx/>
                <a:latin typeface="Cantarell"/>
                <a:ea typeface="Consolas"/>
              </a:rPr>
              <a:t>  # create, but stay on current branch</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switch feature-login     </a:t>
            </a:r>
            <a:r>
              <a:rPr lang="en-US" sz="1250" b="0" u="none" strike="noStrike">
                <a:solidFill>
                  <a:srgbClr val="8B949E"/>
                </a:solidFill>
                <a:effectLst/>
                <a:uFillTx/>
                <a:latin typeface="Cantarell"/>
                <a:ea typeface="Consolas"/>
              </a:rPr>
              <a:t>  # move onto it</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switch -c feature-signup </a:t>
            </a:r>
            <a:r>
              <a:rPr lang="en-US" sz="1250" b="0" u="none" strike="noStrike">
                <a:solidFill>
                  <a:srgbClr val="8B949E"/>
                </a:solidFill>
                <a:effectLst/>
                <a:uFillTx/>
                <a:latin typeface="Cantarell"/>
                <a:ea typeface="Consolas"/>
              </a:rPr>
              <a:t>  # create AND switch, in one step</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checkout -b feature-signup # the older, equivalent syntax</a:t>
            </a:r>
            <a:endParaRPr lang="en-US" sz="1250" b="0" u="none" strike="noStrike">
              <a:solidFill>
                <a:srgbClr val="FFFFFF"/>
              </a:solidFill>
              <a:effectLst/>
              <a:uFillTx/>
              <a:latin typeface="Cantarell"/>
            </a:endParaRPr>
          </a:p>
        </p:txBody>
      </p:sp>
      <p:sp>
        <p:nvSpPr>
          <p:cNvPr id="104" name="Text 6"/>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105" name="Text 7"/>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6</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106"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7" name="Image 0" descr="preencoded.png"/>
          <p:cNvPicPr/>
          <p:nvPr/>
        </p:nvPicPr>
        <p:blipFill>
          <a:blip r:embed="rId1"/>
          <a:stretch/>
        </p:blipFill>
        <p:spPr>
          <a:xfrm>
            <a:off x="548640" y="548640"/>
            <a:ext cx="447840" cy="447840"/>
          </a:xfrm>
          <a:prstGeom prst="rect">
            <a:avLst/>
          </a:prstGeom>
          <a:noFill/>
          <a:ln w="0">
            <a:noFill/>
          </a:ln>
        </p:spPr>
      </p:pic>
      <p:sp>
        <p:nvSpPr>
          <p:cNvPr id="108"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Listing, Renaming, and Deleting Branches</a:t>
            </a:r>
            <a:endParaRPr lang="en-US" sz="2500" b="0" u="none" strike="noStrike">
              <a:solidFill>
                <a:srgbClr val="FFFFFF"/>
              </a:solidFill>
              <a:effectLst/>
              <a:uFillTx/>
              <a:latin typeface="Arial"/>
            </a:endParaRPr>
          </a:p>
        </p:txBody>
      </p:sp>
      <p:sp>
        <p:nvSpPr>
          <p:cNvPr id="109"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10" name="Text 3"/>
          <p:cNvSpPr/>
          <p:nvPr/>
        </p:nvSpPr>
        <p:spPr>
          <a:xfrm>
            <a:off x="548640" y="1828800"/>
            <a:ext cx="4754520" cy="40230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git branch with no arguments lists every local branch, and marks your current one with an asterisk</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-d deletes a branch safely — Git refuses if it has unmerged work, protecting you from losing commits by accident</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-D forces the deletion regardless — only use it when you’re certain that work is no longer needed</a:t>
            </a:r>
            <a:endParaRPr lang="en-US" sz="1350" b="0" u="none" strike="noStrike">
              <a:solidFill>
                <a:srgbClr val="FFFFFF"/>
              </a:solidFill>
              <a:effectLst/>
              <a:uFillTx/>
              <a:latin typeface="Arial"/>
            </a:endParaRPr>
          </a:p>
        </p:txBody>
      </p:sp>
      <p:sp>
        <p:nvSpPr>
          <p:cNvPr id="111" name="Shape 4"/>
          <p:cNvSpPr/>
          <p:nvPr/>
        </p:nvSpPr>
        <p:spPr>
          <a:xfrm>
            <a:off x="5486400" y="1691640"/>
            <a:ext cx="6217560" cy="4343040"/>
          </a:xfrm>
          <a:prstGeom prst="roundRect">
            <a:avLst>
              <a:gd name="adj" fmla="val 2105"/>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2" name="Text 5"/>
          <p:cNvSpPr/>
          <p:nvPr/>
        </p:nvSpPr>
        <p:spPr>
          <a:xfrm>
            <a:off x="5806440" y="1965960"/>
            <a:ext cx="5577480" cy="3794400"/>
          </a:xfrm>
          <a:prstGeom prst="rect">
            <a:avLst/>
          </a:prstGeom>
          <a:noFill/>
          <a:ln w="0">
            <a:noFill/>
          </a:ln>
        </p:spPr>
        <p:style>
          <a:lnRef idx="0"/>
          <a:fillRef idx="0"/>
          <a:effectRef idx="0"/>
          <a:fontRef idx="minor"/>
        </p:style>
        <p:txBody>
          <a:bodyPr lIns="0" tIns="0" rIns="0" bIns="0" anchor="t">
            <a:noAutofit/>
          </a:bodyPr>
          <a:p>
            <a:pPr defTabSz="914400">
              <a:lnSpc>
                <a:spcPct val="125000"/>
              </a:lnSpc>
              <a:tabLst>
                <a:tab pos="0" algn="l"/>
              </a:tabLst>
            </a:pPr>
            <a:r>
              <a:rPr lang="en-US" sz="1250" b="0" u="none" strike="noStrike">
                <a:solidFill>
                  <a:srgbClr val="C9D1D9"/>
                </a:solidFill>
                <a:effectLst/>
                <a:uFillTx/>
                <a:latin typeface="Cantarell"/>
                <a:ea typeface="Consolas"/>
              </a:rPr>
              <a:t>$ git branch</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feature-login</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main</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branch -m old-name new-name  </a:t>
            </a:r>
            <a:r>
              <a:rPr lang="en-US" sz="1250" b="0" u="none" strike="noStrike">
                <a:solidFill>
                  <a:srgbClr val="8B949E"/>
                </a:solidFill>
                <a:effectLst/>
                <a:uFillTx/>
                <a:latin typeface="Cantarell"/>
                <a:ea typeface="Consolas"/>
              </a:rPr>
              <a:t>  # rename a branch</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branch -d feature-login      </a:t>
            </a:r>
            <a:r>
              <a:rPr lang="en-US" sz="1250" b="0" u="none" strike="noStrike">
                <a:solidFill>
                  <a:srgbClr val="8B949E"/>
                </a:solidFill>
                <a:effectLst/>
                <a:uFillTx/>
                <a:latin typeface="Cantarell"/>
                <a:ea typeface="Consolas"/>
              </a:rPr>
              <a:t>  # safe delete — blocks if unmerged</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branch -D feature-login      </a:t>
            </a:r>
            <a:r>
              <a:rPr lang="en-US" sz="1250" b="0" u="none" strike="noStrike">
                <a:solidFill>
                  <a:srgbClr val="8B949E"/>
                </a:solidFill>
                <a:effectLst/>
                <a:uFillTx/>
                <a:latin typeface="Cantarell"/>
                <a:ea typeface="Consolas"/>
              </a:rPr>
              <a:t>  # force delete — use with care</a:t>
            </a:r>
            <a:endParaRPr lang="en-US" sz="1250" b="0" u="none" strike="noStrike">
              <a:solidFill>
                <a:srgbClr val="FFFFFF"/>
              </a:solidFill>
              <a:effectLst/>
              <a:uFillTx/>
              <a:latin typeface="Cantarell"/>
            </a:endParaRPr>
          </a:p>
        </p:txBody>
      </p:sp>
      <p:sp>
        <p:nvSpPr>
          <p:cNvPr id="113" name="Text 6"/>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114" name="Text 7"/>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7</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115"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16" name="Image 0" descr="preencoded.png"/>
          <p:cNvPicPr/>
          <p:nvPr/>
        </p:nvPicPr>
        <p:blipFill>
          <a:blip r:embed="rId1"/>
          <a:stretch/>
        </p:blipFill>
        <p:spPr>
          <a:xfrm>
            <a:off x="548640" y="548640"/>
            <a:ext cx="447840" cy="447840"/>
          </a:xfrm>
          <a:prstGeom prst="rect">
            <a:avLst/>
          </a:prstGeom>
          <a:noFill/>
          <a:ln w="0">
            <a:noFill/>
          </a:ln>
        </p:spPr>
      </p:pic>
      <p:sp>
        <p:nvSpPr>
          <p:cNvPr id="117"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Fast-Forward Merge</a:t>
            </a:r>
            <a:endParaRPr lang="en-US" sz="2500" b="0" u="none" strike="noStrike">
              <a:solidFill>
                <a:srgbClr val="FFFFFF"/>
              </a:solidFill>
              <a:effectLst/>
              <a:uFillTx/>
              <a:latin typeface="Arial"/>
            </a:endParaRPr>
          </a:p>
        </p:txBody>
      </p:sp>
      <p:sp>
        <p:nvSpPr>
          <p:cNvPr id="118"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19" name="Text 3"/>
          <p:cNvSpPr/>
          <p:nvPr/>
        </p:nvSpPr>
        <p:spPr>
          <a:xfrm>
            <a:off x="548640" y="1828800"/>
            <a:ext cx="4754520" cy="40230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git merge &lt;branch&gt; brings another branch’s changes into your current branch</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If your current branch hasn’t moved at all since the other branch diverged, Git can do a fast-forward — it just slides your branch pointer forward to match</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No new commit is created in a fast-forward merge — history stays perfectly linear, as if the feature work had just happened directly on main</a:t>
            </a:r>
            <a:endParaRPr lang="en-US" sz="1350" b="0" u="none" strike="noStrike">
              <a:solidFill>
                <a:srgbClr val="FFFFFF"/>
              </a:solidFill>
              <a:effectLst/>
              <a:uFillTx/>
              <a:latin typeface="Arial"/>
            </a:endParaRPr>
          </a:p>
        </p:txBody>
      </p:sp>
      <p:sp>
        <p:nvSpPr>
          <p:cNvPr id="120" name="Shape 4"/>
          <p:cNvSpPr/>
          <p:nvPr/>
        </p:nvSpPr>
        <p:spPr>
          <a:xfrm>
            <a:off x="5486400" y="1691640"/>
            <a:ext cx="6217560" cy="4343040"/>
          </a:xfrm>
          <a:prstGeom prst="roundRect">
            <a:avLst>
              <a:gd name="adj" fmla="val 2105"/>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1" name="Text 5"/>
          <p:cNvSpPr/>
          <p:nvPr/>
        </p:nvSpPr>
        <p:spPr>
          <a:xfrm>
            <a:off x="5806440" y="1965960"/>
            <a:ext cx="5577480" cy="3794400"/>
          </a:xfrm>
          <a:prstGeom prst="rect">
            <a:avLst/>
          </a:prstGeom>
          <a:noFill/>
          <a:ln w="0">
            <a:noFill/>
          </a:ln>
        </p:spPr>
        <p:style>
          <a:lnRef idx="0"/>
          <a:fillRef idx="0"/>
          <a:effectRef idx="0"/>
          <a:fontRef idx="minor"/>
        </p:style>
        <p:txBody>
          <a:bodyPr lIns="0" tIns="0" rIns="0" bIns="0" anchor="t">
            <a:noAutofit/>
          </a:bodyPr>
          <a:p>
            <a:pPr defTabSz="914400">
              <a:lnSpc>
                <a:spcPct val="125000"/>
              </a:lnSpc>
              <a:tabLst>
                <a:tab pos="0" algn="l"/>
              </a:tabLst>
            </a:pPr>
            <a:r>
              <a:rPr lang="en-US" sz="1250" b="0" u="none" strike="noStrike">
                <a:solidFill>
                  <a:srgbClr val="C9D1D9"/>
                </a:solidFill>
                <a:effectLst/>
                <a:uFillTx/>
                <a:latin typeface="Cantarell"/>
                <a:ea typeface="Consolas"/>
              </a:rPr>
              <a:t>$ git switch main</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merge feature-login</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Updating a1b2c3d..e5f6a7b</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Fast-forward</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main.py | 12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1 file changed, 12 insertions(+)</a:t>
            </a:r>
            <a:endParaRPr lang="en-US" sz="1250" b="0" u="none" strike="noStrike">
              <a:solidFill>
                <a:srgbClr val="FFFFFF"/>
              </a:solidFill>
              <a:effectLst/>
              <a:uFillTx/>
              <a:latin typeface="Cantarell"/>
            </a:endParaRPr>
          </a:p>
        </p:txBody>
      </p:sp>
      <p:sp>
        <p:nvSpPr>
          <p:cNvPr id="122" name="Text 6"/>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123" name="Text 7"/>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8</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124"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25" name="Image 0" descr="preencoded.png"/>
          <p:cNvPicPr/>
          <p:nvPr/>
        </p:nvPicPr>
        <p:blipFill>
          <a:blip r:embed="rId1"/>
          <a:stretch/>
        </p:blipFill>
        <p:spPr>
          <a:xfrm>
            <a:off x="548640" y="548640"/>
            <a:ext cx="447840" cy="447840"/>
          </a:xfrm>
          <a:prstGeom prst="rect">
            <a:avLst/>
          </a:prstGeom>
          <a:noFill/>
          <a:ln w="0">
            <a:noFill/>
          </a:ln>
        </p:spPr>
      </p:pic>
      <p:sp>
        <p:nvSpPr>
          <p:cNvPr id="126"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True (3-Way) Merge</a:t>
            </a:r>
            <a:endParaRPr lang="en-US" sz="2500" b="0" u="none" strike="noStrike">
              <a:solidFill>
                <a:srgbClr val="FFFFFF"/>
              </a:solidFill>
              <a:effectLst/>
              <a:uFillTx/>
              <a:latin typeface="Arial"/>
            </a:endParaRPr>
          </a:p>
        </p:txBody>
      </p:sp>
      <p:sp>
        <p:nvSpPr>
          <p:cNvPr id="127"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28" name="Text 3"/>
          <p:cNvSpPr/>
          <p:nvPr/>
        </p:nvSpPr>
        <p:spPr>
          <a:xfrm>
            <a:off x="548640" y="1828800"/>
            <a:ext cx="4754520" cy="40230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If BOTH branches have new commits since they diverged, Git can’t just slide a pointer — it needs to combine two genuinely different histories</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Git creates a new merge commit with two parents — one from each branch — that ties both histories back together</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This is called a "3-way" merge because Git compares three points: each branch tip, plus their common ancestor commit</a:t>
            </a:r>
            <a:endParaRPr lang="en-US" sz="1350" b="0" u="none" strike="noStrike">
              <a:solidFill>
                <a:srgbClr val="FFFFFF"/>
              </a:solidFill>
              <a:effectLst/>
              <a:uFillTx/>
              <a:latin typeface="Arial"/>
            </a:endParaRPr>
          </a:p>
        </p:txBody>
      </p:sp>
      <p:sp>
        <p:nvSpPr>
          <p:cNvPr id="129" name="Shape 4"/>
          <p:cNvSpPr/>
          <p:nvPr/>
        </p:nvSpPr>
        <p:spPr>
          <a:xfrm>
            <a:off x="5486400" y="1691640"/>
            <a:ext cx="6217560" cy="4343040"/>
          </a:xfrm>
          <a:prstGeom prst="roundRect">
            <a:avLst>
              <a:gd name="adj" fmla="val 2105"/>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0" name="Text 5"/>
          <p:cNvSpPr/>
          <p:nvPr/>
        </p:nvSpPr>
        <p:spPr>
          <a:xfrm>
            <a:off x="5806440" y="1965960"/>
            <a:ext cx="5577480" cy="3794400"/>
          </a:xfrm>
          <a:prstGeom prst="rect">
            <a:avLst/>
          </a:prstGeom>
          <a:noFill/>
          <a:ln w="0">
            <a:noFill/>
          </a:ln>
        </p:spPr>
        <p:style>
          <a:lnRef idx="0"/>
          <a:fillRef idx="0"/>
          <a:effectRef idx="0"/>
          <a:fontRef idx="minor"/>
        </p:style>
        <p:txBody>
          <a:bodyPr lIns="0" tIns="0" rIns="0" bIns="0" anchor="t">
            <a:noAutofit/>
          </a:bodyPr>
          <a:p>
            <a:pPr defTabSz="914400">
              <a:lnSpc>
                <a:spcPct val="125000"/>
              </a:lnSpc>
              <a:tabLst>
                <a:tab pos="0" algn="l"/>
              </a:tabLst>
            </a:pPr>
            <a:r>
              <a:rPr lang="en-US" sz="1250" b="0" u="none" strike="noStrike">
                <a:solidFill>
                  <a:srgbClr val="C9D1D9"/>
                </a:solidFill>
                <a:effectLst/>
                <a:uFillTx/>
                <a:latin typeface="Cantarell"/>
                <a:ea typeface="Consolas"/>
              </a:rPr>
              <a:t>$ git switch main</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merge feature-login</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Merge made by the 'ort' strategy.</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main.py | 12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1 file changed, 12 insertions(+)</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log --oneline --graph    </a:t>
            </a:r>
            <a:r>
              <a:rPr lang="en-US" sz="1250" b="0" u="none" strike="noStrike">
                <a:solidFill>
                  <a:srgbClr val="8B949E"/>
                </a:solidFill>
                <a:effectLst/>
                <a:uFillTx/>
                <a:latin typeface="Cantarell"/>
                <a:ea typeface="Consolas"/>
              </a:rPr>
              <a:t>  # see the merge commit and both parents</a:t>
            </a:r>
            <a:endParaRPr lang="en-US" sz="1250" b="0" u="none" strike="noStrike">
              <a:solidFill>
                <a:srgbClr val="FFFFFF"/>
              </a:solidFill>
              <a:effectLst/>
              <a:uFillTx/>
              <a:latin typeface="Cantarell"/>
            </a:endParaRPr>
          </a:p>
        </p:txBody>
      </p:sp>
      <p:sp>
        <p:nvSpPr>
          <p:cNvPr id="131" name="Text 6"/>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132" name="Text 7"/>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9</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133"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34" name="Image 0" descr="preencoded.png"/>
          <p:cNvPicPr/>
          <p:nvPr/>
        </p:nvPicPr>
        <p:blipFill>
          <a:blip r:embed="rId1"/>
          <a:stretch/>
        </p:blipFill>
        <p:spPr>
          <a:xfrm>
            <a:off x="548640" y="548640"/>
            <a:ext cx="447840" cy="447840"/>
          </a:xfrm>
          <a:prstGeom prst="rect">
            <a:avLst/>
          </a:prstGeom>
          <a:noFill/>
          <a:ln w="0">
            <a:noFill/>
          </a:ln>
        </p:spPr>
      </p:pic>
      <p:sp>
        <p:nvSpPr>
          <p:cNvPr id="135"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Fast-Forward vs. True (3-Way) Merge</a:t>
            </a:r>
            <a:endParaRPr lang="en-US" sz="2500" b="0" u="none" strike="noStrike">
              <a:solidFill>
                <a:srgbClr val="FFFFFF"/>
              </a:solidFill>
              <a:effectLst/>
              <a:uFillTx/>
              <a:latin typeface="Arial"/>
            </a:endParaRPr>
          </a:p>
        </p:txBody>
      </p:sp>
      <p:sp>
        <p:nvSpPr>
          <p:cNvPr id="136"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37" name="Text 3"/>
          <p:cNvSpPr/>
          <p:nvPr/>
        </p:nvSpPr>
        <p:spPr>
          <a:xfrm>
            <a:off x="731520" y="1463040"/>
            <a:ext cx="51202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Calibri"/>
                <a:ea typeface="Calibri"/>
              </a:rPr>
              <a:t>Fast-Forward Merge</a:t>
            </a:r>
            <a:endParaRPr lang="en-US" sz="1500" b="0" u="none" strike="noStrike">
              <a:solidFill>
                <a:srgbClr val="FFFFFF"/>
              </a:solidFill>
              <a:effectLst/>
              <a:uFillTx/>
              <a:latin typeface="Arial"/>
            </a:endParaRPr>
          </a:p>
        </p:txBody>
      </p:sp>
      <p:sp>
        <p:nvSpPr>
          <p:cNvPr id="138" name="Shape 4"/>
          <p:cNvSpPr/>
          <p:nvPr/>
        </p:nvSpPr>
        <p:spPr>
          <a:xfrm>
            <a:off x="1371600" y="2834640"/>
            <a:ext cx="3840480" cy="360"/>
          </a:xfrm>
          <a:prstGeom prst="line">
            <a:avLst/>
          </a:prstGeom>
          <a:ln w="31750">
            <a:solidFill>
              <a:srgbClr val="F05133"/>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39" name="Shape 5"/>
          <p:cNvSpPr/>
          <p:nvPr/>
        </p:nvSpPr>
        <p:spPr>
          <a:xfrm>
            <a:off x="1115640" y="2578680"/>
            <a:ext cx="511560" cy="511560"/>
          </a:xfrm>
          <a:prstGeom prst="ellipse">
            <a:avLst/>
          </a:prstGeom>
          <a:solidFill>
            <a:srgbClr val="F05133"/>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0" name="Text 6"/>
          <p:cNvSpPr/>
          <p:nvPr/>
        </p:nvSpPr>
        <p:spPr>
          <a:xfrm>
            <a:off x="1115640" y="25786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141" name="Shape 7"/>
          <p:cNvSpPr/>
          <p:nvPr/>
        </p:nvSpPr>
        <p:spPr>
          <a:xfrm>
            <a:off x="2487240" y="2578680"/>
            <a:ext cx="511560" cy="511560"/>
          </a:xfrm>
          <a:prstGeom prst="ellipse">
            <a:avLst/>
          </a:prstGeom>
          <a:solidFill>
            <a:srgbClr val="F05133"/>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2" name="Text 8"/>
          <p:cNvSpPr/>
          <p:nvPr/>
        </p:nvSpPr>
        <p:spPr>
          <a:xfrm>
            <a:off x="2487240" y="25786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143" name="Shape 9"/>
          <p:cNvSpPr/>
          <p:nvPr/>
        </p:nvSpPr>
        <p:spPr>
          <a:xfrm>
            <a:off x="3858840" y="2578680"/>
            <a:ext cx="511560" cy="511560"/>
          </a:xfrm>
          <a:prstGeom prst="ellipse">
            <a:avLst/>
          </a:prstGeom>
          <a:solidFill>
            <a:srgbClr val="F05133"/>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4" name="Text 10"/>
          <p:cNvSpPr/>
          <p:nvPr/>
        </p:nvSpPr>
        <p:spPr>
          <a:xfrm>
            <a:off x="3858840" y="25786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145" name="Shape 11"/>
          <p:cNvSpPr/>
          <p:nvPr/>
        </p:nvSpPr>
        <p:spPr>
          <a:xfrm>
            <a:off x="4956120" y="2578680"/>
            <a:ext cx="511560" cy="511560"/>
          </a:xfrm>
          <a:prstGeom prst="ellipse">
            <a:avLst/>
          </a:prstGeom>
          <a:solidFill>
            <a:srgbClr val="F05133"/>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6" name="Text 12"/>
          <p:cNvSpPr/>
          <p:nvPr/>
        </p:nvSpPr>
        <p:spPr>
          <a:xfrm>
            <a:off x="4956120" y="25786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147" name="Shape 13"/>
          <p:cNvSpPr/>
          <p:nvPr/>
        </p:nvSpPr>
        <p:spPr>
          <a:xfrm>
            <a:off x="1952280" y="2148840"/>
            <a:ext cx="1581480" cy="365400"/>
          </a:xfrm>
          <a:prstGeom prst="roundRect">
            <a:avLst>
              <a:gd name="adj" fmla="val 15000"/>
            </a:avLst>
          </a:prstGeom>
          <a:solidFill>
            <a:srgbClr val="8B949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8" name="Text 14"/>
          <p:cNvSpPr/>
          <p:nvPr/>
        </p:nvSpPr>
        <p:spPr>
          <a:xfrm>
            <a:off x="1952280" y="2148840"/>
            <a:ext cx="158148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ntarell"/>
                <a:ea typeface="Consolas"/>
              </a:rPr>
              <a:t>main (before)</a:t>
            </a:r>
            <a:endParaRPr lang="en-US" sz="1100" b="0" u="none" strike="noStrike">
              <a:solidFill>
                <a:srgbClr val="FFFFFF"/>
              </a:solidFill>
              <a:effectLst/>
              <a:uFillTx/>
              <a:latin typeface="Cantarell"/>
            </a:endParaRPr>
          </a:p>
        </p:txBody>
      </p:sp>
      <p:sp>
        <p:nvSpPr>
          <p:cNvPr id="149" name="Shape 15"/>
          <p:cNvSpPr/>
          <p:nvPr/>
        </p:nvSpPr>
        <p:spPr>
          <a:xfrm>
            <a:off x="2743200" y="2514600"/>
            <a:ext cx="360" cy="320040"/>
          </a:xfrm>
          <a:prstGeom prst="line">
            <a:avLst/>
          </a:prstGeom>
          <a:ln w="31750">
            <a:solidFill>
              <a:srgbClr val="8B949E"/>
            </a:solidFill>
            <a:roun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150" name="Shape 16"/>
          <p:cNvSpPr/>
          <p:nvPr/>
        </p:nvSpPr>
        <p:spPr>
          <a:xfrm>
            <a:off x="3968640" y="3154680"/>
            <a:ext cx="2486880" cy="365400"/>
          </a:xfrm>
          <a:prstGeom prst="roundRect">
            <a:avLst>
              <a:gd name="adj" fmla="val 15000"/>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1" name="Text 17"/>
          <p:cNvSpPr/>
          <p:nvPr/>
        </p:nvSpPr>
        <p:spPr>
          <a:xfrm>
            <a:off x="3968640" y="3154680"/>
            <a:ext cx="248688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ntarell"/>
                <a:ea typeface="Consolas"/>
              </a:rPr>
              <a:t>main + feature (after)</a:t>
            </a:r>
            <a:endParaRPr lang="en-US" sz="1100" b="0" u="none" strike="noStrike">
              <a:solidFill>
                <a:srgbClr val="FFFFFF"/>
              </a:solidFill>
              <a:effectLst/>
              <a:uFillTx/>
              <a:latin typeface="Cantarell"/>
            </a:endParaRPr>
          </a:p>
        </p:txBody>
      </p:sp>
      <p:sp>
        <p:nvSpPr>
          <p:cNvPr id="152" name="Shape 18"/>
          <p:cNvSpPr/>
          <p:nvPr/>
        </p:nvSpPr>
        <p:spPr>
          <a:xfrm flipV="1">
            <a:off x="5212080" y="2834640"/>
            <a:ext cx="360" cy="320040"/>
          </a:xfrm>
          <a:prstGeom prst="line">
            <a:avLst/>
          </a:prstGeom>
          <a:ln w="31750">
            <a:solidFill>
              <a:srgbClr val="F05133"/>
            </a:solidFill>
            <a:roun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153" name="Shape 19"/>
          <p:cNvSpPr/>
          <p:nvPr/>
        </p:nvSpPr>
        <p:spPr>
          <a:xfrm>
            <a:off x="731520" y="3931920"/>
            <a:ext cx="5120280" cy="1416960"/>
          </a:xfrm>
          <a:prstGeom prst="roundRect">
            <a:avLst>
              <a:gd name="adj" fmla="val 6452"/>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4" name="Text 20"/>
          <p:cNvSpPr/>
          <p:nvPr/>
        </p:nvSpPr>
        <p:spPr>
          <a:xfrm>
            <a:off x="960120" y="4069080"/>
            <a:ext cx="4663080" cy="1188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C9D1D9"/>
                </a:solidFill>
                <a:effectLst/>
                <a:uFillTx/>
                <a:latin typeface="Cantarell"/>
                <a:ea typeface="Calibri"/>
              </a:rPr>
              <a:t>feature never diverged from a different point — main simply had no new commits of its own. Merging just slides main’s pointer forward. No new commit is created.</a:t>
            </a:r>
            <a:endParaRPr lang="en-US" sz="1150" b="0" u="none" strike="noStrike">
              <a:solidFill>
                <a:srgbClr val="FFFFFF"/>
              </a:solidFill>
              <a:effectLst/>
              <a:uFillTx/>
              <a:latin typeface="Cantarell"/>
            </a:endParaRPr>
          </a:p>
        </p:txBody>
      </p:sp>
      <p:sp>
        <p:nvSpPr>
          <p:cNvPr id="155" name="Text 21"/>
          <p:cNvSpPr/>
          <p:nvPr/>
        </p:nvSpPr>
        <p:spPr>
          <a:xfrm>
            <a:off x="6355080" y="1463040"/>
            <a:ext cx="51202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Calibri"/>
                <a:ea typeface="Calibri"/>
              </a:rPr>
              <a:t>True (3-Way) Merge</a:t>
            </a:r>
            <a:endParaRPr lang="en-US" sz="1500" b="0" u="none" strike="noStrike">
              <a:solidFill>
                <a:srgbClr val="FFFFFF"/>
              </a:solidFill>
              <a:effectLst/>
              <a:uFillTx/>
              <a:latin typeface="Arial"/>
            </a:endParaRPr>
          </a:p>
        </p:txBody>
      </p:sp>
      <p:sp>
        <p:nvSpPr>
          <p:cNvPr id="156" name="Shape 22"/>
          <p:cNvSpPr/>
          <p:nvPr/>
        </p:nvSpPr>
        <p:spPr>
          <a:xfrm>
            <a:off x="6949440" y="2834640"/>
            <a:ext cx="2743200" cy="360"/>
          </a:xfrm>
          <a:prstGeom prst="line">
            <a:avLst/>
          </a:prstGeom>
          <a:ln w="31750">
            <a:solidFill>
              <a:srgbClr val="F05133"/>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57" name="Shape 23"/>
          <p:cNvSpPr/>
          <p:nvPr/>
        </p:nvSpPr>
        <p:spPr>
          <a:xfrm>
            <a:off x="8321040" y="2834640"/>
            <a:ext cx="360" cy="1097280"/>
          </a:xfrm>
          <a:prstGeom prst="line">
            <a:avLst/>
          </a:prstGeom>
          <a:ln w="31750">
            <a:solidFill>
              <a:srgbClr val="58A6FF"/>
            </a:solidFill>
            <a:roun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158" name="Shape 24"/>
          <p:cNvSpPr/>
          <p:nvPr/>
        </p:nvSpPr>
        <p:spPr>
          <a:xfrm>
            <a:off x="8321040" y="3931920"/>
            <a:ext cx="1371600" cy="360"/>
          </a:xfrm>
          <a:prstGeom prst="line">
            <a:avLst/>
          </a:prstGeom>
          <a:ln w="31750">
            <a:solidFill>
              <a:srgbClr val="58A6FF"/>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59" name="Shape 25"/>
          <p:cNvSpPr/>
          <p:nvPr/>
        </p:nvSpPr>
        <p:spPr>
          <a:xfrm>
            <a:off x="9692640" y="2834640"/>
            <a:ext cx="1143000" cy="731520"/>
          </a:xfrm>
          <a:prstGeom prst="line">
            <a:avLst/>
          </a:prstGeom>
          <a:ln w="31750">
            <a:solidFill>
              <a:srgbClr val="F05133"/>
            </a:solidFill>
            <a:roun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160" name="Shape 26"/>
          <p:cNvSpPr/>
          <p:nvPr/>
        </p:nvSpPr>
        <p:spPr>
          <a:xfrm flipV="1">
            <a:off x="9692640" y="3566160"/>
            <a:ext cx="1143000" cy="365760"/>
          </a:xfrm>
          <a:prstGeom prst="line">
            <a:avLst/>
          </a:prstGeom>
          <a:ln w="31750">
            <a:solidFill>
              <a:srgbClr val="58A6FF"/>
            </a:solidFill>
            <a:roun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161" name="Shape 27"/>
          <p:cNvSpPr/>
          <p:nvPr/>
        </p:nvSpPr>
        <p:spPr>
          <a:xfrm>
            <a:off x="6693480" y="2578680"/>
            <a:ext cx="511560" cy="511560"/>
          </a:xfrm>
          <a:prstGeom prst="ellipse">
            <a:avLst/>
          </a:prstGeom>
          <a:solidFill>
            <a:srgbClr val="F05133"/>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2" name="Text 28"/>
          <p:cNvSpPr/>
          <p:nvPr/>
        </p:nvSpPr>
        <p:spPr>
          <a:xfrm>
            <a:off x="6693480" y="25786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163" name="Shape 29"/>
          <p:cNvSpPr/>
          <p:nvPr/>
        </p:nvSpPr>
        <p:spPr>
          <a:xfrm>
            <a:off x="8065080" y="2578680"/>
            <a:ext cx="511560" cy="511560"/>
          </a:xfrm>
          <a:prstGeom prst="ellipse">
            <a:avLst/>
          </a:prstGeom>
          <a:solidFill>
            <a:srgbClr val="F05133"/>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4" name="Text 30"/>
          <p:cNvSpPr/>
          <p:nvPr/>
        </p:nvSpPr>
        <p:spPr>
          <a:xfrm>
            <a:off x="8065080" y="25786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165" name="Shape 31"/>
          <p:cNvSpPr/>
          <p:nvPr/>
        </p:nvSpPr>
        <p:spPr>
          <a:xfrm>
            <a:off x="9436680" y="2578680"/>
            <a:ext cx="511560" cy="511560"/>
          </a:xfrm>
          <a:prstGeom prst="ellipse">
            <a:avLst/>
          </a:prstGeom>
          <a:solidFill>
            <a:srgbClr val="F05133"/>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6" name="Text 32"/>
          <p:cNvSpPr/>
          <p:nvPr/>
        </p:nvSpPr>
        <p:spPr>
          <a:xfrm>
            <a:off x="9436680" y="25786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167" name="Shape 33"/>
          <p:cNvSpPr/>
          <p:nvPr/>
        </p:nvSpPr>
        <p:spPr>
          <a:xfrm>
            <a:off x="8065080" y="3675960"/>
            <a:ext cx="511560" cy="511560"/>
          </a:xfrm>
          <a:prstGeom prst="ellipse">
            <a:avLst/>
          </a:prstGeom>
          <a:solidFill>
            <a:srgbClr val="58A6FF"/>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8" name="Text 34"/>
          <p:cNvSpPr/>
          <p:nvPr/>
        </p:nvSpPr>
        <p:spPr>
          <a:xfrm>
            <a:off x="8065080" y="367596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169" name="Shape 35"/>
          <p:cNvSpPr/>
          <p:nvPr/>
        </p:nvSpPr>
        <p:spPr>
          <a:xfrm>
            <a:off x="9436680" y="3675960"/>
            <a:ext cx="511560" cy="511560"/>
          </a:xfrm>
          <a:prstGeom prst="ellipse">
            <a:avLst/>
          </a:prstGeom>
          <a:solidFill>
            <a:srgbClr val="58A6FF"/>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0" name="Text 36"/>
          <p:cNvSpPr/>
          <p:nvPr/>
        </p:nvSpPr>
        <p:spPr>
          <a:xfrm>
            <a:off x="9436680" y="367596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171" name="Shape 37"/>
          <p:cNvSpPr/>
          <p:nvPr/>
        </p:nvSpPr>
        <p:spPr>
          <a:xfrm>
            <a:off x="10579680" y="3310200"/>
            <a:ext cx="511560" cy="511560"/>
          </a:xfrm>
          <a:prstGeom prst="ellipse">
            <a:avLst/>
          </a:prstGeom>
          <a:solidFill>
            <a:srgbClr val="3FB950"/>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2" name="Text 38"/>
          <p:cNvSpPr/>
          <p:nvPr/>
        </p:nvSpPr>
        <p:spPr>
          <a:xfrm>
            <a:off x="10579680" y="331020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173" name="Shape 39"/>
          <p:cNvSpPr/>
          <p:nvPr/>
        </p:nvSpPr>
        <p:spPr>
          <a:xfrm>
            <a:off x="10424160" y="2880360"/>
            <a:ext cx="822600" cy="365400"/>
          </a:xfrm>
          <a:prstGeom prst="roundRect">
            <a:avLst>
              <a:gd name="adj" fmla="val 15000"/>
            </a:avLst>
          </a:prstGeom>
          <a:solidFill>
            <a:srgbClr val="3FB95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4" name="Text 40"/>
          <p:cNvSpPr/>
          <p:nvPr/>
        </p:nvSpPr>
        <p:spPr>
          <a:xfrm>
            <a:off x="10424160" y="2880360"/>
            <a:ext cx="8226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ntarell"/>
                <a:ea typeface="Consolas"/>
              </a:rPr>
              <a:t>main</a:t>
            </a:r>
            <a:endParaRPr lang="en-US" sz="1100" b="0" u="none" strike="noStrike">
              <a:solidFill>
                <a:srgbClr val="FFFFFF"/>
              </a:solidFill>
              <a:effectLst/>
              <a:uFillTx/>
              <a:latin typeface="Cantarell"/>
            </a:endParaRPr>
          </a:p>
        </p:txBody>
      </p:sp>
      <p:sp>
        <p:nvSpPr>
          <p:cNvPr id="175" name="Shape 41"/>
          <p:cNvSpPr/>
          <p:nvPr/>
        </p:nvSpPr>
        <p:spPr>
          <a:xfrm>
            <a:off x="10835640" y="3246120"/>
            <a:ext cx="360" cy="320040"/>
          </a:xfrm>
          <a:prstGeom prst="line">
            <a:avLst/>
          </a:prstGeom>
          <a:ln w="31750">
            <a:solidFill>
              <a:srgbClr val="3FB950"/>
            </a:solidFill>
            <a:roun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176" name="Shape 42"/>
          <p:cNvSpPr/>
          <p:nvPr/>
        </p:nvSpPr>
        <p:spPr>
          <a:xfrm>
            <a:off x="6355080" y="4709160"/>
            <a:ext cx="5120280" cy="639720"/>
          </a:xfrm>
          <a:prstGeom prst="roundRect">
            <a:avLst>
              <a:gd name="adj" fmla="val 14286"/>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7" name="Text 43"/>
          <p:cNvSpPr/>
          <p:nvPr/>
        </p:nvSpPr>
        <p:spPr>
          <a:xfrm>
            <a:off x="6583680" y="4709160"/>
            <a:ext cx="46630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C9D1D9"/>
                </a:solidFill>
                <a:effectLst/>
                <a:uFillTx/>
                <a:latin typeface="Cantarell"/>
                <a:ea typeface="Calibri"/>
              </a:rPr>
              <a:t>Both lines actually diverged — a new merge commit is created with TWO parents, joining both histories together.</a:t>
            </a:r>
            <a:endParaRPr lang="en-US" sz="1150" b="0" u="none" strike="noStrike">
              <a:solidFill>
                <a:srgbClr val="FFFFFF"/>
              </a:solidFill>
              <a:effectLst/>
              <a:uFillTx/>
              <a:latin typeface="Cantarell"/>
            </a:endParaRPr>
          </a:p>
        </p:txBody>
      </p:sp>
      <p:sp>
        <p:nvSpPr>
          <p:cNvPr id="178" name="Text 44"/>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179" name="Text 45"/>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10</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180"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81" name="Image 0" descr="preencoded.png"/>
          <p:cNvPicPr/>
          <p:nvPr/>
        </p:nvPicPr>
        <p:blipFill>
          <a:blip r:embed="rId1"/>
          <a:stretch/>
        </p:blipFill>
        <p:spPr>
          <a:xfrm>
            <a:off x="548640" y="548640"/>
            <a:ext cx="447840" cy="447840"/>
          </a:xfrm>
          <a:prstGeom prst="rect">
            <a:avLst/>
          </a:prstGeom>
          <a:noFill/>
          <a:ln w="0">
            <a:noFill/>
          </a:ln>
        </p:spPr>
      </p:pic>
      <p:sp>
        <p:nvSpPr>
          <p:cNvPr id="182"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Practice Set — Branching</a:t>
            </a:r>
            <a:endParaRPr lang="en-US" sz="2500" b="0" u="none" strike="noStrike">
              <a:solidFill>
                <a:srgbClr val="FFFFFF"/>
              </a:solidFill>
              <a:effectLst/>
              <a:uFillTx/>
              <a:latin typeface="Arial"/>
            </a:endParaRPr>
          </a:p>
        </p:txBody>
      </p:sp>
      <p:sp>
        <p:nvSpPr>
          <p:cNvPr id="183"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84" name="Shape 3"/>
          <p:cNvSpPr/>
          <p:nvPr/>
        </p:nvSpPr>
        <p:spPr>
          <a:xfrm>
            <a:off x="457200" y="1600200"/>
            <a:ext cx="11274120" cy="4480200"/>
          </a:xfrm>
          <a:prstGeom prst="roundRect">
            <a:avLst>
              <a:gd name="adj" fmla="val 2449"/>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5" name="Text 4"/>
          <p:cNvSpPr/>
          <p:nvPr/>
        </p:nvSpPr>
        <p:spPr>
          <a:xfrm>
            <a:off x="822960" y="1828800"/>
            <a:ext cx="10515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Calibri"/>
                <a:ea typeface="Calibri"/>
              </a:rPr>
              <a:t>Try these yourself first — no code shown, that's the point</a:t>
            </a:r>
            <a:endParaRPr lang="en-US" sz="1600" b="0" u="none" strike="noStrike">
              <a:solidFill>
                <a:srgbClr val="FFFFFF"/>
              </a:solidFill>
              <a:effectLst/>
              <a:uFillTx/>
              <a:latin typeface="Arial"/>
            </a:endParaRPr>
          </a:p>
        </p:txBody>
      </p:sp>
      <p:sp>
        <p:nvSpPr>
          <p:cNvPr id="186" name="Shape 5"/>
          <p:cNvSpPr/>
          <p:nvPr/>
        </p:nvSpPr>
        <p:spPr>
          <a:xfrm>
            <a:off x="822960" y="2423160"/>
            <a:ext cx="383760" cy="38376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7" name="Text 6"/>
          <p:cNvSpPr/>
          <p:nvPr/>
        </p:nvSpPr>
        <p:spPr>
          <a:xfrm>
            <a:off x="822960" y="242316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FFFFFF"/>
              </a:solidFill>
              <a:effectLst/>
              <a:uFillTx/>
              <a:latin typeface="Arial"/>
            </a:endParaRPr>
          </a:p>
        </p:txBody>
      </p:sp>
      <p:sp>
        <p:nvSpPr>
          <p:cNvPr id="188" name="Text 7"/>
          <p:cNvSpPr/>
          <p:nvPr/>
        </p:nvSpPr>
        <p:spPr>
          <a:xfrm>
            <a:off x="1435680" y="2423160"/>
            <a:ext cx="9582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C9D1D9"/>
                </a:solidFill>
                <a:effectLst/>
                <a:uFillTx/>
                <a:latin typeface="Calibri"/>
                <a:ea typeface="Calibri"/>
              </a:rPr>
              <a:t>Create a new branch, switch to it, make two commits, then switch back to main and confirm those commits aren’t there</a:t>
            </a:r>
            <a:endParaRPr lang="en-US" sz="1250" b="0" u="none" strike="noStrike">
              <a:solidFill>
                <a:srgbClr val="FFFFFF"/>
              </a:solidFill>
              <a:effectLst/>
              <a:uFillTx/>
              <a:latin typeface="Arial"/>
            </a:endParaRPr>
          </a:p>
        </p:txBody>
      </p:sp>
      <p:sp>
        <p:nvSpPr>
          <p:cNvPr id="189" name="Shape 8"/>
          <p:cNvSpPr/>
          <p:nvPr/>
        </p:nvSpPr>
        <p:spPr>
          <a:xfrm>
            <a:off x="822960" y="3300840"/>
            <a:ext cx="383760" cy="38376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0" name="Text 9"/>
          <p:cNvSpPr/>
          <p:nvPr/>
        </p:nvSpPr>
        <p:spPr>
          <a:xfrm>
            <a:off x="822960" y="330084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FFFFFF"/>
              </a:solidFill>
              <a:effectLst/>
              <a:uFillTx/>
              <a:latin typeface="Arial"/>
            </a:endParaRPr>
          </a:p>
        </p:txBody>
      </p:sp>
      <p:sp>
        <p:nvSpPr>
          <p:cNvPr id="191" name="Text 10"/>
          <p:cNvSpPr/>
          <p:nvPr/>
        </p:nvSpPr>
        <p:spPr>
          <a:xfrm>
            <a:off x="1435680" y="3300840"/>
            <a:ext cx="9582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C9D1D9"/>
                </a:solidFill>
                <a:effectLst/>
                <a:uFillTx/>
                <a:latin typeface="Calibri"/>
                <a:ea typeface="Calibri"/>
              </a:rPr>
              <a:t>Merge that branch into main and confirm whether Git performed a fast-forward or a true merge — explain why</a:t>
            </a:r>
            <a:endParaRPr lang="en-US" sz="1250" b="0" u="none" strike="noStrike">
              <a:solidFill>
                <a:srgbClr val="FFFFFF"/>
              </a:solidFill>
              <a:effectLst/>
              <a:uFillTx/>
              <a:latin typeface="Arial"/>
            </a:endParaRPr>
          </a:p>
        </p:txBody>
      </p:sp>
      <p:sp>
        <p:nvSpPr>
          <p:cNvPr id="192" name="Shape 11"/>
          <p:cNvSpPr/>
          <p:nvPr/>
        </p:nvSpPr>
        <p:spPr>
          <a:xfrm>
            <a:off x="822960" y="4178880"/>
            <a:ext cx="383760" cy="38376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3" name="Text 12"/>
          <p:cNvSpPr/>
          <p:nvPr/>
        </p:nvSpPr>
        <p:spPr>
          <a:xfrm>
            <a:off x="822960" y="417888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FFFFFF"/>
              </a:solidFill>
              <a:effectLst/>
              <a:uFillTx/>
              <a:latin typeface="Arial"/>
            </a:endParaRPr>
          </a:p>
        </p:txBody>
      </p:sp>
      <p:sp>
        <p:nvSpPr>
          <p:cNvPr id="194" name="Text 13"/>
          <p:cNvSpPr/>
          <p:nvPr/>
        </p:nvSpPr>
        <p:spPr>
          <a:xfrm>
            <a:off x="1435680" y="4178880"/>
            <a:ext cx="9582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C9D1D9"/>
                </a:solidFill>
                <a:effectLst/>
                <a:uFillTx/>
                <a:latin typeface="Calibri"/>
                <a:ea typeface="Calibri"/>
              </a:rPr>
              <a:t>Make a new commit on main first, then merge a second branch, and confirm this time a merge commit was created</a:t>
            </a:r>
            <a:endParaRPr lang="en-US" sz="1250" b="0" u="none" strike="noStrike">
              <a:solidFill>
                <a:srgbClr val="FFFFFF"/>
              </a:solidFill>
              <a:effectLst/>
              <a:uFillTx/>
              <a:latin typeface="Arial"/>
            </a:endParaRPr>
          </a:p>
        </p:txBody>
      </p:sp>
      <p:sp>
        <p:nvSpPr>
          <p:cNvPr id="195" name="Shape 14"/>
          <p:cNvSpPr/>
          <p:nvPr/>
        </p:nvSpPr>
        <p:spPr>
          <a:xfrm>
            <a:off x="822960" y="5056560"/>
            <a:ext cx="383760" cy="38376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6" name="Text 15"/>
          <p:cNvSpPr/>
          <p:nvPr/>
        </p:nvSpPr>
        <p:spPr>
          <a:xfrm>
            <a:off x="822960" y="505656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4</a:t>
            </a:r>
            <a:endParaRPr lang="en-US" sz="1300" b="0" u="none" strike="noStrike">
              <a:solidFill>
                <a:srgbClr val="FFFFFF"/>
              </a:solidFill>
              <a:effectLst/>
              <a:uFillTx/>
              <a:latin typeface="Arial"/>
            </a:endParaRPr>
          </a:p>
        </p:txBody>
      </p:sp>
      <p:sp>
        <p:nvSpPr>
          <p:cNvPr id="197" name="Text 16"/>
          <p:cNvSpPr/>
          <p:nvPr/>
        </p:nvSpPr>
        <p:spPr>
          <a:xfrm>
            <a:off x="1435680" y="5056560"/>
            <a:ext cx="9582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C9D1D9"/>
                </a:solidFill>
                <a:effectLst/>
                <a:uFillTx/>
                <a:latin typeface="Calibri"/>
                <a:ea typeface="Calibri"/>
              </a:rPr>
              <a:t>Rename a branch, then safely delete a fully-merged branch with -d</a:t>
            </a:r>
            <a:endParaRPr lang="en-US" sz="1250" b="0" u="none" strike="noStrike">
              <a:solidFill>
                <a:srgbClr val="FFFFFF"/>
              </a:solidFill>
              <a:effectLst/>
              <a:uFillTx/>
              <a:latin typeface="Arial"/>
            </a:endParaRPr>
          </a:p>
        </p:txBody>
      </p:sp>
      <p:sp>
        <p:nvSpPr>
          <p:cNvPr id="198" name="Text 17"/>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199" name="Text 18"/>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11</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200" name="Shape 0"/>
          <p:cNvSpPr/>
          <p:nvPr/>
        </p:nvSpPr>
        <p:spPr>
          <a:xfrm>
            <a:off x="-2011680" y="4206240"/>
            <a:ext cx="5668920" cy="5668920"/>
          </a:xfrm>
          <a:prstGeom prst="ellipse">
            <a:avLst/>
          </a:prstGeom>
          <a:solidFill>
            <a:srgbClr val="1419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1" name="Shape 1"/>
          <p:cNvSpPr/>
          <p:nvPr/>
        </p:nvSpPr>
        <p:spPr>
          <a:xfrm>
            <a:off x="9418320" y="-2377440"/>
            <a:ext cx="5668920" cy="5668920"/>
          </a:xfrm>
          <a:prstGeom prst="ellipse">
            <a:avLst/>
          </a:prstGeom>
          <a:solidFill>
            <a:srgbClr val="1419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2" name="Shape 2"/>
          <p:cNvSpPr/>
          <p:nvPr/>
        </p:nvSpPr>
        <p:spPr>
          <a:xfrm>
            <a:off x="5596200" y="731520"/>
            <a:ext cx="1005480" cy="100548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03" name="Image 0" descr="preencoded.png"/>
          <p:cNvPicPr/>
          <p:nvPr/>
        </p:nvPicPr>
        <p:blipFill>
          <a:blip r:embed="rId1"/>
          <a:stretch/>
        </p:blipFill>
        <p:spPr>
          <a:xfrm>
            <a:off x="5742360" y="877680"/>
            <a:ext cx="703800" cy="703800"/>
          </a:xfrm>
          <a:prstGeom prst="rect">
            <a:avLst/>
          </a:prstGeom>
          <a:noFill/>
          <a:ln w="0">
            <a:noFill/>
          </a:ln>
        </p:spPr>
      </p:pic>
      <p:sp>
        <p:nvSpPr>
          <p:cNvPr id="204" name="Text 3"/>
          <p:cNvSpPr/>
          <p:nvPr/>
        </p:nvSpPr>
        <p:spPr>
          <a:xfrm>
            <a:off x="914400" y="1965960"/>
            <a:ext cx="103597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pc="201" strike="noStrike">
                <a:solidFill>
                  <a:srgbClr val="F7A788"/>
                </a:solidFill>
                <a:effectLst/>
                <a:uFillTx/>
                <a:latin typeface="Calibri"/>
                <a:ea typeface="Calibri"/>
              </a:rPr>
              <a:t>PART 2</a:t>
            </a:r>
            <a:endParaRPr lang="en-US" sz="1300" b="0" u="none" strike="noStrike">
              <a:solidFill>
                <a:srgbClr val="FFFFFF"/>
              </a:solidFill>
              <a:effectLst/>
              <a:uFillTx/>
              <a:latin typeface="Arial"/>
            </a:endParaRPr>
          </a:p>
        </p:txBody>
      </p:sp>
      <p:sp>
        <p:nvSpPr>
          <p:cNvPr id="205" name="Text 4"/>
          <p:cNvSpPr/>
          <p:nvPr/>
        </p:nvSpPr>
        <p:spPr>
          <a:xfrm>
            <a:off x="914400" y="2377440"/>
            <a:ext cx="10359720" cy="2011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3200" b="1" u="none" strike="noStrike">
                <a:solidFill>
                  <a:srgbClr val="FFFFFF"/>
                </a:solidFill>
                <a:effectLst/>
                <a:uFillTx/>
                <a:latin typeface="Calibri"/>
                <a:ea typeface="Calibri"/>
              </a:rPr>
              <a:t>Merge Conflicts</a:t>
            </a:r>
            <a:endParaRPr lang="en-US" sz="3200" b="0" u="none" strike="noStrike">
              <a:solidFill>
                <a:srgbClr val="FFFFFF"/>
              </a:solidFill>
              <a:effectLst/>
              <a:uFillTx/>
              <a:latin typeface="Arial"/>
            </a:endParaRPr>
          </a:p>
        </p:txBody>
      </p:sp>
      <p:sp>
        <p:nvSpPr>
          <p:cNvPr id="206" name="Text 5"/>
          <p:cNvSpPr/>
          <p:nvPr/>
        </p:nvSpPr>
        <p:spPr>
          <a:xfrm>
            <a:off x="1463040" y="4572000"/>
            <a:ext cx="9262440" cy="10969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0" u="none" strike="noStrike">
                <a:solidFill>
                  <a:srgbClr val="C9D1D9"/>
                </a:solidFill>
                <a:effectLst/>
                <a:uFillTx/>
                <a:latin typeface="Calibri"/>
                <a:ea typeface="Calibri"/>
              </a:rPr>
              <a:t>What happens when Git genuinely can’t decide which version of a change is correct</a:t>
            </a:r>
            <a:endParaRPr lang="en-US" sz="1600" b="0" u="none" strike="noStrike">
              <a:solidFill>
                <a:srgbClr val="FFFFFF"/>
              </a:solidFill>
              <a:effectLst/>
              <a:uFillTx/>
              <a:latin typeface="Arial"/>
            </a:endParaRPr>
          </a:p>
        </p:txBody>
      </p:sp>
      <p:sp>
        <p:nvSpPr>
          <p:cNvPr id="207" name="Text 6"/>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12</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208"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09" name="Image 0" descr="preencoded.png"/>
          <p:cNvPicPr/>
          <p:nvPr/>
        </p:nvPicPr>
        <p:blipFill>
          <a:blip r:embed="rId1"/>
          <a:stretch/>
        </p:blipFill>
        <p:spPr>
          <a:xfrm>
            <a:off x="548640" y="548640"/>
            <a:ext cx="447840" cy="447840"/>
          </a:xfrm>
          <a:prstGeom prst="rect">
            <a:avLst/>
          </a:prstGeom>
          <a:noFill/>
          <a:ln w="0">
            <a:noFill/>
          </a:ln>
        </p:spPr>
      </p:pic>
      <p:sp>
        <p:nvSpPr>
          <p:cNvPr id="210"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What Causes a Merge Conflict?</a:t>
            </a:r>
            <a:endParaRPr lang="en-US" sz="2500" b="0" u="none" strike="noStrike">
              <a:solidFill>
                <a:srgbClr val="FFFFFF"/>
              </a:solidFill>
              <a:effectLst/>
              <a:uFillTx/>
              <a:latin typeface="Arial"/>
            </a:endParaRPr>
          </a:p>
        </p:txBody>
      </p:sp>
      <p:sp>
        <p:nvSpPr>
          <p:cNvPr id="211"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12" name="Shape 3"/>
          <p:cNvSpPr/>
          <p:nvPr/>
        </p:nvSpPr>
        <p:spPr>
          <a:xfrm>
            <a:off x="457200" y="1554480"/>
            <a:ext cx="3657240" cy="4663080"/>
          </a:xfrm>
          <a:prstGeom prst="roundRect">
            <a:avLst>
              <a:gd name="adj" fmla="val 3000"/>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3" name="Shape 4"/>
          <p:cNvSpPr/>
          <p:nvPr/>
        </p:nvSpPr>
        <p:spPr>
          <a:xfrm>
            <a:off x="1508760" y="2194560"/>
            <a:ext cx="1554120" cy="15541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14" name="Image 1" descr="preencoded.png"/>
          <p:cNvPicPr/>
          <p:nvPr/>
        </p:nvPicPr>
        <p:blipFill>
          <a:blip r:embed="rId2"/>
          <a:stretch/>
        </p:blipFill>
        <p:spPr>
          <a:xfrm>
            <a:off x="1746360" y="2423160"/>
            <a:ext cx="1087920" cy="1087920"/>
          </a:xfrm>
          <a:prstGeom prst="rect">
            <a:avLst/>
          </a:prstGeom>
          <a:noFill/>
          <a:ln w="0">
            <a:noFill/>
          </a:ln>
        </p:spPr>
      </p:pic>
      <p:sp>
        <p:nvSpPr>
          <p:cNvPr id="215" name="Text 5"/>
          <p:cNvSpPr/>
          <p:nvPr/>
        </p:nvSpPr>
        <p:spPr>
          <a:xfrm>
            <a:off x="640080" y="3977640"/>
            <a:ext cx="3291480" cy="17370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700" b="1" u="none" strike="noStrike">
                <a:solidFill>
                  <a:srgbClr val="FFFFFF"/>
                </a:solidFill>
                <a:effectLst/>
                <a:uFillTx/>
                <a:latin typeface="Calibri"/>
                <a:ea typeface="Calibri"/>
              </a:rPr>
              <a:t>Git can’t</a:t>
            </a:r>
            <a:endParaRPr lang="en-US" sz="1700" b="0" u="none" strike="noStrike">
              <a:solidFill>
                <a:srgbClr val="FFFFFF"/>
              </a:solidFill>
              <a:effectLst/>
              <a:uFillTx/>
              <a:latin typeface="Arial"/>
            </a:endParaRPr>
          </a:p>
          <a:p>
            <a:pPr algn="ctr" defTabSz="914400">
              <a:lnSpc>
                <a:spcPct val="100000"/>
              </a:lnSpc>
              <a:tabLst>
                <a:tab pos="0" algn="l"/>
              </a:tabLst>
            </a:pPr>
            <a:r>
              <a:rPr lang="en-US" sz="1700" b="1" u="none" strike="noStrike">
                <a:solidFill>
                  <a:srgbClr val="FFFFFF"/>
                </a:solidFill>
                <a:effectLst/>
                <a:uFillTx/>
                <a:latin typeface="Calibri"/>
                <a:ea typeface="Calibri"/>
              </a:rPr>
              <a:t>guess your</a:t>
            </a:r>
            <a:endParaRPr lang="en-US" sz="1700" b="0" u="none" strike="noStrike">
              <a:solidFill>
                <a:srgbClr val="FFFFFF"/>
              </a:solidFill>
              <a:effectLst/>
              <a:uFillTx/>
              <a:latin typeface="Arial"/>
            </a:endParaRPr>
          </a:p>
          <a:p>
            <a:pPr algn="ctr" defTabSz="914400">
              <a:lnSpc>
                <a:spcPct val="100000"/>
              </a:lnSpc>
              <a:tabLst>
                <a:tab pos="0" algn="l"/>
              </a:tabLst>
            </a:pPr>
            <a:r>
              <a:rPr lang="en-US" sz="1700" b="1" u="none" strike="noStrike">
                <a:solidFill>
                  <a:srgbClr val="FFFFFF"/>
                </a:solidFill>
                <a:effectLst/>
                <a:uFillTx/>
                <a:latin typeface="Calibri"/>
                <a:ea typeface="Calibri"/>
              </a:rPr>
              <a:t>intent</a:t>
            </a:r>
            <a:endParaRPr lang="en-US" sz="1700" b="0" u="none" strike="noStrike">
              <a:solidFill>
                <a:srgbClr val="FFFFFF"/>
              </a:solidFill>
              <a:effectLst/>
              <a:uFillTx/>
              <a:latin typeface="Arial"/>
            </a:endParaRPr>
          </a:p>
        </p:txBody>
      </p:sp>
      <p:sp>
        <p:nvSpPr>
          <p:cNvPr id="216" name="Text 6"/>
          <p:cNvSpPr/>
          <p:nvPr/>
        </p:nvSpPr>
        <p:spPr>
          <a:xfrm>
            <a:off x="4572000" y="1737360"/>
            <a:ext cx="7131960" cy="411444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A conflict happens when both branches changed the exact same lines of the exact same file, in different ways — Git genuinely cannot know which version you want</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Most merges never conflict — Git is very good at automatically combining changes to different files, or different parts of the same file</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A conflict isn’t an error or something broken — it’s Git correctly refusing to guess, and asking you to make the final call</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This is completely normal, everyday Git usage — every developer resolves conflicts regularly, not just beginners</a:t>
            </a:r>
            <a:endParaRPr lang="en-US" sz="1600" b="0" u="none" strike="noStrike">
              <a:solidFill>
                <a:srgbClr val="FFFFFF"/>
              </a:solidFill>
              <a:effectLst/>
              <a:uFillTx/>
              <a:latin typeface="Arial"/>
            </a:endParaRPr>
          </a:p>
        </p:txBody>
      </p:sp>
      <p:sp>
        <p:nvSpPr>
          <p:cNvPr id="217" name="Text 7"/>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218" name="Text 8"/>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13</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219"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20" name="Image 0" descr="preencoded.png"/>
          <p:cNvPicPr/>
          <p:nvPr/>
        </p:nvPicPr>
        <p:blipFill>
          <a:blip r:embed="rId1"/>
          <a:stretch/>
        </p:blipFill>
        <p:spPr>
          <a:xfrm>
            <a:off x="548640" y="548640"/>
            <a:ext cx="447840" cy="447840"/>
          </a:xfrm>
          <a:prstGeom prst="rect">
            <a:avLst/>
          </a:prstGeom>
          <a:noFill/>
          <a:ln w="0">
            <a:noFill/>
          </a:ln>
        </p:spPr>
      </p:pic>
      <p:sp>
        <p:nvSpPr>
          <p:cNvPr id="221"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Reading Conflict Markers</a:t>
            </a:r>
            <a:endParaRPr lang="en-US" sz="2500" b="0" u="none" strike="noStrike">
              <a:solidFill>
                <a:srgbClr val="FFFFFF"/>
              </a:solidFill>
              <a:effectLst/>
              <a:uFillTx/>
              <a:latin typeface="Arial"/>
            </a:endParaRPr>
          </a:p>
        </p:txBody>
      </p:sp>
      <p:sp>
        <p:nvSpPr>
          <p:cNvPr id="222"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23" name="Text 3"/>
          <p:cNvSpPr/>
          <p:nvPr/>
        </p:nvSpPr>
        <p:spPr>
          <a:xfrm>
            <a:off x="548640" y="1828800"/>
            <a:ext cx="4754520" cy="40230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When a conflict happens, Git pauses the merge and writes special markers directly into the affected file, right at the conflicting lines</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&lt;&lt;&lt;&lt;&lt;&lt;&lt; HEAD shows your current branch’s version; ======= is the dividing line; &gt;&gt;&gt;&gt;&gt;&gt;&gt; shows the incoming branch’s version</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The file is left in this half-merged state until you manually resolve it — nothing is committed yet</a:t>
            </a:r>
            <a:endParaRPr lang="en-US" sz="1350" b="0" u="none" strike="noStrike">
              <a:solidFill>
                <a:srgbClr val="FFFFFF"/>
              </a:solidFill>
              <a:effectLst/>
              <a:uFillTx/>
              <a:latin typeface="Arial"/>
            </a:endParaRPr>
          </a:p>
        </p:txBody>
      </p:sp>
      <p:sp>
        <p:nvSpPr>
          <p:cNvPr id="224" name="Shape 4"/>
          <p:cNvSpPr/>
          <p:nvPr/>
        </p:nvSpPr>
        <p:spPr>
          <a:xfrm>
            <a:off x="5486400" y="1691640"/>
            <a:ext cx="6217560" cy="4343040"/>
          </a:xfrm>
          <a:prstGeom prst="roundRect">
            <a:avLst>
              <a:gd name="adj" fmla="val 2105"/>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5" name="Text 5"/>
          <p:cNvSpPr/>
          <p:nvPr/>
        </p:nvSpPr>
        <p:spPr>
          <a:xfrm>
            <a:off x="5806440" y="1965960"/>
            <a:ext cx="5577480" cy="3794400"/>
          </a:xfrm>
          <a:prstGeom prst="rect">
            <a:avLst/>
          </a:prstGeom>
          <a:noFill/>
          <a:ln w="0">
            <a:noFill/>
          </a:ln>
        </p:spPr>
        <p:style>
          <a:lnRef idx="0"/>
          <a:fillRef idx="0"/>
          <a:effectRef idx="0"/>
          <a:fontRef idx="minor"/>
        </p:style>
        <p:txBody>
          <a:bodyPr lIns="0" tIns="0" rIns="0" bIns="0" anchor="t">
            <a:noAutofit/>
          </a:bodyPr>
          <a:p>
            <a:pPr defTabSz="914400">
              <a:lnSpc>
                <a:spcPct val="125000"/>
              </a:lnSpc>
              <a:tabLst>
                <a:tab pos="0" algn="l"/>
              </a:tabLst>
            </a:pPr>
            <a:r>
              <a:rPr lang="en-US" sz="1250" b="0" u="none" strike="noStrike">
                <a:solidFill>
                  <a:srgbClr val="C9D1D9"/>
                </a:solidFill>
                <a:effectLst/>
                <a:uFillTx/>
                <a:latin typeface="Cantarell"/>
                <a:ea typeface="Consolas"/>
              </a:rPr>
              <a:t>$ git merge feature-pricing</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Auto-merging pricing.py</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CONFLICT (content): Merge conflict in pricing.py</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8B949E"/>
                </a:solidFill>
                <a:effectLst/>
                <a:uFillTx/>
                <a:latin typeface="Cantarell"/>
                <a:ea typeface="Consolas"/>
              </a:rPr>
              <a:t># pricing.py now contains:</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&lt;&lt;&lt;&lt;&lt;&lt;&lt; HEAD</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DISCOUNT_RATE = 0.10</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DISCOUNT_RATE = 0.15</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&gt;&gt;&gt;&gt;&gt;&gt;&gt; feature-pricing</a:t>
            </a:r>
            <a:endParaRPr lang="en-US" sz="1250" b="0" u="none" strike="noStrike">
              <a:solidFill>
                <a:srgbClr val="FFFFFF"/>
              </a:solidFill>
              <a:effectLst/>
              <a:uFillTx/>
              <a:latin typeface="Cantarell"/>
            </a:endParaRPr>
          </a:p>
        </p:txBody>
      </p:sp>
      <p:sp>
        <p:nvSpPr>
          <p:cNvPr id="226" name="Text 6"/>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227" name="Text 7"/>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14</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228"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29" name="Image 0" descr="preencoded.png"/>
          <p:cNvPicPr/>
          <p:nvPr/>
        </p:nvPicPr>
        <p:blipFill>
          <a:blip r:embed="rId1"/>
          <a:stretch/>
        </p:blipFill>
        <p:spPr>
          <a:xfrm>
            <a:off x="548640" y="548640"/>
            <a:ext cx="447840" cy="447840"/>
          </a:xfrm>
          <a:prstGeom prst="rect">
            <a:avLst/>
          </a:prstGeom>
          <a:noFill/>
          <a:ln w="0">
            <a:noFill/>
          </a:ln>
        </p:spPr>
      </p:pic>
      <p:sp>
        <p:nvSpPr>
          <p:cNvPr id="230"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Resolving a Conflict by Hand</a:t>
            </a:r>
            <a:endParaRPr lang="en-US" sz="2500" b="0" u="none" strike="noStrike">
              <a:solidFill>
                <a:srgbClr val="FFFFFF"/>
              </a:solidFill>
              <a:effectLst/>
              <a:uFillTx/>
              <a:latin typeface="Arial"/>
            </a:endParaRPr>
          </a:p>
        </p:txBody>
      </p:sp>
      <p:sp>
        <p:nvSpPr>
          <p:cNvPr id="231"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32" name="Text 3"/>
          <p:cNvSpPr/>
          <p:nvPr/>
        </p:nvSpPr>
        <p:spPr>
          <a:xfrm>
            <a:off x="548640" y="1828800"/>
            <a:ext cx="4754520" cy="40230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Open the file, decide what the correct final version should be, and manually delete the markers along with whichever version you’re not keeping</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You can keep your version, keep theirs, or write something new that combines both — Git leaves that judgment entirely to you</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Once every conflict marker is gone, stage the file and commit — that commit becomes the merge commit itself</a:t>
            </a:r>
            <a:endParaRPr lang="en-US" sz="1350" b="0" u="none" strike="noStrike">
              <a:solidFill>
                <a:srgbClr val="FFFFFF"/>
              </a:solidFill>
              <a:effectLst/>
              <a:uFillTx/>
              <a:latin typeface="Arial"/>
            </a:endParaRPr>
          </a:p>
        </p:txBody>
      </p:sp>
      <p:sp>
        <p:nvSpPr>
          <p:cNvPr id="233" name="Shape 4"/>
          <p:cNvSpPr/>
          <p:nvPr/>
        </p:nvSpPr>
        <p:spPr>
          <a:xfrm>
            <a:off x="5486400" y="1691640"/>
            <a:ext cx="6217560" cy="4343040"/>
          </a:xfrm>
          <a:prstGeom prst="roundRect">
            <a:avLst>
              <a:gd name="adj" fmla="val 2105"/>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4" name="Text 5"/>
          <p:cNvSpPr/>
          <p:nvPr/>
        </p:nvSpPr>
        <p:spPr>
          <a:xfrm>
            <a:off x="5806440" y="1965960"/>
            <a:ext cx="5577480" cy="3794400"/>
          </a:xfrm>
          <a:prstGeom prst="rect">
            <a:avLst/>
          </a:prstGeom>
          <a:noFill/>
          <a:ln w="0">
            <a:noFill/>
          </a:ln>
        </p:spPr>
        <p:style>
          <a:lnRef idx="0"/>
          <a:fillRef idx="0"/>
          <a:effectRef idx="0"/>
          <a:fontRef idx="minor"/>
        </p:style>
        <p:txBody>
          <a:bodyPr lIns="0" tIns="0" rIns="0" bIns="0" anchor="t">
            <a:noAutofit/>
          </a:bodyPr>
          <a:p>
            <a:pPr defTabSz="914400">
              <a:lnSpc>
                <a:spcPct val="125000"/>
              </a:lnSpc>
              <a:tabLst>
                <a:tab pos="0" algn="l"/>
              </a:tabLst>
            </a:pPr>
            <a:r>
              <a:rPr lang="en-US" sz="1250" b="0" u="none" strike="noStrike">
                <a:solidFill>
                  <a:srgbClr val="8B949E"/>
                </a:solidFill>
                <a:effectLst/>
                <a:uFillTx/>
                <a:latin typeface="Cantarell"/>
                <a:ea typeface="Consolas"/>
              </a:rPr>
              <a:t># Before (still conflicted):</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&lt;&lt;&lt;&lt;&lt;&lt;&lt; HEAD</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DISCOUNT_RATE = 0.10</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DISCOUNT_RATE = 0.15</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&gt;&gt;&gt;&gt;&gt;&gt;&gt; feature-pricing</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8B949E"/>
                </a:solidFill>
                <a:effectLst/>
                <a:uFillTx/>
                <a:latin typeface="Cantarell"/>
                <a:ea typeface="Consolas"/>
              </a:rPr>
              <a:t># After (manually resolved, markers removed):</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DISCOUNT_RATE = 0.15</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add pricing.py</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commit -m "Merge feature-pricing, keep updated discount rate"</a:t>
            </a:r>
            <a:endParaRPr lang="en-US" sz="1250" b="0" u="none" strike="noStrike">
              <a:solidFill>
                <a:srgbClr val="FFFFFF"/>
              </a:solidFill>
              <a:effectLst/>
              <a:uFillTx/>
              <a:latin typeface="Cantarell"/>
            </a:endParaRPr>
          </a:p>
        </p:txBody>
      </p:sp>
      <p:sp>
        <p:nvSpPr>
          <p:cNvPr id="235" name="Text 6"/>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236" name="Text 7"/>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15</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237"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38" name="Image 0" descr="preencoded.png"/>
          <p:cNvPicPr/>
          <p:nvPr/>
        </p:nvPicPr>
        <p:blipFill>
          <a:blip r:embed="rId1"/>
          <a:stretch/>
        </p:blipFill>
        <p:spPr>
          <a:xfrm>
            <a:off x="548640" y="548640"/>
            <a:ext cx="447840" cy="447840"/>
          </a:xfrm>
          <a:prstGeom prst="rect">
            <a:avLst/>
          </a:prstGeom>
          <a:noFill/>
          <a:ln w="0">
            <a:noFill/>
          </a:ln>
        </p:spPr>
      </p:pic>
      <p:sp>
        <p:nvSpPr>
          <p:cNvPr id="239"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Real-World Use: A requirements.txt Conflict</a:t>
            </a:r>
            <a:endParaRPr lang="en-US" sz="2500" b="0" u="none" strike="noStrike">
              <a:solidFill>
                <a:srgbClr val="FFFFFF"/>
              </a:solidFill>
              <a:effectLst/>
              <a:uFillTx/>
              <a:latin typeface="Arial"/>
            </a:endParaRPr>
          </a:p>
        </p:txBody>
      </p:sp>
      <p:sp>
        <p:nvSpPr>
          <p:cNvPr id="240"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41" name="Text 3"/>
          <p:cNvSpPr/>
          <p:nvPr/>
        </p:nvSpPr>
        <p:spPr>
          <a:xfrm>
            <a:off x="548640" y="1828800"/>
            <a:ext cx="4754520" cy="40230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Dependency files conflict constantly in real teams — two people add different packages, on the same line range, at the same time</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The correct resolution is almost always to keep both additions, not to pick one side — unlike the pricing example, this isn’t an either/or decision</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This is one of the most common conflicts you’ll personally hit, especially working on a team</a:t>
            </a:r>
            <a:endParaRPr lang="en-US" sz="1350" b="0" u="none" strike="noStrike">
              <a:solidFill>
                <a:srgbClr val="FFFFFF"/>
              </a:solidFill>
              <a:effectLst/>
              <a:uFillTx/>
              <a:latin typeface="Arial"/>
            </a:endParaRPr>
          </a:p>
        </p:txBody>
      </p:sp>
      <p:sp>
        <p:nvSpPr>
          <p:cNvPr id="242" name="Shape 4"/>
          <p:cNvSpPr/>
          <p:nvPr/>
        </p:nvSpPr>
        <p:spPr>
          <a:xfrm>
            <a:off x="5486400" y="1691640"/>
            <a:ext cx="6217560" cy="4343040"/>
          </a:xfrm>
          <a:prstGeom prst="roundRect">
            <a:avLst>
              <a:gd name="adj" fmla="val 2105"/>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3" name="Text 5"/>
          <p:cNvSpPr/>
          <p:nvPr/>
        </p:nvSpPr>
        <p:spPr>
          <a:xfrm>
            <a:off x="5806440" y="1965960"/>
            <a:ext cx="5577480" cy="3794400"/>
          </a:xfrm>
          <a:prstGeom prst="rect">
            <a:avLst/>
          </a:prstGeom>
          <a:noFill/>
          <a:ln w="0">
            <a:noFill/>
          </a:ln>
        </p:spPr>
        <p:style>
          <a:lnRef idx="0"/>
          <a:fillRef idx="0"/>
          <a:effectRef idx="0"/>
          <a:fontRef idx="minor"/>
        </p:style>
        <p:txBody>
          <a:bodyPr lIns="0" tIns="0" rIns="0" bIns="0" anchor="t">
            <a:noAutofit/>
          </a:bodyPr>
          <a:p>
            <a:pPr defTabSz="914400">
              <a:lnSpc>
                <a:spcPct val="125000"/>
              </a:lnSpc>
              <a:tabLst>
                <a:tab pos="0" algn="l"/>
              </a:tabLst>
            </a:pPr>
            <a:r>
              <a:rPr lang="en-US" sz="1250" b="0" u="none" strike="noStrike">
                <a:solidFill>
                  <a:srgbClr val="C9D1D9"/>
                </a:solidFill>
                <a:effectLst/>
                <a:uFillTx/>
                <a:latin typeface="Cantarell"/>
                <a:ea typeface="Consolas"/>
              </a:rPr>
              <a:t>&lt;&lt;&lt;&lt;&lt;&lt;&lt; HEAD</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requests==2.31.0</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pandas==2.1.0</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&gt;&gt;&gt;&gt;&gt;&gt;&gt; feature-data-import</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8B949E"/>
                </a:solidFill>
                <a:effectLst/>
                <a:uFillTx/>
                <a:latin typeface="Cantarell"/>
                <a:ea typeface="Consolas"/>
              </a:rPr>
              <a:t># Resolved — keep BOTH, since they're unrelated additions</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requests==2.31.0</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pandas==2.1.0</a:t>
            </a:r>
            <a:endParaRPr lang="en-US" sz="1250" b="0" u="none" strike="noStrike">
              <a:solidFill>
                <a:srgbClr val="FFFFFF"/>
              </a:solidFill>
              <a:effectLst/>
              <a:uFillTx/>
              <a:latin typeface="Cantarell"/>
            </a:endParaRPr>
          </a:p>
        </p:txBody>
      </p:sp>
      <p:sp>
        <p:nvSpPr>
          <p:cNvPr id="244" name="Text 6"/>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245" name="Text 7"/>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16</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246"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47" name="Image 0" descr="preencoded.png"/>
          <p:cNvPicPr/>
          <p:nvPr/>
        </p:nvPicPr>
        <p:blipFill>
          <a:blip r:embed="rId1"/>
          <a:stretch/>
        </p:blipFill>
        <p:spPr>
          <a:xfrm>
            <a:off x="548640" y="548640"/>
            <a:ext cx="447840" cy="447840"/>
          </a:xfrm>
          <a:prstGeom prst="rect">
            <a:avLst/>
          </a:prstGeom>
          <a:noFill/>
          <a:ln w="0">
            <a:noFill/>
          </a:ln>
        </p:spPr>
      </p:pic>
      <p:sp>
        <p:nvSpPr>
          <p:cNvPr id="248"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Aborting a Merge</a:t>
            </a:r>
            <a:endParaRPr lang="en-US" sz="2500" b="0" u="none" strike="noStrike">
              <a:solidFill>
                <a:srgbClr val="FFFFFF"/>
              </a:solidFill>
              <a:effectLst/>
              <a:uFillTx/>
              <a:latin typeface="Arial"/>
            </a:endParaRPr>
          </a:p>
        </p:txBody>
      </p:sp>
      <p:sp>
        <p:nvSpPr>
          <p:cNvPr id="249"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50" name="Text 3"/>
          <p:cNvSpPr/>
          <p:nvPr/>
        </p:nvSpPr>
        <p:spPr>
          <a:xfrm>
            <a:off x="548640" y="1828800"/>
            <a:ext cx="4754520" cy="40230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If a conflict looks messier than expected, or you started the merge by mistake, you don’t have to push through it</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git merge --abort completely cancels the merge and restores everything to exactly how it was right before you ran git merge</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This is always safe to use — nothing has been committed yet at this stage, so there’s nothing to lose by backing out</a:t>
            </a:r>
            <a:endParaRPr lang="en-US" sz="1350" b="0" u="none" strike="noStrike">
              <a:solidFill>
                <a:srgbClr val="FFFFFF"/>
              </a:solidFill>
              <a:effectLst/>
              <a:uFillTx/>
              <a:latin typeface="Arial"/>
            </a:endParaRPr>
          </a:p>
        </p:txBody>
      </p:sp>
      <p:sp>
        <p:nvSpPr>
          <p:cNvPr id="251" name="Shape 4"/>
          <p:cNvSpPr/>
          <p:nvPr/>
        </p:nvSpPr>
        <p:spPr>
          <a:xfrm>
            <a:off x="5486400" y="1691640"/>
            <a:ext cx="6217560" cy="4343040"/>
          </a:xfrm>
          <a:prstGeom prst="roundRect">
            <a:avLst>
              <a:gd name="adj" fmla="val 2105"/>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2" name="Text 5"/>
          <p:cNvSpPr/>
          <p:nvPr/>
        </p:nvSpPr>
        <p:spPr>
          <a:xfrm>
            <a:off x="5806440" y="1965960"/>
            <a:ext cx="5577480" cy="3794400"/>
          </a:xfrm>
          <a:prstGeom prst="rect">
            <a:avLst/>
          </a:prstGeom>
          <a:noFill/>
          <a:ln w="0">
            <a:noFill/>
          </a:ln>
        </p:spPr>
        <p:style>
          <a:lnRef idx="0"/>
          <a:fillRef idx="0"/>
          <a:effectRef idx="0"/>
          <a:fontRef idx="minor"/>
        </p:style>
        <p:txBody>
          <a:bodyPr lIns="0" tIns="0" rIns="0" bIns="0" anchor="t">
            <a:noAutofit/>
          </a:bodyPr>
          <a:p>
            <a:pPr defTabSz="914400">
              <a:lnSpc>
                <a:spcPct val="125000"/>
              </a:lnSpc>
              <a:tabLst>
                <a:tab pos="0" algn="l"/>
              </a:tabLst>
            </a:pPr>
            <a:r>
              <a:rPr lang="en-US" sz="1250" b="0" u="none" strike="noStrike">
                <a:solidFill>
                  <a:srgbClr val="C9D1D9"/>
                </a:solidFill>
                <a:effectLst/>
                <a:uFillTx/>
                <a:latin typeface="Cantarell"/>
                <a:ea typeface="Consolas"/>
              </a:rPr>
              <a:t>$ git merge feature-pricing</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CONFLICT (content): Merge conflict in pricing.py</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merge --abort</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8B949E"/>
                </a:solidFill>
                <a:effectLst/>
                <a:uFillTx/>
                <a:latin typeface="Cantarell"/>
                <a:ea typeface="Consolas"/>
              </a:rPr>
              <a:t># Back to exactly how things were before the merge attempt</a:t>
            </a:r>
            <a:endParaRPr lang="en-US" sz="1250" b="0" u="none" strike="noStrike">
              <a:solidFill>
                <a:srgbClr val="FFFFFF"/>
              </a:solidFill>
              <a:effectLst/>
              <a:uFillTx/>
              <a:latin typeface="Cantarell"/>
            </a:endParaRPr>
          </a:p>
        </p:txBody>
      </p:sp>
      <p:sp>
        <p:nvSpPr>
          <p:cNvPr id="253" name="Text 6"/>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254" name="Text 7"/>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17</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255"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56" name="Image 0" descr="preencoded.png"/>
          <p:cNvPicPr/>
          <p:nvPr/>
        </p:nvPicPr>
        <p:blipFill>
          <a:blip r:embed="rId1"/>
          <a:stretch/>
        </p:blipFill>
        <p:spPr>
          <a:xfrm>
            <a:off x="548640" y="548640"/>
            <a:ext cx="447840" cy="447840"/>
          </a:xfrm>
          <a:prstGeom prst="rect">
            <a:avLst/>
          </a:prstGeom>
          <a:noFill/>
          <a:ln w="0">
            <a:noFill/>
          </a:ln>
        </p:spPr>
      </p:pic>
      <p:sp>
        <p:nvSpPr>
          <p:cNvPr id="257"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Practice Set — Merge Conflicts</a:t>
            </a:r>
            <a:endParaRPr lang="en-US" sz="2500" b="0" u="none" strike="noStrike">
              <a:solidFill>
                <a:srgbClr val="FFFFFF"/>
              </a:solidFill>
              <a:effectLst/>
              <a:uFillTx/>
              <a:latin typeface="Arial"/>
            </a:endParaRPr>
          </a:p>
        </p:txBody>
      </p:sp>
      <p:sp>
        <p:nvSpPr>
          <p:cNvPr id="258"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59" name="Shape 3"/>
          <p:cNvSpPr/>
          <p:nvPr/>
        </p:nvSpPr>
        <p:spPr>
          <a:xfrm>
            <a:off x="457200" y="1600200"/>
            <a:ext cx="11274120" cy="4480200"/>
          </a:xfrm>
          <a:prstGeom prst="roundRect">
            <a:avLst>
              <a:gd name="adj" fmla="val 2449"/>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0" name="Text 4"/>
          <p:cNvSpPr/>
          <p:nvPr/>
        </p:nvSpPr>
        <p:spPr>
          <a:xfrm>
            <a:off x="822960" y="1828800"/>
            <a:ext cx="10515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Calibri"/>
                <a:ea typeface="Calibri"/>
              </a:rPr>
              <a:t>Try these yourself first — no code shown, that's the point</a:t>
            </a:r>
            <a:endParaRPr lang="en-US" sz="1600" b="0" u="none" strike="noStrike">
              <a:solidFill>
                <a:srgbClr val="FFFFFF"/>
              </a:solidFill>
              <a:effectLst/>
              <a:uFillTx/>
              <a:latin typeface="Arial"/>
            </a:endParaRPr>
          </a:p>
        </p:txBody>
      </p:sp>
      <p:sp>
        <p:nvSpPr>
          <p:cNvPr id="261" name="Shape 5"/>
          <p:cNvSpPr/>
          <p:nvPr/>
        </p:nvSpPr>
        <p:spPr>
          <a:xfrm>
            <a:off x="822960" y="2423160"/>
            <a:ext cx="383760" cy="38376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2" name="Text 6"/>
          <p:cNvSpPr/>
          <p:nvPr/>
        </p:nvSpPr>
        <p:spPr>
          <a:xfrm>
            <a:off x="822960" y="242316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FFFFFF"/>
              </a:solidFill>
              <a:effectLst/>
              <a:uFillTx/>
              <a:latin typeface="Arial"/>
            </a:endParaRPr>
          </a:p>
        </p:txBody>
      </p:sp>
      <p:sp>
        <p:nvSpPr>
          <p:cNvPr id="263" name="Text 7"/>
          <p:cNvSpPr/>
          <p:nvPr/>
        </p:nvSpPr>
        <p:spPr>
          <a:xfrm>
            <a:off x="1435680" y="2423160"/>
            <a:ext cx="9582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C9D1D9"/>
                </a:solidFill>
                <a:effectLst/>
                <a:uFillTx/>
                <a:latin typeface="Calibri"/>
                <a:ea typeface="Calibri"/>
              </a:rPr>
              <a:t>Deliberately create a conflict: edit the same line on two branches, then try to merge them</a:t>
            </a:r>
            <a:endParaRPr lang="en-US" sz="1250" b="0" u="none" strike="noStrike">
              <a:solidFill>
                <a:srgbClr val="FFFFFF"/>
              </a:solidFill>
              <a:effectLst/>
              <a:uFillTx/>
              <a:latin typeface="Arial"/>
            </a:endParaRPr>
          </a:p>
        </p:txBody>
      </p:sp>
      <p:sp>
        <p:nvSpPr>
          <p:cNvPr id="264" name="Shape 8"/>
          <p:cNvSpPr/>
          <p:nvPr/>
        </p:nvSpPr>
        <p:spPr>
          <a:xfrm>
            <a:off x="822960" y="3300840"/>
            <a:ext cx="383760" cy="38376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5" name="Text 9"/>
          <p:cNvSpPr/>
          <p:nvPr/>
        </p:nvSpPr>
        <p:spPr>
          <a:xfrm>
            <a:off x="822960" y="330084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FFFFFF"/>
              </a:solidFill>
              <a:effectLst/>
              <a:uFillTx/>
              <a:latin typeface="Arial"/>
            </a:endParaRPr>
          </a:p>
        </p:txBody>
      </p:sp>
      <p:sp>
        <p:nvSpPr>
          <p:cNvPr id="266" name="Text 10"/>
          <p:cNvSpPr/>
          <p:nvPr/>
        </p:nvSpPr>
        <p:spPr>
          <a:xfrm>
            <a:off x="1435680" y="3300840"/>
            <a:ext cx="9582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C9D1D9"/>
                </a:solidFill>
                <a:effectLst/>
                <a:uFillTx/>
                <a:latin typeface="Calibri"/>
                <a:ea typeface="Calibri"/>
              </a:rPr>
              <a:t>Read the conflict markers carefully, and identify exactly which part is "yours" and which is "theirs"</a:t>
            </a:r>
            <a:endParaRPr lang="en-US" sz="1250" b="0" u="none" strike="noStrike">
              <a:solidFill>
                <a:srgbClr val="FFFFFF"/>
              </a:solidFill>
              <a:effectLst/>
              <a:uFillTx/>
              <a:latin typeface="Arial"/>
            </a:endParaRPr>
          </a:p>
        </p:txBody>
      </p:sp>
      <p:sp>
        <p:nvSpPr>
          <p:cNvPr id="267" name="Shape 11"/>
          <p:cNvSpPr/>
          <p:nvPr/>
        </p:nvSpPr>
        <p:spPr>
          <a:xfrm>
            <a:off x="822960" y="4178880"/>
            <a:ext cx="383760" cy="38376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8" name="Text 12"/>
          <p:cNvSpPr/>
          <p:nvPr/>
        </p:nvSpPr>
        <p:spPr>
          <a:xfrm>
            <a:off x="822960" y="417888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FFFFFF"/>
              </a:solidFill>
              <a:effectLst/>
              <a:uFillTx/>
              <a:latin typeface="Arial"/>
            </a:endParaRPr>
          </a:p>
        </p:txBody>
      </p:sp>
      <p:sp>
        <p:nvSpPr>
          <p:cNvPr id="269" name="Text 13"/>
          <p:cNvSpPr/>
          <p:nvPr/>
        </p:nvSpPr>
        <p:spPr>
          <a:xfrm>
            <a:off x="1435680" y="4178880"/>
            <a:ext cx="9582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C9D1D9"/>
                </a:solidFill>
                <a:effectLst/>
                <a:uFillTx/>
                <a:latin typeface="Calibri"/>
                <a:ea typeface="Calibri"/>
              </a:rPr>
              <a:t>Resolve the conflict by hand, keeping a genuine combination of both changes, then commit the merge</a:t>
            </a:r>
            <a:endParaRPr lang="en-US" sz="1250" b="0" u="none" strike="noStrike">
              <a:solidFill>
                <a:srgbClr val="FFFFFF"/>
              </a:solidFill>
              <a:effectLst/>
              <a:uFillTx/>
              <a:latin typeface="Arial"/>
            </a:endParaRPr>
          </a:p>
        </p:txBody>
      </p:sp>
      <p:sp>
        <p:nvSpPr>
          <p:cNvPr id="270" name="Shape 14"/>
          <p:cNvSpPr/>
          <p:nvPr/>
        </p:nvSpPr>
        <p:spPr>
          <a:xfrm>
            <a:off x="822960" y="5056560"/>
            <a:ext cx="383760" cy="38376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1" name="Text 15"/>
          <p:cNvSpPr/>
          <p:nvPr/>
        </p:nvSpPr>
        <p:spPr>
          <a:xfrm>
            <a:off x="822960" y="505656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4</a:t>
            </a:r>
            <a:endParaRPr lang="en-US" sz="1300" b="0" u="none" strike="noStrike">
              <a:solidFill>
                <a:srgbClr val="FFFFFF"/>
              </a:solidFill>
              <a:effectLst/>
              <a:uFillTx/>
              <a:latin typeface="Arial"/>
            </a:endParaRPr>
          </a:p>
        </p:txBody>
      </p:sp>
      <p:sp>
        <p:nvSpPr>
          <p:cNvPr id="272" name="Text 16"/>
          <p:cNvSpPr/>
          <p:nvPr/>
        </p:nvSpPr>
        <p:spPr>
          <a:xfrm>
            <a:off x="1435680" y="5056560"/>
            <a:ext cx="9582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C9D1D9"/>
                </a:solidFill>
                <a:effectLst/>
                <a:uFillTx/>
                <a:latin typeface="Calibri"/>
                <a:ea typeface="Calibri"/>
              </a:rPr>
              <a:t>Deliberately start a second conflicting merge, and this time cancel it cleanly with git merge --abort</a:t>
            </a:r>
            <a:endParaRPr lang="en-US" sz="1250" b="0" u="none" strike="noStrike">
              <a:solidFill>
                <a:srgbClr val="FFFFFF"/>
              </a:solidFill>
              <a:effectLst/>
              <a:uFillTx/>
              <a:latin typeface="Arial"/>
            </a:endParaRPr>
          </a:p>
        </p:txBody>
      </p:sp>
      <p:sp>
        <p:nvSpPr>
          <p:cNvPr id="273" name="Text 17"/>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274" name="Text 18"/>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18</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275" name="Shape 0"/>
          <p:cNvSpPr/>
          <p:nvPr/>
        </p:nvSpPr>
        <p:spPr>
          <a:xfrm>
            <a:off x="-2011680" y="4206240"/>
            <a:ext cx="5668920" cy="5668920"/>
          </a:xfrm>
          <a:prstGeom prst="ellipse">
            <a:avLst/>
          </a:prstGeom>
          <a:solidFill>
            <a:srgbClr val="1419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6" name="Shape 1"/>
          <p:cNvSpPr/>
          <p:nvPr/>
        </p:nvSpPr>
        <p:spPr>
          <a:xfrm>
            <a:off x="9418320" y="-2377440"/>
            <a:ext cx="5668920" cy="5668920"/>
          </a:xfrm>
          <a:prstGeom prst="ellipse">
            <a:avLst/>
          </a:prstGeom>
          <a:solidFill>
            <a:srgbClr val="1419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7" name="Shape 2"/>
          <p:cNvSpPr/>
          <p:nvPr/>
        </p:nvSpPr>
        <p:spPr>
          <a:xfrm>
            <a:off x="5596200" y="731520"/>
            <a:ext cx="1005480" cy="100548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78" name="Image 0" descr="preencoded.png"/>
          <p:cNvPicPr/>
          <p:nvPr/>
        </p:nvPicPr>
        <p:blipFill>
          <a:blip r:embed="rId1"/>
          <a:stretch/>
        </p:blipFill>
        <p:spPr>
          <a:xfrm>
            <a:off x="5742360" y="877680"/>
            <a:ext cx="703800" cy="703800"/>
          </a:xfrm>
          <a:prstGeom prst="rect">
            <a:avLst/>
          </a:prstGeom>
          <a:noFill/>
          <a:ln w="0">
            <a:noFill/>
          </a:ln>
        </p:spPr>
      </p:pic>
      <p:sp>
        <p:nvSpPr>
          <p:cNvPr id="279" name="Text 3"/>
          <p:cNvSpPr/>
          <p:nvPr/>
        </p:nvSpPr>
        <p:spPr>
          <a:xfrm>
            <a:off x="914400" y="1965960"/>
            <a:ext cx="103597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pc="201" strike="noStrike">
                <a:solidFill>
                  <a:srgbClr val="F7A788"/>
                </a:solidFill>
                <a:effectLst/>
                <a:uFillTx/>
                <a:latin typeface="Calibri"/>
                <a:ea typeface="Calibri"/>
              </a:rPr>
              <a:t>PART 3</a:t>
            </a:r>
            <a:endParaRPr lang="en-US" sz="1300" b="0" u="none" strike="noStrike">
              <a:solidFill>
                <a:srgbClr val="FFFFFF"/>
              </a:solidFill>
              <a:effectLst/>
              <a:uFillTx/>
              <a:latin typeface="Arial"/>
            </a:endParaRPr>
          </a:p>
        </p:txBody>
      </p:sp>
      <p:sp>
        <p:nvSpPr>
          <p:cNvPr id="280" name="Text 4"/>
          <p:cNvSpPr/>
          <p:nvPr/>
        </p:nvSpPr>
        <p:spPr>
          <a:xfrm>
            <a:off x="914400" y="2377440"/>
            <a:ext cx="10359720" cy="2011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3200" b="1" u="none" strike="noStrike">
                <a:solidFill>
                  <a:srgbClr val="FFFFFF"/>
                </a:solidFill>
                <a:effectLst/>
                <a:uFillTx/>
                <a:latin typeface="Calibri"/>
                <a:ea typeface="Calibri"/>
              </a:rPr>
              <a:t>git diff, Stash &amp; Tags</a:t>
            </a:r>
            <a:endParaRPr lang="en-US" sz="3200" b="0" u="none" strike="noStrike">
              <a:solidFill>
                <a:srgbClr val="FFFFFF"/>
              </a:solidFill>
              <a:effectLst/>
              <a:uFillTx/>
              <a:latin typeface="Arial"/>
            </a:endParaRPr>
          </a:p>
        </p:txBody>
      </p:sp>
      <p:sp>
        <p:nvSpPr>
          <p:cNvPr id="281" name="Text 5"/>
          <p:cNvSpPr/>
          <p:nvPr/>
        </p:nvSpPr>
        <p:spPr>
          <a:xfrm>
            <a:off x="1463040" y="4572000"/>
            <a:ext cx="9262440" cy="10969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0" u="none" strike="noStrike">
                <a:solidFill>
                  <a:srgbClr val="C9D1D9"/>
                </a:solidFill>
                <a:effectLst/>
                <a:uFillTx/>
                <a:latin typeface="Calibri"/>
                <a:ea typeface="Calibri"/>
              </a:rPr>
              <a:t>Comparing anything to anything, pausing unfinished work, and marking meaningful points in history</a:t>
            </a:r>
            <a:endParaRPr lang="en-US" sz="1600" b="0" u="none" strike="noStrike">
              <a:solidFill>
                <a:srgbClr val="FFFFFF"/>
              </a:solidFill>
              <a:effectLst/>
              <a:uFillTx/>
              <a:latin typeface="Arial"/>
            </a:endParaRPr>
          </a:p>
        </p:txBody>
      </p:sp>
      <p:sp>
        <p:nvSpPr>
          <p:cNvPr id="282" name="Text 6"/>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19</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283"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84" name="Image 0" descr="preencoded.png"/>
          <p:cNvPicPr/>
          <p:nvPr/>
        </p:nvPicPr>
        <p:blipFill>
          <a:blip r:embed="rId1"/>
          <a:stretch/>
        </p:blipFill>
        <p:spPr>
          <a:xfrm>
            <a:off x="548640" y="548640"/>
            <a:ext cx="447840" cy="447840"/>
          </a:xfrm>
          <a:prstGeom prst="rect">
            <a:avLst/>
          </a:prstGeom>
          <a:noFill/>
          <a:ln w="0">
            <a:noFill/>
          </a:ln>
        </p:spPr>
      </p:pic>
      <p:sp>
        <p:nvSpPr>
          <p:cNvPr id="285"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git diff Between Branches and Commits</a:t>
            </a:r>
            <a:endParaRPr lang="en-US" sz="2500" b="0" u="none" strike="noStrike">
              <a:solidFill>
                <a:srgbClr val="FFFFFF"/>
              </a:solidFill>
              <a:effectLst/>
              <a:uFillTx/>
              <a:latin typeface="Arial"/>
            </a:endParaRPr>
          </a:p>
        </p:txBody>
      </p:sp>
      <p:sp>
        <p:nvSpPr>
          <p:cNvPr id="286"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87" name="Text 3"/>
          <p:cNvSpPr/>
          <p:nvPr/>
        </p:nvSpPr>
        <p:spPr>
          <a:xfrm>
            <a:off x="548640" y="1828800"/>
            <a:ext cx="4754520" cy="40230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git diff isn’t limited to comparing your working directory to the last commit — it can compare any two commits, branches, or points in history</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git diff branchA branchB shows everything different between two branches, in either direction</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git diff HEAD~3 HEAD shows everything that changed across your last three commits combined</a:t>
            </a:r>
            <a:endParaRPr lang="en-US" sz="1350" b="0" u="none" strike="noStrike">
              <a:solidFill>
                <a:srgbClr val="FFFFFF"/>
              </a:solidFill>
              <a:effectLst/>
              <a:uFillTx/>
              <a:latin typeface="Arial"/>
            </a:endParaRPr>
          </a:p>
        </p:txBody>
      </p:sp>
      <p:sp>
        <p:nvSpPr>
          <p:cNvPr id="288" name="Shape 4"/>
          <p:cNvSpPr/>
          <p:nvPr/>
        </p:nvSpPr>
        <p:spPr>
          <a:xfrm>
            <a:off x="5486400" y="1691640"/>
            <a:ext cx="6217560" cy="4343040"/>
          </a:xfrm>
          <a:prstGeom prst="roundRect">
            <a:avLst>
              <a:gd name="adj" fmla="val 2105"/>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9" name="Text 5"/>
          <p:cNvSpPr/>
          <p:nvPr/>
        </p:nvSpPr>
        <p:spPr>
          <a:xfrm>
            <a:off x="5806440" y="1965960"/>
            <a:ext cx="5577480" cy="3794400"/>
          </a:xfrm>
          <a:prstGeom prst="rect">
            <a:avLst/>
          </a:prstGeom>
          <a:noFill/>
          <a:ln w="0">
            <a:noFill/>
          </a:ln>
        </p:spPr>
        <p:style>
          <a:lnRef idx="0"/>
          <a:fillRef idx="0"/>
          <a:effectRef idx="0"/>
          <a:fontRef idx="minor"/>
        </p:style>
        <p:txBody>
          <a:bodyPr lIns="0" tIns="0" rIns="0" bIns="0" anchor="t">
            <a:noAutofit/>
          </a:bodyPr>
          <a:p>
            <a:pPr defTabSz="914400">
              <a:lnSpc>
                <a:spcPct val="125000"/>
              </a:lnSpc>
              <a:tabLst>
                <a:tab pos="0" algn="l"/>
              </a:tabLst>
            </a:pPr>
            <a:r>
              <a:rPr lang="en-US" sz="1250" b="0" u="none" strike="noStrike">
                <a:solidFill>
                  <a:srgbClr val="C9D1D9"/>
                </a:solidFill>
                <a:effectLst/>
                <a:uFillTx/>
                <a:latin typeface="Cantarell"/>
                <a:ea typeface="Consolas"/>
              </a:rPr>
              <a:t>$ git diff main feature-login        </a:t>
            </a:r>
            <a:r>
              <a:rPr lang="en-US" sz="1250" b="0" u="none" strike="noStrike">
                <a:solidFill>
                  <a:srgbClr val="8B949E"/>
                </a:solidFill>
                <a:effectLst/>
                <a:uFillTx/>
                <a:latin typeface="Cantarell"/>
                <a:ea typeface="Consolas"/>
              </a:rPr>
              <a:t>  # compare two branches</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diff HEAD~3 HEAD               </a:t>
            </a:r>
            <a:r>
              <a:rPr lang="en-US" sz="1250" b="0" u="none" strike="noStrike">
                <a:solidFill>
                  <a:srgbClr val="8B949E"/>
                </a:solidFill>
                <a:effectLst/>
                <a:uFillTx/>
                <a:latin typeface="Cantarell"/>
                <a:ea typeface="Consolas"/>
              </a:rPr>
              <a:t>  # last 3 commits, combined</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diff a1b2c3d e5f6a7b            </a:t>
            </a:r>
            <a:r>
              <a:rPr lang="en-US" sz="1250" b="0" u="none" strike="noStrike">
                <a:solidFill>
                  <a:srgbClr val="8B949E"/>
                </a:solidFill>
                <a:effectLst/>
                <a:uFillTx/>
                <a:latin typeface="Cantarell"/>
                <a:ea typeface="Consolas"/>
              </a:rPr>
              <a:t>  # compare two specific commits</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diff main feature-login -- app.py # limit the diff to one file</a:t>
            </a:r>
            <a:endParaRPr lang="en-US" sz="1250" b="0" u="none" strike="noStrike">
              <a:solidFill>
                <a:srgbClr val="FFFFFF"/>
              </a:solidFill>
              <a:effectLst/>
              <a:uFillTx/>
              <a:latin typeface="Cantarell"/>
            </a:endParaRPr>
          </a:p>
        </p:txBody>
      </p:sp>
      <p:sp>
        <p:nvSpPr>
          <p:cNvPr id="290" name="Text 6"/>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291" name="Text 7"/>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20</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292"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93" name="Image 0" descr="preencoded.png"/>
          <p:cNvPicPr/>
          <p:nvPr/>
        </p:nvPicPr>
        <p:blipFill>
          <a:blip r:embed="rId1"/>
          <a:stretch/>
        </p:blipFill>
        <p:spPr>
          <a:xfrm>
            <a:off x="548640" y="548640"/>
            <a:ext cx="447840" cy="447840"/>
          </a:xfrm>
          <a:prstGeom prst="rect">
            <a:avLst/>
          </a:prstGeom>
          <a:noFill/>
          <a:ln w="0">
            <a:noFill/>
          </a:ln>
        </p:spPr>
      </p:pic>
      <p:sp>
        <p:nvSpPr>
          <p:cNvPr id="294"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What Is git stash?</a:t>
            </a:r>
            <a:endParaRPr lang="en-US" sz="2500" b="0" u="none" strike="noStrike">
              <a:solidFill>
                <a:srgbClr val="FFFFFF"/>
              </a:solidFill>
              <a:effectLst/>
              <a:uFillTx/>
              <a:latin typeface="Arial"/>
            </a:endParaRPr>
          </a:p>
        </p:txBody>
      </p:sp>
      <p:sp>
        <p:nvSpPr>
          <p:cNvPr id="295"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96" name="Shape 3"/>
          <p:cNvSpPr/>
          <p:nvPr/>
        </p:nvSpPr>
        <p:spPr>
          <a:xfrm>
            <a:off x="457200" y="1554480"/>
            <a:ext cx="3657240" cy="4663080"/>
          </a:xfrm>
          <a:prstGeom prst="roundRect">
            <a:avLst>
              <a:gd name="adj" fmla="val 3000"/>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7" name="Shape 4"/>
          <p:cNvSpPr/>
          <p:nvPr/>
        </p:nvSpPr>
        <p:spPr>
          <a:xfrm>
            <a:off x="1508760" y="2194560"/>
            <a:ext cx="1554120" cy="15541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98" name="Image 1" descr="preencoded.png"/>
          <p:cNvPicPr/>
          <p:nvPr/>
        </p:nvPicPr>
        <p:blipFill>
          <a:blip r:embed="rId2"/>
          <a:stretch/>
        </p:blipFill>
        <p:spPr>
          <a:xfrm>
            <a:off x="1746360" y="2423160"/>
            <a:ext cx="1087920" cy="1087920"/>
          </a:xfrm>
          <a:prstGeom prst="rect">
            <a:avLst/>
          </a:prstGeom>
          <a:noFill/>
          <a:ln w="0">
            <a:noFill/>
          </a:ln>
        </p:spPr>
      </p:pic>
      <p:sp>
        <p:nvSpPr>
          <p:cNvPr id="299" name="Text 5"/>
          <p:cNvSpPr/>
          <p:nvPr/>
        </p:nvSpPr>
        <p:spPr>
          <a:xfrm>
            <a:off x="640080" y="3977640"/>
            <a:ext cx="3291480" cy="17370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700" b="1" u="none" strike="noStrike">
                <a:solidFill>
                  <a:srgbClr val="FFFFFF"/>
                </a:solidFill>
                <a:effectLst/>
                <a:uFillTx/>
                <a:latin typeface="Calibri"/>
                <a:ea typeface="Calibri"/>
              </a:rPr>
              <a:t>A shelf</a:t>
            </a:r>
            <a:endParaRPr lang="en-US" sz="1700" b="0" u="none" strike="noStrike">
              <a:solidFill>
                <a:srgbClr val="FFFFFF"/>
              </a:solidFill>
              <a:effectLst/>
              <a:uFillTx/>
              <a:latin typeface="Arial"/>
            </a:endParaRPr>
          </a:p>
          <a:p>
            <a:pPr algn="ctr" defTabSz="914400">
              <a:lnSpc>
                <a:spcPct val="100000"/>
              </a:lnSpc>
              <a:tabLst>
                <a:tab pos="0" algn="l"/>
              </a:tabLst>
            </a:pPr>
            <a:r>
              <a:rPr lang="en-US" sz="1700" b="1" u="none" strike="noStrike">
                <a:solidFill>
                  <a:srgbClr val="FFFFFF"/>
                </a:solidFill>
                <a:effectLst/>
                <a:uFillTx/>
                <a:latin typeface="Calibri"/>
                <a:ea typeface="Calibri"/>
              </a:rPr>
              <a:t>for unfinished</a:t>
            </a:r>
            <a:endParaRPr lang="en-US" sz="1700" b="0" u="none" strike="noStrike">
              <a:solidFill>
                <a:srgbClr val="FFFFFF"/>
              </a:solidFill>
              <a:effectLst/>
              <a:uFillTx/>
              <a:latin typeface="Arial"/>
            </a:endParaRPr>
          </a:p>
          <a:p>
            <a:pPr algn="ctr" defTabSz="914400">
              <a:lnSpc>
                <a:spcPct val="100000"/>
              </a:lnSpc>
              <a:tabLst>
                <a:tab pos="0" algn="l"/>
              </a:tabLst>
            </a:pPr>
            <a:r>
              <a:rPr lang="en-US" sz="1700" b="1" u="none" strike="noStrike">
                <a:solidFill>
                  <a:srgbClr val="FFFFFF"/>
                </a:solidFill>
                <a:effectLst/>
                <a:uFillTx/>
                <a:latin typeface="Calibri"/>
                <a:ea typeface="Calibri"/>
              </a:rPr>
              <a:t>work</a:t>
            </a:r>
            <a:endParaRPr lang="en-US" sz="1700" b="0" u="none" strike="noStrike">
              <a:solidFill>
                <a:srgbClr val="FFFFFF"/>
              </a:solidFill>
              <a:effectLst/>
              <a:uFillTx/>
              <a:latin typeface="Arial"/>
            </a:endParaRPr>
          </a:p>
        </p:txBody>
      </p:sp>
      <p:sp>
        <p:nvSpPr>
          <p:cNvPr id="300" name="Text 6"/>
          <p:cNvSpPr/>
          <p:nvPr/>
        </p:nvSpPr>
        <p:spPr>
          <a:xfrm>
            <a:off x="4572000" y="1737360"/>
            <a:ext cx="7131960" cy="411444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git stash temporarily sets aside your uncommitted changes, and gives you back a perfectly clean working directory — without committing anything unfinished</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This is exactly what you need when you’re mid-feature, and suddenly need to switch branches to fix an urgent bug</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Your stashed changes aren’t lost — they’re saved in a stack you can bring back at any time, on any branch</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Stashing is local and temporary by nature — it’s not meant as a long-term storage place for work</a:t>
            </a:r>
            <a:endParaRPr lang="en-US" sz="1600" b="0" u="none" strike="noStrike">
              <a:solidFill>
                <a:srgbClr val="FFFFFF"/>
              </a:solidFill>
              <a:effectLst/>
              <a:uFillTx/>
              <a:latin typeface="Arial"/>
            </a:endParaRPr>
          </a:p>
        </p:txBody>
      </p:sp>
      <p:sp>
        <p:nvSpPr>
          <p:cNvPr id="301" name="Text 7"/>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302" name="Text 8"/>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21</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303"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04" name="Image 0" descr="preencoded.png"/>
          <p:cNvPicPr/>
          <p:nvPr/>
        </p:nvPicPr>
        <p:blipFill>
          <a:blip r:embed="rId1"/>
          <a:stretch/>
        </p:blipFill>
        <p:spPr>
          <a:xfrm>
            <a:off x="548640" y="548640"/>
            <a:ext cx="447840" cy="447840"/>
          </a:xfrm>
          <a:prstGeom prst="rect">
            <a:avLst/>
          </a:prstGeom>
          <a:noFill/>
          <a:ln w="0">
            <a:noFill/>
          </a:ln>
        </p:spPr>
      </p:pic>
      <p:sp>
        <p:nvSpPr>
          <p:cNvPr id="305"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stash save, list, pop, apply, drop</a:t>
            </a:r>
            <a:endParaRPr lang="en-US" sz="2500" b="0" u="none" strike="noStrike">
              <a:solidFill>
                <a:srgbClr val="FFFFFF"/>
              </a:solidFill>
              <a:effectLst/>
              <a:uFillTx/>
              <a:latin typeface="Arial"/>
            </a:endParaRPr>
          </a:p>
        </p:txBody>
      </p:sp>
      <p:sp>
        <p:nvSpPr>
          <p:cNvPr id="306"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307" name="Text 3"/>
          <p:cNvSpPr/>
          <p:nvPr/>
        </p:nvSpPr>
        <p:spPr>
          <a:xfrm>
            <a:off x="548640" y="1828800"/>
            <a:ext cx="4754520" cy="40230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git stash saves your current changes and cleans your working directory in one step</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git stash pop brings back your most recent stash AND removes it from the stack; git stash apply brings it back but keeps a copy on the stack</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You can stash multiple times — git stash list shows every saved stash, most recent first</a:t>
            </a:r>
            <a:endParaRPr lang="en-US" sz="1350" b="0" u="none" strike="noStrike">
              <a:solidFill>
                <a:srgbClr val="FFFFFF"/>
              </a:solidFill>
              <a:effectLst/>
              <a:uFillTx/>
              <a:latin typeface="Arial"/>
            </a:endParaRPr>
          </a:p>
        </p:txBody>
      </p:sp>
      <p:sp>
        <p:nvSpPr>
          <p:cNvPr id="308" name="Shape 4"/>
          <p:cNvSpPr/>
          <p:nvPr/>
        </p:nvSpPr>
        <p:spPr>
          <a:xfrm>
            <a:off x="5486400" y="1691640"/>
            <a:ext cx="6217560" cy="4343040"/>
          </a:xfrm>
          <a:prstGeom prst="roundRect">
            <a:avLst>
              <a:gd name="adj" fmla="val 2105"/>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9" name="Text 5"/>
          <p:cNvSpPr/>
          <p:nvPr/>
        </p:nvSpPr>
        <p:spPr>
          <a:xfrm>
            <a:off x="5806440" y="1965960"/>
            <a:ext cx="5577480" cy="3794400"/>
          </a:xfrm>
          <a:prstGeom prst="rect">
            <a:avLst/>
          </a:prstGeom>
          <a:noFill/>
          <a:ln w="0">
            <a:noFill/>
          </a:ln>
        </p:spPr>
        <p:style>
          <a:lnRef idx="0"/>
          <a:fillRef idx="0"/>
          <a:effectRef idx="0"/>
          <a:fontRef idx="minor"/>
        </p:style>
        <p:txBody>
          <a:bodyPr lIns="0" tIns="0" rIns="0" bIns="0" anchor="t">
            <a:noAutofit/>
          </a:bodyPr>
          <a:p>
            <a:pPr defTabSz="914400">
              <a:lnSpc>
                <a:spcPct val="125000"/>
              </a:lnSpc>
              <a:tabLst>
                <a:tab pos="0" algn="l"/>
              </a:tabLst>
            </a:pPr>
            <a:r>
              <a:rPr lang="en-US" sz="1250" b="0" u="none" strike="noStrike">
                <a:solidFill>
                  <a:srgbClr val="C9D1D9"/>
                </a:solidFill>
                <a:effectLst/>
                <a:uFillTx/>
                <a:latin typeface="Cantarell"/>
                <a:ea typeface="Consolas"/>
              </a:rPr>
              <a:t>$ git stash                     </a:t>
            </a:r>
            <a:r>
              <a:rPr lang="en-US" sz="1250" b="0" u="none" strike="noStrike">
                <a:solidFill>
                  <a:srgbClr val="8B949E"/>
                </a:solidFill>
                <a:effectLst/>
                <a:uFillTx/>
                <a:latin typeface="Cantarell"/>
                <a:ea typeface="Consolas"/>
              </a:rPr>
              <a:t>  # save changes, clean working directory</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stash list</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stash@{0}: WIP on feature-login: a1b2c3d Add validation</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stash pop                 </a:t>
            </a:r>
            <a:r>
              <a:rPr lang="en-US" sz="1250" b="0" u="none" strike="noStrike">
                <a:solidFill>
                  <a:srgbClr val="8B949E"/>
                </a:solidFill>
                <a:effectLst/>
                <a:uFillTx/>
                <a:latin typeface="Cantarell"/>
                <a:ea typeface="Consolas"/>
              </a:rPr>
              <a:t>  # restore AND remove from the stack</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stash apply stash@{0}     </a:t>
            </a:r>
            <a:r>
              <a:rPr lang="en-US" sz="1250" b="0" u="none" strike="noStrike">
                <a:solidFill>
                  <a:srgbClr val="8B949E"/>
                </a:solidFill>
                <a:effectLst/>
                <a:uFillTx/>
                <a:latin typeface="Cantarell"/>
                <a:ea typeface="Consolas"/>
              </a:rPr>
              <a:t>  # restore, but KEEP it on the stack</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stash drop stash@{0}      </a:t>
            </a:r>
            <a:r>
              <a:rPr lang="en-US" sz="1250" b="0" u="none" strike="noStrike">
                <a:solidFill>
                  <a:srgbClr val="8B949E"/>
                </a:solidFill>
                <a:effectLst/>
                <a:uFillTx/>
                <a:latin typeface="Cantarell"/>
                <a:ea typeface="Consolas"/>
              </a:rPr>
              <a:t>  # discard a stash without restoring it</a:t>
            </a:r>
            <a:endParaRPr lang="en-US" sz="1250" b="0" u="none" strike="noStrike">
              <a:solidFill>
                <a:srgbClr val="FFFFFF"/>
              </a:solidFill>
              <a:effectLst/>
              <a:uFillTx/>
              <a:latin typeface="Cantarell"/>
            </a:endParaRPr>
          </a:p>
        </p:txBody>
      </p:sp>
      <p:sp>
        <p:nvSpPr>
          <p:cNvPr id="310" name="Text 6"/>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311" name="Text 7"/>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22</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312"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13" name="Image 0" descr="preencoded.png"/>
          <p:cNvPicPr/>
          <p:nvPr/>
        </p:nvPicPr>
        <p:blipFill>
          <a:blip r:embed="rId1"/>
          <a:stretch/>
        </p:blipFill>
        <p:spPr>
          <a:xfrm>
            <a:off x="548640" y="548640"/>
            <a:ext cx="447840" cy="447840"/>
          </a:xfrm>
          <a:prstGeom prst="rect">
            <a:avLst/>
          </a:prstGeom>
          <a:noFill/>
          <a:ln w="0">
            <a:noFill/>
          </a:ln>
        </p:spPr>
      </p:pic>
      <p:sp>
        <p:nvSpPr>
          <p:cNvPr id="314"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Real-World Use: Stashing Mid-Feature</a:t>
            </a:r>
            <a:endParaRPr lang="en-US" sz="2500" b="0" u="none" strike="noStrike">
              <a:solidFill>
                <a:srgbClr val="FFFFFF"/>
              </a:solidFill>
              <a:effectLst/>
              <a:uFillTx/>
              <a:latin typeface="Arial"/>
            </a:endParaRPr>
          </a:p>
        </p:txBody>
      </p:sp>
      <p:sp>
        <p:nvSpPr>
          <p:cNvPr id="315"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316" name="Text 3"/>
          <p:cNvSpPr/>
          <p:nvPr/>
        </p:nvSpPr>
        <p:spPr>
          <a:xfrm>
            <a:off x="548640" y="1828800"/>
            <a:ext cx="4754520" cy="40230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You’re halfway through a feature when your manager reports an urgent production bug — this exact scenario is what stash exists for</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Stashing lets you switch branches cleanly, fix the bug, and return to your feature exactly where you left off, with nothing committed prematurely</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This pattern — stash, switch, fix, switch back, pop — is one of the most common real interruptions in professional development</a:t>
            </a:r>
            <a:endParaRPr lang="en-US" sz="1350" b="0" u="none" strike="noStrike">
              <a:solidFill>
                <a:srgbClr val="FFFFFF"/>
              </a:solidFill>
              <a:effectLst/>
              <a:uFillTx/>
              <a:latin typeface="Arial"/>
            </a:endParaRPr>
          </a:p>
        </p:txBody>
      </p:sp>
      <p:sp>
        <p:nvSpPr>
          <p:cNvPr id="317" name="Shape 4"/>
          <p:cNvSpPr/>
          <p:nvPr/>
        </p:nvSpPr>
        <p:spPr>
          <a:xfrm>
            <a:off x="5486400" y="1691640"/>
            <a:ext cx="6217560" cy="4343040"/>
          </a:xfrm>
          <a:prstGeom prst="roundRect">
            <a:avLst>
              <a:gd name="adj" fmla="val 2105"/>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8" name="Text 5"/>
          <p:cNvSpPr/>
          <p:nvPr/>
        </p:nvSpPr>
        <p:spPr>
          <a:xfrm>
            <a:off x="5806440" y="1965960"/>
            <a:ext cx="5577480" cy="3794400"/>
          </a:xfrm>
          <a:prstGeom prst="rect">
            <a:avLst/>
          </a:prstGeom>
          <a:noFill/>
          <a:ln w="0">
            <a:noFill/>
          </a:ln>
        </p:spPr>
        <p:style>
          <a:lnRef idx="0"/>
          <a:fillRef idx="0"/>
          <a:effectRef idx="0"/>
          <a:fontRef idx="minor"/>
        </p:style>
        <p:txBody>
          <a:bodyPr lIns="0" tIns="0" rIns="0" bIns="0" anchor="t">
            <a:noAutofit/>
          </a:bodyPr>
          <a:p>
            <a:pPr defTabSz="914400">
              <a:lnSpc>
                <a:spcPct val="125000"/>
              </a:lnSpc>
              <a:tabLst>
                <a:tab pos="0" algn="l"/>
              </a:tabLst>
            </a:pPr>
            <a:r>
              <a:rPr lang="en-US" sz="1250" b="0" u="none" strike="noStrike">
                <a:solidFill>
                  <a:srgbClr val="8B949E"/>
                </a:solidFill>
                <a:effectLst/>
                <a:uFillTx/>
                <a:latin typeface="Cantarell"/>
                <a:ea typeface="Consolas"/>
              </a:rPr>
              <a:t># Mid-feature, urgent bug reported:</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stash</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switch main</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switch -c hotfix-crash</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8B949E"/>
                </a:solidFill>
                <a:effectLst/>
                <a:uFillTx/>
                <a:latin typeface="Cantarell"/>
                <a:ea typeface="Consolas"/>
              </a:rPr>
              <a:t># ...fix the bug, commit, merge it...</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switch feature-login</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stash pop          </a:t>
            </a:r>
            <a:r>
              <a:rPr lang="en-US" sz="1250" b="0" u="none" strike="noStrike">
                <a:solidFill>
                  <a:srgbClr val="8B949E"/>
                </a:solidFill>
                <a:effectLst/>
                <a:uFillTx/>
                <a:latin typeface="Cantarell"/>
                <a:ea typeface="Consolas"/>
              </a:rPr>
              <a:t>  # right back where you left off</a:t>
            </a:r>
            <a:endParaRPr lang="en-US" sz="1250" b="0" u="none" strike="noStrike">
              <a:solidFill>
                <a:srgbClr val="FFFFFF"/>
              </a:solidFill>
              <a:effectLst/>
              <a:uFillTx/>
              <a:latin typeface="Cantarell"/>
            </a:endParaRPr>
          </a:p>
        </p:txBody>
      </p:sp>
      <p:sp>
        <p:nvSpPr>
          <p:cNvPr id="319" name="Text 6"/>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320" name="Text 7"/>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23</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321"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22" name="Image 0" descr="preencoded.png"/>
          <p:cNvPicPr/>
          <p:nvPr/>
        </p:nvPicPr>
        <p:blipFill>
          <a:blip r:embed="rId1"/>
          <a:stretch/>
        </p:blipFill>
        <p:spPr>
          <a:xfrm>
            <a:off x="548640" y="548640"/>
            <a:ext cx="447840" cy="447840"/>
          </a:xfrm>
          <a:prstGeom prst="rect">
            <a:avLst/>
          </a:prstGeom>
          <a:noFill/>
          <a:ln w="0">
            <a:noFill/>
          </a:ln>
        </p:spPr>
      </p:pic>
      <p:sp>
        <p:nvSpPr>
          <p:cNvPr id="323"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Git Tags — Marking a Release Point</a:t>
            </a:r>
            <a:endParaRPr lang="en-US" sz="2500" b="0" u="none" strike="noStrike">
              <a:solidFill>
                <a:srgbClr val="FFFFFF"/>
              </a:solidFill>
              <a:effectLst/>
              <a:uFillTx/>
              <a:latin typeface="Arial"/>
            </a:endParaRPr>
          </a:p>
        </p:txBody>
      </p:sp>
      <p:sp>
        <p:nvSpPr>
          <p:cNvPr id="324"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325" name="Shape 3"/>
          <p:cNvSpPr/>
          <p:nvPr/>
        </p:nvSpPr>
        <p:spPr>
          <a:xfrm>
            <a:off x="457200" y="1554480"/>
            <a:ext cx="3657240" cy="4663080"/>
          </a:xfrm>
          <a:prstGeom prst="roundRect">
            <a:avLst>
              <a:gd name="adj" fmla="val 3000"/>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6" name="Shape 4"/>
          <p:cNvSpPr/>
          <p:nvPr/>
        </p:nvSpPr>
        <p:spPr>
          <a:xfrm>
            <a:off x="1508760" y="2194560"/>
            <a:ext cx="1554120" cy="15541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27" name="Image 1" descr="preencoded.png"/>
          <p:cNvPicPr/>
          <p:nvPr/>
        </p:nvPicPr>
        <p:blipFill>
          <a:blip r:embed="rId2"/>
          <a:stretch/>
        </p:blipFill>
        <p:spPr>
          <a:xfrm>
            <a:off x="1746360" y="2423160"/>
            <a:ext cx="1087920" cy="1087920"/>
          </a:xfrm>
          <a:prstGeom prst="rect">
            <a:avLst/>
          </a:prstGeom>
          <a:noFill/>
          <a:ln w="0">
            <a:noFill/>
          </a:ln>
        </p:spPr>
      </p:pic>
      <p:sp>
        <p:nvSpPr>
          <p:cNvPr id="328" name="Text 5"/>
          <p:cNvSpPr/>
          <p:nvPr/>
        </p:nvSpPr>
        <p:spPr>
          <a:xfrm>
            <a:off x="640080" y="3977640"/>
            <a:ext cx="3291480" cy="17370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700" b="1" u="none" strike="noStrike">
                <a:solidFill>
                  <a:srgbClr val="FFFFFF"/>
                </a:solidFill>
                <a:effectLst/>
                <a:uFillTx/>
                <a:latin typeface="Calibri"/>
                <a:ea typeface="Calibri"/>
              </a:rPr>
              <a:t>A permanent</a:t>
            </a:r>
            <a:endParaRPr lang="en-US" sz="1700" b="0" u="none" strike="noStrike">
              <a:solidFill>
                <a:srgbClr val="FFFFFF"/>
              </a:solidFill>
              <a:effectLst/>
              <a:uFillTx/>
              <a:latin typeface="Arial"/>
            </a:endParaRPr>
          </a:p>
          <a:p>
            <a:pPr algn="ctr" defTabSz="914400">
              <a:lnSpc>
                <a:spcPct val="100000"/>
              </a:lnSpc>
              <a:tabLst>
                <a:tab pos="0" algn="l"/>
              </a:tabLst>
            </a:pPr>
            <a:r>
              <a:rPr lang="en-US" sz="1700" b="1" u="none" strike="noStrike">
                <a:solidFill>
                  <a:srgbClr val="FFFFFF"/>
                </a:solidFill>
                <a:effectLst/>
                <a:uFillTx/>
                <a:latin typeface="Calibri"/>
                <a:ea typeface="Calibri"/>
              </a:rPr>
              <a:t>label on</a:t>
            </a:r>
            <a:endParaRPr lang="en-US" sz="1700" b="0" u="none" strike="noStrike">
              <a:solidFill>
                <a:srgbClr val="FFFFFF"/>
              </a:solidFill>
              <a:effectLst/>
              <a:uFillTx/>
              <a:latin typeface="Arial"/>
            </a:endParaRPr>
          </a:p>
          <a:p>
            <a:pPr algn="ctr" defTabSz="914400">
              <a:lnSpc>
                <a:spcPct val="100000"/>
              </a:lnSpc>
              <a:tabLst>
                <a:tab pos="0" algn="l"/>
              </a:tabLst>
            </a:pPr>
            <a:r>
              <a:rPr lang="en-US" sz="1700" b="1" u="none" strike="noStrike">
                <a:solidFill>
                  <a:srgbClr val="FFFFFF"/>
                </a:solidFill>
                <a:effectLst/>
                <a:uFillTx/>
                <a:latin typeface="Calibri"/>
                <a:ea typeface="Calibri"/>
              </a:rPr>
              <a:t>one commit</a:t>
            </a:r>
            <a:endParaRPr lang="en-US" sz="1700" b="0" u="none" strike="noStrike">
              <a:solidFill>
                <a:srgbClr val="FFFFFF"/>
              </a:solidFill>
              <a:effectLst/>
              <a:uFillTx/>
              <a:latin typeface="Arial"/>
            </a:endParaRPr>
          </a:p>
        </p:txBody>
      </p:sp>
      <p:sp>
        <p:nvSpPr>
          <p:cNvPr id="329" name="Text 6"/>
          <p:cNvSpPr/>
          <p:nvPr/>
        </p:nvSpPr>
        <p:spPr>
          <a:xfrm>
            <a:off x="4572000" y="1737360"/>
            <a:ext cx="7131960" cy="411444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A tag marks one specific, exact commit permanently — most commonly used to mark released versions like v1.0.0</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Unlike a branch, a tag never moves — it points at exactly the same commit forever, which is exactly what a release marker needs to do</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Tags let anyone instantly check out precisely what shipped in a given release, no matter how much history has piled up since</a:t>
            </a:r>
            <a:endParaRPr lang="en-US" sz="1600" b="0" u="none" strike="noStrike">
              <a:solidFill>
                <a:srgbClr val="FFFFFF"/>
              </a:solidFill>
              <a:effectLst/>
              <a:uFillTx/>
              <a:latin typeface="Arial"/>
            </a:endParaRPr>
          </a:p>
        </p:txBody>
      </p:sp>
      <p:sp>
        <p:nvSpPr>
          <p:cNvPr id="330" name="Text 7"/>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331" name="Text 8"/>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24</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332"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33" name="Image 0" descr="preencoded.png"/>
          <p:cNvPicPr/>
          <p:nvPr/>
        </p:nvPicPr>
        <p:blipFill>
          <a:blip r:embed="rId1"/>
          <a:stretch/>
        </p:blipFill>
        <p:spPr>
          <a:xfrm>
            <a:off x="548640" y="548640"/>
            <a:ext cx="447840" cy="447840"/>
          </a:xfrm>
          <a:prstGeom prst="rect">
            <a:avLst/>
          </a:prstGeom>
          <a:noFill/>
          <a:ln w="0">
            <a:noFill/>
          </a:ln>
        </p:spPr>
      </p:pic>
      <p:sp>
        <p:nvSpPr>
          <p:cNvPr id="334"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Lightweight vs. Annotated Tags</a:t>
            </a:r>
            <a:endParaRPr lang="en-US" sz="2500" b="0" u="none" strike="noStrike">
              <a:solidFill>
                <a:srgbClr val="FFFFFF"/>
              </a:solidFill>
              <a:effectLst/>
              <a:uFillTx/>
              <a:latin typeface="Arial"/>
            </a:endParaRPr>
          </a:p>
        </p:txBody>
      </p:sp>
      <p:sp>
        <p:nvSpPr>
          <p:cNvPr id="335"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336" name="Text 3"/>
          <p:cNvSpPr/>
          <p:nvPr/>
        </p:nvSpPr>
        <p:spPr>
          <a:xfrm>
            <a:off x="548640" y="1828800"/>
            <a:ext cx="4754520" cy="40230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A lightweight tag is just a simple pointer to a commit — quick, no extra information attached</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An annotated tag is a full Git object of its own — it stores a message, the tagger’s name, and the date, similar to a commit</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Annotated tags are the standard choice for real releases; lightweight tags are fine for quick, personal, temporary bookmarks</a:t>
            </a:r>
            <a:endParaRPr lang="en-US" sz="1350" b="0" u="none" strike="noStrike">
              <a:solidFill>
                <a:srgbClr val="FFFFFF"/>
              </a:solidFill>
              <a:effectLst/>
              <a:uFillTx/>
              <a:latin typeface="Arial"/>
            </a:endParaRPr>
          </a:p>
        </p:txBody>
      </p:sp>
      <p:sp>
        <p:nvSpPr>
          <p:cNvPr id="337" name="Shape 4"/>
          <p:cNvSpPr/>
          <p:nvPr/>
        </p:nvSpPr>
        <p:spPr>
          <a:xfrm>
            <a:off x="5486400" y="1691640"/>
            <a:ext cx="6217560" cy="4343040"/>
          </a:xfrm>
          <a:prstGeom prst="roundRect">
            <a:avLst>
              <a:gd name="adj" fmla="val 2105"/>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8" name="Text 5"/>
          <p:cNvSpPr/>
          <p:nvPr/>
        </p:nvSpPr>
        <p:spPr>
          <a:xfrm>
            <a:off x="5806440" y="1965960"/>
            <a:ext cx="5577480" cy="3794400"/>
          </a:xfrm>
          <a:prstGeom prst="rect">
            <a:avLst/>
          </a:prstGeom>
          <a:noFill/>
          <a:ln w="0">
            <a:noFill/>
          </a:ln>
        </p:spPr>
        <p:style>
          <a:lnRef idx="0"/>
          <a:fillRef idx="0"/>
          <a:effectRef idx="0"/>
          <a:fontRef idx="minor"/>
        </p:style>
        <p:txBody>
          <a:bodyPr lIns="0" tIns="0" rIns="0" bIns="0" anchor="t">
            <a:noAutofit/>
          </a:bodyPr>
          <a:p>
            <a:pPr defTabSz="914400">
              <a:lnSpc>
                <a:spcPct val="125000"/>
              </a:lnSpc>
              <a:tabLst>
                <a:tab pos="0" algn="l"/>
              </a:tabLst>
            </a:pPr>
            <a:r>
              <a:rPr lang="en-US" sz="1250" b="0" u="none" strike="noStrike">
                <a:solidFill>
                  <a:srgbClr val="C9D1D9"/>
                </a:solidFill>
                <a:effectLst/>
                <a:uFillTx/>
                <a:latin typeface="Cantarell"/>
                <a:ea typeface="Consolas"/>
              </a:rPr>
              <a:t>$ git tag v1.0.0-beta                            </a:t>
            </a:r>
            <a:r>
              <a:rPr lang="en-US" sz="1250" b="0" u="none" strike="noStrike">
                <a:solidFill>
                  <a:srgbClr val="8B949E"/>
                </a:solidFill>
                <a:effectLst/>
                <a:uFillTx/>
                <a:latin typeface="Cantarell"/>
                <a:ea typeface="Consolas"/>
              </a:rPr>
              <a:t>  # lightweight</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tag -a v1.0.0 -m "First stable release"     </a:t>
            </a:r>
            <a:r>
              <a:rPr lang="en-US" sz="1250" b="0" u="none" strike="noStrike">
                <a:solidFill>
                  <a:srgbClr val="8B949E"/>
                </a:solidFill>
                <a:effectLst/>
                <a:uFillTx/>
                <a:latin typeface="Cantarell"/>
                <a:ea typeface="Consolas"/>
              </a:rPr>
              <a:t>  # annotated</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tag                  </a:t>
            </a:r>
            <a:r>
              <a:rPr lang="en-US" sz="1250" b="0" u="none" strike="noStrike">
                <a:solidFill>
                  <a:srgbClr val="8B949E"/>
                </a:solidFill>
                <a:effectLst/>
                <a:uFillTx/>
                <a:latin typeface="Cantarell"/>
                <a:ea typeface="Consolas"/>
              </a:rPr>
              <a:t>  # list all tags</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show v1.0.0          </a:t>
            </a:r>
            <a:r>
              <a:rPr lang="en-US" sz="1250" b="0" u="none" strike="noStrike">
                <a:solidFill>
                  <a:srgbClr val="8B949E"/>
                </a:solidFill>
                <a:effectLst/>
                <a:uFillTx/>
                <a:latin typeface="Cantarell"/>
                <a:ea typeface="Consolas"/>
              </a:rPr>
              <a:t>  # see the annotated tag's full details</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push origin v1.0.0   </a:t>
            </a:r>
            <a:r>
              <a:rPr lang="en-US" sz="1250" b="0" u="none" strike="noStrike">
                <a:solidFill>
                  <a:srgbClr val="8B949E"/>
                </a:solidFill>
                <a:effectLst/>
                <a:uFillTx/>
                <a:latin typeface="Cantarell"/>
                <a:ea typeface="Consolas"/>
              </a:rPr>
              <a:t>  # tags don't push automatically — push explicitly</a:t>
            </a:r>
            <a:endParaRPr lang="en-US" sz="1250" b="0" u="none" strike="noStrike">
              <a:solidFill>
                <a:srgbClr val="FFFFFF"/>
              </a:solidFill>
              <a:effectLst/>
              <a:uFillTx/>
              <a:latin typeface="Cantarell"/>
            </a:endParaRPr>
          </a:p>
        </p:txBody>
      </p:sp>
      <p:sp>
        <p:nvSpPr>
          <p:cNvPr id="339" name="Text 6"/>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340" name="Text 7"/>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25</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341"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42" name="Image 0" descr="preencoded.png"/>
          <p:cNvPicPr/>
          <p:nvPr/>
        </p:nvPicPr>
        <p:blipFill>
          <a:blip r:embed="rId1"/>
          <a:stretch/>
        </p:blipFill>
        <p:spPr>
          <a:xfrm>
            <a:off x="548640" y="548640"/>
            <a:ext cx="447840" cy="447840"/>
          </a:xfrm>
          <a:prstGeom prst="rect">
            <a:avLst/>
          </a:prstGeom>
          <a:noFill/>
          <a:ln w="0">
            <a:noFill/>
          </a:ln>
        </p:spPr>
      </p:pic>
      <p:sp>
        <p:nvSpPr>
          <p:cNvPr id="343"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Practice Set — diff, Stash &amp; Tags</a:t>
            </a:r>
            <a:endParaRPr lang="en-US" sz="2500" b="0" u="none" strike="noStrike">
              <a:solidFill>
                <a:srgbClr val="FFFFFF"/>
              </a:solidFill>
              <a:effectLst/>
              <a:uFillTx/>
              <a:latin typeface="Arial"/>
            </a:endParaRPr>
          </a:p>
        </p:txBody>
      </p:sp>
      <p:sp>
        <p:nvSpPr>
          <p:cNvPr id="344"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345" name="Shape 3"/>
          <p:cNvSpPr/>
          <p:nvPr/>
        </p:nvSpPr>
        <p:spPr>
          <a:xfrm>
            <a:off x="457200" y="1600200"/>
            <a:ext cx="11274120" cy="4480200"/>
          </a:xfrm>
          <a:prstGeom prst="roundRect">
            <a:avLst>
              <a:gd name="adj" fmla="val 2449"/>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6" name="Text 4"/>
          <p:cNvSpPr/>
          <p:nvPr/>
        </p:nvSpPr>
        <p:spPr>
          <a:xfrm>
            <a:off x="822960" y="1828800"/>
            <a:ext cx="10515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Calibri"/>
                <a:ea typeface="Calibri"/>
              </a:rPr>
              <a:t>Try these yourself first — no code shown, that's the point</a:t>
            </a:r>
            <a:endParaRPr lang="en-US" sz="1600" b="0" u="none" strike="noStrike">
              <a:solidFill>
                <a:srgbClr val="FFFFFF"/>
              </a:solidFill>
              <a:effectLst/>
              <a:uFillTx/>
              <a:latin typeface="Arial"/>
            </a:endParaRPr>
          </a:p>
        </p:txBody>
      </p:sp>
      <p:sp>
        <p:nvSpPr>
          <p:cNvPr id="347" name="Shape 5"/>
          <p:cNvSpPr/>
          <p:nvPr/>
        </p:nvSpPr>
        <p:spPr>
          <a:xfrm>
            <a:off x="822960" y="2423160"/>
            <a:ext cx="383760" cy="38376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8" name="Text 6"/>
          <p:cNvSpPr/>
          <p:nvPr/>
        </p:nvSpPr>
        <p:spPr>
          <a:xfrm>
            <a:off x="822960" y="242316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FFFFFF"/>
              </a:solidFill>
              <a:effectLst/>
              <a:uFillTx/>
              <a:latin typeface="Arial"/>
            </a:endParaRPr>
          </a:p>
        </p:txBody>
      </p:sp>
      <p:sp>
        <p:nvSpPr>
          <p:cNvPr id="349" name="Text 7"/>
          <p:cNvSpPr/>
          <p:nvPr/>
        </p:nvSpPr>
        <p:spPr>
          <a:xfrm>
            <a:off x="1435680" y="2423160"/>
            <a:ext cx="9582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C9D1D9"/>
                </a:solidFill>
                <a:effectLst/>
                <a:uFillTx/>
                <a:latin typeface="Calibri"/>
                <a:ea typeface="Calibri"/>
              </a:rPr>
              <a:t>Use git diff to compare two branches in your practice repository, and read the output carefully</a:t>
            </a:r>
            <a:endParaRPr lang="en-US" sz="1250" b="0" u="none" strike="noStrike">
              <a:solidFill>
                <a:srgbClr val="FFFFFF"/>
              </a:solidFill>
              <a:effectLst/>
              <a:uFillTx/>
              <a:latin typeface="Arial"/>
            </a:endParaRPr>
          </a:p>
        </p:txBody>
      </p:sp>
      <p:sp>
        <p:nvSpPr>
          <p:cNvPr id="350" name="Shape 8"/>
          <p:cNvSpPr/>
          <p:nvPr/>
        </p:nvSpPr>
        <p:spPr>
          <a:xfrm>
            <a:off x="822960" y="3300840"/>
            <a:ext cx="383760" cy="38376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1" name="Text 9"/>
          <p:cNvSpPr/>
          <p:nvPr/>
        </p:nvSpPr>
        <p:spPr>
          <a:xfrm>
            <a:off x="822960" y="330084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FFFFFF"/>
              </a:solidFill>
              <a:effectLst/>
              <a:uFillTx/>
              <a:latin typeface="Arial"/>
            </a:endParaRPr>
          </a:p>
        </p:txBody>
      </p:sp>
      <p:sp>
        <p:nvSpPr>
          <p:cNvPr id="352" name="Text 10"/>
          <p:cNvSpPr/>
          <p:nvPr/>
        </p:nvSpPr>
        <p:spPr>
          <a:xfrm>
            <a:off x="1435680" y="3300840"/>
            <a:ext cx="9582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C9D1D9"/>
                </a:solidFill>
                <a:effectLst/>
                <a:uFillTx/>
                <a:latin typeface="Calibri"/>
                <a:ea typeface="Calibri"/>
              </a:rPr>
              <a:t>Make some uncommitted changes, stash them, confirm your working directory is clean, then pop them back</a:t>
            </a:r>
            <a:endParaRPr lang="en-US" sz="1250" b="0" u="none" strike="noStrike">
              <a:solidFill>
                <a:srgbClr val="FFFFFF"/>
              </a:solidFill>
              <a:effectLst/>
              <a:uFillTx/>
              <a:latin typeface="Arial"/>
            </a:endParaRPr>
          </a:p>
        </p:txBody>
      </p:sp>
      <p:sp>
        <p:nvSpPr>
          <p:cNvPr id="353" name="Shape 11"/>
          <p:cNvSpPr/>
          <p:nvPr/>
        </p:nvSpPr>
        <p:spPr>
          <a:xfrm>
            <a:off x="822960" y="4178880"/>
            <a:ext cx="383760" cy="38376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4" name="Text 12"/>
          <p:cNvSpPr/>
          <p:nvPr/>
        </p:nvSpPr>
        <p:spPr>
          <a:xfrm>
            <a:off x="822960" y="417888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FFFFFF"/>
              </a:solidFill>
              <a:effectLst/>
              <a:uFillTx/>
              <a:latin typeface="Arial"/>
            </a:endParaRPr>
          </a:p>
        </p:txBody>
      </p:sp>
      <p:sp>
        <p:nvSpPr>
          <p:cNvPr id="355" name="Text 13"/>
          <p:cNvSpPr/>
          <p:nvPr/>
        </p:nvSpPr>
        <p:spPr>
          <a:xfrm>
            <a:off x="1435680" y="4178880"/>
            <a:ext cx="9582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C9D1D9"/>
                </a:solidFill>
                <a:effectLst/>
                <a:uFillTx/>
                <a:latin typeface="Calibri"/>
                <a:ea typeface="Calibri"/>
              </a:rPr>
              <a:t>Stash twice with different changes, list both stashes, and apply only the older one specifically by name</a:t>
            </a:r>
            <a:endParaRPr lang="en-US" sz="1250" b="0" u="none" strike="noStrike">
              <a:solidFill>
                <a:srgbClr val="FFFFFF"/>
              </a:solidFill>
              <a:effectLst/>
              <a:uFillTx/>
              <a:latin typeface="Arial"/>
            </a:endParaRPr>
          </a:p>
        </p:txBody>
      </p:sp>
      <p:sp>
        <p:nvSpPr>
          <p:cNvPr id="356" name="Shape 14"/>
          <p:cNvSpPr/>
          <p:nvPr/>
        </p:nvSpPr>
        <p:spPr>
          <a:xfrm>
            <a:off x="822960" y="5056560"/>
            <a:ext cx="383760" cy="38376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7" name="Text 15"/>
          <p:cNvSpPr/>
          <p:nvPr/>
        </p:nvSpPr>
        <p:spPr>
          <a:xfrm>
            <a:off x="822960" y="505656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4</a:t>
            </a:r>
            <a:endParaRPr lang="en-US" sz="1300" b="0" u="none" strike="noStrike">
              <a:solidFill>
                <a:srgbClr val="FFFFFF"/>
              </a:solidFill>
              <a:effectLst/>
              <a:uFillTx/>
              <a:latin typeface="Arial"/>
            </a:endParaRPr>
          </a:p>
        </p:txBody>
      </p:sp>
      <p:sp>
        <p:nvSpPr>
          <p:cNvPr id="358" name="Text 16"/>
          <p:cNvSpPr/>
          <p:nvPr/>
        </p:nvSpPr>
        <p:spPr>
          <a:xfrm>
            <a:off x="1435680" y="5056560"/>
            <a:ext cx="9582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C9D1D9"/>
                </a:solidFill>
                <a:effectLst/>
                <a:uFillTx/>
                <a:latin typeface="Calibri"/>
                <a:ea typeface="Calibri"/>
              </a:rPr>
              <a:t>Create an annotated tag for your current commit, then confirm its details with git show</a:t>
            </a:r>
            <a:endParaRPr lang="en-US" sz="1250" b="0" u="none" strike="noStrike">
              <a:solidFill>
                <a:srgbClr val="FFFFFF"/>
              </a:solidFill>
              <a:effectLst/>
              <a:uFillTx/>
              <a:latin typeface="Arial"/>
            </a:endParaRPr>
          </a:p>
        </p:txBody>
      </p:sp>
      <p:sp>
        <p:nvSpPr>
          <p:cNvPr id="359" name="Text 17"/>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360" name="Text 18"/>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26</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361" name="Shape 0"/>
          <p:cNvSpPr/>
          <p:nvPr/>
        </p:nvSpPr>
        <p:spPr>
          <a:xfrm>
            <a:off x="-2011680" y="4206240"/>
            <a:ext cx="5668920" cy="5668920"/>
          </a:xfrm>
          <a:prstGeom prst="ellipse">
            <a:avLst/>
          </a:prstGeom>
          <a:solidFill>
            <a:srgbClr val="1419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2" name="Shape 1"/>
          <p:cNvSpPr/>
          <p:nvPr/>
        </p:nvSpPr>
        <p:spPr>
          <a:xfrm>
            <a:off x="9418320" y="-2377440"/>
            <a:ext cx="5668920" cy="5668920"/>
          </a:xfrm>
          <a:prstGeom prst="ellipse">
            <a:avLst/>
          </a:prstGeom>
          <a:solidFill>
            <a:srgbClr val="1419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3" name="Shape 2"/>
          <p:cNvSpPr/>
          <p:nvPr/>
        </p:nvSpPr>
        <p:spPr>
          <a:xfrm>
            <a:off x="5596200" y="731520"/>
            <a:ext cx="1005480" cy="100548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64" name="Image 0" descr="preencoded.png"/>
          <p:cNvPicPr/>
          <p:nvPr/>
        </p:nvPicPr>
        <p:blipFill>
          <a:blip r:embed="rId1"/>
          <a:stretch/>
        </p:blipFill>
        <p:spPr>
          <a:xfrm>
            <a:off x="5742360" y="877680"/>
            <a:ext cx="703800" cy="703800"/>
          </a:xfrm>
          <a:prstGeom prst="rect">
            <a:avLst/>
          </a:prstGeom>
          <a:noFill/>
          <a:ln w="0">
            <a:noFill/>
          </a:ln>
        </p:spPr>
      </p:pic>
      <p:sp>
        <p:nvSpPr>
          <p:cNvPr id="365" name="Text 3"/>
          <p:cNvSpPr/>
          <p:nvPr/>
        </p:nvSpPr>
        <p:spPr>
          <a:xfrm>
            <a:off x="914400" y="1965960"/>
            <a:ext cx="103597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pc="201" strike="noStrike">
                <a:solidFill>
                  <a:srgbClr val="F7A788"/>
                </a:solidFill>
                <a:effectLst/>
                <a:uFillTx/>
                <a:latin typeface="Calibri"/>
                <a:ea typeface="Calibri"/>
              </a:rPr>
              <a:t>PART 4</a:t>
            </a:r>
            <a:endParaRPr lang="en-US" sz="1300" b="0" u="none" strike="noStrike">
              <a:solidFill>
                <a:srgbClr val="FFFFFF"/>
              </a:solidFill>
              <a:effectLst/>
              <a:uFillTx/>
              <a:latin typeface="Arial"/>
            </a:endParaRPr>
          </a:p>
        </p:txBody>
      </p:sp>
      <p:sp>
        <p:nvSpPr>
          <p:cNvPr id="366" name="Text 4"/>
          <p:cNvSpPr/>
          <p:nvPr/>
        </p:nvSpPr>
        <p:spPr>
          <a:xfrm>
            <a:off x="914400" y="2377440"/>
            <a:ext cx="10359720" cy="2011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3200" b="1" u="none" strike="noStrike">
                <a:solidFill>
                  <a:srgbClr val="FFFFFF"/>
                </a:solidFill>
                <a:effectLst/>
                <a:uFillTx/>
                <a:latin typeface="Calibri"/>
                <a:ea typeface="Calibri"/>
              </a:rPr>
              <a:t>Rebase &amp; Reflog</a:t>
            </a:r>
            <a:endParaRPr lang="en-US" sz="3200" b="0" u="none" strike="noStrike">
              <a:solidFill>
                <a:srgbClr val="FFFFFF"/>
              </a:solidFill>
              <a:effectLst/>
              <a:uFillTx/>
              <a:latin typeface="Arial"/>
            </a:endParaRPr>
          </a:p>
        </p:txBody>
      </p:sp>
      <p:sp>
        <p:nvSpPr>
          <p:cNvPr id="367" name="Text 5"/>
          <p:cNvSpPr/>
          <p:nvPr/>
        </p:nvSpPr>
        <p:spPr>
          <a:xfrm>
            <a:off x="1463040" y="4572000"/>
            <a:ext cx="9262440" cy="10969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0" u="none" strike="noStrike">
                <a:solidFill>
                  <a:srgbClr val="C9D1D9"/>
                </a:solidFill>
                <a:effectLst/>
                <a:uFillTx/>
                <a:latin typeface="Calibri"/>
                <a:ea typeface="Calibri"/>
              </a:rPr>
              <a:t>A cleaner way to combine history, and a safety net for almost any mistake</a:t>
            </a:r>
            <a:endParaRPr lang="en-US" sz="1600" b="0" u="none" strike="noStrike">
              <a:solidFill>
                <a:srgbClr val="FFFFFF"/>
              </a:solidFill>
              <a:effectLst/>
              <a:uFillTx/>
              <a:latin typeface="Arial"/>
            </a:endParaRPr>
          </a:p>
        </p:txBody>
      </p:sp>
      <p:sp>
        <p:nvSpPr>
          <p:cNvPr id="368" name="Text 6"/>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27</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369"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70" name="Image 0" descr="preencoded.png"/>
          <p:cNvPicPr/>
          <p:nvPr/>
        </p:nvPicPr>
        <p:blipFill>
          <a:blip r:embed="rId1"/>
          <a:stretch/>
        </p:blipFill>
        <p:spPr>
          <a:xfrm>
            <a:off x="548640" y="548640"/>
            <a:ext cx="447840" cy="447840"/>
          </a:xfrm>
          <a:prstGeom prst="rect">
            <a:avLst/>
          </a:prstGeom>
          <a:noFill/>
          <a:ln w="0">
            <a:noFill/>
          </a:ln>
        </p:spPr>
      </p:pic>
      <p:sp>
        <p:nvSpPr>
          <p:cNvPr id="371"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What Is Rebase?</a:t>
            </a:r>
            <a:endParaRPr lang="en-US" sz="2500" b="0" u="none" strike="noStrike">
              <a:solidFill>
                <a:srgbClr val="FFFFFF"/>
              </a:solidFill>
              <a:effectLst/>
              <a:uFillTx/>
              <a:latin typeface="Arial"/>
            </a:endParaRPr>
          </a:p>
        </p:txBody>
      </p:sp>
      <p:sp>
        <p:nvSpPr>
          <p:cNvPr id="372"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373" name="Shape 3"/>
          <p:cNvSpPr/>
          <p:nvPr/>
        </p:nvSpPr>
        <p:spPr>
          <a:xfrm>
            <a:off x="457200" y="1554480"/>
            <a:ext cx="3657240" cy="4663080"/>
          </a:xfrm>
          <a:prstGeom prst="roundRect">
            <a:avLst>
              <a:gd name="adj" fmla="val 3000"/>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4" name="Shape 4"/>
          <p:cNvSpPr/>
          <p:nvPr/>
        </p:nvSpPr>
        <p:spPr>
          <a:xfrm>
            <a:off x="1508760" y="2194560"/>
            <a:ext cx="1554120" cy="15541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75" name="Image 1" descr="preencoded.png"/>
          <p:cNvPicPr/>
          <p:nvPr/>
        </p:nvPicPr>
        <p:blipFill>
          <a:blip r:embed="rId2"/>
          <a:stretch/>
        </p:blipFill>
        <p:spPr>
          <a:xfrm>
            <a:off x="1746360" y="2423160"/>
            <a:ext cx="1087920" cy="1087920"/>
          </a:xfrm>
          <a:prstGeom prst="rect">
            <a:avLst/>
          </a:prstGeom>
          <a:noFill/>
          <a:ln w="0">
            <a:noFill/>
          </a:ln>
        </p:spPr>
      </p:pic>
      <p:sp>
        <p:nvSpPr>
          <p:cNvPr id="376" name="Text 5"/>
          <p:cNvSpPr/>
          <p:nvPr/>
        </p:nvSpPr>
        <p:spPr>
          <a:xfrm>
            <a:off x="640080" y="3977640"/>
            <a:ext cx="3291480" cy="17370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700" b="1" u="none" strike="noStrike">
                <a:solidFill>
                  <a:srgbClr val="FFFFFF"/>
                </a:solidFill>
                <a:effectLst/>
                <a:uFillTx/>
                <a:latin typeface="Calibri"/>
                <a:ea typeface="Calibri"/>
              </a:rPr>
              <a:t>Replay,</a:t>
            </a:r>
            <a:endParaRPr lang="en-US" sz="1700" b="0" u="none" strike="noStrike">
              <a:solidFill>
                <a:srgbClr val="FFFFFF"/>
              </a:solidFill>
              <a:effectLst/>
              <a:uFillTx/>
              <a:latin typeface="Arial"/>
            </a:endParaRPr>
          </a:p>
          <a:p>
            <a:pPr algn="ctr" defTabSz="914400">
              <a:lnSpc>
                <a:spcPct val="100000"/>
              </a:lnSpc>
              <a:tabLst>
                <a:tab pos="0" algn="l"/>
              </a:tabLst>
            </a:pPr>
            <a:r>
              <a:rPr lang="en-US" sz="1700" b="1" u="none" strike="noStrike">
                <a:solidFill>
                  <a:srgbClr val="FFFFFF"/>
                </a:solidFill>
                <a:effectLst/>
                <a:uFillTx/>
                <a:latin typeface="Calibri"/>
                <a:ea typeface="Calibri"/>
              </a:rPr>
              <a:t>don’t</a:t>
            </a:r>
            <a:endParaRPr lang="en-US" sz="1700" b="0" u="none" strike="noStrike">
              <a:solidFill>
                <a:srgbClr val="FFFFFF"/>
              </a:solidFill>
              <a:effectLst/>
              <a:uFillTx/>
              <a:latin typeface="Arial"/>
            </a:endParaRPr>
          </a:p>
          <a:p>
            <a:pPr algn="ctr" defTabSz="914400">
              <a:lnSpc>
                <a:spcPct val="100000"/>
              </a:lnSpc>
              <a:tabLst>
                <a:tab pos="0" algn="l"/>
              </a:tabLst>
            </a:pPr>
            <a:r>
              <a:rPr lang="en-US" sz="1700" b="1" u="none" strike="noStrike">
                <a:solidFill>
                  <a:srgbClr val="FFFFFF"/>
                </a:solidFill>
                <a:effectLst/>
                <a:uFillTx/>
                <a:latin typeface="Calibri"/>
                <a:ea typeface="Calibri"/>
              </a:rPr>
              <a:t>merge</a:t>
            </a:r>
            <a:endParaRPr lang="en-US" sz="1700" b="0" u="none" strike="noStrike">
              <a:solidFill>
                <a:srgbClr val="FFFFFF"/>
              </a:solidFill>
              <a:effectLst/>
              <a:uFillTx/>
              <a:latin typeface="Arial"/>
            </a:endParaRPr>
          </a:p>
        </p:txBody>
      </p:sp>
      <p:sp>
        <p:nvSpPr>
          <p:cNvPr id="377" name="Text 6"/>
          <p:cNvSpPr/>
          <p:nvPr/>
        </p:nvSpPr>
        <p:spPr>
          <a:xfrm>
            <a:off x="4572000" y="1737360"/>
            <a:ext cx="7131960" cy="411444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Rebase takes your branch’s commits and replays them one by one on top of a different starting point — usually the latest version of main</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The commits aren’t literally moved — Git creates brand-new commits with the same changes, but new hashes and a new position in history</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The end result looks as if you’d started your branch from today’s main, instead of from wherever it actually diverged</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This is genuinely a different philosophy from merging, not just a different command — the next few slides make that difference concrete</a:t>
            </a:r>
            <a:endParaRPr lang="en-US" sz="1600" b="0" u="none" strike="noStrike">
              <a:solidFill>
                <a:srgbClr val="FFFFFF"/>
              </a:solidFill>
              <a:effectLst/>
              <a:uFillTx/>
              <a:latin typeface="Arial"/>
            </a:endParaRPr>
          </a:p>
        </p:txBody>
      </p:sp>
      <p:sp>
        <p:nvSpPr>
          <p:cNvPr id="378" name="Text 7"/>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379" name="Text 8"/>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28</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380"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81" name="Image 0" descr="preencoded.png"/>
          <p:cNvPicPr/>
          <p:nvPr/>
        </p:nvPicPr>
        <p:blipFill>
          <a:blip r:embed="rId1"/>
          <a:stretch/>
        </p:blipFill>
        <p:spPr>
          <a:xfrm>
            <a:off x="548640" y="548640"/>
            <a:ext cx="447840" cy="447840"/>
          </a:xfrm>
          <a:prstGeom prst="rect">
            <a:avLst/>
          </a:prstGeom>
          <a:noFill/>
          <a:ln w="0">
            <a:noFill/>
          </a:ln>
        </p:spPr>
      </p:pic>
      <p:sp>
        <p:nvSpPr>
          <p:cNvPr id="382"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Rebase in Action</a:t>
            </a:r>
            <a:endParaRPr lang="en-US" sz="2500" b="0" u="none" strike="noStrike">
              <a:solidFill>
                <a:srgbClr val="FFFFFF"/>
              </a:solidFill>
              <a:effectLst/>
              <a:uFillTx/>
              <a:latin typeface="Arial"/>
            </a:endParaRPr>
          </a:p>
        </p:txBody>
      </p:sp>
      <p:sp>
        <p:nvSpPr>
          <p:cNvPr id="383"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384" name="Text 3"/>
          <p:cNvSpPr/>
          <p:nvPr/>
        </p:nvSpPr>
        <p:spPr>
          <a:xfrm>
            <a:off x="548640" y="1828800"/>
            <a:ext cx="4754520" cy="40230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git rebase &lt;branch&gt; replays your CURRENT branch’s commits on top of the branch you name</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If a rebased commit conflicts, Git pauses exactly like a merge conflict — resolve it, then git rebase --continue</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git rebase --abort cancels the entire rebase and returns you to exactly where you started, just like merge --abort</a:t>
            </a:r>
            <a:endParaRPr lang="en-US" sz="1350" b="0" u="none" strike="noStrike">
              <a:solidFill>
                <a:srgbClr val="FFFFFF"/>
              </a:solidFill>
              <a:effectLst/>
              <a:uFillTx/>
              <a:latin typeface="Arial"/>
            </a:endParaRPr>
          </a:p>
        </p:txBody>
      </p:sp>
      <p:sp>
        <p:nvSpPr>
          <p:cNvPr id="385" name="Shape 4"/>
          <p:cNvSpPr/>
          <p:nvPr/>
        </p:nvSpPr>
        <p:spPr>
          <a:xfrm>
            <a:off x="5486400" y="1691640"/>
            <a:ext cx="6217560" cy="4343040"/>
          </a:xfrm>
          <a:prstGeom prst="roundRect">
            <a:avLst>
              <a:gd name="adj" fmla="val 2105"/>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6" name="Text 5"/>
          <p:cNvSpPr/>
          <p:nvPr/>
        </p:nvSpPr>
        <p:spPr>
          <a:xfrm>
            <a:off x="5806440" y="1965960"/>
            <a:ext cx="5577480" cy="3794400"/>
          </a:xfrm>
          <a:prstGeom prst="rect">
            <a:avLst/>
          </a:prstGeom>
          <a:noFill/>
          <a:ln w="0">
            <a:noFill/>
          </a:ln>
        </p:spPr>
        <p:style>
          <a:lnRef idx="0"/>
          <a:fillRef idx="0"/>
          <a:effectRef idx="0"/>
          <a:fontRef idx="minor"/>
        </p:style>
        <p:txBody>
          <a:bodyPr lIns="0" tIns="0" rIns="0" bIns="0" anchor="t">
            <a:noAutofit/>
          </a:bodyPr>
          <a:p>
            <a:pPr defTabSz="914400">
              <a:lnSpc>
                <a:spcPct val="125000"/>
              </a:lnSpc>
              <a:tabLst>
                <a:tab pos="0" algn="l"/>
              </a:tabLst>
            </a:pPr>
            <a:r>
              <a:rPr lang="en-US" sz="1250" b="0" u="none" strike="noStrike">
                <a:solidFill>
                  <a:srgbClr val="C9D1D9"/>
                </a:solidFill>
                <a:effectLst/>
                <a:uFillTx/>
                <a:latin typeface="Cantarell"/>
                <a:ea typeface="Consolas"/>
              </a:rPr>
              <a:t>$ git switch feature-login</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rebase main</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Successfully rebased and updated refs/heads/feature-login.</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8B949E"/>
                </a:solidFill>
                <a:effectLst/>
                <a:uFillTx/>
                <a:latin typeface="Cantarell"/>
                <a:ea typeface="Consolas"/>
              </a:rPr>
              <a:t># If a conflict happens mid-rebase:</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rebase --continue  </a:t>
            </a:r>
            <a:r>
              <a:rPr lang="en-US" sz="1250" b="0" u="none" strike="noStrike">
                <a:solidFill>
                  <a:srgbClr val="8B949E"/>
                </a:solidFill>
                <a:effectLst/>
                <a:uFillTx/>
                <a:latin typeface="Cantarell"/>
                <a:ea typeface="Consolas"/>
              </a:rPr>
              <a:t>  # after resolving</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rebase --abort     </a:t>
            </a:r>
            <a:r>
              <a:rPr lang="en-US" sz="1250" b="0" u="none" strike="noStrike">
                <a:solidFill>
                  <a:srgbClr val="8B949E"/>
                </a:solidFill>
                <a:effectLst/>
                <a:uFillTx/>
                <a:latin typeface="Cantarell"/>
                <a:ea typeface="Consolas"/>
              </a:rPr>
              <a:t>  # cancel entirely, back to where you started</a:t>
            </a:r>
            <a:endParaRPr lang="en-US" sz="1250" b="0" u="none" strike="noStrike">
              <a:solidFill>
                <a:srgbClr val="FFFFFF"/>
              </a:solidFill>
              <a:effectLst/>
              <a:uFillTx/>
              <a:latin typeface="Cantarell"/>
            </a:endParaRPr>
          </a:p>
        </p:txBody>
      </p:sp>
      <p:sp>
        <p:nvSpPr>
          <p:cNvPr id="387" name="Text 6"/>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388" name="Text 7"/>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29</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389"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90" name="Image 0" descr="preencoded.png"/>
          <p:cNvPicPr/>
          <p:nvPr/>
        </p:nvPicPr>
        <p:blipFill>
          <a:blip r:embed="rId1"/>
          <a:stretch/>
        </p:blipFill>
        <p:spPr>
          <a:xfrm>
            <a:off x="548640" y="548640"/>
            <a:ext cx="447840" cy="447840"/>
          </a:xfrm>
          <a:prstGeom prst="rect">
            <a:avLst/>
          </a:prstGeom>
          <a:noFill/>
          <a:ln w="0">
            <a:noFill/>
          </a:ln>
        </p:spPr>
      </p:pic>
      <p:sp>
        <p:nvSpPr>
          <p:cNvPr id="391"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Merge vs. Rebase — Same Goal, Different History</a:t>
            </a:r>
            <a:endParaRPr lang="en-US" sz="2500" b="0" u="none" strike="noStrike">
              <a:solidFill>
                <a:srgbClr val="FFFFFF"/>
              </a:solidFill>
              <a:effectLst/>
              <a:uFillTx/>
              <a:latin typeface="Arial"/>
            </a:endParaRPr>
          </a:p>
        </p:txBody>
      </p:sp>
      <p:sp>
        <p:nvSpPr>
          <p:cNvPr id="392"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393" name="Text 3"/>
          <p:cNvSpPr/>
          <p:nvPr/>
        </p:nvSpPr>
        <p:spPr>
          <a:xfrm>
            <a:off x="731520" y="1463040"/>
            <a:ext cx="51202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Consolas"/>
                <a:ea typeface="Consolas"/>
              </a:rPr>
              <a:t>git merge</a:t>
            </a:r>
            <a:endParaRPr lang="en-US" sz="1500" b="0" u="none" strike="noStrike">
              <a:solidFill>
                <a:srgbClr val="FFFFFF"/>
              </a:solidFill>
              <a:effectLst/>
              <a:uFillTx/>
              <a:latin typeface="Arial"/>
            </a:endParaRPr>
          </a:p>
        </p:txBody>
      </p:sp>
      <p:sp>
        <p:nvSpPr>
          <p:cNvPr id="394" name="Shape 4"/>
          <p:cNvSpPr/>
          <p:nvPr/>
        </p:nvSpPr>
        <p:spPr>
          <a:xfrm>
            <a:off x="1371600" y="2834640"/>
            <a:ext cx="2560320" cy="360"/>
          </a:xfrm>
          <a:prstGeom prst="line">
            <a:avLst/>
          </a:prstGeom>
          <a:ln w="31750">
            <a:solidFill>
              <a:srgbClr val="F05133"/>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395" name="Shape 5"/>
          <p:cNvSpPr/>
          <p:nvPr/>
        </p:nvSpPr>
        <p:spPr>
          <a:xfrm>
            <a:off x="2651760" y="2834640"/>
            <a:ext cx="360" cy="914400"/>
          </a:xfrm>
          <a:prstGeom prst="line">
            <a:avLst/>
          </a:prstGeom>
          <a:ln w="31750">
            <a:solidFill>
              <a:srgbClr val="58A6FF"/>
            </a:solidFill>
            <a:roun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396" name="Shape 6"/>
          <p:cNvSpPr/>
          <p:nvPr/>
        </p:nvSpPr>
        <p:spPr>
          <a:xfrm>
            <a:off x="2651760" y="3749040"/>
            <a:ext cx="1280160" cy="360"/>
          </a:xfrm>
          <a:prstGeom prst="line">
            <a:avLst/>
          </a:prstGeom>
          <a:ln w="31750">
            <a:solidFill>
              <a:srgbClr val="58A6FF"/>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397" name="Shape 7"/>
          <p:cNvSpPr/>
          <p:nvPr/>
        </p:nvSpPr>
        <p:spPr>
          <a:xfrm>
            <a:off x="3931920" y="2834640"/>
            <a:ext cx="1097280" cy="457200"/>
          </a:xfrm>
          <a:prstGeom prst="line">
            <a:avLst/>
          </a:prstGeom>
          <a:ln w="31750">
            <a:solidFill>
              <a:srgbClr val="F05133"/>
            </a:solidFill>
            <a:roun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398" name="Shape 8"/>
          <p:cNvSpPr/>
          <p:nvPr/>
        </p:nvSpPr>
        <p:spPr>
          <a:xfrm flipV="1">
            <a:off x="3931920" y="3291840"/>
            <a:ext cx="1097280" cy="457200"/>
          </a:xfrm>
          <a:prstGeom prst="line">
            <a:avLst/>
          </a:prstGeom>
          <a:ln w="31750">
            <a:solidFill>
              <a:srgbClr val="58A6FF"/>
            </a:solidFill>
            <a:roun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399" name="Shape 9"/>
          <p:cNvSpPr/>
          <p:nvPr/>
        </p:nvSpPr>
        <p:spPr>
          <a:xfrm>
            <a:off x="1115640" y="2578680"/>
            <a:ext cx="511560" cy="511560"/>
          </a:xfrm>
          <a:prstGeom prst="ellipse">
            <a:avLst/>
          </a:prstGeom>
          <a:solidFill>
            <a:srgbClr val="F05133"/>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00" name="Text 10"/>
          <p:cNvSpPr/>
          <p:nvPr/>
        </p:nvSpPr>
        <p:spPr>
          <a:xfrm>
            <a:off x="1115640" y="25786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401" name="Shape 11"/>
          <p:cNvSpPr/>
          <p:nvPr/>
        </p:nvSpPr>
        <p:spPr>
          <a:xfrm>
            <a:off x="2395800" y="2578680"/>
            <a:ext cx="511560" cy="511560"/>
          </a:xfrm>
          <a:prstGeom prst="ellipse">
            <a:avLst/>
          </a:prstGeom>
          <a:solidFill>
            <a:srgbClr val="F05133"/>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02" name="Text 12"/>
          <p:cNvSpPr/>
          <p:nvPr/>
        </p:nvSpPr>
        <p:spPr>
          <a:xfrm>
            <a:off x="2395800" y="25786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403" name="Shape 13"/>
          <p:cNvSpPr/>
          <p:nvPr/>
        </p:nvSpPr>
        <p:spPr>
          <a:xfrm>
            <a:off x="3675960" y="2578680"/>
            <a:ext cx="511560" cy="511560"/>
          </a:xfrm>
          <a:prstGeom prst="ellipse">
            <a:avLst/>
          </a:prstGeom>
          <a:solidFill>
            <a:srgbClr val="F05133"/>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04" name="Text 14"/>
          <p:cNvSpPr/>
          <p:nvPr/>
        </p:nvSpPr>
        <p:spPr>
          <a:xfrm>
            <a:off x="3675960" y="25786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405" name="Shape 15"/>
          <p:cNvSpPr/>
          <p:nvPr/>
        </p:nvSpPr>
        <p:spPr>
          <a:xfrm>
            <a:off x="2395800" y="3493080"/>
            <a:ext cx="511560" cy="511560"/>
          </a:xfrm>
          <a:prstGeom prst="ellipse">
            <a:avLst/>
          </a:prstGeom>
          <a:solidFill>
            <a:srgbClr val="58A6FF"/>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6" name="Text 16"/>
          <p:cNvSpPr/>
          <p:nvPr/>
        </p:nvSpPr>
        <p:spPr>
          <a:xfrm>
            <a:off x="2395800" y="34930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407" name="Shape 17"/>
          <p:cNvSpPr/>
          <p:nvPr/>
        </p:nvSpPr>
        <p:spPr>
          <a:xfrm>
            <a:off x="3675960" y="3493080"/>
            <a:ext cx="511560" cy="511560"/>
          </a:xfrm>
          <a:prstGeom prst="ellipse">
            <a:avLst/>
          </a:prstGeom>
          <a:solidFill>
            <a:srgbClr val="58A6FF"/>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8" name="Text 18"/>
          <p:cNvSpPr/>
          <p:nvPr/>
        </p:nvSpPr>
        <p:spPr>
          <a:xfrm>
            <a:off x="3675960" y="34930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409" name="Shape 19"/>
          <p:cNvSpPr/>
          <p:nvPr/>
        </p:nvSpPr>
        <p:spPr>
          <a:xfrm>
            <a:off x="4773240" y="3035880"/>
            <a:ext cx="511560" cy="511560"/>
          </a:xfrm>
          <a:prstGeom prst="ellipse">
            <a:avLst/>
          </a:prstGeom>
          <a:solidFill>
            <a:srgbClr val="3FB950"/>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0" name="Text 20"/>
          <p:cNvSpPr/>
          <p:nvPr/>
        </p:nvSpPr>
        <p:spPr>
          <a:xfrm>
            <a:off x="4773240" y="30358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411" name="Shape 21"/>
          <p:cNvSpPr/>
          <p:nvPr/>
        </p:nvSpPr>
        <p:spPr>
          <a:xfrm>
            <a:off x="731520" y="4617720"/>
            <a:ext cx="5120280" cy="1051200"/>
          </a:xfrm>
          <a:prstGeom prst="roundRect">
            <a:avLst>
              <a:gd name="adj" fmla="val 8696"/>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2" name="Text 22"/>
          <p:cNvSpPr/>
          <p:nvPr/>
        </p:nvSpPr>
        <p:spPr>
          <a:xfrm>
            <a:off x="960120" y="4754880"/>
            <a:ext cx="466308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C9D1D9"/>
                </a:solidFill>
                <a:effectLst/>
                <a:uFillTx/>
                <a:latin typeface="Cantarell"/>
                <a:ea typeface="Calibri"/>
              </a:rPr>
              <a:t>History stays completely honest — you can see exactly when and where the branches diverged and rejoined. A merge commit is added.</a:t>
            </a:r>
            <a:endParaRPr lang="en-US" sz="1150" b="0" u="none" strike="noStrike">
              <a:solidFill>
                <a:srgbClr val="FFFFFF"/>
              </a:solidFill>
              <a:effectLst/>
              <a:uFillTx/>
              <a:latin typeface="Cantarell"/>
            </a:endParaRPr>
          </a:p>
        </p:txBody>
      </p:sp>
      <p:sp>
        <p:nvSpPr>
          <p:cNvPr id="413" name="Text 23"/>
          <p:cNvSpPr/>
          <p:nvPr/>
        </p:nvSpPr>
        <p:spPr>
          <a:xfrm>
            <a:off x="6355080" y="1463040"/>
            <a:ext cx="51202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Consolas"/>
                <a:ea typeface="Consolas"/>
              </a:rPr>
              <a:t>git rebase</a:t>
            </a:r>
            <a:endParaRPr lang="en-US" sz="1500" b="0" u="none" strike="noStrike">
              <a:solidFill>
                <a:srgbClr val="FFFFFF"/>
              </a:solidFill>
              <a:effectLst/>
              <a:uFillTx/>
              <a:latin typeface="Arial"/>
            </a:endParaRPr>
          </a:p>
        </p:txBody>
      </p:sp>
      <p:sp>
        <p:nvSpPr>
          <p:cNvPr id="414" name="Shape 24"/>
          <p:cNvSpPr/>
          <p:nvPr/>
        </p:nvSpPr>
        <p:spPr>
          <a:xfrm>
            <a:off x="6949440" y="3291840"/>
            <a:ext cx="3840480" cy="360"/>
          </a:xfrm>
          <a:prstGeom prst="line">
            <a:avLst/>
          </a:prstGeom>
          <a:ln w="31750">
            <a:solidFill>
              <a:srgbClr val="F05133"/>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415" name="Shape 25"/>
          <p:cNvSpPr/>
          <p:nvPr/>
        </p:nvSpPr>
        <p:spPr>
          <a:xfrm>
            <a:off x="6693480" y="3035880"/>
            <a:ext cx="511560" cy="511560"/>
          </a:xfrm>
          <a:prstGeom prst="ellipse">
            <a:avLst/>
          </a:prstGeom>
          <a:solidFill>
            <a:srgbClr val="F05133"/>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6" name="Text 26"/>
          <p:cNvSpPr/>
          <p:nvPr/>
        </p:nvSpPr>
        <p:spPr>
          <a:xfrm>
            <a:off x="6693480" y="30358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417" name="Shape 27"/>
          <p:cNvSpPr/>
          <p:nvPr/>
        </p:nvSpPr>
        <p:spPr>
          <a:xfrm>
            <a:off x="7973640" y="3035880"/>
            <a:ext cx="511560" cy="511560"/>
          </a:xfrm>
          <a:prstGeom prst="ellipse">
            <a:avLst/>
          </a:prstGeom>
          <a:solidFill>
            <a:srgbClr val="F05133"/>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8" name="Text 28"/>
          <p:cNvSpPr/>
          <p:nvPr/>
        </p:nvSpPr>
        <p:spPr>
          <a:xfrm>
            <a:off x="7973640" y="30358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419" name="Shape 29"/>
          <p:cNvSpPr/>
          <p:nvPr/>
        </p:nvSpPr>
        <p:spPr>
          <a:xfrm>
            <a:off x="9253800" y="3035880"/>
            <a:ext cx="511560" cy="511560"/>
          </a:xfrm>
          <a:prstGeom prst="ellipse">
            <a:avLst/>
          </a:prstGeom>
          <a:solidFill>
            <a:srgbClr val="8957E5"/>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0" name="Text 30"/>
          <p:cNvSpPr/>
          <p:nvPr/>
        </p:nvSpPr>
        <p:spPr>
          <a:xfrm>
            <a:off x="9253800" y="30358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421" name="Shape 31"/>
          <p:cNvSpPr/>
          <p:nvPr/>
        </p:nvSpPr>
        <p:spPr>
          <a:xfrm>
            <a:off x="10533960" y="3035880"/>
            <a:ext cx="511560" cy="511560"/>
          </a:xfrm>
          <a:prstGeom prst="ellipse">
            <a:avLst/>
          </a:prstGeom>
          <a:solidFill>
            <a:srgbClr val="8957E5"/>
          </a:solidFill>
          <a:ln w="25400">
            <a:solidFill>
              <a:srgbClr val="0D111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2" name="Text 32"/>
          <p:cNvSpPr/>
          <p:nvPr/>
        </p:nvSpPr>
        <p:spPr>
          <a:xfrm>
            <a:off x="10533960" y="3035880"/>
            <a:ext cx="511560" cy="511560"/>
          </a:xfrm>
          <a:prstGeom prst="rect">
            <a:avLst/>
          </a:prstGeom>
          <a:noFill/>
          <a:ln w="0">
            <a:noFill/>
          </a:ln>
        </p:spPr>
        <p:style>
          <a:lnRef idx="0"/>
          <a:fillRef idx="0"/>
          <a:effectRef idx="0"/>
          <a:fontRef idx="minor"/>
        </p:style>
        <p:txBody>
          <a:bodyPr lIns="0" tIns="0" rIns="0" bIns="0" anchor="ctr">
            <a:noAutofit/>
          </a:bodyPr>
          <a:p>
            <a:endParaRPr lang="en-US" sz="950" b="0" u="none" strike="noStrike">
              <a:solidFill>
                <a:schemeClr val="dk1"/>
              </a:solidFill>
              <a:effectLst/>
              <a:uFillTx/>
              <a:latin typeface="Calibri"/>
            </a:endParaRPr>
          </a:p>
        </p:txBody>
      </p:sp>
      <p:sp>
        <p:nvSpPr>
          <p:cNvPr id="423" name="Text 33"/>
          <p:cNvSpPr/>
          <p:nvPr/>
        </p:nvSpPr>
        <p:spPr>
          <a:xfrm>
            <a:off x="8595360" y="3611880"/>
            <a:ext cx="255996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i="1" u="none" strike="noStrike">
                <a:solidFill>
                  <a:srgbClr val="8957E5"/>
                </a:solidFill>
                <a:effectLst/>
                <a:uFillTx/>
                <a:latin typeface="Calibri"/>
                <a:ea typeface="Calibri"/>
              </a:rPr>
              <a:t>(feature, replayed)</a:t>
            </a:r>
            <a:endParaRPr lang="en-US" sz="1000" b="0" u="none" strike="noStrike">
              <a:solidFill>
                <a:srgbClr val="FFFFFF"/>
              </a:solidFill>
              <a:effectLst/>
              <a:uFillTx/>
              <a:latin typeface="Arial"/>
            </a:endParaRPr>
          </a:p>
        </p:txBody>
      </p:sp>
      <p:sp>
        <p:nvSpPr>
          <p:cNvPr id="424" name="Shape 34"/>
          <p:cNvSpPr/>
          <p:nvPr/>
        </p:nvSpPr>
        <p:spPr>
          <a:xfrm>
            <a:off x="6355080" y="4617720"/>
            <a:ext cx="5120280" cy="1051200"/>
          </a:xfrm>
          <a:prstGeom prst="roundRect">
            <a:avLst>
              <a:gd name="adj" fmla="val 8696"/>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5" name="Text 35"/>
          <p:cNvSpPr/>
          <p:nvPr/>
        </p:nvSpPr>
        <p:spPr>
          <a:xfrm>
            <a:off x="6583680" y="4754880"/>
            <a:ext cx="466308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C9D1D9"/>
                </a:solidFill>
                <a:effectLst/>
                <a:uFillTx/>
                <a:latin typeface="Cantarell"/>
                <a:ea typeface="Calibri"/>
              </a:rPr>
              <a:t>History is rewritten to look perfectly linear — feature’s commits are recreated with new hashes, on top of main. No merge commit; cleaner, but the original shape is gone.</a:t>
            </a:r>
            <a:endParaRPr lang="en-US" sz="1150" b="0" u="none" strike="noStrike">
              <a:solidFill>
                <a:srgbClr val="FFFFFF"/>
              </a:solidFill>
              <a:effectLst/>
              <a:uFillTx/>
              <a:latin typeface="Cantarell"/>
            </a:endParaRPr>
          </a:p>
        </p:txBody>
      </p:sp>
      <p:sp>
        <p:nvSpPr>
          <p:cNvPr id="426" name="Text 36"/>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427" name="Text 37"/>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30</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428"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29" name="Image 0" descr="preencoded.png"/>
          <p:cNvPicPr/>
          <p:nvPr/>
        </p:nvPicPr>
        <p:blipFill>
          <a:blip r:embed="rId1"/>
          <a:stretch/>
        </p:blipFill>
        <p:spPr>
          <a:xfrm>
            <a:off x="548640" y="548640"/>
            <a:ext cx="447840" cy="447840"/>
          </a:xfrm>
          <a:prstGeom prst="rect">
            <a:avLst/>
          </a:prstGeom>
          <a:noFill/>
          <a:ln w="0">
            <a:noFill/>
          </a:ln>
        </p:spPr>
      </p:pic>
      <p:sp>
        <p:nvSpPr>
          <p:cNvPr id="430"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Merge vs. Rebase — The Real Tradeoff</a:t>
            </a:r>
            <a:endParaRPr lang="en-US" sz="2500" b="0" u="none" strike="noStrike">
              <a:solidFill>
                <a:srgbClr val="FFFFFF"/>
              </a:solidFill>
              <a:effectLst/>
              <a:uFillTx/>
              <a:latin typeface="Arial"/>
            </a:endParaRPr>
          </a:p>
        </p:txBody>
      </p:sp>
      <p:sp>
        <p:nvSpPr>
          <p:cNvPr id="431"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432" name="Shape 3"/>
          <p:cNvSpPr/>
          <p:nvPr/>
        </p:nvSpPr>
        <p:spPr>
          <a:xfrm>
            <a:off x="457200" y="1645920"/>
            <a:ext cx="5348880" cy="4480200"/>
          </a:xfrm>
          <a:prstGeom prst="roundRect">
            <a:avLst>
              <a:gd name="adj" fmla="val 2041"/>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3" name="Shape 4"/>
          <p:cNvSpPr/>
          <p:nvPr/>
        </p:nvSpPr>
        <p:spPr>
          <a:xfrm>
            <a:off x="731520" y="1874520"/>
            <a:ext cx="456840" cy="45684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34" name="Image 1" descr="preencoded.png"/>
          <p:cNvPicPr/>
          <p:nvPr/>
        </p:nvPicPr>
        <p:blipFill>
          <a:blip r:embed="rId2"/>
          <a:stretch/>
        </p:blipFill>
        <p:spPr>
          <a:xfrm>
            <a:off x="804600" y="1938600"/>
            <a:ext cx="319680" cy="319680"/>
          </a:xfrm>
          <a:prstGeom prst="rect">
            <a:avLst/>
          </a:prstGeom>
          <a:noFill/>
          <a:ln w="0">
            <a:noFill/>
          </a:ln>
        </p:spPr>
      </p:pic>
      <p:sp>
        <p:nvSpPr>
          <p:cNvPr id="435" name="Text 5"/>
          <p:cNvSpPr/>
          <p:nvPr/>
        </p:nvSpPr>
        <p:spPr>
          <a:xfrm>
            <a:off x="1325880" y="1874520"/>
            <a:ext cx="4343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FFFFF"/>
                </a:solidFill>
                <a:effectLst/>
                <a:uFillTx/>
                <a:latin typeface="Calibri"/>
                <a:ea typeface="Calibri"/>
              </a:rPr>
              <a:t>git </a:t>
            </a:r>
            <a:r>
              <a:rPr lang="en-US" sz="1800" b="1" u="none" strike="noStrike">
                <a:solidFill>
                  <a:srgbClr val="FFFFFF"/>
                </a:solidFill>
                <a:effectLst/>
                <a:uFillTx/>
                <a:latin typeface="Calibri"/>
                <a:ea typeface="Calibri"/>
              </a:rPr>
              <a:t>mer</a:t>
            </a:r>
            <a:r>
              <a:rPr lang="en-US" sz="1800" b="1" u="none" strike="noStrike">
                <a:solidFill>
                  <a:srgbClr val="FFFFFF"/>
                </a:solidFill>
                <a:effectLst/>
                <a:uFillTx/>
                <a:latin typeface="Calibri"/>
                <a:ea typeface="Calibri"/>
              </a:rPr>
              <a:t>ge</a:t>
            </a:r>
            <a:endParaRPr lang="en-US" sz="1800" b="0" u="none" strike="noStrike">
              <a:solidFill>
                <a:srgbClr val="FFFFFF"/>
              </a:solidFill>
              <a:effectLst/>
              <a:uFillTx/>
              <a:latin typeface="Arial"/>
            </a:endParaRPr>
          </a:p>
        </p:txBody>
      </p:sp>
      <p:sp>
        <p:nvSpPr>
          <p:cNvPr id="436" name="Text 6"/>
          <p:cNvSpPr/>
          <p:nvPr/>
        </p:nvSpPr>
        <p:spPr>
          <a:xfrm>
            <a:off x="731520" y="2514600"/>
            <a:ext cx="4800240" cy="338292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001"/>
              </a:spcAft>
              <a:buClr>
                <a:srgbClr val="C9D1D9"/>
              </a:buClr>
              <a:buFont typeface="Symbol" charset="2"/>
              <a:buChar char=""/>
            </a:pPr>
            <a:r>
              <a:rPr lang="en-US" sz="1350" b="0" u="none" strike="noStrike">
                <a:solidFill>
                  <a:srgbClr val="C9D1D9"/>
                </a:solidFill>
                <a:effectLst/>
                <a:uFillTx/>
                <a:latin typeface="Calibri"/>
                <a:ea typeface="Calibri"/>
              </a:rPr>
              <a:t>Preserves exactly what really happened — the true, honest shape of history</a:t>
            </a:r>
            <a:endParaRPr lang="en-US" sz="1350" b="0" u="none" strike="noStrike">
              <a:solidFill>
                <a:srgbClr val="FFFFFF"/>
              </a:solidFill>
              <a:effectLst/>
              <a:uFillTx/>
              <a:latin typeface="Arial"/>
            </a:endParaRPr>
          </a:p>
          <a:p>
            <a:pPr marL="203040" indent="-203040" defTabSz="914400">
              <a:lnSpc>
                <a:spcPct val="115000"/>
              </a:lnSpc>
              <a:spcAft>
                <a:spcPts val="1001"/>
              </a:spcAft>
              <a:buClr>
                <a:srgbClr val="C9D1D9"/>
              </a:buClr>
              <a:buFont typeface="Symbol" charset="2"/>
              <a:buChar char=""/>
            </a:pPr>
            <a:r>
              <a:rPr lang="en-US" sz="1350" b="0" u="none" strike="noStrike">
                <a:solidFill>
                  <a:srgbClr val="C9D1D9"/>
                </a:solidFill>
                <a:effectLst/>
                <a:uFillTx/>
                <a:latin typeface="Calibri"/>
                <a:ea typeface="Calibri"/>
              </a:rPr>
              <a:t>Never rewrites existing commits — always safe, even on shared branches</a:t>
            </a:r>
            <a:endParaRPr lang="en-US" sz="1350" b="0" u="none" strike="noStrike">
              <a:solidFill>
                <a:srgbClr val="FFFFFF"/>
              </a:solidFill>
              <a:effectLst/>
              <a:uFillTx/>
              <a:latin typeface="Arial"/>
            </a:endParaRPr>
          </a:p>
          <a:p>
            <a:pPr marL="203040" indent="-203040" defTabSz="914400">
              <a:lnSpc>
                <a:spcPct val="115000"/>
              </a:lnSpc>
              <a:spcAft>
                <a:spcPts val="1001"/>
              </a:spcAft>
              <a:buClr>
                <a:srgbClr val="C9D1D9"/>
              </a:buClr>
              <a:buFont typeface="Symbol" charset="2"/>
              <a:buChar char=""/>
            </a:pPr>
            <a:r>
              <a:rPr lang="en-US" sz="1350" b="0" u="none" strike="noStrike">
                <a:solidFill>
                  <a:srgbClr val="C9D1D9"/>
                </a:solidFill>
                <a:effectLst/>
                <a:uFillTx/>
                <a:latin typeface="Calibri"/>
                <a:ea typeface="Calibri"/>
              </a:rPr>
              <a:t>History can get busy with merge commits on an active project</a:t>
            </a:r>
            <a:endParaRPr lang="en-US" sz="1350" b="0" u="none" strike="noStrike">
              <a:solidFill>
                <a:srgbClr val="FFFFFF"/>
              </a:solidFill>
              <a:effectLst/>
              <a:uFillTx/>
              <a:latin typeface="Arial"/>
            </a:endParaRPr>
          </a:p>
        </p:txBody>
      </p:sp>
      <p:sp>
        <p:nvSpPr>
          <p:cNvPr id="437" name="Shape 7"/>
          <p:cNvSpPr/>
          <p:nvPr/>
        </p:nvSpPr>
        <p:spPr>
          <a:xfrm>
            <a:off x="6172200" y="1645920"/>
            <a:ext cx="5348880" cy="4480200"/>
          </a:xfrm>
          <a:prstGeom prst="roundRect">
            <a:avLst>
              <a:gd name="adj" fmla="val 2041"/>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8" name="Shape 8"/>
          <p:cNvSpPr/>
          <p:nvPr/>
        </p:nvSpPr>
        <p:spPr>
          <a:xfrm>
            <a:off x="6446520" y="1874520"/>
            <a:ext cx="456840" cy="456840"/>
          </a:xfrm>
          <a:prstGeom prst="ellipse">
            <a:avLst/>
          </a:prstGeom>
          <a:solidFill>
            <a:srgbClr val="58A6F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39" name="Image 2" descr="preencoded.png"/>
          <p:cNvPicPr/>
          <p:nvPr/>
        </p:nvPicPr>
        <p:blipFill>
          <a:blip r:embed="rId3"/>
          <a:stretch/>
        </p:blipFill>
        <p:spPr>
          <a:xfrm>
            <a:off x="6519600" y="1938600"/>
            <a:ext cx="319680" cy="319680"/>
          </a:xfrm>
          <a:prstGeom prst="rect">
            <a:avLst/>
          </a:prstGeom>
          <a:noFill/>
          <a:ln w="0">
            <a:noFill/>
          </a:ln>
        </p:spPr>
      </p:pic>
      <p:sp>
        <p:nvSpPr>
          <p:cNvPr id="440" name="Text 9"/>
          <p:cNvSpPr/>
          <p:nvPr/>
        </p:nvSpPr>
        <p:spPr>
          <a:xfrm>
            <a:off x="7040880" y="1874520"/>
            <a:ext cx="4343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FFFFF"/>
                </a:solidFill>
                <a:effectLst/>
                <a:uFillTx/>
                <a:latin typeface="Calibri"/>
                <a:ea typeface="Calibri"/>
              </a:rPr>
              <a:t>git rebase</a:t>
            </a:r>
            <a:endParaRPr lang="en-US" sz="1800" b="0" u="none" strike="noStrike">
              <a:solidFill>
                <a:srgbClr val="FFFFFF"/>
              </a:solidFill>
              <a:effectLst/>
              <a:uFillTx/>
              <a:latin typeface="Arial"/>
            </a:endParaRPr>
          </a:p>
        </p:txBody>
      </p:sp>
      <p:sp>
        <p:nvSpPr>
          <p:cNvPr id="441" name="Text 10"/>
          <p:cNvSpPr/>
          <p:nvPr/>
        </p:nvSpPr>
        <p:spPr>
          <a:xfrm>
            <a:off x="6446520" y="2514600"/>
            <a:ext cx="4800240" cy="338292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001"/>
              </a:spcAft>
              <a:buClr>
                <a:srgbClr val="C9D1D9"/>
              </a:buClr>
              <a:buFont typeface="Symbol" charset="2"/>
              <a:buChar char=""/>
            </a:pPr>
            <a:r>
              <a:rPr lang="en-US" sz="1350" b="0" u="none" strike="noStrike">
                <a:solidFill>
                  <a:srgbClr val="C9D1D9"/>
                </a:solidFill>
                <a:effectLst/>
                <a:uFillTx/>
                <a:latin typeface="Calibri"/>
                <a:ea typeface="Calibri"/>
              </a:rPr>
              <a:t>Produces a clean, linear, easy-to-read history — no merge commits cluttering the log</a:t>
            </a:r>
            <a:endParaRPr lang="en-US" sz="1350" b="0" u="none" strike="noStrike">
              <a:solidFill>
                <a:srgbClr val="FFFFFF"/>
              </a:solidFill>
              <a:effectLst/>
              <a:uFillTx/>
              <a:latin typeface="Arial"/>
            </a:endParaRPr>
          </a:p>
          <a:p>
            <a:pPr marL="203040" indent="-203040" defTabSz="914400">
              <a:lnSpc>
                <a:spcPct val="115000"/>
              </a:lnSpc>
              <a:spcAft>
                <a:spcPts val="1001"/>
              </a:spcAft>
              <a:buClr>
                <a:srgbClr val="C9D1D9"/>
              </a:buClr>
              <a:buFont typeface="Symbol" charset="2"/>
              <a:buChar char=""/>
            </a:pPr>
            <a:r>
              <a:rPr lang="en-US" sz="1350" b="0" u="none" strike="noStrike">
                <a:solidFill>
                  <a:srgbClr val="C9D1D9"/>
                </a:solidFill>
                <a:effectLst/>
                <a:uFillTx/>
                <a:latin typeface="Calibri"/>
                <a:ea typeface="Calibri"/>
              </a:rPr>
              <a:t>Rewrites commits — their hashes genuinely change, which matters enormously if others already have the old ones</a:t>
            </a:r>
            <a:endParaRPr lang="en-US" sz="1350" b="0" u="none" strike="noStrike">
              <a:solidFill>
                <a:srgbClr val="FFFFFF"/>
              </a:solidFill>
              <a:effectLst/>
              <a:uFillTx/>
              <a:latin typeface="Arial"/>
            </a:endParaRPr>
          </a:p>
          <a:p>
            <a:pPr marL="203040" indent="-203040" defTabSz="914400">
              <a:lnSpc>
                <a:spcPct val="115000"/>
              </a:lnSpc>
              <a:spcAft>
                <a:spcPts val="1001"/>
              </a:spcAft>
              <a:buClr>
                <a:srgbClr val="C9D1D9"/>
              </a:buClr>
              <a:buFont typeface="Symbol" charset="2"/>
              <a:buChar char=""/>
            </a:pPr>
            <a:r>
              <a:rPr lang="en-US" sz="1350" b="0" u="none" strike="noStrike">
                <a:solidFill>
                  <a:srgbClr val="C9D1D9"/>
                </a:solidFill>
                <a:effectLst/>
                <a:uFillTx/>
                <a:latin typeface="Calibri"/>
                <a:ea typeface="Calibri"/>
              </a:rPr>
              <a:t>Best used to clean up your OWN local, not-yet-shared commits before merging or pushing</a:t>
            </a:r>
            <a:endParaRPr lang="en-US" sz="1350" b="0" u="none" strike="noStrike">
              <a:solidFill>
                <a:srgbClr val="FFFFFF"/>
              </a:solidFill>
              <a:effectLst/>
              <a:uFillTx/>
              <a:latin typeface="Arial"/>
            </a:endParaRPr>
          </a:p>
        </p:txBody>
      </p:sp>
      <p:sp>
        <p:nvSpPr>
          <p:cNvPr id="442" name="Text 11"/>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443" name="Text 12"/>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31</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444"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45" name="Image 0" descr="preencoded.png"/>
          <p:cNvPicPr/>
          <p:nvPr/>
        </p:nvPicPr>
        <p:blipFill>
          <a:blip r:embed="rId1"/>
          <a:stretch/>
        </p:blipFill>
        <p:spPr>
          <a:xfrm>
            <a:off x="548640" y="548640"/>
            <a:ext cx="447840" cy="447840"/>
          </a:xfrm>
          <a:prstGeom prst="rect">
            <a:avLst/>
          </a:prstGeom>
          <a:noFill/>
          <a:ln w="0">
            <a:noFill/>
          </a:ln>
        </p:spPr>
      </p:pic>
      <p:sp>
        <p:nvSpPr>
          <p:cNvPr id="446"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The Golden Rule of Rebase</a:t>
            </a:r>
            <a:endParaRPr lang="en-US" sz="2500" b="0" u="none" strike="noStrike">
              <a:solidFill>
                <a:srgbClr val="FFFFFF"/>
              </a:solidFill>
              <a:effectLst/>
              <a:uFillTx/>
              <a:latin typeface="Arial"/>
            </a:endParaRPr>
          </a:p>
        </p:txBody>
      </p:sp>
      <p:sp>
        <p:nvSpPr>
          <p:cNvPr id="447"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448" name="Shape 3"/>
          <p:cNvSpPr/>
          <p:nvPr/>
        </p:nvSpPr>
        <p:spPr>
          <a:xfrm>
            <a:off x="457200" y="1554480"/>
            <a:ext cx="3657240" cy="4663080"/>
          </a:xfrm>
          <a:prstGeom prst="roundRect">
            <a:avLst>
              <a:gd name="adj" fmla="val 3000"/>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49" name="Shape 4"/>
          <p:cNvSpPr/>
          <p:nvPr/>
        </p:nvSpPr>
        <p:spPr>
          <a:xfrm>
            <a:off x="1508760" y="2194560"/>
            <a:ext cx="1554120" cy="1554120"/>
          </a:xfrm>
          <a:prstGeom prst="ellipse">
            <a:avLst/>
          </a:prstGeom>
          <a:solidFill>
            <a:srgbClr val="F85149"/>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50" name="Image 1" descr="preencoded.png"/>
          <p:cNvPicPr/>
          <p:nvPr/>
        </p:nvPicPr>
        <p:blipFill>
          <a:blip r:embed="rId2"/>
          <a:stretch/>
        </p:blipFill>
        <p:spPr>
          <a:xfrm>
            <a:off x="1746360" y="2423160"/>
            <a:ext cx="1087920" cy="1087920"/>
          </a:xfrm>
          <a:prstGeom prst="rect">
            <a:avLst/>
          </a:prstGeom>
          <a:noFill/>
          <a:ln w="0">
            <a:noFill/>
          </a:ln>
        </p:spPr>
      </p:pic>
      <p:sp>
        <p:nvSpPr>
          <p:cNvPr id="451" name="Text 5"/>
          <p:cNvSpPr/>
          <p:nvPr/>
        </p:nvSpPr>
        <p:spPr>
          <a:xfrm>
            <a:off x="640080" y="3977640"/>
            <a:ext cx="3291480" cy="17370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700" b="1" u="none" strike="noStrike">
                <a:solidFill>
                  <a:srgbClr val="FFFFFF"/>
                </a:solidFill>
                <a:effectLst/>
                <a:uFillTx/>
                <a:latin typeface="Calibri"/>
                <a:ea typeface="Calibri"/>
              </a:rPr>
              <a:t>Never</a:t>
            </a:r>
            <a:endParaRPr lang="en-US" sz="1700" b="0" u="none" strike="noStrike">
              <a:solidFill>
                <a:srgbClr val="FFFFFF"/>
              </a:solidFill>
              <a:effectLst/>
              <a:uFillTx/>
              <a:latin typeface="Arial"/>
            </a:endParaRPr>
          </a:p>
          <a:p>
            <a:pPr algn="ctr" defTabSz="914400">
              <a:lnSpc>
                <a:spcPct val="100000"/>
              </a:lnSpc>
              <a:tabLst>
                <a:tab pos="0" algn="l"/>
              </a:tabLst>
            </a:pPr>
            <a:r>
              <a:rPr lang="en-US" sz="1700" b="1" u="none" strike="noStrike">
                <a:solidFill>
                  <a:srgbClr val="FFFFFF"/>
                </a:solidFill>
                <a:effectLst/>
                <a:uFillTx/>
                <a:latin typeface="Calibri"/>
                <a:ea typeface="Calibri"/>
              </a:rPr>
              <a:t>rebase</a:t>
            </a:r>
            <a:endParaRPr lang="en-US" sz="1700" b="0" u="none" strike="noStrike">
              <a:solidFill>
                <a:srgbClr val="FFFFFF"/>
              </a:solidFill>
              <a:effectLst/>
              <a:uFillTx/>
              <a:latin typeface="Arial"/>
            </a:endParaRPr>
          </a:p>
          <a:p>
            <a:pPr algn="ctr" defTabSz="914400">
              <a:lnSpc>
                <a:spcPct val="100000"/>
              </a:lnSpc>
              <a:tabLst>
                <a:tab pos="0" algn="l"/>
              </a:tabLst>
            </a:pPr>
            <a:r>
              <a:rPr lang="en-US" sz="1700" b="1" u="none" strike="noStrike">
                <a:solidFill>
                  <a:srgbClr val="FFFFFF"/>
                </a:solidFill>
                <a:effectLst/>
                <a:uFillTx/>
                <a:latin typeface="Calibri"/>
                <a:ea typeface="Calibri"/>
              </a:rPr>
              <a:t>shared history</a:t>
            </a:r>
            <a:endParaRPr lang="en-US" sz="1700" b="0" u="none" strike="noStrike">
              <a:solidFill>
                <a:srgbClr val="FFFFFF"/>
              </a:solidFill>
              <a:effectLst/>
              <a:uFillTx/>
              <a:latin typeface="Arial"/>
            </a:endParaRPr>
          </a:p>
        </p:txBody>
      </p:sp>
      <p:sp>
        <p:nvSpPr>
          <p:cNvPr id="452" name="Text 6"/>
          <p:cNvSpPr/>
          <p:nvPr/>
        </p:nvSpPr>
        <p:spPr>
          <a:xfrm>
            <a:off x="4572000" y="1737360"/>
            <a:ext cx="7131960" cy="411444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Never rebase commits that other people already have — this is the one rule that actually matters here</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Rebasing creates brand-new commits with new hashes; anyone who already pulled the old ones now has history that doesn’t match yours</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The result is a genuinely painful mess to untangle across a team — duplicated commits, confusing conflicts, broken pull requests</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Safe use: rebasing a branch that only exists on your own machine. Unsafe use: rebasing main, or any branch you’ve already pushed and shared</a:t>
            </a:r>
            <a:endParaRPr lang="en-US" sz="1600" b="0" u="none" strike="noStrike">
              <a:solidFill>
                <a:srgbClr val="FFFFFF"/>
              </a:solidFill>
              <a:effectLst/>
              <a:uFillTx/>
              <a:latin typeface="Arial"/>
            </a:endParaRPr>
          </a:p>
        </p:txBody>
      </p:sp>
      <p:sp>
        <p:nvSpPr>
          <p:cNvPr id="453" name="Text 7"/>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454" name="Text 8"/>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32</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455"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56" name="Image 0" descr="preencoded.png"/>
          <p:cNvPicPr/>
          <p:nvPr/>
        </p:nvPicPr>
        <p:blipFill>
          <a:blip r:embed="rId1"/>
          <a:stretch/>
        </p:blipFill>
        <p:spPr>
          <a:xfrm>
            <a:off x="548640" y="548640"/>
            <a:ext cx="447840" cy="447840"/>
          </a:xfrm>
          <a:prstGeom prst="rect">
            <a:avLst/>
          </a:prstGeom>
          <a:noFill/>
          <a:ln w="0">
            <a:noFill/>
          </a:ln>
        </p:spPr>
      </p:pic>
      <p:sp>
        <p:nvSpPr>
          <p:cNvPr id="457"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What Is Reflog?</a:t>
            </a:r>
            <a:endParaRPr lang="en-US" sz="2500" b="0" u="none" strike="noStrike">
              <a:solidFill>
                <a:srgbClr val="FFFFFF"/>
              </a:solidFill>
              <a:effectLst/>
              <a:uFillTx/>
              <a:latin typeface="Arial"/>
            </a:endParaRPr>
          </a:p>
        </p:txBody>
      </p:sp>
      <p:sp>
        <p:nvSpPr>
          <p:cNvPr id="458"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459" name="Shape 3"/>
          <p:cNvSpPr/>
          <p:nvPr/>
        </p:nvSpPr>
        <p:spPr>
          <a:xfrm>
            <a:off x="457200" y="1554480"/>
            <a:ext cx="3657240" cy="4663080"/>
          </a:xfrm>
          <a:prstGeom prst="roundRect">
            <a:avLst>
              <a:gd name="adj" fmla="val 3000"/>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60" name="Shape 4"/>
          <p:cNvSpPr/>
          <p:nvPr/>
        </p:nvSpPr>
        <p:spPr>
          <a:xfrm>
            <a:off x="1508760" y="2194560"/>
            <a:ext cx="1554120" cy="15541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61" name="Image 1" descr="preencoded.png"/>
          <p:cNvPicPr/>
          <p:nvPr/>
        </p:nvPicPr>
        <p:blipFill>
          <a:blip r:embed="rId2"/>
          <a:stretch/>
        </p:blipFill>
        <p:spPr>
          <a:xfrm>
            <a:off x="1746360" y="2423160"/>
            <a:ext cx="1087920" cy="1087920"/>
          </a:xfrm>
          <a:prstGeom prst="rect">
            <a:avLst/>
          </a:prstGeom>
          <a:noFill/>
          <a:ln w="0">
            <a:noFill/>
          </a:ln>
        </p:spPr>
      </p:pic>
      <p:sp>
        <p:nvSpPr>
          <p:cNvPr id="462" name="Text 5"/>
          <p:cNvSpPr/>
          <p:nvPr/>
        </p:nvSpPr>
        <p:spPr>
          <a:xfrm>
            <a:off x="640080" y="3977640"/>
            <a:ext cx="3291480" cy="17370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700" b="1" u="none" strike="noStrike">
                <a:solidFill>
                  <a:srgbClr val="FFFFFF"/>
                </a:solidFill>
                <a:effectLst/>
                <a:uFillTx/>
                <a:latin typeface="Calibri"/>
                <a:ea typeface="Calibri"/>
              </a:rPr>
              <a:t>Git’s own</a:t>
            </a:r>
            <a:endParaRPr lang="en-US" sz="1700" b="0" u="none" strike="noStrike">
              <a:solidFill>
                <a:srgbClr val="FFFFFF"/>
              </a:solidFill>
              <a:effectLst/>
              <a:uFillTx/>
              <a:latin typeface="Arial"/>
            </a:endParaRPr>
          </a:p>
          <a:p>
            <a:pPr algn="ctr" defTabSz="914400">
              <a:lnSpc>
                <a:spcPct val="100000"/>
              </a:lnSpc>
              <a:tabLst>
                <a:tab pos="0" algn="l"/>
              </a:tabLst>
            </a:pPr>
            <a:r>
              <a:rPr lang="en-US" sz="1700" b="1" u="none" strike="noStrike">
                <a:solidFill>
                  <a:srgbClr val="FFFFFF"/>
                </a:solidFill>
                <a:effectLst/>
                <a:uFillTx/>
                <a:latin typeface="Calibri"/>
                <a:ea typeface="Calibri"/>
              </a:rPr>
              <a:t>undo</a:t>
            </a:r>
            <a:endParaRPr lang="en-US" sz="1700" b="0" u="none" strike="noStrike">
              <a:solidFill>
                <a:srgbClr val="FFFFFF"/>
              </a:solidFill>
              <a:effectLst/>
              <a:uFillTx/>
              <a:latin typeface="Arial"/>
            </a:endParaRPr>
          </a:p>
          <a:p>
            <a:pPr algn="ctr" defTabSz="914400">
              <a:lnSpc>
                <a:spcPct val="100000"/>
              </a:lnSpc>
              <a:tabLst>
                <a:tab pos="0" algn="l"/>
              </a:tabLst>
            </a:pPr>
            <a:r>
              <a:rPr lang="en-US" sz="1700" b="1" u="none" strike="noStrike">
                <a:solidFill>
                  <a:srgbClr val="FFFFFF"/>
                </a:solidFill>
                <a:effectLst/>
                <a:uFillTx/>
                <a:latin typeface="Calibri"/>
                <a:ea typeface="Calibri"/>
              </a:rPr>
              <a:t>history</a:t>
            </a:r>
            <a:endParaRPr lang="en-US" sz="1700" b="0" u="none" strike="noStrike">
              <a:solidFill>
                <a:srgbClr val="FFFFFF"/>
              </a:solidFill>
              <a:effectLst/>
              <a:uFillTx/>
              <a:latin typeface="Arial"/>
            </a:endParaRPr>
          </a:p>
        </p:txBody>
      </p:sp>
      <p:sp>
        <p:nvSpPr>
          <p:cNvPr id="463" name="Text 6"/>
          <p:cNvSpPr/>
          <p:nvPr/>
        </p:nvSpPr>
        <p:spPr>
          <a:xfrm>
            <a:off x="4572000" y="1737360"/>
            <a:ext cx="7131960" cy="411444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Git secretly keeps a log of every single place HEAD has pointed to, on your machine — every commit, checkout, reset, and rebase</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This isn’t part of your project’s real history — it’s Git’s own private safety net, purely local, never shared or pushed</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This means almost nothing in Git is ever truly, permanently lost by accident — even a "lost" commit is usually still sitting in the reflog</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Reflog entries do eventually expire (by default after 90 days) — but for any recent mistake, it’s almost always your way back</a:t>
            </a:r>
            <a:endParaRPr lang="en-US" sz="1600" b="0" u="none" strike="noStrike">
              <a:solidFill>
                <a:srgbClr val="FFFFFF"/>
              </a:solidFill>
              <a:effectLst/>
              <a:uFillTx/>
              <a:latin typeface="Arial"/>
            </a:endParaRPr>
          </a:p>
        </p:txBody>
      </p:sp>
      <p:sp>
        <p:nvSpPr>
          <p:cNvPr id="464" name="Text 7"/>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465" name="Text 8"/>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33</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466"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67" name="Image 0" descr="preencoded.png"/>
          <p:cNvPicPr/>
          <p:nvPr/>
        </p:nvPicPr>
        <p:blipFill>
          <a:blip r:embed="rId1"/>
          <a:stretch/>
        </p:blipFill>
        <p:spPr>
          <a:xfrm>
            <a:off x="548640" y="548640"/>
            <a:ext cx="447840" cy="447840"/>
          </a:xfrm>
          <a:prstGeom prst="rect">
            <a:avLst/>
          </a:prstGeom>
          <a:noFill/>
          <a:ln w="0">
            <a:noFill/>
          </a:ln>
        </p:spPr>
      </p:pic>
      <p:sp>
        <p:nvSpPr>
          <p:cNvPr id="468"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Using Reflog to Recover "Lost" </a:t>
            </a:r>
            <a:r>
              <a:rPr lang="en-US" sz="2500" b="1" u="none" strike="noStrike">
                <a:solidFill>
                  <a:srgbClr val="FFFFFF"/>
                </a:solidFill>
                <a:effectLst/>
                <a:uFillTx/>
                <a:latin typeface="Calibri"/>
                <a:ea typeface="Calibri"/>
              </a:rPr>
              <a:t>Commits</a:t>
            </a:r>
            <a:endParaRPr lang="en-US" sz="2500" b="0" u="none" strike="noStrike">
              <a:solidFill>
                <a:srgbClr val="FFFFFF"/>
              </a:solidFill>
              <a:effectLst/>
              <a:uFillTx/>
              <a:latin typeface="Arial"/>
            </a:endParaRPr>
          </a:p>
        </p:txBody>
      </p:sp>
      <p:sp>
        <p:nvSpPr>
          <p:cNvPr id="469"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470" name="Text 3"/>
          <p:cNvSpPr/>
          <p:nvPr/>
        </p:nvSpPr>
        <p:spPr>
          <a:xfrm>
            <a:off x="548640" y="1828800"/>
            <a:ext cx="4754520" cy="40230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git reflog shows every recent HEAD movement, each with its own short hash — including commits that a hard reset seemingly deleted</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Once you find the commit you actually wanted back, git reset --hard &lt;hash&gt; jumps HEAD straight back to it</a:t>
            </a:r>
            <a:endParaRPr lang="en-US" sz="1350" b="0" u="none" strike="noStrike">
              <a:solidFill>
                <a:srgbClr val="FFFFFF"/>
              </a:solidFill>
              <a:effectLst/>
              <a:uFillTx/>
              <a:latin typeface="Arial"/>
            </a:endParaRPr>
          </a:p>
          <a:p>
            <a:pPr marL="203040" indent="-203040" defTabSz="914400">
              <a:lnSpc>
                <a:spcPct val="115000"/>
              </a:lnSpc>
              <a:spcAft>
                <a:spcPts val="1199"/>
              </a:spcAft>
              <a:buClr>
                <a:srgbClr val="C9D1D9"/>
              </a:buClr>
              <a:buFont typeface="Symbol" charset="2"/>
              <a:buChar char=""/>
            </a:pPr>
            <a:r>
              <a:rPr lang="en-US" sz="1350" b="0" u="none" strike="noStrike">
                <a:solidFill>
                  <a:srgbClr val="C9D1D9"/>
                </a:solidFill>
                <a:effectLst/>
                <a:uFillTx/>
                <a:latin typeface="Calibri"/>
                <a:ea typeface="Calibri"/>
              </a:rPr>
              <a:t>This is genuinely one of the most reassuring things about Git once you know it exists — very few mistakes here are actually unrecoverable</a:t>
            </a:r>
            <a:endParaRPr lang="en-US" sz="1350" b="0" u="none" strike="noStrike">
              <a:solidFill>
                <a:srgbClr val="FFFFFF"/>
              </a:solidFill>
              <a:effectLst/>
              <a:uFillTx/>
              <a:latin typeface="Arial"/>
            </a:endParaRPr>
          </a:p>
        </p:txBody>
      </p:sp>
      <p:sp>
        <p:nvSpPr>
          <p:cNvPr id="471" name="Shape 4"/>
          <p:cNvSpPr/>
          <p:nvPr/>
        </p:nvSpPr>
        <p:spPr>
          <a:xfrm>
            <a:off x="5486400" y="1691640"/>
            <a:ext cx="6217560" cy="4343040"/>
          </a:xfrm>
          <a:prstGeom prst="roundRect">
            <a:avLst>
              <a:gd name="adj" fmla="val 2105"/>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72" name="Text 5"/>
          <p:cNvSpPr/>
          <p:nvPr/>
        </p:nvSpPr>
        <p:spPr>
          <a:xfrm>
            <a:off x="5806440" y="1965960"/>
            <a:ext cx="5577480" cy="3794400"/>
          </a:xfrm>
          <a:prstGeom prst="rect">
            <a:avLst/>
          </a:prstGeom>
          <a:noFill/>
          <a:ln w="0">
            <a:noFill/>
          </a:ln>
        </p:spPr>
        <p:style>
          <a:lnRef idx="0"/>
          <a:fillRef idx="0"/>
          <a:effectRef idx="0"/>
          <a:fontRef idx="minor"/>
        </p:style>
        <p:txBody>
          <a:bodyPr lIns="0" tIns="0" rIns="0" bIns="0" anchor="t">
            <a:noAutofit/>
          </a:bodyPr>
          <a:p>
            <a:pPr defTabSz="914400">
              <a:lnSpc>
                <a:spcPct val="125000"/>
              </a:lnSpc>
              <a:tabLst>
                <a:tab pos="0" algn="l"/>
              </a:tabLst>
            </a:pPr>
            <a:r>
              <a:rPr lang="en-US" sz="1250" b="0" u="none" strike="noStrike">
                <a:solidFill>
                  <a:srgbClr val="C9D1D9"/>
                </a:solidFill>
                <a:effectLst/>
                <a:uFillTx/>
                <a:latin typeface="Cantarell"/>
                <a:ea typeface="Consolas"/>
              </a:rPr>
              <a:t>$ git reset --hard HEAD~2   </a:t>
            </a:r>
            <a:r>
              <a:rPr lang="en-US" sz="1250" b="0" u="none" strike="noStrike">
                <a:solidFill>
                  <a:srgbClr val="8B949E"/>
                </a:solidFill>
                <a:effectLst/>
                <a:uFillTx/>
                <a:latin typeface="Cantarell"/>
                <a:ea typeface="Consolas"/>
              </a:rPr>
              <a:t>  # oops, accidentally discarded 2 commits</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reflog</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e5f6a7b HEAD@{0}: reset: moving to HEAD~2</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a1b2c3d HEAD@{1}: commit: Add password reset flow   &lt;- there it is</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9f8e7d6 HEAD@{2}: commit: Add login form</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a:t>
            </a:r>
            <a:endParaRPr lang="en-US" sz="1250" b="0" u="none" strike="noStrike">
              <a:solidFill>
                <a:srgbClr val="FFFFFF"/>
              </a:solidFill>
              <a:effectLst/>
              <a:uFillTx/>
              <a:latin typeface="Cantarell"/>
            </a:endParaRPr>
          </a:p>
          <a:p>
            <a:pPr defTabSz="914400">
              <a:lnSpc>
                <a:spcPct val="125000"/>
              </a:lnSpc>
              <a:tabLst>
                <a:tab pos="0" algn="l"/>
              </a:tabLst>
            </a:pPr>
            <a:r>
              <a:rPr lang="en-US" sz="1250" b="0" u="none" strike="noStrike">
                <a:solidFill>
                  <a:srgbClr val="C9D1D9"/>
                </a:solidFill>
                <a:effectLst/>
                <a:uFillTx/>
                <a:latin typeface="Cantarell"/>
                <a:ea typeface="Consolas"/>
              </a:rPr>
              <a:t>$ git reset --hard a1b2c3d   </a:t>
            </a:r>
            <a:r>
              <a:rPr lang="en-US" sz="1250" b="0" u="none" strike="noStrike">
                <a:solidFill>
                  <a:srgbClr val="8B949E"/>
                </a:solidFill>
                <a:effectLst/>
                <a:uFillTx/>
                <a:latin typeface="Cantarell"/>
                <a:ea typeface="Consolas"/>
              </a:rPr>
              <a:t>  # recovered</a:t>
            </a:r>
            <a:endParaRPr lang="en-US" sz="1250" b="0" u="none" strike="noStrike">
              <a:solidFill>
                <a:srgbClr val="FFFFFF"/>
              </a:solidFill>
              <a:effectLst/>
              <a:uFillTx/>
              <a:latin typeface="Cantarell"/>
            </a:endParaRPr>
          </a:p>
        </p:txBody>
      </p:sp>
      <p:sp>
        <p:nvSpPr>
          <p:cNvPr id="473" name="Text 6"/>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474" name="Text 7"/>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34</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475"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76" name="Image 0" descr="preencoded.png"/>
          <p:cNvPicPr/>
          <p:nvPr/>
        </p:nvPicPr>
        <p:blipFill>
          <a:blip r:embed="rId1"/>
          <a:stretch/>
        </p:blipFill>
        <p:spPr>
          <a:xfrm>
            <a:off x="548640" y="548640"/>
            <a:ext cx="447840" cy="447840"/>
          </a:xfrm>
          <a:prstGeom prst="rect">
            <a:avLst/>
          </a:prstGeom>
          <a:noFill/>
          <a:ln w="0">
            <a:noFill/>
          </a:ln>
        </p:spPr>
      </p:pic>
      <p:sp>
        <p:nvSpPr>
          <p:cNvPr id="477"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Practice Set — Rebase &amp; Reflog</a:t>
            </a:r>
            <a:endParaRPr lang="en-US" sz="2500" b="0" u="none" strike="noStrike">
              <a:solidFill>
                <a:srgbClr val="FFFFFF"/>
              </a:solidFill>
              <a:effectLst/>
              <a:uFillTx/>
              <a:latin typeface="Arial"/>
            </a:endParaRPr>
          </a:p>
        </p:txBody>
      </p:sp>
      <p:sp>
        <p:nvSpPr>
          <p:cNvPr id="478"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479" name="Shape 3"/>
          <p:cNvSpPr/>
          <p:nvPr/>
        </p:nvSpPr>
        <p:spPr>
          <a:xfrm>
            <a:off x="457200" y="1600200"/>
            <a:ext cx="11274120" cy="4480200"/>
          </a:xfrm>
          <a:prstGeom prst="roundRect">
            <a:avLst>
              <a:gd name="adj" fmla="val 2449"/>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80" name="Text 4"/>
          <p:cNvSpPr/>
          <p:nvPr/>
        </p:nvSpPr>
        <p:spPr>
          <a:xfrm>
            <a:off x="822960" y="1828800"/>
            <a:ext cx="10515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Calibri"/>
                <a:ea typeface="Calibri"/>
              </a:rPr>
              <a:t>Try these yourself first — no code shown, that's the point</a:t>
            </a:r>
            <a:endParaRPr lang="en-US" sz="1600" b="0" u="none" strike="noStrike">
              <a:solidFill>
                <a:srgbClr val="FFFFFF"/>
              </a:solidFill>
              <a:effectLst/>
              <a:uFillTx/>
              <a:latin typeface="Arial"/>
            </a:endParaRPr>
          </a:p>
        </p:txBody>
      </p:sp>
      <p:sp>
        <p:nvSpPr>
          <p:cNvPr id="481" name="Shape 5"/>
          <p:cNvSpPr/>
          <p:nvPr/>
        </p:nvSpPr>
        <p:spPr>
          <a:xfrm>
            <a:off x="822960" y="2423160"/>
            <a:ext cx="383760" cy="38376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82" name="Text 6"/>
          <p:cNvSpPr/>
          <p:nvPr/>
        </p:nvSpPr>
        <p:spPr>
          <a:xfrm>
            <a:off x="822960" y="242316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FFFFFF"/>
              </a:solidFill>
              <a:effectLst/>
              <a:uFillTx/>
              <a:latin typeface="Arial"/>
            </a:endParaRPr>
          </a:p>
        </p:txBody>
      </p:sp>
      <p:sp>
        <p:nvSpPr>
          <p:cNvPr id="483" name="Text 7"/>
          <p:cNvSpPr/>
          <p:nvPr/>
        </p:nvSpPr>
        <p:spPr>
          <a:xfrm>
            <a:off x="1435680" y="2423160"/>
            <a:ext cx="9582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C9D1D9"/>
                </a:solidFill>
                <a:effectLst/>
                <a:uFillTx/>
                <a:latin typeface="Calibri"/>
                <a:ea typeface="Calibri"/>
              </a:rPr>
              <a:t>Create a branch, make 2 commits, then make a new commit on main, and rebase your branch onto the updated main</a:t>
            </a:r>
            <a:endParaRPr lang="en-US" sz="1250" b="0" u="none" strike="noStrike">
              <a:solidFill>
                <a:srgbClr val="FFFFFF"/>
              </a:solidFill>
              <a:effectLst/>
              <a:uFillTx/>
              <a:latin typeface="Arial"/>
            </a:endParaRPr>
          </a:p>
        </p:txBody>
      </p:sp>
      <p:sp>
        <p:nvSpPr>
          <p:cNvPr id="484" name="Shape 8"/>
          <p:cNvSpPr/>
          <p:nvPr/>
        </p:nvSpPr>
        <p:spPr>
          <a:xfrm>
            <a:off x="822960" y="3300840"/>
            <a:ext cx="383760" cy="38376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85" name="Text 9"/>
          <p:cNvSpPr/>
          <p:nvPr/>
        </p:nvSpPr>
        <p:spPr>
          <a:xfrm>
            <a:off x="822960" y="330084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FFFFFF"/>
              </a:solidFill>
              <a:effectLst/>
              <a:uFillTx/>
              <a:latin typeface="Arial"/>
            </a:endParaRPr>
          </a:p>
        </p:txBody>
      </p:sp>
      <p:sp>
        <p:nvSpPr>
          <p:cNvPr id="486" name="Text 10"/>
          <p:cNvSpPr/>
          <p:nvPr/>
        </p:nvSpPr>
        <p:spPr>
          <a:xfrm>
            <a:off x="1435680" y="3300840"/>
            <a:ext cx="9582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C9D1D9"/>
                </a:solidFill>
                <a:effectLst/>
                <a:uFillTx/>
                <a:latin typeface="Calibri"/>
                <a:ea typeface="Calibri"/>
              </a:rPr>
              <a:t>Compare git log --oneline --graph before and after a merge vs. a rebase, on two separate practice branches</a:t>
            </a:r>
            <a:endParaRPr lang="en-US" sz="1250" b="0" u="none" strike="noStrike">
              <a:solidFill>
                <a:srgbClr val="FFFFFF"/>
              </a:solidFill>
              <a:effectLst/>
              <a:uFillTx/>
              <a:latin typeface="Arial"/>
            </a:endParaRPr>
          </a:p>
        </p:txBody>
      </p:sp>
      <p:sp>
        <p:nvSpPr>
          <p:cNvPr id="487" name="Shape 11"/>
          <p:cNvSpPr/>
          <p:nvPr/>
        </p:nvSpPr>
        <p:spPr>
          <a:xfrm>
            <a:off x="822960" y="4178880"/>
            <a:ext cx="383760" cy="38376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88" name="Text 12"/>
          <p:cNvSpPr/>
          <p:nvPr/>
        </p:nvSpPr>
        <p:spPr>
          <a:xfrm>
            <a:off x="822960" y="417888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FFFFFF"/>
              </a:solidFill>
              <a:effectLst/>
              <a:uFillTx/>
              <a:latin typeface="Arial"/>
            </a:endParaRPr>
          </a:p>
        </p:txBody>
      </p:sp>
      <p:sp>
        <p:nvSpPr>
          <p:cNvPr id="489" name="Text 13"/>
          <p:cNvSpPr/>
          <p:nvPr/>
        </p:nvSpPr>
        <p:spPr>
          <a:xfrm>
            <a:off x="1435680" y="4178880"/>
            <a:ext cx="9582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C9D1D9"/>
                </a:solidFill>
                <a:effectLst/>
                <a:uFillTx/>
                <a:latin typeface="Calibri"/>
                <a:ea typeface="Calibri"/>
              </a:rPr>
              <a:t>Deliberately run git reset --hard to "lose" a commit, then recover it using git reflog</a:t>
            </a:r>
            <a:endParaRPr lang="en-US" sz="1250" b="0" u="none" strike="noStrike">
              <a:solidFill>
                <a:srgbClr val="FFFFFF"/>
              </a:solidFill>
              <a:effectLst/>
              <a:uFillTx/>
              <a:latin typeface="Arial"/>
            </a:endParaRPr>
          </a:p>
        </p:txBody>
      </p:sp>
      <p:sp>
        <p:nvSpPr>
          <p:cNvPr id="490" name="Shape 14"/>
          <p:cNvSpPr/>
          <p:nvPr/>
        </p:nvSpPr>
        <p:spPr>
          <a:xfrm>
            <a:off x="822960" y="5056560"/>
            <a:ext cx="383760" cy="38376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91" name="Text 15"/>
          <p:cNvSpPr/>
          <p:nvPr/>
        </p:nvSpPr>
        <p:spPr>
          <a:xfrm>
            <a:off x="822960" y="505656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4</a:t>
            </a:r>
            <a:endParaRPr lang="en-US" sz="1300" b="0" u="none" strike="noStrike">
              <a:solidFill>
                <a:srgbClr val="FFFFFF"/>
              </a:solidFill>
              <a:effectLst/>
              <a:uFillTx/>
              <a:latin typeface="Arial"/>
            </a:endParaRPr>
          </a:p>
        </p:txBody>
      </p:sp>
      <p:sp>
        <p:nvSpPr>
          <p:cNvPr id="492" name="Text 16"/>
          <p:cNvSpPr/>
          <p:nvPr/>
        </p:nvSpPr>
        <p:spPr>
          <a:xfrm>
            <a:off x="1435680" y="5056560"/>
            <a:ext cx="9582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C9D1D9"/>
                </a:solidFill>
                <a:effectLst/>
                <a:uFillTx/>
                <a:latin typeface="Calibri"/>
                <a:ea typeface="Calibri"/>
              </a:rPr>
              <a:t>In your own words, explain to a partner exactly why you should never rebase a branch that’s already been pushed and shared</a:t>
            </a:r>
            <a:endParaRPr lang="en-US" sz="1250" b="0" u="none" strike="noStrike">
              <a:solidFill>
                <a:srgbClr val="FFFFFF"/>
              </a:solidFill>
              <a:effectLst/>
              <a:uFillTx/>
              <a:latin typeface="Arial"/>
            </a:endParaRPr>
          </a:p>
        </p:txBody>
      </p:sp>
      <p:sp>
        <p:nvSpPr>
          <p:cNvPr id="493" name="Text 17"/>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494" name="Text 18"/>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35</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495" name="Shape 0"/>
          <p:cNvSpPr/>
          <p:nvPr/>
        </p:nvSpPr>
        <p:spPr>
          <a:xfrm>
            <a:off x="-2011680" y="4206240"/>
            <a:ext cx="5668920" cy="5668920"/>
          </a:xfrm>
          <a:prstGeom prst="ellipse">
            <a:avLst/>
          </a:prstGeom>
          <a:solidFill>
            <a:srgbClr val="1419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96" name="Shape 1"/>
          <p:cNvSpPr/>
          <p:nvPr/>
        </p:nvSpPr>
        <p:spPr>
          <a:xfrm>
            <a:off x="9418320" y="-2377440"/>
            <a:ext cx="5668920" cy="5668920"/>
          </a:xfrm>
          <a:prstGeom prst="ellipse">
            <a:avLst/>
          </a:prstGeom>
          <a:solidFill>
            <a:srgbClr val="1419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97" name="Shape 2"/>
          <p:cNvSpPr/>
          <p:nvPr/>
        </p:nvSpPr>
        <p:spPr>
          <a:xfrm>
            <a:off x="5596200" y="731520"/>
            <a:ext cx="1005480" cy="100548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98" name="Image 0" descr="preencoded.png"/>
          <p:cNvPicPr/>
          <p:nvPr/>
        </p:nvPicPr>
        <p:blipFill>
          <a:blip r:embed="rId1"/>
          <a:stretch/>
        </p:blipFill>
        <p:spPr>
          <a:xfrm>
            <a:off x="5742360" y="877680"/>
            <a:ext cx="703800" cy="703800"/>
          </a:xfrm>
          <a:prstGeom prst="rect">
            <a:avLst/>
          </a:prstGeom>
          <a:noFill/>
          <a:ln w="0">
            <a:noFill/>
          </a:ln>
        </p:spPr>
      </p:pic>
      <p:sp>
        <p:nvSpPr>
          <p:cNvPr id="499" name="Text 3"/>
          <p:cNvSpPr/>
          <p:nvPr/>
        </p:nvSpPr>
        <p:spPr>
          <a:xfrm>
            <a:off x="914400" y="1965960"/>
            <a:ext cx="103597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pc="201" strike="noStrike">
                <a:solidFill>
                  <a:srgbClr val="F7A788"/>
                </a:solidFill>
                <a:effectLst/>
                <a:uFillTx/>
                <a:latin typeface="Calibri"/>
                <a:ea typeface="Calibri"/>
              </a:rPr>
              <a:t>INDUSTRY-STYLE TASKS</a:t>
            </a:r>
            <a:endParaRPr lang="en-US" sz="1300" b="0" u="none" strike="noStrike">
              <a:solidFill>
                <a:srgbClr val="FFFFFF"/>
              </a:solidFill>
              <a:effectLst/>
              <a:uFillTx/>
              <a:latin typeface="Arial"/>
            </a:endParaRPr>
          </a:p>
        </p:txBody>
      </p:sp>
      <p:sp>
        <p:nvSpPr>
          <p:cNvPr id="500" name="Text 4"/>
          <p:cNvSpPr/>
          <p:nvPr/>
        </p:nvSpPr>
        <p:spPr>
          <a:xfrm>
            <a:off x="914400" y="2377440"/>
            <a:ext cx="10359720" cy="2011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3200" b="1" u="none" strike="noStrike">
                <a:solidFill>
                  <a:srgbClr val="FFFFFF"/>
                </a:solidFill>
                <a:effectLst/>
                <a:uFillTx/>
                <a:latin typeface="Calibri"/>
                <a:ea typeface="Calibri"/>
              </a:rPr>
              <a:t>Build the Habits Real Teams Actually Rely On</a:t>
            </a:r>
            <a:endParaRPr lang="en-US" sz="3200" b="0" u="none" strike="noStrike">
              <a:solidFill>
                <a:srgbClr val="FFFFFF"/>
              </a:solidFill>
              <a:effectLst/>
              <a:uFillTx/>
              <a:latin typeface="Arial"/>
            </a:endParaRPr>
          </a:p>
        </p:txBody>
      </p:sp>
      <p:sp>
        <p:nvSpPr>
          <p:cNvPr id="501" name="Text 5"/>
          <p:cNvSpPr/>
          <p:nvPr/>
        </p:nvSpPr>
        <p:spPr>
          <a:xfrm>
            <a:off x="1463040" y="4572000"/>
            <a:ext cx="9262440" cy="10969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0" u="none" strike="noStrike">
                <a:solidFill>
                  <a:srgbClr val="C9D1D9"/>
                </a:solidFill>
                <a:effectLst/>
                <a:uFillTx/>
                <a:latin typeface="Calibri"/>
                <a:ea typeface="Calibri"/>
              </a:rPr>
              <a:t>Not toy examples — clean branches, resolved conflicts, and recoverable mistakes are everyday, real-world work</a:t>
            </a:r>
            <a:endParaRPr lang="en-US" sz="1600" b="0" u="none" strike="noStrike">
              <a:solidFill>
                <a:srgbClr val="FFFFFF"/>
              </a:solidFill>
              <a:effectLst/>
              <a:uFillTx/>
              <a:latin typeface="Arial"/>
            </a:endParaRPr>
          </a:p>
        </p:txBody>
      </p:sp>
      <p:sp>
        <p:nvSpPr>
          <p:cNvPr id="502" name="Text 6"/>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36</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503"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04" name="Image 0" descr="preencoded.png"/>
          <p:cNvPicPr/>
          <p:nvPr/>
        </p:nvPicPr>
        <p:blipFill>
          <a:blip r:embed="rId1"/>
          <a:stretch/>
        </p:blipFill>
        <p:spPr>
          <a:xfrm>
            <a:off x="548640" y="548640"/>
            <a:ext cx="447840" cy="447840"/>
          </a:xfrm>
          <a:prstGeom prst="rect">
            <a:avLst/>
          </a:prstGeom>
          <a:noFill/>
          <a:ln w="0">
            <a:noFill/>
          </a:ln>
        </p:spPr>
      </p:pic>
      <p:sp>
        <p:nvSpPr>
          <p:cNvPr id="505"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Today's Tasks — Part A: Branching &amp; Merging</a:t>
            </a:r>
            <a:endParaRPr lang="en-US" sz="2500" b="0" u="none" strike="noStrike">
              <a:solidFill>
                <a:srgbClr val="FFFFFF"/>
              </a:solidFill>
              <a:effectLst/>
              <a:uFillTx/>
              <a:latin typeface="Arial"/>
            </a:endParaRPr>
          </a:p>
        </p:txBody>
      </p:sp>
      <p:sp>
        <p:nvSpPr>
          <p:cNvPr id="506"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507" name="Shape 3"/>
          <p:cNvSpPr/>
          <p:nvPr/>
        </p:nvSpPr>
        <p:spPr>
          <a:xfrm>
            <a:off x="457200" y="1600200"/>
            <a:ext cx="11274120" cy="4480200"/>
          </a:xfrm>
          <a:prstGeom prst="roundRect">
            <a:avLst>
              <a:gd name="adj" fmla="val 2449"/>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08" name="Text 4"/>
          <p:cNvSpPr/>
          <p:nvPr/>
        </p:nvSpPr>
        <p:spPr>
          <a:xfrm>
            <a:off x="822960" y="1828800"/>
            <a:ext cx="10515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FFFFF"/>
                </a:solidFill>
                <a:effectLst/>
                <a:uFillTx/>
                <a:latin typeface="Calibri"/>
                <a:ea typeface="Calibri"/>
              </a:rPr>
              <a:t>Small tasks — do them in order</a:t>
            </a:r>
            <a:endParaRPr lang="en-US" sz="1700" b="0" u="none" strike="noStrike">
              <a:solidFill>
                <a:srgbClr val="FFFFFF"/>
              </a:solidFill>
              <a:effectLst/>
              <a:uFillTx/>
              <a:latin typeface="Arial"/>
            </a:endParaRPr>
          </a:p>
        </p:txBody>
      </p:sp>
      <p:sp>
        <p:nvSpPr>
          <p:cNvPr id="509" name="Shape 5"/>
          <p:cNvSpPr/>
          <p:nvPr/>
        </p:nvSpPr>
        <p:spPr>
          <a:xfrm>
            <a:off x="822960" y="2423160"/>
            <a:ext cx="402120" cy="4021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10" name="Image 1" descr="preencoded.png"/>
          <p:cNvPicPr/>
          <p:nvPr/>
        </p:nvPicPr>
        <p:blipFill>
          <a:blip r:embed="rId2"/>
          <a:stretch/>
        </p:blipFill>
        <p:spPr>
          <a:xfrm>
            <a:off x="887040" y="2487240"/>
            <a:ext cx="282960" cy="282960"/>
          </a:xfrm>
          <a:prstGeom prst="rect">
            <a:avLst/>
          </a:prstGeom>
          <a:noFill/>
          <a:ln w="0">
            <a:noFill/>
          </a:ln>
        </p:spPr>
      </p:pic>
      <p:sp>
        <p:nvSpPr>
          <p:cNvPr id="511" name="Shape 6"/>
          <p:cNvSpPr/>
          <p:nvPr/>
        </p:nvSpPr>
        <p:spPr>
          <a:xfrm>
            <a:off x="1371600" y="2441520"/>
            <a:ext cx="402120" cy="365400"/>
          </a:xfrm>
          <a:prstGeom prst="roundRect">
            <a:avLst>
              <a:gd name="adj" fmla="val 15000"/>
            </a:avLst>
          </a:prstGeom>
          <a:solidFill>
            <a:srgbClr val="1C2128"/>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12" name="Text 7"/>
          <p:cNvSpPr/>
          <p:nvPr/>
        </p:nvSpPr>
        <p:spPr>
          <a:xfrm>
            <a:off x="1371600" y="2441520"/>
            <a:ext cx="4021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7A788"/>
                </a:solidFill>
                <a:effectLst/>
                <a:uFillTx/>
                <a:latin typeface="Calibri"/>
                <a:ea typeface="Calibri"/>
              </a:rPr>
              <a:t>1</a:t>
            </a:r>
            <a:endParaRPr lang="en-US" sz="1300" b="0" u="none" strike="noStrike">
              <a:solidFill>
                <a:srgbClr val="FFFFFF"/>
              </a:solidFill>
              <a:effectLst/>
              <a:uFillTx/>
              <a:latin typeface="Arial"/>
            </a:endParaRPr>
          </a:p>
        </p:txBody>
      </p:sp>
      <p:sp>
        <p:nvSpPr>
          <p:cNvPr id="513" name="Text 8"/>
          <p:cNvSpPr/>
          <p:nvPr/>
        </p:nvSpPr>
        <p:spPr>
          <a:xfrm>
            <a:off x="1920240" y="2423160"/>
            <a:ext cx="9509400" cy="100548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C9D1D9"/>
                </a:solidFill>
                <a:effectLst/>
                <a:uFillTx/>
                <a:latin typeface="Calibri"/>
                <a:ea typeface="Calibri"/>
              </a:rPr>
              <a:t>Build a small project with a main branch and two feature branches, and merge one as a fast-forward and the other as a true 3-way merge.</a:t>
            </a:r>
            <a:endParaRPr lang="en-US" sz="1200" b="0" u="none" strike="noStrike">
              <a:solidFill>
                <a:srgbClr val="FFFFFF"/>
              </a:solidFill>
              <a:effectLst/>
              <a:uFillTx/>
              <a:latin typeface="Arial"/>
            </a:endParaRPr>
          </a:p>
        </p:txBody>
      </p:sp>
      <p:sp>
        <p:nvSpPr>
          <p:cNvPr id="514" name="Shape 9"/>
          <p:cNvSpPr/>
          <p:nvPr/>
        </p:nvSpPr>
        <p:spPr>
          <a:xfrm>
            <a:off x="822960" y="3593520"/>
            <a:ext cx="402120" cy="4021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15" name="Image 2" descr="preencoded.png"/>
          <p:cNvPicPr/>
          <p:nvPr/>
        </p:nvPicPr>
        <p:blipFill>
          <a:blip r:embed="rId3"/>
          <a:stretch/>
        </p:blipFill>
        <p:spPr>
          <a:xfrm>
            <a:off x="887040" y="3657600"/>
            <a:ext cx="282960" cy="282960"/>
          </a:xfrm>
          <a:prstGeom prst="rect">
            <a:avLst/>
          </a:prstGeom>
          <a:noFill/>
          <a:ln w="0">
            <a:noFill/>
          </a:ln>
        </p:spPr>
      </p:pic>
      <p:sp>
        <p:nvSpPr>
          <p:cNvPr id="516" name="Shape 10"/>
          <p:cNvSpPr/>
          <p:nvPr/>
        </p:nvSpPr>
        <p:spPr>
          <a:xfrm>
            <a:off x="1371600" y="3611880"/>
            <a:ext cx="402120" cy="365400"/>
          </a:xfrm>
          <a:prstGeom prst="roundRect">
            <a:avLst>
              <a:gd name="adj" fmla="val 15000"/>
            </a:avLst>
          </a:prstGeom>
          <a:solidFill>
            <a:srgbClr val="1C2128"/>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17" name="Text 11"/>
          <p:cNvSpPr/>
          <p:nvPr/>
        </p:nvSpPr>
        <p:spPr>
          <a:xfrm>
            <a:off x="1371600" y="3611880"/>
            <a:ext cx="4021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7A788"/>
                </a:solidFill>
                <a:effectLst/>
                <a:uFillTx/>
                <a:latin typeface="Calibri"/>
                <a:ea typeface="Calibri"/>
              </a:rPr>
              <a:t>2</a:t>
            </a:r>
            <a:endParaRPr lang="en-US" sz="1300" b="0" u="none" strike="noStrike">
              <a:solidFill>
                <a:srgbClr val="FFFFFF"/>
              </a:solidFill>
              <a:effectLst/>
              <a:uFillTx/>
              <a:latin typeface="Arial"/>
            </a:endParaRPr>
          </a:p>
        </p:txBody>
      </p:sp>
      <p:sp>
        <p:nvSpPr>
          <p:cNvPr id="518" name="Text 12"/>
          <p:cNvSpPr/>
          <p:nvPr/>
        </p:nvSpPr>
        <p:spPr>
          <a:xfrm>
            <a:off x="1920240" y="3593520"/>
            <a:ext cx="9509400" cy="100548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C9D1D9"/>
                </a:solidFill>
                <a:effectLst/>
                <a:uFillTx/>
                <a:latin typeface="Calibri"/>
                <a:ea typeface="Calibri"/>
              </a:rPr>
              <a:t>Use git log --oneline --graph after both merges, and describe out loud how the two histories differ visually.</a:t>
            </a:r>
            <a:endParaRPr lang="en-US" sz="1200" b="0" u="none" strike="noStrike">
              <a:solidFill>
                <a:srgbClr val="FFFFFF"/>
              </a:solidFill>
              <a:effectLst/>
              <a:uFillTx/>
              <a:latin typeface="Arial"/>
            </a:endParaRPr>
          </a:p>
        </p:txBody>
      </p:sp>
      <p:sp>
        <p:nvSpPr>
          <p:cNvPr id="519" name="Shape 13"/>
          <p:cNvSpPr/>
          <p:nvPr/>
        </p:nvSpPr>
        <p:spPr>
          <a:xfrm>
            <a:off x="822960" y="4763880"/>
            <a:ext cx="402120" cy="4021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20" name="Image 3" descr="preencoded.png"/>
          <p:cNvPicPr/>
          <p:nvPr/>
        </p:nvPicPr>
        <p:blipFill>
          <a:blip r:embed="rId4"/>
          <a:stretch/>
        </p:blipFill>
        <p:spPr>
          <a:xfrm>
            <a:off x="887040" y="4827960"/>
            <a:ext cx="282960" cy="282960"/>
          </a:xfrm>
          <a:prstGeom prst="rect">
            <a:avLst/>
          </a:prstGeom>
          <a:noFill/>
          <a:ln w="0">
            <a:noFill/>
          </a:ln>
        </p:spPr>
      </p:pic>
      <p:sp>
        <p:nvSpPr>
          <p:cNvPr id="521" name="Shape 14"/>
          <p:cNvSpPr/>
          <p:nvPr/>
        </p:nvSpPr>
        <p:spPr>
          <a:xfrm>
            <a:off x="1371600" y="4782240"/>
            <a:ext cx="402120" cy="365400"/>
          </a:xfrm>
          <a:prstGeom prst="roundRect">
            <a:avLst>
              <a:gd name="adj" fmla="val 15000"/>
            </a:avLst>
          </a:prstGeom>
          <a:solidFill>
            <a:srgbClr val="1C2128"/>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22" name="Text 15"/>
          <p:cNvSpPr/>
          <p:nvPr/>
        </p:nvSpPr>
        <p:spPr>
          <a:xfrm>
            <a:off x="1371600" y="4782240"/>
            <a:ext cx="4021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7A788"/>
                </a:solidFill>
                <a:effectLst/>
                <a:uFillTx/>
                <a:latin typeface="Calibri"/>
                <a:ea typeface="Calibri"/>
              </a:rPr>
              <a:t>3</a:t>
            </a:r>
            <a:endParaRPr lang="en-US" sz="1300" b="0" u="none" strike="noStrike">
              <a:solidFill>
                <a:srgbClr val="FFFFFF"/>
              </a:solidFill>
              <a:effectLst/>
              <a:uFillTx/>
              <a:latin typeface="Arial"/>
            </a:endParaRPr>
          </a:p>
        </p:txBody>
      </p:sp>
      <p:sp>
        <p:nvSpPr>
          <p:cNvPr id="523" name="Text 16"/>
          <p:cNvSpPr/>
          <p:nvPr/>
        </p:nvSpPr>
        <p:spPr>
          <a:xfrm>
            <a:off x="1920240" y="4763880"/>
            <a:ext cx="9509400" cy="100548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C9D1D9"/>
                </a:solidFill>
                <a:effectLst/>
                <a:uFillTx/>
                <a:latin typeface="Calibri"/>
                <a:ea typeface="Calibri"/>
              </a:rPr>
              <a:t>Practice creating, renaming, and safely deleting three separate branches in a row.</a:t>
            </a:r>
            <a:endParaRPr lang="en-US" sz="1200" b="0" u="none" strike="noStrike">
              <a:solidFill>
                <a:srgbClr val="FFFFFF"/>
              </a:solidFill>
              <a:effectLst/>
              <a:uFillTx/>
              <a:latin typeface="Arial"/>
            </a:endParaRPr>
          </a:p>
        </p:txBody>
      </p:sp>
      <p:sp>
        <p:nvSpPr>
          <p:cNvPr id="524" name="Text 17"/>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525" name="Text 18"/>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37</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526"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27" name="Image 0" descr="preencoded.png"/>
          <p:cNvPicPr/>
          <p:nvPr/>
        </p:nvPicPr>
        <p:blipFill>
          <a:blip r:embed="rId1"/>
          <a:stretch/>
        </p:blipFill>
        <p:spPr>
          <a:xfrm>
            <a:off x="548640" y="548640"/>
            <a:ext cx="447840" cy="447840"/>
          </a:xfrm>
          <a:prstGeom prst="rect">
            <a:avLst/>
          </a:prstGeom>
          <a:noFill/>
          <a:ln w="0">
            <a:noFill/>
          </a:ln>
        </p:spPr>
      </p:pic>
      <p:sp>
        <p:nvSpPr>
          <p:cNvPr id="528"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Today's Tasks — Part B: Conflicts, Stash &amp; Tags</a:t>
            </a:r>
            <a:endParaRPr lang="en-US" sz="2500" b="0" u="none" strike="noStrike">
              <a:solidFill>
                <a:srgbClr val="FFFFFF"/>
              </a:solidFill>
              <a:effectLst/>
              <a:uFillTx/>
              <a:latin typeface="Arial"/>
            </a:endParaRPr>
          </a:p>
        </p:txBody>
      </p:sp>
      <p:sp>
        <p:nvSpPr>
          <p:cNvPr id="529"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530" name="Shape 3"/>
          <p:cNvSpPr/>
          <p:nvPr/>
        </p:nvSpPr>
        <p:spPr>
          <a:xfrm>
            <a:off x="457200" y="1600200"/>
            <a:ext cx="11274120" cy="4480200"/>
          </a:xfrm>
          <a:prstGeom prst="roundRect">
            <a:avLst>
              <a:gd name="adj" fmla="val 2449"/>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1" name="Text 4"/>
          <p:cNvSpPr/>
          <p:nvPr/>
        </p:nvSpPr>
        <p:spPr>
          <a:xfrm>
            <a:off x="822960" y="1828800"/>
            <a:ext cx="10515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FFFFF"/>
                </a:solidFill>
                <a:effectLst/>
                <a:uFillTx/>
                <a:latin typeface="Calibri"/>
                <a:ea typeface="Calibri"/>
              </a:rPr>
              <a:t>Small tasks — do them in order</a:t>
            </a:r>
            <a:endParaRPr lang="en-US" sz="1700" b="0" u="none" strike="noStrike">
              <a:solidFill>
                <a:srgbClr val="FFFFFF"/>
              </a:solidFill>
              <a:effectLst/>
              <a:uFillTx/>
              <a:latin typeface="Arial"/>
            </a:endParaRPr>
          </a:p>
        </p:txBody>
      </p:sp>
      <p:sp>
        <p:nvSpPr>
          <p:cNvPr id="532" name="Shape 5"/>
          <p:cNvSpPr/>
          <p:nvPr/>
        </p:nvSpPr>
        <p:spPr>
          <a:xfrm>
            <a:off x="822960" y="2423160"/>
            <a:ext cx="402120" cy="4021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33" name="Image 1" descr="preencoded.png"/>
          <p:cNvPicPr/>
          <p:nvPr/>
        </p:nvPicPr>
        <p:blipFill>
          <a:blip r:embed="rId2"/>
          <a:stretch/>
        </p:blipFill>
        <p:spPr>
          <a:xfrm>
            <a:off x="887040" y="2487240"/>
            <a:ext cx="282960" cy="282960"/>
          </a:xfrm>
          <a:prstGeom prst="rect">
            <a:avLst/>
          </a:prstGeom>
          <a:noFill/>
          <a:ln w="0">
            <a:noFill/>
          </a:ln>
        </p:spPr>
      </p:pic>
      <p:sp>
        <p:nvSpPr>
          <p:cNvPr id="534" name="Shape 6"/>
          <p:cNvSpPr/>
          <p:nvPr/>
        </p:nvSpPr>
        <p:spPr>
          <a:xfrm>
            <a:off x="1371600" y="2441520"/>
            <a:ext cx="402120" cy="365400"/>
          </a:xfrm>
          <a:prstGeom prst="roundRect">
            <a:avLst>
              <a:gd name="adj" fmla="val 15000"/>
            </a:avLst>
          </a:prstGeom>
          <a:solidFill>
            <a:srgbClr val="1C2128"/>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5" name="Text 7"/>
          <p:cNvSpPr/>
          <p:nvPr/>
        </p:nvSpPr>
        <p:spPr>
          <a:xfrm>
            <a:off x="1371600" y="2441520"/>
            <a:ext cx="4021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7A788"/>
                </a:solidFill>
                <a:effectLst/>
                <a:uFillTx/>
                <a:latin typeface="Calibri"/>
                <a:ea typeface="Calibri"/>
              </a:rPr>
              <a:t>1</a:t>
            </a:r>
            <a:endParaRPr lang="en-US" sz="1300" b="0" u="none" strike="noStrike">
              <a:solidFill>
                <a:srgbClr val="FFFFFF"/>
              </a:solidFill>
              <a:effectLst/>
              <a:uFillTx/>
              <a:latin typeface="Arial"/>
            </a:endParaRPr>
          </a:p>
        </p:txBody>
      </p:sp>
      <p:sp>
        <p:nvSpPr>
          <p:cNvPr id="536" name="Text 8"/>
          <p:cNvSpPr/>
          <p:nvPr/>
        </p:nvSpPr>
        <p:spPr>
          <a:xfrm>
            <a:off x="1920240" y="2423160"/>
            <a:ext cx="9509400" cy="100548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C9D1D9"/>
                </a:solidFill>
                <a:effectLst/>
                <a:uFillTx/>
                <a:latin typeface="Calibri"/>
                <a:ea typeface="Calibri"/>
              </a:rPr>
              <a:t>Deliberately create and fully resolve a merge conflict involving at least two separate conflicting sections in one file.</a:t>
            </a:r>
            <a:endParaRPr lang="en-US" sz="1200" b="0" u="none" strike="noStrike">
              <a:solidFill>
                <a:srgbClr val="FFFFFF"/>
              </a:solidFill>
              <a:effectLst/>
              <a:uFillTx/>
              <a:latin typeface="Arial"/>
            </a:endParaRPr>
          </a:p>
        </p:txBody>
      </p:sp>
      <p:sp>
        <p:nvSpPr>
          <p:cNvPr id="537" name="Shape 9"/>
          <p:cNvSpPr/>
          <p:nvPr/>
        </p:nvSpPr>
        <p:spPr>
          <a:xfrm>
            <a:off x="822960" y="3593520"/>
            <a:ext cx="402120" cy="4021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38" name="Image 2" descr="preencoded.png"/>
          <p:cNvPicPr/>
          <p:nvPr/>
        </p:nvPicPr>
        <p:blipFill>
          <a:blip r:embed="rId3"/>
          <a:stretch/>
        </p:blipFill>
        <p:spPr>
          <a:xfrm>
            <a:off x="887040" y="3657600"/>
            <a:ext cx="282960" cy="282960"/>
          </a:xfrm>
          <a:prstGeom prst="rect">
            <a:avLst/>
          </a:prstGeom>
          <a:noFill/>
          <a:ln w="0">
            <a:noFill/>
          </a:ln>
        </p:spPr>
      </p:pic>
      <p:sp>
        <p:nvSpPr>
          <p:cNvPr id="539" name="Shape 10"/>
          <p:cNvSpPr/>
          <p:nvPr/>
        </p:nvSpPr>
        <p:spPr>
          <a:xfrm>
            <a:off x="1371600" y="3611880"/>
            <a:ext cx="402120" cy="365400"/>
          </a:xfrm>
          <a:prstGeom prst="roundRect">
            <a:avLst>
              <a:gd name="adj" fmla="val 15000"/>
            </a:avLst>
          </a:prstGeom>
          <a:solidFill>
            <a:srgbClr val="1C2128"/>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40" name="Text 11"/>
          <p:cNvSpPr/>
          <p:nvPr/>
        </p:nvSpPr>
        <p:spPr>
          <a:xfrm>
            <a:off x="1371600" y="3611880"/>
            <a:ext cx="4021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7A788"/>
                </a:solidFill>
                <a:effectLst/>
                <a:uFillTx/>
                <a:latin typeface="Calibri"/>
                <a:ea typeface="Calibri"/>
              </a:rPr>
              <a:t>2</a:t>
            </a:r>
            <a:endParaRPr lang="en-US" sz="1300" b="0" u="none" strike="noStrike">
              <a:solidFill>
                <a:srgbClr val="FFFFFF"/>
              </a:solidFill>
              <a:effectLst/>
              <a:uFillTx/>
              <a:latin typeface="Arial"/>
            </a:endParaRPr>
          </a:p>
        </p:txBody>
      </p:sp>
      <p:sp>
        <p:nvSpPr>
          <p:cNvPr id="541" name="Text 12"/>
          <p:cNvSpPr/>
          <p:nvPr/>
        </p:nvSpPr>
        <p:spPr>
          <a:xfrm>
            <a:off x="1920240" y="3593520"/>
            <a:ext cx="9509400" cy="100548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C9D1D9"/>
                </a:solidFill>
                <a:effectLst/>
                <a:uFillTx/>
                <a:latin typeface="Calibri"/>
                <a:ea typeface="Calibri"/>
              </a:rPr>
              <a:t>Simulate an interruption: stash mid-feature, switch branches to make an unrelated fix, then return and pop your stash back.</a:t>
            </a:r>
            <a:endParaRPr lang="en-US" sz="1200" b="0" u="none" strike="noStrike">
              <a:solidFill>
                <a:srgbClr val="FFFFFF"/>
              </a:solidFill>
              <a:effectLst/>
              <a:uFillTx/>
              <a:latin typeface="Arial"/>
            </a:endParaRPr>
          </a:p>
        </p:txBody>
      </p:sp>
      <p:sp>
        <p:nvSpPr>
          <p:cNvPr id="542" name="Shape 13"/>
          <p:cNvSpPr/>
          <p:nvPr/>
        </p:nvSpPr>
        <p:spPr>
          <a:xfrm>
            <a:off x="822960" y="4763880"/>
            <a:ext cx="402120" cy="4021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43" name="Image 3" descr="preencoded.png"/>
          <p:cNvPicPr/>
          <p:nvPr/>
        </p:nvPicPr>
        <p:blipFill>
          <a:blip r:embed="rId4"/>
          <a:stretch/>
        </p:blipFill>
        <p:spPr>
          <a:xfrm>
            <a:off x="887040" y="4827960"/>
            <a:ext cx="282960" cy="282960"/>
          </a:xfrm>
          <a:prstGeom prst="rect">
            <a:avLst/>
          </a:prstGeom>
          <a:noFill/>
          <a:ln w="0">
            <a:noFill/>
          </a:ln>
        </p:spPr>
      </p:pic>
      <p:sp>
        <p:nvSpPr>
          <p:cNvPr id="544" name="Shape 14"/>
          <p:cNvSpPr/>
          <p:nvPr/>
        </p:nvSpPr>
        <p:spPr>
          <a:xfrm>
            <a:off x="1371600" y="4782240"/>
            <a:ext cx="402120" cy="365400"/>
          </a:xfrm>
          <a:prstGeom prst="roundRect">
            <a:avLst>
              <a:gd name="adj" fmla="val 15000"/>
            </a:avLst>
          </a:prstGeom>
          <a:solidFill>
            <a:srgbClr val="1C2128"/>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45" name="Text 15"/>
          <p:cNvSpPr/>
          <p:nvPr/>
        </p:nvSpPr>
        <p:spPr>
          <a:xfrm>
            <a:off x="1371600" y="4782240"/>
            <a:ext cx="4021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7A788"/>
                </a:solidFill>
                <a:effectLst/>
                <a:uFillTx/>
                <a:latin typeface="Calibri"/>
                <a:ea typeface="Calibri"/>
              </a:rPr>
              <a:t>3</a:t>
            </a:r>
            <a:endParaRPr lang="en-US" sz="1300" b="0" u="none" strike="noStrike">
              <a:solidFill>
                <a:srgbClr val="FFFFFF"/>
              </a:solidFill>
              <a:effectLst/>
              <a:uFillTx/>
              <a:latin typeface="Arial"/>
            </a:endParaRPr>
          </a:p>
        </p:txBody>
      </p:sp>
      <p:sp>
        <p:nvSpPr>
          <p:cNvPr id="546" name="Text 16"/>
          <p:cNvSpPr/>
          <p:nvPr/>
        </p:nvSpPr>
        <p:spPr>
          <a:xfrm>
            <a:off x="1920240" y="4763880"/>
            <a:ext cx="9509400" cy="100548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C9D1D9"/>
                </a:solidFill>
                <a:effectLst/>
                <a:uFillTx/>
                <a:latin typeface="Calibri"/>
                <a:ea typeface="Calibri"/>
              </a:rPr>
              <a:t>Tag two different commits in your history — one lightweight, one annotated with a proper release message.</a:t>
            </a:r>
            <a:endParaRPr lang="en-US" sz="1200" b="0" u="none" strike="noStrike">
              <a:solidFill>
                <a:srgbClr val="FFFFFF"/>
              </a:solidFill>
              <a:effectLst/>
              <a:uFillTx/>
              <a:latin typeface="Arial"/>
            </a:endParaRPr>
          </a:p>
        </p:txBody>
      </p:sp>
      <p:sp>
        <p:nvSpPr>
          <p:cNvPr id="547" name="Text 17"/>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548" name="Text 18"/>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38</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549"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50" name="Image 0" descr="preencoded.png"/>
          <p:cNvPicPr/>
          <p:nvPr/>
        </p:nvPicPr>
        <p:blipFill>
          <a:blip r:embed="rId1"/>
          <a:stretch/>
        </p:blipFill>
        <p:spPr>
          <a:xfrm>
            <a:off x="548640" y="548640"/>
            <a:ext cx="447840" cy="447840"/>
          </a:xfrm>
          <a:prstGeom prst="rect">
            <a:avLst/>
          </a:prstGeom>
          <a:noFill/>
          <a:ln w="0">
            <a:noFill/>
          </a:ln>
        </p:spPr>
      </p:pic>
      <p:sp>
        <p:nvSpPr>
          <p:cNvPr id="551"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Today's Tasks — Part C: Rebase &amp; Reflog</a:t>
            </a:r>
            <a:endParaRPr lang="en-US" sz="2500" b="0" u="none" strike="noStrike">
              <a:solidFill>
                <a:srgbClr val="FFFFFF"/>
              </a:solidFill>
              <a:effectLst/>
              <a:uFillTx/>
              <a:latin typeface="Arial"/>
            </a:endParaRPr>
          </a:p>
        </p:txBody>
      </p:sp>
      <p:sp>
        <p:nvSpPr>
          <p:cNvPr id="552"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553" name="Shape 3"/>
          <p:cNvSpPr/>
          <p:nvPr/>
        </p:nvSpPr>
        <p:spPr>
          <a:xfrm>
            <a:off x="457200" y="1600200"/>
            <a:ext cx="11274120" cy="4480200"/>
          </a:xfrm>
          <a:prstGeom prst="roundRect">
            <a:avLst>
              <a:gd name="adj" fmla="val 2449"/>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4" name="Text 4"/>
          <p:cNvSpPr/>
          <p:nvPr/>
        </p:nvSpPr>
        <p:spPr>
          <a:xfrm>
            <a:off x="822960" y="1828800"/>
            <a:ext cx="10515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FFFFF"/>
                </a:solidFill>
                <a:effectLst/>
                <a:uFillTx/>
                <a:latin typeface="Calibri"/>
                <a:ea typeface="Calibri"/>
              </a:rPr>
              <a:t>Small tasks — do them in order</a:t>
            </a:r>
            <a:endParaRPr lang="en-US" sz="1700" b="0" u="none" strike="noStrike">
              <a:solidFill>
                <a:srgbClr val="FFFFFF"/>
              </a:solidFill>
              <a:effectLst/>
              <a:uFillTx/>
              <a:latin typeface="Arial"/>
            </a:endParaRPr>
          </a:p>
        </p:txBody>
      </p:sp>
      <p:sp>
        <p:nvSpPr>
          <p:cNvPr id="555" name="Shape 5"/>
          <p:cNvSpPr/>
          <p:nvPr/>
        </p:nvSpPr>
        <p:spPr>
          <a:xfrm>
            <a:off x="822960" y="2423160"/>
            <a:ext cx="402120" cy="4021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56" name="Image 1" descr="preencoded.png"/>
          <p:cNvPicPr/>
          <p:nvPr/>
        </p:nvPicPr>
        <p:blipFill>
          <a:blip r:embed="rId2"/>
          <a:stretch/>
        </p:blipFill>
        <p:spPr>
          <a:xfrm>
            <a:off x="887040" y="2487240"/>
            <a:ext cx="282960" cy="282960"/>
          </a:xfrm>
          <a:prstGeom prst="rect">
            <a:avLst/>
          </a:prstGeom>
          <a:noFill/>
          <a:ln w="0">
            <a:noFill/>
          </a:ln>
        </p:spPr>
      </p:pic>
      <p:sp>
        <p:nvSpPr>
          <p:cNvPr id="557" name="Shape 6"/>
          <p:cNvSpPr/>
          <p:nvPr/>
        </p:nvSpPr>
        <p:spPr>
          <a:xfrm>
            <a:off x="1371600" y="2441520"/>
            <a:ext cx="402120" cy="365400"/>
          </a:xfrm>
          <a:prstGeom prst="roundRect">
            <a:avLst>
              <a:gd name="adj" fmla="val 15000"/>
            </a:avLst>
          </a:prstGeom>
          <a:solidFill>
            <a:srgbClr val="1C2128"/>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8" name="Text 7"/>
          <p:cNvSpPr/>
          <p:nvPr/>
        </p:nvSpPr>
        <p:spPr>
          <a:xfrm>
            <a:off x="1371600" y="2441520"/>
            <a:ext cx="4021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7A788"/>
                </a:solidFill>
                <a:effectLst/>
                <a:uFillTx/>
                <a:latin typeface="Calibri"/>
                <a:ea typeface="Calibri"/>
              </a:rPr>
              <a:t>1</a:t>
            </a:r>
            <a:endParaRPr lang="en-US" sz="1300" b="0" u="none" strike="noStrike">
              <a:solidFill>
                <a:srgbClr val="FFFFFF"/>
              </a:solidFill>
              <a:effectLst/>
              <a:uFillTx/>
              <a:latin typeface="Arial"/>
            </a:endParaRPr>
          </a:p>
        </p:txBody>
      </p:sp>
      <p:sp>
        <p:nvSpPr>
          <p:cNvPr id="559" name="Text 8"/>
          <p:cNvSpPr/>
          <p:nvPr/>
        </p:nvSpPr>
        <p:spPr>
          <a:xfrm>
            <a:off x="1920240" y="2423160"/>
            <a:ext cx="9509400" cy="100548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C9D1D9"/>
                </a:solidFill>
                <a:effectLst/>
                <a:uFillTx/>
                <a:latin typeface="Calibri"/>
                <a:ea typeface="Calibri"/>
              </a:rPr>
              <a:t>Rebase a local, unshared feature branch onto an updated main, resolving any conflict that comes up during the rebase.</a:t>
            </a:r>
            <a:endParaRPr lang="en-US" sz="1200" b="0" u="none" strike="noStrike">
              <a:solidFill>
                <a:srgbClr val="FFFFFF"/>
              </a:solidFill>
              <a:effectLst/>
              <a:uFillTx/>
              <a:latin typeface="Arial"/>
            </a:endParaRPr>
          </a:p>
        </p:txBody>
      </p:sp>
      <p:sp>
        <p:nvSpPr>
          <p:cNvPr id="560" name="Shape 9"/>
          <p:cNvSpPr/>
          <p:nvPr/>
        </p:nvSpPr>
        <p:spPr>
          <a:xfrm>
            <a:off x="822960" y="3593520"/>
            <a:ext cx="402120" cy="4021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61" name="Image 2" descr="preencoded.png"/>
          <p:cNvPicPr/>
          <p:nvPr/>
        </p:nvPicPr>
        <p:blipFill>
          <a:blip r:embed="rId3"/>
          <a:stretch/>
        </p:blipFill>
        <p:spPr>
          <a:xfrm>
            <a:off x="887040" y="3657600"/>
            <a:ext cx="282960" cy="282960"/>
          </a:xfrm>
          <a:prstGeom prst="rect">
            <a:avLst/>
          </a:prstGeom>
          <a:noFill/>
          <a:ln w="0">
            <a:noFill/>
          </a:ln>
        </p:spPr>
      </p:pic>
      <p:sp>
        <p:nvSpPr>
          <p:cNvPr id="562" name="Shape 10"/>
          <p:cNvSpPr/>
          <p:nvPr/>
        </p:nvSpPr>
        <p:spPr>
          <a:xfrm>
            <a:off x="1371600" y="3611880"/>
            <a:ext cx="402120" cy="365400"/>
          </a:xfrm>
          <a:prstGeom prst="roundRect">
            <a:avLst>
              <a:gd name="adj" fmla="val 15000"/>
            </a:avLst>
          </a:prstGeom>
          <a:solidFill>
            <a:srgbClr val="1C2128"/>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63" name="Text 11"/>
          <p:cNvSpPr/>
          <p:nvPr/>
        </p:nvSpPr>
        <p:spPr>
          <a:xfrm>
            <a:off x="1371600" y="3611880"/>
            <a:ext cx="4021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7A788"/>
                </a:solidFill>
                <a:effectLst/>
                <a:uFillTx/>
                <a:latin typeface="Calibri"/>
                <a:ea typeface="Calibri"/>
              </a:rPr>
              <a:t>2</a:t>
            </a:r>
            <a:endParaRPr lang="en-US" sz="1300" b="0" u="none" strike="noStrike">
              <a:solidFill>
                <a:srgbClr val="FFFFFF"/>
              </a:solidFill>
              <a:effectLst/>
              <a:uFillTx/>
              <a:latin typeface="Arial"/>
            </a:endParaRPr>
          </a:p>
        </p:txBody>
      </p:sp>
      <p:sp>
        <p:nvSpPr>
          <p:cNvPr id="564" name="Text 12"/>
          <p:cNvSpPr/>
          <p:nvPr/>
        </p:nvSpPr>
        <p:spPr>
          <a:xfrm>
            <a:off x="1920240" y="3593520"/>
            <a:ext cx="9509400" cy="100548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C9D1D9"/>
                </a:solidFill>
                <a:effectLst/>
                <a:uFillTx/>
                <a:latin typeface="Calibri"/>
                <a:ea typeface="Calibri"/>
              </a:rPr>
              <a:t>Deliberately reset a branch backward by two commits, then fully recover using only git reflog and git reset --hard.</a:t>
            </a:r>
            <a:endParaRPr lang="en-US" sz="1200" b="0" u="none" strike="noStrike">
              <a:solidFill>
                <a:srgbClr val="FFFFFF"/>
              </a:solidFill>
              <a:effectLst/>
              <a:uFillTx/>
              <a:latin typeface="Arial"/>
            </a:endParaRPr>
          </a:p>
        </p:txBody>
      </p:sp>
      <p:sp>
        <p:nvSpPr>
          <p:cNvPr id="565" name="Shape 13"/>
          <p:cNvSpPr/>
          <p:nvPr/>
        </p:nvSpPr>
        <p:spPr>
          <a:xfrm>
            <a:off x="822960" y="4763880"/>
            <a:ext cx="402120" cy="4021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66" name="Image 3" descr="preencoded.png"/>
          <p:cNvPicPr/>
          <p:nvPr/>
        </p:nvPicPr>
        <p:blipFill>
          <a:blip r:embed="rId4"/>
          <a:stretch/>
        </p:blipFill>
        <p:spPr>
          <a:xfrm>
            <a:off x="887040" y="4827960"/>
            <a:ext cx="282960" cy="282960"/>
          </a:xfrm>
          <a:prstGeom prst="rect">
            <a:avLst/>
          </a:prstGeom>
          <a:noFill/>
          <a:ln w="0">
            <a:noFill/>
          </a:ln>
        </p:spPr>
      </p:pic>
      <p:sp>
        <p:nvSpPr>
          <p:cNvPr id="567" name="Shape 14"/>
          <p:cNvSpPr/>
          <p:nvPr/>
        </p:nvSpPr>
        <p:spPr>
          <a:xfrm>
            <a:off x="1371600" y="4782240"/>
            <a:ext cx="402120" cy="365400"/>
          </a:xfrm>
          <a:prstGeom prst="roundRect">
            <a:avLst>
              <a:gd name="adj" fmla="val 15000"/>
            </a:avLst>
          </a:prstGeom>
          <a:solidFill>
            <a:srgbClr val="1C2128"/>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68" name="Text 15"/>
          <p:cNvSpPr/>
          <p:nvPr/>
        </p:nvSpPr>
        <p:spPr>
          <a:xfrm>
            <a:off x="1371600" y="4782240"/>
            <a:ext cx="4021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7A788"/>
                </a:solidFill>
                <a:effectLst/>
                <a:uFillTx/>
                <a:latin typeface="Calibri"/>
                <a:ea typeface="Calibri"/>
              </a:rPr>
              <a:t>3</a:t>
            </a:r>
            <a:endParaRPr lang="en-US" sz="1300" b="0" u="none" strike="noStrike">
              <a:solidFill>
                <a:srgbClr val="FFFFFF"/>
              </a:solidFill>
              <a:effectLst/>
              <a:uFillTx/>
              <a:latin typeface="Arial"/>
            </a:endParaRPr>
          </a:p>
        </p:txBody>
      </p:sp>
      <p:sp>
        <p:nvSpPr>
          <p:cNvPr id="569" name="Text 16"/>
          <p:cNvSpPr/>
          <p:nvPr/>
        </p:nvSpPr>
        <p:spPr>
          <a:xfrm>
            <a:off x="1920240" y="4763880"/>
            <a:ext cx="9509400" cy="100548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C9D1D9"/>
                </a:solidFill>
                <a:effectLst/>
                <a:uFillTx/>
                <a:latin typeface="Calibri"/>
                <a:ea typeface="Calibri"/>
              </a:rPr>
              <a:t>Write a short comparison, in your own words, of when you’d choose merge versus rebase for a real feature branch.</a:t>
            </a:r>
            <a:endParaRPr lang="en-US" sz="1200" b="0" u="none" strike="noStrike">
              <a:solidFill>
                <a:srgbClr val="FFFFFF"/>
              </a:solidFill>
              <a:effectLst/>
              <a:uFillTx/>
              <a:latin typeface="Arial"/>
            </a:endParaRPr>
          </a:p>
        </p:txBody>
      </p:sp>
      <p:sp>
        <p:nvSpPr>
          <p:cNvPr id="570" name="Text 17"/>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571" name="Text 18"/>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39</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572" name="Shape 0"/>
          <p:cNvSpPr/>
          <p:nvPr/>
        </p:nvSpPr>
        <p:spPr>
          <a:xfrm>
            <a:off x="-2011680" y="4206240"/>
            <a:ext cx="5668920" cy="5668920"/>
          </a:xfrm>
          <a:prstGeom prst="ellipse">
            <a:avLst/>
          </a:prstGeom>
          <a:solidFill>
            <a:srgbClr val="1419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73" name="Shape 1"/>
          <p:cNvSpPr/>
          <p:nvPr/>
        </p:nvSpPr>
        <p:spPr>
          <a:xfrm>
            <a:off x="9418320" y="-2377440"/>
            <a:ext cx="5668920" cy="5668920"/>
          </a:xfrm>
          <a:prstGeom prst="ellipse">
            <a:avLst/>
          </a:prstGeom>
          <a:solidFill>
            <a:srgbClr val="1419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74" name="Shape 2"/>
          <p:cNvSpPr/>
          <p:nvPr/>
        </p:nvSpPr>
        <p:spPr>
          <a:xfrm>
            <a:off x="5596200" y="731520"/>
            <a:ext cx="1005480" cy="100548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75" name="Image 0" descr="preencoded.png"/>
          <p:cNvPicPr/>
          <p:nvPr/>
        </p:nvPicPr>
        <p:blipFill>
          <a:blip r:embed="rId1"/>
          <a:stretch/>
        </p:blipFill>
        <p:spPr>
          <a:xfrm>
            <a:off x="5742360" y="877680"/>
            <a:ext cx="703800" cy="703800"/>
          </a:xfrm>
          <a:prstGeom prst="rect">
            <a:avLst/>
          </a:prstGeom>
          <a:noFill/>
          <a:ln w="0">
            <a:noFill/>
          </a:ln>
        </p:spPr>
      </p:pic>
      <p:sp>
        <p:nvSpPr>
          <p:cNvPr id="576" name="Text 3"/>
          <p:cNvSpPr/>
          <p:nvPr/>
        </p:nvSpPr>
        <p:spPr>
          <a:xfrm>
            <a:off x="914400" y="1965960"/>
            <a:ext cx="103597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pc="201" strike="noStrike">
                <a:solidFill>
                  <a:srgbClr val="F7A788"/>
                </a:solidFill>
                <a:effectLst/>
                <a:uFillTx/>
                <a:latin typeface="Calibri"/>
                <a:ea typeface="Calibri"/>
              </a:rPr>
              <a:t>MINI PROJECT</a:t>
            </a:r>
            <a:endParaRPr lang="en-US" sz="1300" b="0" u="none" strike="noStrike">
              <a:solidFill>
                <a:srgbClr val="FFFFFF"/>
              </a:solidFill>
              <a:effectLst/>
              <a:uFillTx/>
              <a:latin typeface="Arial"/>
            </a:endParaRPr>
          </a:p>
        </p:txBody>
      </p:sp>
      <p:sp>
        <p:nvSpPr>
          <p:cNvPr id="577" name="Text 4"/>
          <p:cNvSpPr/>
          <p:nvPr/>
        </p:nvSpPr>
        <p:spPr>
          <a:xfrm>
            <a:off x="914400" y="2377440"/>
            <a:ext cx="10359720" cy="2011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3200" b="1" u="none" strike="noStrike">
                <a:solidFill>
                  <a:srgbClr val="FFFFFF"/>
                </a:solidFill>
                <a:effectLst/>
                <a:uFillTx/>
                <a:latin typeface="Calibri"/>
                <a:ea typeface="Calibri"/>
              </a:rPr>
              <a:t>Put It All Together</a:t>
            </a:r>
            <a:endParaRPr lang="en-US" sz="3200" b="0" u="none" strike="noStrike">
              <a:solidFill>
                <a:srgbClr val="FFFFFF"/>
              </a:solidFill>
              <a:effectLst/>
              <a:uFillTx/>
              <a:latin typeface="Arial"/>
            </a:endParaRPr>
          </a:p>
        </p:txBody>
      </p:sp>
      <p:sp>
        <p:nvSpPr>
          <p:cNvPr id="578" name="Text 5"/>
          <p:cNvSpPr/>
          <p:nvPr/>
        </p:nvSpPr>
        <p:spPr>
          <a:xfrm>
            <a:off x="1463040" y="4572000"/>
            <a:ext cx="9262440" cy="10969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0" u="none" strike="noStrike">
                <a:solidFill>
                  <a:srgbClr val="C9D1D9"/>
                </a:solidFill>
                <a:effectLst/>
                <a:uFillTx/>
                <a:latin typeface="Calibri"/>
                <a:ea typeface="Calibri"/>
              </a:rPr>
              <a:t>One project simulating a real feature-branch workflow, conflicts and all</a:t>
            </a:r>
            <a:endParaRPr lang="en-US" sz="1600" b="0" u="none" strike="noStrike">
              <a:solidFill>
                <a:srgbClr val="FFFFFF"/>
              </a:solidFill>
              <a:effectLst/>
              <a:uFillTx/>
              <a:latin typeface="Arial"/>
            </a:endParaRPr>
          </a:p>
        </p:txBody>
      </p:sp>
      <p:sp>
        <p:nvSpPr>
          <p:cNvPr id="579" name="Text 6"/>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40</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580" name="Shape 0"/>
          <p:cNvSpPr/>
          <p:nvPr/>
        </p:nvSpPr>
        <p:spPr>
          <a:xfrm>
            <a:off x="457200" y="457200"/>
            <a:ext cx="639720" cy="6397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81" name="Image 0" descr="preencoded.png"/>
          <p:cNvPicPr/>
          <p:nvPr/>
        </p:nvPicPr>
        <p:blipFill>
          <a:blip r:embed="rId1"/>
          <a:stretch/>
        </p:blipFill>
        <p:spPr>
          <a:xfrm>
            <a:off x="548640" y="548640"/>
            <a:ext cx="447840" cy="447840"/>
          </a:xfrm>
          <a:prstGeom prst="rect">
            <a:avLst/>
          </a:prstGeom>
          <a:noFill/>
          <a:ln w="0">
            <a:noFill/>
          </a:ln>
        </p:spPr>
      </p:pic>
      <p:sp>
        <p:nvSpPr>
          <p:cNvPr id="582" name="Text 1"/>
          <p:cNvSpPr/>
          <p:nvPr/>
        </p:nvSpPr>
        <p:spPr>
          <a:xfrm>
            <a:off x="1280160" y="4572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FFFFFF"/>
                </a:solidFill>
                <a:effectLst/>
                <a:uFillTx/>
                <a:latin typeface="Calibri"/>
                <a:ea typeface="Calibri"/>
              </a:rPr>
              <a:t>Mini Project: Feature Branch Workflow Simulation</a:t>
            </a:r>
            <a:endParaRPr lang="en-US" sz="2500" b="0" u="none" strike="noStrike">
              <a:solidFill>
                <a:srgbClr val="FFFFFF"/>
              </a:solidFill>
              <a:effectLst/>
              <a:uFillTx/>
              <a:latin typeface="Arial"/>
            </a:endParaRPr>
          </a:p>
        </p:txBody>
      </p:sp>
      <p:sp>
        <p:nvSpPr>
          <p:cNvPr id="583" name="Shape 2"/>
          <p:cNvSpPr/>
          <p:nvPr/>
        </p:nvSpPr>
        <p:spPr>
          <a:xfrm>
            <a:off x="457200" y="1206720"/>
            <a:ext cx="11274480" cy="360"/>
          </a:xfrm>
          <a:prstGeom prst="line">
            <a:avLst/>
          </a:prstGeom>
          <a:ln w="12700">
            <a:solidFill>
              <a:srgbClr val="30363D"/>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584" name="Shape 3"/>
          <p:cNvSpPr/>
          <p:nvPr/>
        </p:nvSpPr>
        <p:spPr>
          <a:xfrm>
            <a:off x="457200" y="1554480"/>
            <a:ext cx="3657240" cy="4663080"/>
          </a:xfrm>
          <a:prstGeom prst="roundRect">
            <a:avLst>
              <a:gd name="adj" fmla="val 3000"/>
            </a:avLst>
          </a:prstGeom>
          <a:solidFill>
            <a:srgbClr val="161B22"/>
          </a:solidFill>
          <a:ln w="9525">
            <a:solidFill>
              <a:srgbClr val="30363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85" name="Shape 4"/>
          <p:cNvSpPr/>
          <p:nvPr/>
        </p:nvSpPr>
        <p:spPr>
          <a:xfrm>
            <a:off x="1508760" y="2194560"/>
            <a:ext cx="1554120" cy="155412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86" name="Image 1" descr="preencoded.png"/>
          <p:cNvPicPr/>
          <p:nvPr/>
        </p:nvPicPr>
        <p:blipFill>
          <a:blip r:embed="rId2"/>
          <a:stretch/>
        </p:blipFill>
        <p:spPr>
          <a:xfrm>
            <a:off x="1746360" y="2423160"/>
            <a:ext cx="1087920" cy="1087920"/>
          </a:xfrm>
          <a:prstGeom prst="rect">
            <a:avLst/>
          </a:prstGeom>
          <a:noFill/>
          <a:ln w="0">
            <a:noFill/>
          </a:ln>
        </p:spPr>
      </p:pic>
      <p:sp>
        <p:nvSpPr>
          <p:cNvPr id="587" name="Text 5"/>
          <p:cNvSpPr/>
          <p:nvPr/>
        </p:nvSpPr>
        <p:spPr>
          <a:xfrm>
            <a:off x="640080" y="3977640"/>
            <a:ext cx="3291480" cy="17370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700" b="1" u="none" strike="noStrike">
                <a:solidFill>
                  <a:srgbClr val="FFFFFF"/>
                </a:solidFill>
                <a:effectLst/>
                <a:uFillTx/>
                <a:latin typeface="Calibri"/>
                <a:ea typeface="Calibri"/>
              </a:rPr>
              <a:t>Every skill</a:t>
            </a:r>
            <a:endParaRPr lang="en-US" sz="1700" b="0" u="none" strike="noStrike">
              <a:solidFill>
                <a:srgbClr val="FFFFFF"/>
              </a:solidFill>
              <a:effectLst/>
              <a:uFillTx/>
              <a:latin typeface="Arial"/>
            </a:endParaRPr>
          </a:p>
          <a:p>
            <a:pPr algn="ctr" defTabSz="914400">
              <a:lnSpc>
                <a:spcPct val="100000"/>
              </a:lnSpc>
              <a:tabLst>
                <a:tab pos="0" algn="l"/>
              </a:tabLst>
            </a:pPr>
            <a:r>
              <a:rPr lang="en-US" sz="1700" b="1" u="none" strike="noStrike">
                <a:solidFill>
                  <a:srgbClr val="FFFFFF"/>
                </a:solidFill>
                <a:effectLst/>
                <a:uFillTx/>
                <a:latin typeface="Calibri"/>
                <a:ea typeface="Calibri"/>
              </a:rPr>
              <a:t>from today,</a:t>
            </a:r>
            <a:endParaRPr lang="en-US" sz="1700" b="0" u="none" strike="noStrike">
              <a:solidFill>
                <a:srgbClr val="FFFFFF"/>
              </a:solidFill>
              <a:effectLst/>
              <a:uFillTx/>
              <a:latin typeface="Arial"/>
            </a:endParaRPr>
          </a:p>
          <a:p>
            <a:pPr algn="ctr" defTabSz="914400">
              <a:lnSpc>
                <a:spcPct val="100000"/>
              </a:lnSpc>
              <a:tabLst>
                <a:tab pos="0" algn="l"/>
              </a:tabLst>
            </a:pPr>
            <a:r>
              <a:rPr lang="en-US" sz="1700" b="1" u="none" strike="noStrike">
                <a:solidFill>
                  <a:srgbClr val="FFFFFF"/>
                </a:solidFill>
                <a:effectLst/>
                <a:uFillTx/>
                <a:latin typeface="Calibri"/>
                <a:ea typeface="Calibri"/>
              </a:rPr>
              <a:t>combined</a:t>
            </a:r>
            <a:endParaRPr lang="en-US" sz="1700" b="0" u="none" strike="noStrike">
              <a:solidFill>
                <a:srgbClr val="FFFFFF"/>
              </a:solidFill>
              <a:effectLst/>
              <a:uFillTx/>
              <a:latin typeface="Arial"/>
            </a:endParaRPr>
          </a:p>
        </p:txBody>
      </p:sp>
      <p:sp>
        <p:nvSpPr>
          <p:cNvPr id="588" name="Text 6"/>
          <p:cNvSpPr/>
          <p:nvPr/>
        </p:nvSpPr>
        <p:spPr>
          <a:xfrm>
            <a:off x="4572000" y="1737360"/>
            <a:ext cx="7131960" cy="411444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Start from the solo repository you built last session, and create two feature branches for two small, separate improvements</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Develop both features with several commits each, deliberately editing one shared file on both branches so they’ll conflict</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Merge the first branch cleanly, then merge the second — resolve the resulting conflict by hand, and commit the resolution</a:t>
            </a:r>
            <a:endParaRPr lang="en-US" sz="1600" b="0" u="none" strike="noStrike">
              <a:solidFill>
                <a:srgbClr val="FFFFFF"/>
              </a:solidFill>
              <a:effectLst/>
              <a:uFillTx/>
              <a:latin typeface="Arial"/>
            </a:endParaRPr>
          </a:p>
          <a:p>
            <a:pPr marL="228600" indent="-228600" defTabSz="914400">
              <a:lnSpc>
                <a:spcPct val="115000"/>
              </a:lnSpc>
              <a:spcAft>
                <a:spcPts val="1400"/>
              </a:spcAft>
              <a:buClr>
                <a:srgbClr val="C9D1D9"/>
              </a:buClr>
              <a:buFont typeface="Symbol" charset="2"/>
              <a:buChar char=""/>
            </a:pPr>
            <a:r>
              <a:rPr lang="en-US" sz="1600" b="0" u="none" strike="noStrike">
                <a:solidFill>
                  <a:srgbClr val="C9D1D9"/>
                </a:solidFill>
                <a:effectLst/>
                <a:uFillTx/>
                <a:latin typeface="Calibri"/>
                <a:ea typeface="Calibri"/>
              </a:rPr>
              <a:t>Stash an unfinished third feature to fix an "urgent bug" on main, tag the fixed version, then rebase your third feature branch cleanly onto the updated main before finally merging it in</a:t>
            </a:r>
            <a:endParaRPr lang="en-US" sz="1600" b="0" u="none" strike="noStrike">
              <a:solidFill>
                <a:srgbClr val="FFFFFF"/>
              </a:solidFill>
              <a:effectLst/>
              <a:uFillTx/>
              <a:latin typeface="Arial"/>
            </a:endParaRPr>
          </a:p>
        </p:txBody>
      </p:sp>
      <p:sp>
        <p:nvSpPr>
          <p:cNvPr id="589" name="Text 7"/>
          <p:cNvSpPr/>
          <p:nvPr/>
        </p:nvSpPr>
        <p:spPr>
          <a:xfrm>
            <a:off x="457200" y="6446520"/>
            <a:ext cx="8686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8B949E"/>
                </a:solidFill>
                <a:effectLst/>
                <a:uFillTx/>
                <a:latin typeface="Calibri"/>
                <a:ea typeface="Calibri"/>
              </a:rPr>
              <a:t>CodeByPaxto: The AI &amp; ML Playground  ·  Hafiz Waseem Ahmed (Paxto)</a:t>
            </a:r>
            <a:endParaRPr lang="en-US" sz="950" b="0" u="none" strike="noStrike">
              <a:solidFill>
                <a:srgbClr val="FFFFFF"/>
              </a:solidFill>
              <a:effectLst/>
              <a:uFillTx/>
              <a:latin typeface="Arial"/>
            </a:endParaRPr>
          </a:p>
        </p:txBody>
      </p:sp>
      <p:sp>
        <p:nvSpPr>
          <p:cNvPr id="590" name="Text 8"/>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41</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591" name="Shape 0"/>
          <p:cNvSpPr/>
          <p:nvPr/>
        </p:nvSpPr>
        <p:spPr>
          <a:xfrm>
            <a:off x="-2011680" y="4206240"/>
            <a:ext cx="5668920" cy="5668920"/>
          </a:xfrm>
          <a:prstGeom prst="ellipse">
            <a:avLst/>
          </a:prstGeom>
          <a:solidFill>
            <a:srgbClr val="1419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92" name="Shape 1"/>
          <p:cNvSpPr/>
          <p:nvPr/>
        </p:nvSpPr>
        <p:spPr>
          <a:xfrm>
            <a:off x="9418320" y="-2377440"/>
            <a:ext cx="5668920" cy="5668920"/>
          </a:xfrm>
          <a:prstGeom prst="ellipse">
            <a:avLst/>
          </a:prstGeom>
          <a:solidFill>
            <a:srgbClr val="1419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93" name="Shape 2"/>
          <p:cNvSpPr/>
          <p:nvPr/>
        </p:nvSpPr>
        <p:spPr>
          <a:xfrm>
            <a:off x="5596200" y="731520"/>
            <a:ext cx="1005480" cy="1005480"/>
          </a:xfrm>
          <a:prstGeom prst="ellipse">
            <a:avLst/>
          </a:prstGeom>
          <a:solidFill>
            <a:srgbClr val="F051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94" name="Image 0" descr="preencoded.png"/>
          <p:cNvPicPr/>
          <p:nvPr/>
        </p:nvPicPr>
        <p:blipFill>
          <a:blip r:embed="rId1"/>
          <a:stretch/>
        </p:blipFill>
        <p:spPr>
          <a:xfrm>
            <a:off x="5742360" y="877680"/>
            <a:ext cx="703800" cy="703800"/>
          </a:xfrm>
          <a:prstGeom prst="rect">
            <a:avLst/>
          </a:prstGeom>
          <a:noFill/>
          <a:ln w="0">
            <a:noFill/>
          </a:ln>
        </p:spPr>
      </p:pic>
      <p:sp>
        <p:nvSpPr>
          <p:cNvPr id="595" name="Text 3"/>
          <p:cNvSpPr/>
          <p:nvPr/>
        </p:nvSpPr>
        <p:spPr>
          <a:xfrm>
            <a:off x="914400" y="1965960"/>
            <a:ext cx="103597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pc="201" strike="noStrike">
                <a:solidFill>
                  <a:srgbClr val="F7A788"/>
                </a:solidFill>
                <a:effectLst/>
                <a:uFillTx/>
                <a:latin typeface="Calibri"/>
                <a:ea typeface="Calibri"/>
              </a:rPr>
              <a:t>RECAP</a:t>
            </a:r>
            <a:endParaRPr lang="en-US" sz="1300" b="0" u="none" strike="noStrike">
              <a:solidFill>
                <a:srgbClr val="FFFFFF"/>
              </a:solidFill>
              <a:effectLst/>
              <a:uFillTx/>
              <a:latin typeface="Arial"/>
            </a:endParaRPr>
          </a:p>
        </p:txBody>
      </p:sp>
      <p:sp>
        <p:nvSpPr>
          <p:cNvPr id="596" name="Text 4"/>
          <p:cNvSpPr/>
          <p:nvPr/>
        </p:nvSpPr>
        <p:spPr>
          <a:xfrm>
            <a:off x="914400" y="2377440"/>
            <a:ext cx="10359720" cy="2011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3200" b="1" u="none" strike="noStrike">
                <a:solidFill>
                  <a:srgbClr val="FFFFFF"/>
                </a:solidFill>
                <a:effectLst/>
                <a:uFillTx/>
                <a:latin typeface="Calibri"/>
                <a:ea typeface="Calibri"/>
              </a:rPr>
              <a:t>Branches are just pointers. Conflicts are Git asking for your judgment. Rebase rewrites history — reflog means almost nothing is ever truly lost.</a:t>
            </a:r>
            <a:endParaRPr lang="en-US" sz="3200" b="0" u="none" strike="noStrike">
              <a:solidFill>
                <a:srgbClr val="FFFFFF"/>
              </a:solidFill>
              <a:effectLst/>
              <a:uFillTx/>
              <a:latin typeface="Arial"/>
            </a:endParaRPr>
          </a:p>
        </p:txBody>
      </p:sp>
      <p:sp>
        <p:nvSpPr>
          <p:cNvPr id="597" name="Text 5"/>
          <p:cNvSpPr/>
          <p:nvPr/>
        </p:nvSpPr>
        <p:spPr>
          <a:xfrm>
            <a:off x="1463040" y="4572000"/>
            <a:ext cx="9262440" cy="10969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0" u="none" strike="noStrike">
                <a:solidFill>
                  <a:srgbClr val="C9D1D9"/>
                </a:solidFill>
                <a:effectLst/>
                <a:uFillTx/>
                <a:latin typeface="Calibri"/>
                <a:ea typeface="Calibri"/>
              </a:rPr>
              <a:t>Next session: GitHub, Tooling &amp; Collaboration — remotes, </a:t>
            </a:r>
            <a:r>
              <a:rPr lang="en-US" sz="1600" b="0" u="none" strike="noStrike">
                <a:solidFill>
                  <a:srgbClr val="C9D1D9"/>
                </a:solidFill>
                <a:effectLst/>
                <a:uFillTx/>
                <a:latin typeface="Calibri"/>
                <a:ea typeface="Calibri"/>
              </a:rPr>
              <a:t>pull requests, issues, and your first open-source </a:t>
            </a:r>
            <a:r>
              <a:rPr lang="en-US" sz="1600" b="0" u="none" strike="noStrike">
                <a:solidFill>
                  <a:srgbClr val="C9D1D9"/>
                </a:solidFill>
                <a:effectLst/>
                <a:uFillTx/>
                <a:latin typeface="Calibri"/>
                <a:ea typeface="Calibri"/>
              </a:rPr>
              <a:t>contribution</a:t>
            </a:r>
            <a:endParaRPr lang="en-US" sz="1600" b="0" u="none" strike="noStrike">
              <a:solidFill>
                <a:srgbClr val="FFFFFF"/>
              </a:solidFill>
              <a:effectLst/>
              <a:uFillTx/>
              <a:latin typeface="Arial"/>
            </a:endParaRPr>
          </a:p>
        </p:txBody>
      </p:sp>
      <p:sp>
        <p:nvSpPr>
          <p:cNvPr id="598" name="Text 6"/>
          <p:cNvSpPr/>
          <p:nvPr/>
        </p:nvSpPr>
        <p:spPr>
          <a:xfrm>
            <a:off x="11521440" y="644652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8B949E"/>
                </a:solidFill>
                <a:effectLst/>
                <a:uFillTx/>
                <a:latin typeface="Calibri"/>
                <a:ea typeface="Calibri"/>
              </a:rPr>
              <a:t>42</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LibreOffice/26.2.4.2$Linux_X86_64 LibreOffice_project/620$Build-2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2026-08-16T07:38:58Z</dcterms:created>
  <dc:creator>PptxGenJS</dc:creator>
  <dc:description/>
  <dc:language>en-US</dc:language>
  <cp:lastModifiedBy/>
  <dcterms:modified xsi:type="dcterms:W3CDTF">2026-08-16T12:47:05Z</dcterms:modified>
  <cp:revision>16</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42</vt:i4>
  </property>
  <property fmtid="{D5CDD505-2E9C-101B-9397-08002B2CF9AE}" pid="3" name="PresentationFormat">
    <vt:lpwstr>On-screen Show (16:9)</vt:lpwstr>
  </property>
  <property fmtid="{D5CDD505-2E9C-101B-9397-08002B2CF9AE}" pid="4" name="Slides">
    <vt:i4>42</vt:i4>
  </property>
</Properties>
</file>