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5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EBA2569-8863-4779-9C67-DBBD44E980A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Quick recap: today builds directly on the Miniconda + VS Code setup from last time.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DFF49E-97C1-42A1-AEA7-D9E89AE604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F6C9D1-958B-4DAB-A8AC-3BDA51662B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49C2BC-466C-4547-8B4D-514A209EE6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CDE16E-CCFF-47AF-B57B-1F569C55DC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44D8E8-2A4F-48BB-872F-891AA1A6D0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F25D63-ABAD-4AF6-A06D-44845B07E7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8C9A3A-C38B-4D4B-9D39-10277998ED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Quick reference — worth keeping visible while students practice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47A977-A0B9-4F1D-9745-91A0ED1171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070FF-6D7A-4CCB-BC40-B376DED3B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DA93EF-2273-4276-BC59-9EEA141883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41F698-DDE8-4B9E-A2A2-DEF15F1B29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95F82C-079C-43D2-A219-3B0B3F8E4B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 everyone type and run this together before moving on — a small shared win to start the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51A0E2-74B2-44C9-93EA-4E53FED2FC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light and playful — let a few students suggest their own print() line to try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E29DA8-31A3-48C2-A7EB-8A8D848EF0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CB6B95-64E8-42D5-A7EC-D4BBE65E97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 up an imaginary bottle here if it helps — very physical, memorable analogy.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175FE2-0AB1-4292-A3AD-41532ED6AC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1A334C-69B4-4FD6-8BDF-1A799E9B7B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D88EA0-E79C-45E2-81CF-951460BB01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B50E42-789D-4C5A-B5D7-21E4881A79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40E800-A0D4-4F87-9686-F34BBD1826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1A4257-E302-4BCC-B3A0-10280EC2FF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90E66B-27F6-48ED-84F7-E3C683329D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F425EA-3F0E-4A99-8FE2-EF773B1675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432726-2EBC-4687-B181-F659EF4924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D49CD3-FD89-4237-88D2-920887723D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2BB2D4-6CDF-49C3-97F3-B835822F74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Quick fast recap before moving into data types.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659638-03A9-44EA-9E24-0A006A9976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983FC2-9C3D-4A18-83F6-0C46223FFF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F2CC7E-42F5-49B9-9D94-750CEDBB1E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881447-97D5-43B3-8753-B82B0B7012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6AF163-730A-499E-A183-5EDB85E340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A46A94-BA8D-4DCA-A380-202A9B0CDA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790440-78D7-43F8-B735-717807D689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D59D14-8FDE-47A5-9C2B-C3C3FE86BD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88E5D8-21D6-4DE5-83AE-383E8C54AB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9CCCDB-2C69-4872-BD61-AAFDAF8276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single most important gotcha of the whole session — slow down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F2B2DE-0DF8-416A-B8B3-7AEE2CCDF1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AA0E53-4269-423E-8374-3DCC73D9E3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A92062-AD09-49CB-AC9E-10E4A11C50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asking 2-3 students to define a variable in their own words.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6F48E4-0FD6-4281-B72E-6484F235E6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3.png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1.png"/><Relationship Id="rId3" Type="http://schemas.openxmlformats.org/officeDocument/2006/relationships/image" Target="../media/image11.png"/><Relationship Id="rId4" Type="http://schemas.openxmlformats.org/officeDocument/2006/relationships/image" Target="../media/image11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1.png"/><Relationship Id="rId4" Type="http://schemas.openxmlformats.org/officeDocument/2006/relationships/image" Target="../media/image11.png"/><Relationship Id="rId5" Type="http://schemas.openxmlformats.org/officeDocument/2006/relationships/image" Target="../media/image11.png"/><Relationship Id="rId6" Type="http://schemas.openxmlformats.org/officeDocument/2006/relationships/image" Target="../media/image1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8360" cy="11883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bottlewater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1600" cy="83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Variables &amp; Data Types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The Building Blocks of Every Python Program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signatu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5060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anaconda.png"/>
          <p:cNvPicPr/>
          <p:nvPr/>
        </p:nvPicPr>
        <p:blipFill>
          <a:blip r:embed="rId2"/>
          <a:stretch/>
        </p:blipFill>
        <p:spPr>
          <a:xfrm>
            <a:off x="660600" y="168948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71600" y="160020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Conda, and what is a virtual environment?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8836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13876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terminal.png"/>
          <p:cNvPicPr/>
          <p:nvPr/>
        </p:nvPicPr>
        <p:blipFill>
          <a:blip r:embed="rId3"/>
          <a:stretch/>
        </p:blipFill>
        <p:spPr>
          <a:xfrm>
            <a:off x="660600" y="217800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71600" y="208836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Basic Conda commands — create, list, activate, delete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57688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62728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pypi.png"/>
          <p:cNvPicPr/>
          <p:nvPr/>
        </p:nvPicPr>
        <p:blipFill>
          <a:blip r:embed="rId4"/>
          <a:stretch/>
        </p:blipFill>
        <p:spPr>
          <a:xfrm>
            <a:off x="660600" y="266616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71600" y="257688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Installing packages with conda vs. pip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06504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11544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terminal.png"/>
          <p:cNvPicPr/>
          <p:nvPr/>
        </p:nvPicPr>
        <p:blipFill>
          <a:blip r:embed="rId5"/>
          <a:stretch/>
        </p:blipFill>
        <p:spPr>
          <a:xfrm>
            <a:off x="660600" y="315432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71600" y="306504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Your first program — the print() statement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55320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60396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bottlewater.png"/>
          <p:cNvPicPr/>
          <p:nvPr/>
        </p:nvPicPr>
        <p:blipFill>
          <a:blip r:embed="rId6"/>
          <a:stretch/>
        </p:blipFill>
        <p:spPr>
          <a:xfrm>
            <a:off x="660600" y="364284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71600" y="355320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 is a variable? (and how its value can change)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04172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09212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signature.png"/>
          <p:cNvPicPr/>
          <p:nvPr/>
        </p:nvPicPr>
        <p:blipFill>
          <a:blip r:embed="rId7"/>
          <a:stretch/>
        </p:blipFill>
        <p:spPr>
          <a:xfrm>
            <a:off x="660600" y="413100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71600" y="404172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Rules for naming a variable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52988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58028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camel.png"/>
          <p:cNvPicPr/>
          <p:nvPr/>
        </p:nvPicPr>
        <p:blipFill>
          <a:blip r:embed="rId8"/>
          <a:stretch/>
        </p:blipFill>
        <p:spPr>
          <a:xfrm>
            <a:off x="660600" y="461916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71600" y="452988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Different naming styles — snake_case, camelCase &amp; more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01840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06880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hashtag.png"/>
          <p:cNvPicPr/>
          <p:nvPr/>
        </p:nvPicPr>
        <p:blipFill>
          <a:blip r:embed="rId9"/>
          <a:stretch/>
        </p:blipFill>
        <p:spPr>
          <a:xfrm>
            <a:off x="660600" y="510768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71600" y="501840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four core data types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50656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55696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search.png"/>
          <p:cNvPicPr/>
          <p:nvPr/>
        </p:nvPicPr>
        <p:blipFill>
          <a:blip r:embed="rId10"/>
          <a:stretch/>
        </p:blipFill>
        <p:spPr>
          <a:xfrm>
            <a:off x="660600" y="559584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71600" y="550656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Checking a type with type()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0"/>
          <p:cNvSpPr/>
          <p:nvPr/>
        </p:nvSpPr>
        <p:spPr>
          <a:xfrm>
            <a:off x="457200" y="5994720"/>
            <a:ext cx="11274120" cy="360000"/>
          </a:xfrm>
          <a:prstGeom prst="roundRect">
            <a:avLst>
              <a:gd name="adj" fmla="val 177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1"/>
          <p:cNvSpPr/>
          <p:nvPr/>
        </p:nvSpPr>
        <p:spPr>
          <a:xfrm>
            <a:off x="621720" y="6045120"/>
            <a:ext cx="259200" cy="259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0" descr="icons/exchange.png"/>
          <p:cNvPicPr/>
          <p:nvPr/>
        </p:nvPicPr>
        <p:blipFill>
          <a:blip r:embed="rId11"/>
          <a:stretch/>
        </p:blipFill>
        <p:spPr>
          <a:xfrm>
            <a:off x="660600" y="6084000"/>
            <a:ext cx="181080" cy="1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32"/>
          <p:cNvSpPr/>
          <p:nvPr/>
        </p:nvSpPr>
        <p:spPr>
          <a:xfrm>
            <a:off x="1371600" y="5994720"/>
            <a:ext cx="100580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Type casting — and why input() needs it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33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0" descr="icons/anaconda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Conda &amp; Virtual Environments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Before we write any Python — let's set the stage properly.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icons/anaconda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Conda?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8" name="Image 1" descr="icons/anaconda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Manages Python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and your tools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Conda is a tool that installs Python — and other tools — on your computer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also creates separate, clean workspaces for each project, called environments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Miniconda is simply the small, lightweight way to install Conda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Conda as the manager in charge of every toolbox you own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0" descr="icons/boxe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Virtual Environment?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1" descr="icons/boxe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separate,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clean workspace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virtual environment is its own private workspace, built for one project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has its own Python version and its own installed packages, separate from every other project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stops one project's tools from clashing with another project's tools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Analogy: separate toolboxes for separate jobs, so tools never get mixed up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6" name="Image 0" descr="icons/termina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&amp; Activating an Environment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conda create makes a brand-new environment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choose the name, and which Python version it should use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conda activate switches you "into" that environment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only need to create an environment once per project — but you activate it every time you work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create a new environment named "myenv" with Python 3.11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create --name myenv python=3.11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activate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activate myenv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your terminal prompt now shows (myenv)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age 0" descr="icons/termina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Viewing &amp; Removing Environments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conda env list shows every environment on your computer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one with a star (*) next to it is currently active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conda deactivate exits the current environment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conda env remove permanently deletes one — use this carefully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see every environment you have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env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leave the current environment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deactivate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delete an environment completely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env remove --name myenv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0" descr="icons/termina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Conda Command Cheat Sheet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457200" y="1508760"/>
            <a:ext cx="552276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294444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Image 1" descr="icons/anaconda.png"/>
          <p:cNvPicPr/>
          <p:nvPr/>
        </p:nvPicPr>
        <p:blipFill>
          <a:blip r:embed="rId2"/>
          <a:stretch/>
        </p:blipFill>
        <p:spPr>
          <a:xfrm>
            <a:off x="302652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 4"/>
          <p:cNvSpPr/>
          <p:nvPr/>
        </p:nvSpPr>
        <p:spPr>
          <a:xfrm>
            <a:off x="548640" y="241020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603360" y="2794320"/>
            <a:ext cx="523008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conda create --name myenv python=3.11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6"/>
          <p:cNvSpPr/>
          <p:nvPr/>
        </p:nvSpPr>
        <p:spPr>
          <a:xfrm>
            <a:off x="6208920" y="1508760"/>
            <a:ext cx="552276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869580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" name="Image 2" descr="icons/checkdouble.png"/>
          <p:cNvPicPr/>
          <p:nvPr/>
        </p:nvPicPr>
        <p:blipFill>
          <a:blip r:embed="rId3"/>
          <a:stretch/>
        </p:blipFill>
        <p:spPr>
          <a:xfrm>
            <a:off x="877824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 8"/>
          <p:cNvSpPr/>
          <p:nvPr/>
        </p:nvSpPr>
        <p:spPr>
          <a:xfrm>
            <a:off x="6300360" y="241020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Activate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6355080" y="2794320"/>
            <a:ext cx="523008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conda activate myenv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457200" y="4069080"/>
            <a:ext cx="552276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1"/>
          <p:cNvSpPr/>
          <p:nvPr/>
        </p:nvSpPr>
        <p:spPr>
          <a:xfrm>
            <a:off x="294444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3" descr="icons/search.png"/>
          <p:cNvPicPr/>
          <p:nvPr/>
        </p:nvPicPr>
        <p:blipFill>
          <a:blip r:embed="rId4"/>
          <a:stretch/>
        </p:blipFill>
        <p:spPr>
          <a:xfrm>
            <a:off x="302652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2"/>
          <p:cNvSpPr/>
          <p:nvPr/>
        </p:nvSpPr>
        <p:spPr>
          <a:xfrm>
            <a:off x="548640" y="497052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3"/>
          <p:cNvSpPr/>
          <p:nvPr/>
        </p:nvSpPr>
        <p:spPr>
          <a:xfrm>
            <a:off x="603360" y="5354640"/>
            <a:ext cx="523008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conda env list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4"/>
          <p:cNvSpPr/>
          <p:nvPr/>
        </p:nvSpPr>
        <p:spPr>
          <a:xfrm>
            <a:off x="6208920" y="4069080"/>
            <a:ext cx="552276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5"/>
          <p:cNvSpPr/>
          <p:nvPr/>
        </p:nvSpPr>
        <p:spPr>
          <a:xfrm>
            <a:off x="869580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4" descr="icons/ban.png"/>
          <p:cNvPicPr/>
          <p:nvPr/>
        </p:nvPicPr>
        <p:blipFill>
          <a:blip r:embed="rId5"/>
          <a:stretch/>
        </p:blipFill>
        <p:spPr>
          <a:xfrm>
            <a:off x="877824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 16"/>
          <p:cNvSpPr/>
          <p:nvPr/>
        </p:nvSpPr>
        <p:spPr>
          <a:xfrm>
            <a:off x="6300360" y="4970520"/>
            <a:ext cx="533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Delete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7"/>
          <p:cNvSpPr/>
          <p:nvPr/>
        </p:nvSpPr>
        <p:spPr>
          <a:xfrm>
            <a:off x="6355080" y="5354640"/>
            <a:ext cx="523008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conda env remove --name myenv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Image 0" descr="icons/anaconda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Installing Packages With Conda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Packages are extra tools other people built, ready for you to use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Once inside an environment, conda install adds a package to it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install several packages in one line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make sure your environment is active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activate myenv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install one package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install numpy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install several at once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install pandas matplotlib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0" descr="icons/pypi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Installing Packages With pip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pip is Python's own built-in package installer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installs from PyPI — the massive public library of Python packages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pip works perfectly fine inside a conda environment too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make sure your environment is active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conda activate myenv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install one package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pip install numpy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install several at once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pip install pandas matplotlib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Conda vs. pip — What's the Difference?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 1" descr="icons/anaconda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Conda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Manages both environments AND packages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install non-Python tools too (e.g. R, C libraries)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standard choice for data science stacks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Slightly slower to install packages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2" descr="icons/pypi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pip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Manages Python packages only — not environments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Installs from PyPI, the largest Python package library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Often has the very newest package versions first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Works inside a conda environment without any conflict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0" descr="icons/terminal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Let's Write Some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programmer starts in the exact same place.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0" descr="icons/termina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Hello, World!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" name="Image 1" descr="icons/terminal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Every coder's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first program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is a function that displays something on the screen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Almost every programmer, in almost every language, writes this exact line first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Type this in VS Code, in the environment you set up last class: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print("Hello, World!")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0" descr="icons/termina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Can print() Accept?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Text (in quotes), whole numbers, and decimal numbers all 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Separate several things with commas — print adds a space between each one automatically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An empty print() just prints a blank line — useful for spacing things out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print("Hello, World!")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print(5)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print(3.14)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print("My favorite number is", 7)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print()   # prints a blank 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0" descr="icons/bottlewater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What Is a Variable?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icons/bottlewat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Variable Is a Labeled Container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1" name="Image 1" descr="icons/bottlewater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Think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bottle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a bottle with a label on it, like "age". That label is the variable's name.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Whatever is inside the bottle right now is the variable's value.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Python, you fill the bottle like this:  age =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bottle does not care what's inside — the value can be a number, text, or anything else.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Variable's Value Can Change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1" descr="icons/bottlewater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Empty it,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refill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"/>
          <p:cNvSpPr/>
          <p:nvPr/>
        </p:nvSpPr>
        <p:spPr>
          <a:xfrm>
            <a:off x="4572000" y="1737360"/>
            <a:ext cx="71319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pour out the old value and pour in a new one — this is called reassigning.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bottle's label (the variable's name) never changes. Only what's inside does.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7"/>
          <p:cNvSpPr/>
          <p:nvPr/>
        </p:nvSpPr>
        <p:spPr>
          <a:xfrm>
            <a:off x="4572000" y="3291840"/>
            <a:ext cx="7131960" cy="2742840"/>
          </a:xfrm>
          <a:prstGeom prst="roundRect">
            <a:avLst>
              <a:gd name="adj" fmla="val 2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8"/>
          <p:cNvSpPr/>
          <p:nvPr/>
        </p:nvSpPr>
        <p:spPr>
          <a:xfrm>
            <a:off x="4892040" y="3566160"/>
            <a:ext cx="64918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age = 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print(age)     # 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age = 22       # same bottle, new value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print(age)     # 22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9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0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icons/signatu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Rules for Naming a Variable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1" descr="icons/checkdouble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Simple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rules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 only use letters, numbers, and underscores ( _ 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Cannot start with a number — age1 works, 1age does not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Cannot be a word Python already uses, like print or if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 case-sensitive — age, Age, and AGE are three different variables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1" name="Image 0" descr="icons/signatu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Good Names vs. Names to Avoid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Image 1" descr="icons/checkdouble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Good Names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student_age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total_price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is_valid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favorite_subject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Explains itself — no guessing needed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" name="Image 2" descr="icons/ban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Names to Avoid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x, y, a, b — meaningless on their own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data1, thing, temp2 — vague, easy to confuse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name makes your code read like a sentence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8" name="Image 0" descr="icons/camel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Different Ways to Write a Variable Name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NAMING STYLES · 1 OF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"/>
          <p:cNvSpPr/>
          <p:nvPr/>
        </p:nvSpPr>
        <p:spPr>
          <a:xfrm>
            <a:off x="4722840" y="1051560"/>
            <a:ext cx="2742840" cy="365400"/>
          </a:xfrm>
          <a:prstGeom prst="roundRect">
            <a:avLst>
              <a:gd name="adj" fmla="val 50000"/>
            </a:avLst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4722840" y="105156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 MOST USED IN PYTHON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5362920" y="160020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" name="Image 0" descr="icons/snake.png"/>
          <p:cNvPicPr/>
          <p:nvPr/>
        </p:nvPicPr>
        <p:blipFill>
          <a:blip r:embed="rId1"/>
          <a:stretch/>
        </p:blipFill>
        <p:spPr>
          <a:xfrm>
            <a:off x="5582520" y="181980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Text 5"/>
          <p:cNvSpPr/>
          <p:nvPr/>
        </p:nvSpPr>
        <p:spPr>
          <a:xfrm>
            <a:off x="914400" y="320040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snake_case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1554480" y="393192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Every word is lowercase, joined by underscores — like a snake sliding between words.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student_age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NAMING STYLES · 2 OF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0" descr="icons/camel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camelCase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 first word is lowercase, and every word after it starts with a capital letter — like the humps on a camel's back.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studentAge   ·   Common in JavaScript &amp; Java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NAMING STYLES · 3 OF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5" name="Image 0" descr="icons/crown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PascalCase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Every single word starts with a capital letter, including the first one — as if each word is wearing a crown.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StudentAge   ·   Used for class names in Python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NAMING STYLES · 4 OF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4" name="Image 0" descr="icons/lock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CONSTANT_CASE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All capital letters, joined by underscores. Used for values that are locked — they never change while the program runs.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MAX_SCORE   ·   Used for constants in Python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NAMING STYLES · 5 OF 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"/>
          <p:cNvSpPr/>
          <p:nvPr/>
        </p:nvSpPr>
        <p:spPr>
          <a:xfrm>
            <a:off x="4539960" y="1051560"/>
            <a:ext cx="3108600" cy="365400"/>
          </a:xfrm>
          <a:prstGeom prst="roundRect">
            <a:avLst>
              <a:gd name="adj" fmla="val 50000"/>
            </a:avLst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4539960" y="10515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✗ NOT VALID IN PYTHON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5362920" y="160020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5" name="Image 0" descr="icons/kebab.png"/>
          <p:cNvPicPr/>
          <p:nvPr/>
        </p:nvPicPr>
        <p:blipFill>
          <a:blip r:embed="rId1"/>
          <a:stretch/>
        </p:blipFill>
        <p:spPr>
          <a:xfrm>
            <a:off x="5582520" y="181980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Text 5"/>
          <p:cNvSpPr/>
          <p:nvPr/>
        </p:nvSpPr>
        <p:spPr>
          <a:xfrm>
            <a:off x="914400" y="320040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kebab-case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6"/>
          <p:cNvSpPr/>
          <p:nvPr/>
        </p:nvSpPr>
        <p:spPr>
          <a:xfrm>
            <a:off x="1554480" y="393192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Every word is lowercase, joined by hyphens — like pieces of meat on a kebab skewer.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7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student-age   ·   Python reads the hyphen as subtraction and breaks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10515600" y="5669280"/>
            <a:ext cx="3200040" cy="3200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icons/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Which Style Does Python Actually Use?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7" name="Image 1" descr="icons/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PEP 8: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Python's style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guide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Python's official style guide is called PEP 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says: use snake_case for variable and function names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Why? Lowercase letters with underscores are the easiest style for most people to read quickly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PascalCase is still used, but only for class names. CONSTANT_CASE is still used, but only for values that never change.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7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3" name="Image 0" descr="icons/signatu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All 5 Styles at a Glance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45720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3"/>
          <p:cNvSpPr/>
          <p:nvPr/>
        </p:nvSpPr>
        <p:spPr>
          <a:xfrm>
            <a:off x="198576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7" name="Image 1" descr="icons/snake.png"/>
          <p:cNvPicPr/>
          <p:nvPr/>
        </p:nvPicPr>
        <p:blipFill>
          <a:blip r:embed="rId2"/>
          <a:stretch/>
        </p:blipFill>
        <p:spPr>
          <a:xfrm>
            <a:off x="206820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" name="Text 4"/>
          <p:cNvSpPr/>
          <p:nvPr/>
        </p:nvSpPr>
        <p:spPr>
          <a:xfrm>
            <a:off x="54864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snake_case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0336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student_age — Python variables (most used)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6"/>
          <p:cNvSpPr/>
          <p:nvPr/>
        </p:nvSpPr>
        <p:spPr>
          <a:xfrm>
            <a:off x="429156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7"/>
          <p:cNvSpPr/>
          <p:nvPr/>
        </p:nvSpPr>
        <p:spPr>
          <a:xfrm>
            <a:off x="582012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2" descr="icons/camel.png"/>
          <p:cNvPicPr/>
          <p:nvPr/>
        </p:nvPicPr>
        <p:blipFill>
          <a:blip r:embed="rId3"/>
          <a:stretch/>
        </p:blipFill>
        <p:spPr>
          <a:xfrm>
            <a:off x="590256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8"/>
          <p:cNvSpPr/>
          <p:nvPr/>
        </p:nvSpPr>
        <p:spPr>
          <a:xfrm>
            <a:off x="438300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camelCase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443772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studentAge — JavaScript, Java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10"/>
          <p:cNvSpPr/>
          <p:nvPr/>
        </p:nvSpPr>
        <p:spPr>
          <a:xfrm>
            <a:off x="8125920" y="150876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9654480" y="178848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7" name="Image 3" descr="icons/crown.png"/>
          <p:cNvPicPr/>
          <p:nvPr/>
        </p:nvPicPr>
        <p:blipFill>
          <a:blip r:embed="rId4"/>
          <a:stretch/>
        </p:blipFill>
        <p:spPr>
          <a:xfrm>
            <a:off x="9736920" y="18709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Text 12"/>
          <p:cNvSpPr/>
          <p:nvPr/>
        </p:nvSpPr>
        <p:spPr>
          <a:xfrm>
            <a:off x="8217360" y="241020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PascalCase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3"/>
          <p:cNvSpPr/>
          <p:nvPr/>
        </p:nvSpPr>
        <p:spPr>
          <a:xfrm>
            <a:off x="8272440" y="279432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StudentAge — Python class names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4"/>
          <p:cNvSpPr/>
          <p:nvPr/>
        </p:nvSpPr>
        <p:spPr>
          <a:xfrm>
            <a:off x="45720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15"/>
          <p:cNvSpPr/>
          <p:nvPr/>
        </p:nvSpPr>
        <p:spPr>
          <a:xfrm>
            <a:off x="198576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2" name="Image 4" descr="icons/lock.png"/>
          <p:cNvPicPr/>
          <p:nvPr/>
        </p:nvPicPr>
        <p:blipFill>
          <a:blip r:embed="rId5"/>
          <a:stretch/>
        </p:blipFill>
        <p:spPr>
          <a:xfrm>
            <a:off x="206820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Text 16"/>
          <p:cNvSpPr/>
          <p:nvPr/>
        </p:nvSpPr>
        <p:spPr>
          <a:xfrm>
            <a:off x="54864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CONSTANT_CASE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7"/>
          <p:cNvSpPr/>
          <p:nvPr/>
        </p:nvSpPr>
        <p:spPr>
          <a:xfrm>
            <a:off x="60336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MAX_SCORE — Python constants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8"/>
          <p:cNvSpPr/>
          <p:nvPr/>
        </p:nvSpPr>
        <p:spPr>
          <a:xfrm>
            <a:off x="4291560" y="4069080"/>
            <a:ext cx="3605400" cy="2331360"/>
          </a:xfrm>
          <a:prstGeom prst="roundRect">
            <a:avLst>
              <a:gd name="adj" fmla="val 3137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9"/>
          <p:cNvSpPr/>
          <p:nvPr/>
        </p:nvSpPr>
        <p:spPr>
          <a:xfrm>
            <a:off x="5820120" y="434880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7" name="Image 5" descr="icons/kebab.png"/>
          <p:cNvPicPr/>
          <p:nvPr/>
        </p:nvPicPr>
        <p:blipFill>
          <a:blip r:embed="rId6"/>
          <a:stretch/>
        </p:blipFill>
        <p:spPr>
          <a:xfrm>
            <a:off x="5902560" y="443124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Text 20"/>
          <p:cNvSpPr/>
          <p:nvPr/>
        </p:nvSpPr>
        <p:spPr>
          <a:xfrm>
            <a:off x="4383000" y="497052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kebab-case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1"/>
          <p:cNvSpPr/>
          <p:nvPr/>
        </p:nvSpPr>
        <p:spPr>
          <a:xfrm>
            <a:off x="4437720" y="5354640"/>
            <a:ext cx="3312720" cy="10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student-age — not valid in Python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2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3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5" name="Image 0" descr="icons/hashta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Core Data Types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DATA TYPES · 1 OF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2" name="Image 0" descr="icons/hashtag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 — Whole Numbers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Short for "integer." Any whole number, positive or negative, with no decimal point.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age = 21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DATA TYPES · 2 OF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1" name="Image 0" descr="icons/superscript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float — Decimal Numbers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Short for "floating-point number." Any number that has a decimal point.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gpa = 3.6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DATA TYPES · 3 OF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0" name="Image 0" descr="icons/font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 — Text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Short for "string" — any text, wrapped in quotes. Can be a single letter or a whole sentence.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name = "Ameer"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Shape 0"/>
          <p:cNvSpPr/>
          <p:nvPr/>
        </p:nvSpPr>
        <p:spPr>
          <a:xfrm>
            <a:off x="8961120" y="-2011680"/>
            <a:ext cx="5486040" cy="54860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548640" y="411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2C6E63"/>
                </a:solidFill>
                <a:effectLst/>
                <a:uFillTx/>
                <a:latin typeface="Calibri"/>
                <a:ea typeface="Calibri"/>
              </a:rPr>
              <a:t>DATA TYPES · 4 OF 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"/>
          <p:cNvSpPr/>
          <p:nvPr/>
        </p:nvSpPr>
        <p:spPr>
          <a:xfrm>
            <a:off x="5362920" y="1234440"/>
            <a:ext cx="1462680" cy="146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icons/toggleon.png"/>
          <p:cNvPicPr/>
          <p:nvPr/>
        </p:nvPicPr>
        <p:blipFill>
          <a:blip r:embed="rId1"/>
          <a:stretch/>
        </p:blipFill>
        <p:spPr>
          <a:xfrm>
            <a:off x="5582520" y="1454040"/>
            <a:ext cx="1023840" cy="10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3"/>
          <p:cNvSpPr/>
          <p:nvPr/>
        </p:nvSpPr>
        <p:spPr>
          <a:xfrm>
            <a:off x="914400" y="2834640"/>
            <a:ext cx="10359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bool — True or False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4"/>
          <p:cNvSpPr/>
          <p:nvPr/>
        </p:nvSpPr>
        <p:spPr>
          <a:xfrm>
            <a:off x="1554480" y="3566160"/>
            <a:ext cx="90795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Short for "boolean." Only two possible values exist: True or False — like a light switch that's either on or off.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5"/>
          <p:cNvSpPr/>
          <p:nvPr/>
        </p:nvSpPr>
        <p:spPr>
          <a:xfrm>
            <a:off x="914400" y="6172200"/>
            <a:ext cx="10359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Example:  is_enrolled = 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4 Core Data Types at a Glance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2"/>
          <p:cNvSpPr/>
          <p:nvPr/>
        </p:nvSpPr>
        <p:spPr>
          <a:xfrm>
            <a:off x="457200" y="1508760"/>
            <a:ext cx="2646720" cy="489168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3"/>
          <p:cNvSpPr/>
          <p:nvPr/>
        </p:nvSpPr>
        <p:spPr>
          <a:xfrm>
            <a:off x="15066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0" name="Image 1" descr="icons/hashtag.png"/>
          <p:cNvPicPr/>
          <p:nvPr/>
        </p:nvPicPr>
        <p:blipFill>
          <a:blip r:embed="rId2"/>
          <a:stretch/>
        </p:blipFill>
        <p:spPr>
          <a:xfrm>
            <a:off x="158868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Text 4"/>
          <p:cNvSpPr/>
          <p:nvPr/>
        </p:nvSpPr>
        <p:spPr>
          <a:xfrm>
            <a:off x="548640" y="2717640"/>
            <a:ext cx="2463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603360" y="3101760"/>
            <a:ext cx="235440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Whole numbers — 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6"/>
          <p:cNvSpPr/>
          <p:nvPr/>
        </p:nvSpPr>
        <p:spPr>
          <a:xfrm>
            <a:off x="3332880" y="1508760"/>
            <a:ext cx="2646720" cy="489168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7"/>
          <p:cNvSpPr/>
          <p:nvPr/>
        </p:nvSpPr>
        <p:spPr>
          <a:xfrm>
            <a:off x="438228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5" name="Image 2" descr="icons/superscript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Text 8"/>
          <p:cNvSpPr/>
          <p:nvPr/>
        </p:nvSpPr>
        <p:spPr>
          <a:xfrm>
            <a:off x="3424320" y="2717640"/>
            <a:ext cx="2463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float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9"/>
          <p:cNvSpPr/>
          <p:nvPr/>
        </p:nvSpPr>
        <p:spPr>
          <a:xfrm>
            <a:off x="3479400" y="3101760"/>
            <a:ext cx="235440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Decimal numbers — 3.6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10"/>
          <p:cNvSpPr/>
          <p:nvPr/>
        </p:nvSpPr>
        <p:spPr>
          <a:xfrm>
            <a:off x="6208920" y="1508760"/>
            <a:ext cx="2646720" cy="489168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1"/>
          <p:cNvSpPr/>
          <p:nvPr/>
        </p:nvSpPr>
        <p:spPr>
          <a:xfrm>
            <a:off x="725796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3" descr="icons/font.png"/>
          <p:cNvPicPr/>
          <p:nvPr/>
        </p:nvPicPr>
        <p:blipFill>
          <a:blip r:embed="rId4"/>
          <a:stretch/>
        </p:blipFill>
        <p:spPr>
          <a:xfrm>
            <a:off x="734040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12"/>
          <p:cNvSpPr/>
          <p:nvPr/>
        </p:nvSpPr>
        <p:spPr>
          <a:xfrm>
            <a:off x="6300360" y="2717640"/>
            <a:ext cx="2463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3"/>
          <p:cNvSpPr/>
          <p:nvPr/>
        </p:nvSpPr>
        <p:spPr>
          <a:xfrm>
            <a:off x="6355080" y="3101760"/>
            <a:ext cx="235440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Text — "Ameer"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"/>
          <p:cNvSpPr/>
          <p:nvPr/>
        </p:nvSpPr>
        <p:spPr>
          <a:xfrm>
            <a:off x="9084600" y="1508760"/>
            <a:ext cx="2646720" cy="489168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15"/>
          <p:cNvSpPr/>
          <p:nvPr/>
        </p:nvSpPr>
        <p:spPr>
          <a:xfrm>
            <a:off x="1013400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5" name="Image 4" descr="icons/toggleon.png"/>
          <p:cNvPicPr/>
          <p:nvPr/>
        </p:nvPicPr>
        <p:blipFill>
          <a:blip r:embed="rId5"/>
          <a:stretch/>
        </p:blipFill>
        <p:spPr>
          <a:xfrm>
            <a:off x="1021608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 16"/>
          <p:cNvSpPr/>
          <p:nvPr/>
        </p:nvSpPr>
        <p:spPr>
          <a:xfrm>
            <a:off x="9176040" y="2717640"/>
            <a:ext cx="2463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7"/>
          <p:cNvSpPr/>
          <p:nvPr/>
        </p:nvSpPr>
        <p:spPr>
          <a:xfrm>
            <a:off x="9230760" y="3101760"/>
            <a:ext cx="235440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True or False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9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2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a Type: type()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type() function asks Python: "what kind of value is this?"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always tells you the truth — very useful when your code isn't behaving as expected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will use this constantly, especially while learning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age = 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gpa = 3.6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name = 'Ameer'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is_enrolled = True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print(type(age))          # &lt;class 'int'&gt;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print(type(gpa))          # &lt;class 'float'&gt;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print(type(name))         # &lt;class 'str'&gt;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print(type(is_enrolled))  # &lt;class 'bool'&gt;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1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Type Casting — Changing a Value's Type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Casting means converting a value from one type to another, on purpose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three you'll use constantly: int(), float(), str()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matters most right after input() — see the next slide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age_text = '21'              # this is a str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age_number = int(age_text)   # now it's an int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print(type(age_text))         # &lt;class 'str'&gt;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print(type(age_number))       # &lt;class 'int'&gt;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Three Casting Functions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2"/>
          <p:cNvSpPr/>
          <p:nvPr/>
        </p:nvSpPr>
        <p:spPr>
          <a:xfrm>
            <a:off x="457200" y="1508760"/>
            <a:ext cx="3605400" cy="489168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3"/>
          <p:cNvSpPr/>
          <p:nvPr/>
        </p:nvSpPr>
        <p:spPr>
          <a:xfrm>
            <a:off x="198576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3" name="Image 1" descr="icons/hashtag.png"/>
          <p:cNvPicPr/>
          <p:nvPr/>
        </p:nvPicPr>
        <p:blipFill>
          <a:blip r:embed="rId2"/>
          <a:stretch/>
        </p:blipFill>
        <p:spPr>
          <a:xfrm>
            <a:off x="206820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Text 4"/>
          <p:cNvSpPr/>
          <p:nvPr/>
        </p:nvSpPr>
        <p:spPr>
          <a:xfrm>
            <a:off x="548640" y="271764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5"/>
          <p:cNvSpPr/>
          <p:nvPr/>
        </p:nvSpPr>
        <p:spPr>
          <a:xfrm>
            <a:off x="603360" y="3101760"/>
            <a:ext cx="331272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Converts a value into a whole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6"/>
          <p:cNvSpPr/>
          <p:nvPr/>
        </p:nvSpPr>
        <p:spPr>
          <a:xfrm>
            <a:off x="4291560" y="1508760"/>
            <a:ext cx="3605400" cy="489168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7"/>
          <p:cNvSpPr/>
          <p:nvPr/>
        </p:nvSpPr>
        <p:spPr>
          <a:xfrm>
            <a:off x="582012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8" name="Image 2" descr="icons/superscript.png"/>
          <p:cNvPicPr/>
          <p:nvPr/>
        </p:nvPicPr>
        <p:blipFill>
          <a:blip r:embed="rId3"/>
          <a:stretch/>
        </p:blipFill>
        <p:spPr>
          <a:xfrm>
            <a:off x="590256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Text 8"/>
          <p:cNvSpPr/>
          <p:nvPr/>
        </p:nvSpPr>
        <p:spPr>
          <a:xfrm>
            <a:off x="4383000" y="271764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float()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9"/>
          <p:cNvSpPr/>
          <p:nvPr/>
        </p:nvSpPr>
        <p:spPr>
          <a:xfrm>
            <a:off x="4437720" y="3101760"/>
            <a:ext cx="331272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Converts a value into a decimal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10"/>
          <p:cNvSpPr/>
          <p:nvPr/>
        </p:nvSpPr>
        <p:spPr>
          <a:xfrm>
            <a:off x="8125920" y="1508760"/>
            <a:ext cx="3605400" cy="4891680"/>
          </a:xfrm>
          <a:prstGeom prst="roundRect">
            <a:avLst>
              <a:gd name="adj" fmla="val 2029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11"/>
          <p:cNvSpPr/>
          <p:nvPr/>
        </p:nvSpPr>
        <p:spPr>
          <a:xfrm>
            <a:off x="9654480" y="20959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3" name="Image 3" descr="icons/font.png"/>
          <p:cNvPicPr/>
          <p:nvPr/>
        </p:nvPicPr>
        <p:blipFill>
          <a:blip r:embed="rId4"/>
          <a:stretch/>
        </p:blipFill>
        <p:spPr>
          <a:xfrm>
            <a:off x="9736920" y="21780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Text 12"/>
          <p:cNvSpPr/>
          <p:nvPr/>
        </p:nvSpPr>
        <p:spPr>
          <a:xfrm>
            <a:off x="8217360" y="2717640"/>
            <a:ext cx="342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13"/>
          <p:cNvSpPr/>
          <p:nvPr/>
        </p:nvSpPr>
        <p:spPr>
          <a:xfrm>
            <a:off x="8272440" y="3101760"/>
            <a:ext cx="3312720" cy="32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Converts a value into text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4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Shape 0"/>
          <p:cNvSpPr/>
          <p:nvPr/>
        </p:nvSpPr>
        <p:spPr>
          <a:xfrm>
            <a:off x="-1828800" y="512064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0" descr="icons/fon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input() Always Returns a String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3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Whatever the user types, Python treats it as a str — even if it looks like a number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surprises almost everyone the first time they see it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fix: wrap input() in int() or float() immediately, before using it as a number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4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5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birth_year = input("Birth year? 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print(type(birth_year))  # &lt;class 'str'&gt;, even for "2005"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onsolas"/>
                <a:ea typeface="Consolas"/>
              </a:rPr>
              <a:t># the fix: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birth_year = int(input("Birth year?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print(type(birth_year))  # &lt;class 'int'&gt; now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9" name="Image 0" descr="icons/termina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Your </a:t>
            </a: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Environment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5"/>
          <p:cNvSpPr/>
          <p:nvPr/>
        </p:nvSpPr>
        <p:spPr>
          <a:xfrm>
            <a:off x="822960" y="246888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1" descr="icons/checkdouble.png"/>
          <p:cNvPicPr/>
          <p:nvPr/>
        </p:nvPicPr>
        <p:blipFill>
          <a:blip r:embed="rId2"/>
          <a:stretch/>
        </p:blipFill>
        <p:spPr>
          <a:xfrm>
            <a:off x="891720" y="25376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Shape 6"/>
          <p:cNvSpPr/>
          <p:nvPr/>
        </p:nvSpPr>
        <p:spPr>
          <a:xfrm>
            <a:off x="1463040" y="2496240"/>
            <a:ext cx="456840" cy="4021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7"/>
          <p:cNvSpPr/>
          <p:nvPr/>
        </p:nvSpPr>
        <p:spPr>
          <a:xfrm>
            <a:off x="1463040" y="249624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8"/>
          <p:cNvSpPr/>
          <p:nvPr/>
        </p:nvSpPr>
        <p:spPr>
          <a:xfrm>
            <a:off x="2103120" y="246888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new virtual environment  (conda create --name myenv python=3.11)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9"/>
          <p:cNvSpPr/>
          <p:nvPr/>
        </p:nvSpPr>
        <p:spPr>
          <a:xfrm>
            <a:off x="822960" y="32461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9" name="Image 2" descr="icons/checkdouble.png"/>
          <p:cNvPicPr/>
          <p:nvPr/>
        </p:nvPicPr>
        <p:blipFill>
          <a:blip r:embed="rId3"/>
          <a:stretch/>
        </p:blipFill>
        <p:spPr>
          <a:xfrm>
            <a:off x="891720" y="33148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Shape 10"/>
          <p:cNvSpPr/>
          <p:nvPr/>
        </p:nvSpPr>
        <p:spPr>
          <a:xfrm>
            <a:off x="1463040" y="3273480"/>
            <a:ext cx="456840" cy="4021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1"/>
          <p:cNvSpPr/>
          <p:nvPr/>
        </p:nvSpPr>
        <p:spPr>
          <a:xfrm>
            <a:off x="1463040" y="327348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12"/>
          <p:cNvSpPr/>
          <p:nvPr/>
        </p:nvSpPr>
        <p:spPr>
          <a:xfrm>
            <a:off x="2103120" y="324612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all your environments in the terminal  (conda env list)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3"/>
          <p:cNvSpPr/>
          <p:nvPr/>
        </p:nvSpPr>
        <p:spPr>
          <a:xfrm>
            <a:off x="822960" y="402336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4" name="Image 3" descr="icons/checkdouble.png"/>
          <p:cNvPicPr/>
          <p:nvPr/>
        </p:nvPicPr>
        <p:blipFill>
          <a:blip r:embed="rId4"/>
          <a:stretch/>
        </p:blipFill>
        <p:spPr>
          <a:xfrm>
            <a:off x="891720" y="40921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Shape 14"/>
          <p:cNvSpPr/>
          <p:nvPr/>
        </p:nvSpPr>
        <p:spPr>
          <a:xfrm>
            <a:off x="1463040" y="4050720"/>
            <a:ext cx="456840" cy="4021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5"/>
          <p:cNvSpPr/>
          <p:nvPr/>
        </p:nvSpPr>
        <p:spPr>
          <a:xfrm>
            <a:off x="1463040" y="405072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6"/>
          <p:cNvSpPr/>
          <p:nvPr/>
        </p:nvSpPr>
        <p:spPr>
          <a:xfrm>
            <a:off x="2103120" y="402336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Activate your new environment  (conda activate myenv)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17"/>
          <p:cNvSpPr/>
          <p:nvPr/>
        </p:nvSpPr>
        <p:spPr>
          <a:xfrm>
            <a:off x="822960" y="480060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4" descr="icons/checkdouble.png"/>
          <p:cNvPicPr/>
          <p:nvPr/>
        </p:nvPicPr>
        <p:blipFill>
          <a:blip r:embed="rId5"/>
          <a:stretch/>
        </p:blipFill>
        <p:spPr>
          <a:xfrm>
            <a:off x="891720" y="486936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Shape 18"/>
          <p:cNvSpPr/>
          <p:nvPr/>
        </p:nvSpPr>
        <p:spPr>
          <a:xfrm>
            <a:off x="1463040" y="4827960"/>
            <a:ext cx="456840" cy="4021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19"/>
          <p:cNvSpPr/>
          <p:nvPr/>
        </p:nvSpPr>
        <p:spPr>
          <a:xfrm>
            <a:off x="1463040" y="482796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0"/>
          <p:cNvSpPr/>
          <p:nvPr/>
        </p:nvSpPr>
        <p:spPr>
          <a:xfrm>
            <a:off x="2103120" y="480060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Connect that environment in VS Code  (Ctrl+Shift+P → "Python: Select Interpreter")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21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22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icons/signatur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Python Practice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none of these should take more than a few minutes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5"/>
          <p:cNvSpPr/>
          <p:nvPr/>
        </p:nvSpPr>
        <p:spPr>
          <a:xfrm>
            <a:off x="822960" y="24231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2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Shape 6"/>
          <p:cNvSpPr/>
          <p:nvPr/>
        </p:nvSpPr>
        <p:spPr>
          <a:xfrm>
            <a:off x="1417320" y="244152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1417320" y="244152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8"/>
          <p:cNvSpPr/>
          <p:nvPr/>
        </p:nvSpPr>
        <p:spPr>
          <a:xfrm>
            <a:off x="2011680" y="24231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and run a "Hello, World!" program using print()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9"/>
          <p:cNvSpPr/>
          <p:nvPr/>
        </p:nvSpPr>
        <p:spPr>
          <a:xfrm>
            <a:off x="822960" y="308160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14460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Shape 10"/>
          <p:cNvSpPr/>
          <p:nvPr/>
        </p:nvSpPr>
        <p:spPr>
          <a:xfrm>
            <a:off x="1417320" y="309996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1"/>
          <p:cNvSpPr/>
          <p:nvPr/>
        </p:nvSpPr>
        <p:spPr>
          <a:xfrm>
            <a:off x="1417320" y="309996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2"/>
          <p:cNvSpPr/>
          <p:nvPr/>
        </p:nvSpPr>
        <p:spPr>
          <a:xfrm>
            <a:off x="2011680" y="308160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your name on one line, and your age on the next — two separate print() statements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13"/>
          <p:cNvSpPr/>
          <p:nvPr/>
        </p:nvSpPr>
        <p:spPr>
          <a:xfrm>
            <a:off x="822960" y="374004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2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380304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3" name="Shape 14"/>
          <p:cNvSpPr/>
          <p:nvPr/>
        </p:nvSpPr>
        <p:spPr>
          <a:xfrm>
            <a:off x="1417320" y="375804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5"/>
          <p:cNvSpPr/>
          <p:nvPr/>
        </p:nvSpPr>
        <p:spPr>
          <a:xfrm>
            <a:off x="1417320" y="375804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16"/>
          <p:cNvSpPr/>
          <p:nvPr/>
        </p:nvSpPr>
        <p:spPr>
          <a:xfrm>
            <a:off x="2011680" y="374004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your name, age, and favorite subject in three variables, then print all three together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17"/>
          <p:cNvSpPr/>
          <p:nvPr/>
        </p:nvSpPr>
        <p:spPr>
          <a:xfrm>
            <a:off x="822960" y="439812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7" name="Image 4" descr="icons/checkdouble.png"/>
          <p:cNvPicPr/>
          <p:nvPr/>
        </p:nvPicPr>
        <p:blipFill>
          <a:blip r:embed="rId5"/>
          <a:stretch/>
        </p:blipFill>
        <p:spPr>
          <a:xfrm>
            <a:off x="885960" y="446148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Shape 18"/>
          <p:cNvSpPr/>
          <p:nvPr/>
        </p:nvSpPr>
        <p:spPr>
          <a:xfrm>
            <a:off x="1417320" y="441648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9"/>
          <p:cNvSpPr/>
          <p:nvPr/>
        </p:nvSpPr>
        <p:spPr>
          <a:xfrm>
            <a:off x="1417320" y="441648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20"/>
          <p:cNvSpPr/>
          <p:nvPr/>
        </p:nvSpPr>
        <p:spPr>
          <a:xfrm>
            <a:off x="2011680" y="439812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the type() of each of those three variables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1"/>
          <p:cNvSpPr/>
          <p:nvPr/>
        </p:nvSpPr>
        <p:spPr>
          <a:xfrm>
            <a:off x="822960" y="5056560"/>
            <a:ext cx="420120" cy="42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2" name="Image 5" descr="icons/checkdouble.png"/>
          <p:cNvPicPr/>
          <p:nvPr/>
        </p:nvPicPr>
        <p:blipFill>
          <a:blip r:embed="rId6"/>
          <a:stretch/>
        </p:blipFill>
        <p:spPr>
          <a:xfrm>
            <a:off x="885960" y="5119560"/>
            <a:ext cx="294120" cy="29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Shape 22"/>
          <p:cNvSpPr/>
          <p:nvPr/>
        </p:nvSpPr>
        <p:spPr>
          <a:xfrm>
            <a:off x="1417320" y="5074920"/>
            <a:ext cx="420120" cy="38376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3"/>
          <p:cNvSpPr/>
          <p:nvPr/>
        </p:nvSpPr>
        <p:spPr>
          <a:xfrm>
            <a:off x="1417320" y="5074920"/>
            <a:ext cx="420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4"/>
          <p:cNvSpPr/>
          <p:nvPr/>
        </p:nvSpPr>
        <p:spPr>
          <a:xfrm>
            <a:off x="2011680" y="5056560"/>
            <a:ext cx="94179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number using input(), cast it to an int, then print it back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5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9 small tasks in total — due before our next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6"/>
          <p:cNvSpPr/>
          <p:nvPr/>
        </p:nvSpPr>
        <p:spPr>
          <a:xfrm>
            <a:off x="45720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Variables &amp; Data Types  ·  Session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7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2"/>
          <p:cNvSpPr/>
          <p:nvPr/>
        </p:nvSpPr>
        <p:spPr>
          <a:xfrm>
            <a:off x="559152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2" name="Image 0" descr="icons/bottlewater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variable is a labeled container.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Its value can change — but Python always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knows exactly what type that value is.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conditionals and loops.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2026-07-19T11:53:04Z</dcterms:created>
  <dc:creator>Course Instructor</dc:creator>
  <dc:description/>
  <dc:language>en-US</dc:language>
  <cp:lastModifiedBy/>
  <dcterms:modified xsi:type="dcterms:W3CDTF">2026-07-19T22:02:57Z</dcterms:modified>
  <cp:revision>7</cp:revision>
  <dc:subject>PptxGenJS Presentation</dc:subject>
  <dc:title>Variables &amp; Data Types — Session 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40</vt:i4>
  </property>
  <property fmtid="{D5CDD505-2E9C-101B-9397-08002B2CF9AE}" pid="3" name="PresentationFormat">
    <vt:lpwstr>On-screen Show (16:9)</vt:lpwstr>
  </property>
  <property fmtid="{D5CDD505-2E9C-101B-9397-08002B2CF9AE}" pid="4" name="Slides">
    <vt:i4>40</vt:i4>
  </property>
</Properties>
</file>