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D5AB6D-15BE-45F7-86EB-D4CE0FB181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Quick recap: today builds directly on the Miniconda + VS Code setup from last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75C627-B6FC-42EB-AC6D-8F795C1F6E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40E158-6485-45B1-A9FF-3922576E99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F73C5A3-63DD-405E-8623-33750FF7A8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F31C2A-6428-4614-B5DA-E97A0845DF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9E962C-3639-4CD0-9253-6F0FD68D69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C8485B-DBBC-4660-A772-C8178FAFFE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A604A9-B850-48FD-8D14-20D2C3D4E0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reference — worth keeping visible while students practice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16654B-5358-418B-9A07-1DE2A21161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A924A6-1D51-4893-B54B-2749FD7069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DA44C2-D1DF-4CCE-9BB2-6D5E3C44D8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39698D-52B1-4AB9-8ED4-43235041BE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5815FB-896C-4FD0-8EDA-3DC6B5BECB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Have everyone type and run this together before moving on — a small shared win to start the session.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EE4AC6-90C8-43DF-A495-E70C11A433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light and playful — let a few students suggest their own print() line to try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9D90ED-FD6A-45F8-B3A2-006DDAAE8C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7F1BCA-F216-4CFD-840A-DC23645521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Hold up an imaginary bottle here if it helps — very physical, memorable analogy.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774C7F-297D-42C7-BDB7-ECA1B0BCF8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8043C6-6F48-41D8-9734-82FFC85084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BBCACA-A2B5-4831-88FA-D56672B442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CF30225-74D6-414E-AD33-17FA04BB73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5C03F1-8665-4B76-A01F-ACE1EA3101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A8C10F-B723-4BFC-BEFD-4387DFB28E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D886BD1-9C61-4C52-A893-83973BC560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E609D5-1FCD-4A86-97A4-5F69090C9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032F01-A5E9-48C4-B241-F7232B9A41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79A148-50D0-4DC8-AF86-6D5EFD44AD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5C245E-15EE-4952-9EDF-995438AB8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Quick fast recap before moving into data types.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1A8DF4-53C2-422A-ACCE-31A3F49344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D0C23D-F052-4F10-9C16-B655FE2AAF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6D335A-27C3-4292-ABFC-567183C479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DDCD1E-08ED-4448-9B85-A4FF556A65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33D70A-37CE-436A-84BB-358BAB38FD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356D75-791C-4D6A-A737-672B936373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99B34E-344C-4F1F-8DEE-49D298C2C4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40DFB3-E9C4-42E6-8817-8677C832A9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B4FF49-ECCA-486A-B6BC-37EEDEA720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7C4B42-4DB7-49BD-950E-5F3C9CF1C1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single most important gotcha of the whole session — slow down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CDD877-E0F3-4777-8886-DBF37DC1C7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3ADB23-C4C1-4B8C-9CDC-E5EA742DB7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99713F-0F7F-4FBD-AED0-A8E3A9D831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asking 2-3 students to define a variable in their own words.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4FA4104-CCFD-4E73-9A6D-511FDB1662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11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080" cy="64000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000" cy="118800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bottlewater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240" cy="83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3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Variables &amp; Data Types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3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The Building Blocks of Every Python Program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signatu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5060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anaconda.png"/>
          <p:cNvPicPr/>
          <p:nvPr/>
        </p:nvPicPr>
        <p:blipFill>
          <a:blip r:embed="rId2"/>
          <a:stretch/>
        </p:blipFill>
        <p:spPr>
          <a:xfrm>
            <a:off x="660600" y="168948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71600" y="160020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Conda, and what is a virtual environment?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08836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13876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terminal.png"/>
          <p:cNvPicPr/>
          <p:nvPr/>
        </p:nvPicPr>
        <p:blipFill>
          <a:blip r:embed="rId3"/>
          <a:stretch/>
        </p:blipFill>
        <p:spPr>
          <a:xfrm>
            <a:off x="660600" y="217800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71600" y="208836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Basic Conda commands — create, list, activate, delete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57688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262728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pypi.png"/>
          <p:cNvPicPr/>
          <p:nvPr/>
        </p:nvPicPr>
        <p:blipFill>
          <a:blip r:embed="rId4"/>
          <a:stretch/>
        </p:blipFill>
        <p:spPr>
          <a:xfrm>
            <a:off x="660600" y="266616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71600" y="257688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Installing packages with conda vs. pip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06504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11544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terminal.png"/>
          <p:cNvPicPr/>
          <p:nvPr/>
        </p:nvPicPr>
        <p:blipFill>
          <a:blip r:embed="rId5"/>
          <a:stretch/>
        </p:blipFill>
        <p:spPr>
          <a:xfrm>
            <a:off x="660600" y="315432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71600" y="306504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Your first program — the print() statement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355320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360396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bottlewater.png"/>
          <p:cNvPicPr/>
          <p:nvPr/>
        </p:nvPicPr>
        <p:blipFill>
          <a:blip r:embed="rId6"/>
          <a:stretch/>
        </p:blipFill>
        <p:spPr>
          <a:xfrm>
            <a:off x="660600" y="364284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71600" y="355320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a variable? (and how its value can change)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404172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409212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signature.png"/>
          <p:cNvPicPr/>
          <p:nvPr/>
        </p:nvPicPr>
        <p:blipFill>
          <a:blip r:embed="rId7"/>
          <a:stretch/>
        </p:blipFill>
        <p:spPr>
          <a:xfrm>
            <a:off x="660600" y="413100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71600" y="404172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Rules for naming a variable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452988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458028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camel.png"/>
          <p:cNvPicPr/>
          <p:nvPr/>
        </p:nvPicPr>
        <p:blipFill>
          <a:blip r:embed="rId8"/>
          <a:stretch/>
        </p:blipFill>
        <p:spPr>
          <a:xfrm>
            <a:off x="660600" y="461916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71600" y="452988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Different naming styles — snake_case, camelCase &amp; more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457200" y="501840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621720" y="506880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8" descr="icons/hashtag.png"/>
          <p:cNvPicPr/>
          <p:nvPr/>
        </p:nvPicPr>
        <p:blipFill>
          <a:blip r:embed="rId9"/>
          <a:stretch/>
        </p:blipFill>
        <p:spPr>
          <a:xfrm>
            <a:off x="660600" y="510768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1371600" y="501840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four core data types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7"/>
          <p:cNvSpPr/>
          <p:nvPr/>
        </p:nvSpPr>
        <p:spPr>
          <a:xfrm>
            <a:off x="457200" y="550656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8"/>
          <p:cNvSpPr/>
          <p:nvPr/>
        </p:nvSpPr>
        <p:spPr>
          <a:xfrm>
            <a:off x="621720" y="555696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9" descr="icons/search.png"/>
          <p:cNvPicPr/>
          <p:nvPr/>
        </p:nvPicPr>
        <p:blipFill>
          <a:blip r:embed="rId10"/>
          <a:stretch/>
        </p:blipFill>
        <p:spPr>
          <a:xfrm>
            <a:off x="660600" y="559584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29"/>
          <p:cNvSpPr/>
          <p:nvPr/>
        </p:nvSpPr>
        <p:spPr>
          <a:xfrm>
            <a:off x="1371600" y="550656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Checking a type with type()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0"/>
          <p:cNvSpPr/>
          <p:nvPr/>
        </p:nvSpPr>
        <p:spPr>
          <a:xfrm>
            <a:off x="457200" y="5994720"/>
            <a:ext cx="11273760" cy="359640"/>
          </a:xfrm>
          <a:prstGeom prst="roundRect">
            <a:avLst>
              <a:gd name="adj" fmla="val 17766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1"/>
          <p:cNvSpPr/>
          <p:nvPr/>
        </p:nvSpPr>
        <p:spPr>
          <a:xfrm>
            <a:off x="621720" y="6045120"/>
            <a:ext cx="258840" cy="258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0" descr="icons/exchange.png"/>
          <p:cNvPicPr/>
          <p:nvPr/>
        </p:nvPicPr>
        <p:blipFill>
          <a:blip r:embed="rId11"/>
          <a:stretch/>
        </p:blipFill>
        <p:spPr>
          <a:xfrm>
            <a:off x="660600" y="6084000"/>
            <a:ext cx="18072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32"/>
          <p:cNvSpPr/>
          <p:nvPr/>
        </p:nvSpPr>
        <p:spPr>
          <a:xfrm>
            <a:off x="1371600" y="5994720"/>
            <a:ext cx="1005768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Type casting — and why input() needs it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3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4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icons/anaconda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Conda &amp; Virtual Environments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Before we write any Python — let's set the stage properly.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0" descr="icons/anaconda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Conda?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Image 1" descr="icons/anaconda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Manages Python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and your tools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Conda is a tool that installs Python — and other tools — on your </a:t>
            </a: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computer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creates separate, clean workspaces for each project, called </a:t>
            </a: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environments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Miniconda is simply the small, lightweight way to install Conda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Think of Conda as the manager in charge of every toolbox you own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Virtual Environment?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icons/boxe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separate,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clean workspace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virtual environment is its own private workspace, built for one project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has its own Python version and its own installed packages, separate from every other project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stops one project's tools from clashing with another project's tools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Analogy: separate toolboxes for separate jobs, so tools never get mixed up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&amp; Activating an Environment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conda create makes a brand-new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choose the name, and which Python version it should use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conda activate switches you "into" that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only need to create an environment once per project — but you activate it every time you 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create a new environment named "myenv" with Python 3.11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create --name myenv python=3.11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activate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activate myenv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your terminal prompt now shows (myenv)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Viewing &amp; Removing Environments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conda env list shows every environment on your computer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one with a star (*) next to it is currently active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conda deactivate exits the current environment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conda env remove permanently deletes one — use this carefully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see every environment you have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env 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leave the current environment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deactivate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delete an environment completely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env remove --name myenv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Conda Command Cheat Sheet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57200" y="150876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294444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1" descr="icons/anaconda.png"/>
          <p:cNvPicPr/>
          <p:nvPr/>
        </p:nvPicPr>
        <p:blipFill>
          <a:blip r:embed="rId2"/>
          <a:stretch/>
        </p:blipFill>
        <p:spPr>
          <a:xfrm>
            <a:off x="30265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4"/>
          <p:cNvSpPr/>
          <p:nvPr/>
        </p:nvSpPr>
        <p:spPr>
          <a:xfrm>
            <a:off x="548640" y="241020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603360" y="279432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conda create --name myenv python=3.11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6208920" y="150876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869580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2" descr="icons/checkdouble.png"/>
          <p:cNvPicPr/>
          <p:nvPr/>
        </p:nvPicPr>
        <p:blipFill>
          <a:blip r:embed="rId3"/>
          <a:stretch/>
        </p:blipFill>
        <p:spPr>
          <a:xfrm>
            <a:off x="877824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8"/>
          <p:cNvSpPr/>
          <p:nvPr/>
        </p:nvSpPr>
        <p:spPr>
          <a:xfrm>
            <a:off x="6300360" y="241020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Activate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6355080" y="279432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conda activate myenv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457200" y="406908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294444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icons/search.png"/>
          <p:cNvPicPr/>
          <p:nvPr/>
        </p:nvPicPr>
        <p:blipFill>
          <a:blip r:embed="rId4"/>
          <a:stretch/>
        </p:blipFill>
        <p:spPr>
          <a:xfrm>
            <a:off x="302652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2"/>
          <p:cNvSpPr/>
          <p:nvPr/>
        </p:nvSpPr>
        <p:spPr>
          <a:xfrm>
            <a:off x="548640" y="497052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603360" y="535464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conda env list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6208920" y="4069080"/>
            <a:ext cx="552240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869580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4" descr="icons/ban.png"/>
          <p:cNvPicPr/>
          <p:nvPr/>
        </p:nvPicPr>
        <p:blipFill>
          <a:blip r:embed="rId5"/>
          <a:stretch/>
        </p:blipFill>
        <p:spPr>
          <a:xfrm>
            <a:off x="877824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16"/>
          <p:cNvSpPr/>
          <p:nvPr/>
        </p:nvSpPr>
        <p:spPr>
          <a:xfrm>
            <a:off x="6300360" y="4970520"/>
            <a:ext cx="533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Delete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6355080" y="5354640"/>
            <a:ext cx="522972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conda env remove --name myenv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icons/anaconda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Installing Packages With Conda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Packages are extra tools other people built, ready for you to use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Once inside an environment, conda install adds a package to 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install several packages in one 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make sure your environment is active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activate myenv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install one package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install numpy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install several at once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install pandas matplotlib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Image 0" descr="icons/pypi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Installing Packages With pip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pip is Python's own built-in package installer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installs from PyPI — the massive public library of Python packages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pip works perfectly fine inside a conda environment too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make sure your environment is active first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conda activate myenv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install one package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pip install numpy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install several at once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pip install pandas matplotlib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Conda vs. pip — What's the Difference?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1" descr="icons/anaconda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Conda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Manages both environments AND packages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 install non-Python tools too (e.g. R, C libraries)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standard choice for data science stacks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Slightly slower to install packages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2" descr="icons/pypi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pip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Manages Python packages only — not environments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Installs from PyPI, the largest Python package library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Often has the very newest package versions first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Works inside a conda environment without any conflict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0" descr="icons/terminal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Let's Write Some Code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 programmer starts in the exact same place.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Hello, World!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" name="Image 1" descr="icons/terminal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Every coder's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first program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print() is a function that displays something on the screen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Almost every programmer, in almost every language, writes this exact line first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Type this in VS Code, in the environment you set up last class: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print("Hello, World!")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Can print() Accept?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Text (in quotes), whole numbers, and decimal numbers all work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Separate several things with commas — print adds a space between each </a:t>
            </a: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automatically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empty print() just prints a blank line — useful for spacing things out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print("Hello, World!")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print(5)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print(3.14)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print("My favorite number is", 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print()   # prints a blank 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icons/bottlewater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</a:t>
            </a: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Is a Variable?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icons/bottlewate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Variable Is a Labeled Container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1" descr="icons/bottlewate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Think of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bottle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4527000" y="155520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"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'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'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=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'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Variable's Value Can Change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1" descr="icons/bottlewater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Empty it,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refill 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4572000" y="1600200"/>
            <a:ext cx="71316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can pour out the old value and pour in a new one — this is called reassigning.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bottle's label (the variable's name) never changes. Only what's inside does.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4572000" y="3291840"/>
            <a:ext cx="7131600" cy="2742480"/>
          </a:xfrm>
          <a:prstGeom prst="roundRect">
            <a:avLst>
              <a:gd name="adj" fmla="val 266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4892040" y="3566160"/>
            <a:ext cx="649152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print(age)     # 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22       # same bottle, new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print(age)     # 22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icons/signatu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Rules for Naming a Variable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 1" descr="icons/checkdouble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Simple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rules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 only use letters, numbers, and underscores ( _ 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Cannot start with a number — age1 works, 1age does not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Cannot be a word Python already uses, like print or if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case-sensitive — age, Age, and AGE are three different variables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0" descr="icons/signatu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Good Names vs. Names to Avoid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457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731520" y="18745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1" descr="icons/checkdouble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4"/>
          <p:cNvSpPr/>
          <p:nvPr/>
        </p:nvSpPr>
        <p:spPr>
          <a:xfrm>
            <a:off x="1325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Good Names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731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student_age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total_price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is_valid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favorite_subject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Explains itself — no guessing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6"/>
          <p:cNvSpPr/>
          <p:nvPr/>
        </p:nvSpPr>
        <p:spPr>
          <a:xfrm>
            <a:off x="6172200" y="1645920"/>
            <a:ext cx="5348520" cy="447984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"/>
          <p:cNvSpPr/>
          <p:nvPr/>
        </p:nvSpPr>
        <p:spPr>
          <a:xfrm>
            <a:off x="6446520" y="1874520"/>
            <a:ext cx="456480" cy="45648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2" descr="icons/ban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8"/>
          <p:cNvSpPr/>
          <p:nvPr/>
        </p:nvSpPr>
        <p:spPr>
          <a:xfrm>
            <a:off x="7040880" y="1874520"/>
            <a:ext cx="4342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Names to Avoid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6446520" y="2514600"/>
            <a:ext cx="47998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x, y, a, b — meaningless on their own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data1, thing, temp2 — vague, easy to confuse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good name makes your code read like a sentence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0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0" descr="icons/camel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Different Ways to Write a Variable Name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NAMING STYLES · 1 OF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"/>
          <p:cNvSpPr/>
          <p:nvPr/>
        </p:nvSpPr>
        <p:spPr>
          <a:xfrm>
            <a:off x="4722840" y="1051560"/>
            <a:ext cx="2742480" cy="365040"/>
          </a:xfrm>
          <a:prstGeom prst="roundRect">
            <a:avLst>
              <a:gd name="adj" fmla="val 50000"/>
            </a:avLst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"/>
          <p:cNvSpPr/>
          <p:nvPr/>
        </p:nvSpPr>
        <p:spPr>
          <a:xfrm>
            <a:off x="4722840" y="10515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MOST USED IN PYTHON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4"/>
          <p:cNvSpPr/>
          <p:nvPr/>
        </p:nvSpPr>
        <p:spPr>
          <a:xfrm>
            <a:off x="5362920" y="160020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7" name="Image 0" descr="icons/snake.png"/>
          <p:cNvPicPr/>
          <p:nvPr/>
        </p:nvPicPr>
        <p:blipFill>
          <a:blip r:embed="rId1"/>
          <a:stretch/>
        </p:blipFill>
        <p:spPr>
          <a:xfrm>
            <a:off x="5582520" y="181980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Text 5"/>
          <p:cNvSpPr/>
          <p:nvPr/>
        </p:nvSpPr>
        <p:spPr>
          <a:xfrm>
            <a:off x="914400" y="320040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snake_case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6"/>
          <p:cNvSpPr/>
          <p:nvPr/>
        </p:nvSpPr>
        <p:spPr>
          <a:xfrm>
            <a:off x="1554480" y="393192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Every word is lowercase, joined by underscores — like a snake sliding between words.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student_age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NAMING STYLES · 2 OF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0" descr="icons/camel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camelCase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The first word is lowercase, and every word after it starts with a capital letter — like the humps on a camel's back.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studentAge   ·   Common in JavaScript &amp; Java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NAMING STYLES · 3 OF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5" name="Image 0" descr="icons/crow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PascalCase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Every single word starts with a capital letter, including the first one — as if each word is wearing a crown.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StudentAge   ·   Used for class names in Python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NAMING STYLES · 4 OF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0" descr="icons/lock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CONSTANT_CASE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All capital letters, joined by underscores. Used for values that are locked — they never change while the program runs.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MAX_SCORE   ·   Used for constants in Python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NAMING STYLES · 5 OF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4539960" y="1051560"/>
            <a:ext cx="3108240" cy="365040"/>
          </a:xfrm>
          <a:prstGeom prst="roundRect">
            <a:avLst>
              <a:gd name="adj" fmla="val 50000"/>
            </a:avLst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4539960" y="10515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✗ NOT VALID IN PYTHON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5362920" y="160020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 0" descr="icons/kebab.png"/>
          <p:cNvPicPr/>
          <p:nvPr/>
        </p:nvPicPr>
        <p:blipFill>
          <a:blip r:embed="rId1"/>
          <a:stretch/>
        </p:blipFill>
        <p:spPr>
          <a:xfrm>
            <a:off x="5582520" y="181980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 5"/>
          <p:cNvSpPr/>
          <p:nvPr/>
        </p:nvSpPr>
        <p:spPr>
          <a:xfrm>
            <a:off x="914400" y="320040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kebab-case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1554480" y="393192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Every word is lowercase, joined by hyphens — like pieces of meat on a kebab skewer.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7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student-age   ·   Python reads the hyphen as subtraction and breaks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10515600" y="5669280"/>
            <a:ext cx="3199680" cy="3199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icons/boo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Which Style Does Python Actually Use?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457200" y="1554480"/>
            <a:ext cx="3656880" cy="466272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1508760" y="2194560"/>
            <a:ext cx="1553760" cy="1553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7" name="Image 1" descr="icons/boo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560" cy="10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 5"/>
          <p:cNvSpPr/>
          <p:nvPr/>
        </p:nvSpPr>
        <p:spPr>
          <a:xfrm>
            <a:off x="640080" y="3977640"/>
            <a:ext cx="32911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PEP 8: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Python's style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guide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4572000" y="1737360"/>
            <a:ext cx="71316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Python's official style guide is called PEP 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says: use snake_case for variable and function names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Why? Lowercase letters with underscores are the easiest style for most people to read quickly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PascalCase is still used, but only for class names. CONSTANT_CASE is still used, but only for values that never change.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7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8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0" descr="icons/signatu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All 5 Styles at a Glance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45720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198576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1" descr="icons/snak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4"/>
          <p:cNvSpPr/>
          <p:nvPr/>
        </p:nvSpPr>
        <p:spPr>
          <a:xfrm>
            <a:off x="54864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snake_case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"/>
          <p:cNvSpPr/>
          <p:nvPr/>
        </p:nvSpPr>
        <p:spPr>
          <a:xfrm>
            <a:off x="60336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student_age — Python variables (most used)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429156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7"/>
          <p:cNvSpPr/>
          <p:nvPr/>
        </p:nvSpPr>
        <p:spPr>
          <a:xfrm>
            <a:off x="582012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2" name="Image 2" descr="icons/camel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 8"/>
          <p:cNvSpPr/>
          <p:nvPr/>
        </p:nvSpPr>
        <p:spPr>
          <a:xfrm>
            <a:off x="438300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camelCase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443772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studentAge — JavaScript, Java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0"/>
          <p:cNvSpPr/>
          <p:nvPr/>
        </p:nvSpPr>
        <p:spPr>
          <a:xfrm>
            <a:off x="8125920" y="150876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9654480" y="178848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Image 3" descr="icons/crown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 12"/>
          <p:cNvSpPr/>
          <p:nvPr/>
        </p:nvSpPr>
        <p:spPr>
          <a:xfrm>
            <a:off x="8217360" y="241020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PascalCase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3"/>
          <p:cNvSpPr/>
          <p:nvPr/>
        </p:nvSpPr>
        <p:spPr>
          <a:xfrm>
            <a:off x="8272440" y="279432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StudentAge — Python class names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4"/>
          <p:cNvSpPr/>
          <p:nvPr/>
        </p:nvSpPr>
        <p:spPr>
          <a:xfrm>
            <a:off x="45720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5"/>
          <p:cNvSpPr/>
          <p:nvPr/>
        </p:nvSpPr>
        <p:spPr>
          <a:xfrm>
            <a:off x="198576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Image 4" descr="icons/lock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16"/>
          <p:cNvSpPr/>
          <p:nvPr/>
        </p:nvSpPr>
        <p:spPr>
          <a:xfrm>
            <a:off x="54864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CONSTANT_CASE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7"/>
          <p:cNvSpPr/>
          <p:nvPr/>
        </p:nvSpPr>
        <p:spPr>
          <a:xfrm>
            <a:off x="60336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MAX_SCORE — Python constants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8"/>
          <p:cNvSpPr/>
          <p:nvPr/>
        </p:nvSpPr>
        <p:spPr>
          <a:xfrm>
            <a:off x="4291560" y="4069080"/>
            <a:ext cx="3605040" cy="233100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9"/>
          <p:cNvSpPr/>
          <p:nvPr/>
        </p:nvSpPr>
        <p:spPr>
          <a:xfrm>
            <a:off x="5820120" y="434880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 5" descr="icons/kebab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Text 20"/>
          <p:cNvSpPr/>
          <p:nvPr/>
        </p:nvSpPr>
        <p:spPr>
          <a:xfrm>
            <a:off x="4383000" y="497052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kebab-case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1"/>
          <p:cNvSpPr/>
          <p:nvPr/>
        </p:nvSpPr>
        <p:spPr>
          <a:xfrm>
            <a:off x="4437720" y="5354640"/>
            <a:ext cx="33123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student-age — not valid in Python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2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3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5" name="Image 0" descr="icons/hashtag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The Four Core Data Types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DATA TYPES · 1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0" descr="icons/hashtag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 — Whole Numbers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Short for "integer." Any whole number, positive or negative, with no decimal point.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age = 21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DATA TYPES · 2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1" name="Image 0" descr="icons/superscript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float — Decimal Numbers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Short for "floating-point number." Any number that has a decimal point.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gpa = 3.6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DATA TYPES · 3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icons/font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 — Text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Short for "string" — any text, wrapped in quotes. Can be a single letter or a whole sentence.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name = "Ameer"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8961120" y="-2011680"/>
            <a:ext cx="5485680" cy="54856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411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2C6E63"/>
                </a:solidFill>
                <a:effectLst/>
                <a:uFillTx/>
                <a:latin typeface="Calibri"/>
                <a:ea typeface="Calibri"/>
              </a:rPr>
              <a:t>DATA TYPES · 4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5362920" y="1234440"/>
            <a:ext cx="1462320" cy="14623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9" name="Image 0" descr="icons/toggleon.png"/>
          <p:cNvPicPr/>
          <p:nvPr/>
        </p:nvPicPr>
        <p:blipFill>
          <a:blip r:embed="rId1"/>
          <a:stretch/>
        </p:blipFill>
        <p:spPr>
          <a:xfrm>
            <a:off x="5582520" y="1454040"/>
            <a:ext cx="1023480" cy="102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Text 3"/>
          <p:cNvSpPr/>
          <p:nvPr/>
        </p:nvSpPr>
        <p:spPr>
          <a:xfrm>
            <a:off x="914400" y="2834640"/>
            <a:ext cx="103593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bool — True or False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4"/>
          <p:cNvSpPr/>
          <p:nvPr/>
        </p:nvSpPr>
        <p:spPr>
          <a:xfrm>
            <a:off x="1554480" y="3566160"/>
            <a:ext cx="90792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Short for "boolean." Only two possible values exist: True or False — like a light switch that's either on or off.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5"/>
          <p:cNvSpPr/>
          <p:nvPr/>
        </p:nvSpPr>
        <p:spPr>
          <a:xfrm>
            <a:off x="914400" y="6172200"/>
            <a:ext cx="1035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Example:  is_enrolled = True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6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4 Core Data Types at a Glance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457200" y="1508760"/>
            <a:ext cx="2646360" cy="489132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"/>
          <p:cNvSpPr/>
          <p:nvPr/>
        </p:nvSpPr>
        <p:spPr>
          <a:xfrm>
            <a:off x="150660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0" name="Image 1" descr="icons/hashtag.png"/>
          <p:cNvPicPr/>
          <p:nvPr/>
        </p:nvPicPr>
        <p:blipFill>
          <a:blip r:embed="rId2"/>
          <a:stretch/>
        </p:blipFill>
        <p:spPr>
          <a:xfrm>
            <a:off x="158868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Text 4"/>
          <p:cNvSpPr/>
          <p:nvPr/>
        </p:nvSpPr>
        <p:spPr>
          <a:xfrm>
            <a:off x="548640" y="2717640"/>
            <a:ext cx="2463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5"/>
          <p:cNvSpPr/>
          <p:nvPr/>
        </p:nvSpPr>
        <p:spPr>
          <a:xfrm>
            <a:off x="603360" y="3101760"/>
            <a:ext cx="235404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Whole numbers — 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3332880" y="1508760"/>
            <a:ext cx="2646360" cy="489132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438228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5" name="Image 2" descr="icons/superscript.png"/>
          <p:cNvPicPr/>
          <p:nvPr/>
        </p:nvPicPr>
        <p:blipFill>
          <a:blip r:embed="rId3"/>
          <a:stretch/>
        </p:blipFill>
        <p:spPr>
          <a:xfrm>
            <a:off x="446472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Text 8"/>
          <p:cNvSpPr/>
          <p:nvPr/>
        </p:nvSpPr>
        <p:spPr>
          <a:xfrm>
            <a:off x="3424320" y="2717640"/>
            <a:ext cx="2463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float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9"/>
          <p:cNvSpPr/>
          <p:nvPr/>
        </p:nvSpPr>
        <p:spPr>
          <a:xfrm>
            <a:off x="3479400" y="3101760"/>
            <a:ext cx="235404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Decimal numbers — 3.6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6208920" y="1508760"/>
            <a:ext cx="2646360" cy="489132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1"/>
          <p:cNvSpPr/>
          <p:nvPr/>
        </p:nvSpPr>
        <p:spPr>
          <a:xfrm>
            <a:off x="725796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0" name="Image 3" descr="icons/font.png"/>
          <p:cNvPicPr/>
          <p:nvPr/>
        </p:nvPicPr>
        <p:blipFill>
          <a:blip r:embed="rId4"/>
          <a:stretch/>
        </p:blipFill>
        <p:spPr>
          <a:xfrm>
            <a:off x="734040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12"/>
          <p:cNvSpPr/>
          <p:nvPr/>
        </p:nvSpPr>
        <p:spPr>
          <a:xfrm>
            <a:off x="6300360" y="2717640"/>
            <a:ext cx="2463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3"/>
          <p:cNvSpPr/>
          <p:nvPr/>
        </p:nvSpPr>
        <p:spPr>
          <a:xfrm>
            <a:off x="6355080" y="3101760"/>
            <a:ext cx="235404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Text — "Ameer"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4"/>
          <p:cNvSpPr/>
          <p:nvPr/>
        </p:nvSpPr>
        <p:spPr>
          <a:xfrm>
            <a:off x="9084600" y="1508760"/>
            <a:ext cx="2646360" cy="4891320"/>
          </a:xfrm>
          <a:prstGeom prst="roundRect">
            <a:avLst>
              <a:gd name="adj" fmla="val 2763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5"/>
          <p:cNvSpPr/>
          <p:nvPr/>
        </p:nvSpPr>
        <p:spPr>
          <a:xfrm>
            <a:off x="1013400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4" descr="icons/toggleon.png"/>
          <p:cNvPicPr/>
          <p:nvPr/>
        </p:nvPicPr>
        <p:blipFill>
          <a:blip r:embed="rId5"/>
          <a:stretch/>
        </p:blipFill>
        <p:spPr>
          <a:xfrm>
            <a:off x="1021608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16"/>
          <p:cNvSpPr/>
          <p:nvPr/>
        </p:nvSpPr>
        <p:spPr>
          <a:xfrm>
            <a:off x="9176040" y="2717640"/>
            <a:ext cx="2463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bool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7"/>
          <p:cNvSpPr/>
          <p:nvPr/>
        </p:nvSpPr>
        <p:spPr>
          <a:xfrm>
            <a:off x="9230760" y="3101760"/>
            <a:ext cx="235404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True or False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8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9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2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Checking a Type: type()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type() function asks Python: "what kind of value is this?"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always tells you the truth — very useful when your code isn't behaving as expected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will use this constantly, especially while learning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 = 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gpa = 3.6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name = 'Ameer'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is_enrolled = True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print(type(age))          # &lt;class 'int'&gt;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print(type(gpa))          # &lt;class 'float'&gt;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print(type(name))         # &lt;class 'str'&gt;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print(type(is_enrolled))  # &lt;class 'bool'&gt;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27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1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Type Casting — Changing a Value's Type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Casting means converting a value from one type to another, on purpose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three you'll use constantly: int(), float(), str()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matters most right after input() — see the next slide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age_text = '21'              # this is a str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age_number = int(age_text)   # now it's an 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print(type(age_text))         # &lt;class 'str'&gt;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print(type(age_number))       # &lt;class 'int'&gt;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0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9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Text 1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Three Casting Functions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"/>
          <p:cNvSpPr/>
          <p:nvPr/>
        </p:nvSpPr>
        <p:spPr>
          <a:xfrm>
            <a:off x="45720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3"/>
          <p:cNvSpPr/>
          <p:nvPr/>
        </p:nvSpPr>
        <p:spPr>
          <a:xfrm>
            <a:off x="198576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1" descr="icons/hashtag.png"/>
          <p:cNvPicPr/>
          <p:nvPr/>
        </p:nvPicPr>
        <p:blipFill>
          <a:blip r:embed="rId2"/>
          <a:stretch/>
        </p:blipFill>
        <p:spPr>
          <a:xfrm>
            <a:off x="206820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4"/>
          <p:cNvSpPr/>
          <p:nvPr/>
        </p:nvSpPr>
        <p:spPr>
          <a:xfrm>
            <a:off x="54864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60336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Converts a value into a whole number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6"/>
          <p:cNvSpPr/>
          <p:nvPr/>
        </p:nvSpPr>
        <p:spPr>
          <a:xfrm>
            <a:off x="429156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7"/>
          <p:cNvSpPr/>
          <p:nvPr/>
        </p:nvSpPr>
        <p:spPr>
          <a:xfrm>
            <a:off x="582012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2" descr="icons/superscript.png"/>
          <p:cNvPicPr/>
          <p:nvPr/>
        </p:nvPicPr>
        <p:blipFill>
          <a:blip r:embed="rId3"/>
          <a:stretch/>
        </p:blipFill>
        <p:spPr>
          <a:xfrm>
            <a:off x="590256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8"/>
          <p:cNvSpPr/>
          <p:nvPr/>
        </p:nvSpPr>
        <p:spPr>
          <a:xfrm>
            <a:off x="438300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float()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9"/>
          <p:cNvSpPr/>
          <p:nvPr/>
        </p:nvSpPr>
        <p:spPr>
          <a:xfrm>
            <a:off x="443772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Converts a value into a decimal number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0"/>
          <p:cNvSpPr/>
          <p:nvPr/>
        </p:nvSpPr>
        <p:spPr>
          <a:xfrm>
            <a:off x="8125920" y="1508760"/>
            <a:ext cx="3605040" cy="4891320"/>
          </a:xfrm>
          <a:prstGeom prst="roundRect">
            <a:avLst>
              <a:gd name="adj" fmla="val 2029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1"/>
          <p:cNvSpPr/>
          <p:nvPr/>
        </p:nvSpPr>
        <p:spPr>
          <a:xfrm>
            <a:off x="9654480" y="2095920"/>
            <a:ext cx="547920" cy="5479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Image 3" descr="icons/font.png"/>
          <p:cNvPicPr/>
          <p:nvPr/>
        </p:nvPicPr>
        <p:blipFill>
          <a:blip r:embed="rId4"/>
          <a:stretch/>
        </p:blipFill>
        <p:spPr>
          <a:xfrm>
            <a:off x="9736920" y="217800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 12"/>
          <p:cNvSpPr/>
          <p:nvPr/>
        </p:nvSpPr>
        <p:spPr>
          <a:xfrm>
            <a:off x="8217360" y="2717640"/>
            <a:ext cx="342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3"/>
          <p:cNvSpPr/>
          <p:nvPr/>
        </p:nvSpPr>
        <p:spPr>
          <a:xfrm>
            <a:off x="8272440" y="3101760"/>
            <a:ext cx="3312360" cy="325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Converts a value into text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4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5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-1828800" y="512064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input() Always Returns a String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"/>
          <p:cNvSpPr/>
          <p:nvPr/>
        </p:nvSpPr>
        <p:spPr>
          <a:xfrm>
            <a:off x="548640" y="1828800"/>
            <a:ext cx="475416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Whatever the user types, Python treats it as a str — even if it looks like a number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surprises almost everyone the first time they see 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fix: wrap input() in int() or float() immediately, before using it as a number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4"/>
          <p:cNvSpPr/>
          <p:nvPr/>
        </p:nvSpPr>
        <p:spPr>
          <a:xfrm>
            <a:off x="5486400" y="1691640"/>
            <a:ext cx="6217200" cy="434268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5"/>
          <p:cNvSpPr/>
          <p:nvPr/>
        </p:nvSpPr>
        <p:spPr>
          <a:xfrm>
            <a:off x="5806440" y="1965960"/>
            <a:ext cx="55771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birth_year = input("Birth year? 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print(type(birth_year))  # &lt;class 'str'&gt;, even for "2005"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the fix: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birth_year = int(input("Birth year? "))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print(type(birth_year))  # &lt;class 'int'&gt; now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65" name="Text 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9" name="Image 0" descr="icons/terminal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Your Environment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5"/>
          <p:cNvSpPr/>
          <p:nvPr/>
        </p:nvSpPr>
        <p:spPr>
          <a:xfrm>
            <a:off x="822960" y="246888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1" descr="icons/checkdouble.png"/>
          <p:cNvPicPr/>
          <p:nvPr/>
        </p:nvPicPr>
        <p:blipFill>
          <a:blip r:embed="rId2"/>
          <a:stretch/>
        </p:blipFill>
        <p:spPr>
          <a:xfrm>
            <a:off x="891720" y="253764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Shape 6"/>
          <p:cNvSpPr/>
          <p:nvPr/>
        </p:nvSpPr>
        <p:spPr>
          <a:xfrm>
            <a:off x="1463040" y="2496240"/>
            <a:ext cx="456480" cy="4017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"/>
          <p:cNvSpPr/>
          <p:nvPr/>
        </p:nvSpPr>
        <p:spPr>
          <a:xfrm>
            <a:off x="1463040" y="2496240"/>
            <a:ext cx="456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8"/>
          <p:cNvSpPr/>
          <p:nvPr/>
        </p:nvSpPr>
        <p:spPr>
          <a:xfrm>
            <a:off x="2103120" y="2468880"/>
            <a:ext cx="9326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new virtual environment  (conda create --name myenv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python=3.11)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9"/>
          <p:cNvSpPr/>
          <p:nvPr/>
        </p:nvSpPr>
        <p:spPr>
          <a:xfrm>
            <a:off x="822960" y="324612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2" descr="icons/checkdouble.png"/>
          <p:cNvPicPr/>
          <p:nvPr/>
        </p:nvPicPr>
        <p:blipFill>
          <a:blip r:embed="rId3"/>
          <a:stretch/>
        </p:blipFill>
        <p:spPr>
          <a:xfrm>
            <a:off x="891720" y="331488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Shape 10"/>
          <p:cNvSpPr/>
          <p:nvPr/>
        </p:nvSpPr>
        <p:spPr>
          <a:xfrm>
            <a:off x="1463040" y="3273480"/>
            <a:ext cx="456480" cy="4017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1"/>
          <p:cNvSpPr/>
          <p:nvPr/>
        </p:nvSpPr>
        <p:spPr>
          <a:xfrm>
            <a:off x="1463040" y="3273480"/>
            <a:ext cx="456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2"/>
          <p:cNvSpPr/>
          <p:nvPr/>
        </p:nvSpPr>
        <p:spPr>
          <a:xfrm>
            <a:off x="2103120" y="3246120"/>
            <a:ext cx="9326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 all your environments in the terminal  (conda env list)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3"/>
          <p:cNvSpPr/>
          <p:nvPr/>
        </p:nvSpPr>
        <p:spPr>
          <a:xfrm>
            <a:off x="822960" y="402336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4" name="Image 3" descr="icons/checkdouble.png"/>
          <p:cNvPicPr/>
          <p:nvPr/>
        </p:nvPicPr>
        <p:blipFill>
          <a:blip r:embed="rId4"/>
          <a:stretch/>
        </p:blipFill>
        <p:spPr>
          <a:xfrm>
            <a:off x="891720" y="409212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Shape 14"/>
          <p:cNvSpPr/>
          <p:nvPr/>
        </p:nvSpPr>
        <p:spPr>
          <a:xfrm>
            <a:off x="1463040" y="4050720"/>
            <a:ext cx="456480" cy="4017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5"/>
          <p:cNvSpPr/>
          <p:nvPr/>
        </p:nvSpPr>
        <p:spPr>
          <a:xfrm>
            <a:off x="1463040" y="4050720"/>
            <a:ext cx="456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6"/>
          <p:cNvSpPr/>
          <p:nvPr/>
        </p:nvSpPr>
        <p:spPr>
          <a:xfrm>
            <a:off x="2103120" y="4023360"/>
            <a:ext cx="9326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Activate your new environment  (conda activate myenv)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7"/>
          <p:cNvSpPr/>
          <p:nvPr/>
        </p:nvSpPr>
        <p:spPr>
          <a:xfrm>
            <a:off x="822960" y="4800600"/>
            <a:ext cx="456480" cy="4564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4" descr="icons/checkdouble.png"/>
          <p:cNvPicPr/>
          <p:nvPr/>
        </p:nvPicPr>
        <p:blipFill>
          <a:blip r:embed="rId5"/>
          <a:stretch/>
        </p:blipFill>
        <p:spPr>
          <a:xfrm>
            <a:off x="891720" y="4869360"/>
            <a:ext cx="319320" cy="31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Shape 18"/>
          <p:cNvSpPr/>
          <p:nvPr/>
        </p:nvSpPr>
        <p:spPr>
          <a:xfrm>
            <a:off x="1463040" y="4827960"/>
            <a:ext cx="456480" cy="40176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9"/>
          <p:cNvSpPr/>
          <p:nvPr/>
        </p:nvSpPr>
        <p:spPr>
          <a:xfrm>
            <a:off x="1463040" y="4827960"/>
            <a:ext cx="456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0"/>
          <p:cNvSpPr/>
          <p:nvPr/>
        </p:nvSpPr>
        <p:spPr>
          <a:xfrm>
            <a:off x="2103120" y="4800600"/>
            <a:ext cx="9326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Connect that environment in VS Code  (Ctrl+Shift+P → "Python: Select Interpreter")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21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2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0"/>
          <p:cNvSpPr/>
          <p:nvPr/>
        </p:nvSpPr>
        <p:spPr>
          <a:xfrm>
            <a:off x="-1828800" y="5029200"/>
            <a:ext cx="3656880" cy="365688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"/>
          <p:cNvSpPr/>
          <p:nvPr/>
        </p:nvSpPr>
        <p:spPr>
          <a:xfrm>
            <a:off x="457200" y="457200"/>
            <a:ext cx="639360" cy="6393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0" descr="icons/signatu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48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 2"/>
          <p:cNvSpPr/>
          <p:nvPr/>
        </p:nvSpPr>
        <p:spPr>
          <a:xfrm>
            <a:off x="1280160" y="457200"/>
            <a:ext cx="1042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Python Practice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3"/>
          <p:cNvSpPr/>
          <p:nvPr/>
        </p:nvSpPr>
        <p:spPr>
          <a:xfrm>
            <a:off x="457200" y="1600200"/>
            <a:ext cx="11273760" cy="447984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4"/>
          <p:cNvSpPr/>
          <p:nvPr/>
        </p:nvSpPr>
        <p:spPr>
          <a:xfrm>
            <a:off x="822960" y="1828800"/>
            <a:ext cx="10514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none of these should take more than a few minutes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5"/>
          <p:cNvSpPr/>
          <p:nvPr/>
        </p:nvSpPr>
        <p:spPr>
          <a:xfrm>
            <a:off x="822960" y="24231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2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Shape 6"/>
          <p:cNvSpPr/>
          <p:nvPr/>
        </p:nvSpPr>
        <p:spPr>
          <a:xfrm>
            <a:off x="1417320" y="24415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7"/>
          <p:cNvSpPr/>
          <p:nvPr/>
        </p:nvSpPr>
        <p:spPr>
          <a:xfrm>
            <a:off x="1417320" y="24415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8"/>
          <p:cNvSpPr/>
          <p:nvPr/>
        </p:nvSpPr>
        <p:spPr>
          <a:xfrm>
            <a:off x="2011680" y="24231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and run a "Hello, World!" program using print()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9"/>
          <p:cNvSpPr/>
          <p:nvPr/>
        </p:nvSpPr>
        <p:spPr>
          <a:xfrm>
            <a:off x="822960" y="308160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7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14460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Shape 10"/>
          <p:cNvSpPr/>
          <p:nvPr/>
        </p:nvSpPr>
        <p:spPr>
          <a:xfrm>
            <a:off x="1417320" y="309996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1"/>
          <p:cNvSpPr/>
          <p:nvPr/>
        </p:nvSpPr>
        <p:spPr>
          <a:xfrm>
            <a:off x="1417320" y="309996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2"/>
          <p:cNvSpPr/>
          <p:nvPr/>
        </p:nvSpPr>
        <p:spPr>
          <a:xfrm>
            <a:off x="2011680" y="308160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your name on one line, and your age on the next — two separate print() statements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3"/>
          <p:cNvSpPr/>
          <p:nvPr/>
        </p:nvSpPr>
        <p:spPr>
          <a:xfrm>
            <a:off x="822960" y="374004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2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380304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Shape 14"/>
          <p:cNvSpPr/>
          <p:nvPr/>
        </p:nvSpPr>
        <p:spPr>
          <a:xfrm>
            <a:off x="1417320" y="375804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1417320" y="375804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2011680" y="374004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Store your name, age, and favorite subject in three variables, then print all three together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7"/>
          <p:cNvSpPr/>
          <p:nvPr/>
        </p:nvSpPr>
        <p:spPr>
          <a:xfrm>
            <a:off x="822960" y="439812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7" name="Image 4" descr="icons/checkdouble.png"/>
          <p:cNvPicPr/>
          <p:nvPr/>
        </p:nvPicPr>
        <p:blipFill>
          <a:blip r:embed="rId5"/>
          <a:stretch/>
        </p:blipFill>
        <p:spPr>
          <a:xfrm>
            <a:off x="885960" y="446148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Shape 18"/>
          <p:cNvSpPr/>
          <p:nvPr/>
        </p:nvSpPr>
        <p:spPr>
          <a:xfrm>
            <a:off x="1417320" y="441648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9"/>
          <p:cNvSpPr/>
          <p:nvPr/>
        </p:nvSpPr>
        <p:spPr>
          <a:xfrm>
            <a:off x="1417320" y="441648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0"/>
          <p:cNvSpPr/>
          <p:nvPr/>
        </p:nvSpPr>
        <p:spPr>
          <a:xfrm>
            <a:off x="2011680" y="439812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type() of each of those three variables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1"/>
          <p:cNvSpPr/>
          <p:nvPr/>
        </p:nvSpPr>
        <p:spPr>
          <a:xfrm>
            <a:off x="822960" y="5056560"/>
            <a:ext cx="419760" cy="4197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2" name="Image 5" descr="icons/checkdouble.png"/>
          <p:cNvPicPr/>
          <p:nvPr/>
        </p:nvPicPr>
        <p:blipFill>
          <a:blip r:embed="rId6"/>
          <a:stretch/>
        </p:blipFill>
        <p:spPr>
          <a:xfrm>
            <a:off x="885960" y="5119560"/>
            <a:ext cx="293760" cy="29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Shape 22"/>
          <p:cNvSpPr/>
          <p:nvPr/>
        </p:nvSpPr>
        <p:spPr>
          <a:xfrm>
            <a:off x="1417320" y="5074920"/>
            <a:ext cx="419760" cy="38340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3"/>
          <p:cNvSpPr/>
          <p:nvPr/>
        </p:nvSpPr>
        <p:spPr>
          <a:xfrm>
            <a:off x="1417320" y="5074920"/>
            <a:ext cx="41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4"/>
          <p:cNvSpPr/>
          <p:nvPr/>
        </p:nvSpPr>
        <p:spPr>
          <a:xfrm>
            <a:off x="2011680" y="5056560"/>
            <a:ext cx="9417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Take a number using input(), cast it to an int, then print it back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5"/>
          <p:cNvSpPr/>
          <p:nvPr/>
        </p:nvSpPr>
        <p:spPr>
          <a:xfrm>
            <a:off x="822960" y="5715000"/>
            <a:ext cx="10514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9 small tasks in total — due before our next class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6"/>
          <p:cNvSpPr/>
          <p:nvPr/>
        </p:nvSpPr>
        <p:spPr>
          <a:xfrm>
            <a:off x="457200" y="644652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Variables &amp; Data Types  ·  Session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7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-1828800" y="41148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9601200" y="-2286000"/>
            <a:ext cx="5485680" cy="548568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"/>
          <p:cNvSpPr/>
          <p:nvPr/>
        </p:nvSpPr>
        <p:spPr>
          <a:xfrm>
            <a:off x="5591520" y="731520"/>
            <a:ext cx="1005120" cy="100512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icons/bottlewater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440" cy="7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3"/>
          <p:cNvSpPr/>
          <p:nvPr/>
        </p:nvSpPr>
        <p:spPr>
          <a:xfrm>
            <a:off x="914400" y="1965960"/>
            <a:ext cx="10359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4"/>
          <p:cNvSpPr/>
          <p:nvPr/>
        </p:nvSpPr>
        <p:spPr>
          <a:xfrm>
            <a:off x="914400" y="2377440"/>
            <a:ext cx="103593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variable is a labeled container.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Its value can change — but Python always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knows exactly what type that value is.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5"/>
          <p:cNvSpPr/>
          <p:nvPr/>
        </p:nvSpPr>
        <p:spPr>
          <a:xfrm>
            <a:off x="1463040" y="4572000"/>
            <a:ext cx="926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conditionals and loops.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6"/>
          <p:cNvSpPr/>
          <p:nvPr/>
        </p:nvSpPr>
        <p:spPr>
          <a:xfrm>
            <a:off x="11521440" y="644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2026-07-19T11:53:04Z</dcterms:created>
  <dc:creator>Course Instructor</dc:creator>
  <dc:description/>
  <dc:language>en-US</dc:language>
  <cp:lastModifiedBy/>
  <dcterms:modified xsi:type="dcterms:W3CDTF">2026-07-24T23:31:58Z</dcterms:modified>
  <cp:revision>16</cp:revision>
  <dc:subject>PptxGenJS Presentation</dc:subject>
  <dc:title>Variables &amp; Data Types — Session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On-screen Show (16:9)</vt:lpwstr>
  </property>
  <property fmtid="{D5CDD505-2E9C-101B-9397-08002B2CF9AE}" pid="4" name="Slides">
    <vt:i4>40</vt:i4>
  </property>
</Properties>
</file>